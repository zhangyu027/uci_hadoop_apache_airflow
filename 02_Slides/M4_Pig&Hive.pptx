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9144000"/>
  <p:notesSz cx="9144000" cy="6858000"/>
  <p:embeddedFontLst>
    <p:embeddedFont>
      <p:font typeface="Play"/>
      <p:regular r:id="rId38"/>
      <p:bold r:id="rId39"/>
    </p:embeddedFont>
    <p:embeddedFont>
      <p:font typeface="Tahoma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iPhQIkn/rr3pfKwayMvL1k32Pp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ED4755-D760-4600-AE3E-B58C643489D8}">
  <a:tblStyle styleId="{22ED4755-D760-4600-AE3E-B58C643489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regular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Tahoma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lay-bold.fntdata"/><Relationship Id="rId16" Type="http://schemas.openxmlformats.org/officeDocument/2006/relationships/slide" Target="slides/slide10.xml"/><Relationship Id="rId38" Type="http://schemas.openxmlformats.org/officeDocument/2006/relationships/font" Target="fonts/Play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18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2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p2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2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p2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p2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p26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type="title"/>
          </p:nvPr>
        </p:nvSpPr>
        <p:spPr>
          <a:xfrm>
            <a:off x="911223" y="649029"/>
            <a:ext cx="6913880" cy="604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1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2" type="sldNum"/>
          </p:nvPr>
        </p:nvSpPr>
        <p:spPr>
          <a:xfrm>
            <a:off x="8750379" y="6528037"/>
            <a:ext cx="2667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4"/>
          <p:cNvSpPr txBox="1"/>
          <p:nvPr>
            <p:ph type="title"/>
          </p:nvPr>
        </p:nvSpPr>
        <p:spPr>
          <a:xfrm>
            <a:off x="911223" y="649029"/>
            <a:ext cx="6913880" cy="604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1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4"/>
          <p:cNvSpPr txBox="1"/>
          <p:nvPr>
            <p:ph idx="1" type="body"/>
          </p:nvPr>
        </p:nvSpPr>
        <p:spPr>
          <a:xfrm>
            <a:off x="342898" y="2006591"/>
            <a:ext cx="8487410" cy="3803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8750379" y="6528037"/>
            <a:ext cx="2667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26364" marR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33547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" name="Google Shape;25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623887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1" type="body"/>
          </p:nvPr>
        </p:nvSpPr>
        <p:spPr>
          <a:xfrm>
            <a:off x="623887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4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4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8" name="Google Shape;68;p5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5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5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6" name="Google Shape;76;p5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5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126364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6364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636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96" name="Google Shape;96;p1"/>
          <p:cNvSpPr txBox="1"/>
          <p:nvPr>
            <p:ph type="title"/>
          </p:nvPr>
        </p:nvSpPr>
        <p:spPr>
          <a:xfrm>
            <a:off x="317475" y="556425"/>
            <a:ext cx="8584200" cy="13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508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i="0"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Big Data Analytics (Spring 2026) Hadoop with Pig and Hive</a:t>
            </a:r>
            <a:endParaRPr sz="4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30" y="2866453"/>
            <a:ext cx="4210812" cy="31581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"/>
          <p:cNvGrpSpPr/>
          <p:nvPr/>
        </p:nvGrpSpPr>
        <p:grpSpPr>
          <a:xfrm>
            <a:off x="4690872" y="3313349"/>
            <a:ext cx="4210812" cy="2264334"/>
            <a:chOff x="755648" y="1310459"/>
            <a:chExt cx="8388351" cy="4510753"/>
          </a:xfrm>
        </p:grpSpPr>
        <p:pic>
          <p:nvPicPr>
            <p:cNvPr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5648" y="1310459"/>
              <a:ext cx="8388351" cy="166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"/>
            <p:cNvSpPr/>
            <p:nvPr/>
          </p:nvSpPr>
          <p:spPr>
            <a:xfrm>
              <a:off x="838196" y="1370006"/>
              <a:ext cx="8305800" cy="1905"/>
            </a:xfrm>
            <a:custGeom>
              <a:rect b="b" l="l" r="r" t="t"/>
              <a:pathLst>
                <a:path extrusionOk="0" h="1905" w="8305800">
                  <a:moveTo>
                    <a:pt x="0" y="0"/>
                  </a:moveTo>
                  <a:lnTo>
                    <a:pt x="8305783" y="1586"/>
                  </a:lnTo>
                </a:path>
              </a:pathLst>
            </a:custGeom>
            <a:noFill/>
            <a:ln cap="flat" cmpd="sng" w="38075">
              <a:solidFill>
                <a:srgbClr val="BADF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" name="Google Shape;101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1491" y="2387395"/>
              <a:ext cx="4147166" cy="34338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07" name="Google Shape;107;p7"/>
          <p:cNvSpPr txBox="1"/>
          <p:nvPr>
            <p:ph type="title"/>
          </p:nvPr>
        </p:nvSpPr>
        <p:spPr>
          <a:xfrm>
            <a:off x="628650" y="459863"/>
            <a:ext cx="78867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4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Hadoop Review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34622" y="1587970"/>
            <a:ext cx="8274756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7"/>
          <p:cNvGrpSpPr/>
          <p:nvPr/>
        </p:nvGrpSpPr>
        <p:grpSpPr>
          <a:xfrm>
            <a:off x="636642" y="1800911"/>
            <a:ext cx="7870714" cy="4351337"/>
            <a:chOff x="7992" y="0"/>
            <a:chExt cx="7870714" cy="4351337"/>
          </a:xfrm>
        </p:grpSpPr>
        <p:sp>
          <p:nvSpPr>
            <p:cNvPr id="110" name="Google Shape;110;p7"/>
            <p:cNvSpPr/>
            <p:nvPr/>
          </p:nvSpPr>
          <p:spPr>
            <a:xfrm>
              <a:off x="7992" y="0"/>
              <a:ext cx="822313" cy="766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7992" y="941292"/>
              <a:ext cx="2349466" cy="2240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7"/>
            <p:cNvSpPr txBox="1"/>
            <p:nvPr/>
          </p:nvSpPr>
          <p:spPr>
            <a:xfrm>
              <a:off x="7992" y="941292"/>
              <a:ext cx="2349466" cy="2240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Hadoop is an open-source reimplementation of</a:t>
              </a: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992" y="3262663"/>
              <a:ext cx="2349466" cy="1088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7992" y="3262663"/>
              <a:ext cx="2349466" cy="1088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distributed file system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map-reduce processing framework</a:t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2768616" y="0"/>
              <a:ext cx="822313" cy="766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2768616" y="941292"/>
              <a:ext cx="2349466" cy="2240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 txBox="1"/>
            <p:nvPr/>
          </p:nvSpPr>
          <p:spPr>
            <a:xfrm>
              <a:off x="2768616" y="941292"/>
              <a:ext cx="2349466" cy="2240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Inspired by Google’s description of the 	technologies underpinning their search 	engine</a:t>
              </a: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2768616" y="3262663"/>
              <a:ext cx="2349466" cy="1088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5529240" y="0"/>
              <a:ext cx="822313" cy="766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5529240" y="941292"/>
              <a:ext cx="2349466" cy="2240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7"/>
            <p:cNvSpPr txBox="1"/>
            <p:nvPr/>
          </p:nvSpPr>
          <p:spPr>
            <a:xfrm>
              <a:off x="5529240" y="941292"/>
              <a:ext cx="2349466" cy="2240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It is a layer-cake of APIs, written mostly in Java, that one can use to write large, distributed, and scalable applications to search and process large datasets</a:t>
              </a: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5529240" y="3262663"/>
              <a:ext cx="2349466" cy="1088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7139352" y="5486400"/>
            <a:ext cx="2004648" cy="1371600"/>
          </a:xfrm>
          <a:custGeom>
            <a:rect b="b" l="l" r="r" t="t"/>
            <a:pathLst>
              <a:path extrusionOk="0" h="1371600" w="2672863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451537" y="650160"/>
            <a:ext cx="2240924" cy="298789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30" name="Google Shape;130;p8"/>
          <p:cNvSpPr txBox="1"/>
          <p:nvPr>
            <p:ph type="title"/>
          </p:nvPr>
        </p:nvSpPr>
        <p:spPr>
          <a:xfrm>
            <a:off x="628650" y="479493"/>
            <a:ext cx="39433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1" i="0"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Hadoop Layer Cake</a:t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628650" y="1984443"/>
            <a:ext cx="3943350" cy="419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" lvl="0" marL="127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Hadoop has many advantages, it is not intuitive to translate every data exploration/manipulation/searching task into a series of map-reduce operations.</a:t>
            </a:r>
            <a:endParaRPr/>
          </a:p>
          <a:p>
            <a:pPr indent="-12700" lvl="0" marL="12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Higher-level languages were needed.</a:t>
            </a:r>
            <a:endParaRPr/>
          </a:p>
        </p:txBody>
      </p:sp>
      <p:graphicFrame>
        <p:nvGraphicFramePr>
          <p:cNvPr id="132" name="Google Shape;132;p8"/>
          <p:cNvGraphicFramePr/>
          <p:nvPr/>
        </p:nvGraphicFramePr>
        <p:xfrm>
          <a:off x="4572000" y="1685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{22ED4755-D760-4600-AE3E-B58C643489D8}</a:tableStyleId>
              </a:tblPr>
              <a:tblGrid>
                <a:gridCol w="2403300"/>
                <a:gridCol w="756750"/>
                <a:gridCol w="756750"/>
              </a:tblGrid>
              <a:tr h="912350">
                <a:tc>
                  <a:txBody>
                    <a:bodyPr/>
                    <a:lstStyle/>
                    <a:p>
                      <a:pPr indent="0" lvl="0" marL="46100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646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4646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PIG (Data Flow)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7325" marB="0" marR="0" marL="0">
                    <a:lnL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BB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23875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646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4646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Hive (SQL emulation)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7325" marB="0" marR="0" marL="0">
                    <a:lnL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1"/>
                    </a:solidFill>
                  </a:tcPr>
                </a:tc>
                <a:tc hMerge="1"/>
              </a:tr>
              <a:tr h="1079675">
                <a:tc gridSpan="3"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4646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MapReduce (job scheduling, assignment, and shuffling)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6400" marB="0" marR="0" marL="0">
                    <a:lnL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BDCF7"/>
                    </a:solidFill>
                  </a:tcPr>
                </a:tc>
                <a:tc hMerge="1"/>
                <a:tc hMerge="1"/>
              </a:tr>
              <a:tr h="575900">
                <a:tc gridSpan="2">
                  <a:txBody>
                    <a:bodyPr/>
                    <a:lstStyle/>
                    <a:p>
                      <a:pPr indent="0" lvl="0" marL="213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646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4646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Hbase (key-value store)</a:t>
                      </a:r>
                      <a:endParaRPr sz="1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7325" marB="0" marR="0" marL="0">
                    <a:lnL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57150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D2EA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850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9625" marB="0" marR="0" marL="0">
                    <a:lnL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57150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CF7"/>
                    </a:solidFill>
                  </a:tcPr>
                </a:tc>
              </a:tr>
              <a:tr h="16245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646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4646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HDFS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646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4646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(Hadoop Distributed File System)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7350" marB="0" marR="0" marL="0">
                    <a:lnL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AF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1FC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7" name="Google Shape;137;p9"/>
          <p:cNvSpPr txBox="1"/>
          <p:nvPr>
            <p:ph type="title"/>
          </p:nvPr>
        </p:nvSpPr>
        <p:spPr>
          <a:xfrm>
            <a:off x="911222" y="649029"/>
            <a:ext cx="8232777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High-level Hadoop Interfaces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9"/>
          <p:cNvGrpSpPr/>
          <p:nvPr/>
        </p:nvGrpSpPr>
        <p:grpSpPr>
          <a:xfrm>
            <a:off x="6629373" y="2393089"/>
            <a:ext cx="1687261" cy="3872506"/>
            <a:chOff x="6629373" y="2393089"/>
            <a:chExt cx="1687261" cy="3872506"/>
          </a:xfrm>
        </p:grpSpPr>
        <p:pic>
          <p:nvPicPr>
            <p:cNvPr id="139" name="Google Shape;13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9373" y="4703502"/>
              <a:ext cx="1687261" cy="1562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7972" y="2393089"/>
              <a:ext cx="1160671" cy="1745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9"/>
          <p:cNvGrpSpPr/>
          <p:nvPr/>
        </p:nvGrpSpPr>
        <p:grpSpPr>
          <a:xfrm>
            <a:off x="957437" y="1920823"/>
            <a:ext cx="7599174" cy="3688789"/>
            <a:chOff x="533" y="383619"/>
            <a:chExt cx="7599174" cy="3688789"/>
          </a:xfrm>
        </p:grpSpPr>
        <p:sp>
          <p:nvSpPr>
            <p:cNvPr id="142" name="Google Shape;142;p9"/>
            <p:cNvSpPr/>
            <p:nvPr/>
          </p:nvSpPr>
          <p:spPr>
            <a:xfrm rot="-5400000">
              <a:off x="533" y="383619"/>
              <a:ext cx="3688789" cy="3688789"/>
            </a:xfrm>
            <a:prstGeom prst="downArrow">
              <a:avLst>
                <a:gd fmla="val 50000" name="adj1"/>
                <a:gd fmla="val 35000" name="adj2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9"/>
            <p:cNvSpPr txBox="1"/>
            <p:nvPr/>
          </p:nvSpPr>
          <p:spPr>
            <a:xfrm>
              <a:off x="533" y="1305816"/>
              <a:ext cx="3043251" cy="1844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775" lIns="113775" spcFirstLastPara="1" rIns="113775" wrap="square" tIns="11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PIG </a:t>
              </a: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– A scripting language for transforming big data</a:t>
              </a:r>
              <a:endParaRPr/>
            </a:p>
            <a:p>
              <a:pPr indent="-171450" lvl="1" marL="17145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Useful for “cleaning” and “normalizing” data</a:t>
              </a:r>
              <a:endParaRPr/>
            </a:p>
            <a:p>
              <a:pPr indent="-171450" lvl="1" marL="17145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Three parts:</a:t>
              </a:r>
              <a:endParaRPr/>
            </a:p>
            <a:p>
              <a:pPr indent="-171450" lvl="2" marL="34290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Pig Latin – The scripting language</a:t>
              </a:r>
              <a:endParaRPr/>
            </a:p>
            <a:p>
              <a:pPr indent="-171450" lvl="2" marL="34290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Grunt – A interactive shell</a:t>
              </a:r>
              <a:endParaRPr/>
            </a:p>
            <a:p>
              <a:pPr indent="-171450" lvl="2" marL="34290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Piggybank – A repository of Pig extensions</a:t>
              </a:r>
              <a:endParaRPr/>
            </a:p>
            <a:p>
              <a:pPr indent="-171450" lvl="1" marL="17145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Deferred execution model</a:t>
              </a: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 rot="5400000">
              <a:off x="3910918" y="383619"/>
              <a:ext cx="3688789" cy="3688789"/>
            </a:xfrm>
            <a:prstGeom prst="downArrow">
              <a:avLst>
                <a:gd fmla="val 50000" name="adj1"/>
                <a:gd fmla="val 35000" name="adj2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 txBox="1"/>
            <p:nvPr/>
          </p:nvSpPr>
          <p:spPr>
            <a:xfrm>
              <a:off x="4556456" y="1305816"/>
              <a:ext cx="3043251" cy="1844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3775" lIns="113775" spcFirstLastPara="1" rIns="113775" wrap="square" tIns="113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Hive </a:t>
              </a: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– A SQL-inspired query-oriented language</a:t>
              </a:r>
              <a:endParaRPr/>
            </a:p>
            <a:p>
              <a:pPr indent="-171450" lvl="1" marL="17145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Imposes structure, in the form of schemas, on Hadoop data</a:t>
              </a:r>
              <a:endParaRPr/>
            </a:p>
            <a:p>
              <a:pPr indent="-171450" lvl="1" marL="17145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Char char="•"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Creates “data warehouse” layers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097" y="1816011"/>
            <a:ext cx="140220" cy="14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097" y="2262676"/>
            <a:ext cx="140220" cy="14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097" y="3435541"/>
            <a:ext cx="140220" cy="14021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>
            <p:ph type="title"/>
          </p:nvPr>
        </p:nvSpPr>
        <p:spPr>
          <a:xfrm>
            <a:off x="911223" y="649029"/>
            <a:ext cx="69138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Pig &amp; Pig Latin</a:t>
            </a:r>
            <a:endParaRPr/>
          </a:p>
        </p:txBody>
      </p:sp>
      <p:grpSp>
        <p:nvGrpSpPr>
          <p:cNvPr id="154" name="Google Shape;154;p5"/>
          <p:cNvGrpSpPr/>
          <p:nvPr/>
        </p:nvGrpSpPr>
        <p:grpSpPr>
          <a:xfrm>
            <a:off x="1154069" y="1574160"/>
            <a:ext cx="7023833" cy="4021919"/>
            <a:chOff x="0" y="14306"/>
            <a:chExt cx="7023833" cy="4021919"/>
          </a:xfrm>
        </p:grpSpPr>
        <p:sp>
          <p:nvSpPr>
            <p:cNvPr id="155" name="Google Shape;155;p5"/>
            <p:cNvSpPr/>
            <p:nvPr/>
          </p:nvSpPr>
          <p:spPr>
            <a:xfrm>
              <a:off x="0" y="14306"/>
              <a:ext cx="7023833" cy="1067040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52089" y="66395"/>
              <a:ext cx="6919655" cy="96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Abstraction layer for processing large data sets 2 Components</a:t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1081346"/>
              <a:ext cx="7023833" cy="94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1081346"/>
              <a:ext cx="7023833" cy="94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23000" spcFirstLastPara="1" rIns="142225" wrap="square" tIns="254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Pig Latin: the language used to express data flows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Grunt: the execution environment</a:t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2025266"/>
              <a:ext cx="7023833" cy="1067040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52089" y="2077355"/>
              <a:ext cx="6919655" cy="962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Pig Program</a:t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3092305"/>
              <a:ext cx="7023833" cy="94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0" y="3092305"/>
              <a:ext cx="7023833" cy="943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23000" spcFirstLastPara="1" rIns="142225" wrap="square" tIns="254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Composed of series of operations, or transformations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operations describe a dataflow that is translated into one or more MapReduce jobs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911222" y="635381"/>
            <a:ext cx="7673219" cy="579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🐖 Pig &amp; Pig Latin</a:t>
            </a:r>
            <a:br>
              <a:rPr b="1" i="0" lang="en-US">
                <a:latin typeface="Arial"/>
                <a:ea typeface="Arial"/>
                <a:cs typeface="Arial"/>
                <a:sym typeface="Arial"/>
              </a:rPr>
            </a:br>
            <a:endParaRPr i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30"/>
          <p:cNvGrpSpPr/>
          <p:nvPr/>
        </p:nvGrpSpPr>
        <p:grpSpPr>
          <a:xfrm>
            <a:off x="911222" y="1520914"/>
            <a:ext cx="7919085" cy="4727732"/>
            <a:chOff x="0" y="6013"/>
            <a:chExt cx="7919085" cy="4727732"/>
          </a:xfrm>
        </p:grpSpPr>
        <p:sp>
          <p:nvSpPr>
            <p:cNvPr id="169" name="Google Shape;169;p30"/>
            <p:cNvSpPr/>
            <p:nvPr/>
          </p:nvSpPr>
          <p:spPr>
            <a:xfrm>
              <a:off x="0" y="6013"/>
              <a:ext cx="7919085" cy="78795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238356" y="183303"/>
              <a:ext cx="433375" cy="433375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910088" y="6013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0"/>
            <p:cNvSpPr txBox="1"/>
            <p:nvPr/>
          </p:nvSpPr>
          <p:spPr>
            <a:xfrm>
              <a:off x="910088" y="6013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375" lIns="83375" spcFirstLastPara="1" rIns="83375" wrap="square" tIns="83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MapReduce is powerful but </a:t>
              </a: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hard to program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because you must write mapper and reducer functions manually.</a:t>
              </a:r>
              <a:endParaRPr/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0" y="990957"/>
              <a:ext cx="7919085" cy="78795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0"/>
            <p:cNvSpPr/>
            <p:nvPr/>
          </p:nvSpPr>
          <p:spPr>
            <a:xfrm>
              <a:off x="238356" y="1168247"/>
              <a:ext cx="433375" cy="433375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910088" y="990957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0"/>
            <p:cNvSpPr txBox="1"/>
            <p:nvPr/>
          </p:nvSpPr>
          <p:spPr>
            <a:xfrm>
              <a:off x="910088" y="990957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375" lIns="83375" spcFirstLastPara="1" rIns="83375" wrap="square" tIns="83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Pig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is a higher-level tool that simplifies this work.</a:t>
              </a:r>
              <a:endParaRPr/>
            </a:p>
          </p:txBody>
        </p:sp>
        <p:sp>
          <p:nvSpPr>
            <p:cNvPr id="177" name="Google Shape;177;p30"/>
            <p:cNvSpPr/>
            <p:nvPr/>
          </p:nvSpPr>
          <p:spPr>
            <a:xfrm>
              <a:off x="0" y="1975901"/>
              <a:ext cx="7919085" cy="78795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238356" y="2153191"/>
              <a:ext cx="433375" cy="433375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910088" y="1975901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0"/>
            <p:cNvSpPr txBox="1"/>
            <p:nvPr/>
          </p:nvSpPr>
          <p:spPr>
            <a:xfrm>
              <a:off x="910088" y="1975901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375" lIns="83375" spcFirstLastPara="1" rIns="83375" wrap="square" tIns="83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Pig Latin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is a data-flow language where each step is a transformation (like SQL operations: join, filter, group, sort).</a:t>
              </a: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0" y="2960845"/>
              <a:ext cx="7919085" cy="78795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238356" y="3138135"/>
              <a:ext cx="433375" cy="433375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910088" y="2960845"/>
              <a:ext cx="3563588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0"/>
            <p:cNvSpPr txBox="1"/>
            <p:nvPr/>
          </p:nvSpPr>
          <p:spPr>
            <a:xfrm>
              <a:off x="910088" y="2960845"/>
              <a:ext cx="3563588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375" lIns="83375" spcFirstLastPara="1" rIns="83375" wrap="square" tIns="83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Pig engine automatically:</a:t>
              </a: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4473676" y="2960845"/>
              <a:ext cx="3444518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0"/>
            <p:cNvSpPr txBox="1"/>
            <p:nvPr/>
          </p:nvSpPr>
          <p:spPr>
            <a:xfrm>
              <a:off x="4473676" y="2960845"/>
              <a:ext cx="3444518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375" lIns="83375" spcFirstLastPara="1" rIns="83375" wrap="square" tIns="83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parses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checks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optimizes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turns Pig Latin into MapReduce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submits the job to Hadoop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monitors progress</a:t>
              </a:r>
              <a:endParaRPr/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0" y="3945790"/>
              <a:ext cx="7919085" cy="78795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238356" y="4123080"/>
              <a:ext cx="433375" cy="433375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910088" y="3945790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0"/>
            <p:cNvSpPr txBox="1"/>
            <p:nvPr/>
          </p:nvSpPr>
          <p:spPr>
            <a:xfrm>
              <a:off x="910088" y="3945790"/>
              <a:ext cx="7008107" cy="787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375" lIns="83375" spcFirstLastPara="1" rIns="83375" wrap="square" tIns="83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 users only write </a:t>
              </a: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Pig Latin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not Java MapReduce code.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5" name="Google Shape;195;p13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Pig Relations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720759" y="1291334"/>
            <a:ext cx="7873146" cy="372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6865" lvl="0" marL="329565" marR="0" rtl="0" algn="l">
              <a:lnSpc>
                <a:spcPct val="143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Pig variables are bags of tuples</a:t>
            </a:r>
            <a:endParaRPr/>
          </a:p>
          <a:p>
            <a:pPr indent="-358774" lvl="1" marL="843914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Fields – data items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4" lvl="1" marL="843914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Tuples – a vector of fields (ordered fields)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4" lvl="1" marL="843914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Bags – a collection of unordered tuples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9409" lvl="2" marL="1301115" marR="5080" rtl="0" algn="l">
              <a:lnSpc>
                <a:spcPct val="131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relational databases the tuples in 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Pig bag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need not have the same number of fields, or the same types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015" lvl="0" marL="386715" marR="0" rtl="0" algn="l">
              <a:lnSpc>
                <a:spcPct val="138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Pig also supports Maps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4" lvl="1" marL="843914" marR="0" rtl="0" algn="l">
              <a:lnSpc>
                <a:spcPct val="131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Maps – a dictionary of name-value pairs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13"/>
          <p:cNvGrpSpPr/>
          <p:nvPr/>
        </p:nvGrpSpPr>
        <p:grpSpPr>
          <a:xfrm>
            <a:off x="1828792" y="5147463"/>
            <a:ext cx="5791193" cy="1752600"/>
            <a:chOff x="1828792" y="4724381"/>
            <a:chExt cx="5791193" cy="1752600"/>
          </a:xfrm>
        </p:grpSpPr>
        <p:sp>
          <p:nvSpPr>
            <p:cNvPr id="198" name="Google Shape;198;p13"/>
            <p:cNvSpPr/>
            <p:nvPr/>
          </p:nvSpPr>
          <p:spPr>
            <a:xfrm>
              <a:off x="1828792" y="4724381"/>
              <a:ext cx="1371600" cy="1752600"/>
            </a:xfrm>
            <a:custGeom>
              <a:rect b="b" l="l" r="r" t="t"/>
              <a:pathLst>
                <a:path extrusionOk="0" h="1752600" w="1371600">
                  <a:moveTo>
                    <a:pt x="1142990" y="1752592"/>
                  </a:moveTo>
                  <a:lnTo>
                    <a:pt x="228603" y="1752592"/>
                  </a:lnTo>
                  <a:lnTo>
                    <a:pt x="182532" y="1747948"/>
                  </a:lnTo>
                  <a:lnTo>
                    <a:pt x="139620" y="1734628"/>
                  </a:lnTo>
                  <a:lnTo>
                    <a:pt x="100789" y="1713551"/>
                  </a:lnTo>
                  <a:lnTo>
                    <a:pt x="66956" y="1685636"/>
                  </a:lnTo>
                  <a:lnTo>
                    <a:pt x="39041" y="1651803"/>
                  </a:lnTo>
                  <a:lnTo>
                    <a:pt x="17964" y="1612972"/>
                  </a:lnTo>
                  <a:lnTo>
                    <a:pt x="4644" y="1570060"/>
                  </a:lnTo>
                  <a:lnTo>
                    <a:pt x="0" y="1523989"/>
                  </a:lnTo>
                  <a:lnTo>
                    <a:pt x="0" y="228603"/>
                  </a:lnTo>
                  <a:lnTo>
                    <a:pt x="4644" y="182532"/>
                  </a:lnTo>
                  <a:lnTo>
                    <a:pt x="17964" y="139620"/>
                  </a:lnTo>
                  <a:lnTo>
                    <a:pt x="39041" y="100789"/>
                  </a:lnTo>
                  <a:lnTo>
                    <a:pt x="66956" y="66956"/>
                  </a:lnTo>
                  <a:lnTo>
                    <a:pt x="100789" y="39041"/>
                  </a:lnTo>
                  <a:lnTo>
                    <a:pt x="139620" y="17964"/>
                  </a:lnTo>
                  <a:lnTo>
                    <a:pt x="182532" y="4644"/>
                  </a:lnTo>
                  <a:lnTo>
                    <a:pt x="228603" y="0"/>
                  </a:lnTo>
                  <a:lnTo>
                    <a:pt x="1142990" y="0"/>
                  </a:lnTo>
                  <a:lnTo>
                    <a:pt x="1187797" y="4433"/>
                  </a:lnTo>
                  <a:lnTo>
                    <a:pt x="1230473" y="17401"/>
                  </a:lnTo>
                  <a:lnTo>
                    <a:pt x="1269820" y="38408"/>
                  </a:lnTo>
                  <a:lnTo>
                    <a:pt x="1304638" y="66956"/>
                  </a:lnTo>
                  <a:lnTo>
                    <a:pt x="1333186" y="101774"/>
                  </a:lnTo>
                  <a:lnTo>
                    <a:pt x="1354193" y="141120"/>
                  </a:lnTo>
                  <a:lnTo>
                    <a:pt x="1367161" y="183797"/>
                  </a:lnTo>
                  <a:lnTo>
                    <a:pt x="1371594" y="228603"/>
                  </a:lnTo>
                  <a:lnTo>
                    <a:pt x="1371594" y="1523989"/>
                  </a:lnTo>
                  <a:lnTo>
                    <a:pt x="1366950" y="1570060"/>
                  </a:lnTo>
                  <a:lnTo>
                    <a:pt x="1353629" y="1612972"/>
                  </a:lnTo>
                  <a:lnTo>
                    <a:pt x="1332552" y="1651803"/>
                  </a:lnTo>
                  <a:lnTo>
                    <a:pt x="1304638" y="1685636"/>
                  </a:lnTo>
                  <a:lnTo>
                    <a:pt x="1270805" y="1713551"/>
                  </a:lnTo>
                  <a:lnTo>
                    <a:pt x="1231973" y="1734628"/>
                  </a:lnTo>
                  <a:lnTo>
                    <a:pt x="1189062" y="1747948"/>
                  </a:lnTo>
                  <a:lnTo>
                    <a:pt x="1142990" y="1752592"/>
                  </a:lnTo>
                  <a:close/>
                </a:path>
              </a:pathLst>
            </a:custGeom>
            <a:solidFill>
              <a:srgbClr val="E3F1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828792" y="4724381"/>
              <a:ext cx="1371600" cy="1752600"/>
            </a:xfrm>
            <a:custGeom>
              <a:rect b="b" l="l" r="r" t="t"/>
              <a:pathLst>
                <a:path extrusionOk="0" h="1752600" w="1371600">
                  <a:moveTo>
                    <a:pt x="0" y="228603"/>
                  </a:moveTo>
                  <a:lnTo>
                    <a:pt x="4644" y="182532"/>
                  </a:lnTo>
                  <a:lnTo>
                    <a:pt x="17964" y="139620"/>
                  </a:lnTo>
                  <a:lnTo>
                    <a:pt x="39041" y="100789"/>
                  </a:lnTo>
                  <a:lnTo>
                    <a:pt x="66956" y="66956"/>
                  </a:lnTo>
                  <a:lnTo>
                    <a:pt x="100789" y="39041"/>
                  </a:lnTo>
                  <a:lnTo>
                    <a:pt x="139620" y="17964"/>
                  </a:lnTo>
                  <a:lnTo>
                    <a:pt x="182532" y="4644"/>
                  </a:lnTo>
                  <a:lnTo>
                    <a:pt x="228603" y="0"/>
                  </a:lnTo>
                  <a:lnTo>
                    <a:pt x="1142990" y="0"/>
                  </a:lnTo>
                  <a:lnTo>
                    <a:pt x="1187797" y="4433"/>
                  </a:lnTo>
                  <a:lnTo>
                    <a:pt x="1230473" y="17401"/>
                  </a:lnTo>
                  <a:lnTo>
                    <a:pt x="1269820" y="38408"/>
                  </a:lnTo>
                  <a:lnTo>
                    <a:pt x="1304638" y="66956"/>
                  </a:lnTo>
                  <a:lnTo>
                    <a:pt x="1333186" y="101774"/>
                  </a:lnTo>
                  <a:lnTo>
                    <a:pt x="1354193" y="141120"/>
                  </a:lnTo>
                  <a:lnTo>
                    <a:pt x="1367161" y="183797"/>
                  </a:lnTo>
                  <a:lnTo>
                    <a:pt x="1371594" y="228603"/>
                  </a:lnTo>
                  <a:lnTo>
                    <a:pt x="1371594" y="1523989"/>
                  </a:lnTo>
                  <a:lnTo>
                    <a:pt x="1366950" y="1570060"/>
                  </a:lnTo>
                  <a:lnTo>
                    <a:pt x="1353629" y="1612972"/>
                  </a:lnTo>
                  <a:lnTo>
                    <a:pt x="1332552" y="1651803"/>
                  </a:lnTo>
                  <a:lnTo>
                    <a:pt x="1304638" y="1685636"/>
                  </a:lnTo>
                  <a:lnTo>
                    <a:pt x="1270805" y="1713551"/>
                  </a:lnTo>
                  <a:lnTo>
                    <a:pt x="1231973" y="1734628"/>
                  </a:lnTo>
                  <a:lnTo>
                    <a:pt x="1189062" y="1747948"/>
                  </a:lnTo>
                  <a:lnTo>
                    <a:pt x="1142990" y="1752592"/>
                  </a:lnTo>
                  <a:lnTo>
                    <a:pt x="228603" y="1752592"/>
                  </a:lnTo>
                  <a:lnTo>
                    <a:pt x="182532" y="1747948"/>
                  </a:lnTo>
                  <a:lnTo>
                    <a:pt x="139620" y="1734628"/>
                  </a:lnTo>
                  <a:lnTo>
                    <a:pt x="100789" y="1713551"/>
                  </a:lnTo>
                  <a:lnTo>
                    <a:pt x="66956" y="1685636"/>
                  </a:lnTo>
                  <a:lnTo>
                    <a:pt x="39041" y="1651803"/>
                  </a:lnTo>
                  <a:lnTo>
                    <a:pt x="17964" y="1612972"/>
                  </a:lnTo>
                  <a:lnTo>
                    <a:pt x="4644" y="1570060"/>
                  </a:lnTo>
                  <a:lnTo>
                    <a:pt x="0" y="1523989"/>
                  </a:lnTo>
                  <a:lnTo>
                    <a:pt x="0" y="228603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3581385" y="4724381"/>
              <a:ext cx="4038600" cy="609600"/>
            </a:xfrm>
            <a:custGeom>
              <a:rect b="b" l="l" r="r" t="t"/>
              <a:pathLst>
                <a:path extrusionOk="0" h="609600" w="4038600">
                  <a:moveTo>
                    <a:pt x="3936981" y="609597"/>
                  </a:moveTo>
                  <a:lnTo>
                    <a:pt x="101601" y="609597"/>
                  </a:lnTo>
                  <a:lnTo>
                    <a:pt x="62053" y="601613"/>
                  </a:lnTo>
                  <a:lnTo>
                    <a:pt x="29758" y="579839"/>
                  </a:lnTo>
                  <a:lnTo>
                    <a:pt x="7984" y="547543"/>
                  </a:lnTo>
                  <a:lnTo>
                    <a:pt x="0" y="507996"/>
                  </a:lnTo>
                  <a:lnTo>
                    <a:pt x="0" y="101601"/>
                  </a:lnTo>
                  <a:lnTo>
                    <a:pt x="7984" y="62053"/>
                  </a:lnTo>
                  <a:lnTo>
                    <a:pt x="29758" y="29758"/>
                  </a:lnTo>
                  <a:lnTo>
                    <a:pt x="62053" y="7984"/>
                  </a:lnTo>
                  <a:lnTo>
                    <a:pt x="101601" y="0"/>
                  </a:lnTo>
                  <a:lnTo>
                    <a:pt x="3936981" y="0"/>
                  </a:lnTo>
                  <a:lnTo>
                    <a:pt x="3975863" y="7733"/>
                  </a:lnTo>
                  <a:lnTo>
                    <a:pt x="4008825" y="29758"/>
                  </a:lnTo>
                  <a:lnTo>
                    <a:pt x="4030849" y="62720"/>
                  </a:lnTo>
                  <a:lnTo>
                    <a:pt x="4038583" y="101601"/>
                  </a:lnTo>
                  <a:lnTo>
                    <a:pt x="4038583" y="507996"/>
                  </a:lnTo>
                  <a:lnTo>
                    <a:pt x="4030599" y="547543"/>
                  </a:lnTo>
                  <a:lnTo>
                    <a:pt x="4008825" y="579839"/>
                  </a:lnTo>
                  <a:lnTo>
                    <a:pt x="3976529" y="601613"/>
                  </a:lnTo>
                  <a:lnTo>
                    <a:pt x="3936981" y="609597"/>
                  </a:lnTo>
                  <a:close/>
                </a:path>
              </a:pathLst>
            </a:custGeom>
            <a:solidFill>
              <a:srgbClr val="D2EBB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3581385" y="4724381"/>
              <a:ext cx="4038600" cy="609600"/>
            </a:xfrm>
            <a:custGeom>
              <a:rect b="b" l="l" r="r" t="t"/>
              <a:pathLst>
                <a:path extrusionOk="0" h="609600" w="4038600">
                  <a:moveTo>
                    <a:pt x="0" y="101601"/>
                  </a:moveTo>
                  <a:lnTo>
                    <a:pt x="7984" y="62053"/>
                  </a:lnTo>
                  <a:lnTo>
                    <a:pt x="29758" y="29758"/>
                  </a:lnTo>
                  <a:lnTo>
                    <a:pt x="62053" y="7984"/>
                  </a:lnTo>
                  <a:lnTo>
                    <a:pt x="101601" y="0"/>
                  </a:lnTo>
                  <a:lnTo>
                    <a:pt x="3936981" y="0"/>
                  </a:lnTo>
                  <a:lnTo>
                    <a:pt x="3975863" y="7733"/>
                  </a:lnTo>
                  <a:lnTo>
                    <a:pt x="4008825" y="29758"/>
                  </a:lnTo>
                  <a:lnTo>
                    <a:pt x="4030849" y="62720"/>
                  </a:lnTo>
                  <a:lnTo>
                    <a:pt x="4038583" y="101601"/>
                  </a:lnTo>
                  <a:lnTo>
                    <a:pt x="4038583" y="507996"/>
                  </a:lnTo>
                  <a:lnTo>
                    <a:pt x="4030599" y="547543"/>
                  </a:lnTo>
                  <a:lnTo>
                    <a:pt x="4008825" y="579839"/>
                  </a:lnTo>
                  <a:lnTo>
                    <a:pt x="3976529" y="601613"/>
                  </a:lnTo>
                  <a:lnTo>
                    <a:pt x="3936981" y="609597"/>
                  </a:lnTo>
                  <a:lnTo>
                    <a:pt x="101601" y="609597"/>
                  </a:lnTo>
                  <a:lnTo>
                    <a:pt x="62053" y="601613"/>
                  </a:lnTo>
                  <a:lnTo>
                    <a:pt x="29758" y="579839"/>
                  </a:lnTo>
                  <a:lnTo>
                    <a:pt x="7984" y="547543"/>
                  </a:lnTo>
                  <a:lnTo>
                    <a:pt x="0" y="507996"/>
                  </a:lnTo>
                  <a:lnTo>
                    <a:pt x="0" y="101601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1904992" y="5107848"/>
              <a:ext cx="990600" cy="252729"/>
            </a:xfrm>
            <a:custGeom>
              <a:rect b="b" l="l" r="r" t="t"/>
              <a:pathLst>
                <a:path extrusionOk="0" h="252729" w="990600">
                  <a:moveTo>
                    <a:pt x="948545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948545" y="0"/>
                  </a:lnTo>
                  <a:lnTo>
                    <a:pt x="983531" y="18720"/>
                  </a:lnTo>
                  <a:lnTo>
                    <a:pt x="990596" y="42050"/>
                  </a:lnTo>
                  <a:lnTo>
                    <a:pt x="990596" y="210248"/>
                  </a:lnTo>
                  <a:lnTo>
                    <a:pt x="987291" y="226616"/>
                  </a:lnTo>
                  <a:lnTo>
                    <a:pt x="978279" y="239982"/>
                  </a:lnTo>
                  <a:lnTo>
                    <a:pt x="964913" y="248994"/>
                  </a:lnTo>
                  <a:lnTo>
                    <a:pt x="948545" y="252298"/>
                  </a:lnTo>
                  <a:close/>
                </a:path>
              </a:pathLst>
            </a:custGeom>
            <a:solidFill>
              <a:srgbClr val="D2EBB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1904992" y="5107848"/>
              <a:ext cx="990600" cy="252729"/>
            </a:xfrm>
            <a:custGeom>
              <a:rect b="b" l="l" r="r" t="t"/>
              <a:pathLst>
                <a:path extrusionOk="0" h="252729" w="9906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948545" y="0"/>
                  </a:lnTo>
                  <a:lnTo>
                    <a:pt x="983531" y="18720"/>
                  </a:lnTo>
                  <a:lnTo>
                    <a:pt x="990596" y="42050"/>
                  </a:lnTo>
                  <a:lnTo>
                    <a:pt x="990596" y="210248"/>
                  </a:lnTo>
                  <a:lnTo>
                    <a:pt x="987291" y="226616"/>
                  </a:lnTo>
                  <a:lnTo>
                    <a:pt x="978279" y="239982"/>
                  </a:lnTo>
                  <a:lnTo>
                    <a:pt x="964913" y="248994"/>
                  </a:lnTo>
                  <a:lnTo>
                    <a:pt x="948545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904992" y="5410178"/>
              <a:ext cx="762000" cy="252729"/>
            </a:xfrm>
            <a:custGeom>
              <a:rect b="b" l="l" r="r" t="t"/>
              <a:pathLst>
                <a:path extrusionOk="0" h="252729" w="762000">
                  <a:moveTo>
                    <a:pt x="719946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19946" y="0"/>
                  </a:lnTo>
                  <a:lnTo>
                    <a:pt x="754931" y="18720"/>
                  </a:lnTo>
                  <a:lnTo>
                    <a:pt x="761996" y="42050"/>
                  </a:lnTo>
                  <a:lnTo>
                    <a:pt x="761996" y="210248"/>
                  </a:lnTo>
                  <a:lnTo>
                    <a:pt x="758692" y="226616"/>
                  </a:lnTo>
                  <a:lnTo>
                    <a:pt x="749680" y="239982"/>
                  </a:lnTo>
                  <a:lnTo>
                    <a:pt x="736314" y="248994"/>
                  </a:lnTo>
                  <a:lnTo>
                    <a:pt x="719946" y="252298"/>
                  </a:lnTo>
                  <a:close/>
                </a:path>
              </a:pathLst>
            </a:custGeom>
            <a:solidFill>
              <a:srgbClr val="D2EBB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1904992" y="5410178"/>
              <a:ext cx="762000" cy="252729"/>
            </a:xfrm>
            <a:custGeom>
              <a:rect b="b" l="l" r="r" t="t"/>
              <a:pathLst>
                <a:path extrusionOk="0" h="252729" w="7620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19946" y="0"/>
                  </a:lnTo>
                  <a:lnTo>
                    <a:pt x="754931" y="18720"/>
                  </a:lnTo>
                  <a:lnTo>
                    <a:pt x="761996" y="42050"/>
                  </a:lnTo>
                  <a:lnTo>
                    <a:pt x="761996" y="210248"/>
                  </a:lnTo>
                  <a:lnTo>
                    <a:pt x="758692" y="226616"/>
                  </a:lnTo>
                  <a:lnTo>
                    <a:pt x="749680" y="239982"/>
                  </a:lnTo>
                  <a:lnTo>
                    <a:pt x="736314" y="248994"/>
                  </a:lnTo>
                  <a:lnTo>
                    <a:pt x="719946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1904992" y="5714977"/>
              <a:ext cx="1219200" cy="252729"/>
            </a:xfrm>
            <a:custGeom>
              <a:rect b="b" l="l" r="r" t="t"/>
              <a:pathLst>
                <a:path extrusionOk="0" h="252729" w="1219200">
                  <a:moveTo>
                    <a:pt x="1177144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1177144" y="0"/>
                  </a:lnTo>
                  <a:lnTo>
                    <a:pt x="1212130" y="18720"/>
                  </a:lnTo>
                  <a:lnTo>
                    <a:pt x="1219195" y="42050"/>
                  </a:lnTo>
                  <a:lnTo>
                    <a:pt x="1219195" y="210248"/>
                  </a:lnTo>
                  <a:lnTo>
                    <a:pt x="1215890" y="226616"/>
                  </a:lnTo>
                  <a:lnTo>
                    <a:pt x="1206878" y="239982"/>
                  </a:lnTo>
                  <a:lnTo>
                    <a:pt x="1193512" y="248994"/>
                  </a:lnTo>
                  <a:lnTo>
                    <a:pt x="1177144" y="252298"/>
                  </a:lnTo>
                  <a:close/>
                </a:path>
              </a:pathLst>
            </a:custGeom>
            <a:solidFill>
              <a:srgbClr val="D2EBB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904992" y="5714977"/>
              <a:ext cx="1219200" cy="252729"/>
            </a:xfrm>
            <a:custGeom>
              <a:rect b="b" l="l" r="r" t="t"/>
              <a:pathLst>
                <a:path extrusionOk="0" h="252729" w="12192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1177144" y="0"/>
                  </a:lnTo>
                  <a:lnTo>
                    <a:pt x="1212130" y="18720"/>
                  </a:lnTo>
                  <a:lnTo>
                    <a:pt x="1219195" y="42050"/>
                  </a:lnTo>
                  <a:lnTo>
                    <a:pt x="1219195" y="210248"/>
                  </a:lnTo>
                  <a:lnTo>
                    <a:pt x="1215890" y="226616"/>
                  </a:lnTo>
                  <a:lnTo>
                    <a:pt x="1206878" y="239982"/>
                  </a:lnTo>
                  <a:lnTo>
                    <a:pt x="1193512" y="248994"/>
                  </a:lnTo>
                  <a:lnTo>
                    <a:pt x="1177144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904992" y="6148499"/>
              <a:ext cx="990600" cy="252729"/>
            </a:xfrm>
            <a:custGeom>
              <a:rect b="b" l="l" r="r" t="t"/>
              <a:pathLst>
                <a:path extrusionOk="0" h="252729" w="990600">
                  <a:moveTo>
                    <a:pt x="948545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948545" y="0"/>
                  </a:lnTo>
                  <a:lnTo>
                    <a:pt x="983531" y="18720"/>
                  </a:lnTo>
                  <a:lnTo>
                    <a:pt x="990596" y="42050"/>
                  </a:lnTo>
                  <a:lnTo>
                    <a:pt x="990596" y="210248"/>
                  </a:lnTo>
                  <a:lnTo>
                    <a:pt x="987291" y="226616"/>
                  </a:lnTo>
                  <a:lnTo>
                    <a:pt x="978279" y="239982"/>
                  </a:lnTo>
                  <a:lnTo>
                    <a:pt x="964913" y="248994"/>
                  </a:lnTo>
                  <a:lnTo>
                    <a:pt x="948545" y="252298"/>
                  </a:lnTo>
                  <a:close/>
                </a:path>
              </a:pathLst>
            </a:custGeom>
            <a:solidFill>
              <a:srgbClr val="D2EBB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1904992" y="6148499"/>
              <a:ext cx="990600" cy="252729"/>
            </a:xfrm>
            <a:custGeom>
              <a:rect b="b" l="l" r="r" t="t"/>
              <a:pathLst>
                <a:path extrusionOk="0" h="252729" w="9906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948545" y="0"/>
                  </a:lnTo>
                  <a:lnTo>
                    <a:pt x="983531" y="18720"/>
                  </a:lnTo>
                  <a:lnTo>
                    <a:pt x="990596" y="42050"/>
                  </a:lnTo>
                  <a:lnTo>
                    <a:pt x="990596" y="210248"/>
                  </a:lnTo>
                  <a:lnTo>
                    <a:pt x="987291" y="226616"/>
                  </a:lnTo>
                  <a:lnTo>
                    <a:pt x="978279" y="239982"/>
                  </a:lnTo>
                  <a:lnTo>
                    <a:pt x="964913" y="248994"/>
                  </a:lnTo>
                  <a:lnTo>
                    <a:pt x="948545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13"/>
          <p:cNvSpPr txBox="1"/>
          <p:nvPr/>
        </p:nvSpPr>
        <p:spPr>
          <a:xfrm>
            <a:off x="2010117" y="5098564"/>
            <a:ext cx="548005" cy="172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655" marR="5080" rtl="0" algn="l">
              <a:lnSpc>
                <a:spcPct val="124000"/>
              </a:lnSpc>
              <a:spcBef>
                <a:spcPts val="50"/>
              </a:spcBef>
              <a:spcAft>
                <a:spcPts val="0"/>
              </a:spcAft>
              <a:buClr>
                <a:srgbClr val="46464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Tuple Tuple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655" marR="0" rtl="0" algn="l">
              <a:lnSpc>
                <a:spcPct val="99062"/>
              </a:lnSpc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1388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65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46464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3"/>
          <p:cNvGrpSpPr/>
          <p:nvPr/>
        </p:nvGrpSpPr>
        <p:grpSpPr>
          <a:xfrm>
            <a:off x="3657585" y="5453985"/>
            <a:ext cx="838200" cy="252729"/>
            <a:chOff x="3657585" y="5030903"/>
            <a:chExt cx="838200" cy="252729"/>
          </a:xfrm>
        </p:grpSpPr>
        <p:sp>
          <p:nvSpPr>
            <p:cNvPr id="212" name="Google Shape;212;p13"/>
            <p:cNvSpPr/>
            <p:nvPr/>
          </p:nvSpPr>
          <p:spPr>
            <a:xfrm>
              <a:off x="3657585" y="5030903"/>
              <a:ext cx="838200" cy="252729"/>
            </a:xfrm>
            <a:custGeom>
              <a:rect b="b" l="l" r="r" t="t"/>
              <a:pathLst>
                <a:path extrusionOk="0" h="252729" w="838200">
                  <a:moveTo>
                    <a:pt x="796146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96146" y="0"/>
                  </a:lnTo>
                  <a:lnTo>
                    <a:pt x="831131" y="18720"/>
                  </a:lnTo>
                  <a:lnTo>
                    <a:pt x="838196" y="42050"/>
                  </a:lnTo>
                  <a:lnTo>
                    <a:pt x="838196" y="210248"/>
                  </a:lnTo>
                  <a:lnTo>
                    <a:pt x="834892" y="226616"/>
                  </a:lnTo>
                  <a:lnTo>
                    <a:pt x="825880" y="239982"/>
                  </a:lnTo>
                  <a:lnTo>
                    <a:pt x="812513" y="248994"/>
                  </a:lnTo>
                  <a:lnTo>
                    <a:pt x="796146" y="252298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3657585" y="5030903"/>
              <a:ext cx="838200" cy="252729"/>
            </a:xfrm>
            <a:custGeom>
              <a:rect b="b" l="l" r="r" t="t"/>
              <a:pathLst>
                <a:path extrusionOk="0" h="252729" w="8382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96146" y="0"/>
                  </a:lnTo>
                  <a:lnTo>
                    <a:pt x="831131" y="18720"/>
                  </a:lnTo>
                  <a:lnTo>
                    <a:pt x="838196" y="42050"/>
                  </a:lnTo>
                  <a:lnTo>
                    <a:pt x="838196" y="210248"/>
                  </a:lnTo>
                  <a:lnTo>
                    <a:pt x="834892" y="226616"/>
                  </a:lnTo>
                  <a:lnTo>
                    <a:pt x="825880" y="239982"/>
                  </a:lnTo>
                  <a:lnTo>
                    <a:pt x="812513" y="248994"/>
                  </a:lnTo>
                  <a:lnTo>
                    <a:pt x="796146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13"/>
          <p:cNvSpPr txBox="1"/>
          <p:nvPr/>
        </p:nvSpPr>
        <p:spPr>
          <a:xfrm>
            <a:off x="3684176" y="5183797"/>
            <a:ext cx="694055" cy="52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-59055" lvl="0" marL="71120" marR="5080" rtl="0" algn="l">
              <a:lnSpc>
                <a:spcPct val="1032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Tuple Field 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13"/>
          <p:cNvGrpSpPr/>
          <p:nvPr/>
        </p:nvGrpSpPr>
        <p:grpSpPr>
          <a:xfrm>
            <a:off x="4571981" y="5453985"/>
            <a:ext cx="838200" cy="252729"/>
            <a:chOff x="4571981" y="5030903"/>
            <a:chExt cx="838200" cy="252729"/>
          </a:xfrm>
        </p:grpSpPr>
        <p:sp>
          <p:nvSpPr>
            <p:cNvPr id="216" name="Google Shape;216;p13"/>
            <p:cNvSpPr/>
            <p:nvPr/>
          </p:nvSpPr>
          <p:spPr>
            <a:xfrm>
              <a:off x="4571981" y="5030903"/>
              <a:ext cx="838200" cy="252729"/>
            </a:xfrm>
            <a:custGeom>
              <a:rect b="b" l="l" r="r" t="t"/>
              <a:pathLst>
                <a:path extrusionOk="0" h="252729" w="838200">
                  <a:moveTo>
                    <a:pt x="796146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96146" y="0"/>
                  </a:lnTo>
                  <a:lnTo>
                    <a:pt x="831131" y="18720"/>
                  </a:lnTo>
                  <a:lnTo>
                    <a:pt x="838196" y="42050"/>
                  </a:lnTo>
                  <a:lnTo>
                    <a:pt x="838196" y="210248"/>
                  </a:lnTo>
                  <a:lnTo>
                    <a:pt x="834892" y="226616"/>
                  </a:lnTo>
                  <a:lnTo>
                    <a:pt x="825880" y="239982"/>
                  </a:lnTo>
                  <a:lnTo>
                    <a:pt x="812513" y="248994"/>
                  </a:lnTo>
                  <a:lnTo>
                    <a:pt x="796146" y="252298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4571981" y="5030903"/>
              <a:ext cx="838200" cy="252729"/>
            </a:xfrm>
            <a:custGeom>
              <a:rect b="b" l="l" r="r" t="t"/>
              <a:pathLst>
                <a:path extrusionOk="0" h="252729" w="8382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96146" y="0"/>
                  </a:lnTo>
                  <a:lnTo>
                    <a:pt x="831131" y="18720"/>
                  </a:lnTo>
                  <a:lnTo>
                    <a:pt x="838196" y="42050"/>
                  </a:lnTo>
                  <a:lnTo>
                    <a:pt x="838196" y="210248"/>
                  </a:lnTo>
                  <a:lnTo>
                    <a:pt x="834892" y="226616"/>
                  </a:lnTo>
                  <a:lnTo>
                    <a:pt x="825880" y="239982"/>
                  </a:lnTo>
                  <a:lnTo>
                    <a:pt x="812513" y="248994"/>
                  </a:lnTo>
                  <a:lnTo>
                    <a:pt x="796146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13"/>
          <p:cNvSpPr txBox="1"/>
          <p:nvPr/>
        </p:nvSpPr>
        <p:spPr>
          <a:xfrm>
            <a:off x="4657332" y="5435495"/>
            <a:ext cx="635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Field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13"/>
          <p:cNvGrpSpPr/>
          <p:nvPr/>
        </p:nvGrpSpPr>
        <p:grpSpPr>
          <a:xfrm>
            <a:off x="5486377" y="5453985"/>
            <a:ext cx="838200" cy="252729"/>
            <a:chOff x="5486377" y="5030903"/>
            <a:chExt cx="838200" cy="252729"/>
          </a:xfrm>
        </p:grpSpPr>
        <p:sp>
          <p:nvSpPr>
            <p:cNvPr id="220" name="Google Shape;220;p13"/>
            <p:cNvSpPr/>
            <p:nvPr/>
          </p:nvSpPr>
          <p:spPr>
            <a:xfrm>
              <a:off x="5486377" y="5030903"/>
              <a:ext cx="838200" cy="252729"/>
            </a:xfrm>
            <a:custGeom>
              <a:rect b="b" l="l" r="r" t="t"/>
              <a:pathLst>
                <a:path extrusionOk="0" h="252729" w="838200">
                  <a:moveTo>
                    <a:pt x="796146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96146" y="0"/>
                  </a:lnTo>
                  <a:lnTo>
                    <a:pt x="831131" y="18720"/>
                  </a:lnTo>
                  <a:lnTo>
                    <a:pt x="838196" y="42050"/>
                  </a:lnTo>
                  <a:lnTo>
                    <a:pt x="838196" y="210248"/>
                  </a:lnTo>
                  <a:lnTo>
                    <a:pt x="834892" y="226616"/>
                  </a:lnTo>
                  <a:lnTo>
                    <a:pt x="825880" y="239982"/>
                  </a:lnTo>
                  <a:lnTo>
                    <a:pt x="812513" y="248994"/>
                  </a:lnTo>
                  <a:lnTo>
                    <a:pt x="796146" y="252298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486377" y="5030903"/>
              <a:ext cx="838200" cy="252729"/>
            </a:xfrm>
            <a:custGeom>
              <a:rect b="b" l="l" r="r" t="t"/>
              <a:pathLst>
                <a:path extrusionOk="0" h="252729" w="8382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796146" y="0"/>
                  </a:lnTo>
                  <a:lnTo>
                    <a:pt x="831131" y="18720"/>
                  </a:lnTo>
                  <a:lnTo>
                    <a:pt x="838196" y="42050"/>
                  </a:lnTo>
                  <a:lnTo>
                    <a:pt x="838196" y="210248"/>
                  </a:lnTo>
                  <a:lnTo>
                    <a:pt x="834892" y="226616"/>
                  </a:lnTo>
                  <a:lnTo>
                    <a:pt x="825880" y="239982"/>
                  </a:lnTo>
                  <a:lnTo>
                    <a:pt x="812513" y="248994"/>
                  </a:lnTo>
                  <a:lnTo>
                    <a:pt x="796146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13"/>
          <p:cNvSpPr txBox="1"/>
          <p:nvPr/>
        </p:nvSpPr>
        <p:spPr>
          <a:xfrm>
            <a:off x="5571730" y="5435495"/>
            <a:ext cx="635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Field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13"/>
          <p:cNvGrpSpPr/>
          <p:nvPr/>
        </p:nvGrpSpPr>
        <p:grpSpPr>
          <a:xfrm>
            <a:off x="6629373" y="5453985"/>
            <a:ext cx="914400" cy="252729"/>
            <a:chOff x="6629373" y="5030903"/>
            <a:chExt cx="914400" cy="252729"/>
          </a:xfrm>
        </p:grpSpPr>
        <p:sp>
          <p:nvSpPr>
            <p:cNvPr id="224" name="Google Shape;224;p13"/>
            <p:cNvSpPr/>
            <p:nvPr/>
          </p:nvSpPr>
          <p:spPr>
            <a:xfrm>
              <a:off x="6629373" y="5030903"/>
              <a:ext cx="914400" cy="252729"/>
            </a:xfrm>
            <a:custGeom>
              <a:rect b="b" l="l" r="r" t="t"/>
              <a:pathLst>
                <a:path extrusionOk="0" h="252729" w="914400">
                  <a:moveTo>
                    <a:pt x="872345" y="252298"/>
                  </a:move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872345" y="0"/>
                  </a:lnTo>
                  <a:lnTo>
                    <a:pt x="907331" y="18720"/>
                  </a:lnTo>
                  <a:lnTo>
                    <a:pt x="914396" y="42050"/>
                  </a:lnTo>
                  <a:lnTo>
                    <a:pt x="914396" y="210248"/>
                  </a:lnTo>
                  <a:lnTo>
                    <a:pt x="911091" y="226616"/>
                  </a:lnTo>
                  <a:lnTo>
                    <a:pt x="902080" y="239982"/>
                  </a:lnTo>
                  <a:lnTo>
                    <a:pt x="888713" y="248994"/>
                  </a:lnTo>
                  <a:lnTo>
                    <a:pt x="872345" y="252298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6629373" y="5030903"/>
              <a:ext cx="914400" cy="252729"/>
            </a:xfrm>
            <a:custGeom>
              <a:rect b="b" l="l" r="r" t="t"/>
              <a:pathLst>
                <a:path extrusionOk="0" h="252729" w="914400">
                  <a:moveTo>
                    <a:pt x="0" y="42050"/>
                  </a:moveTo>
                  <a:lnTo>
                    <a:pt x="3304" y="25682"/>
                  </a:lnTo>
                  <a:lnTo>
                    <a:pt x="12316" y="12316"/>
                  </a:lnTo>
                  <a:lnTo>
                    <a:pt x="25682" y="3304"/>
                  </a:lnTo>
                  <a:lnTo>
                    <a:pt x="42050" y="0"/>
                  </a:lnTo>
                  <a:lnTo>
                    <a:pt x="872345" y="0"/>
                  </a:lnTo>
                  <a:lnTo>
                    <a:pt x="907331" y="18720"/>
                  </a:lnTo>
                  <a:lnTo>
                    <a:pt x="914396" y="42050"/>
                  </a:lnTo>
                  <a:lnTo>
                    <a:pt x="914396" y="210248"/>
                  </a:lnTo>
                  <a:lnTo>
                    <a:pt x="911091" y="226616"/>
                  </a:lnTo>
                  <a:lnTo>
                    <a:pt x="902080" y="239982"/>
                  </a:lnTo>
                  <a:lnTo>
                    <a:pt x="888713" y="248994"/>
                  </a:lnTo>
                  <a:lnTo>
                    <a:pt x="872345" y="252298"/>
                  </a:lnTo>
                  <a:lnTo>
                    <a:pt x="42050" y="252298"/>
                  </a:lnTo>
                  <a:lnTo>
                    <a:pt x="25682" y="248994"/>
                  </a:lnTo>
                  <a:lnTo>
                    <a:pt x="12316" y="239982"/>
                  </a:lnTo>
                  <a:lnTo>
                    <a:pt x="3304" y="226616"/>
                  </a:lnTo>
                  <a:lnTo>
                    <a:pt x="0" y="210248"/>
                  </a:lnTo>
                  <a:lnTo>
                    <a:pt x="0" y="4205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13"/>
          <p:cNvSpPr txBox="1"/>
          <p:nvPr/>
        </p:nvSpPr>
        <p:spPr>
          <a:xfrm>
            <a:off x="6777207" y="5449376"/>
            <a:ext cx="10541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None/>
            </a:pPr>
            <a:r>
              <a:rPr b="0" baseline="3000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r>
              <a:rPr b="0" i="0" lang="en-US" sz="16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Field 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1" name="Google Shape;231;p12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Pig Latin Processing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>
            <p:ph idx="12" type="sldNum"/>
          </p:nvPr>
        </p:nvSpPr>
        <p:spPr>
          <a:xfrm>
            <a:off x="8750379" y="6528037"/>
            <a:ext cx="2667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364" rtl="0" algn="l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Clr>
                <a:srgbClr val="335477"/>
              </a:buClr>
              <a:buSzPts val="1400"/>
              <a:buFont typeface="Times New Roman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873575" y="1535176"/>
            <a:ext cx="7429500" cy="2586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2580" lvl="0" marL="335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Pig Latin script are processed line by line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792480" marR="0" rtl="0" algn="l">
              <a:lnSpc>
                <a:spcPct val="14325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 and References are checked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79248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 statements are added to a logical plan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735" lvl="1" marL="793115" marR="5080" rtl="0" algn="l">
              <a:lnSpc>
                <a:spcPct val="1425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 is deferred until either a DUMP or STORE statement is reached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79248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Reused intermediate results are mapped to 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1476750" y="4713570"/>
            <a:ext cx="1961514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Node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1142995" y="5288801"/>
            <a:ext cx="7429500" cy="855746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85725" marR="30162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grunt&gt; roster = LOAD "comp521/NFLrosters" USING PigStorage(','); grunt&gt; RecentQBs = FILTER roster BY $5='QB' AND $1&gt;2000; grunt&gt; DUMP RecentQBs;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5966" y="4663235"/>
            <a:ext cx="267898" cy="39839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/>
        </p:nvSpPr>
        <p:spPr>
          <a:xfrm>
            <a:off x="5600697" y="4473178"/>
            <a:ext cx="3283995" cy="67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spAutoFit/>
          </a:bodyPr>
          <a:lstStyle/>
          <a:p>
            <a:pPr indent="0" lvl="0" marL="12700" marR="508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HDFS filename, don't worry about where it really is.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714351" y="3921709"/>
            <a:ext cx="65405" cy="74930"/>
          </a:xfrm>
          <a:custGeom>
            <a:rect b="b" l="l" r="r" t="t"/>
            <a:pathLst>
              <a:path extrusionOk="0" h="74929" w="65404">
                <a:moveTo>
                  <a:pt x="0" y="74699"/>
                </a:moveTo>
                <a:lnTo>
                  <a:pt x="6509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878305" y="1396686"/>
            <a:ext cx="2430380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4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Anatomy of a Pig Script</a:t>
            </a:r>
            <a:endParaRPr i="0" sz="4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6" name="Google Shape;246;p28"/>
          <p:cNvSpPr/>
          <p:nvPr/>
        </p:nvSpPr>
        <p:spPr>
          <a:xfrm rot="-1790889">
            <a:off x="6512790" y="941148"/>
            <a:ext cx="2240924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4027614" y="1526033"/>
            <a:ext cx="4152298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Steps are like: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LOAD</a:t>
            </a:r>
            <a:r>
              <a:rPr lang="en-US">
                <a:solidFill>
                  <a:schemeClr val="dk1"/>
                </a:solidFill>
              </a:rPr>
              <a:t> data → define schema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FILTER</a:t>
            </a:r>
            <a:r>
              <a:rPr lang="en-US">
                <a:solidFill>
                  <a:schemeClr val="dk1"/>
                </a:solidFill>
              </a:rPr>
              <a:t> data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LOAD</a:t>
            </a:r>
            <a:r>
              <a:rPr lang="en-US">
                <a:solidFill>
                  <a:schemeClr val="dk1"/>
                </a:solidFill>
              </a:rPr>
              <a:t> another dataset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JOIN</a:t>
            </a:r>
            <a:r>
              <a:rPr lang="en-US">
                <a:solidFill>
                  <a:schemeClr val="dk1"/>
                </a:solidFill>
              </a:rPr>
              <a:t> datasets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FOREACH…GENERATE</a:t>
            </a:r>
            <a:r>
              <a:rPr lang="en-US">
                <a:solidFill>
                  <a:schemeClr val="dk1"/>
                </a:solidFill>
              </a:rPr>
              <a:t> → select and rename columns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Pig runs in: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Local mode</a:t>
            </a:r>
            <a:r>
              <a:rPr lang="en-US">
                <a:solidFill>
                  <a:schemeClr val="dk1"/>
                </a:solidFill>
              </a:rPr>
              <a:t> (quick testing)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Hadoop mode</a:t>
            </a:r>
            <a:r>
              <a:rPr lang="en-US">
                <a:solidFill>
                  <a:schemeClr val="dk1"/>
                </a:solidFill>
              </a:rPr>
              <a:t> (actual cluster)</a:t>
            </a:r>
            <a:endParaRPr/>
          </a:p>
          <a:p>
            <a:pPr indent="-139700" lvl="0" marL="45720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450" y="218476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/>
          <p:nvPr/>
        </p:nvSpPr>
        <p:spPr>
          <a:xfrm>
            <a:off x="964547" y="1535176"/>
            <a:ext cx="456501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1775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Pig scripts are easy to read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964547" y="4106926"/>
            <a:ext cx="7330440" cy="8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-231775" lvl="0" marL="243840" marR="5080" rtl="0" algn="l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FOREACH to specify processing steps for all 	tuples in a bagexample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609600" y="2133600"/>
            <a:ext cx="8211820" cy="181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285750" lvl="0" marL="370840" marR="161480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4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4F1FC"/>
                </a:solidFill>
                <a:latin typeface="Verdana"/>
                <a:ea typeface="Verdana"/>
                <a:cs typeface="Verdana"/>
                <a:sym typeface="Verdana"/>
              </a:rPr>
              <a:t>roster = LOAD "comp521/NFLrosters" USING PigStorage(',') AS (team:chararray, year:int, jersey:int, name:chararray, position:chararray, starts:int, games:int);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177800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4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4F1FC"/>
                </a:solidFill>
                <a:latin typeface="Verdana"/>
                <a:ea typeface="Verdana"/>
                <a:cs typeface="Verdana"/>
                <a:sym typeface="Verdana"/>
              </a:rPr>
              <a:t>recentQBs = FILTER roster BY position='QB' AND year&gt;2000 AND starts &gt; 0; Groups = GROUP recentQBs BY name;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4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4F1FC"/>
                </a:solidFill>
                <a:latin typeface="Verdana"/>
                <a:ea typeface="Verdana"/>
                <a:cs typeface="Verdana"/>
                <a:sym typeface="Verdana"/>
              </a:rPr>
              <a:t>STORE Groups INTO "recentQBTable";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609600" y="5077350"/>
            <a:ext cx="8211900" cy="126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85725" marR="2379980" rtl="0" algn="ctr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4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4F1FC"/>
                </a:solidFill>
                <a:latin typeface="Verdana"/>
                <a:ea typeface="Verdana"/>
                <a:cs typeface="Verdana"/>
                <a:sym typeface="Verdana"/>
              </a:rPr>
              <a:t>e1 = LOAD "input/Employees" USING PigStorage(',') AS (name:chararray, age:int, zip:int, salary:double);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2278380" rtl="0" algn="ctr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4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4F1FC"/>
                </a:solidFill>
                <a:latin typeface="Verdana"/>
                <a:ea typeface="Verdana"/>
                <a:cs typeface="Verdana"/>
                <a:sym typeface="Verdana"/>
              </a:rPr>
              <a:t>f = FOREACH e1 GENERATE age, salary;	-- a projection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53911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4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4F1FC"/>
                </a:solidFill>
                <a:latin typeface="Verdana"/>
                <a:ea typeface="Verdana"/>
                <a:cs typeface="Verdana"/>
                <a:sym typeface="Verdana"/>
              </a:rPr>
              <a:t>DESCRIBE f;	-- gives the schema of relation f DUMP f;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8" name="Google Shape;2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7725" y="1716148"/>
            <a:ext cx="267899" cy="39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4"/>
          <p:cNvSpPr txBox="1"/>
          <p:nvPr/>
        </p:nvSpPr>
        <p:spPr>
          <a:xfrm>
            <a:off x="6388100" y="1604379"/>
            <a:ext cx="1713864" cy="38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2700" marR="508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AS we define an "on-the-fly" data schema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323974" y="1711924"/>
            <a:ext cx="65405" cy="74930"/>
          </a:xfrm>
          <a:custGeom>
            <a:rect b="b" l="l" r="r" t="t"/>
            <a:pathLst>
              <a:path extrusionOk="0" h="74930" w="65404">
                <a:moveTo>
                  <a:pt x="0" y="74699"/>
                </a:moveTo>
                <a:lnTo>
                  <a:pt x="6509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 txBox="1"/>
          <p:nvPr>
            <p:ph type="title"/>
          </p:nvPr>
        </p:nvSpPr>
        <p:spPr>
          <a:xfrm>
            <a:off x="911223" y="649029"/>
            <a:ext cx="69138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Anatomy of a Pig Script</a:t>
            </a:r>
            <a:endParaRPr i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/>
          <p:nvPr/>
        </p:nvSpPr>
        <p:spPr>
          <a:xfrm>
            <a:off x="964545" y="1535176"/>
            <a:ext cx="15417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1775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964545" y="2821048"/>
            <a:ext cx="4808458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1775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LIMIT, SAMPLE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964545" y="4287895"/>
            <a:ext cx="10680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1775" lvl="0" marL="244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1071342" y="1987296"/>
            <a:ext cx="6624851" cy="774817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356870" lvl="0" marL="441959" marR="29781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emp = LOAD "input/Employees" USING PigStorage(',') AS (name:chararray, age:int, zip:int, salary:double);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sorted = ORDER emp BY salary;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1071343" y="3273168"/>
            <a:ext cx="6582667" cy="1030913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356870" lvl="0" marL="441959" marR="29781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emp = LOAD "input/Employees" USING PigStorage(',') AS (name:chararray, age:int, zip:int, salary:double);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284543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agegroup = GROUP emp BY age; shortlist = LIMIT agegroup 100;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1113526" y="4740015"/>
            <a:ext cx="6540483" cy="181610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356870" lvl="0" marL="441959" marR="29781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emp = LOAD "input/Employees" USING PigStorage(',') AS (name:chararray, age:int, zip:int, salary:double);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6870" lvl="0" marL="441959" marR="35242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pbk = LOAD "input/Phonebook" USING PigStorage(',') AS (name:chararray, phone:chararray);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1607820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contact = JOIN emp BY name, pbk BY name; DESCRIBE contact;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DUMP contact;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2" name="Google Shape;272;p15"/>
          <p:cNvSpPr txBox="1"/>
          <p:nvPr>
            <p:ph type="title"/>
          </p:nvPr>
        </p:nvSpPr>
        <p:spPr>
          <a:xfrm>
            <a:off x="911223" y="649029"/>
            <a:ext cx="69138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Anatomy of a Pig Script</a:t>
            </a:r>
            <a:endParaRPr i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"/>
          <p:cNvSpPr txBox="1"/>
          <p:nvPr/>
        </p:nvSpPr>
        <p:spPr>
          <a:xfrm>
            <a:off x="5348032" y="5152570"/>
            <a:ext cx="196215" cy="143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BA"/>
              </a:buClr>
              <a:buSzPts val="750"/>
              <a:buFont typeface="Tahoma"/>
              <a:buNone/>
            </a:pPr>
            <a:r>
              <a:rPr b="0" i="0" lang="en-US" sz="750" u="none" cap="none" strike="noStrike">
                <a:solidFill>
                  <a:srgbClr val="008CBA"/>
                </a:solidFill>
                <a:latin typeface="Tahoma"/>
                <a:ea typeface="Tahoma"/>
                <a:cs typeface="Tahoma"/>
                <a:sym typeface="Tahoma"/>
              </a:rPr>
              <a:t>53</a:t>
            </a:r>
            <a:endParaRPr b="0" i="0" sz="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p6"/>
          <p:cNvSpPr txBox="1"/>
          <p:nvPr>
            <p:ph type="title"/>
          </p:nvPr>
        </p:nvSpPr>
        <p:spPr>
          <a:xfrm>
            <a:off x="911223" y="649029"/>
            <a:ext cx="69138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Anatomy of a Pig Script</a:t>
            </a:r>
            <a:endParaRPr i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6"/>
          <p:cNvGrpSpPr/>
          <p:nvPr/>
        </p:nvGrpSpPr>
        <p:grpSpPr>
          <a:xfrm>
            <a:off x="911223" y="1545709"/>
            <a:ext cx="7407902" cy="5034416"/>
            <a:chOff x="0" y="103096"/>
            <a:chExt cx="7407902" cy="5034416"/>
          </a:xfrm>
        </p:grpSpPr>
        <p:sp>
          <p:nvSpPr>
            <p:cNvPr id="280" name="Google Shape;280;p6"/>
            <p:cNvSpPr/>
            <p:nvPr/>
          </p:nvSpPr>
          <p:spPr>
            <a:xfrm>
              <a:off x="0" y="103096"/>
              <a:ext cx="7166963" cy="954719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6"/>
            <p:cNvSpPr txBox="1"/>
            <p:nvPr/>
          </p:nvSpPr>
          <p:spPr>
            <a:xfrm>
              <a:off x="46606" y="149702"/>
              <a:ext cx="7073751" cy="861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-- max_temp.pig: Finds the maximum temperature by year records  =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0" y="1057816"/>
              <a:ext cx="7166963" cy="377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6"/>
            <p:cNvSpPr txBox="1"/>
            <p:nvPr/>
          </p:nvSpPr>
          <p:spPr>
            <a:xfrm>
              <a:off x="2" y="1057812"/>
              <a:ext cx="7407900" cy="40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227550" spcFirstLastPara="1" rIns="170675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LOAD 'input/ncdc/micro-tab/sample.txt'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 (year:chararray, temperature:int, quality:int); filtered_records =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FILTER records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BY temperature != 9999 AND ( quality == 0 OR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quality == 1 OR quality == 4 OR quality == 5 OR quality == 9);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grouped_records  =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GROUP filtered_records BY year;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max_temp =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FOREACH grouped_records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GENERATE group, MAX(filtered_records.temperature); DUMP max_temp;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8" name="Google Shape;288;p11"/>
          <p:cNvSpPr txBox="1"/>
          <p:nvPr>
            <p:ph type="title"/>
          </p:nvPr>
        </p:nvSpPr>
        <p:spPr>
          <a:xfrm>
            <a:off x="278190" y="651830"/>
            <a:ext cx="8587619" cy="604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3800">
                <a:latin typeface="Arial"/>
                <a:ea typeface="Arial"/>
                <a:cs typeface="Arial"/>
                <a:sym typeface="Arial"/>
              </a:rPr>
              <a:t>Pig Latin Scripts Describe Dataflows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909765" y="1539233"/>
            <a:ext cx="7410450" cy="216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655" lvl="0" marL="2997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Pig Latin script describes one or more flows of data through a series of operations that can be processed in parallel (i.e. the next one can start before the ones providing inputs to it finish).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20" lvl="0" marL="299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Dataflows are Directed Acyclic Graphs (DAGS)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20" lvl="0" marL="299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Ordering and Scheduling is deferred until a node requires data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11"/>
          <p:cNvGrpSpPr/>
          <p:nvPr/>
        </p:nvGrpSpPr>
        <p:grpSpPr>
          <a:xfrm>
            <a:off x="1147069" y="3581385"/>
            <a:ext cx="6384799" cy="2438400"/>
            <a:chOff x="1147069" y="3581385"/>
            <a:chExt cx="6384799" cy="2438400"/>
          </a:xfrm>
        </p:grpSpPr>
        <p:sp>
          <p:nvSpPr>
            <p:cNvPr id="291" name="Google Shape;291;p11"/>
            <p:cNvSpPr/>
            <p:nvPr/>
          </p:nvSpPr>
          <p:spPr>
            <a:xfrm>
              <a:off x="1147069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1447794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1904992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2590789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3886184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4419582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5791176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6476973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7162771" y="3581385"/>
              <a:ext cx="0" cy="2438400"/>
            </a:xfrm>
            <a:custGeom>
              <a:rect b="b" l="l" r="r" t="t"/>
              <a:pathLst>
                <a:path extrusionOk="0" h="2438400" w="120000">
                  <a:moveTo>
                    <a:pt x="0" y="0"/>
                  </a:moveTo>
                  <a:lnTo>
                    <a:pt x="0" y="2438390"/>
                  </a:lnTo>
                </a:path>
              </a:pathLst>
            </a:custGeom>
            <a:noFill/>
            <a:ln cap="flat" cmpd="sng" w="952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1147069" y="3761024"/>
              <a:ext cx="838200" cy="381000"/>
            </a:xfrm>
            <a:custGeom>
              <a:rect b="b" l="l" r="r" t="t"/>
              <a:pathLst>
                <a:path extrusionOk="0" h="381000" w="838200">
                  <a:moveTo>
                    <a:pt x="774695" y="380998"/>
                  </a:move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774695" y="0"/>
                  </a:lnTo>
                  <a:lnTo>
                    <a:pt x="819597" y="18599"/>
                  </a:lnTo>
                  <a:lnTo>
                    <a:pt x="838196" y="63500"/>
                  </a:lnTo>
                  <a:lnTo>
                    <a:pt x="838196" y="317497"/>
                  </a:lnTo>
                  <a:lnTo>
                    <a:pt x="833206" y="342214"/>
                  </a:lnTo>
                  <a:lnTo>
                    <a:pt x="819597" y="362399"/>
                  </a:lnTo>
                  <a:lnTo>
                    <a:pt x="799413" y="376008"/>
                  </a:lnTo>
                  <a:lnTo>
                    <a:pt x="774695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1147069" y="3761024"/>
              <a:ext cx="838200" cy="381000"/>
            </a:xfrm>
            <a:custGeom>
              <a:rect b="b" l="l" r="r" t="t"/>
              <a:pathLst>
                <a:path extrusionOk="0" h="381000" w="8382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774695" y="0"/>
                  </a:lnTo>
                  <a:lnTo>
                    <a:pt x="819597" y="18599"/>
                  </a:lnTo>
                  <a:lnTo>
                    <a:pt x="838196" y="63500"/>
                  </a:lnTo>
                  <a:lnTo>
                    <a:pt x="838196" y="317497"/>
                  </a:lnTo>
                  <a:lnTo>
                    <a:pt x="833206" y="342214"/>
                  </a:lnTo>
                  <a:lnTo>
                    <a:pt x="819597" y="362399"/>
                  </a:lnTo>
                  <a:lnTo>
                    <a:pt x="799413" y="376008"/>
                  </a:lnTo>
                  <a:lnTo>
                    <a:pt x="774695" y="380998"/>
                  </a:ln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2578883" y="3761024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1003294" y="380998"/>
                  </a:move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1" y="376008"/>
                  </a:lnTo>
                  <a:lnTo>
                    <a:pt x="1003294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2578883" y="3761024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1" y="376008"/>
                  </a:lnTo>
                  <a:lnTo>
                    <a:pt x="1003294" y="380998"/>
                  </a:ln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3862372" y="4876780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1003294" y="380998"/>
                  </a:move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3862372" y="4876780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1473988" y="4318902"/>
              <a:ext cx="838200" cy="381000"/>
            </a:xfrm>
            <a:custGeom>
              <a:rect b="b" l="l" r="r" t="t"/>
              <a:pathLst>
                <a:path extrusionOk="0" h="381000" w="838200">
                  <a:moveTo>
                    <a:pt x="774695" y="380998"/>
                  </a:move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774695" y="0"/>
                  </a:lnTo>
                  <a:lnTo>
                    <a:pt x="819597" y="18599"/>
                  </a:lnTo>
                  <a:lnTo>
                    <a:pt x="838196" y="63500"/>
                  </a:lnTo>
                  <a:lnTo>
                    <a:pt x="838196" y="317497"/>
                  </a:lnTo>
                  <a:lnTo>
                    <a:pt x="833206" y="342214"/>
                  </a:lnTo>
                  <a:lnTo>
                    <a:pt x="819597" y="362399"/>
                  </a:lnTo>
                  <a:lnTo>
                    <a:pt x="799413" y="376008"/>
                  </a:lnTo>
                  <a:lnTo>
                    <a:pt x="774695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1473988" y="4318902"/>
              <a:ext cx="838200" cy="381000"/>
            </a:xfrm>
            <a:custGeom>
              <a:rect b="b" l="l" r="r" t="t"/>
              <a:pathLst>
                <a:path extrusionOk="0" h="381000" w="8382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774695" y="0"/>
                  </a:lnTo>
                  <a:lnTo>
                    <a:pt x="819597" y="18599"/>
                  </a:lnTo>
                  <a:lnTo>
                    <a:pt x="838196" y="63500"/>
                  </a:lnTo>
                  <a:lnTo>
                    <a:pt x="838196" y="317497"/>
                  </a:lnTo>
                  <a:lnTo>
                    <a:pt x="833206" y="342214"/>
                  </a:lnTo>
                  <a:lnTo>
                    <a:pt x="819597" y="362399"/>
                  </a:lnTo>
                  <a:lnTo>
                    <a:pt x="799413" y="376008"/>
                  </a:lnTo>
                  <a:lnTo>
                    <a:pt x="774695" y="380998"/>
                  </a:ln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6465068" y="4876780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1003294" y="380998"/>
                  </a:move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1" y="376008"/>
                  </a:lnTo>
                  <a:lnTo>
                    <a:pt x="1003294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6465068" y="4876780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1" y="376008"/>
                  </a:lnTo>
                  <a:lnTo>
                    <a:pt x="1003294" y="380998"/>
                  </a:ln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11"/>
          <p:cNvSpPr txBox="1"/>
          <p:nvPr/>
        </p:nvSpPr>
        <p:spPr>
          <a:xfrm>
            <a:off x="6712587" y="4907333"/>
            <a:ext cx="572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11"/>
          <p:cNvGrpSpPr/>
          <p:nvPr/>
        </p:nvGrpSpPr>
        <p:grpSpPr>
          <a:xfrm>
            <a:off x="5776765" y="3770853"/>
            <a:ext cx="1066800" cy="381000"/>
            <a:chOff x="5776765" y="3770853"/>
            <a:chExt cx="1066800" cy="381000"/>
          </a:xfrm>
        </p:grpSpPr>
        <p:sp>
          <p:nvSpPr>
            <p:cNvPr id="312" name="Google Shape;312;p11"/>
            <p:cNvSpPr/>
            <p:nvPr/>
          </p:nvSpPr>
          <p:spPr>
            <a:xfrm>
              <a:off x="5776765" y="3770853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1003294" y="380998"/>
                  </a:move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5776765" y="3770853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11"/>
          <p:cNvSpPr txBox="1"/>
          <p:nvPr/>
        </p:nvSpPr>
        <p:spPr>
          <a:xfrm>
            <a:off x="6087853" y="3801404"/>
            <a:ext cx="444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1"/>
          <p:cNvGrpSpPr/>
          <p:nvPr/>
        </p:nvGrpSpPr>
        <p:grpSpPr>
          <a:xfrm>
            <a:off x="1893086" y="3761024"/>
            <a:ext cx="3569484" cy="1496756"/>
            <a:chOff x="1893086" y="3761024"/>
            <a:chExt cx="3569484" cy="1496756"/>
          </a:xfrm>
        </p:grpSpPr>
        <p:sp>
          <p:nvSpPr>
            <p:cNvPr id="316" name="Google Shape;316;p11"/>
            <p:cNvSpPr/>
            <p:nvPr/>
          </p:nvSpPr>
          <p:spPr>
            <a:xfrm>
              <a:off x="1893086" y="4876780"/>
              <a:ext cx="838200" cy="381000"/>
            </a:xfrm>
            <a:custGeom>
              <a:rect b="b" l="l" r="r" t="t"/>
              <a:pathLst>
                <a:path extrusionOk="0" h="381000" w="838200">
                  <a:moveTo>
                    <a:pt x="774695" y="380998"/>
                  </a:move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774695" y="0"/>
                  </a:lnTo>
                  <a:lnTo>
                    <a:pt x="819597" y="18599"/>
                  </a:lnTo>
                  <a:lnTo>
                    <a:pt x="838196" y="63500"/>
                  </a:lnTo>
                  <a:lnTo>
                    <a:pt x="838196" y="317497"/>
                  </a:lnTo>
                  <a:lnTo>
                    <a:pt x="833206" y="342214"/>
                  </a:lnTo>
                  <a:lnTo>
                    <a:pt x="819597" y="362399"/>
                  </a:lnTo>
                  <a:lnTo>
                    <a:pt x="799413" y="376008"/>
                  </a:lnTo>
                  <a:lnTo>
                    <a:pt x="774695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1893086" y="4876780"/>
              <a:ext cx="838200" cy="381000"/>
            </a:xfrm>
            <a:custGeom>
              <a:rect b="b" l="l" r="r" t="t"/>
              <a:pathLst>
                <a:path extrusionOk="0" h="381000" w="8382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774695" y="0"/>
                  </a:lnTo>
                  <a:lnTo>
                    <a:pt x="819597" y="18599"/>
                  </a:lnTo>
                  <a:lnTo>
                    <a:pt x="838196" y="63500"/>
                  </a:lnTo>
                  <a:lnTo>
                    <a:pt x="838196" y="317497"/>
                  </a:lnTo>
                  <a:lnTo>
                    <a:pt x="833206" y="342214"/>
                  </a:lnTo>
                  <a:lnTo>
                    <a:pt x="819597" y="362399"/>
                  </a:lnTo>
                  <a:lnTo>
                    <a:pt x="799413" y="376008"/>
                  </a:lnTo>
                  <a:lnTo>
                    <a:pt x="774695" y="380998"/>
                  </a:ln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4395770" y="3761024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1003294" y="380998"/>
                  </a:move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4395770" y="3761024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0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lnTo>
                    <a:pt x="63500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11"/>
          <p:cNvSpPr txBox="1"/>
          <p:nvPr/>
        </p:nvSpPr>
        <p:spPr>
          <a:xfrm>
            <a:off x="1299198" y="3791575"/>
            <a:ext cx="3852545" cy="141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	Foreach	Join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90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209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	Join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1"/>
          <p:cNvGrpSpPr/>
          <p:nvPr/>
        </p:nvGrpSpPr>
        <p:grpSpPr>
          <a:xfrm>
            <a:off x="7162771" y="3769550"/>
            <a:ext cx="1066800" cy="381000"/>
            <a:chOff x="7162771" y="3769550"/>
            <a:chExt cx="1066800" cy="381000"/>
          </a:xfrm>
        </p:grpSpPr>
        <p:sp>
          <p:nvSpPr>
            <p:cNvPr id="322" name="Google Shape;322;p11"/>
            <p:cNvSpPr/>
            <p:nvPr/>
          </p:nvSpPr>
          <p:spPr>
            <a:xfrm>
              <a:off x="7162771" y="3769550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1003294" y="380998"/>
                  </a:move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close/>
                </a:path>
              </a:pathLst>
            </a:custGeom>
            <a:solidFill>
              <a:srgbClr val="1084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7162771" y="3769550"/>
              <a:ext cx="1066800" cy="381000"/>
            </a:xfrm>
            <a:custGeom>
              <a:rect b="b" l="l" r="r" t="t"/>
              <a:pathLst>
                <a:path extrusionOk="0" h="381000" w="1066800">
                  <a:moveTo>
                    <a:pt x="0" y="63500"/>
                  </a:moveTo>
                  <a:lnTo>
                    <a:pt x="4990" y="38783"/>
                  </a:lnTo>
                  <a:lnTo>
                    <a:pt x="18599" y="18599"/>
                  </a:lnTo>
                  <a:lnTo>
                    <a:pt x="38783" y="4990"/>
                  </a:lnTo>
                  <a:lnTo>
                    <a:pt x="63501" y="0"/>
                  </a:lnTo>
                  <a:lnTo>
                    <a:pt x="1003294" y="0"/>
                  </a:lnTo>
                  <a:lnTo>
                    <a:pt x="1048196" y="18599"/>
                  </a:lnTo>
                  <a:lnTo>
                    <a:pt x="1066795" y="63500"/>
                  </a:lnTo>
                  <a:lnTo>
                    <a:pt x="1066795" y="317497"/>
                  </a:lnTo>
                  <a:lnTo>
                    <a:pt x="1061805" y="342214"/>
                  </a:lnTo>
                  <a:lnTo>
                    <a:pt x="1048196" y="362399"/>
                  </a:lnTo>
                  <a:lnTo>
                    <a:pt x="1028012" y="376008"/>
                  </a:lnTo>
                  <a:lnTo>
                    <a:pt x="1003294" y="380998"/>
                  </a:lnTo>
                  <a:lnTo>
                    <a:pt x="63501" y="380998"/>
                  </a:lnTo>
                  <a:lnTo>
                    <a:pt x="38783" y="376008"/>
                  </a:lnTo>
                  <a:lnTo>
                    <a:pt x="18599" y="362399"/>
                  </a:lnTo>
                  <a:lnTo>
                    <a:pt x="4990" y="342214"/>
                  </a:lnTo>
                  <a:lnTo>
                    <a:pt x="0" y="317497"/>
                  </a:lnTo>
                  <a:lnTo>
                    <a:pt x="0" y="63500"/>
                  </a:lnTo>
                  <a:close/>
                </a:path>
              </a:pathLst>
            </a:custGeom>
            <a:noFill/>
            <a:ln cap="flat" cmpd="sng" w="25375">
              <a:solidFill>
                <a:srgbClr val="A6AF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11"/>
          <p:cNvSpPr txBox="1"/>
          <p:nvPr/>
        </p:nvSpPr>
        <p:spPr>
          <a:xfrm>
            <a:off x="7410292" y="3800101"/>
            <a:ext cx="5721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11"/>
          <p:cNvGrpSpPr/>
          <p:nvPr/>
        </p:nvGrpSpPr>
        <p:grpSpPr>
          <a:xfrm>
            <a:off x="1985266" y="3869543"/>
            <a:ext cx="5140845" cy="1279716"/>
            <a:chOff x="1985266" y="3869543"/>
            <a:chExt cx="5140845" cy="1279716"/>
          </a:xfrm>
        </p:grpSpPr>
        <p:sp>
          <p:nvSpPr>
            <p:cNvPr id="326" name="Google Shape;326;p11"/>
            <p:cNvSpPr/>
            <p:nvPr/>
          </p:nvSpPr>
          <p:spPr>
            <a:xfrm>
              <a:off x="1985266" y="3951523"/>
              <a:ext cx="365125" cy="0"/>
            </a:xfrm>
            <a:custGeom>
              <a:rect b="b" l="l" r="r" t="t"/>
              <a:pathLst>
                <a:path extrusionOk="0" h="120000" w="365125">
                  <a:moveTo>
                    <a:pt x="0" y="0"/>
                  </a:moveTo>
                  <a:lnTo>
                    <a:pt x="365098" y="0"/>
                  </a:lnTo>
                </a:path>
              </a:pathLst>
            </a:custGeom>
            <a:noFill/>
            <a:ln cap="flat" cmpd="sng" w="3807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7" name="Google Shape;32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1314" y="3869543"/>
              <a:ext cx="211000" cy="163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11"/>
            <p:cNvSpPr/>
            <p:nvPr/>
          </p:nvSpPr>
          <p:spPr>
            <a:xfrm>
              <a:off x="3645679" y="3951523"/>
              <a:ext cx="521970" cy="0"/>
            </a:xfrm>
            <a:custGeom>
              <a:rect b="b" l="l" r="r" t="t"/>
              <a:pathLst>
                <a:path extrusionOk="0" h="120000" w="521970">
                  <a:moveTo>
                    <a:pt x="0" y="0"/>
                  </a:moveTo>
                  <a:lnTo>
                    <a:pt x="521397" y="0"/>
                  </a:lnTo>
                </a:path>
              </a:pathLst>
            </a:custGeom>
            <a:noFill/>
            <a:ln cap="flat" cmpd="sng" w="3807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9" name="Google Shape;32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48027" y="3869543"/>
              <a:ext cx="211000" cy="163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11"/>
            <p:cNvSpPr/>
            <p:nvPr/>
          </p:nvSpPr>
          <p:spPr>
            <a:xfrm>
              <a:off x="2312184" y="4169524"/>
              <a:ext cx="1858645" cy="340360"/>
            </a:xfrm>
            <a:custGeom>
              <a:rect b="b" l="l" r="r" t="t"/>
              <a:pathLst>
                <a:path extrusionOk="0" h="340360" w="1858645">
                  <a:moveTo>
                    <a:pt x="0" y="339877"/>
                  </a:moveTo>
                  <a:lnTo>
                    <a:pt x="1858621" y="0"/>
                  </a:lnTo>
                </a:path>
              </a:pathLst>
            </a:custGeom>
            <a:noFill/>
            <a:ln cap="flat" cmpd="sng" w="3807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1" name="Google Shape;331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40436" y="4088570"/>
              <a:ext cx="219500" cy="161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11"/>
            <p:cNvSpPr/>
            <p:nvPr/>
          </p:nvSpPr>
          <p:spPr>
            <a:xfrm>
              <a:off x="2731282" y="5067279"/>
              <a:ext cx="902969" cy="0"/>
            </a:xfrm>
            <a:custGeom>
              <a:rect b="b" l="l" r="r" t="t"/>
              <a:pathLst>
                <a:path extrusionOk="0" h="120000" w="902970">
                  <a:moveTo>
                    <a:pt x="0" y="0"/>
                  </a:moveTo>
                  <a:lnTo>
                    <a:pt x="902396" y="0"/>
                  </a:lnTo>
                </a:path>
              </a:pathLst>
            </a:custGeom>
            <a:noFill/>
            <a:ln cap="flat" cmpd="sng" w="3807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" name="Google Shape;33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14629" y="4985298"/>
              <a:ext cx="211000" cy="163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43515" y="3872272"/>
              <a:ext cx="296528" cy="163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24511" y="3879032"/>
              <a:ext cx="301600" cy="163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11"/>
            <p:cNvSpPr/>
            <p:nvPr/>
          </p:nvSpPr>
          <p:spPr>
            <a:xfrm>
              <a:off x="4929168" y="5067279"/>
              <a:ext cx="1307465" cy="0"/>
            </a:xfrm>
            <a:custGeom>
              <a:rect b="b" l="l" r="r" t="t"/>
              <a:pathLst>
                <a:path extrusionOk="0" h="120000" w="1307464">
                  <a:moveTo>
                    <a:pt x="0" y="0"/>
                  </a:moveTo>
                  <a:lnTo>
                    <a:pt x="1307394" y="0"/>
                  </a:lnTo>
                </a:path>
              </a:pathLst>
            </a:custGeom>
            <a:noFill/>
            <a:ln cap="flat" cmpd="sng" w="3807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" name="Google Shape;33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17512" y="4985298"/>
              <a:ext cx="211000" cy="163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11"/>
            <p:cNvSpPr/>
            <p:nvPr/>
          </p:nvSpPr>
          <p:spPr>
            <a:xfrm>
              <a:off x="2312184" y="4675420"/>
              <a:ext cx="1348740" cy="172720"/>
            </a:xfrm>
            <a:custGeom>
              <a:rect b="b" l="l" r="r" t="t"/>
              <a:pathLst>
                <a:path extrusionOk="0" h="172720" w="1348739">
                  <a:moveTo>
                    <a:pt x="0" y="0"/>
                  </a:moveTo>
                  <a:lnTo>
                    <a:pt x="1348538" y="172323"/>
                  </a:lnTo>
                </a:path>
              </a:pathLst>
            </a:custGeom>
            <a:noFill/>
            <a:ln cap="flat" cmpd="sng" w="38075">
              <a:solidFill>
                <a:srgbClr val="4646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9" name="Google Shape;339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3696" y="4766270"/>
              <a:ext cx="217582" cy="1629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44" name="Google Shape;344;p10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Pig Latin’s Data Model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873575" y="1583140"/>
            <a:ext cx="8079356" cy="407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2580" lvl="0" marL="335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PIG – A dataflow scripting language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1" marL="507365" marR="2165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translated to a series of Map-Reduce jobs that are run on Hadoop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1" marL="5073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requires no meta-data or schema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1" marL="507365" marR="1159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extensible, via user-defined functions (UDFs) written in Java or other languages (C, Python, etc.)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1" marL="5073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run-time and debugging environments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905" lvl="1" marL="5073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language specifically designed for data manipulations and analysis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29" lvl="2" marL="9645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join, sort, filter, etc.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664" lvl="2" marL="964564" marR="17354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partitions large operations into smaller jobs and chains them together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10"/>
          <p:cNvGrpSpPr/>
          <p:nvPr/>
        </p:nvGrpSpPr>
        <p:grpSpPr>
          <a:xfrm>
            <a:off x="6553173" y="4472106"/>
            <a:ext cx="1752211" cy="1907736"/>
            <a:chOff x="6553173" y="4472106"/>
            <a:chExt cx="1752211" cy="1907736"/>
          </a:xfrm>
        </p:grpSpPr>
        <p:pic>
          <p:nvPicPr>
            <p:cNvPr id="347" name="Google Shape;34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67569" y="4472106"/>
              <a:ext cx="679286" cy="10142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53173" y="5029179"/>
              <a:ext cx="1752211" cy="13506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7"/>
          <p:cNvSpPr txBox="1"/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1" i="0" lang="en-US" sz="47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🐝 Hive &amp; HiveQL</a:t>
            </a:r>
            <a:endParaRPr i="0" sz="47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355" name="Google Shape;355;p37"/>
          <p:cNvGrpSpPr/>
          <p:nvPr/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356" name="Google Shape;356;p37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7"/>
            <p:cNvSpPr/>
            <p:nvPr/>
          </p:nvSpPr>
          <p:spPr>
            <a:xfrm rot="10800000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" name="Google Shape;358;p37"/>
          <p:cNvSpPr/>
          <p:nvPr/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7"/>
          <p:cNvSpPr txBox="1"/>
          <p:nvPr>
            <p:ph idx="1" type="body"/>
          </p:nvPr>
        </p:nvSpPr>
        <p:spPr>
          <a:xfrm>
            <a:off x="595245" y="2599509"/>
            <a:ext cx="7607751" cy="3435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</a:rPr>
              <a:t>Hive is a </a:t>
            </a:r>
            <a:r>
              <a:rPr b="1" lang="en-US" sz="1900">
                <a:solidFill>
                  <a:schemeClr val="dk1"/>
                </a:solidFill>
              </a:rPr>
              <a:t>SQL-like data warehouse system</a:t>
            </a:r>
            <a:r>
              <a:rPr lang="en-US" sz="1900">
                <a:solidFill>
                  <a:schemeClr val="dk1"/>
                </a:solidFill>
              </a:rPr>
              <a:t> built on top of Hadoop.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Users write SQL (HiveQL), and Hive converts it into MapReduce jobs.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</a:rPr>
              <a:t>Hive Components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</a:rPr>
              <a:t>Shell</a:t>
            </a:r>
            <a:r>
              <a:rPr lang="en-US" sz="1900">
                <a:solidFill>
                  <a:schemeClr val="dk1"/>
                </a:solidFill>
              </a:rPr>
              <a:t>: command line or interfaces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</a:rPr>
              <a:t>Driver</a:t>
            </a:r>
            <a:r>
              <a:rPr lang="en-US" sz="1900">
                <a:solidFill>
                  <a:schemeClr val="dk1"/>
                </a:solidFill>
              </a:rPr>
              <a:t>: manages session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</a:rPr>
              <a:t>Compiler</a:t>
            </a:r>
            <a:r>
              <a:rPr lang="en-US" sz="1900">
                <a:solidFill>
                  <a:schemeClr val="dk1"/>
                </a:solidFill>
              </a:rPr>
              <a:t>: parses SQL and optimizes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</a:rPr>
              <a:t>Execution Engine</a:t>
            </a:r>
            <a:r>
              <a:rPr lang="en-US" sz="1900">
                <a:solidFill>
                  <a:schemeClr val="dk1"/>
                </a:solidFill>
              </a:rPr>
              <a:t>: runs jobs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</a:rPr>
              <a:t>Metastore</a:t>
            </a:r>
            <a:r>
              <a:rPr lang="en-US" sz="1900">
                <a:solidFill>
                  <a:schemeClr val="dk1"/>
                </a:solidFill>
              </a:rPr>
              <a:t>: stores schemas &amp; table metadata</a:t>
            </a:r>
            <a:endParaRPr/>
          </a:p>
          <a:p>
            <a:pPr indent="-139700" lvl="0" marL="45720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1761789"/>
            <a:ext cx="96703" cy="9670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"/>
          <p:cNvSpPr txBox="1"/>
          <p:nvPr/>
        </p:nvSpPr>
        <p:spPr>
          <a:xfrm>
            <a:off x="1230041" y="1551166"/>
            <a:ext cx="6668770" cy="290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0" lvl="0" marL="165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 for data warehousing on top of Hadoop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09" lvl="0" marL="12700" marR="36576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at Facebook for managing and learning from the huge volumes of data Facebook was generating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510" marR="282575" rtl="0" algn="l">
              <a:lnSpc>
                <a:spcPct val="129899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Makes it possible for analysts with strong SQL skills to run queries Used by many organizations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510" marR="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is lingua franca in business intelligence tools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09" lvl="0" marL="12700" marR="508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is limited so Hive is not fit for building complex machine learning algorithms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510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Generates MR jobs when executing queries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2099856"/>
            <a:ext cx="96703" cy="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2697148"/>
            <a:ext cx="96703" cy="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3033804"/>
            <a:ext cx="96703" cy="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3370459"/>
            <a:ext cx="96703" cy="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3707115"/>
            <a:ext cx="96703" cy="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228" y="4304407"/>
            <a:ext cx="96703" cy="9670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"/>
          <p:cNvSpPr txBox="1"/>
          <p:nvPr>
            <p:ph type="title"/>
          </p:nvPr>
        </p:nvSpPr>
        <p:spPr>
          <a:xfrm>
            <a:off x="911223" y="649029"/>
            <a:ext cx="691388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Hive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 flipH="1" rot="5400000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/>
          <p:nvPr/>
        </p:nvSpPr>
        <p:spPr>
          <a:xfrm flipH="1" rot="5400000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 rot="5400000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 rot="-964587">
            <a:off x="-376302" y="969718"/>
            <a:ext cx="292526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 flipH="1" rot="5400000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84" name="Google Shape;384;p19"/>
          <p:cNvSpPr txBox="1"/>
          <p:nvPr>
            <p:ph type="title"/>
          </p:nvPr>
        </p:nvSpPr>
        <p:spPr>
          <a:xfrm>
            <a:off x="350041" y="586855"/>
            <a:ext cx="2401025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3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Defining Hive Tables</a:t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3607694" y="649480"/>
            <a:ext cx="5334828" cy="277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352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Hive table consists of</a:t>
            </a:r>
            <a:endParaRPr/>
          </a:p>
          <a:p>
            <a:pPr indent="-228600" lvl="1" marL="792480" marR="0" rtl="0" algn="l"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linked to a file or multiple files in an HDFS</a:t>
            </a:r>
            <a:endParaRPr/>
          </a:p>
          <a:p>
            <a:pPr indent="-228600" lvl="1" marL="791845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stored as mapping of the data to a set of columns with types</a:t>
            </a:r>
            <a:endParaRPr/>
          </a:p>
          <a:p>
            <a:pPr indent="-228600" lvl="0" marL="3352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and Data are separated</a:t>
            </a:r>
            <a:endParaRPr/>
          </a:p>
          <a:p>
            <a:pPr indent="-228600" lvl="1" marL="792480" marR="0" rtl="0" algn="l"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multiple schemas on the same data</a:t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3070384" y="3439138"/>
            <a:ext cx="7203169" cy="2814217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85725" marR="0" rtl="0" algn="l"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$ hive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0" rtl="0" algn="l"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hive&gt; CREATE TABLE Roster (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78610" marR="3395979" rtl="0" algn="l">
              <a:spcBef>
                <a:spcPts val="65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team string, year int, jersey string, player string,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78610" marR="3182620" rtl="0" algn="l"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position string, starts int, games int)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25805" marR="3182620" rtl="0" algn="l"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ROW FORMAT DELIMITED FIELDS TERMINATED BY ',' STORED AS TEXTFILE;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8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8"/>
          <p:cNvSpPr/>
          <p:nvPr/>
        </p:nvSpPr>
        <p:spPr>
          <a:xfrm flipH="1" rot="5400000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/>
          <p:nvPr/>
        </p:nvSpPr>
        <p:spPr>
          <a:xfrm flipH="1" rot="5400000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8"/>
          <p:cNvSpPr/>
          <p:nvPr/>
        </p:nvSpPr>
        <p:spPr>
          <a:xfrm flipH="1" rot="5400000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156082">
                  <a:alpha val="29019"/>
                </a:srgbClr>
              </a:gs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8"/>
          <p:cNvSpPr/>
          <p:nvPr/>
        </p:nvSpPr>
        <p:spPr>
          <a:xfrm rot="-964587">
            <a:off x="-376302" y="969718"/>
            <a:ext cx="292526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8"/>
          <p:cNvSpPr/>
          <p:nvPr/>
        </p:nvSpPr>
        <p:spPr>
          <a:xfrm flipH="1" rot="5400000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50041" y="586855"/>
            <a:ext cx="2401025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3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Hive Data Model</a:t>
            </a:r>
            <a:endParaRPr i="0" sz="35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3607694" y="649480"/>
            <a:ext cx="4916510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structured data with column types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Partitions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divide tables by values (e.g., date) for fast queries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hashed splits of partitions for sampling very large datasets</a:t>
            </a:r>
            <a:endParaRPr/>
          </a:p>
          <a:p>
            <a:pPr indent="-139700" lvl="0" marL="45720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/>
          <p:nvPr/>
        </p:nvSpPr>
        <p:spPr>
          <a:xfrm>
            <a:off x="0" y="8313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9"/>
          <p:cNvSpPr txBox="1"/>
          <p:nvPr>
            <p:ph type="title"/>
          </p:nvPr>
        </p:nvSpPr>
        <p:spPr>
          <a:xfrm>
            <a:off x="359545" y="1070800"/>
            <a:ext cx="2954766" cy="5583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1" i="0" lang="en-US" sz="7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Hive File Layout</a:t>
            </a:r>
            <a:endParaRPr i="0" sz="7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406" name="Google Shape;406;p39"/>
          <p:cNvCxnSpPr/>
          <p:nvPr/>
        </p:nvCxnSpPr>
        <p:spPr>
          <a:xfrm>
            <a:off x="3546039" y="1132114"/>
            <a:ext cx="0" cy="5717573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407" name="Google Shape;407;p39"/>
          <p:cNvGrpSpPr/>
          <p:nvPr/>
        </p:nvGrpSpPr>
        <p:grpSpPr>
          <a:xfrm>
            <a:off x="3831401" y="1071482"/>
            <a:ext cx="4683949" cy="5587982"/>
            <a:chOff x="0" y="682"/>
            <a:chExt cx="4683949" cy="5587982"/>
          </a:xfrm>
        </p:grpSpPr>
        <p:sp>
          <p:nvSpPr>
            <p:cNvPr id="408" name="Google Shape;408;p39"/>
            <p:cNvSpPr/>
            <p:nvPr/>
          </p:nvSpPr>
          <p:spPr>
            <a:xfrm>
              <a:off x="0" y="682"/>
              <a:ext cx="4683949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>
              <a:off x="482961" y="359909"/>
              <a:ext cx="878111" cy="878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1844034" y="682"/>
              <a:ext cx="2839914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9"/>
            <p:cNvSpPr txBox="1"/>
            <p:nvPr/>
          </p:nvSpPr>
          <p:spPr>
            <a:xfrm>
              <a:off x="1844034" y="682"/>
              <a:ext cx="2839914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Stored in HDFS under:</a:t>
              </a:r>
              <a:b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/user/hive/warehouse</a:t>
              </a:r>
              <a:endParaRPr/>
            </a:p>
          </p:txBody>
        </p:sp>
        <p:sp>
          <p:nvSpPr>
            <p:cNvPr id="412" name="Google Shape;412;p39"/>
            <p:cNvSpPr/>
            <p:nvPr/>
          </p:nvSpPr>
          <p:spPr>
            <a:xfrm>
              <a:off x="0" y="1996390"/>
              <a:ext cx="4683949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9"/>
            <p:cNvSpPr/>
            <p:nvPr/>
          </p:nvSpPr>
          <p:spPr>
            <a:xfrm>
              <a:off x="482961" y="2355617"/>
              <a:ext cx="878111" cy="878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1844034" y="1996390"/>
              <a:ext cx="2839914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9"/>
            <p:cNvSpPr txBox="1"/>
            <p:nvPr/>
          </p:nvSpPr>
          <p:spPr>
            <a:xfrm>
              <a:off x="1844034" y="1996390"/>
              <a:ext cx="2839914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Partitions &amp; buckets become subdirectories</a:t>
              </a: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>
              <a:off x="0" y="3992098"/>
              <a:ext cx="4683949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>
              <a:off x="482961" y="4351325"/>
              <a:ext cx="878111" cy="8781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>
              <a:off x="1844034" y="3992098"/>
              <a:ext cx="2839914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9"/>
            <p:cNvSpPr txBox="1"/>
            <p:nvPr/>
          </p:nvSpPr>
          <p:spPr>
            <a:xfrm>
              <a:off x="1844034" y="3992098"/>
              <a:ext cx="2839914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stored as flat files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24" name="Google Shape;424;p18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Hive Interface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873570" y="1535176"/>
            <a:ext cx="7269480" cy="1551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2580" lvl="0" marL="3352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Hive is similar to SQL-92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334645" marR="6413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familiar database concepts, tables, 	rows, columns, and schemas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335280" marR="0" rtl="0" algn="l"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Makes "Big Data" appear as tables on the fly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335280" marR="0" rtl="0" algn="l"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Pig, Hive has a command-line shell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1087565" y="4049180"/>
            <a:ext cx="4100195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2580" lvl="0" marL="335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it can execute scripts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1119505" y="5167573"/>
            <a:ext cx="3452495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2580" lvl="0" marL="3352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also GUIs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1087565" y="3320727"/>
            <a:ext cx="6737538" cy="528596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85725" marR="5758180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$ hive hive&gt;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9" name="Google Shape;429;p18"/>
          <p:cNvSpPr txBox="1"/>
          <p:nvPr/>
        </p:nvSpPr>
        <p:spPr>
          <a:xfrm>
            <a:off x="1066946" y="4631193"/>
            <a:ext cx="6882728" cy="276338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$ hive -f myquery.hive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0"/>
          <p:cNvSpPr/>
          <p:nvPr/>
        </p:nvSpPr>
        <p:spPr>
          <a:xfrm>
            <a:off x="0" y="0"/>
            <a:ext cx="4334933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0"/>
          <p:cNvSpPr txBox="1"/>
          <p:nvPr>
            <p:ph type="title"/>
          </p:nvPr>
        </p:nvSpPr>
        <p:spPr>
          <a:xfrm>
            <a:off x="891051" y="381935"/>
            <a:ext cx="3006438" cy="597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6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Running Hive</a:t>
            </a:r>
            <a:endParaRPr/>
          </a:p>
        </p:txBody>
      </p:sp>
      <p:grpSp>
        <p:nvGrpSpPr>
          <p:cNvPr id="437" name="Google Shape;437;p40"/>
          <p:cNvGrpSpPr/>
          <p:nvPr/>
        </p:nvGrpSpPr>
        <p:grpSpPr>
          <a:xfrm>
            <a:off x="460420" y="554152"/>
            <a:ext cx="430632" cy="1075866"/>
            <a:chOff x="613892" y="554152"/>
            <a:chExt cx="574177" cy="1075866"/>
          </a:xfrm>
        </p:grpSpPr>
        <p:sp>
          <p:nvSpPr>
            <p:cNvPr id="438" name="Google Shape;438;p40"/>
            <p:cNvSpPr/>
            <p:nvPr/>
          </p:nvSpPr>
          <p:spPr>
            <a:xfrm>
              <a:off x="633061" y="554152"/>
              <a:ext cx="171515" cy="171515"/>
            </a:xfrm>
            <a:custGeom>
              <a:rect b="b" l="l" r="r" t="t"/>
              <a:pathLst>
                <a:path extrusionOk="0" h="171515" w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1075643" y="837005"/>
              <a:ext cx="112426" cy="112426"/>
            </a:xfrm>
            <a:custGeom>
              <a:rect b="b" l="l" r="r" t="t"/>
              <a:pathLst>
                <a:path extrusionOk="0" h="112426" w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613892" y="1472473"/>
              <a:ext cx="157545" cy="157545"/>
            </a:xfrm>
            <a:custGeom>
              <a:rect b="b" l="l" r="r" t="t"/>
              <a:pathLst>
                <a:path extrusionOk="0" h="157545" w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40"/>
          <p:cNvSpPr txBox="1"/>
          <p:nvPr>
            <p:ph idx="1" type="body"/>
          </p:nvPr>
        </p:nvSpPr>
        <p:spPr>
          <a:xfrm>
            <a:off x="4699414" y="639909"/>
            <a:ext cx="4080105" cy="597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--Launch Hive: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Hive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Loading data: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DATA INPATH 'mydata' INTO TABLE foo;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DATA LOCAL 'mydata' INTO TABLE foo;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Partitioning: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DATA INPATH 'new_logs' INTO TABLE mytable PARTITION (dt=2020-12-22);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Bucketing: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purchasers (...) CLUSTERED BY id INTO 32 BUCKETS;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avg(cost) FROM purchasers TABLESAMPLE (BUCKET 5 OUT OF 32);</a:t>
            </a:r>
            <a:endParaRPr/>
          </a:p>
          <a:p>
            <a:pPr indent="-1397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286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40"/>
          <p:cNvCxnSpPr/>
          <p:nvPr/>
        </p:nvCxnSpPr>
        <p:spPr>
          <a:xfrm>
            <a:off x="8689621" y="3610394"/>
            <a:ext cx="0" cy="3238728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47" name="Google Shape;447;p21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Loading Hive Tables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904327" y="1537204"/>
            <a:ext cx="71926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21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LOAD DATA to import data into a HIVE table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21"/>
          <p:cNvSpPr txBox="1"/>
          <p:nvPr/>
        </p:nvSpPr>
        <p:spPr>
          <a:xfrm>
            <a:off x="904327" y="2985001"/>
            <a:ext cx="6984365" cy="147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-292735" lvl="0" marL="3048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files are modified by Hive, the schema simply imposes structure on the file as it is read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735" lvl="0" marL="304800" marR="1006475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 the keyword OVERWRITE to modify previous loaded files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917027" y="4469013"/>
            <a:ext cx="5825490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Loading a file creates a "data warehouse"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Schema is verified as data is queried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Missing columns are mapped to NULL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838196" y="2057391"/>
            <a:ext cx="6477000" cy="831215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$ hive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641985" lvl="0" marL="727075" marR="633730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hive&gt; LOAD DATA LOCAL INPATH 'comp521/NFLrosters' INTO TABLE Roster;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914396" y="4502984"/>
            <a:ext cx="6477000" cy="156972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85725" marR="1371600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hive&gt; LOAD DATA INPATH 'comp521/NFLrosters' hive&gt;	OVERWRITE INTO TABLE Rosters; hive&gt; INSERT INTO recentQBs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hive&gt;	SELECT * FROM Rosters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948055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hive&gt;	WHERE position = 'QB' AND year &gt; 2000 hive&gt;		AND starts &gt; 0;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1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Hive DDL Commands:</a:t>
            </a:r>
            <a:endParaRPr/>
          </a:p>
        </p:txBody>
      </p:sp>
      <p:sp>
        <p:nvSpPr>
          <p:cNvPr id="460" name="Google Shape;460;p41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1"/>
          <p:cNvSpPr txBox="1"/>
          <p:nvPr>
            <p:ph idx="1" type="body"/>
          </p:nvPr>
        </p:nvSpPr>
        <p:spPr>
          <a:xfrm>
            <a:off x="3335481" y="591344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SHOW TABLES</a:t>
            </a:r>
            <a:endParaRPr/>
          </a:p>
          <a:p>
            <a:pPr indent="-228600" lvl="0" marL="5143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CREATE TABLE</a:t>
            </a:r>
            <a:endParaRPr/>
          </a:p>
          <a:p>
            <a:pPr indent="-228600" lvl="0" marL="5143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DESCRIBE</a:t>
            </a:r>
            <a:endParaRPr/>
          </a:p>
          <a:p>
            <a:pPr indent="-228600" lvl="0" marL="5143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ALTER</a:t>
            </a:r>
            <a:endParaRPr/>
          </a:p>
          <a:p>
            <a:pPr indent="-228600" lvl="0" marL="5143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DROP</a:t>
            </a:r>
            <a:endParaRPr/>
          </a:p>
          <a:p>
            <a:pPr indent="-1397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--Selecting data: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SELECT * FROM movie LIMIT 10;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--Saving output: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INSERT OVERWRITE TABLE newTable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SELECT ...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/>
          <p:nvPr/>
        </p:nvSpPr>
        <p:spPr>
          <a:xfrm flipH="1" rot="5400000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 rot="-54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 flipH="1" rot="-5400000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 rot="6097846">
            <a:off x="-1161554" y="1712395"/>
            <a:ext cx="4808302" cy="3066500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AFE2">
                  <a:alpha val="0"/>
                </a:srgbClr>
              </a:gs>
              <a:gs pos="39000">
                <a:srgbClr val="43AFE2">
                  <a:alpha val="0"/>
                </a:srgbClr>
              </a:gs>
              <a:gs pos="100000">
                <a:srgbClr val="0F48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471" name="Google Shape;471;p20"/>
          <p:cNvSpPr txBox="1"/>
          <p:nvPr>
            <p:ph type="title"/>
          </p:nvPr>
        </p:nvSpPr>
        <p:spPr>
          <a:xfrm>
            <a:off x="495030" y="2767106"/>
            <a:ext cx="2160621" cy="307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Operations on Hive Tables</a:t>
            </a:r>
            <a:endParaRPr/>
          </a:p>
        </p:txBody>
      </p:sp>
      <p:graphicFrame>
        <p:nvGraphicFramePr>
          <p:cNvPr id="472" name="Google Shape;472;p20"/>
          <p:cNvGraphicFramePr/>
          <p:nvPr/>
        </p:nvGraphicFramePr>
        <p:xfrm>
          <a:off x="3376821" y="583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{22ED4755-D760-4600-AE3E-B58C643489D8}</a:tableStyleId>
              </a:tblPr>
              <a:tblGrid>
                <a:gridCol w="1553600"/>
                <a:gridCol w="3865700"/>
              </a:tblGrid>
              <a:tr h="6821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Table Operation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275" marB="0" marR="0" marL="0"/>
                </a:tc>
                <a:tc>
                  <a:txBody>
                    <a:bodyPr/>
                    <a:lstStyle/>
                    <a:p>
                      <a:pPr indent="0" lvl="0" marL="127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Command Syntax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275" marB="0" marR="0" marL="0"/>
                </a:tc>
              </a:tr>
              <a:tr h="6821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See current tables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275" marB="0" marR="0" marL="0"/>
                </a:tc>
                <a:tc>
                  <a:txBody>
                    <a:bodyPr/>
                    <a:lstStyle/>
                    <a:p>
                      <a:pPr indent="0" lvl="0" marL="127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hive&gt; SHOW TABLES;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275" marB="0" marR="0" marL="0"/>
                </a:tc>
              </a:tr>
              <a:tr h="7476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Check schema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800" marB="0" marR="0" marL="0"/>
                </a:tc>
                <a:tc>
                  <a:txBody>
                    <a:bodyPr/>
                    <a:lstStyle/>
                    <a:p>
                      <a:pPr indent="0" lvl="0" marL="127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hive&gt; DESCRIBE Roster;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800" marB="0" marR="0" marL="0"/>
                </a:tc>
              </a:tr>
              <a:tr h="7630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Change table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/>
                </a:tc>
                <a:tc>
                  <a:txBody>
                    <a:bodyPr/>
                    <a:lstStyle/>
                    <a:p>
                      <a:pPr indent="0" lvl="0" marL="127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hive&gt; ALTER TABLE Roster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/>
                </a:tc>
              </a:tr>
              <a:tr h="3454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7607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RENAME TO PlayedFor;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  <a:tr h="747625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Add a column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800" marB="0" marR="0" marL="0"/>
                </a:tc>
                <a:tc>
                  <a:txBody>
                    <a:bodyPr/>
                    <a:lstStyle/>
                    <a:p>
                      <a:pPr indent="0" lvl="0" marL="127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hive&gt; ALTER TABLE Roster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800" marB="0" marR="0" marL="0"/>
                </a:tc>
              </a:tr>
              <a:tr h="34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7467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ADD COLUMNS (pid, int);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  <a:tr h="7245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Drop a partition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675" marB="0" marR="0" marL="0"/>
                </a:tc>
                <a:tc>
                  <a:txBody>
                    <a:bodyPr/>
                    <a:lstStyle/>
                    <a:p>
                      <a:pPr indent="0" lvl="0" marL="127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hive&gt; ALTER TABLE Roster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675" marB="0" marR="0" marL="0"/>
                </a:tc>
              </a:tr>
              <a:tr h="65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644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</a:rPr>
                        <a:t>DROP PARTITION (team='dallas-cowboys');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478" name="Google Shape;478;p25"/>
          <p:cNvSpPr txBox="1"/>
          <p:nvPr>
            <p:ph type="title"/>
          </p:nvPr>
        </p:nvSpPr>
        <p:spPr>
          <a:xfrm>
            <a:off x="628650" y="459863"/>
            <a:ext cx="78867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b="1" i="0" lang="en-US" sz="4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Sorting in Hive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434622" y="1587970"/>
            <a:ext cx="8274756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25"/>
          <p:cNvGrpSpPr/>
          <p:nvPr/>
        </p:nvGrpSpPr>
        <p:grpSpPr>
          <a:xfrm>
            <a:off x="631001" y="2400919"/>
            <a:ext cx="7881996" cy="3151321"/>
            <a:chOff x="2351" y="600008"/>
            <a:chExt cx="7881996" cy="3151321"/>
          </a:xfrm>
        </p:grpSpPr>
        <p:sp>
          <p:nvSpPr>
            <p:cNvPr id="481" name="Google Shape;481;p25"/>
            <p:cNvSpPr/>
            <p:nvPr/>
          </p:nvSpPr>
          <p:spPr>
            <a:xfrm>
              <a:off x="2351" y="600008"/>
              <a:ext cx="1268367" cy="1268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2351" y="2003882"/>
              <a:ext cx="3623906" cy="543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5"/>
            <p:cNvSpPr txBox="1"/>
            <p:nvPr/>
          </p:nvSpPr>
          <p:spPr>
            <a:xfrm>
              <a:off x="2351" y="2003882"/>
              <a:ext cx="3623906" cy="543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lang="en-US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 supports ORDER BY, but its result differs from SQL's</a:t>
              </a:r>
              <a:endParaRPr/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2351" y="2610495"/>
              <a:ext cx="3623906" cy="1140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5"/>
            <p:cNvSpPr txBox="1"/>
            <p:nvPr/>
          </p:nvSpPr>
          <p:spPr>
            <a:xfrm>
              <a:off x="2351" y="2610495"/>
              <a:ext cx="3623906" cy="1140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Only one Reduce step is applied and partial results are broadcast and combined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need for any intermediate files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allows optimization to a single MapReduce step</a:t>
              </a:r>
              <a:endParaRPr/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4260441" y="600008"/>
              <a:ext cx="1268367" cy="1268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4260441" y="2003882"/>
              <a:ext cx="3623906" cy="543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5"/>
            <p:cNvSpPr txBox="1"/>
            <p:nvPr/>
          </p:nvSpPr>
          <p:spPr>
            <a:xfrm>
              <a:off x="4260441" y="2003882"/>
              <a:ext cx="3623906" cy="543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1" lang="en-US" sz="1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 also supports SORT BY with multiple fields</a:t>
              </a:r>
              <a:endParaRPr/>
            </a:p>
          </p:txBody>
        </p:sp>
        <p:sp>
          <p:nvSpPr>
            <p:cNvPr id="489" name="Google Shape;489;p25"/>
            <p:cNvSpPr/>
            <p:nvPr/>
          </p:nvSpPr>
          <p:spPr>
            <a:xfrm>
              <a:off x="4260441" y="2610495"/>
              <a:ext cx="3623906" cy="1140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5"/>
            <p:cNvSpPr txBox="1"/>
            <p:nvPr/>
          </p:nvSpPr>
          <p:spPr>
            <a:xfrm>
              <a:off x="4260441" y="2610495"/>
              <a:ext cx="3623906" cy="1140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Produces a "total ordering" of all results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Might require multiple MapReduce operations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Might materialize several intermediate tables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"/>
          <p:cNvSpPr/>
          <p:nvPr/>
        </p:nvSpPr>
        <p:spPr>
          <a:xfrm>
            <a:off x="7656521" y="1"/>
            <a:ext cx="851299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1" i="0"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Hive</a:t>
            </a:r>
            <a:endParaRPr/>
          </a:p>
        </p:txBody>
      </p:sp>
      <p:sp>
        <p:nvSpPr>
          <p:cNvPr id="498" name="Google Shape;498;p3"/>
          <p:cNvSpPr/>
          <p:nvPr/>
        </p:nvSpPr>
        <p:spPr>
          <a:xfrm flipH="1" rot="-5400000">
            <a:off x="-93647" y="2693652"/>
            <a:ext cx="4083433" cy="3062575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"/>
          <p:cNvSpPr txBox="1"/>
          <p:nvPr/>
        </p:nvSpPr>
        <p:spPr>
          <a:xfrm>
            <a:off x="628650" y="1363851"/>
            <a:ext cx="8098568" cy="481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EXTERNAL TABLE movie (id INT, name STRING, year INT) ROW FORMAT DELIMITED FIELDS TERMINATED BY '\t' LOCATION '/user/</a:t>
            </a:r>
            <a:endParaRPr/>
          </a:p>
          <a:p>
            <a:pPr indent="0" lvl="0" marL="127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root/movie'</a:t>
            </a:r>
            <a:endParaRPr/>
          </a:p>
          <a:p>
            <a:pPr indent="0" lvl="0" marL="0" marR="305498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EXTERNAL TABLE movierating (userid INT, movieid INT, rating INT) ROW FORMAT DELIMITED FIELDS TERMINATED BY '\t'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'/user/cloudera/movierating'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* FROM movie</a:t>
            </a:r>
            <a:endParaRPr/>
          </a:p>
          <a:p>
            <a:pPr indent="0" lvl="0" marL="0" marR="598741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--Select oldest movie SELECT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movie</a:t>
            </a:r>
            <a:endParaRPr/>
          </a:p>
          <a:p>
            <a:pPr indent="0" lvl="0" marL="0" marR="633920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year != 0 SORT BY year LIMIT 1</a:t>
            </a:r>
            <a:endParaRPr/>
          </a:p>
          <a:p>
            <a:pPr indent="0" lvl="0" marL="0" marR="545973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--Select movies without rating SELECT name, year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movie LEFT OUTER JOIN movierating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28383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movie.id = movierating.movieid WHERE movieid IS NULL</a:t>
            </a:r>
            <a:endParaRPr/>
          </a:p>
          <a:p>
            <a:pPr indent="0" lvl="0" marL="0" marR="4755515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--Update movies with numratings, avgrating DROP TABLE newmovie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"/>
          <p:cNvSpPr txBox="1"/>
          <p:nvPr>
            <p:ph type="title"/>
          </p:nvPr>
        </p:nvSpPr>
        <p:spPr>
          <a:xfrm>
            <a:off x="571380" y="1138265"/>
            <a:ext cx="3408571" cy="1401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1" i="0"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Hive</a:t>
            </a:r>
            <a:endParaRPr/>
          </a:p>
        </p:txBody>
      </p:sp>
      <p:cxnSp>
        <p:nvCxnSpPr>
          <p:cNvPr id="505" name="Google Shape;505;p4"/>
          <p:cNvCxnSpPr/>
          <p:nvPr/>
        </p:nvCxnSpPr>
        <p:spPr>
          <a:xfrm>
            <a:off x="646096" y="871146"/>
            <a:ext cx="552704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6" name="Google Shape;506;p4"/>
          <p:cNvSpPr txBox="1"/>
          <p:nvPr/>
        </p:nvSpPr>
        <p:spPr>
          <a:xfrm>
            <a:off x="571380" y="2551176"/>
            <a:ext cx="3408571" cy="3602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root@master ~ # hive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" lvl="0" marL="127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Hive history file=/tmp/root/hive_job_log_root_201108031010_1952745660.txt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7" name="Google Shape;507;p4"/>
          <p:cNvGraphicFramePr/>
          <p:nvPr/>
        </p:nvGraphicFramePr>
        <p:xfrm>
          <a:off x="4884275" y="771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{22ED4755-D760-4600-AE3E-B58C643489D8}</a:tableStyleId>
              </a:tblPr>
              <a:tblGrid>
                <a:gridCol w="699875"/>
                <a:gridCol w="2054625"/>
                <a:gridCol w="601700"/>
              </a:tblGrid>
              <a:tr h="62275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7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hive&gt;</a:t>
                      </a:r>
                      <a:endParaRPr/>
                    </a:p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</a:t>
                      </a:r>
                      <a:endParaRPr/>
                    </a:p>
                  </a:txBody>
                  <a:tcPr marT="17125" marB="128525" marR="0" marL="599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4769" marR="0" rtl="0" algn="l">
                        <a:lnSpc>
                          <a:spcPct val="7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* from movie limit 10;</a:t>
                      </a:r>
                      <a:endParaRPr/>
                    </a:p>
                  </a:txBody>
                  <a:tcPr marT="17125" marB="128525" marR="0" marL="599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7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Toy Story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5127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Jumanji 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</a:tr>
              <a:tr h="52262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2255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Grumpier Old Men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52262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2255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Waiting to Exhale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vMerge="1"/>
              </a:tr>
              <a:tr h="35127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Father of the Bride Part II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01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27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Heat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5127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Sabrina 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62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Tom and Huck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2262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Sudden Death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625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GoldenEye	1995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31750" marR="3175" rtl="0" algn="l">
                        <a:lnSpc>
                          <a:spcPct val="8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taken: 0.067 seconds</a:t>
                      </a:r>
                      <a:endParaRPr/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25" marB="128525" marR="0" marL="59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12" name="Google Shape;512;p22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Hive Queries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423514" y="1537204"/>
            <a:ext cx="144970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9395" lvl="0" marL="2520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423514" y="2623052"/>
            <a:ext cx="84429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9395" lvl="0" marL="252095" marR="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Supports the following: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WHERE clause /</a:t>
            </a:r>
            <a:r>
              <a:rPr lang="en-US" sz="2400">
                <a:solidFill>
                  <a:srgbClr val="464646"/>
                </a:solidFill>
              </a:rPr>
              <a:t>HAVING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UNION ALL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GROUP B</a:t>
            </a:r>
            <a:r>
              <a:rPr lang="en-US" sz="2400">
                <a:solidFill>
                  <a:srgbClr val="464646"/>
                </a:solidFill>
              </a:rPr>
              <a:t>Y</a:t>
            </a: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LIMIT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JOIN,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029" lvl="1" marL="709295" marR="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LEFT OUTER JOIN, RIGHT OUTER JOIN, OUTER JOIN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014" lvl="2" marL="1166495" marR="0" rtl="0" algn="l">
              <a:lnSpc>
                <a:spcPct val="11975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Returned rows are random, and may vary between calls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990596" y="1981192"/>
            <a:ext cx="6477000" cy="584835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$ hive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572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3F1FC"/>
              </a:buClr>
              <a:buSzPts val="1600"/>
              <a:buFont typeface="Verdana"/>
              <a:buNone/>
            </a:pPr>
            <a:r>
              <a:rPr lang="en-US" sz="1600">
                <a:solidFill>
                  <a:srgbClr val="E3F1FC"/>
                </a:solidFill>
                <a:latin typeface="Verdana"/>
                <a:ea typeface="Verdana"/>
                <a:cs typeface="Verdana"/>
                <a:sym typeface="Verdana"/>
              </a:rPr>
              <a:t>hive&gt; SELECT * FROM recentQBs WHERE name = "*Brady";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20" name="Google Shape;520;p23"/>
          <p:cNvSpPr txBox="1"/>
          <p:nvPr>
            <p:ph type="title"/>
          </p:nvPr>
        </p:nvSpPr>
        <p:spPr>
          <a:xfrm>
            <a:off x="911223" y="649029"/>
            <a:ext cx="6913880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3600">
                <a:latin typeface="Arial"/>
                <a:ea typeface="Arial"/>
                <a:cs typeface="Arial"/>
                <a:sym typeface="Arial"/>
              </a:rPr>
              <a:t>Hive Query Examples</a:t>
            </a:r>
            <a:endParaRPr b="1" i="0"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23"/>
          <p:cNvGrpSpPr/>
          <p:nvPr/>
        </p:nvGrpSpPr>
        <p:grpSpPr>
          <a:xfrm>
            <a:off x="499110" y="1486572"/>
            <a:ext cx="8145780" cy="5278914"/>
            <a:chOff x="0" y="2580"/>
            <a:chExt cx="8145780" cy="5278914"/>
          </a:xfrm>
        </p:grpSpPr>
        <p:cxnSp>
          <p:nvCxnSpPr>
            <p:cNvPr id="522" name="Google Shape;522;p23"/>
            <p:cNvCxnSpPr/>
            <p:nvPr/>
          </p:nvCxnSpPr>
          <p:spPr>
            <a:xfrm>
              <a:off x="0" y="2580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3" name="Google Shape;523;p23"/>
            <p:cNvSpPr/>
            <p:nvPr/>
          </p:nvSpPr>
          <p:spPr>
            <a:xfrm>
              <a:off x="0" y="2580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3"/>
            <p:cNvSpPr txBox="1"/>
            <p:nvPr/>
          </p:nvSpPr>
          <p:spPr>
            <a:xfrm>
              <a:off x="0" y="2580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SELECT * FROM customers;</a:t>
              </a:r>
              <a:endParaRPr/>
            </a:p>
          </p:txBody>
        </p:sp>
        <p:cxnSp>
          <p:nvCxnSpPr>
            <p:cNvPr id="525" name="Google Shape;525;p23"/>
            <p:cNvCxnSpPr/>
            <p:nvPr/>
          </p:nvCxnSpPr>
          <p:spPr>
            <a:xfrm>
              <a:off x="0" y="442489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6" name="Google Shape;526;p23"/>
            <p:cNvSpPr/>
            <p:nvPr/>
          </p:nvSpPr>
          <p:spPr>
            <a:xfrm>
              <a:off x="0" y="442489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3"/>
            <p:cNvSpPr txBox="1"/>
            <p:nvPr/>
          </p:nvSpPr>
          <p:spPr>
            <a:xfrm>
              <a:off x="0" y="442489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SELECT COUNT(*) FROM customers; hive&gt;</a:t>
              </a:r>
              <a:endParaRPr/>
            </a:p>
          </p:txBody>
        </p:sp>
        <p:cxnSp>
          <p:nvCxnSpPr>
            <p:cNvPr id="528" name="Google Shape;528;p23"/>
            <p:cNvCxnSpPr/>
            <p:nvPr/>
          </p:nvCxnSpPr>
          <p:spPr>
            <a:xfrm>
              <a:off x="0" y="882399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9" name="Google Shape;529;p23"/>
            <p:cNvSpPr/>
            <p:nvPr/>
          </p:nvSpPr>
          <p:spPr>
            <a:xfrm>
              <a:off x="0" y="882399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3"/>
            <p:cNvSpPr txBox="1"/>
            <p:nvPr/>
          </p:nvSpPr>
          <p:spPr>
            <a:xfrm>
              <a:off x="0" y="882399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SELECT first, last, address, zip FROM customers hive&gt; WHERE orderID &gt; 0</a:t>
              </a:r>
              <a:endParaRPr/>
            </a:p>
          </p:txBody>
        </p:sp>
        <p:cxnSp>
          <p:nvCxnSpPr>
            <p:cNvPr id="531" name="Google Shape;531;p23"/>
            <p:cNvCxnSpPr/>
            <p:nvPr/>
          </p:nvCxnSpPr>
          <p:spPr>
            <a:xfrm>
              <a:off x="0" y="1322308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2" name="Google Shape;532;p23"/>
            <p:cNvSpPr/>
            <p:nvPr/>
          </p:nvSpPr>
          <p:spPr>
            <a:xfrm>
              <a:off x="0" y="1322308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3"/>
            <p:cNvSpPr txBox="1"/>
            <p:nvPr/>
          </p:nvSpPr>
          <p:spPr>
            <a:xfrm>
              <a:off x="0" y="1322308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GROUP BY zip; hive&gt;</a:t>
              </a:r>
              <a:endParaRPr/>
            </a:p>
          </p:txBody>
        </p:sp>
        <p:cxnSp>
          <p:nvCxnSpPr>
            <p:cNvPr id="534" name="Google Shape;534;p23"/>
            <p:cNvCxnSpPr/>
            <p:nvPr/>
          </p:nvCxnSpPr>
          <p:spPr>
            <a:xfrm>
              <a:off x="0" y="1762218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5" name="Google Shape;535;p23"/>
            <p:cNvSpPr/>
            <p:nvPr/>
          </p:nvSpPr>
          <p:spPr>
            <a:xfrm>
              <a:off x="0" y="1762218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3"/>
            <p:cNvSpPr txBox="1"/>
            <p:nvPr/>
          </p:nvSpPr>
          <p:spPr>
            <a:xfrm>
              <a:off x="0" y="1762218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SELECT customers.*, orders.* hive&gt; FROM customers JOIN orders</a:t>
              </a:r>
              <a:endParaRPr/>
            </a:p>
          </p:txBody>
        </p:sp>
        <p:cxnSp>
          <p:nvCxnSpPr>
            <p:cNvPr id="537" name="Google Shape;537;p23"/>
            <p:cNvCxnSpPr/>
            <p:nvPr/>
          </p:nvCxnSpPr>
          <p:spPr>
            <a:xfrm>
              <a:off x="0" y="2202127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8" name="Google Shape;538;p23"/>
            <p:cNvSpPr/>
            <p:nvPr/>
          </p:nvSpPr>
          <p:spPr>
            <a:xfrm>
              <a:off x="0" y="2202127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3"/>
            <p:cNvSpPr txBox="1"/>
            <p:nvPr/>
          </p:nvSpPr>
          <p:spPr>
            <a:xfrm>
              <a:off x="0" y="2202127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	ON (customers.customerID </a:t>
              </a:r>
              <a:r>
                <a:rPr lang="en-US" sz="1800">
                  <a:solidFill>
                    <a:schemeClr val="dk1"/>
                  </a:solidFill>
                </a:rPr>
                <a:t>=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orders.customerID); hive&gt;</a:t>
              </a:r>
              <a:endParaRPr/>
            </a:p>
          </p:txBody>
        </p:sp>
        <p:cxnSp>
          <p:nvCxnSpPr>
            <p:cNvPr id="540" name="Google Shape;540;p23"/>
            <p:cNvCxnSpPr/>
            <p:nvPr/>
          </p:nvCxnSpPr>
          <p:spPr>
            <a:xfrm>
              <a:off x="0" y="2642037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1" name="Google Shape;541;p23"/>
            <p:cNvSpPr/>
            <p:nvPr/>
          </p:nvSpPr>
          <p:spPr>
            <a:xfrm>
              <a:off x="0" y="2642037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3"/>
            <p:cNvSpPr txBox="1"/>
            <p:nvPr/>
          </p:nvSpPr>
          <p:spPr>
            <a:xfrm>
              <a:off x="0" y="2642037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SELECT customers.*, orders.*</a:t>
              </a:r>
              <a:endParaRPr/>
            </a:p>
          </p:txBody>
        </p:sp>
        <p:cxnSp>
          <p:nvCxnSpPr>
            <p:cNvPr id="543" name="Google Shape;543;p23"/>
            <p:cNvCxnSpPr/>
            <p:nvPr/>
          </p:nvCxnSpPr>
          <p:spPr>
            <a:xfrm>
              <a:off x="0" y="3081947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4" name="Google Shape;544;p23"/>
            <p:cNvSpPr/>
            <p:nvPr/>
          </p:nvSpPr>
          <p:spPr>
            <a:xfrm>
              <a:off x="0" y="3081947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3"/>
            <p:cNvSpPr txBox="1"/>
            <p:nvPr/>
          </p:nvSpPr>
          <p:spPr>
            <a:xfrm>
              <a:off x="0" y="3081947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 FROM customers LEFT OUTER JOIN orders</a:t>
              </a:r>
              <a:endParaRPr/>
            </a:p>
          </p:txBody>
        </p:sp>
        <p:cxnSp>
          <p:nvCxnSpPr>
            <p:cNvPr id="546" name="Google Shape;546;p23"/>
            <p:cNvCxnSpPr/>
            <p:nvPr/>
          </p:nvCxnSpPr>
          <p:spPr>
            <a:xfrm>
              <a:off x="0" y="3521856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7" name="Google Shape;547;p23"/>
            <p:cNvSpPr/>
            <p:nvPr/>
          </p:nvSpPr>
          <p:spPr>
            <a:xfrm>
              <a:off x="0" y="3521856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3"/>
            <p:cNvSpPr txBox="1"/>
            <p:nvPr/>
          </p:nvSpPr>
          <p:spPr>
            <a:xfrm>
              <a:off x="0" y="3521856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hive&gt;	ON (customers.customerID </a:t>
              </a:r>
              <a:r>
                <a:rPr lang="en-US" sz="1800">
                  <a:solidFill>
                    <a:schemeClr val="dk1"/>
                  </a:solidFill>
                </a:rPr>
                <a:t>=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orders.customerID);</a:t>
              </a:r>
              <a:endParaRPr/>
            </a:p>
          </p:txBody>
        </p:sp>
        <p:cxnSp>
          <p:nvCxnSpPr>
            <p:cNvPr id="549" name="Google Shape;549;p23"/>
            <p:cNvCxnSpPr/>
            <p:nvPr/>
          </p:nvCxnSpPr>
          <p:spPr>
            <a:xfrm>
              <a:off x="0" y="3961766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0" name="Google Shape;550;p23"/>
            <p:cNvSpPr/>
            <p:nvPr/>
          </p:nvSpPr>
          <p:spPr>
            <a:xfrm>
              <a:off x="0" y="3961766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3"/>
            <p:cNvSpPr txBox="1"/>
            <p:nvPr/>
          </p:nvSpPr>
          <p:spPr>
            <a:xfrm>
              <a:off x="0" y="3961766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 you understand SQL, you should be able to follow</a:t>
              </a:r>
              <a:endParaRPr/>
            </a:p>
          </p:txBody>
        </p:sp>
        <p:cxnSp>
          <p:nvCxnSpPr>
            <p:cNvPr id="552" name="Google Shape;552;p23"/>
            <p:cNvCxnSpPr/>
            <p:nvPr/>
          </p:nvCxnSpPr>
          <p:spPr>
            <a:xfrm>
              <a:off x="0" y="4401675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3" name="Google Shape;553;p23"/>
            <p:cNvSpPr/>
            <p:nvPr/>
          </p:nvSpPr>
          <p:spPr>
            <a:xfrm>
              <a:off x="0" y="4401675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3"/>
            <p:cNvSpPr txBox="1"/>
            <p:nvPr/>
          </p:nvSpPr>
          <p:spPr>
            <a:xfrm>
              <a:off x="0" y="4401675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Note: These are queries, not transactions</a:t>
              </a:r>
              <a:endParaRPr/>
            </a:p>
          </p:txBody>
        </p:sp>
        <p:cxnSp>
          <p:nvCxnSpPr>
            <p:cNvPr id="555" name="Google Shape;555;p23"/>
            <p:cNvCxnSpPr/>
            <p:nvPr/>
          </p:nvCxnSpPr>
          <p:spPr>
            <a:xfrm>
              <a:off x="0" y="4841585"/>
              <a:ext cx="8145780" cy="0"/>
            </a:xfrm>
            <a:prstGeom prst="straightConnector1">
              <a:avLst/>
            </a:prstGeom>
            <a:solidFill>
              <a:srgbClr val="126082"/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6" name="Google Shape;556;p23"/>
            <p:cNvSpPr/>
            <p:nvPr/>
          </p:nvSpPr>
          <p:spPr>
            <a:xfrm>
              <a:off x="0" y="4841585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3"/>
            <p:cNvSpPr txBox="1"/>
            <p:nvPr/>
          </p:nvSpPr>
          <p:spPr>
            <a:xfrm>
              <a:off x="0" y="4841585"/>
              <a:ext cx="8145780" cy="439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data's state could change between and within a query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0" y="0"/>
            <a:ext cx="856231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889000" sx="90000" rotWithShape="0" algn="t" dir="21540000" dist="406400" sy="90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564" name="Google Shape;564;p24"/>
          <p:cNvSpPr txBox="1"/>
          <p:nvPr>
            <p:ph type="title"/>
          </p:nvPr>
        </p:nvSpPr>
        <p:spPr>
          <a:xfrm>
            <a:off x="2124666" y="501546"/>
            <a:ext cx="5701978" cy="1279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1" i="0" lang="en-US" sz="3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Hive Subqueries</a:t>
            </a:r>
            <a:endParaRPr/>
          </a:p>
        </p:txBody>
      </p:sp>
      <p:pic>
        <p:nvPicPr>
          <p:cNvPr descr="Bees working on a honeycomb" id="565" name="Google Shape;565;p24"/>
          <p:cNvPicPr preferRelativeResize="0"/>
          <p:nvPr/>
        </p:nvPicPr>
        <p:blipFill rotWithShape="1">
          <a:blip r:embed="rId3">
            <a:alphaModFix/>
          </a:blip>
          <a:srcRect b="0" l="28562" r="22938" t="0"/>
          <a:stretch/>
        </p:blipFill>
        <p:spPr>
          <a:xfrm>
            <a:off x="20" y="-2"/>
            <a:ext cx="192177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4"/>
          <p:cNvSpPr txBox="1"/>
          <p:nvPr/>
        </p:nvSpPr>
        <p:spPr>
          <a:xfrm>
            <a:off x="5102556" y="2470245"/>
            <a:ext cx="3117384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302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Hive allows subqueries only within FROM clauses</a:t>
            </a:r>
            <a:endParaRPr/>
          </a:p>
        </p:txBody>
      </p:sp>
      <p:sp>
        <p:nvSpPr>
          <p:cNvPr id="567" name="Google Shape;567;p24"/>
          <p:cNvSpPr txBox="1"/>
          <p:nvPr/>
        </p:nvSpPr>
        <p:spPr>
          <a:xfrm>
            <a:off x="2124665" y="2919658"/>
            <a:ext cx="6226937" cy="333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-318135" lvl="0" marL="330200" marR="204597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Subqueries are generally materialized (computed and saved as hive tables)</a:t>
            </a:r>
            <a:endParaRPr/>
          </a:p>
          <a:p>
            <a:pPr indent="-318135" lvl="0" marL="330200" marR="5080" rtl="0" algn="l">
              <a:lnSpc>
                <a:spcPct val="1425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MUST to include a name for the subquery result table</a:t>
            </a:r>
            <a:endParaRPr/>
          </a:p>
          <a:p>
            <a:pPr indent="-318135" lvl="0" marL="330200" marR="1115060" rtl="0" algn="l">
              <a:lnSpc>
                <a:spcPct val="1425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columns of a subquery's SELECT list are available to the outer query</a:t>
            </a:r>
            <a:endParaRPr/>
          </a:p>
        </p:txBody>
      </p:sp>
      <p:sp>
        <p:nvSpPr>
          <p:cNvPr id="568" name="Google Shape;568;p24"/>
          <p:cNvSpPr txBox="1"/>
          <p:nvPr/>
        </p:nvSpPr>
        <p:spPr>
          <a:xfrm>
            <a:off x="2003550" y="1640425"/>
            <a:ext cx="6477000" cy="1149161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85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hive&gt; SELECT sid, mid, total FROM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967739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hive&gt;	(SELECT sid, mid, refCnt + altCnt AS total hive&gt;		FROM genotype)	gtypeTotals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E3F1FC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3F1FC"/>
                </a:solidFill>
                <a:latin typeface="Arial"/>
                <a:ea typeface="Arial"/>
                <a:cs typeface="Arial"/>
                <a:sym typeface="Arial"/>
              </a:rPr>
              <a:t>hive&gt; WHERE total &gt; 20;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73" name="Google Shape;573;p26"/>
          <p:cNvSpPr txBox="1"/>
          <p:nvPr>
            <p:ph type="title"/>
          </p:nvPr>
        </p:nvSpPr>
        <p:spPr>
          <a:xfrm>
            <a:off x="911223" y="649029"/>
            <a:ext cx="6913880" cy="628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Summary</a:t>
            </a:r>
            <a:endParaRPr b="1" i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p26"/>
          <p:cNvGrpSpPr/>
          <p:nvPr/>
        </p:nvGrpSpPr>
        <p:grpSpPr>
          <a:xfrm>
            <a:off x="7086571" y="4700704"/>
            <a:ext cx="1752592" cy="2060137"/>
            <a:chOff x="7086571" y="4700704"/>
            <a:chExt cx="1752592" cy="2060137"/>
          </a:xfrm>
        </p:grpSpPr>
        <p:pic>
          <p:nvPicPr>
            <p:cNvPr id="575" name="Google Shape;57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31459" y="5119590"/>
              <a:ext cx="807704" cy="7477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6" name="Google Shape;57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43768" y="4700704"/>
              <a:ext cx="679286" cy="10142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7" name="Google Shape;577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86571" y="5410178"/>
              <a:ext cx="1752211" cy="13506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8" name="Google Shape;578;p26"/>
          <p:cNvGrpSpPr/>
          <p:nvPr/>
        </p:nvGrpSpPr>
        <p:grpSpPr>
          <a:xfrm>
            <a:off x="911222" y="1402910"/>
            <a:ext cx="7811224" cy="4767414"/>
            <a:chOff x="0" y="2330"/>
            <a:chExt cx="7811224" cy="4767414"/>
          </a:xfrm>
        </p:grpSpPr>
        <p:sp>
          <p:nvSpPr>
            <p:cNvPr id="579" name="Google Shape;579;p26"/>
            <p:cNvSpPr/>
            <p:nvPr/>
          </p:nvSpPr>
          <p:spPr>
            <a:xfrm>
              <a:off x="0" y="2330"/>
              <a:ext cx="2812041" cy="1537875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6"/>
            <p:cNvSpPr txBox="1"/>
            <p:nvPr/>
          </p:nvSpPr>
          <p:spPr>
            <a:xfrm>
              <a:off x="75073" y="77403"/>
              <a:ext cx="2661895" cy="1387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There are two primary "high-level" programming languages for Hadoop--	Pig and Hive</a:t>
              </a: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 rot="5400000">
              <a:off x="4696482" y="-113554"/>
              <a:ext cx="1230300" cy="49991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AD1D8">
                <a:alpha val="90196"/>
              </a:srgbClr>
            </a:solidFill>
            <a:ln cap="flat" cmpd="sng" w="19050">
              <a:solidFill>
                <a:srgbClr val="CAD1D8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6"/>
            <p:cNvSpPr txBox="1"/>
            <p:nvPr/>
          </p:nvSpPr>
          <p:spPr>
            <a:xfrm>
              <a:off x="2812040" y="1830946"/>
              <a:ext cx="4939126" cy="1110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64750" spcFirstLastPara="1" rIns="64750" wrap="square" tIns="323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Deferred execution allows for optimizations in scheduling Map-Reduce operations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Good for general data manipulation and cleaning</a:t>
              </a: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0" y="1617099"/>
              <a:ext cx="2812041" cy="1537875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 txBox="1"/>
            <p:nvPr/>
          </p:nvSpPr>
          <p:spPr>
            <a:xfrm>
              <a:off x="75073" y="1692172"/>
              <a:ext cx="2661895" cy="1387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i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Pig </a:t>
              </a: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is a "scripting language" that excels in specifying a processing pipeline that is automatically parallelized into Map-Reduce operations</a:t>
              </a: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 rot="5400000">
              <a:off x="4696482" y="1501215"/>
              <a:ext cx="1230300" cy="499918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AD1D8">
                <a:alpha val="90196"/>
              </a:srgbClr>
            </a:solidFill>
            <a:ln cap="flat" cmpd="sng" w="19050">
              <a:solidFill>
                <a:srgbClr val="CAD1D8">
                  <a:alpha val="9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6"/>
            <p:cNvSpPr txBox="1"/>
            <p:nvPr/>
          </p:nvSpPr>
          <p:spPr>
            <a:xfrm>
              <a:off x="2812040" y="3445715"/>
              <a:ext cx="4939126" cy="1110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64750" spcFirstLastPara="1" rIns="64750" wrap="square" tIns="323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Requires the specification of an "external" schema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Often materializes many more intermediate results than a DBMS would</a:t>
              </a: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0" y="3231869"/>
              <a:ext cx="2812041" cy="1537875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6"/>
            <p:cNvSpPr txBox="1"/>
            <p:nvPr/>
          </p:nvSpPr>
          <p:spPr>
            <a:xfrm>
              <a:off x="75073" y="3306942"/>
              <a:ext cx="2661895" cy="1387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i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Hive </a:t>
              </a: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is a "query languge" that borrows heavily from SQL, good for searching and summarizing data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2025-11-14T20:40:48Z</dcterms:created>
  <dc:creator>Geert Van Landeghem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2013-11-19T00:00:00Z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2025-11-14T00:00:00Z</vt:filetime>
  </property>
  <property fmtid="{D5CDD505-2E9C-101B-9397-08002B2CF9AE}" pid="5" name="Producer">
    <vt:lpwstr>Mac OS X 10.9 Quartz PDFContext</vt:lpwstr>
  </property>
</Properties>
</file>