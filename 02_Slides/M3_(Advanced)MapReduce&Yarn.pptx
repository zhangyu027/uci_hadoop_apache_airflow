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12192000" cy="6858000"/>
  <p:notesSz cx="12192000" cy="6858000"/>
  <p:embeddedFontLst>
    <p:embeddedFont>
      <p:font typeface="Arimo" panose="020B0604020202020204" pitchFamily="34" charset="0"/>
      <p:regular r:id="rId107"/>
      <p:bold r:id="rId108"/>
      <p:italic r:id="rId109"/>
      <p:boldItalic r:id="rId110"/>
    </p:embeddedFont>
    <p:embeddedFont>
      <p:font typeface="Merriweather Sans" pitchFamily="2" charset="77"/>
      <p:regular r:id="rId111"/>
      <p:bold r:id="rId112"/>
      <p:italic r:id="rId113"/>
      <p:boldItalic r:id="rId114"/>
    </p:embeddedFont>
    <p:embeddedFont>
      <p:font typeface="Play" pitchFamily="2" charset="0"/>
      <p:regular r:id="rId115"/>
      <p:bold r:id="rId116"/>
    </p:embeddedFont>
    <p:embeddedFont>
      <p:font typeface="Tahoma" panose="020B0604030504040204" pitchFamily="34" charset="0"/>
      <p:regular r:id="rId117"/>
      <p:bold r:id="rId1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3" roundtripDataSignature="AMtx7mjZS12iMp01Y/xzxkdQgB03jeeBZ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CE15A3-5152-4696-AD4B-9BD29868967D}">
  <a:tblStyle styleId="{85CE15A3-5152-4696-AD4B-9BD29868967D}"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646AA23-0E02-4031-917B-29EA51141A64}" styleName="Table_1">
    <a:wholeTbl>
      <a:tcTxStyle b="off" i="off">
        <a:font>
          <a:latin typeface="Aptos"/>
          <a:ea typeface="Aptos"/>
          <a:cs typeface="Apto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44"/>
    <p:restoredTop sz="94692"/>
  </p:normalViewPr>
  <p:slideViewPr>
    <p:cSldViewPr snapToGrid="0">
      <p:cViewPr varScale="1">
        <p:scale>
          <a:sx n="95" d="100"/>
          <a:sy n="95" d="100"/>
        </p:scale>
        <p:origin x="480" y="16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1.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6.fntdata"/><Relationship Id="rId16" Type="http://schemas.openxmlformats.org/officeDocument/2006/relationships/slide" Target="slides/slide15.xml"/><Relationship Id="rId107" Type="http://schemas.openxmlformats.org/officeDocument/2006/relationships/font" Target="fonts/font1.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customschemas.google.com/relationships/presentationmetadata" Target="meta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7.fntdata"/><Relationship Id="rId118" Type="http://schemas.openxmlformats.org/officeDocument/2006/relationships/font" Target="fonts/font12.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2.fntdata"/><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8.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3.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4.fntdata"/><Relationship Id="rId115"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5.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notesMaster" Target="notesMasters/notesMaster1.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1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1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1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1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1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2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2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2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2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p2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p2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2" name="Google Shape;492;p2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5" name="Google Shape;505;p2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2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2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3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3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3" name="Google Shape;563;p3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3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4" name="Google Shape;574;p3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3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8" name="Google Shape;588;p3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3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9" name="Google Shape;599;p3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3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1" name="Google Shape;611;p3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4" name="Google Shape;624;p3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3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3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3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3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3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1" name="Google Shape;661;p3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5" name="Google Shape;675;p4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4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5" name="Google Shape;685;p4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4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8" name="Google Shape;698;p4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4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9" name="Google Shape;709;p4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4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0" name="Google Shape;720;p4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4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8" name="Google Shape;728;p4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4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7" name="Google Shape;737;p4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4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8" name="Google Shape;748;p4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4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4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4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2" name="Google Shape;772;p4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1" name="Google Shape;781;p5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5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8" name="Google Shape;788;p5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9" name="Google Shape;799;p5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7" name="Google Shape;807;p5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5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8" name="Google Shape;818;p5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5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9" name="Google Shape;829;p5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5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0" name="Google Shape;840;p5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5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1" name="Google Shape;851;p5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5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4" name="Google Shape;864;p5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5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p5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6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4" name="Google Shape;884;p6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6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5" name="Google Shape;895;p6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6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9" name="Google Shape;909;p6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6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7" name="Google Shape;927;p6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6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7" name="Google Shape;937;p6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6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0" name="Google Shape;950;p6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6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1" name="Google Shape;961;p6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6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5" name="Google Shape;985;p6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6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5" name="Google Shape;995;p6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6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6" name="Google Shape;1006;p6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7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9" name="Google Shape;1029;p7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7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0" name="Google Shape;1040;p7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7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1" name="Google Shape;1051;p7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7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2" name="Google Shape;1062;p7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7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2" name="Google Shape;1072;p7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7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1" name="Google Shape;1091;p7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7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8" name="Google Shape;1108;p7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7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1" name="Google Shape;1121;p7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7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9" name="Google Shape;1129;p7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7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0" name="Google Shape;1140;p7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8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9" name="Google Shape;1149;p8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8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2" name="Google Shape;1162;p8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8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5" name="Google Shape;1175;p8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8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5" name="Google Shape;1185;p8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p8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2" name="Google Shape;1192;p8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8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2" name="Google Shape;1202;p8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8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1" name="Google Shape;1211;p8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p8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0" name="Google Shape;1220;p8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p8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1" name="Google Shape;1241;p8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p8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8" name="Google Shape;1248;p8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9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5" name="Google Shape;1255;p9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9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2" name="Google Shape;1262;p9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p9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9" name="Google Shape;1269;p9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9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6" name="Google Shape;1276;p9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9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4" name="Google Shape;1284;p9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p9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1" name="Google Shape;1291;p9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p9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8" name="Google Shape;1298;p9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p9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5" name="Google Shape;1305;p9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p9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2" name="Google Shape;1312;p9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p9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1" name="Google Shape;1321;p9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p10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8" name="Google Shape;1328;p10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p10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1" name="Google Shape;1351;p10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10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9" name="Google Shape;1399;p10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10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6" name="Google Shape;1406;p10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p10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2" name="Google Shape;1412;p10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
        <p:cNvGrpSpPr/>
        <p:nvPr/>
      </p:nvGrpSpPr>
      <p:grpSpPr>
        <a:xfrm>
          <a:off x="0" y="0"/>
          <a:ext cx="0" cy="0"/>
          <a:chOff x="0" y="0"/>
          <a:chExt cx="0" cy="0"/>
        </a:xfrm>
      </p:grpSpPr>
      <p:sp>
        <p:nvSpPr>
          <p:cNvPr id="12" name="Google Shape;12;p10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0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0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22"/>
        <p:cNvGrpSpPr/>
        <p:nvPr/>
      </p:nvGrpSpPr>
      <p:grpSpPr>
        <a:xfrm>
          <a:off x="0" y="0"/>
          <a:ext cx="0" cy="0"/>
          <a:chOff x="0" y="0"/>
          <a:chExt cx="0" cy="0"/>
        </a:xfrm>
      </p:grpSpPr>
      <p:sp>
        <p:nvSpPr>
          <p:cNvPr id="23" name="Google Shape;23;p108"/>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lt1"/>
              </a:buClr>
              <a:buSzPts val="4400"/>
              <a:buFont typeface="Arial"/>
              <a:buNone/>
              <a:defRPr sz="44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08"/>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406400" algn="l">
              <a:lnSpc>
                <a:spcPct val="9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08"/>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406400" algn="l">
              <a:lnSpc>
                <a:spcPct val="9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8"/>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8"/>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8"/>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0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0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0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1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1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1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1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5"/>
          <p:cNvSpPr>
            <a:spLocks noGrp="1"/>
          </p:cNvSpPr>
          <p:nvPr>
            <p:ph type="pic" idx="2"/>
          </p:nvPr>
        </p:nvSpPr>
        <p:spPr>
          <a:xfrm>
            <a:off x="5183188" y="987425"/>
            <a:ext cx="6172200" cy="4873625"/>
          </a:xfrm>
          <a:prstGeom prst="rect">
            <a:avLst/>
          </a:prstGeom>
          <a:noFill/>
          <a:ln>
            <a:noFill/>
          </a:ln>
        </p:spPr>
      </p:sp>
      <p:sp>
        <p:nvSpPr>
          <p:cNvPr id="71" name="Google Shape;71;p1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1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1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0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infotechgems.blogspot.com/2011/11/java-collections-performance-time.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jp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jpg"/><Relationship Id="rId4" Type="http://schemas.openxmlformats.org/officeDocument/2006/relationships/image" Target="../media/image37.jpg"/></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9.png"/><Relationship Id="rId4" Type="http://schemas.openxmlformats.org/officeDocument/2006/relationships/image" Target="../media/image41.jpg"/></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hyperlink" Target="http://www.cloudera.com/"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hyperlink" Target="http://www.hortonworks.com/"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42.jpg"/></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hyperlink" Target="http://hadoop.apache.org/common/docs/r0.20.2/hdfs_shell.html"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8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86.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49.jpg"/></Relationships>
</file>

<file path=ppt/slides/_rels/slide8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8.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99.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0"/>
        <p:cNvGrpSpPr/>
        <p:nvPr/>
      </p:nvGrpSpPr>
      <p:grpSpPr>
        <a:xfrm>
          <a:off x="0" y="0"/>
          <a:ext cx="0" cy="0"/>
          <a:chOff x="0" y="0"/>
          <a:chExt cx="0" cy="0"/>
        </a:xfrm>
      </p:grpSpPr>
      <p:grpSp>
        <p:nvGrpSpPr>
          <p:cNvPr id="91" name="Google Shape;91;p1"/>
          <p:cNvGrpSpPr/>
          <p:nvPr/>
        </p:nvGrpSpPr>
        <p:grpSpPr>
          <a:xfrm>
            <a:off x="0" y="609600"/>
            <a:ext cx="12192000" cy="6858127"/>
            <a:chOff x="0" y="0"/>
            <a:chExt cx="12192000" cy="6858127"/>
          </a:xfrm>
        </p:grpSpPr>
        <p:pic>
          <p:nvPicPr>
            <p:cNvPr id="92" name="Google Shape;92;p1"/>
            <p:cNvPicPr preferRelativeResize="0"/>
            <p:nvPr/>
          </p:nvPicPr>
          <p:blipFill rotWithShape="1">
            <a:blip r:embed="rId3">
              <a:alphaModFix/>
            </a:blip>
            <a:srcRect/>
            <a:stretch/>
          </p:blipFill>
          <p:spPr>
            <a:xfrm>
              <a:off x="304800" y="228600"/>
              <a:ext cx="11594592" cy="6035040"/>
            </a:xfrm>
            <a:prstGeom prst="rect">
              <a:avLst/>
            </a:prstGeom>
            <a:noFill/>
            <a:ln>
              <a:noFill/>
            </a:ln>
          </p:spPr>
        </p:pic>
        <p:sp>
          <p:nvSpPr>
            <p:cNvPr id="93" name="Google Shape;93;p1"/>
            <p:cNvSpPr/>
            <p:nvPr/>
          </p:nvSpPr>
          <p:spPr>
            <a:xfrm>
              <a:off x="8072628" y="5498591"/>
              <a:ext cx="3840479" cy="716280"/>
            </a:xfrm>
            <a:custGeom>
              <a:avLst/>
              <a:gdLst/>
              <a:ahLst/>
              <a:cxnLst/>
              <a:rect l="l" t="t" r="r" b="b"/>
              <a:pathLst>
                <a:path w="3840479" h="716279" extrusionOk="0">
                  <a:moveTo>
                    <a:pt x="3840479" y="0"/>
                  </a:moveTo>
                  <a:lnTo>
                    <a:pt x="3831971" y="0"/>
                  </a:lnTo>
                  <a:lnTo>
                    <a:pt x="3670173" y="20193"/>
                  </a:lnTo>
                  <a:lnTo>
                    <a:pt x="3164967" y="91770"/>
                  </a:lnTo>
                  <a:lnTo>
                    <a:pt x="2807207" y="149974"/>
                  </a:lnTo>
                  <a:lnTo>
                    <a:pt x="2432557" y="217119"/>
                  </a:lnTo>
                  <a:lnTo>
                    <a:pt x="2089150" y="282028"/>
                  </a:lnTo>
                  <a:lnTo>
                    <a:pt x="1124077" y="445439"/>
                  </a:lnTo>
                  <a:lnTo>
                    <a:pt x="828801" y="490207"/>
                  </a:lnTo>
                  <a:lnTo>
                    <a:pt x="266826" y="568540"/>
                  </a:lnTo>
                  <a:lnTo>
                    <a:pt x="0" y="602119"/>
                  </a:lnTo>
                  <a:lnTo>
                    <a:pt x="184530" y="622261"/>
                  </a:lnTo>
                  <a:lnTo>
                    <a:pt x="530860" y="655840"/>
                  </a:lnTo>
                  <a:lnTo>
                    <a:pt x="860044" y="682701"/>
                  </a:lnTo>
                  <a:lnTo>
                    <a:pt x="1166622" y="700608"/>
                  </a:lnTo>
                  <a:lnTo>
                    <a:pt x="1314196" y="707326"/>
                  </a:lnTo>
                  <a:lnTo>
                    <a:pt x="1458976" y="711796"/>
                  </a:lnTo>
                  <a:lnTo>
                    <a:pt x="1731518" y="716280"/>
                  </a:lnTo>
                  <a:lnTo>
                    <a:pt x="1862074" y="716280"/>
                  </a:lnTo>
                  <a:lnTo>
                    <a:pt x="2114677" y="711796"/>
                  </a:lnTo>
                  <a:lnTo>
                    <a:pt x="2233929" y="707326"/>
                  </a:lnTo>
                  <a:lnTo>
                    <a:pt x="2461005" y="693889"/>
                  </a:lnTo>
                  <a:lnTo>
                    <a:pt x="2571623" y="684936"/>
                  </a:lnTo>
                  <a:lnTo>
                    <a:pt x="2781680" y="662559"/>
                  </a:lnTo>
                  <a:lnTo>
                    <a:pt x="2980436" y="635698"/>
                  </a:lnTo>
                  <a:lnTo>
                    <a:pt x="3167761" y="604354"/>
                  </a:lnTo>
                  <a:lnTo>
                    <a:pt x="3346577" y="568540"/>
                  </a:lnTo>
                  <a:lnTo>
                    <a:pt x="3516883" y="528256"/>
                  </a:lnTo>
                  <a:lnTo>
                    <a:pt x="3678681" y="483489"/>
                  </a:lnTo>
                  <a:lnTo>
                    <a:pt x="3834765" y="436486"/>
                  </a:lnTo>
                  <a:lnTo>
                    <a:pt x="3840479" y="434238"/>
                  </a:lnTo>
                  <a:lnTo>
                    <a:pt x="3840479" y="0"/>
                  </a:lnTo>
                  <a:close/>
                </a:path>
              </a:pathLst>
            </a:custGeom>
            <a:solidFill>
              <a:srgbClr val="C5E7FB">
                <a:alpha val="29019"/>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1"/>
            <p:cNvSpPr/>
            <p:nvPr/>
          </p:nvSpPr>
          <p:spPr>
            <a:xfrm>
              <a:off x="3496055" y="5370576"/>
              <a:ext cx="7402195" cy="852169"/>
            </a:xfrm>
            <a:custGeom>
              <a:avLst/>
              <a:gdLst/>
              <a:ahLst/>
              <a:cxnLst/>
              <a:rect l="l" t="t" r="r" b="b"/>
              <a:pathLst>
                <a:path w="7402195" h="852170" extrusionOk="0">
                  <a:moveTo>
                    <a:pt x="1138174" y="0"/>
                  </a:moveTo>
                  <a:lnTo>
                    <a:pt x="913892" y="0"/>
                  </a:lnTo>
                  <a:lnTo>
                    <a:pt x="703834" y="4445"/>
                  </a:lnTo>
                  <a:lnTo>
                    <a:pt x="508000" y="11176"/>
                  </a:lnTo>
                  <a:lnTo>
                    <a:pt x="326390" y="22352"/>
                  </a:lnTo>
                  <a:lnTo>
                    <a:pt x="156083" y="35814"/>
                  </a:lnTo>
                  <a:lnTo>
                    <a:pt x="0" y="53721"/>
                  </a:lnTo>
                  <a:lnTo>
                    <a:pt x="445643" y="96139"/>
                  </a:lnTo>
                  <a:lnTo>
                    <a:pt x="925195" y="156464"/>
                  </a:lnTo>
                  <a:lnTo>
                    <a:pt x="1439037" y="234784"/>
                  </a:lnTo>
                  <a:lnTo>
                    <a:pt x="1711452" y="279501"/>
                  </a:lnTo>
                  <a:lnTo>
                    <a:pt x="2491994" y="422605"/>
                  </a:lnTo>
                  <a:lnTo>
                    <a:pt x="3417189" y="576884"/>
                  </a:lnTo>
                  <a:lnTo>
                    <a:pt x="4047236" y="668566"/>
                  </a:lnTo>
                  <a:lnTo>
                    <a:pt x="4626229" y="740117"/>
                  </a:lnTo>
                  <a:lnTo>
                    <a:pt x="5321681" y="807199"/>
                  </a:lnTo>
                  <a:lnTo>
                    <a:pt x="5483479" y="818375"/>
                  </a:lnTo>
                  <a:lnTo>
                    <a:pt x="5789930" y="836269"/>
                  </a:lnTo>
                  <a:lnTo>
                    <a:pt x="5937504" y="842975"/>
                  </a:lnTo>
                  <a:lnTo>
                    <a:pt x="6221349" y="851916"/>
                  </a:lnTo>
                  <a:lnTo>
                    <a:pt x="6485382" y="851916"/>
                  </a:lnTo>
                  <a:lnTo>
                    <a:pt x="6735064" y="847445"/>
                  </a:lnTo>
                  <a:lnTo>
                    <a:pt x="6854317" y="842975"/>
                  </a:lnTo>
                  <a:lnTo>
                    <a:pt x="6970649" y="836269"/>
                  </a:lnTo>
                  <a:lnTo>
                    <a:pt x="7299833" y="809434"/>
                  </a:lnTo>
                  <a:lnTo>
                    <a:pt x="7402068" y="798245"/>
                  </a:lnTo>
                  <a:lnTo>
                    <a:pt x="7072884" y="766953"/>
                  </a:lnTo>
                  <a:lnTo>
                    <a:pt x="6723761" y="728941"/>
                  </a:lnTo>
                  <a:lnTo>
                    <a:pt x="5965952" y="630555"/>
                  </a:lnTo>
                  <a:lnTo>
                    <a:pt x="5120132" y="498627"/>
                  </a:lnTo>
                  <a:lnTo>
                    <a:pt x="3806063" y="263842"/>
                  </a:lnTo>
                  <a:lnTo>
                    <a:pt x="3448430" y="205740"/>
                  </a:lnTo>
                  <a:lnTo>
                    <a:pt x="2943225" y="134112"/>
                  </a:lnTo>
                  <a:lnTo>
                    <a:pt x="2625344" y="96139"/>
                  </a:lnTo>
                  <a:lnTo>
                    <a:pt x="2174113" y="51435"/>
                  </a:lnTo>
                  <a:lnTo>
                    <a:pt x="1893062" y="31242"/>
                  </a:lnTo>
                  <a:lnTo>
                    <a:pt x="1629156" y="15621"/>
                  </a:lnTo>
                  <a:lnTo>
                    <a:pt x="1376553" y="4445"/>
                  </a:lnTo>
                  <a:lnTo>
                    <a:pt x="1138174"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1"/>
            <p:cNvSpPr/>
            <p:nvPr/>
          </p:nvSpPr>
          <p:spPr>
            <a:xfrm>
              <a:off x="3777234" y="5369814"/>
              <a:ext cx="8129270" cy="789940"/>
            </a:xfrm>
            <a:custGeom>
              <a:avLst/>
              <a:gdLst/>
              <a:ahLst/>
              <a:cxnLst/>
              <a:rect l="l" t="t" r="r" b="b"/>
              <a:pathLst>
                <a:path w="8129270" h="789939" extrusionOk="0">
                  <a:moveTo>
                    <a:pt x="0" y="91948"/>
                  </a:moveTo>
                  <a:lnTo>
                    <a:pt x="25526" y="87503"/>
                  </a:lnTo>
                  <a:lnTo>
                    <a:pt x="102235" y="76327"/>
                  </a:lnTo>
                  <a:lnTo>
                    <a:pt x="232790" y="60706"/>
                  </a:lnTo>
                  <a:lnTo>
                    <a:pt x="317880" y="51689"/>
                  </a:lnTo>
                  <a:lnTo>
                    <a:pt x="417194" y="42799"/>
                  </a:lnTo>
                  <a:lnTo>
                    <a:pt x="527938" y="36068"/>
                  </a:lnTo>
                  <a:lnTo>
                    <a:pt x="655574" y="29337"/>
                  </a:lnTo>
                  <a:lnTo>
                    <a:pt x="794765" y="22606"/>
                  </a:lnTo>
                  <a:lnTo>
                    <a:pt x="950849" y="18161"/>
                  </a:lnTo>
                  <a:lnTo>
                    <a:pt x="1121155" y="16002"/>
                  </a:lnTo>
                  <a:lnTo>
                    <a:pt x="1305560" y="13716"/>
                  </a:lnTo>
                  <a:lnTo>
                    <a:pt x="1504314" y="16002"/>
                  </a:lnTo>
                  <a:lnTo>
                    <a:pt x="1717166" y="20447"/>
                  </a:lnTo>
                  <a:lnTo>
                    <a:pt x="1947037" y="29337"/>
                  </a:lnTo>
                  <a:lnTo>
                    <a:pt x="2191130" y="40513"/>
                  </a:lnTo>
                  <a:lnTo>
                    <a:pt x="2449449" y="58420"/>
                  </a:lnTo>
                  <a:lnTo>
                    <a:pt x="2724657" y="78486"/>
                  </a:lnTo>
                  <a:lnTo>
                    <a:pt x="3017012" y="103124"/>
                  </a:lnTo>
                  <a:lnTo>
                    <a:pt x="3323590" y="132207"/>
                  </a:lnTo>
                  <a:lnTo>
                    <a:pt x="3647186" y="168021"/>
                  </a:lnTo>
                  <a:lnTo>
                    <a:pt x="3984879" y="208153"/>
                  </a:lnTo>
                  <a:lnTo>
                    <a:pt x="4339717" y="255143"/>
                  </a:lnTo>
                  <a:lnTo>
                    <a:pt x="4711445" y="311035"/>
                  </a:lnTo>
                  <a:lnTo>
                    <a:pt x="5100320" y="371398"/>
                  </a:lnTo>
                  <a:lnTo>
                    <a:pt x="5506212" y="438454"/>
                  </a:lnTo>
                  <a:lnTo>
                    <a:pt x="5929121" y="514464"/>
                  </a:lnTo>
                  <a:lnTo>
                    <a:pt x="6369049" y="597179"/>
                  </a:lnTo>
                  <a:lnTo>
                    <a:pt x="6825996" y="688835"/>
                  </a:lnTo>
                  <a:lnTo>
                    <a:pt x="7299959" y="789432"/>
                  </a:lnTo>
                </a:path>
                <a:path w="8129270" h="789939" extrusionOk="0">
                  <a:moveTo>
                    <a:pt x="3712464" y="652272"/>
                  </a:moveTo>
                  <a:lnTo>
                    <a:pt x="3840225" y="625462"/>
                  </a:lnTo>
                  <a:lnTo>
                    <a:pt x="4189348" y="556221"/>
                  </a:lnTo>
                  <a:lnTo>
                    <a:pt x="4430521" y="509308"/>
                  </a:lnTo>
                  <a:lnTo>
                    <a:pt x="4708779" y="457923"/>
                  </a:lnTo>
                  <a:lnTo>
                    <a:pt x="5018150" y="402082"/>
                  </a:lnTo>
                  <a:lnTo>
                    <a:pt x="5350256" y="341769"/>
                  </a:lnTo>
                  <a:lnTo>
                    <a:pt x="5702172" y="283692"/>
                  </a:lnTo>
                  <a:lnTo>
                    <a:pt x="6062598" y="225615"/>
                  </a:lnTo>
                  <a:lnTo>
                    <a:pt x="6431661" y="171958"/>
                  </a:lnTo>
                  <a:lnTo>
                    <a:pt x="6797802" y="120650"/>
                  </a:lnTo>
                  <a:lnTo>
                    <a:pt x="6979411" y="98298"/>
                  </a:lnTo>
                  <a:lnTo>
                    <a:pt x="7155434" y="75946"/>
                  </a:lnTo>
                  <a:lnTo>
                    <a:pt x="7331456" y="58039"/>
                  </a:lnTo>
                  <a:lnTo>
                    <a:pt x="7501763" y="40259"/>
                  </a:lnTo>
                  <a:lnTo>
                    <a:pt x="7669148" y="26797"/>
                  </a:lnTo>
                  <a:lnTo>
                    <a:pt x="7828152" y="15621"/>
                  </a:lnTo>
                  <a:lnTo>
                    <a:pt x="7981442" y="6731"/>
                  </a:lnTo>
                  <a:lnTo>
                    <a:pt x="8129015"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1"/>
            <p:cNvSpPr/>
            <p:nvPr/>
          </p:nvSpPr>
          <p:spPr>
            <a:xfrm>
              <a:off x="281940" y="5353811"/>
              <a:ext cx="11631295" cy="1332230"/>
            </a:xfrm>
            <a:custGeom>
              <a:avLst/>
              <a:gdLst/>
              <a:ahLst/>
              <a:cxnLst/>
              <a:rect l="l" t="t" r="r" b="b"/>
              <a:pathLst>
                <a:path w="11631295" h="1332229" extrusionOk="0">
                  <a:moveTo>
                    <a:pt x="2074799" y="0"/>
                  </a:moveTo>
                  <a:lnTo>
                    <a:pt x="1870456" y="0"/>
                  </a:lnTo>
                  <a:lnTo>
                    <a:pt x="1677416" y="4444"/>
                  </a:lnTo>
                  <a:lnTo>
                    <a:pt x="1495805" y="11175"/>
                  </a:lnTo>
                  <a:lnTo>
                    <a:pt x="1166495" y="33528"/>
                  </a:lnTo>
                  <a:lnTo>
                    <a:pt x="1016126" y="49149"/>
                  </a:lnTo>
                  <a:lnTo>
                    <a:pt x="879856" y="64769"/>
                  </a:lnTo>
                  <a:lnTo>
                    <a:pt x="752132" y="82676"/>
                  </a:lnTo>
                  <a:lnTo>
                    <a:pt x="638606" y="102743"/>
                  </a:lnTo>
                  <a:lnTo>
                    <a:pt x="530758" y="120650"/>
                  </a:lnTo>
                  <a:lnTo>
                    <a:pt x="437095" y="140843"/>
                  </a:lnTo>
                  <a:lnTo>
                    <a:pt x="275310" y="178815"/>
                  </a:lnTo>
                  <a:lnTo>
                    <a:pt x="210032" y="196722"/>
                  </a:lnTo>
                  <a:lnTo>
                    <a:pt x="68122" y="241363"/>
                  </a:lnTo>
                  <a:lnTo>
                    <a:pt x="0" y="268185"/>
                  </a:lnTo>
                  <a:lnTo>
                    <a:pt x="0" y="1331976"/>
                  </a:lnTo>
                  <a:lnTo>
                    <a:pt x="11625453" y="1331976"/>
                  </a:lnTo>
                  <a:lnTo>
                    <a:pt x="11631167" y="1325270"/>
                  </a:lnTo>
                  <a:lnTo>
                    <a:pt x="11631167" y="851484"/>
                  </a:lnTo>
                  <a:lnTo>
                    <a:pt x="9576308" y="851484"/>
                  </a:lnTo>
                  <a:lnTo>
                    <a:pt x="9391777" y="849249"/>
                  </a:lnTo>
                  <a:lnTo>
                    <a:pt x="9198737" y="844778"/>
                  </a:lnTo>
                  <a:lnTo>
                    <a:pt x="9000109" y="838072"/>
                  </a:lnTo>
                  <a:lnTo>
                    <a:pt x="8792971" y="826897"/>
                  </a:lnTo>
                  <a:lnTo>
                    <a:pt x="8347329" y="793369"/>
                  </a:lnTo>
                  <a:lnTo>
                    <a:pt x="7867650" y="746442"/>
                  </a:lnTo>
                  <a:lnTo>
                    <a:pt x="7612253" y="717384"/>
                  </a:lnTo>
                  <a:lnTo>
                    <a:pt x="7345426" y="683869"/>
                  </a:lnTo>
                  <a:lnTo>
                    <a:pt x="6482588" y="558711"/>
                  </a:lnTo>
                  <a:lnTo>
                    <a:pt x="5514721" y="395566"/>
                  </a:lnTo>
                  <a:lnTo>
                    <a:pt x="4819396" y="268185"/>
                  </a:lnTo>
                  <a:lnTo>
                    <a:pt x="4163695" y="165353"/>
                  </a:lnTo>
                  <a:lnTo>
                    <a:pt x="3857244" y="125094"/>
                  </a:lnTo>
                  <a:lnTo>
                    <a:pt x="3564890" y="91566"/>
                  </a:lnTo>
                  <a:lnTo>
                    <a:pt x="3283839" y="62610"/>
                  </a:lnTo>
                  <a:lnTo>
                    <a:pt x="3017012" y="40259"/>
                  </a:lnTo>
                  <a:lnTo>
                    <a:pt x="2764409" y="22351"/>
                  </a:lnTo>
                  <a:lnTo>
                    <a:pt x="2293366" y="2285"/>
                  </a:lnTo>
                  <a:lnTo>
                    <a:pt x="2074799" y="0"/>
                  </a:lnTo>
                  <a:close/>
                </a:path>
                <a:path w="11631295" h="1332229" extrusionOk="0">
                  <a:moveTo>
                    <a:pt x="11631167" y="569887"/>
                  </a:moveTo>
                  <a:lnTo>
                    <a:pt x="11517630" y="605650"/>
                  </a:lnTo>
                  <a:lnTo>
                    <a:pt x="11409807" y="636930"/>
                  </a:lnTo>
                  <a:lnTo>
                    <a:pt x="11296268" y="665988"/>
                  </a:lnTo>
                  <a:lnTo>
                    <a:pt x="11060684" y="719620"/>
                  </a:lnTo>
                  <a:lnTo>
                    <a:pt x="10935842" y="744207"/>
                  </a:lnTo>
                  <a:lnTo>
                    <a:pt x="10674731" y="784440"/>
                  </a:lnTo>
                  <a:lnTo>
                    <a:pt x="10535539" y="802309"/>
                  </a:lnTo>
                  <a:lnTo>
                    <a:pt x="10240391" y="829132"/>
                  </a:lnTo>
                  <a:lnTo>
                    <a:pt x="9922510" y="847013"/>
                  </a:lnTo>
                  <a:lnTo>
                    <a:pt x="9752203" y="851484"/>
                  </a:lnTo>
                  <a:lnTo>
                    <a:pt x="11631167" y="851484"/>
                  </a:lnTo>
                  <a:lnTo>
                    <a:pt x="11631167" y="56988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97" name="Google Shape;97;p1"/>
            <p:cNvPicPr preferRelativeResize="0"/>
            <p:nvPr/>
          </p:nvPicPr>
          <p:blipFill rotWithShape="1">
            <a:blip r:embed="rId4">
              <a:alphaModFix/>
            </a:blip>
            <a:srcRect/>
            <a:stretch/>
          </p:blipFill>
          <p:spPr>
            <a:xfrm>
              <a:off x="0" y="4654294"/>
              <a:ext cx="12192000" cy="2203705"/>
            </a:xfrm>
            <a:prstGeom prst="rect">
              <a:avLst/>
            </a:prstGeom>
            <a:noFill/>
            <a:ln>
              <a:noFill/>
            </a:ln>
          </p:spPr>
        </p:pic>
        <p:sp>
          <p:nvSpPr>
            <p:cNvPr id="98" name="Google Shape;98;p1"/>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99" name="Google Shape;99;p1"/>
            <p:cNvPicPr preferRelativeResize="0"/>
            <p:nvPr/>
          </p:nvPicPr>
          <p:blipFill rotWithShape="1">
            <a:blip r:embed="rId5">
              <a:alphaModFix/>
            </a:blip>
            <a:srcRect/>
            <a:stretch/>
          </p:blipFill>
          <p:spPr>
            <a:xfrm>
              <a:off x="9649968" y="0"/>
              <a:ext cx="2542031" cy="6858000"/>
            </a:xfrm>
            <a:prstGeom prst="rect">
              <a:avLst/>
            </a:prstGeom>
            <a:noFill/>
            <a:ln>
              <a:noFill/>
            </a:ln>
          </p:spPr>
        </p:pic>
        <p:sp>
          <p:nvSpPr>
            <p:cNvPr id="100" name="Google Shape;100;p1"/>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1" name="Google Shape;101;p1"/>
            <p:cNvPicPr preferRelativeResize="0"/>
            <p:nvPr/>
          </p:nvPicPr>
          <p:blipFill rotWithShape="1">
            <a:blip r:embed="rId4">
              <a:alphaModFix/>
            </a:blip>
            <a:srcRect/>
            <a:stretch/>
          </p:blipFill>
          <p:spPr>
            <a:xfrm>
              <a:off x="0" y="4654294"/>
              <a:ext cx="12192000" cy="2203705"/>
            </a:xfrm>
            <a:prstGeom prst="rect">
              <a:avLst/>
            </a:prstGeom>
            <a:noFill/>
            <a:ln>
              <a:noFill/>
            </a:ln>
          </p:spPr>
        </p:pic>
        <p:sp>
          <p:nvSpPr>
            <p:cNvPr id="102" name="Google Shape;102;p1"/>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3" name="Google Shape;103;p1"/>
            <p:cNvPicPr preferRelativeResize="0"/>
            <p:nvPr/>
          </p:nvPicPr>
          <p:blipFill rotWithShape="1">
            <a:blip r:embed="rId5">
              <a:alphaModFix/>
            </a:blip>
            <a:srcRect/>
            <a:stretch/>
          </p:blipFill>
          <p:spPr>
            <a:xfrm>
              <a:off x="9649968" y="0"/>
              <a:ext cx="2542031" cy="6858000"/>
            </a:xfrm>
            <a:prstGeom prst="rect">
              <a:avLst/>
            </a:prstGeom>
            <a:noFill/>
            <a:ln>
              <a:noFill/>
            </a:ln>
          </p:spPr>
        </p:pic>
        <p:sp>
          <p:nvSpPr>
            <p:cNvPr id="104" name="Google Shape;104;p1"/>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5" name="Google Shape;105;p1"/>
            <p:cNvPicPr preferRelativeResize="0"/>
            <p:nvPr/>
          </p:nvPicPr>
          <p:blipFill rotWithShape="1">
            <a:blip r:embed="rId4">
              <a:alphaModFix/>
            </a:blip>
            <a:srcRect/>
            <a:stretch/>
          </p:blipFill>
          <p:spPr>
            <a:xfrm>
              <a:off x="0" y="4654294"/>
              <a:ext cx="12192000" cy="2203705"/>
            </a:xfrm>
            <a:prstGeom prst="rect">
              <a:avLst/>
            </a:prstGeom>
            <a:noFill/>
            <a:ln>
              <a:noFill/>
            </a:ln>
          </p:spPr>
        </p:pic>
        <p:sp>
          <p:nvSpPr>
            <p:cNvPr id="106" name="Google Shape;106;p1"/>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7" name="Google Shape;107;p1"/>
            <p:cNvPicPr preferRelativeResize="0"/>
            <p:nvPr/>
          </p:nvPicPr>
          <p:blipFill rotWithShape="1">
            <a:blip r:embed="rId5">
              <a:alphaModFix/>
            </a:blip>
            <a:srcRect/>
            <a:stretch/>
          </p:blipFill>
          <p:spPr>
            <a:xfrm>
              <a:off x="9649968" y="0"/>
              <a:ext cx="2542031" cy="6858000"/>
            </a:xfrm>
            <a:prstGeom prst="rect">
              <a:avLst/>
            </a:prstGeom>
            <a:noFill/>
            <a:ln>
              <a:noFill/>
            </a:ln>
          </p:spPr>
        </p:pic>
        <p:sp>
          <p:nvSpPr>
            <p:cNvPr id="108" name="Google Shape;108;p1"/>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9" name="Google Shape;109;p1" descr="$PPTXTitle"/>
          <p:cNvSpPr txBox="1">
            <a:spLocks noGrp="1"/>
          </p:cNvSpPr>
          <p:nvPr>
            <p:ph type="title"/>
          </p:nvPr>
        </p:nvSpPr>
        <p:spPr>
          <a:xfrm>
            <a:off x="2431122" y="3352075"/>
            <a:ext cx="8984400" cy="69060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Big Data Analytics (Spring 2026) </a:t>
            </a:r>
            <a:endParaRPr/>
          </a:p>
        </p:txBody>
      </p:sp>
      <p:sp>
        <p:nvSpPr>
          <p:cNvPr id="110" name="Google Shape;110;p1"/>
          <p:cNvSpPr txBox="1"/>
          <p:nvPr/>
        </p:nvSpPr>
        <p:spPr>
          <a:xfrm>
            <a:off x="3429002" y="4721915"/>
            <a:ext cx="3650700" cy="690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400">
                <a:solidFill>
                  <a:srgbClr val="FFFFFF"/>
                </a:solidFill>
                <a:latin typeface="Arial"/>
                <a:ea typeface="Arial"/>
                <a:cs typeface="Arial"/>
                <a:sym typeface="Arial"/>
              </a:rPr>
              <a:t>II	Map Reduce</a:t>
            </a:r>
            <a:endParaRPr sz="44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p2"/>
          <p:cNvSpPr/>
          <p:nvPr/>
        </p:nvSpPr>
        <p:spPr>
          <a:xfrm>
            <a:off x="0" y="0"/>
            <a:ext cx="1219200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2" descr="$PPTXTitle"/>
          <p:cNvSpPr txBox="1">
            <a:spLocks noGrp="1"/>
          </p:cNvSpPr>
          <p:nvPr>
            <p:ph type="title"/>
          </p:nvPr>
        </p:nvSpPr>
        <p:spPr>
          <a:xfrm>
            <a:off x="838200" y="459863"/>
            <a:ext cx="10515600" cy="1004594"/>
          </a:xfrm>
          <a:prstGeom prst="rect">
            <a:avLst/>
          </a:prstGeom>
          <a:noFill/>
          <a:ln>
            <a:noFill/>
          </a:ln>
        </p:spPr>
        <p:txBody>
          <a:bodyPr spcFirstLastPara="1" wrap="square" lIns="91425" tIns="45700" rIns="91425" bIns="45700" anchor="ctr" anchorCtr="0">
            <a:normAutofit/>
          </a:bodyPr>
          <a:lstStyle/>
          <a:p>
            <a:pPr marL="2347595" lvl="0" indent="0" algn="ctr" rtl="0">
              <a:lnSpc>
                <a:spcPct val="90000"/>
              </a:lnSpc>
              <a:spcBef>
                <a:spcPts val="0"/>
              </a:spcBef>
              <a:spcAft>
                <a:spcPts val="0"/>
              </a:spcAft>
              <a:buClr>
                <a:srgbClr val="FFFFFF"/>
              </a:buClr>
              <a:buSzPts val="4400"/>
              <a:buFont typeface="Play"/>
              <a:buNone/>
            </a:pPr>
            <a:r>
              <a:rPr lang="en-US">
                <a:solidFill>
                  <a:srgbClr val="FFFFFF"/>
                </a:solidFill>
                <a:latin typeface="Play"/>
                <a:ea typeface="Play"/>
                <a:cs typeface="Play"/>
                <a:sym typeface="Play"/>
              </a:rPr>
              <a:t>Overview</a:t>
            </a:r>
            <a:endParaRPr/>
          </a:p>
        </p:txBody>
      </p:sp>
      <p:sp>
        <p:nvSpPr>
          <p:cNvPr id="117" name="Google Shape;117;p2"/>
          <p:cNvSpPr/>
          <p:nvPr/>
        </p:nvSpPr>
        <p:spPr>
          <a:xfrm>
            <a:off x="579496" y="1587970"/>
            <a:ext cx="11033008" cy="4768380"/>
          </a:xfrm>
          <a:prstGeom prst="roundRect">
            <a:avLst>
              <a:gd name="adj" fmla="val 3174"/>
            </a:avLst>
          </a:prstGeom>
          <a:solidFill>
            <a:schemeClr val="lt1">
              <a:alpha val="9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8" name="Google Shape;118;p2"/>
          <p:cNvGrpSpPr/>
          <p:nvPr/>
        </p:nvGrpSpPr>
        <p:grpSpPr>
          <a:xfrm>
            <a:off x="1256171" y="2788108"/>
            <a:ext cx="9679657" cy="2376943"/>
            <a:chOff x="417971" y="987197"/>
            <a:chExt cx="9679657" cy="2376943"/>
          </a:xfrm>
        </p:grpSpPr>
        <p:sp>
          <p:nvSpPr>
            <p:cNvPr id="119" name="Google Shape;119;p2"/>
            <p:cNvSpPr/>
            <p:nvPr/>
          </p:nvSpPr>
          <p:spPr>
            <a:xfrm>
              <a:off x="1212569" y="987197"/>
              <a:ext cx="1300252" cy="13002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417971" y="2644140"/>
              <a:ext cx="28894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txBox="1"/>
            <p:nvPr/>
          </p:nvSpPr>
          <p:spPr>
            <a:xfrm>
              <a:off x="417971" y="2644140"/>
              <a:ext cx="28894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 Review: MapReduce</a:t>
              </a:r>
              <a:endParaRPr/>
            </a:p>
          </p:txBody>
        </p:sp>
        <p:sp>
          <p:nvSpPr>
            <p:cNvPr id="122" name="Google Shape;122;p2"/>
            <p:cNvSpPr/>
            <p:nvPr/>
          </p:nvSpPr>
          <p:spPr>
            <a:xfrm>
              <a:off x="4607673" y="987197"/>
              <a:ext cx="1300252" cy="13002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813074" y="2644140"/>
              <a:ext cx="28894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txBox="1"/>
            <p:nvPr/>
          </p:nvSpPr>
          <p:spPr>
            <a:xfrm>
              <a:off x="3813074" y="2644140"/>
              <a:ext cx="28894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 Introduction to Design Pattern</a:t>
              </a:r>
              <a:endParaRPr/>
            </a:p>
          </p:txBody>
        </p:sp>
        <p:sp>
          <p:nvSpPr>
            <p:cNvPr id="125" name="Google Shape;125;p2"/>
            <p:cNvSpPr/>
            <p:nvPr/>
          </p:nvSpPr>
          <p:spPr>
            <a:xfrm>
              <a:off x="8002777" y="987197"/>
              <a:ext cx="1300252" cy="13002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7208178" y="2644140"/>
              <a:ext cx="28894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txBox="1"/>
            <p:nvPr/>
          </p:nvSpPr>
          <p:spPr>
            <a:xfrm>
              <a:off x="7208178" y="2644140"/>
              <a:ext cx="288945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 MapReduce Design Pattern</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
        <p:cNvGrpSpPr/>
        <p:nvPr/>
      </p:nvGrpSpPr>
      <p:grpSpPr>
        <a:xfrm>
          <a:off x="0" y="0"/>
          <a:ext cx="0" cy="0"/>
          <a:chOff x="0" y="0"/>
          <a:chExt cx="0" cy="0"/>
        </a:xfrm>
      </p:grpSpPr>
      <p:sp>
        <p:nvSpPr>
          <p:cNvPr id="132" name="Google Shape;132;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3" descr="$PPTXTitle"/>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2053589" lvl="0" indent="0" algn="l" rtl="0">
              <a:lnSpc>
                <a:spcPct val="90000"/>
              </a:lnSpc>
              <a:spcBef>
                <a:spcPts val="0"/>
              </a:spcBef>
              <a:spcAft>
                <a:spcPts val="0"/>
              </a:spcAft>
              <a:buClr>
                <a:schemeClr val="dk1"/>
              </a:buClr>
              <a:buSzPts val="4400"/>
              <a:buFont typeface="Play"/>
              <a:buNone/>
            </a:pPr>
            <a:r>
              <a:rPr lang="en-US"/>
              <a:t>MapReduce</a:t>
            </a:r>
            <a:endParaRPr/>
          </a:p>
        </p:txBody>
      </p:sp>
      <p:pic>
        <p:nvPicPr>
          <p:cNvPr id="134" name="Google Shape;134;p3"/>
          <p:cNvPicPr preferRelativeResize="0"/>
          <p:nvPr/>
        </p:nvPicPr>
        <p:blipFill rotWithShape="1">
          <a:blip r:embed="rId3">
            <a:alphaModFix/>
          </a:blip>
          <a:srcRect l="74" r="33174" b="-2"/>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135" name="Google Shape;135;p3"/>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3"/>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37" name="Google Shape;137;p3"/>
          <p:cNvGrpSpPr/>
          <p:nvPr/>
        </p:nvGrpSpPr>
        <p:grpSpPr>
          <a:xfrm>
            <a:off x="846800" y="2628205"/>
            <a:ext cx="6840798" cy="2827266"/>
            <a:chOff x="8600" y="802581"/>
            <a:chExt cx="6840798" cy="2827266"/>
          </a:xfrm>
        </p:grpSpPr>
        <p:sp>
          <p:nvSpPr>
            <p:cNvPr id="138" name="Google Shape;138;p3"/>
            <p:cNvSpPr/>
            <p:nvPr/>
          </p:nvSpPr>
          <p:spPr>
            <a:xfrm>
              <a:off x="1983910" y="1349994"/>
              <a:ext cx="424135" cy="91440"/>
            </a:xfrm>
            <a:custGeom>
              <a:avLst/>
              <a:gdLst/>
              <a:ahLst/>
              <a:cxnLst/>
              <a:rect l="l" t="t" r="r" b="b"/>
              <a:pathLst>
                <a:path w="120000" h="120000" extrusionOk="0">
                  <a:moveTo>
                    <a:pt x="0" y="60000"/>
                  </a:moveTo>
                  <a:lnTo>
                    <a:pt x="120000" y="60000"/>
                  </a:lnTo>
                </a:path>
              </a:pathLst>
            </a:custGeom>
            <a:noFill/>
            <a:ln w="12700" cap="flat" cmpd="sng">
              <a:solidFill>
                <a:srgbClr val="E97131"/>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txBox="1"/>
            <p:nvPr/>
          </p:nvSpPr>
          <p:spPr>
            <a:xfrm>
              <a:off x="2184609" y="1393438"/>
              <a:ext cx="22736" cy="4551"/>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40" name="Google Shape;140;p3"/>
            <p:cNvSpPr/>
            <p:nvPr/>
          </p:nvSpPr>
          <p:spPr>
            <a:xfrm>
              <a:off x="8600" y="802581"/>
              <a:ext cx="1977109" cy="1186265"/>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txBox="1"/>
            <p:nvPr/>
          </p:nvSpPr>
          <p:spPr>
            <a:xfrm>
              <a:off x="8600" y="802581"/>
              <a:ext cx="1977109" cy="1186265"/>
            </a:xfrm>
            <a:prstGeom prst="rect">
              <a:avLst/>
            </a:prstGeom>
            <a:noFill/>
            <a:ln>
              <a:noFill/>
            </a:ln>
          </p:spPr>
          <p:txBody>
            <a:bodyPr spcFirstLastPara="1" wrap="square" lIns="96875" tIns="101675" rIns="96875" bIns="1016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Simplifies large-scale computations that fit this model</a:t>
              </a:r>
              <a:endParaRPr/>
            </a:p>
          </p:txBody>
        </p:sp>
        <p:sp>
          <p:nvSpPr>
            <p:cNvPr id="142" name="Google Shape;142;p3"/>
            <p:cNvSpPr/>
            <p:nvPr/>
          </p:nvSpPr>
          <p:spPr>
            <a:xfrm>
              <a:off x="4415754" y="1349994"/>
              <a:ext cx="424135" cy="91440"/>
            </a:xfrm>
            <a:custGeom>
              <a:avLst/>
              <a:gdLst/>
              <a:ahLst/>
              <a:cxnLst/>
              <a:rect l="l" t="t" r="r" b="b"/>
              <a:pathLst>
                <a:path w="120000" h="120000" extrusionOk="0">
                  <a:moveTo>
                    <a:pt x="0" y="60000"/>
                  </a:moveTo>
                  <a:lnTo>
                    <a:pt x="120000" y="60000"/>
                  </a:lnTo>
                </a:path>
              </a:pathLst>
            </a:custGeom>
            <a:noFill/>
            <a:ln w="12700" cap="flat" cmpd="sng">
              <a:solidFill>
                <a:srgbClr val="C8BE1E"/>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txBox="1"/>
            <p:nvPr/>
          </p:nvSpPr>
          <p:spPr>
            <a:xfrm>
              <a:off x="4616453" y="1393438"/>
              <a:ext cx="22736" cy="4551"/>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44" name="Google Shape;144;p3"/>
            <p:cNvSpPr/>
            <p:nvPr/>
          </p:nvSpPr>
          <p:spPr>
            <a:xfrm>
              <a:off x="2440445" y="802581"/>
              <a:ext cx="1977109" cy="1186265"/>
            </a:xfrm>
            <a:prstGeom prst="rect">
              <a:avLst/>
            </a:prstGeom>
            <a:gradFill>
              <a:gsLst>
                <a:gs pos="0">
                  <a:srgbClr val="DDB84A"/>
                </a:gs>
                <a:gs pos="50000">
                  <a:srgbClr val="DEB312"/>
                </a:gs>
                <a:gs pos="100000">
                  <a:srgbClr val="CBA20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txBox="1"/>
            <p:nvPr/>
          </p:nvSpPr>
          <p:spPr>
            <a:xfrm>
              <a:off x="2440445" y="802581"/>
              <a:ext cx="1977109" cy="1186265"/>
            </a:xfrm>
            <a:prstGeom prst="rect">
              <a:avLst/>
            </a:prstGeom>
            <a:noFill/>
            <a:ln>
              <a:noFill/>
            </a:ln>
          </p:spPr>
          <p:txBody>
            <a:bodyPr spcFirstLastPara="1" wrap="square" lIns="96875" tIns="101675" rIns="96875" bIns="1016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Allows user to focus on the problem without worrying about details</a:t>
              </a:r>
              <a:endParaRPr/>
            </a:p>
          </p:txBody>
        </p:sp>
        <p:sp>
          <p:nvSpPr>
            <p:cNvPr id="146" name="Google Shape;146;p3"/>
            <p:cNvSpPr/>
            <p:nvPr/>
          </p:nvSpPr>
          <p:spPr>
            <a:xfrm>
              <a:off x="997155" y="1987046"/>
              <a:ext cx="4863688" cy="424135"/>
            </a:xfrm>
            <a:custGeom>
              <a:avLst/>
              <a:gdLst/>
              <a:ahLst/>
              <a:cxnLst/>
              <a:rect l="l" t="t" r="r" b="b"/>
              <a:pathLst>
                <a:path w="120000" h="120000" extrusionOk="0">
                  <a:moveTo>
                    <a:pt x="120000" y="0"/>
                  </a:moveTo>
                  <a:lnTo>
                    <a:pt x="120000" y="64838"/>
                  </a:lnTo>
                  <a:lnTo>
                    <a:pt x="0" y="64838"/>
                  </a:lnTo>
                  <a:lnTo>
                    <a:pt x="0" y="120000"/>
                  </a:lnTo>
                </a:path>
              </a:pathLst>
            </a:custGeom>
            <a:noFill/>
            <a:ln w="12700" cap="flat" cmpd="sng">
              <a:solidFill>
                <a:srgbClr val="55971D"/>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txBox="1"/>
            <p:nvPr/>
          </p:nvSpPr>
          <p:spPr>
            <a:xfrm>
              <a:off x="3306877" y="2196838"/>
              <a:ext cx="244245" cy="4551"/>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48" name="Google Shape;148;p3"/>
            <p:cNvSpPr/>
            <p:nvPr/>
          </p:nvSpPr>
          <p:spPr>
            <a:xfrm>
              <a:off x="4872289" y="802581"/>
              <a:ext cx="1977109" cy="1186265"/>
            </a:xfrm>
            <a:prstGeom prst="rect">
              <a:avLst/>
            </a:prstGeom>
            <a:gradFill>
              <a:gsLst>
                <a:gs pos="0">
                  <a:srgbClr val="99BA4A"/>
                </a:gs>
                <a:gs pos="50000">
                  <a:srgbClr val="8FB614"/>
                </a:gs>
                <a:gs pos="100000">
                  <a:srgbClr val="81A70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txBox="1"/>
            <p:nvPr/>
          </p:nvSpPr>
          <p:spPr>
            <a:xfrm>
              <a:off x="4872289" y="802581"/>
              <a:ext cx="1977109" cy="1186265"/>
            </a:xfrm>
            <a:prstGeom prst="rect">
              <a:avLst/>
            </a:prstGeom>
            <a:noFill/>
            <a:ln>
              <a:noFill/>
            </a:ln>
          </p:spPr>
          <p:txBody>
            <a:bodyPr spcFirstLastPara="1" wrap="square" lIns="96875" tIns="101675" rIns="96875" bIns="101675"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Computer architecture not very important</a:t>
              </a:r>
              <a:endParaRPr/>
            </a:p>
            <a:p>
              <a:pPr marL="114300" marR="0" lvl="1" indent="-114300" algn="l" rtl="0">
                <a:lnSpc>
                  <a:spcPct val="100000"/>
                </a:lnSpc>
                <a:spcBef>
                  <a:spcPts val="49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Portable model</a:t>
              </a:r>
              <a:endParaRPr/>
            </a:p>
          </p:txBody>
        </p:sp>
        <p:sp>
          <p:nvSpPr>
            <p:cNvPr id="150" name="Google Shape;150;p3"/>
            <p:cNvSpPr/>
            <p:nvPr/>
          </p:nvSpPr>
          <p:spPr>
            <a:xfrm>
              <a:off x="1983910" y="2990994"/>
              <a:ext cx="424135" cy="91440"/>
            </a:xfrm>
            <a:custGeom>
              <a:avLst/>
              <a:gdLst/>
              <a:ahLst/>
              <a:cxnLst/>
              <a:rect l="l" t="t" r="r" b="b"/>
              <a:pathLst>
                <a:path w="120000" h="120000" extrusionOk="0">
                  <a:moveTo>
                    <a:pt x="0" y="60000"/>
                  </a:moveTo>
                  <a:lnTo>
                    <a:pt x="120000" y="60000"/>
                  </a:lnTo>
                </a:path>
              </a:pathLst>
            </a:custGeom>
            <a:noFill/>
            <a:ln w="12700" cap="flat" cmpd="sng">
              <a:solidFill>
                <a:srgbClr val="18692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txBox="1"/>
            <p:nvPr/>
          </p:nvSpPr>
          <p:spPr>
            <a:xfrm>
              <a:off x="2184609" y="3034438"/>
              <a:ext cx="22736" cy="4551"/>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a:solidFill>
                  <a:schemeClr val="dk1"/>
                </a:solidFill>
                <a:latin typeface="Arial"/>
                <a:ea typeface="Arial"/>
                <a:cs typeface="Arial"/>
                <a:sym typeface="Arial"/>
              </a:endParaRPr>
            </a:p>
          </p:txBody>
        </p:sp>
        <p:sp>
          <p:nvSpPr>
            <p:cNvPr id="152" name="Google Shape;152;p3"/>
            <p:cNvSpPr/>
            <p:nvPr/>
          </p:nvSpPr>
          <p:spPr>
            <a:xfrm>
              <a:off x="8600" y="2443582"/>
              <a:ext cx="1977109" cy="1186265"/>
            </a:xfrm>
            <a:prstGeom prst="rect">
              <a:avLst/>
            </a:prstGeom>
            <a:gradFill>
              <a:gsLst>
                <a:gs pos="0">
                  <a:srgbClr val="5A984A"/>
                </a:gs>
                <a:gs pos="50000">
                  <a:srgbClr val="3A9014"/>
                </a:gs>
                <a:gs pos="100000">
                  <a:srgbClr val="32840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txBox="1"/>
            <p:nvPr/>
          </p:nvSpPr>
          <p:spPr>
            <a:xfrm>
              <a:off x="8600" y="2443582"/>
              <a:ext cx="1977109" cy="1186265"/>
            </a:xfrm>
            <a:prstGeom prst="rect">
              <a:avLst/>
            </a:prstGeom>
            <a:noFill/>
            <a:ln>
              <a:noFill/>
            </a:ln>
          </p:spPr>
          <p:txBody>
            <a:bodyPr spcFirstLastPara="1" wrap="square" lIns="96875" tIns="101675" rIns="96875" bIns="1016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Fault tolerant, reliable, and supports thousands of nodes and petabytes of data</a:t>
              </a:r>
              <a:endParaRPr/>
            </a:p>
          </p:txBody>
        </p:sp>
        <p:sp>
          <p:nvSpPr>
            <p:cNvPr id="154" name="Google Shape;154;p3"/>
            <p:cNvSpPr/>
            <p:nvPr/>
          </p:nvSpPr>
          <p:spPr>
            <a:xfrm>
              <a:off x="2440445" y="2443582"/>
              <a:ext cx="1977109" cy="1186265"/>
            </a:xfrm>
            <a:prstGeom prst="rect">
              <a:avLst/>
            </a:prstGeom>
            <a:gradFill>
              <a:gsLst>
                <a:gs pos="0">
                  <a:srgbClr val="497B4D"/>
                </a:gs>
                <a:gs pos="50000">
                  <a:srgbClr val="126D20"/>
                </a:gs>
                <a:gs pos="100000">
                  <a:srgbClr val="0C6319"/>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txBox="1"/>
            <p:nvPr/>
          </p:nvSpPr>
          <p:spPr>
            <a:xfrm>
              <a:off x="2440445" y="2443582"/>
              <a:ext cx="1977109" cy="1186265"/>
            </a:xfrm>
            <a:prstGeom prst="rect">
              <a:avLst/>
            </a:prstGeom>
            <a:noFill/>
            <a:ln>
              <a:noFill/>
            </a:ln>
          </p:spPr>
          <p:txBody>
            <a:bodyPr spcFirstLastPara="1" wrap="square" lIns="96875" tIns="101675" rIns="96875" bIns="1016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If you can rewrite algorithms into Maps and Reduces, and your problem can be broken up into small pieces solvable in parallel, then Hadoop’s MapReduce is the way to go for a distributed problem solving approach to large datasets</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0" name="Google Shape;160;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4" descr="$PPTXTitle"/>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400"/>
              <a:buFont typeface="Play"/>
              <a:buNone/>
            </a:pPr>
            <a:r>
              <a:rPr lang="en-US"/>
              <a:t>MapReduce Design Pattern</a:t>
            </a:r>
            <a:endParaRPr/>
          </a:p>
        </p:txBody>
      </p:sp>
      <p:sp>
        <p:nvSpPr>
          <p:cNvPr id="162" name="Google Shape;162;p4"/>
          <p:cNvSpPr txBox="1"/>
          <p:nvPr/>
        </p:nvSpPr>
        <p:spPr>
          <a:xfrm>
            <a:off x="838200" y="1825625"/>
            <a:ext cx="5393361" cy="4351338"/>
          </a:xfrm>
          <a:prstGeom prst="rect">
            <a:avLst/>
          </a:prstGeom>
          <a:noFill/>
          <a:ln>
            <a:noFill/>
          </a:ln>
        </p:spPr>
        <p:txBody>
          <a:bodyPr spcFirstLastPara="1" wrap="square" lIns="91425" tIns="45700" rIns="91425" bIns="45700" anchor="t" anchorCtr="0">
            <a:normAutofit/>
          </a:bodyPr>
          <a:lstStyle/>
          <a:p>
            <a:pPr marL="12700" marR="0" lvl="0" indent="-127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Provide a general framework for solving your data computation issues, without being specific to the problem domain</a:t>
            </a:r>
            <a:endParaRPr sz="1700">
              <a:solidFill>
                <a:schemeClr val="dk1"/>
              </a:solidFill>
              <a:latin typeface="Arial"/>
              <a:ea typeface="Arial"/>
              <a:cs typeface="Arial"/>
              <a:sym typeface="Arial"/>
            </a:endParaRPr>
          </a:p>
          <a:p>
            <a:pPr marL="12700" marR="0" lvl="0" indent="-12700" algn="l" rtl="0">
              <a:lnSpc>
                <a:spcPct val="90000"/>
              </a:lnSpc>
              <a:spcBef>
                <a:spcPts val="120"/>
              </a:spcBef>
              <a:spcAft>
                <a:spcPts val="0"/>
              </a:spcAft>
              <a:buClr>
                <a:schemeClr val="dk1"/>
              </a:buClr>
              <a:buSzPts val="1700"/>
              <a:buFont typeface="Arial"/>
              <a:buChar char="•"/>
            </a:pPr>
            <a:r>
              <a:rPr lang="en-US" sz="1700">
                <a:solidFill>
                  <a:schemeClr val="dk1"/>
                </a:solidFill>
                <a:latin typeface="Arial"/>
                <a:ea typeface="Arial"/>
                <a:cs typeface="Arial"/>
                <a:sym typeface="Arial"/>
              </a:rPr>
              <a:t>∗	Summarization</a:t>
            </a:r>
            <a:endParaRPr sz="1700">
              <a:solidFill>
                <a:schemeClr val="dk1"/>
              </a:solidFill>
              <a:latin typeface="Arial"/>
              <a:ea typeface="Arial"/>
              <a:cs typeface="Arial"/>
              <a:sym typeface="Arial"/>
            </a:endParaRPr>
          </a:p>
          <a:p>
            <a:pPr marL="314325" marR="0" lvl="0" indent="-228600" algn="l" rtl="0">
              <a:lnSpc>
                <a:spcPct val="90000"/>
              </a:lnSpc>
              <a:spcBef>
                <a:spcPts val="150"/>
              </a:spcBef>
              <a:spcAft>
                <a:spcPts val="0"/>
              </a:spcAft>
              <a:buClr>
                <a:schemeClr val="dk1"/>
              </a:buClr>
              <a:buSzPts val="1700"/>
              <a:buFont typeface="Arial"/>
              <a:buChar char="•"/>
            </a:pPr>
            <a:r>
              <a:rPr lang="en-US" sz="1700">
                <a:solidFill>
                  <a:schemeClr val="dk1"/>
                </a:solidFill>
                <a:latin typeface="Arial"/>
                <a:ea typeface="Arial"/>
                <a:cs typeface="Arial"/>
                <a:sym typeface="Arial"/>
              </a:rPr>
              <a:t>∗	Numerical Summarizations</a:t>
            </a:r>
            <a:endParaRPr sz="1700">
              <a:solidFill>
                <a:schemeClr val="dk1"/>
              </a:solidFill>
              <a:latin typeface="Arial"/>
              <a:ea typeface="Arial"/>
              <a:cs typeface="Arial"/>
              <a:sym typeface="Arial"/>
            </a:endParaRPr>
          </a:p>
          <a:p>
            <a:pPr marL="314325" marR="0" lvl="0" indent="-228600" algn="l" rtl="0">
              <a:lnSpc>
                <a:spcPct val="90000"/>
              </a:lnSpc>
              <a:spcBef>
                <a:spcPts val="145"/>
              </a:spcBef>
              <a:spcAft>
                <a:spcPts val="0"/>
              </a:spcAft>
              <a:buClr>
                <a:schemeClr val="dk1"/>
              </a:buClr>
              <a:buSzPts val="1700"/>
              <a:buFont typeface="Arial"/>
              <a:buChar char="•"/>
            </a:pPr>
            <a:r>
              <a:rPr lang="en-US" sz="1700">
                <a:solidFill>
                  <a:schemeClr val="dk1"/>
                </a:solidFill>
                <a:latin typeface="Arial"/>
                <a:ea typeface="Arial"/>
                <a:cs typeface="Arial"/>
                <a:sym typeface="Arial"/>
              </a:rPr>
              <a:t>∗	Counting with Counters</a:t>
            </a:r>
            <a:endParaRPr sz="1700">
              <a:solidFill>
                <a:schemeClr val="dk1"/>
              </a:solidFill>
              <a:latin typeface="Arial"/>
              <a:ea typeface="Arial"/>
              <a:cs typeface="Arial"/>
              <a:sym typeface="Arial"/>
            </a:endParaRPr>
          </a:p>
          <a:p>
            <a:pPr marL="12700" marR="0" lvl="0" indent="-12700" algn="l" rtl="0">
              <a:lnSpc>
                <a:spcPct val="90000"/>
              </a:lnSpc>
              <a:spcBef>
                <a:spcPts val="114"/>
              </a:spcBef>
              <a:spcAft>
                <a:spcPts val="0"/>
              </a:spcAft>
              <a:buClr>
                <a:schemeClr val="dk1"/>
              </a:buClr>
              <a:buSzPts val="1700"/>
              <a:buFont typeface="Arial"/>
              <a:buChar char="•"/>
            </a:pPr>
            <a:r>
              <a:rPr lang="en-US" sz="1700">
                <a:solidFill>
                  <a:schemeClr val="dk1"/>
                </a:solidFill>
                <a:latin typeface="Arial"/>
                <a:ea typeface="Arial"/>
                <a:cs typeface="Arial"/>
                <a:sym typeface="Arial"/>
              </a:rPr>
              <a:t>∗	Filtering</a:t>
            </a:r>
            <a:endParaRPr sz="1700">
              <a:solidFill>
                <a:schemeClr val="dk1"/>
              </a:solidFill>
              <a:latin typeface="Arial"/>
              <a:ea typeface="Arial"/>
              <a:cs typeface="Arial"/>
              <a:sym typeface="Arial"/>
            </a:endParaRPr>
          </a:p>
          <a:p>
            <a:pPr marL="314325" marR="0" lvl="0" indent="-228600" algn="l" rtl="0">
              <a:lnSpc>
                <a:spcPct val="90000"/>
              </a:lnSpc>
              <a:spcBef>
                <a:spcPts val="150"/>
              </a:spcBef>
              <a:spcAft>
                <a:spcPts val="0"/>
              </a:spcAft>
              <a:buClr>
                <a:schemeClr val="dk1"/>
              </a:buClr>
              <a:buSzPts val="1700"/>
              <a:buFont typeface="Arial"/>
              <a:buChar char="•"/>
            </a:pPr>
            <a:r>
              <a:rPr lang="en-US" sz="1700">
                <a:solidFill>
                  <a:schemeClr val="dk1"/>
                </a:solidFill>
                <a:latin typeface="Arial"/>
                <a:ea typeface="Arial"/>
                <a:cs typeface="Arial"/>
                <a:sym typeface="Arial"/>
              </a:rPr>
              <a:t>∗	Filtering</a:t>
            </a:r>
            <a:endParaRPr sz="1700">
              <a:solidFill>
                <a:schemeClr val="dk1"/>
              </a:solidFill>
              <a:latin typeface="Arial"/>
              <a:ea typeface="Arial"/>
              <a:cs typeface="Arial"/>
              <a:sym typeface="Arial"/>
            </a:endParaRPr>
          </a:p>
          <a:p>
            <a:pPr marL="314325" marR="0" lvl="0" indent="-228600" algn="l" rtl="0">
              <a:lnSpc>
                <a:spcPct val="90000"/>
              </a:lnSpc>
              <a:spcBef>
                <a:spcPts val="145"/>
              </a:spcBef>
              <a:spcAft>
                <a:spcPts val="0"/>
              </a:spcAft>
              <a:buClr>
                <a:schemeClr val="dk1"/>
              </a:buClr>
              <a:buSzPts val="1700"/>
              <a:buFont typeface="Arial"/>
              <a:buChar char="•"/>
            </a:pPr>
            <a:r>
              <a:rPr lang="en-US" sz="1700">
                <a:solidFill>
                  <a:schemeClr val="dk1"/>
                </a:solidFill>
                <a:latin typeface="Arial"/>
                <a:ea typeface="Arial"/>
                <a:cs typeface="Arial"/>
                <a:sym typeface="Arial"/>
              </a:rPr>
              <a:t>∗	Top Ten</a:t>
            </a:r>
            <a:endParaRPr sz="1700">
              <a:solidFill>
                <a:schemeClr val="dk1"/>
              </a:solidFill>
              <a:latin typeface="Arial"/>
              <a:ea typeface="Arial"/>
              <a:cs typeface="Arial"/>
              <a:sym typeface="Arial"/>
            </a:endParaRPr>
          </a:p>
          <a:p>
            <a:pPr marL="314325" marR="0" lvl="0" indent="-228600" algn="l" rtl="0">
              <a:lnSpc>
                <a:spcPct val="90000"/>
              </a:lnSpc>
              <a:spcBef>
                <a:spcPts val="145"/>
              </a:spcBef>
              <a:spcAft>
                <a:spcPts val="0"/>
              </a:spcAft>
              <a:buClr>
                <a:schemeClr val="dk1"/>
              </a:buClr>
              <a:buSzPts val="1700"/>
              <a:buFont typeface="Arial"/>
              <a:buChar char="•"/>
            </a:pPr>
            <a:r>
              <a:rPr lang="en-US" sz="1700">
                <a:solidFill>
                  <a:schemeClr val="dk1"/>
                </a:solidFill>
                <a:latin typeface="Arial"/>
                <a:ea typeface="Arial"/>
                <a:cs typeface="Arial"/>
                <a:sym typeface="Arial"/>
              </a:rPr>
              <a:t>∗	Distinct</a:t>
            </a:r>
            <a:endParaRPr sz="1700">
              <a:solidFill>
                <a:schemeClr val="dk1"/>
              </a:solidFill>
              <a:latin typeface="Arial"/>
              <a:ea typeface="Arial"/>
              <a:cs typeface="Arial"/>
              <a:sym typeface="Arial"/>
            </a:endParaRPr>
          </a:p>
          <a:p>
            <a:pPr marL="12700" marR="0" lvl="0" indent="-12700" algn="l" rtl="0">
              <a:lnSpc>
                <a:spcPct val="90000"/>
              </a:lnSpc>
              <a:spcBef>
                <a:spcPts val="110"/>
              </a:spcBef>
              <a:spcAft>
                <a:spcPts val="0"/>
              </a:spcAft>
              <a:buClr>
                <a:schemeClr val="dk1"/>
              </a:buClr>
              <a:buSzPts val="1700"/>
              <a:buFont typeface="Arial"/>
              <a:buChar char="•"/>
            </a:pPr>
            <a:r>
              <a:rPr lang="en-US" sz="1700">
                <a:solidFill>
                  <a:schemeClr val="dk1"/>
                </a:solidFill>
                <a:latin typeface="Arial"/>
                <a:ea typeface="Arial"/>
                <a:cs typeface="Arial"/>
                <a:sym typeface="Arial"/>
              </a:rPr>
              <a:t>∗	Data Organization</a:t>
            </a:r>
            <a:endParaRPr sz="1700">
              <a:solidFill>
                <a:schemeClr val="dk1"/>
              </a:solidFill>
              <a:latin typeface="Arial"/>
              <a:ea typeface="Arial"/>
              <a:cs typeface="Arial"/>
              <a:sym typeface="Arial"/>
            </a:endParaRPr>
          </a:p>
          <a:p>
            <a:pPr marL="314325" marR="0" lvl="0" indent="-228600" algn="l" rtl="0">
              <a:lnSpc>
                <a:spcPct val="90000"/>
              </a:lnSpc>
              <a:spcBef>
                <a:spcPts val="140"/>
              </a:spcBef>
              <a:spcAft>
                <a:spcPts val="0"/>
              </a:spcAft>
              <a:buClr>
                <a:schemeClr val="dk1"/>
              </a:buClr>
              <a:buSzPts val="1700"/>
              <a:buFont typeface="Arial"/>
              <a:buChar char="•"/>
            </a:pPr>
            <a:r>
              <a:rPr lang="en-US" sz="1700">
                <a:solidFill>
                  <a:schemeClr val="dk1"/>
                </a:solidFill>
                <a:latin typeface="Arial"/>
                <a:ea typeface="Arial"/>
                <a:cs typeface="Arial"/>
                <a:sym typeface="Arial"/>
              </a:rPr>
              <a:t>∗	Structured to Hierarchy</a:t>
            </a:r>
            <a:endParaRPr sz="1700">
              <a:solidFill>
                <a:schemeClr val="dk1"/>
              </a:solidFill>
              <a:latin typeface="Arial"/>
              <a:ea typeface="Arial"/>
              <a:cs typeface="Arial"/>
              <a:sym typeface="Arial"/>
            </a:endParaRPr>
          </a:p>
          <a:p>
            <a:pPr marL="314325" marR="0" lvl="0" indent="-228600" algn="l" rtl="0">
              <a:lnSpc>
                <a:spcPct val="90000"/>
              </a:lnSpc>
              <a:spcBef>
                <a:spcPts val="130"/>
              </a:spcBef>
              <a:spcAft>
                <a:spcPts val="0"/>
              </a:spcAft>
              <a:buClr>
                <a:schemeClr val="dk1"/>
              </a:buClr>
              <a:buSzPts val="1700"/>
              <a:buFont typeface="Arial"/>
              <a:buChar char="•"/>
            </a:pPr>
            <a:r>
              <a:rPr lang="en-US" sz="1700">
                <a:solidFill>
                  <a:schemeClr val="dk1"/>
                </a:solidFill>
                <a:latin typeface="Arial"/>
                <a:ea typeface="Arial"/>
                <a:cs typeface="Arial"/>
                <a:sym typeface="Arial"/>
              </a:rPr>
              <a:t>∗	Partition</a:t>
            </a:r>
            <a:endParaRPr sz="1700">
              <a:solidFill>
                <a:schemeClr val="dk1"/>
              </a:solidFill>
              <a:latin typeface="Arial"/>
              <a:ea typeface="Arial"/>
              <a:cs typeface="Arial"/>
              <a:sym typeface="Arial"/>
            </a:endParaRPr>
          </a:p>
          <a:p>
            <a:pPr marL="314325" marR="0" lvl="0" indent="-228600" algn="l" rtl="0">
              <a:lnSpc>
                <a:spcPct val="90000"/>
              </a:lnSpc>
              <a:spcBef>
                <a:spcPts val="135"/>
              </a:spcBef>
              <a:spcAft>
                <a:spcPts val="0"/>
              </a:spcAft>
              <a:buClr>
                <a:schemeClr val="dk1"/>
              </a:buClr>
              <a:buSzPts val="1700"/>
              <a:buFont typeface="Arial"/>
              <a:buChar char="•"/>
            </a:pPr>
            <a:r>
              <a:rPr lang="en-US" sz="1700">
                <a:solidFill>
                  <a:schemeClr val="dk1"/>
                </a:solidFill>
                <a:latin typeface="Arial"/>
                <a:ea typeface="Arial"/>
                <a:cs typeface="Arial"/>
                <a:sym typeface="Arial"/>
              </a:rPr>
              <a:t>∗	Shuffling</a:t>
            </a:r>
            <a:endParaRPr sz="1700">
              <a:solidFill>
                <a:schemeClr val="dk1"/>
              </a:solidFill>
              <a:latin typeface="Arial"/>
              <a:ea typeface="Arial"/>
              <a:cs typeface="Arial"/>
              <a:sym typeface="Arial"/>
            </a:endParaRPr>
          </a:p>
          <a:p>
            <a:pPr marL="12700" marR="0" lvl="0" indent="-12700" algn="l" rtl="0">
              <a:lnSpc>
                <a:spcPct val="90000"/>
              </a:lnSpc>
              <a:spcBef>
                <a:spcPts val="114"/>
              </a:spcBef>
              <a:spcAft>
                <a:spcPts val="0"/>
              </a:spcAft>
              <a:buClr>
                <a:schemeClr val="dk1"/>
              </a:buClr>
              <a:buSzPts val="1700"/>
              <a:buFont typeface="Arial"/>
              <a:buChar char="•"/>
            </a:pPr>
            <a:r>
              <a:rPr lang="en-US" sz="1700">
                <a:solidFill>
                  <a:schemeClr val="dk1"/>
                </a:solidFill>
                <a:latin typeface="Arial"/>
                <a:ea typeface="Arial"/>
                <a:cs typeface="Arial"/>
                <a:sym typeface="Arial"/>
              </a:rPr>
              <a:t>∗	Join</a:t>
            </a:r>
            <a:endParaRPr sz="1700">
              <a:solidFill>
                <a:schemeClr val="dk1"/>
              </a:solidFill>
              <a:latin typeface="Arial"/>
              <a:ea typeface="Arial"/>
              <a:cs typeface="Arial"/>
              <a:sym typeface="Arial"/>
            </a:endParaRPr>
          </a:p>
          <a:p>
            <a:pPr marL="314325" marR="0" lvl="0" indent="-228600" algn="l" rtl="0">
              <a:lnSpc>
                <a:spcPct val="90000"/>
              </a:lnSpc>
              <a:spcBef>
                <a:spcPts val="150"/>
              </a:spcBef>
              <a:spcAft>
                <a:spcPts val="0"/>
              </a:spcAft>
              <a:buClr>
                <a:schemeClr val="dk1"/>
              </a:buClr>
              <a:buSzPts val="1700"/>
              <a:buFont typeface="Arial"/>
              <a:buChar char="•"/>
            </a:pPr>
            <a:r>
              <a:rPr lang="en-US" sz="1700">
                <a:solidFill>
                  <a:schemeClr val="dk1"/>
                </a:solidFill>
                <a:latin typeface="Arial"/>
                <a:ea typeface="Arial"/>
                <a:cs typeface="Arial"/>
                <a:sym typeface="Arial"/>
              </a:rPr>
              <a:t>∗	Reduce Side Join</a:t>
            </a:r>
            <a:endParaRPr sz="1700">
              <a:solidFill>
                <a:schemeClr val="dk1"/>
              </a:solidFill>
              <a:latin typeface="Arial"/>
              <a:ea typeface="Arial"/>
              <a:cs typeface="Arial"/>
              <a:sym typeface="Arial"/>
            </a:endParaRPr>
          </a:p>
          <a:p>
            <a:pPr marL="314325" marR="0" lvl="0" indent="-228600" algn="l" rtl="0">
              <a:lnSpc>
                <a:spcPct val="90000"/>
              </a:lnSpc>
              <a:spcBef>
                <a:spcPts val="145"/>
              </a:spcBef>
              <a:spcAft>
                <a:spcPts val="0"/>
              </a:spcAft>
              <a:buClr>
                <a:schemeClr val="dk1"/>
              </a:buClr>
              <a:buSzPts val="1700"/>
              <a:buFont typeface="Arial"/>
              <a:buChar char="•"/>
            </a:pPr>
            <a:r>
              <a:rPr lang="en-US" sz="1700">
                <a:solidFill>
                  <a:schemeClr val="dk1"/>
                </a:solidFill>
                <a:latin typeface="Arial"/>
                <a:ea typeface="Arial"/>
                <a:cs typeface="Arial"/>
                <a:sym typeface="Arial"/>
              </a:rPr>
              <a:t>∗	Replicated Join</a:t>
            </a:r>
            <a:endParaRPr sz="1700">
              <a:solidFill>
                <a:schemeClr val="dk1"/>
              </a:solidFill>
              <a:latin typeface="Arial"/>
              <a:ea typeface="Arial"/>
              <a:cs typeface="Arial"/>
              <a:sym typeface="Arial"/>
            </a:endParaRPr>
          </a:p>
        </p:txBody>
      </p:sp>
      <p:pic>
        <p:nvPicPr>
          <p:cNvPr id="163" name="Google Shape;163;p4"/>
          <p:cNvPicPr preferRelativeResize="0"/>
          <p:nvPr/>
        </p:nvPicPr>
        <p:blipFill rotWithShape="1">
          <a:blip r:embed="rId3">
            <a:alphaModFix/>
          </a:blip>
          <a:srcRect t="2194" b="19223"/>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164" name="Google Shape;164;p4"/>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4"/>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5" descr="$PPTXTitle"/>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400"/>
              <a:buFont typeface="Play"/>
              <a:buNone/>
            </a:pPr>
            <a:r>
              <a:rPr lang="en-US"/>
              <a:t>Design Pattern Rules</a:t>
            </a:r>
            <a:endParaRPr/>
          </a:p>
        </p:txBody>
      </p:sp>
      <p:pic>
        <p:nvPicPr>
          <p:cNvPr id="172" name="Google Shape;172;p5"/>
          <p:cNvPicPr preferRelativeResize="0"/>
          <p:nvPr/>
        </p:nvPicPr>
        <p:blipFill rotWithShape="1">
          <a:blip r:embed="rId3">
            <a:alphaModFix/>
          </a:blip>
          <a:srcRect l="18027" r="15222" b="-2"/>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173" name="Google Shape;173;p5"/>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74" name="Google Shape;174;p5"/>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5" name="Google Shape;175;p5"/>
          <p:cNvGrpSpPr/>
          <p:nvPr/>
        </p:nvGrpSpPr>
        <p:grpSpPr>
          <a:xfrm>
            <a:off x="839780" y="3583553"/>
            <a:ext cx="5390200" cy="835481"/>
            <a:chOff x="1580" y="1757928"/>
            <a:chExt cx="5390200" cy="835481"/>
          </a:xfrm>
        </p:grpSpPr>
        <p:sp>
          <p:nvSpPr>
            <p:cNvPr id="176" name="Google Shape;176;p5"/>
            <p:cNvSpPr/>
            <p:nvPr/>
          </p:nvSpPr>
          <p:spPr>
            <a:xfrm>
              <a:off x="1580" y="1757928"/>
              <a:ext cx="1128181" cy="716395"/>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26933" y="1877014"/>
              <a:ext cx="1128181" cy="716395"/>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txBox="1"/>
            <p:nvPr/>
          </p:nvSpPr>
          <p:spPr>
            <a:xfrm>
              <a:off x="147915" y="1897996"/>
              <a:ext cx="1086217" cy="674431"/>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	A general repeatable solution to a commonly occurring problem in software design</a:t>
              </a:r>
              <a:endParaRPr/>
            </a:p>
          </p:txBody>
        </p:sp>
        <p:sp>
          <p:nvSpPr>
            <p:cNvPr id="179" name="Google Shape;179;p5"/>
            <p:cNvSpPr/>
            <p:nvPr/>
          </p:nvSpPr>
          <p:spPr>
            <a:xfrm>
              <a:off x="1380468" y="1757928"/>
              <a:ext cx="1128181" cy="716395"/>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1505822" y="1877014"/>
              <a:ext cx="1128181" cy="716395"/>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txBox="1"/>
            <p:nvPr/>
          </p:nvSpPr>
          <p:spPr>
            <a:xfrm>
              <a:off x="1526804" y="1897996"/>
              <a:ext cx="1086217" cy="674431"/>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	Not a finished design that can be transformed directly into source or machine code</a:t>
              </a:r>
              <a:endParaRPr/>
            </a:p>
          </p:txBody>
        </p:sp>
        <p:sp>
          <p:nvSpPr>
            <p:cNvPr id="182" name="Google Shape;182;p5"/>
            <p:cNvSpPr/>
            <p:nvPr/>
          </p:nvSpPr>
          <p:spPr>
            <a:xfrm>
              <a:off x="2759357" y="1757928"/>
              <a:ext cx="1128181" cy="716395"/>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884710" y="1877014"/>
              <a:ext cx="1128181" cy="716395"/>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txBox="1"/>
            <p:nvPr/>
          </p:nvSpPr>
          <p:spPr>
            <a:xfrm>
              <a:off x="2905692" y="1897996"/>
              <a:ext cx="1086217" cy="674431"/>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	A description or template for how to solve a problem that can be used in many different situations</a:t>
              </a:r>
              <a:endParaRPr/>
            </a:p>
          </p:txBody>
        </p:sp>
        <p:sp>
          <p:nvSpPr>
            <p:cNvPr id="185" name="Google Shape;185;p5"/>
            <p:cNvSpPr/>
            <p:nvPr/>
          </p:nvSpPr>
          <p:spPr>
            <a:xfrm>
              <a:off x="4138245" y="1757928"/>
              <a:ext cx="1128181" cy="716395"/>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4263599" y="1877014"/>
              <a:ext cx="1128181" cy="716395"/>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txBox="1"/>
            <p:nvPr/>
          </p:nvSpPr>
          <p:spPr>
            <a:xfrm>
              <a:off x="4284581" y="1897996"/>
              <a:ext cx="1086217" cy="674431"/>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	Traditional OOP Design Pattern Samples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1"/>
        <p:cNvGrpSpPr/>
        <p:nvPr/>
      </p:nvGrpSpPr>
      <p:grpSpPr>
        <a:xfrm>
          <a:off x="0" y="0"/>
          <a:ext cx="0" cy="0"/>
          <a:chOff x="0" y="0"/>
          <a:chExt cx="0" cy="0"/>
        </a:xfrm>
      </p:grpSpPr>
      <p:sp>
        <p:nvSpPr>
          <p:cNvPr id="192" name="Google Shape;192;p6"/>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6" descr="$PPTXTitle"/>
          <p:cNvSpPr txBox="1">
            <a:spLocks noGrp="1"/>
          </p:cNvSpPr>
          <p:nvPr>
            <p:ph type="title"/>
          </p:nvPr>
        </p:nvSpPr>
        <p:spPr>
          <a:xfrm>
            <a:off x="4553733" y="548464"/>
            <a:ext cx="6798541" cy="1675623"/>
          </a:xfrm>
          <a:prstGeom prst="rect">
            <a:avLst/>
          </a:prstGeom>
          <a:noFill/>
          <a:ln>
            <a:noFill/>
          </a:ln>
        </p:spPr>
        <p:txBody>
          <a:bodyPr spcFirstLastPara="1" wrap="square" lIns="0" tIns="13325" rIns="0" bIns="0" anchor="b" anchorCtr="0">
            <a:normAutofit/>
          </a:bodyPr>
          <a:lstStyle/>
          <a:p>
            <a:pPr marL="12700" lvl="0" indent="0" algn="l" rtl="0">
              <a:lnSpc>
                <a:spcPct val="90000"/>
              </a:lnSpc>
              <a:spcBef>
                <a:spcPts val="0"/>
              </a:spcBef>
              <a:spcAft>
                <a:spcPts val="0"/>
              </a:spcAft>
              <a:buClr>
                <a:schemeClr val="dk1"/>
              </a:buClr>
              <a:buSzPts val="4000"/>
              <a:buFont typeface="Play"/>
              <a:buNone/>
            </a:pPr>
            <a:r>
              <a:rPr lang="en-US" sz="4000"/>
              <a:t>I. Summarization Pattern</a:t>
            </a:r>
            <a:endParaRPr/>
          </a:p>
        </p:txBody>
      </p:sp>
      <p:pic>
        <p:nvPicPr>
          <p:cNvPr id="194" name="Google Shape;194;p6"/>
          <p:cNvPicPr preferRelativeResize="0"/>
          <p:nvPr/>
        </p:nvPicPr>
        <p:blipFill rotWithShape="1">
          <a:blip r:embed="rId3">
            <a:alphaModFix/>
          </a:blip>
          <a:srcRect l="45492" r="15039" b="-1"/>
          <a:stretch/>
        </p:blipFill>
        <p:spPr>
          <a:xfrm>
            <a:off x="1" y="10"/>
            <a:ext cx="4196496" cy="6857990"/>
          </a:xfrm>
          <a:prstGeom prst="rect">
            <a:avLst/>
          </a:prstGeom>
          <a:noFill/>
          <a:ln>
            <a:noFill/>
          </a:ln>
        </p:spPr>
      </p:pic>
      <p:grpSp>
        <p:nvGrpSpPr>
          <p:cNvPr id="195" name="Google Shape;195;p6"/>
          <p:cNvGrpSpPr/>
          <p:nvPr/>
        </p:nvGrpSpPr>
        <p:grpSpPr>
          <a:xfrm>
            <a:off x="4553734" y="2412738"/>
            <a:ext cx="6798539" cy="3699400"/>
            <a:chOff x="0" y="2908"/>
            <a:chExt cx="6798539" cy="3699400"/>
          </a:xfrm>
        </p:grpSpPr>
        <p:sp>
          <p:nvSpPr>
            <p:cNvPr id="196" name="Google Shape;196;p6"/>
            <p:cNvSpPr/>
            <p:nvPr/>
          </p:nvSpPr>
          <p:spPr>
            <a:xfrm>
              <a:off x="0" y="2908"/>
              <a:ext cx="6798539" cy="748720"/>
            </a:xfrm>
            <a:prstGeom prst="roundRect">
              <a:avLst>
                <a:gd name="adj" fmla="val 16667"/>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txBox="1"/>
            <p:nvPr/>
          </p:nvSpPr>
          <p:spPr>
            <a:xfrm>
              <a:off x="36549" y="39457"/>
              <a:ext cx="6725441" cy="67562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Your data is large and vast, with more data coming into the system every day</a:t>
              </a:r>
              <a:endParaRPr/>
            </a:p>
          </p:txBody>
        </p:sp>
        <p:sp>
          <p:nvSpPr>
            <p:cNvPr id="198" name="Google Shape;198;p6"/>
            <p:cNvSpPr/>
            <p:nvPr/>
          </p:nvSpPr>
          <p:spPr>
            <a:xfrm>
              <a:off x="0" y="751629"/>
              <a:ext cx="6798539" cy="22643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txBox="1"/>
            <p:nvPr/>
          </p:nvSpPr>
          <p:spPr>
            <a:xfrm>
              <a:off x="0" y="751629"/>
              <a:ext cx="6798539" cy="226437"/>
            </a:xfrm>
            <a:prstGeom prst="rect">
              <a:avLst/>
            </a:prstGeom>
            <a:noFill/>
            <a:ln>
              <a:noFill/>
            </a:ln>
          </p:spPr>
          <p:txBody>
            <a:bodyPr spcFirstLastPara="1" wrap="square" lIns="215850" tIns="20300" rIns="113775" bIns="20300"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ex. web user-logs</a:t>
              </a:r>
              <a:endParaRPr/>
            </a:p>
          </p:txBody>
        </p:sp>
        <p:sp>
          <p:nvSpPr>
            <p:cNvPr id="200" name="Google Shape;200;p6"/>
            <p:cNvSpPr/>
            <p:nvPr/>
          </p:nvSpPr>
          <p:spPr>
            <a:xfrm>
              <a:off x="0" y="978067"/>
              <a:ext cx="6798539" cy="748720"/>
            </a:xfrm>
            <a:prstGeom prst="roundRect">
              <a:avLst>
                <a:gd name="adj" fmla="val 16667"/>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txBox="1"/>
            <p:nvPr/>
          </p:nvSpPr>
          <p:spPr>
            <a:xfrm>
              <a:off x="36549" y="1014616"/>
              <a:ext cx="6725441" cy="67562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Produce a top-level, summarized view of your data so you can glean insights not available from looking at a localized set of records alone</a:t>
              </a:r>
              <a:endParaRPr/>
            </a:p>
          </p:txBody>
        </p:sp>
        <p:sp>
          <p:nvSpPr>
            <p:cNvPr id="202" name="Google Shape;202;p6"/>
            <p:cNvSpPr/>
            <p:nvPr/>
          </p:nvSpPr>
          <p:spPr>
            <a:xfrm>
              <a:off x="0" y="1739389"/>
              <a:ext cx="6798539" cy="748720"/>
            </a:xfrm>
            <a:prstGeom prst="roundRect">
              <a:avLst>
                <a:gd name="adj" fmla="val 16667"/>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txBox="1"/>
            <p:nvPr/>
          </p:nvSpPr>
          <p:spPr>
            <a:xfrm>
              <a:off x="36549" y="1775938"/>
              <a:ext cx="6725441" cy="67562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Grouping similar data together and then performing an operation such as calculating a statistic, building an index, or just simply counting</a:t>
              </a:r>
              <a:endParaRPr/>
            </a:p>
          </p:txBody>
        </p:sp>
        <p:sp>
          <p:nvSpPr>
            <p:cNvPr id="204" name="Google Shape;204;p6"/>
            <p:cNvSpPr/>
            <p:nvPr/>
          </p:nvSpPr>
          <p:spPr>
            <a:xfrm>
              <a:off x="0" y="2500712"/>
              <a:ext cx="6798539" cy="748720"/>
            </a:xfrm>
            <a:prstGeom prst="roundRect">
              <a:avLst>
                <a:gd name="adj" fmla="val 16667"/>
              </a:avLst>
            </a:prstGeom>
            <a:gradFill>
              <a:gsLst>
                <a:gs pos="0">
                  <a:srgbClr val="AB4E9D"/>
                </a:gs>
                <a:gs pos="50000">
                  <a:srgbClr val="A62094"/>
                </a:gs>
                <a:gs pos="100000">
                  <a:srgbClr val="961886"/>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txBox="1"/>
            <p:nvPr/>
          </p:nvSpPr>
          <p:spPr>
            <a:xfrm>
              <a:off x="36549" y="2537261"/>
              <a:ext cx="6725441" cy="67562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Patterns</a:t>
              </a:r>
              <a:endParaRPr/>
            </a:p>
          </p:txBody>
        </p:sp>
        <p:sp>
          <p:nvSpPr>
            <p:cNvPr id="206" name="Google Shape;206;p6"/>
            <p:cNvSpPr/>
            <p:nvPr/>
          </p:nvSpPr>
          <p:spPr>
            <a:xfrm>
              <a:off x="0" y="3249433"/>
              <a:ext cx="6798539" cy="452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txBox="1"/>
            <p:nvPr/>
          </p:nvSpPr>
          <p:spPr>
            <a:xfrm>
              <a:off x="0" y="3249433"/>
              <a:ext cx="6798539" cy="452875"/>
            </a:xfrm>
            <a:prstGeom prst="rect">
              <a:avLst/>
            </a:prstGeom>
            <a:noFill/>
            <a:ln>
              <a:noFill/>
            </a:ln>
          </p:spPr>
          <p:txBody>
            <a:bodyPr spcFirstLastPara="1" wrap="square" lIns="215850" tIns="20300" rIns="113775" bIns="20300"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Numerical Summarizations</a:t>
              </a:r>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Counting with Counters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1"/>
        <p:cNvGrpSpPr/>
        <p:nvPr/>
      </p:nvGrpSpPr>
      <p:grpSpPr>
        <a:xfrm>
          <a:off x="0" y="0"/>
          <a:ext cx="0" cy="0"/>
          <a:chOff x="0" y="0"/>
          <a:chExt cx="0" cy="0"/>
        </a:xfrm>
      </p:grpSpPr>
      <p:sp>
        <p:nvSpPr>
          <p:cNvPr id="212" name="Google Shape;212;p7"/>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7" descr="$PPTXTitle"/>
          <p:cNvSpPr txBox="1">
            <a:spLocks noGrp="1"/>
          </p:cNvSpPr>
          <p:nvPr>
            <p:ph type="title"/>
          </p:nvPr>
        </p:nvSpPr>
        <p:spPr>
          <a:xfrm>
            <a:off x="838200" y="365125"/>
            <a:ext cx="10515600" cy="1306443"/>
          </a:xfrm>
          <a:prstGeom prst="rect">
            <a:avLst/>
          </a:prstGeom>
          <a:noFill/>
          <a:ln>
            <a:noFill/>
          </a:ln>
        </p:spPr>
        <p:txBody>
          <a:bodyPr spcFirstLastPara="1" wrap="square" lIns="91425" tIns="45700" rIns="91425" bIns="45700" anchor="ctr" anchorCtr="0">
            <a:normAutofit/>
          </a:bodyPr>
          <a:lstStyle/>
          <a:p>
            <a:pPr marL="427990" lvl="0" indent="0" algn="l" rtl="0">
              <a:lnSpc>
                <a:spcPct val="90000"/>
              </a:lnSpc>
              <a:spcBef>
                <a:spcPts val="0"/>
              </a:spcBef>
              <a:spcAft>
                <a:spcPts val="0"/>
              </a:spcAft>
              <a:buClr>
                <a:schemeClr val="dk1"/>
              </a:buClr>
              <a:buSzPts val="4000"/>
              <a:buFont typeface="Play"/>
              <a:buNone/>
            </a:pPr>
            <a:r>
              <a:rPr lang="en-US" sz="4000"/>
              <a:t>Numerical Summarization</a:t>
            </a:r>
            <a:endParaRPr/>
          </a:p>
        </p:txBody>
      </p:sp>
      <p:pic>
        <p:nvPicPr>
          <p:cNvPr id="214" name="Google Shape;214;p7"/>
          <p:cNvPicPr preferRelativeResize="0"/>
          <p:nvPr/>
        </p:nvPicPr>
        <p:blipFill rotWithShape="1">
          <a:blip r:embed="rId3">
            <a:alphaModFix/>
          </a:blip>
          <a:srcRect l="17593" r="21641" b="2"/>
          <a:stretch/>
        </p:blipFill>
        <p:spPr>
          <a:xfrm>
            <a:off x="7989293" y="1904282"/>
            <a:ext cx="3423093" cy="4224808"/>
          </a:xfrm>
          <a:prstGeom prst="rect">
            <a:avLst/>
          </a:prstGeom>
          <a:noFill/>
          <a:ln>
            <a:noFill/>
          </a:ln>
        </p:spPr>
      </p:pic>
      <p:grpSp>
        <p:nvGrpSpPr>
          <p:cNvPr id="215" name="Google Shape;215;p7"/>
          <p:cNvGrpSpPr/>
          <p:nvPr/>
        </p:nvGrpSpPr>
        <p:grpSpPr>
          <a:xfrm>
            <a:off x="841577" y="2052934"/>
            <a:ext cx="6707989" cy="3848846"/>
            <a:chOff x="3377" y="227309"/>
            <a:chExt cx="6707989" cy="3848846"/>
          </a:xfrm>
        </p:grpSpPr>
        <p:sp>
          <p:nvSpPr>
            <p:cNvPr id="216" name="Google Shape;216;p7"/>
            <p:cNvSpPr/>
            <p:nvPr/>
          </p:nvSpPr>
          <p:spPr>
            <a:xfrm rot="5400000">
              <a:off x="-307534" y="1102794"/>
              <a:ext cx="1364761" cy="164950"/>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3377" y="227309"/>
              <a:ext cx="1832784" cy="1099670"/>
            </a:xfrm>
            <a:prstGeom prst="roundRect">
              <a:avLst>
                <a:gd name="adj" fmla="val 10000"/>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txBox="1"/>
            <p:nvPr/>
          </p:nvSpPr>
          <p:spPr>
            <a:xfrm>
              <a:off x="35585" y="259517"/>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Intent: Group records together by a key field and calculate a numerical aggregate per group to get a top-level view of the larger data set</a:t>
              </a:r>
              <a:endParaRPr/>
            </a:p>
          </p:txBody>
        </p:sp>
        <p:sp>
          <p:nvSpPr>
            <p:cNvPr id="219" name="Google Shape;219;p7"/>
            <p:cNvSpPr/>
            <p:nvPr/>
          </p:nvSpPr>
          <p:spPr>
            <a:xfrm rot="5400000">
              <a:off x="-307534" y="2477382"/>
              <a:ext cx="1364761" cy="164950"/>
            </a:xfrm>
            <a:prstGeom prst="rect">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3377" y="1601897"/>
              <a:ext cx="1832784" cy="1099670"/>
            </a:xfrm>
            <a:prstGeom prst="roundRect">
              <a:avLst>
                <a:gd name="adj" fmla="val 10000"/>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txBox="1"/>
            <p:nvPr/>
          </p:nvSpPr>
          <p:spPr>
            <a:xfrm>
              <a:off x="35585" y="1634105"/>
              <a:ext cx="1768368" cy="1035254"/>
            </a:xfrm>
            <a:prstGeom prst="rect">
              <a:avLst/>
            </a:prstGeom>
            <a:noFill/>
            <a:ln>
              <a:noFill/>
            </a:ln>
          </p:spPr>
          <p:txBody>
            <a:bodyPr spcFirstLastPara="1" wrap="square" lIns="60950" tIns="60950" rIns="60950" bIns="6095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Motivation</a:t>
              </a:r>
              <a:endParaRPr/>
            </a:p>
            <a:p>
              <a:pPr marL="171450" marR="0" lvl="1" indent="-171450" algn="l" rtl="0">
                <a:lnSpc>
                  <a:spcPct val="100000"/>
                </a:lnSpc>
                <a:spcBef>
                  <a:spcPts val="56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Many data sets these days are too large for a human to get any real meaning out it by reading through it manually, e.g., terabytes of website log files.</a:t>
              </a:r>
              <a:endParaRPr/>
            </a:p>
          </p:txBody>
        </p:sp>
        <p:sp>
          <p:nvSpPr>
            <p:cNvPr id="222" name="Google Shape;222;p7"/>
            <p:cNvSpPr/>
            <p:nvPr/>
          </p:nvSpPr>
          <p:spPr>
            <a:xfrm>
              <a:off x="379760" y="3164676"/>
              <a:ext cx="2427776" cy="164950"/>
            </a:xfrm>
            <a:prstGeom prst="rect">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3377" y="2976485"/>
              <a:ext cx="1832784" cy="1099670"/>
            </a:xfrm>
            <a:prstGeom prst="roundRect">
              <a:avLst>
                <a:gd name="adj" fmla="val 10000"/>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txBox="1"/>
            <p:nvPr/>
          </p:nvSpPr>
          <p:spPr>
            <a:xfrm>
              <a:off x="35585" y="3008693"/>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minimum, maximum, average, median, and standard deviation</a:t>
              </a:r>
              <a:endParaRPr/>
            </a:p>
          </p:txBody>
        </p:sp>
        <p:sp>
          <p:nvSpPr>
            <p:cNvPr id="225" name="Google Shape;225;p7"/>
            <p:cNvSpPr/>
            <p:nvPr/>
          </p:nvSpPr>
          <p:spPr>
            <a:xfrm rot="-5400000">
              <a:off x="2130068" y="2477382"/>
              <a:ext cx="1364761" cy="164950"/>
            </a:xfrm>
            <a:prstGeom prst="rect">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2440979" y="2976485"/>
              <a:ext cx="1832784" cy="1099670"/>
            </a:xfrm>
            <a:prstGeom prst="roundRect">
              <a:avLst>
                <a:gd name="adj" fmla="val 10000"/>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txBox="1"/>
            <p:nvPr/>
          </p:nvSpPr>
          <p:spPr>
            <a:xfrm>
              <a:off x="2473187" y="3008693"/>
              <a:ext cx="1768368" cy="1035254"/>
            </a:xfrm>
            <a:prstGeom prst="rect">
              <a:avLst/>
            </a:prstGeom>
            <a:noFill/>
            <a:ln>
              <a:noFill/>
            </a:ln>
          </p:spPr>
          <p:txBody>
            <a:bodyPr spcFirstLastPara="1" wrap="square" lIns="60950" tIns="60950" rIns="60950" bIns="6095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Consider </a:t>
              </a:r>
              <a:r>
                <a:rPr lang="en-US" sz="1600" i="1">
                  <a:solidFill>
                    <a:schemeClr val="dk1"/>
                  </a:solidFill>
                  <a:latin typeface="Arial"/>
                  <a:ea typeface="Arial"/>
                  <a:cs typeface="Arial"/>
                  <a:sym typeface="Arial"/>
                </a:rPr>
                <a:t>θ </a:t>
              </a:r>
              <a:r>
                <a:rPr lang="en-US" sz="1600">
                  <a:solidFill>
                    <a:schemeClr val="dk1"/>
                  </a:solidFill>
                  <a:latin typeface="Arial"/>
                  <a:ea typeface="Arial"/>
                  <a:cs typeface="Arial"/>
                  <a:sym typeface="Arial"/>
                </a:rPr>
                <a:t>to be a generic numerical summarization function we wish to execute over some list of values </a:t>
              </a:r>
              <a:r>
                <a:rPr lang="en-US" sz="1600" i="1">
                  <a:solidFill>
                    <a:schemeClr val="dk1"/>
                  </a:solidFill>
                  <a:latin typeface="Arial"/>
                  <a:ea typeface="Arial"/>
                  <a:cs typeface="Arial"/>
                  <a:sym typeface="Arial"/>
                </a:rPr>
                <a:t>(v</a:t>
              </a:r>
              <a:r>
                <a:rPr lang="en-US" sz="1600" i="1" baseline="-25000">
                  <a:solidFill>
                    <a:schemeClr val="dk1"/>
                  </a:solidFill>
                  <a:latin typeface="Arial"/>
                  <a:ea typeface="Arial"/>
                  <a:cs typeface="Arial"/>
                  <a:sym typeface="Arial"/>
                </a:rPr>
                <a:t>1</a:t>
              </a:r>
              <a:r>
                <a:rPr lang="en-US" sz="1600" i="1">
                  <a:solidFill>
                    <a:schemeClr val="dk1"/>
                  </a:solidFill>
                  <a:latin typeface="Arial"/>
                  <a:ea typeface="Arial"/>
                  <a:cs typeface="Arial"/>
                  <a:sym typeface="Arial"/>
                </a:rPr>
                <a:t>, v</a:t>
              </a:r>
              <a:r>
                <a:rPr lang="en-US" sz="1600" i="1" baseline="-25000">
                  <a:solidFill>
                    <a:schemeClr val="dk1"/>
                  </a:solidFill>
                  <a:latin typeface="Arial"/>
                  <a:ea typeface="Arial"/>
                  <a:cs typeface="Arial"/>
                  <a:sym typeface="Arial"/>
                </a:rPr>
                <a:t>2</a:t>
              </a:r>
              <a:r>
                <a:rPr lang="en-US" sz="1600" i="1">
                  <a:solidFill>
                    <a:schemeClr val="dk1"/>
                  </a:solidFill>
                  <a:latin typeface="Arial"/>
                  <a:ea typeface="Arial"/>
                  <a:cs typeface="Arial"/>
                  <a:sym typeface="Arial"/>
                </a:rPr>
                <a:t>, v</a:t>
              </a:r>
              <a:r>
                <a:rPr lang="en-US" sz="1600" i="1" baseline="-25000">
                  <a:solidFill>
                    <a:schemeClr val="dk1"/>
                  </a:solidFill>
                  <a:latin typeface="Arial"/>
                  <a:ea typeface="Arial"/>
                  <a:cs typeface="Arial"/>
                  <a:sym typeface="Arial"/>
                </a:rPr>
                <a:t>3</a:t>
              </a:r>
              <a:r>
                <a:rPr lang="en-US" sz="1600" i="1">
                  <a:solidFill>
                    <a:schemeClr val="dk1"/>
                  </a:solidFill>
                  <a:latin typeface="Arial"/>
                  <a:ea typeface="Arial"/>
                  <a:cs typeface="Arial"/>
                  <a:sym typeface="Arial"/>
                </a:rPr>
                <a:t>, …, v</a:t>
              </a:r>
              <a:r>
                <a:rPr lang="en-US" sz="1600" i="1" baseline="-25000">
                  <a:solidFill>
                    <a:schemeClr val="dk1"/>
                  </a:solidFill>
                  <a:latin typeface="Arial"/>
                  <a:ea typeface="Arial"/>
                  <a:cs typeface="Arial"/>
                  <a:sym typeface="Arial"/>
                </a:rPr>
                <a:t>n</a:t>
              </a:r>
              <a:r>
                <a:rPr lang="en-US" sz="1600" i="1">
                  <a:solidFill>
                    <a:schemeClr val="dk1"/>
                  </a:solidFill>
                  <a:latin typeface="Arial"/>
                  <a:ea typeface="Arial"/>
                  <a:cs typeface="Arial"/>
                  <a:sym typeface="Arial"/>
                </a:rPr>
                <a:t>) </a:t>
              </a:r>
              <a:r>
                <a:rPr lang="en-US" sz="1600">
                  <a:solidFill>
                    <a:schemeClr val="dk1"/>
                  </a:solidFill>
                  <a:latin typeface="Arial"/>
                  <a:ea typeface="Arial"/>
                  <a:cs typeface="Arial"/>
                  <a:sym typeface="Arial"/>
                </a:rPr>
                <a:t>to find a value </a:t>
              </a:r>
              <a:r>
                <a:rPr lang="en-US" sz="1600" i="1">
                  <a:solidFill>
                    <a:schemeClr val="dk1"/>
                  </a:solidFill>
                  <a:latin typeface="Arial"/>
                  <a:ea typeface="Arial"/>
                  <a:cs typeface="Arial"/>
                  <a:sym typeface="Arial"/>
                </a:rPr>
                <a:t>λ</a:t>
              </a:r>
              <a:r>
                <a:rPr lang="en-US" sz="1600">
                  <a:solidFill>
                    <a:schemeClr val="dk1"/>
                  </a:solidFill>
                  <a:latin typeface="Arial"/>
                  <a:ea typeface="Arial"/>
                  <a:cs typeface="Arial"/>
                  <a:sym typeface="Arial"/>
                </a:rPr>
                <a:t>, i.e.</a:t>
              </a:r>
              <a:endParaRPr/>
            </a:p>
            <a:p>
              <a:pPr marL="171450" marR="0" lvl="1" indent="-171450" algn="l" rtl="0">
                <a:lnSpc>
                  <a:spcPct val="100000"/>
                </a:lnSpc>
                <a:spcBef>
                  <a:spcPts val="560"/>
                </a:spcBef>
                <a:spcAft>
                  <a:spcPts val="0"/>
                </a:spcAft>
                <a:buClr>
                  <a:schemeClr val="dk1"/>
                </a:buClr>
                <a:buSzPts val="1600"/>
                <a:buFont typeface="Arial"/>
                <a:buChar char="•"/>
              </a:pPr>
              <a:r>
                <a:rPr lang="en-US" sz="1600" b="0" i="1" u="none" strike="noStrike" cap="none">
                  <a:solidFill>
                    <a:schemeClr val="dk1"/>
                  </a:solidFill>
                  <a:latin typeface="Arial"/>
                  <a:ea typeface="Arial"/>
                  <a:cs typeface="Arial"/>
                  <a:sym typeface="Arial"/>
                </a:rPr>
                <a:t>λ </a:t>
              </a:r>
              <a:r>
                <a:rPr lang="en-US" sz="1600" b="0" i="0" u="none" strike="noStrike" cap="none">
                  <a:solidFill>
                    <a:schemeClr val="dk1"/>
                  </a:solidFill>
                  <a:latin typeface="Arial"/>
                  <a:ea typeface="Arial"/>
                  <a:cs typeface="Arial"/>
                  <a:sym typeface="Arial"/>
                </a:rPr>
                <a:t>= </a:t>
              </a:r>
              <a:r>
                <a:rPr lang="en-US" sz="1600" b="0" i="1" u="none" strike="noStrike" cap="none">
                  <a:solidFill>
                    <a:schemeClr val="dk1"/>
                  </a:solidFill>
                  <a:latin typeface="Arial"/>
                  <a:ea typeface="Arial"/>
                  <a:cs typeface="Arial"/>
                  <a:sym typeface="Arial"/>
                </a:rPr>
                <a:t>θ(v</a:t>
              </a:r>
              <a:r>
                <a:rPr lang="en-US" sz="1600" b="0" i="1" u="none" strike="noStrike" cap="none" baseline="-25000">
                  <a:solidFill>
                    <a:schemeClr val="dk1"/>
                  </a:solidFill>
                  <a:latin typeface="Arial"/>
                  <a:ea typeface="Arial"/>
                  <a:cs typeface="Arial"/>
                  <a:sym typeface="Arial"/>
                </a:rPr>
                <a:t>1</a:t>
              </a:r>
              <a:r>
                <a:rPr lang="en-US" sz="1600" b="0" i="1" u="none" strike="noStrike" cap="none">
                  <a:solidFill>
                    <a:schemeClr val="dk1"/>
                  </a:solidFill>
                  <a:latin typeface="Arial"/>
                  <a:ea typeface="Arial"/>
                  <a:cs typeface="Arial"/>
                  <a:sym typeface="Arial"/>
                </a:rPr>
                <a:t>, v</a:t>
              </a:r>
              <a:r>
                <a:rPr lang="en-US" sz="1600" b="0" i="1" u="none" strike="noStrike" cap="none" baseline="-25000">
                  <a:solidFill>
                    <a:schemeClr val="dk1"/>
                  </a:solidFill>
                  <a:latin typeface="Arial"/>
                  <a:ea typeface="Arial"/>
                  <a:cs typeface="Arial"/>
                  <a:sym typeface="Arial"/>
                </a:rPr>
                <a:t>2</a:t>
              </a:r>
              <a:r>
                <a:rPr lang="en-US" sz="1600" b="0" i="1" u="none" strike="noStrike" cap="none">
                  <a:solidFill>
                    <a:schemeClr val="dk1"/>
                  </a:solidFill>
                  <a:latin typeface="Arial"/>
                  <a:ea typeface="Arial"/>
                  <a:cs typeface="Arial"/>
                  <a:sym typeface="Arial"/>
                </a:rPr>
                <a:t>, v</a:t>
              </a:r>
              <a:r>
                <a:rPr lang="en-US" sz="1600" b="0" i="1" u="none" strike="noStrike" cap="none" baseline="-25000">
                  <a:solidFill>
                    <a:schemeClr val="dk1"/>
                  </a:solidFill>
                  <a:latin typeface="Arial"/>
                  <a:ea typeface="Arial"/>
                  <a:cs typeface="Arial"/>
                  <a:sym typeface="Arial"/>
                </a:rPr>
                <a:t>3</a:t>
              </a:r>
              <a:r>
                <a:rPr lang="en-US" sz="1600" b="0" i="1" u="none" strike="noStrike" cap="none">
                  <a:solidFill>
                    <a:schemeClr val="dk1"/>
                  </a:solidFill>
                  <a:latin typeface="Arial"/>
                  <a:ea typeface="Arial"/>
                  <a:cs typeface="Arial"/>
                  <a:sym typeface="Arial"/>
                </a:rPr>
                <a:t>, …, v</a:t>
              </a:r>
              <a:r>
                <a:rPr lang="en-US" sz="1600" b="0" i="1" u="none" strike="noStrike" cap="none" baseline="-25000">
                  <a:solidFill>
                    <a:schemeClr val="dk1"/>
                  </a:solidFill>
                  <a:latin typeface="Arial"/>
                  <a:ea typeface="Arial"/>
                  <a:cs typeface="Arial"/>
                  <a:sym typeface="Arial"/>
                </a:rPr>
                <a:t>n</a:t>
              </a:r>
              <a:r>
                <a:rPr lang="en-US" sz="1600" b="0" i="1" u="none" strike="noStrike" cap="none">
                  <a:solidFill>
                    <a:schemeClr val="dk1"/>
                  </a:solidFill>
                  <a:latin typeface="Arial"/>
                  <a:ea typeface="Arial"/>
                  <a:cs typeface="Arial"/>
                  <a:sym typeface="Arial"/>
                </a:rPr>
                <a:t>)</a:t>
              </a:r>
              <a:r>
                <a:rPr lang="en-US" sz="1600" b="0" i="0" u="none" strike="noStrike" cap="none">
                  <a:solidFill>
                    <a:schemeClr val="dk1"/>
                  </a:solidFill>
                  <a:latin typeface="Arial"/>
                  <a:ea typeface="Arial"/>
                  <a:cs typeface="Arial"/>
                  <a:sym typeface="Arial"/>
                </a:rPr>
                <a:t>. Examples of </a:t>
              </a:r>
              <a:r>
                <a:rPr lang="en-US" sz="1600" b="0" i="1" u="none" strike="noStrike" cap="none">
                  <a:solidFill>
                    <a:schemeClr val="dk1"/>
                  </a:solidFill>
                  <a:latin typeface="Arial"/>
                  <a:ea typeface="Arial"/>
                  <a:cs typeface="Arial"/>
                  <a:sym typeface="Arial"/>
                </a:rPr>
                <a:t>θ </a:t>
              </a:r>
              <a:r>
                <a:rPr lang="en-US" sz="1600" b="0" i="0" u="none" strike="noStrike" cap="none">
                  <a:solidFill>
                    <a:schemeClr val="dk1"/>
                  </a:solidFill>
                  <a:latin typeface="Arial"/>
                  <a:ea typeface="Arial"/>
                  <a:cs typeface="Arial"/>
                  <a:sym typeface="Arial"/>
                </a:rPr>
                <a:t>include a minimum, maximum, average, median, and standard deviation</a:t>
              </a:r>
              <a:endParaRPr/>
            </a:p>
          </p:txBody>
        </p:sp>
        <p:sp>
          <p:nvSpPr>
            <p:cNvPr id="228" name="Google Shape;228;p7"/>
            <p:cNvSpPr/>
            <p:nvPr/>
          </p:nvSpPr>
          <p:spPr>
            <a:xfrm rot="-5400000">
              <a:off x="2130068" y="1102794"/>
              <a:ext cx="1364761" cy="164950"/>
            </a:xfrm>
            <a:prstGeom prst="rect">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a:off x="2440979" y="1601897"/>
              <a:ext cx="1832784" cy="1099670"/>
            </a:xfrm>
            <a:prstGeom prst="roundRect">
              <a:avLst>
                <a:gd name="adj" fmla="val 10000"/>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txBox="1"/>
            <p:nvPr/>
          </p:nvSpPr>
          <p:spPr>
            <a:xfrm>
              <a:off x="2473187" y="1634105"/>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Applicability</a:t>
              </a:r>
              <a:endParaRPr/>
            </a:p>
          </p:txBody>
        </p:sp>
        <p:sp>
          <p:nvSpPr>
            <p:cNvPr id="231" name="Google Shape;231;p7"/>
            <p:cNvSpPr/>
            <p:nvPr/>
          </p:nvSpPr>
          <p:spPr>
            <a:xfrm>
              <a:off x="2817362" y="415500"/>
              <a:ext cx="2427776" cy="164950"/>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2440979" y="227309"/>
              <a:ext cx="1832784" cy="1099670"/>
            </a:xfrm>
            <a:prstGeom prst="roundRect">
              <a:avLst>
                <a:gd name="adj" fmla="val 10000"/>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txBox="1"/>
            <p:nvPr/>
          </p:nvSpPr>
          <p:spPr>
            <a:xfrm>
              <a:off x="2473187" y="259517"/>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Multiple large data sets are being joined by a foreign key</a:t>
              </a:r>
              <a:endParaRPr/>
            </a:p>
          </p:txBody>
        </p:sp>
        <p:sp>
          <p:nvSpPr>
            <p:cNvPr id="234" name="Google Shape;234;p7"/>
            <p:cNvSpPr/>
            <p:nvPr/>
          </p:nvSpPr>
          <p:spPr>
            <a:xfrm rot="5400000">
              <a:off x="4567671" y="1102794"/>
              <a:ext cx="1364761" cy="164950"/>
            </a:xfrm>
            <a:prstGeom prst="rect">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4878582" y="227309"/>
              <a:ext cx="1832784" cy="1099670"/>
            </a:xfrm>
            <a:prstGeom prst="roundRect">
              <a:avLst>
                <a:gd name="adj" fmla="val 10000"/>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txBox="1"/>
            <p:nvPr/>
          </p:nvSpPr>
          <p:spPr>
            <a:xfrm>
              <a:off x="4910790" y="259517"/>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You want the flexibility of being able to execute any join operation</a:t>
              </a:r>
              <a:endParaRPr/>
            </a:p>
          </p:txBody>
        </p:sp>
        <p:sp>
          <p:nvSpPr>
            <p:cNvPr id="237" name="Google Shape;237;p7"/>
            <p:cNvSpPr/>
            <p:nvPr/>
          </p:nvSpPr>
          <p:spPr>
            <a:xfrm>
              <a:off x="4878582" y="1601897"/>
              <a:ext cx="1832784" cy="1099670"/>
            </a:xfrm>
            <a:prstGeom prst="roundRect">
              <a:avLst>
                <a:gd name="adj" fmla="val 10000"/>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txBox="1"/>
            <p:nvPr/>
          </p:nvSpPr>
          <p:spPr>
            <a:xfrm>
              <a:off x="4910790" y="1634105"/>
              <a:ext cx="1768368" cy="1035254"/>
            </a:xfrm>
            <a:prstGeom prst="rect">
              <a:avLst/>
            </a:prstGeom>
            <a:noFill/>
            <a:ln>
              <a:noFill/>
            </a:ln>
          </p:spPr>
          <p:txBody>
            <a:bodyPr spcFirstLastPara="1" wrap="square" lIns="60950" tIns="60950" rIns="60950" bIns="6095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A large amount of network bandwidth</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8"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42799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Numerical Summarization</a:t>
            </a:r>
            <a:endParaRPr/>
          </a:p>
        </p:txBody>
      </p:sp>
      <p:sp>
        <p:nvSpPr>
          <p:cNvPr id="245" name="Google Shape;245;p8"/>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8"/>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8"/>
          <p:cNvSpPr txBo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300"/>
              <a:buFont typeface="Arial"/>
              <a:buChar char="•"/>
            </a:pPr>
            <a:r>
              <a:rPr lang="en-US" sz="1300">
                <a:solidFill>
                  <a:schemeClr val="dk1"/>
                </a:solidFill>
                <a:latin typeface="Arial"/>
                <a:ea typeface="Arial"/>
                <a:cs typeface="Arial"/>
                <a:sym typeface="Arial"/>
              </a:rPr>
              <a:t>∗	The Mapper</a:t>
            </a:r>
            <a:endParaRPr sz="1300">
              <a:solidFill>
                <a:schemeClr val="dk1"/>
              </a:solidFill>
              <a:latin typeface="Arial"/>
              <a:ea typeface="Arial"/>
              <a:cs typeface="Arial"/>
              <a:sym typeface="Arial"/>
            </a:endParaRPr>
          </a:p>
          <a:p>
            <a:pPr marL="588645" marR="132080" lvl="0" indent="-228600" algn="l" rtl="0">
              <a:lnSpc>
                <a:spcPct val="90000"/>
              </a:lnSpc>
              <a:spcBef>
                <a:spcPts val="610"/>
              </a:spcBef>
              <a:spcAft>
                <a:spcPts val="0"/>
              </a:spcAft>
              <a:buClr>
                <a:schemeClr val="dk1"/>
              </a:buClr>
              <a:buSzPts val="1300"/>
              <a:buFont typeface="Arial"/>
              <a:buChar char="•"/>
            </a:pPr>
            <a:r>
              <a:rPr lang="en-US" sz="1300">
                <a:solidFill>
                  <a:schemeClr val="dk1"/>
                </a:solidFill>
                <a:latin typeface="Arial"/>
                <a:ea typeface="Arial"/>
                <a:cs typeface="Arial"/>
                <a:sym typeface="Arial"/>
              </a:rPr>
              <a:t>∗	Outputs keys that consist of each field to group by, and values consisting of any pertinent numerical items</a:t>
            </a:r>
            <a:endParaRPr sz="1300">
              <a:solidFill>
                <a:schemeClr val="dk1"/>
              </a:solidFill>
              <a:latin typeface="Arial"/>
              <a:ea typeface="Arial"/>
              <a:cs typeface="Arial"/>
              <a:sym typeface="Arial"/>
            </a:endParaRPr>
          </a:p>
          <a:p>
            <a:pPr marL="588645" marR="53975" lvl="0" indent="-228600" algn="l" rtl="0">
              <a:lnSpc>
                <a:spcPct val="90000"/>
              </a:lnSpc>
              <a:spcBef>
                <a:spcPts val="620"/>
              </a:spcBef>
              <a:spcAft>
                <a:spcPts val="0"/>
              </a:spcAft>
              <a:buClr>
                <a:schemeClr val="dk1"/>
              </a:buClr>
              <a:buSzPts val="1300"/>
              <a:buFont typeface="Arial"/>
              <a:buChar char="•"/>
            </a:pPr>
            <a:r>
              <a:rPr lang="en-US" sz="1300">
                <a:solidFill>
                  <a:schemeClr val="dk1"/>
                </a:solidFill>
                <a:latin typeface="Arial"/>
                <a:ea typeface="Arial"/>
                <a:cs typeface="Arial"/>
                <a:sym typeface="Arial"/>
              </a:rPr>
              <a:t>∗	A Combiner will have, unlike a Reducer, is that the input/output key and value types must match the output types of your Mapper</a:t>
            </a:r>
            <a:endParaRPr sz="1300">
              <a:solidFill>
                <a:schemeClr val="dk1"/>
              </a:solidFill>
              <a:latin typeface="Arial"/>
              <a:ea typeface="Arial"/>
              <a:cs typeface="Arial"/>
              <a:sym typeface="Arial"/>
            </a:endParaRPr>
          </a:p>
          <a:p>
            <a:pPr marL="12700" marR="0" lvl="0" indent="-12700" algn="l" rtl="0">
              <a:lnSpc>
                <a:spcPct val="90000"/>
              </a:lnSpc>
              <a:spcBef>
                <a:spcPts val="155"/>
              </a:spcBef>
              <a:spcAft>
                <a:spcPts val="0"/>
              </a:spcAft>
              <a:buClr>
                <a:schemeClr val="dk1"/>
              </a:buClr>
              <a:buSzPts val="1300"/>
              <a:buFont typeface="Arial"/>
              <a:buChar char="•"/>
            </a:pPr>
            <a:r>
              <a:rPr lang="en-US" sz="1300">
                <a:solidFill>
                  <a:schemeClr val="dk1"/>
                </a:solidFill>
                <a:latin typeface="Arial"/>
                <a:ea typeface="Arial"/>
                <a:cs typeface="Arial"/>
                <a:sym typeface="Arial"/>
              </a:rPr>
              <a:t>∗	The Reducer</a:t>
            </a:r>
            <a:endParaRPr sz="1300">
              <a:solidFill>
                <a:schemeClr val="dk1"/>
              </a:solidFill>
              <a:latin typeface="Arial"/>
              <a:ea typeface="Arial"/>
              <a:cs typeface="Arial"/>
              <a:sym typeface="Arial"/>
            </a:endParaRPr>
          </a:p>
          <a:p>
            <a:pPr marL="588645" marR="116205" lvl="0" indent="-228600" algn="l" rtl="0">
              <a:lnSpc>
                <a:spcPct val="90000"/>
              </a:lnSpc>
              <a:spcBef>
                <a:spcPts val="610"/>
              </a:spcBef>
              <a:spcAft>
                <a:spcPts val="0"/>
              </a:spcAft>
              <a:buClr>
                <a:schemeClr val="dk1"/>
              </a:buClr>
              <a:buSzPts val="1300"/>
              <a:buFont typeface="Arial"/>
              <a:buChar char="•"/>
            </a:pPr>
            <a:r>
              <a:rPr lang="en-US" sz="1300">
                <a:solidFill>
                  <a:schemeClr val="dk1"/>
                </a:solidFill>
                <a:latin typeface="Arial"/>
                <a:ea typeface="Arial"/>
                <a:cs typeface="Arial"/>
                <a:sym typeface="Arial"/>
              </a:rPr>
              <a:t>∗ Receives a set of numerical values (v1, v2, v3, …, vn) associated with a group-by key records to perform the</a:t>
            </a:r>
            <a:endParaRPr sz="1300">
              <a:solidFill>
                <a:schemeClr val="dk1"/>
              </a:solidFill>
              <a:latin typeface="Arial"/>
              <a:ea typeface="Arial"/>
              <a:cs typeface="Arial"/>
              <a:sym typeface="Arial"/>
            </a:endParaRPr>
          </a:p>
          <a:p>
            <a:pPr marL="588645" marR="5080" lvl="0" indent="-228600" algn="l" rtl="0">
              <a:lnSpc>
                <a:spcPct val="90000"/>
              </a:lnSpc>
              <a:spcBef>
                <a:spcPts val="20"/>
              </a:spcBef>
              <a:spcAft>
                <a:spcPts val="0"/>
              </a:spcAft>
              <a:buClr>
                <a:schemeClr val="dk1"/>
              </a:buClr>
              <a:buSzPts val="1300"/>
              <a:buFont typeface="Arial"/>
              <a:buChar char="•"/>
            </a:pPr>
            <a:r>
              <a:rPr lang="en-US" sz="1300">
                <a:solidFill>
                  <a:schemeClr val="dk1"/>
                </a:solidFill>
                <a:latin typeface="Arial"/>
                <a:ea typeface="Arial"/>
                <a:cs typeface="Arial"/>
                <a:sym typeface="Arial"/>
              </a:rPr>
              <a:t>aggregation function λ. The value of λ is output with the given input key</a:t>
            </a:r>
            <a:endParaRPr sz="1300">
              <a:solidFill>
                <a:schemeClr val="dk1"/>
              </a:solidFill>
              <a:latin typeface="Arial"/>
              <a:ea typeface="Arial"/>
              <a:cs typeface="Arial"/>
              <a:sym typeface="Arial"/>
            </a:endParaRPr>
          </a:p>
          <a:p>
            <a:pPr marL="588645" marR="267335" lvl="0" indent="-228600" algn="l" rtl="0">
              <a:lnSpc>
                <a:spcPct val="90000"/>
              </a:lnSpc>
              <a:spcBef>
                <a:spcPts val="600"/>
              </a:spcBef>
              <a:spcAft>
                <a:spcPts val="0"/>
              </a:spcAft>
              <a:buClr>
                <a:schemeClr val="dk1"/>
              </a:buClr>
              <a:buSzPts val="1300"/>
              <a:buFont typeface="Arial"/>
              <a:buChar char="•"/>
            </a:pPr>
            <a:r>
              <a:rPr lang="en-US" sz="1300">
                <a:solidFill>
                  <a:schemeClr val="dk1"/>
                </a:solidFill>
                <a:latin typeface="Arial"/>
                <a:ea typeface="Arial"/>
                <a:cs typeface="Arial"/>
                <a:sym typeface="Arial"/>
              </a:rPr>
              <a:t>∗	Reducers can get data from multiple Mappers as part of the partitioning process. Combiners can only get its input from one Mapper</a:t>
            </a:r>
            <a:endParaRPr sz="1300">
              <a:solidFill>
                <a:schemeClr val="dk1"/>
              </a:solidFill>
              <a:latin typeface="Arial"/>
              <a:ea typeface="Arial"/>
              <a:cs typeface="Arial"/>
              <a:sym typeface="Arial"/>
            </a:endParaRPr>
          </a:p>
        </p:txBody>
      </p:sp>
      <p:pic>
        <p:nvPicPr>
          <p:cNvPr id="248" name="Google Shape;248;p8"/>
          <p:cNvPicPr preferRelativeResize="0"/>
          <p:nvPr/>
        </p:nvPicPr>
        <p:blipFill rotWithShape="1">
          <a:blip r:embed="rId3">
            <a:alphaModFix/>
          </a:blip>
          <a:srcRect/>
          <a:stretch/>
        </p:blipFill>
        <p:spPr>
          <a:xfrm>
            <a:off x="5911532" y="3199708"/>
            <a:ext cx="5150277" cy="2283338"/>
          </a:xfrm>
          <a:prstGeom prst="rect">
            <a:avLst/>
          </a:prstGeom>
          <a:noFill/>
          <a:ln>
            <a:noFill/>
          </a:ln>
        </p:spPr>
      </p:pic>
      <p:sp>
        <p:nvSpPr>
          <p:cNvPr id="249" name="Google Shape;249;p8"/>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3"/>
        <p:cNvGrpSpPr/>
        <p:nvPr/>
      </p:nvGrpSpPr>
      <p:grpSpPr>
        <a:xfrm>
          <a:off x="0" y="0"/>
          <a:ext cx="0" cy="0"/>
          <a:chOff x="0" y="0"/>
          <a:chExt cx="0" cy="0"/>
        </a:xfrm>
      </p:grpSpPr>
      <p:sp>
        <p:nvSpPr>
          <p:cNvPr id="254" name="Google Shape;254;p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55" name="Google Shape;255;p9"/>
          <p:cNvGrpSpPr/>
          <p:nvPr/>
        </p:nvGrpSpPr>
        <p:grpSpPr>
          <a:xfrm>
            <a:off x="4" y="1216597"/>
            <a:ext cx="731521" cy="673460"/>
            <a:chOff x="3940602" y="308034"/>
            <a:chExt cx="2116791" cy="3428999"/>
          </a:xfrm>
        </p:grpSpPr>
        <p:sp>
          <p:nvSpPr>
            <p:cNvPr id="256" name="Google Shape;256;p9"/>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9"/>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9"/>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59" name="Google Shape;259;p9"/>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9"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42799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Numerical Summarization</a:t>
            </a:r>
            <a:endParaRPr/>
          </a:p>
        </p:txBody>
      </p:sp>
      <p:sp>
        <p:nvSpPr>
          <p:cNvPr id="261" name="Google Shape;261;p9"/>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Resemblances</a:t>
            </a:r>
            <a:endParaRPr sz="2400">
              <a:solidFill>
                <a:schemeClr val="dk1"/>
              </a:solidFill>
              <a:latin typeface="Arial"/>
              <a:ea typeface="Arial"/>
              <a:cs typeface="Arial"/>
              <a:sym typeface="Arial"/>
            </a:endParaRPr>
          </a:p>
          <a:p>
            <a:pPr marL="330835" marR="5080" lvl="0" indent="-228600" algn="l" rtl="0">
              <a:lnSpc>
                <a:spcPct val="90000"/>
              </a:lnSpc>
              <a:spcBef>
                <a:spcPts val="1310"/>
              </a:spcBef>
              <a:spcAft>
                <a:spcPts val="0"/>
              </a:spcAft>
              <a:buClr>
                <a:schemeClr val="dk1"/>
              </a:buClr>
              <a:buSzPts val="2400"/>
              <a:buFont typeface="Arial"/>
              <a:buChar char="•"/>
            </a:pPr>
            <a:r>
              <a:rPr lang="en-US" sz="2400" b="1">
                <a:solidFill>
                  <a:schemeClr val="dk1"/>
                </a:solidFill>
                <a:latin typeface="Arial"/>
                <a:ea typeface="Arial"/>
                <a:cs typeface="Arial"/>
                <a:sym typeface="Arial"/>
              </a:rPr>
              <a:t>SELECT MIN</a:t>
            </a:r>
            <a:r>
              <a:rPr lang="en-US" sz="2400">
                <a:solidFill>
                  <a:schemeClr val="dk1"/>
                </a:solidFill>
                <a:latin typeface="Arial"/>
                <a:ea typeface="Arial"/>
                <a:cs typeface="Arial"/>
                <a:sym typeface="Arial"/>
              </a:rPr>
              <a:t>(numericalcol1), </a:t>
            </a:r>
            <a:r>
              <a:rPr lang="en-US" sz="2400" b="1">
                <a:solidFill>
                  <a:schemeClr val="dk1"/>
                </a:solidFill>
                <a:latin typeface="Arial"/>
                <a:ea typeface="Arial"/>
                <a:cs typeface="Arial"/>
                <a:sym typeface="Arial"/>
              </a:rPr>
              <a:t>MAX</a:t>
            </a:r>
            <a:r>
              <a:rPr lang="en-US" sz="2400">
                <a:solidFill>
                  <a:schemeClr val="dk1"/>
                </a:solidFill>
                <a:latin typeface="Arial"/>
                <a:ea typeface="Arial"/>
                <a:cs typeface="Arial"/>
                <a:sym typeface="Arial"/>
              </a:rPr>
              <a:t>(numericalcol1), </a:t>
            </a:r>
            <a:r>
              <a:rPr lang="en-US" sz="2400" b="1">
                <a:solidFill>
                  <a:schemeClr val="dk1"/>
                </a:solidFill>
                <a:latin typeface="Arial"/>
                <a:ea typeface="Arial"/>
                <a:cs typeface="Arial"/>
                <a:sym typeface="Arial"/>
              </a:rPr>
              <a:t>COUNT</a:t>
            </a:r>
            <a:r>
              <a:rPr lang="en-US" sz="2400">
                <a:solidFill>
                  <a:schemeClr val="dk1"/>
                </a:solidFill>
                <a:latin typeface="Arial"/>
                <a:ea typeface="Arial"/>
                <a:cs typeface="Arial"/>
                <a:sym typeface="Arial"/>
              </a:rPr>
              <a:t>(*) </a:t>
            </a:r>
            <a:r>
              <a:rPr lang="en-US" sz="2400" b="1">
                <a:solidFill>
                  <a:schemeClr val="dk1"/>
                </a:solidFill>
                <a:latin typeface="Arial"/>
                <a:ea typeface="Arial"/>
                <a:cs typeface="Arial"/>
                <a:sym typeface="Arial"/>
              </a:rPr>
              <a:t>FROM table GROUP BY </a:t>
            </a:r>
            <a:r>
              <a:rPr lang="en-US" sz="2400">
                <a:solidFill>
                  <a:schemeClr val="dk1"/>
                </a:solidFill>
                <a:latin typeface="Arial"/>
                <a:ea typeface="Arial"/>
                <a:cs typeface="Arial"/>
                <a:sym typeface="Arial"/>
              </a:rPr>
              <a:t>groupcol2;</a:t>
            </a:r>
            <a:endParaRPr sz="2400">
              <a:solidFill>
                <a:schemeClr val="dk1"/>
              </a:solidFill>
              <a:latin typeface="Arial"/>
              <a:ea typeface="Arial"/>
              <a:cs typeface="Arial"/>
              <a:sym typeface="Arial"/>
            </a:endParaRPr>
          </a:p>
          <a:p>
            <a:pPr marL="12700" marR="0" lvl="0" indent="-12700" algn="l" rtl="0">
              <a:lnSpc>
                <a:spcPct val="90000"/>
              </a:lnSpc>
              <a:spcBef>
                <a:spcPts val="1810"/>
              </a:spcBef>
              <a:spcAft>
                <a:spcPts val="0"/>
              </a:spcAft>
              <a:buClr>
                <a:schemeClr val="dk1"/>
              </a:buClr>
              <a:buSzPts val="2400"/>
              <a:buFont typeface="Arial"/>
              <a:buChar char="•"/>
            </a:pPr>
            <a:r>
              <a:rPr lang="en-US" sz="2400">
                <a:solidFill>
                  <a:schemeClr val="dk1"/>
                </a:solidFill>
                <a:latin typeface="Arial"/>
                <a:ea typeface="Arial"/>
                <a:cs typeface="Arial"/>
                <a:sym typeface="Arial"/>
              </a:rPr>
              <a:t>∗	Known uses</a:t>
            </a:r>
            <a:endParaRPr sz="2400">
              <a:solidFill>
                <a:schemeClr val="dk1"/>
              </a:solidFill>
              <a:latin typeface="Arial"/>
              <a:ea typeface="Arial"/>
              <a:cs typeface="Arial"/>
              <a:sym typeface="Arial"/>
            </a:endParaRPr>
          </a:p>
          <a:p>
            <a:pPr marL="314325" marR="0" lvl="0" indent="-228600" algn="l" rtl="0">
              <a:lnSpc>
                <a:spcPct val="90000"/>
              </a:lnSpc>
              <a:spcBef>
                <a:spcPts val="390"/>
              </a:spcBef>
              <a:spcAft>
                <a:spcPts val="0"/>
              </a:spcAft>
              <a:buClr>
                <a:schemeClr val="dk1"/>
              </a:buClr>
              <a:buSzPts val="2400"/>
              <a:buFont typeface="Arial"/>
              <a:buChar char="•"/>
            </a:pPr>
            <a:r>
              <a:rPr lang="en-US" sz="2400">
                <a:solidFill>
                  <a:schemeClr val="dk1"/>
                </a:solidFill>
                <a:latin typeface="Arial"/>
                <a:ea typeface="Arial"/>
                <a:cs typeface="Arial"/>
                <a:sym typeface="Arial"/>
              </a:rPr>
              <a:t>∗	Word count, Record count</a:t>
            </a:r>
            <a:endParaRPr sz="2400">
              <a:solidFill>
                <a:schemeClr val="dk1"/>
              </a:solidFill>
              <a:latin typeface="Arial"/>
              <a:ea typeface="Arial"/>
              <a:cs typeface="Arial"/>
              <a:sym typeface="Arial"/>
            </a:endParaRPr>
          </a:p>
          <a:p>
            <a:pPr marL="314325" marR="0" lvl="0" indent="-228600" algn="l" rtl="0">
              <a:lnSpc>
                <a:spcPct val="90000"/>
              </a:lnSpc>
              <a:spcBef>
                <a:spcPts val="365"/>
              </a:spcBef>
              <a:spcAft>
                <a:spcPts val="0"/>
              </a:spcAft>
              <a:buClr>
                <a:schemeClr val="dk1"/>
              </a:buClr>
              <a:buSzPts val="2400"/>
              <a:buFont typeface="Arial"/>
              <a:buChar char="•"/>
            </a:pPr>
            <a:r>
              <a:rPr lang="en-US" sz="2400">
                <a:solidFill>
                  <a:schemeClr val="dk1"/>
                </a:solidFill>
                <a:latin typeface="Arial"/>
                <a:ea typeface="Arial"/>
                <a:cs typeface="Arial"/>
                <a:sym typeface="Arial"/>
              </a:rPr>
              <a:t>∗	Min, Max, Count of a particular event</a:t>
            </a:r>
            <a:endParaRPr sz="2400">
              <a:solidFill>
                <a:schemeClr val="dk1"/>
              </a:solidFill>
              <a:latin typeface="Arial"/>
              <a:ea typeface="Arial"/>
              <a:cs typeface="Arial"/>
              <a:sym typeface="Arial"/>
            </a:endParaRPr>
          </a:p>
          <a:p>
            <a:pPr marL="314325" marR="0" lvl="0" indent="-228600" algn="l" rtl="0">
              <a:lnSpc>
                <a:spcPct val="90000"/>
              </a:lnSpc>
              <a:spcBef>
                <a:spcPts val="360"/>
              </a:spcBef>
              <a:spcAft>
                <a:spcPts val="0"/>
              </a:spcAft>
              <a:buClr>
                <a:schemeClr val="dk1"/>
              </a:buClr>
              <a:buSzPts val="2400"/>
              <a:buFont typeface="Arial"/>
              <a:buChar char="•"/>
            </a:pPr>
            <a:r>
              <a:rPr lang="en-US" sz="2400">
                <a:solidFill>
                  <a:schemeClr val="dk1"/>
                </a:solidFill>
                <a:latin typeface="Arial"/>
                <a:ea typeface="Arial"/>
                <a:cs typeface="Arial"/>
                <a:sym typeface="Arial"/>
              </a:rPr>
              <a:t>∗	Average, Median, Standard deviation</a:t>
            </a:r>
            <a:endParaRPr sz="2400">
              <a:solidFill>
                <a:schemeClr val="dk1"/>
              </a:solidFill>
              <a:latin typeface="Arial"/>
              <a:ea typeface="Arial"/>
              <a:cs typeface="Arial"/>
              <a:sym typeface="Arial"/>
            </a:endParaRPr>
          </a:p>
        </p:txBody>
      </p:sp>
      <p:cxnSp>
        <p:nvCxnSpPr>
          <p:cNvPr id="262" name="Google Shape;262;p9"/>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1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10" descr="$PPTXTitle"/>
          <p:cNvSpPr txBox="1">
            <a:spLocks noGrp="1"/>
          </p:cNvSpPr>
          <p:nvPr>
            <p:ph type="title"/>
          </p:nvPr>
        </p:nvSpPr>
        <p:spPr>
          <a:xfrm>
            <a:off x="1008184" y="174032"/>
            <a:ext cx="10175631" cy="1111843"/>
          </a:xfrm>
          <a:prstGeom prst="rect">
            <a:avLst/>
          </a:prstGeom>
          <a:noFill/>
          <a:ln>
            <a:noFill/>
          </a:ln>
        </p:spPr>
        <p:txBody>
          <a:bodyPr spcFirstLastPara="1" wrap="square" lIns="91425" tIns="45700" rIns="91425" bIns="45700" anchor="ctr" anchorCtr="0">
            <a:normAutofit/>
          </a:bodyPr>
          <a:lstStyle/>
          <a:p>
            <a:pPr marL="427990" lvl="0" indent="0" algn="ctr" rtl="0">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Numerical Summarization</a:t>
            </a:r>
            <a:endParaRPr/>
          </a:p>
        </p:txBody>
      </p:sp>
      <p:sp>
        <p:nvSpPr>
          <p:cNvPr id="269" name="Google Shape;269;p10"/>
          <p:cNvSpPr txBox="1"/>
          <p:nvPr/>
        </p:nvSpPr>
        <p:spPr>
          <a:xfrm>
            <a:off x="1008184" y="1459907"/>
            <a:ext cx="10175630" cy="767904"/>
          </a:xfrm>
          <a:prstGeom prst="rect">
            <a:avLst/>
          </a:prstGeom>
          <a:noFill/>
          <a:ln>
            <a:noFill/>
          </a:ln>
        </p:spPr>
        <p:txBody>
          <a:bodyPr spcFirstLastPara="1" wrap="square" lIns="91425" tIns="45700" rIns="91425" bIns="45700" anchor="ctr" anchorCtr="0">
            <a:normAutofit/>
          </a:bodyPr>
          <a:lstStyle/>
          <a:p>
            <a:pPr marL="12700" marR="0" lvl="0" indent="-12700" algn="ctr" rtl="0">
              <a:lnSpc>
                <a:spcPct val="90000"/>
              </a:lnSpc>
              <a:spcBef>
                <a:spcPts val="0"/>
              </a:spcBef>
              <a:spcAft>
                <a:spcPts val="0"/>
              </a:spcAft>
              <a:buClr>
                <a:schemeClr val="dk1"/>
              </a:buClr>
              <a:buSzPts val="1000"/>
              <a:buFont typeface="Arial"/>
              <a:buChar char="•"/>
            </a:pPr>
            <a:r>
              <a:rPr lang="en-US" sz="1000">
                <a:solidFill>
                  <a:schemeClr val="dk1"/>
                </a:solidFill>
                <a:latin typeface="Arial"/>
                <a:ea typeface="Arial"/>
                <a:cs typeface="Arial"/>
                <a:sym typeface="Arial"/>
              </a:rPr>
              <a:t>∗	Performance Analysis</a:t>
            </a:r>
            <a:endParaRPr sz="1000">
              <a:solidFill>
                <a:schemeClr val="dk1"/>
              </a:solidFill>
              <a:latin typeface="Arial"/>
              <a:ea typeface="Arial"/>
              <a:cs typeface="Arial"/>
              <a:sym typeface="Arial"/>
            </a:endParaRPr>
          </a:p>
          <a:p>
            <a:pPr marL="314325" marR="0" lvl="0" indent="-228600" algn="ctr" rtl="0">
              <a:lnSpc>
                <a:spcPct val="90000"/>
              </a:lnSpc>
              <a:spcBef>
                <a:spcPts val="409"/>
              </a:spcBef>
              <a:spcAft>
                <a:spcPts val="0"/>
              </a:spcAft>
              <a:buClr>
                <a:schemeClr val="dk1"/>
              </a:buClr>
              <a:buSzPts val="1000"/>
              <a:buFont typeface="Arial"/>
              <a:buChar char="•"/>
            </a:pPr>
            <a:r>
              <a:rPr lang="en-US" sz="1000">
                <a:solidFill>
                  <a:schemeClr val="dk1"/>
                </a:solidFill>
                <a:latin typeface="Arial"/>
                <a:ea typeface="Arial"/>
                <a:cs typeface="Arial"/>
                <a:sym typeface="Arial"/>
              </a:rPr>
              <a:t>∗	Aggregations perform well when the </a:t>
            </a:r>
            <a:r>
              <a:rPr lang="en-US" sz="1000" b="1">
                <a:solidFill>
                  <a:schemeClr val="dk1"/>
                </a:solidFill>
                <a:latin typeface="Arial"/>
                <a:ea typeface="Arial"/>
                <a:cs typeface="Arial"/>
                <a:sym typeface="Arial"/>
              </a:rPr>
              <a:t>combiner </a:t>
            </a:r>
            <a:r>
              <a:rPr lang="en-US" sz="1000">
                <a:solidFill>
                  <a:schemeClr val="dk1"/>
                </a:solidFill>
                <a:latin typeface="Arial"/>
                <a:ea typeface="Arial"/>
                <a:cs typeface="Arial"/>
                <a:sym typeface="Arial"/>
              </a:rPr>
              <a:t>is properly used.</a:t>
            </a:r>
            <a:endParaRPr sz="1000">
              <a:solidFill>
                <a:schemeClr val="dk1"/>
              </a:solidFill>
              <a:latin typeface="Arial"/>
              <a:ea typeface="Arial"/>
              <a:cs typeface="Arial"/>
              <a:sym typeface="Arial"/>
            </a:endParaRPr>
          </a:p>
          <a:p>
            <a:pPr marL="588645" marR="5080" lvl="0" indent="-228600" algn="ctr" rtl="0">
              <a:lnSpc>
                <a:spcPct val="90000"/>
              </a:lnSpc>
              <a:spcBef>
                <a:spcPts val="385"/>
              </a:spcBef>
              <a:spcAft>
                <a:spcPts val="0"/>
              </a:spcAft>
              <a:buClr>
                <a:schemeClr val="dk1"/>
              </a:buClr>
              <a:buSzPts val="1000"/>
              <a:buFont typeface="Arial"/>
              <a:buChar char="•"/>
            </a:pPr>
            <a:r>
              <a:rPr lang="en-US" sz="1000">
                <a:solidFill>
                  <a:schemeClr val="dk1"/>
                </a:solidFill>
                <a:latin typeface="Arial"/>
                <a:ea typeface="Arial"/>
                <a:cs typeface="Arial"/>
                <a:sym typeface="Arial"/>
              </a:rPr>
              <a:t>∗	Data skew of reduce groups: many more intermediate key/value pairs with a specific key than other keys, one reducer is going to have a lot more work to do than others</a:t>
            </a:r>
            <a:endParaRPr sz="1000">
              <a:solidFill>
                <a:schemeClr val="dk1"/>
              </a:solidFill>
              <a:latin typeface="Arial"/>
              <a:ea typeface="Arial"/>
              <a:cs typeface="Arial"/>
              <a:sym typeface="Arial"/>
            </a:endParaRPr>
          </a:p>
        </p:txBody>
      </p:sp>
      <p:pic>
        <p:nvPicPr>
          <p:cNvPr id="270" name="Google Shape;270;p10"/>
          <p:cNvPicPr preferRelativeResize="0"/>
          <p:nvPr/>
        </p:nvPicPr>
        <p:blipFill rotWithShape="1">
          <a:blip r:embed="rId3">
            <a:alphaModFix/>
          </a:blip>
          <a:srcRect/>
          <a:stretch/>
        </p:blipFill>
        <p:spPr>
          <a:xfrm>
            <a:off x="835154" y="2444888"/>
            <a:ext cx="10515595" cy="38199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1" descr="$PPTXTitle"/>
          <p:cNvSpPr txBox="1">
            <a:spLocks noGrp="1"/>
          </p:cNvSpPr>
          <p:nvPr>
            <p:ph type="title"/>
          </p:nvPr>
        </p:nvSpPr>
        <p:spPr>
          <a:xfrm>
            <a:off x="838200" y="365125"/>
            <a:ext cx="10515600" cy="1325563"/>
          </a:xfrm>
          <a:prstGeom prst="rect">
            <a:avLst/>
          </a:prstGeom>
          <a:noFill/>
          <a:ln>
            <a:noFill/>
          </a:ln>
        </p:spPr>
        <p:txBody>
          <a:bodyPr spcFirstLastPara="1" wrap="square" lIns="0" tIns="13325" rIns="0" bIns="0" anchor="ctr" anchorCtr="0">
            <a:spAutoFit/>
          </a:bodyPr>
          <a:lstStyle/>
          <a:p>
            <a:pPr marL="427990" lvl="0" indent="0" algn="l" rtl="0">
              <a:lnSpc>
                <a:spcPct val="100000"/>
              </a:lnSpc>
              <a:spcBef>
                <a:spcPts val="0"/>
              </a:spcBef>
              <a:spcAft>
                <a:spcPts val="0"/>
              </a:spcAft>
              <a:buClr>
                <a:schemeClr val="dk1"/>
              </a:buClr>
              <a:buSzPts val="4400"/>
              <a:buFont typeface="Play"/>
              <a:buNone/>
            </a:pPr>
            <a:r>
              <a:rPr lang="en-US"/>
              <a:t>Numerical Summarization</a:t>
            </a:r>
            <a:endParaRPr/>
          </a:p>
        </p:txBody>
      </p:sp>
      <p:grpSp>
        <p:nvGrpSpPr>
          <p:cNvPr id="276" name="Google Shape;276;p11"/>
          <p:cNvGrpSpPr/>
          <p:nvPr/>
        </p:nvGrpSpPr>
        <p:grpSpPr>
          <a:xfrm>
            <a:off x="4857750" y="3252724"/>
            <a:ext cx="2457450" cy="589280"/>
            <a:chOff x="4857750" y="3252724"/>
            <a:chExt cx="2457450" cy="589280"/>
          </a:xfrm>
        </p:grpSpPr>
        <p:pic>
          <p:nvPicPr>
            <p:cNvPr id="277" name="Google Shape;277;p11"/>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278" name="Google Shape;278;p11"/>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9" name="Google Shape;279;p11"/>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80" name="Google Shape;280;p11"/>
          <p:cNvSpPr txBox="1"/>
          <p:nvPr/>
        </p:nvSpPr>
        <p:spPr>
          <a:xfrm>
            <a:off x="3581400" y="4118963"/>
            <a:ext cx="4716780" cy="1756891"/>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000">
                <a:solidFill>
                  <a:schemeClr val="dk1"/>
                </a:solidFill>
                <a:latin typeface="Arial"/>
                <a:ea typeface="Arial"/>
                <a:cs typeface="Arial"/>
                <a:sym typeface="Arial"/>
              </a:rPr>
              <a:t>Min / Max / Count</a:t>
            </a:r>
            <a:endParaRPr sz="2000">
              <a:solidFill>
                <a:schemeClr val="dk1"/>
              </a:solidFill>
              <a:latin typeface="Arial"/>
              <a:ea typeface="Arial"/>
              <a:cs typeface="Arial"/>
              <a:sym typeface="Arial"/>
            </a:endParaRPr>
          </a:p>
          <a:p>
            <a:pPr marL="12700" marR="5080" lvl="0" indent="0" algn="l" rtl="0">
              <a:spcBef>
                <a:spcPts val="0"/>
              </a:spcBef>
              <a:spcAft>
                <a:spcPts val="0"/>
              </a:spcAft>
              <a:buNone/>
            </a:pPr>
            <a:r>
              <a:rPr lang="en-US" sz="2000">
                <a:solidFill>
                  <a:schemeClr val="dk1"/>
                </a:solidFill>
                <a:latin typeface="Arial"/>
                <a:ea typeface="Arial"/>
                <a:cs typeface="Arial"/>
                <a:sym typeface="Arial"/>
              </a:rPr>
              <a:t>Average (c1*avg1 +c2*avg2 +c3*avg3)/(c1+c2+c3) Median and Standard Deviation</a:t>
            </a:r>
            <a:endParaRPr sz="2000">
              <a:solidFill>
                <a:schemeClr val="dk1"/>
              </a:solidFill>
              <a:latin typeface="Arial"/>
              <a:ea typeface="Arial"/>
              <a:cs typeface="Arial"/>
              <a:sym typeface="Arial"/>
            </a:endParaRPr>
          </a:p>
          <a:p>
            <a:pPr marL="12700" marR="0" lvl="0" indent="0" algn="l" rtl="0">
              <a:spcBef>
                <a:spcPts val="1630"/>
              </a:spcBef>
              <a:spcAft>
                <a:spcPts val="0"/>
              </a:spcAft>
              <a:buNone/>
            </a:pPr>
            <a:r>
              <a:rPr lang="en-US" sz="2000">
                <a:solidFill>
                  <a:schemeClr val="dk1"/>
                </a:solidFill>
                <a:latin typeface="Arial"/>
                <a:ea typeface="Arial"/>
                <a:cs typeface="Arial"/>
                <a:sym typeface="Arial"/>
              </a:rPr>
              <a:t>Smart Median and Standard Deviation</a:t>
            </a:r>
            <a:endParaRPr sz="20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12" descr="$PPTXTitle"/>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676910" lvl="0" indent="0" algn="l" rtl="0">
              <a:lnSpc>
                <a:spcPct val="90000"/>
              </a:lnSpc>
              <a:spcBef>
                <a:spcPts val="0"/>
              </a:spcBef>
              <a:spcAft>
                <a:spcPts val="0"/>
              </a:spcAft>
              <a:buClr>
                <a:schemeClr val="dk1"/>
              </a:buClr>
              <a:buSzPts val="4400"/>
              <a:buFont typeface="Play"/>
              <a:buNone/>
            </a:pPr>
            <a:r>
              <a:rPr lang="en-US"/>
              <a:t>Counting with Counters</a:t>
            </a:r>
            <a:endParaRPr/>
          </a:p>
        </p:txBody>
      </p:sp>
      <p:pic>
        <p:nvPicPr>
          <p:cNvPr id="287" name="Google Shape;287;p12"/>
          <p:cNvPicPr preferRelativeResize="0"/>
          <p:nvPr/>
        </p:nvPicPr>
        <p:blipFill rotWithShape="1">
          <a:blip r:embed="rId3">
            <a:alphaModFix/>
          </a:blip>
          <a:srcRect l="12879" r="21622" b="2"/>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288" name="Google Shape;288;p12"/>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89" name="Google Shape;289;p12"/>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0" name="Google Shape;290;p12"/>
          <p:cNvGrpSpPr/>
          <p:nvPr/>
        </p:nvGrpSpPr>
        <p:grpSpPr>
          <a:xfrm>
            <a:off x="838200" y="1836186"/>
            <a:ext cx="5393361" cy="4330215"/>
            <a:chOff x="0" y="10561"/>
            <a:chExt cx="5393361" cy="4330215"/>
          </a:xfrm>
        </p:grpSpPr>
        <p:sp>
          <p:nvSpPr>
            <p:cNvPr id="291" name="Google Shape;291;p12"/>
            <p:cNvSpPr/>
            <p:nvPr/>
          </p:nvSpPr>
          <p:spPr>
            <a:xfrm>
              <a:off x="0" y="10561"/>
              <a:ext cx="5393361" cy="767520"/>
            </a:xfrm>
            <a:prstGeom prst="roundRect">
              <a:avLst>
                <a:gd name="adj" fmla="val 16667"/>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2"/>
            <p:cNvSpPr txBox="1"/>
            <p:nvPr/>
          </p:nvSpPr>
          <p:spPr>
            <a:xfrm>
              <a:off x="37467" y="48028"/>
              <a:ext cx="5318427" cy="692586"/>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Intent: An efficient means to retrieve count summarizations of large data sets</a:t>
              </a:r>
              <a:endParaRPr/>
            </a:p>
          </p:txBody>
        </p:sp>
        <p:sp>
          <p:nvSpPr>
            <p:cNvPr id="293" name="Google Shape;293;p12"/>
            <p:cNvSpPr/>
            <p:nvPr/>
          </p:nvSpPr>
          <p:spPr>
            <a:xfrm>
              <a:off x="0" y="896161"/>
              <a:ext cx="5393361" cy="767520"/>
            </a:xfrm>
            <a:prstGeom prst="roundRect">
              <a:avLst>
                <a:gd name="adj" fmla="val 16667"/>
              </a:avLst>
            </a:prstGeom>
            <a:solidFill>
              <a:srgbClr val="2B6FA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2"/>
            <p:cNvSpPr txBox="1"/>
            <p:nvPr/>
          </p:nvSpPr>
          <p:spPr>
            <a:xfrm>
              <a:off x="37467" y="933628"/>
              <a:ext cx="5318427" cy="692586"/>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Motivation</a:t>
              </a:r>
              <a:endParaRPr/>
            </a:p>
          </p:txBody>
        </p:sp>
        <p:sp>
          <p:nvSpPr>
            <p:cNvPr id="295" name="Google Shape;295;p12"/>
            <p:cNvSpPr/>
            <p:nvPr/>
          </p:nvSpPr>
          <p:spPr>
            <a:xfrm>
              <a:off x="0" y="1663681"/>
              <a:ext cx="5393361" cy="9547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2"/>
            <p:cNvSpPr txBox="1"/>
            <p:nvPr/>
          </p:nvSpPr>
          <p:spPr>
            <a:xfrm>
              <a:off x="0" y="1663681"/>
              <a:ext cx="5393361" cy="954787"/>
            </a:xfrm>
            <a:prstGeom prst="rect">
              <a:avLst/>
            </a:prstGeom>
            <a:noFill/>
            <a:ln>
              <a:noFill/>
            </a:ln>
          </p:spPr>
          <p:txBody>
            <a:bodyPr spcFirstLastPara="1" wrap="square" lIns="171225" tIns="20300" rIns="113775" bIns="20300"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A count or summation can tell you a lot about your data as a whole</a:t>
              </a:r>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Simply use the framework’s counters à no reduce phase and no summation</a:t>
              </a:r>
              <a:endParaRPr/>
            </a:p>
          </p:txBody>
        </p:sp>
        <p:sp>
          <p:nvSpPr>
            <p:cNvPr id="297" name="Google Shape;297;p12"/>
            <p:cNvSpPr/>
            <p:nvPr/>
          </p:nvSpPr>
          <p:spPr>
            <a:xfrm>
              <a:off x="0" y="2618469"/>
              <a:ext cx="5393361" cy="767520"/>
            </a:xfrm>
            <a:prstGeom prst="roundRect">
              <a:avLst>
                <a:gd name="adj" fmla="val 16667"/>
              </a:avLst>
            </a:prstGeom>
            <a:solidFill>
              <a:srgbClr val="4CA62C"/>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2"/>
            <p:cNvSpPr txBox="1"/>
            <p:nvPr/>
          </p:nvSpPr>
          <p:spPr>
            <a:xfrm>
              <a:off x="37467" y="2655936"/>
              <a:ext cx="5318427" cy="692586"/>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Applicability</a:t>
              </a:r>
              <a:endParaRPr/>
            </a:p>
          </p:txBody>
        </p:sp>
        <p:sp>
          <p:nvSpPr>
            <p:cNvPr id="299" name="Google Shape;299;p12"/>
            <p:cNvSpPr/>
            <p:nvPr/>
          </p:nvSpPr>
          <p:spPr>
            <a:xfrm>
              <a:off x="0" y="3385989"/>
              <a:ext cx="5393361" cy="9547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2"/>
            <p:cNvSpPr txBox="1"/>
            <p:nvPr/>
          </p:nvSpPr>
          <p:spPr>
            <a:xfrm>
              <a:off x="0" y="3385989"/>
              <a:ext cx="5393361" cy="954787"/>
            </a:xfrm>
            <a:prstGeom prst="rect">
              <a:avLst/>
            </a:prstGeom>
            <a:noFill/>
            <a:ln>
              <a:noFill/>
            </a:ln>
          </p:spPr>
          <p:txBody>
            <a:bodyPr spcFirstLastPara="1" wrap="square" lIns="171225" tIns="20300" rIns="113775" bIns="20300"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You have a desire to gather counts or summations over large data sets</a:t>
              </a:r>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The number of counters you are going to create is small</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4"/>
        <p:cNvGrpSpPr/>
        <p:nvPr/>
      </p:nvGrpSpPr>
      <p:grpSpPr>
        <a:xfrm>
          <a:off x="0" y="0"/>
          <a:ext cx="0" cy="0"/>
          <a:chOff x="0" y="0"/>
          <a:chExt cx="0" cy="0"/>
        </a:xfrm>
      </p:grpSpPr>
      <p:sp>
        <p:nvSpPr>
          <p:cNvPr id="305" name="Google Shape;305;p1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13"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676910" lvl="0" indent="0" algn="l" rtl="0">
              <a:lnSpc>
                <a:spcPct val="90000"/>
              </a:lnSpc>
              <a:spcBef>
                <a:spcPts val="0"/>
              </a:spcBef>
              <a:spcAft>
                <a:spcPts val="0"/>
              </a:spcAft>
              <a:buClr>
                <a:schemeClr val="dk1"/>
              </a:buClr>
              <a:buSzPts val="4800"/>
              <a:buFont typeface="Play"/>
              <a:buNone/>
            </a:pPr>
            <a:r>
              <a:rPr lang="en-US" sz="4800"/>
              <a:t>Counting with Counters</a:t>
            </a:r>
            <a:endParaRPr/>
          </a:p>
        </p:txBody>
      </p:sp>
      <p:sp>
        <p:nvSpPr>
          <p:cNvPr id="307" name="Google Shape;307;p13"/>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13"/>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13"/>
          <p:cNvSpPr txBo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The mapper</a:t>
            </a:r>
            <a:endParaRPr sz="2000">
              <a:solidFill>
                <a:schemeClr val="dk1"/>
              </a:solidFill>
              <a:latin typeface="Arial"/>
              <a:ea typeface="Arial"/>
              <a:cs typeface="Arial"/>
              <a:sym typeface="Arial"/>
            </a:endParaRPr>
          </a:p>
          <a:p>
            <a:pPr marL="588645" marR="5080" lvl="0" indent="-228600" algn="l" rtl="0">
              <a:lnSpc>
                <a:spcPct val="90000"/>
              </a:lnSpc>
              <a:spcBef>
                <a:spcPts val="630"/>
              </a:spcBef>
              <a:spcAft>
                <a:spcPts val="0"/>
              </a:spcAft>
              <a:buClr>
                <a:schemeClr val="dk1"/>
              </a:buClr>
              <a:buSzPts val="2000"/>
              <a:buFont typeface="Arial"/>
              <a:buChar char="•"/>
            </a:pPr>
            <a:r>
              <a:rPr lang="en-US" sz="2000">
                <a:solidFill>
                  <a:schemeClr val="dk1"/>
                </a:solidFill>
                <a:latin typeface="Arial"/>
                <a:ea typeface="Arial"/>
                <a:cs typeface="Arial"/>
                <a:sym typeface="Arial"/>
              </a:rPr>
              <a:t>∗	processes each input record at a time to increment counters based on certain criteria</a:t>
            </a:r>
            <a:endParaRPr sz="2000">
              <a:solidFill>
                <a:schemeClr val="dk1"/>
              </a:solidFill>
              <a:latin typeface="Arial"/>
              <a:ea typeface="Arial"/>
              <a:cs typeface="Arial"/>
              <a:sym typeface="Arial"/>
            </a:endParaRPr>
          </a:p>
          <a:p>
            <a:pPr marL="12700" marR="0" lvl="0" indent="-12700" algn="l" rtl="0">
              <a:lnSpc>
                <a:spcPct val="90000"/>
              </a:lnSpc>
              <a:spcBef>
                <a:spcPts val="570"/>
              </a:spcBef>
              <a:spcAft>
                <a:spcPts val="0"/>
              </a:spcAft>
              <a:buClr>
                <a:schemeClr val="dk1"/>
              </a:buClr>
              <a:buSzPts val="2000"/>
              <a:buFont typeface="Arial"/>
              <a:buChar char="•"/>
            </a:pPr>
            <a:r>
              <a:rPr lang="en-US" sz="2000">
                <a:solidFill>
                  <a:schemeClr val="dk1"/>
                </a:solidFill>
                <a:latin typeface="Arial"/>
                <a:ea typeface="Arial"/>
                <a:cs typeface="Arial"/>
                <a:sym typeface="Arial"/>
              </a:rPr>
              <a:t>∗	The Reducer</a:t>
            </a:r>
            <a:endParaRPr sz="2000">
              <a:solidFill>
                <a:schemeClr val="dk1"/>
              </a:solidFill>
              <a:latin typeface="Arial"/>
              <a:ea typeface="Arial"/>
              <a:cs typeface="Arial"/>
              <a:sym typeface="Arial"/>
            </a:endParaRPr>
          </a:p>
          <a:p>
            <a:pPr marL="314325" marR="0" lvl="0" indent="-228600" algn="l" rtl="0">
              <a:lnSpc>
                <a:spcPct val="90000"/>
              </a:lnSpc>
              <a:spcBef>
                <a:spcPts val="630"/>
              </a:spcBef>
              <a:spcAft>
                <a:spcPts val="0"/>
              </a:spcAft>
              <a:buClr>
                <a:schemeClr val="dk1"/>
              </a:buClr>
              <a:buSzPts val="2000"/>
              <a:buFont typeface="Arial"/>
              <a:buChar char="•"/>
            </a:pPr>
            <a:r>
              <a:rPr lang="en-US" sz="2000">
                <a:solidFill>
                  <a:schemeClr val="dk1"/>
                </a:solidFill>
                <a:latin typeface="Arial"/>
                <a:ea typeface="Arial"/>
                <a:cs typeface="Arial"/>
                <a:sym typeface="Arial"/>
              </a:rPr>
              <a:t>∗	incremented by one if counting a single</a:t>
            </a:r>
            <a:endParaRPr sz="2000">
              <a:solidFill>
                <a:schemeClr val="dk1"/>
              </a:solidFill>
              <a:latin typeface="Arial"/>
              <a:ea typeface="Arial"/>
              <a:cs typeface="Arial"/>
              <a:sym typeface="Arial"/>
            </a:endParaRPr>
          </a:p>
          <a:p>
            <a:pPr marL="588645" marR="0" lvl="0" indent="-2286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instance</a:t>
            </a:r>
            <a:endParaRPr sz="2000">
              <a:solidFill>
                <a:schemeClr val="dk1"/>
              </a:solidFill>
              <a:latin typeface="Arial"/>
              <a:ea typeface="Arial"/>
              <a:cs typeface="Arial"/>
              <a:sym typeface="Arial"/>
            </a:endParaRPr>
          </a:p>
          <a:p>
            <a:pPr marL="588645" marR="703580" lvl="0" indent="-228600" algn="l" rtl="0">
              <a:lnSpc>
                <a:spcPct val="90000"/>
              </a:lnSpc>
              <a:spcBef>
                <a:spcPts val="605"/>
              </a:spcBef>
              <a:spcAft>
                <a:spcPts val="0"/>
              </a:spcAft>
              <a:buClr>
                <a:schemeClr val="dk1"/>
              </a:buClr>
              <a:buSzPts val="2000"/>
              <a:buFont typeface="Arial"/>
              <a:buChar char="•"/>
            </a:pPr>
            <a:r>
              <a:rPr lang="en-US" sz="2000">
                <a:solidFill>
                  <a:schemeClr val="dk1"/>
                </a:solidFill>
                <a:latin typeface="Arial"/>
                <a:ea typeface="Arial"/>
                <a:cs typeface="Arial"/>
                <a:sym typeface="Arial"/>
              </a:rPr>
              <a:t>∗	incremented by some number if executing a summation</a:t>
            </a:r>
            <a:endParaRPr sz="2000">
              <a:solidFill>
                <a:schemeClr val="dk1"/>
              </a:solidFill>
              <a:latin typeface="Arial"/>
              <a:ea typeface="Arial"/>
              <a:cs typeface="Arial"/>
              <a:sym typeface="Arial"/>
            </a:endParaRPr>
          </a:p>
        </p:txBody>
      </p:sp>
      <p:pic>
        <p:nvPicPr>
          <p:cNvPr id="310" name="Google Shape;310;p13"/>
          <p:cNvPicPr preferRelativeResize="0"/>
          <p:nvPr/>
        </p:nvPicPr>
        <p:blipFill rotWithShape="1">
          <a:blip r:embed="rId3">
            <a:alphaModFix/>
          </a:blip>
          <a:srcRect r="805" b="-2"/>
          <a:stretch/>
        </p:blipFill>
        <p:spPr>
          <a:xfrm>
            <a:off x="5911532" y="2484255"/>
            <a:ext cx="5150277" cy="3714244"/>
          </a:xfrm>
          <a:prstGeom prst="rect">
            <a:avLst/>
          </a:prstGeom>
          <a:noFill/>
          <a:ln>
            <a:noFill/>
          </a:ln>
        </p:spPr>
      </p:pic>
      <p:sp>
        <p:nvSpPr>
          <p:cNvPr id="311" name="Google Shape;311;p13"/>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5"/>
        <p:cNvGrpSpPr/>
        <p:nvPr/>
      </p:nvGrpSpPr>
      <p:grpSpPr>
        <a:xfrm>
          <a:off x="0" y="0"/>
          <a:ext cx="0" cy="0"/>
          <a:chOff x="0" y="0"/>
          <a:chExt cx="0" cy="0"/>
        </a:xfrm>
      </p:grpSpPr>
      <p:sp>
        <p:nvSpPr>
          <p:cNvPr id="316" name="Google Shape;316;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14" descr="$PPTXTitle"/>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676910" lvl="0" indent="0" algn="l" rtl="0">
              <a:lnSpc>
                <a:spcPct val="90000"/>
              </a:lnSpc>
              <a:spcBef>
                <a:spcPts val="0"/>
              </a:spcBef>
              <a:spcAft>
                <a:spcPts val="0"/>
              </a:spcAft>
              <a:buClr>
                <a:schemeClr val="dk1"/>
              </a:buClr>
              <a:buSzPts val="4400"/>
              <a:buFont typeface="Play"/>
              <a:buNone/>
            </a:pPr>
            <a:r>
              <a:rPr lang="en-US"/>
              <a:t>Counting with Counters</a:t>
            </a:r>
            <a:endParaRPr/>
          </a:p>
        </p:txBody>
      </p:sp>
      <p:pic>
        <p:nvPicPr>
          <p:cNvPr id="318" name="Google Shape;318;p14"/>
          <p:cNvPicPr preferRelativeResize="0"/>
          <p:nvPr/>
        </p:nvPicPr>
        <p:blipFill rotWithShape="1">
          <a:blip r:embed="rId3">
            <a:alphaModFix/>
          </a:blip>
          <a:srcRect l="10477" r="14522" b="-1"/>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319" name="Google Shape;319;p14"/>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20" name="Google Shape;320;p14"/>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21" name="Google Shape;321;p14"/>
          <p:cNvGrpSpPr/>
          <p:nvPr/>
        </p:nvGrpSpPr>
        <p:grpSpPr>
          <a:xfrm>
            <a:off x="838858" y="2332327"/>
            <a:ext cx="5392044" cy="3337933"/>
            <a:chOff x="658" y="506702"/>
            <a:chExt cx="5392044" cy="3337933"/>
          </a:xfrm>
        </p:grpSpPr>
        <p:sp>
          <p:nvSpPr>
            <p:cNvPr id="322" name="Google Shape;322;p14"/>
            <p:cNvSpPr/>
            <p:nvPr/>
          </p:nvSpPr>
          <p:spPr>
            <a:xfrm>
              <a:off x="658" y="506702"/>
              <a:ext cx="2567640" cy="1540584"/>
            </a:xfrm>
            <a:prstGeom prst="rect">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4"/>
            <p:cNvSpPr txBox="1"/>
            <p:nvPr/>
          </p:nvSpPr>
          <p:spPr>
            <a:xfrm>
              <a:off x="658" y="506702"/>
              <a:ext cx="2567640" cy="154058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Consequences</a:t>
              </a:r>
              <a:endParaRPr/>
            </a:p>
            <a:p>
              <a:pPr marL="171450" marR="0" lvl="1" indent="-171450" algn="l" rtl="0">
                <a:lnSpc>
                  <a:spcPct val="90000"/>
                </a:lnSpc>
                <a:spcBef>
                  <a:spcPts val="56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the final output is a set of counters grabbed from the job framework (no actual output)</a:t>
              </a:r>
              <a:endParaRPr/>
            </a:p>
          </p:txBody>
        </p:sp>
        <p:sp>
          <p:nvSpPr>
            <p:cNvPr id="324" name="Google Shape;324;p14"/>
            <p:cNvSpPr/>
            <p:nvPr/>
          </p:nvSpPr>
          <p:spPr>
            <a:xfrm>
              <a:off x="2825062" y="506702"/>
              <a:ext cx="2567640" cy="1540584"/>
            </a:xfrm>
            <a:prstGeom prst="rect">
              <a:avLst/>
            </a:prstGeom>
            <a:gradFill>
              <a:gsLst>
                <a:gs pos="0">
                  <a:srgbClr val="4F7FAD"/>
                </a:gs>
                <a:gs pos="50000">
                  <a:srgbClr val="246EA7"/>
                </a:gs>
                <a:gs pos="100000">
                  <a:srgbClr val="1A629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4"/>
            <p:cNvSpPr txBox="1"/>
            <p:nvPr/>
          </p:nvSpPr>
          <p:spPr>
            <a:xfrm>
              <a:off x="2825062" y="506702"/>
              <a:ext cx="2567640" cy="154058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Known uses</a:t>
              </a:r>
              <a:endParaRPr/>
            </a:p>
            <a:p>
              <a:pPr marL="171450" marR="0" lvl="1" indent="-171450" algn="l" rtl="0">
                <a:lnSpc>
                  <a:spcPct val="90000"/>
                </a:lnSpc>
                <a:spcBef>
                  <a:spcPts val="56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Count number of records (over a given time period)</a:t>
              </a:r>
              <a:endParaRPr/>
            </a:p>
            <a:p>
              <a:pPr marL="171450" marR="0" lvl="1" indent="-171450" algn="l" rtl="0">
                <a:lnSpc>
                  <a:spcPct val="90000"/>
                </a:lnSpc>
                <a:spcBef>
                  <a:spcPts val="24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Count a small number of unique instances</a:t>
              </a:r>
              <a:endParaRPr/>
            </a:p>
            <a:p>
              <a:pPr marL="171450" marR="0" lvl="1" indent="-171450" algn="l" rtl="0">
                <a:lnSpc>
                  <a:spcPct val="90000"/>
                </a:lnSpc>
                <a:spcBef>
                  <a:spcPts val="24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Counters can be used to sum fields of data together</a:t>
              </a:r>
              <a:endParaRPr/>
            </a:p>
          </p:txBody>
        </p:sp>
        <p:sp>
          <p:nvSpPr>
            <p:cNvPr id="326" name="Google Shape;326;p14"/>
            <p:cNvSpPr/>
            <p:nvPr/>
          </p:nvSpPr>
          <p:spPr>
            <a:xfrm>
              <a:off x="1412860" y="2304051"/>
              <a:ext cx="2567640" cy="1540584"/>
            </a:xfrm>
            <a:prstGeom prst="rect">
              <a:avLst/>
            </a:prstGeom>
            <a:gradFill>
              <a:gsLst>
                <a:gs pos="0">
                  <a:srgbClr val="63B150"/>
                </a:gs>
                <a:gs pos="50000">
                  <a:srgbClr val="48AC24"/>
                </a:gs>
                <a:gs pos="100000">
                  <a:srgbClr val="3D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4"/>
            <p:cNvSpPr txBox="1"/>
            <p:nvPr/>
          </p:nvSpPr>
          <p:spPr>
            <a:xfrm>
              <a:off x="1412860" y="2304051"/>
              <a:ext cx="2567640" cy="154058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	Performance analysis</a:t>
              </a:r>
              <a:endParaRPr/>
            </a:p>
            <a:p>
              <a:pPr marL="171450" marR="0" lvl="1" indent="-171450" algn="l" rtl="0">
                <a:lnSpc>
                  <a:spcPct val="90000"/>
                </a:lnSpc>
                <a:spcBef>
                  <a:spcPts val="56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Using counters is very fast, as data is simply read in through the mapper and no output is written</a:t>
              </a:r>
              <a:endParaRPr/>
            </a:p>
            <a:p>
              <a:pPr marL="342900" marR="0" lvl="2" indent="-171450" algn="l" rtl="0">
                <a:lnSpc>
                  <a:spcPct val="90000"/>
                </a:lnSpc>
                <a:spcBef>
                  <a:spcPts val="24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Performance depends largely on the number of map tasks being executed and how much time it takes to process each record</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1"/>
        <p:cNvGrpSpPr/>
        <p:nvPr/>
      </p:nvGrpSpPr>
      <p:grpSpPr>
        <a:xfrm>
          <a:off x="0" y="0"/>
          <a:ext cx="0" cy="0"/>
          <a:chOff x="0" y="0"/>
          <a:chExt cx="0" cy="0"/>
        </a:xfrm>
      </p:grpSpPr>
      <p:sp>
        <p:nvSpPr>
          <p:cNvPr id="332" name="Google Shape;332;p15"/>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15"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67691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Counting with Counters</a:t>
            </a:r>
            <a:endParaRPr/>
          </a:p>
        </p:txBody>
      </p:sp>
      <p:sp>
        <p:nvSpPr>
          <p:cNvPr id="334" name="Google Shape;334;p15"/>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5" name="Google Shape;335;p15"/>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15"/>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337" name="Google Shape;337;p15"/>
          <p:cNvGrpSpPr/>
          <p:nvPr/>
        </p:nvGrpSpPr>
        <p:grpSpPr>
          <a:xfrm>
            <a:off x="5917911" y="3727732"/>
            <a:ext cx="5143631" cy="1233409"/>
            <a:chOff x="4857750" y="3252724"/>
            <a:chExt cx="2457450" cy="589280"/>
          </a:xfrm>
        </p:grpSpPr>
        <p:pic>
          <p:nvPicPr>
            <p:cNvPr id="338" name="Google Shape;338;p15"/>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339" name="Google Shape;339;p15"/>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0" name="Google Shape;340;p15"/>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4"/>
        <p:cNvGrpSpPr/>
        <p:nvPr/>
      </p:nvGrpSpPr>
      <p:grpSpPr>
        <a:xfrm>
          <a:off x="0" y="0"/>
          <a:ext cx="0" cy="0"/>
          <a:chOff x="0" y="0"/>
          <a:chExt cx="0" cy="0"/>
        </a:xfrm>
      </p:grpSpPr>
      <p:sp>
        <p:nvSpPr>
          <p:cNvPr id="345" name="Google Shape;345;p16"/>
          <p:cNvSpPr/>
          <p:nvPr/>
        </p:nvSpPr>
        <p:spPr>
          <a:xfrm>
            <a:off x="0" y="4375"/>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16" descr="$PPTXTitle"/>
          <p:cNvSpPr txBox="1">
            <a:spLocks noGrp="1"/>
          </p:cNvSpPr>
          <p:nvPr>
            <p:ph type="title"/>
          </p:nvPr>
        </p:nvSpPr>
        <p:spPr>
          <a:xfrm>
            <a:off x="838200" y="365125"/>
            <a:ext cx="10515599" cy="1325563"/>
          </a:xfrm>
          <a:prstGeom prst="rect">
            <a:avLst/>
          </a:prstGeom>
          <a:noFill/>
          <a:ln>
            <a:noFill/>
          </a:ln>
        </p:spPr>
        <p:txBody>
          <a:bodyPr spcFirstLastPara="1" wrap="square" lIns="91425" tIns="45700" rIns="91425" bIns="45700" anchor="ctr" anchorCtr="0">
            <a:normAutofit/>
          </a:bodyPr>
          <a:lstStyle/>
          <a:p>
            <a:pPr marL="1270000" lvl="0" indent="0" algn="l" rtl="0">
              <a:lnSpc>
                <a:spcPct val="90000"/>
              </a:lnSpc>
              <a:spcBef>
                <a:spcPts val="0"/>
              </a:spcBef>
              <a:spcAft>
                <a:spcPts val="0"/>
              </a:spcAft>
              <a:buClr>
                <a:schemeClr val="dk1"/>
              </a:buClr>
              <a:buSzPts val="4400"/>
              <a:buFont typeface="Play"/>
              <a:buNone/>
            </a:pPr>
            <a:r>
              <a:rPr lang="en-US"/>
              <a:t>II. Filtering Pattern</a:t>
            </a:r>
            <a:endParaRPr/>
          </a:p>
        </p:txBody>
      </p:sp>
      <p:pic>
        <p:nvPicPr>
          <p:cNvPr id="347" name="Google Shape;347;p16"/>
          <p:cNvPicPr preferRelativeResize="0"/>
          <p:nvPr/>
        </p:nvPicPr>
        <p:blipFill rotWithShape="1">
          <a:blip r:embed="rId3">
            <a:alphaModFix/>
          </a:blip>
          <a:srcRect l="31273" r="1976" b="-1"/>
          <a:stretch/>
        </p:blipFill>
        <p:spPr>
          <a:xfrm>
            <a:off x="6848918" y="1771078"/>
            <a:ext cx="4504881" cy="4504881"/>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348" name="Google Shape;348;p16"/>
          <p:cNvSpPr/>
          <p:nvPr/>
        </p:nvSpPr>
        <p:spPr>
          <a:xfrm rot="10389197" flipH="1">
            <a:off x="6980527" y="1929807"/>
            <a:ext cx="4556632" cy="4556632"/>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49" name="Google Shape;349;p16"/>
          <p:cNvSpPr/>
          <p:nvPr/>
        </p:nvSpPr>
        <p:spPr>
          <a:xfrm>
            <a:off x="10300988" y="1969050"/>
            <a:ext cx="666675" cy="64859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50" name="Google Shape;350;p16"/>
          <p:cNvGrpSpPr/>
          <p:nvPr/>
        </p:nvGrpSpPr>
        <p:grpSpPr>
          <a:xfrm>
            <a:off x="838972" y="1908280"/>
            <a:ext cx="6323055" cy="3914272"/>
            <a:chOff x="772" y="354409"/>
            <a:chExt cx="6323055" cy="3914272"/>
          </a:xfrm>
        </p:grpSpPr>
        <p:sp>
          <p:nvSpPr>
            <p:cNvPr id="351" name="Google Shape;351;p16"/>
            <p:cNvSpPr/>
            <p:nvPr/>
          </p:nvSpPr>
          <p:spPr>
            <a:xfrm>
              <a:off x="772" y="354409"/>
              <a:ext cx="3010979" cy="1806587"/>
            </a:xfrm>
            <a:prstGeom prst="rect">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6"/>
            <p:cNvSpPr txBox="1"/>
            <p:nvPr/>
          </p:nvSpPr>
          <p:spPr>
            <a:xfrm>
              <a:off x="772" y="354409"/>
              <a:ext cx="3010979" cy="1806587"/>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Don’t change the actual records</a:t>
              </a:r>
              <a:endParaRPr/>
            </a:p>
          </p:txBody>
        </p:sp>
        <p:sp>
          <p:nvSpPr>
            <p:cNvPr id="353" name="Google Shape;353;p16"/>
            <p:cNvSpPr/>
            <p:nvPr/>
          </p:nvSpPr>
          <p:spPr>
            <a:xfrm>
              <a:off x="3312848" y="354409"/>
              <a:ext cx="3010979" cy="1806587"/>
            </a:xfrm>
            <a:prstGeom prst="rect">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txBox="1"/>
            <p:nvPr/>
          </p:nvSpPr>
          <p:spPr>
            <a:xfrm>
              <a:off x="3312848" y="354409"/>
              <a:ext cx="3010979" cy="1806587"/>
            </a:xfrm>
            <a:prstGeom prst="rect">
              <a:avLst/>
            </a:prstGeom>
            <a:noFill/>
            <a:ln>
              <a:noFill/>
            </a:ln>
          </p:spPr>
          <p:txBody>
            <a:bodyPr spcFirstLastPara="1" wrap="square" lIns="76200" tIns="76200" rIns="76200" bIns="76200" anchor="t"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To understand a smaller piece of data</a:t>
              </a:r>
              <a:endParaRPr/>
            </a:p>
            <a:p>
              <a:pPr marL="228600" marR="0" lvl="1" indent="-228600" algn="l" rtl="0">
                <a:lnSpc>
                  <a:spcPct val="90000"/>
                </a:lnSpc>
                <a:spcBef>
                  <a:spcPts val="700"/>
                </a:spcBef>
                <a:spcAft>
                  <a:spcPts val="0"/>
                </a:spcAft>
                <a:buClr>
                  <a:schemeClr val="lt1"/>
                </a:buClr>
                <a:buSzPts val="2000"/>
                <a:buFont typeface="Arial"/>
                <a:buChar char="•"/>
              </a:pPr>
              <a:r>
                <a:rPr lang="en-US" sz="2000" b="0" i="0" u="none" strike="noStrike" cap="none">
                  <a:solidFill>
                    <a:schemeClr val="lt1"/>
                  </a:solidFill>
                  <a:latin typeface="Arial"/>
                  <a:ea typeface="Arial"/>
                  <a:cs typeface="Arial"/>
                  <a:sym typeface="Arial"/>
                </a:rPr>
                <a:t>∗	Find a subset of data, whether it be small, like a top-ten listing, or large, like the results of a deduplication</a:t>
              </a:r>
              <a:endParaRPr/>
            </a:p>
          </p:txBody>
        </p:sp>
        <p:sp>
          <p:nvSpPr>
            <p:cNvPr id="355" name="Google Shape;355;p16"/>
            <p:cNvSpPr/>
            <p:nvPr/>
          </p:nvSpPr>
          <p:spPr>
            <a:xfrm>
              <a:off x="1656810" y="2462094"/>
              <a:ext cx="3010979" cy="1806587"/>
            </a:xfrm>
            <a:prstGeom prst="rect">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6"/>
            <p:cNvSpPr txBox="1"/>
            <p:nvPr/>
          </p:nvSpPr>
          <p:spPr>
            <a:xfrm>
              <a:off x="1656810" y="2462094"/>
              <a:ext cx="3010979" cy="1806587"/>
            </a:xfrm>
            <a:prstGeom prst="rect">
              <a:avLst/>
            </a:prstGeom>
            <a:noFill/>
            <a:ln>
              <a:noFill/>
            </a:ln>
          </p:spPr>
          <p:txBody>
            <a:bodyPr spcFirstLastPara="1" wrap="square" lIns="76200" tIns="76200" rIns="76200" bIns="76200" anchor="t"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Patterns</a:t>
              </a:r>
              <a:endParaRPr/>
            </a:p>
            <a:p>
              <a:pPr marL="228600" marR="0" lvl="1" indent="-228600" algn="l" rtl="0">
                <a:lnSpc>
                  <a:spcPct val="90000"/>
                </a:lnSpc>
                <a:spcBef>
                  <a:spcPts val="700"/>
                </a:spcBef>
                <a:spcAft>
                  <a:spcPts val="0"/>
                </a:spcAft>
                <a:buClr>
                  <a:schemeClr val="lt1"/>
                </a:buClr>
                <a:buSzPts val="2000"/>
                <a:buFont typeface="Arial"/>
                <a:buChar char="•"/>
              </a:pPr>
              <a:r>
                <a:rPr lang="en-US" sz="2000" b="0" i="0" u="none" strike="noStrike" cap="none">
                  <a:solidFill>
                    <a:schemeClr val="lt1"/>
                  </a:solidFill>
                  <a:latin typeface="Arial"/>
                  <a:ea typeface="Arial"/>
                  <a:cs typeface="Arial"/>
                  <a:sym typeface="Arial"/>
                </a:rPr>
                <a:t>∗	Filtering</a:t>
              </a:r>
              <a:endParaRPr/>
            </a:p>
            <a:p>
              <a:pPr marL="228600" marR="0" lvl="1" indent="-228600" algn="l" rtl="0">
                <a:lnSpc>
                  <a:spcPct val="90000"/>
                </a:lnSpc>
                <a:spcBef>
                  <a:spcPts val="300"/>
                </a:spcBef>
                <a:spcAft>
                  <a:spcPts val="0"/>
                </a:spcAft>
                <a:buClr>
                  <a:schemeClr val="lt1"/>
                </a:buClr>
                <a:buSzPts val="2000"/>
                <a:buFont typeface="Arial"/>
                <a:buChar char="•"/>
              </a:pPr>
              <a:r>
                <a:rPr lang="en-US" sz="2000" b="0" i="0" u="none" strike="noStrike" cap="none">
                  <a:solidFill>
                    <a:schemeClr val="lt1"/>
                  </a:solidFill>
                  <a:latin typeface="Arial"/>
                  <a:ea typeface="Arial"/>
                  <a:cs typeface="Arial"/>
                  <a:sym typeface="Arial"/>
                </a:rPr>
                <a:t>∗	Top Ten</a:t>
              </a:r>
              <a:endParaRPr/>
            </a:p>
            <a:p>
              <a:pPr marL="228600" marR="0" lvl="1" indent="-228600" algn="l" rtl="0">
                <a:lnSpc>
                  <a:spcPct val="90000"/>
                </a:lnSpc>
                <a:spcBef>
                  <a:spcPts val="300"/>
                </a:spcBef>
                <a:spcAft>
                  <a:spcPts val="0"/>
                </a:spcAft>
                <a:buClr>
                  <a:schemeClr val="lt1"/>
                </a:buClr>
                <a:buSzPts val="2000"/>
                <a:buFont typeface="Arial"/>
                <a:buChar char="•"/>
              </a:pPr>
              <a:r>
                <a:rPr lang="en-US" sz="2000" b="0" i="0" u="none" strike="noStrike" cap="none">
                  <a:solidFill>
                    <a:schemeClr val="lt1"/>
                  </a:solidFill>
                  <a:latin typeface="Arial"/>
                  <a:ea typeface="Arial"/>
                  <a:cs typeface="Arial"/>
                  <a:sym typeface="Arial"/>
                </a:rPr>
                <a:t>∗	Distinct</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0"/>
        <p:cNvGrpSpPr/>
        <p:nvPr/>
      </p:nvGrpSpPr>
      <p:grpSpPr>
        <a:xfrm>
          <a:off x="0" y="0"/>
          <a:ext cx="0" cy="0"/>
          <a:chOff x="0" y="0"/>
          <a:chExt cx="0" cy="0"/>
        </a:xfrm>
      </p:grpSpPr>
      <p:sp>
        <p:nvSpPr>
          <p:cNvPr id="361" name="Google Shape;361;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2" name="Google Shape;362;p17" descr="$PPTXTitle"/>
          <p:cNvSpPr txBox="1">
            <a:spLocks noGrp="1"/>
          </p:cNvSpPr>
          <p:nvPr>
            <p:ph type="title"/>
          </p:nvPr>
        </p:nvSpPr>
        <p:spPr>
          <a:xfrm>
            <a:off x="838200" y="365125"/>
            <a:ext cx="5393361" cy="1325563"/>
          </a:xfrm>
          <a:prstGeom prst="rect">
            <a:avLst/>
          </a:prstGeom>
          <a:noFill/>
          <a:ln>
            <a:noFill/>
          </a:ln>
        </p:spPr>
        <p:txBody>
          <a:bodyPr spcFirstLastPara="1" wrap="square" lIns="0" tIns="13325" rIns="0" bIns="0" anchor="ctr" anchorCtr="0">
            <a:normAutofit/>
          </a:bodyPr>
          <a:lstStyle/>
          <a:p>
            <a:pPr marL="2503170" lvl="0" indent="0" algn="l" rtl="0">
              <a:lnSpc>
                <a:spcPct val="90000"/>
              </a:lnSpc>
              <a:spcBef>
                <a:spcPts val="0"/>
              </a:spcBef>
              <a:spcAft>
                <a:spcPts val="0"/>
              </a:spcAft>
              <a:buClr>
                <a:schemeClr val="dk1"/>
              </a:buClr>
              <a:buSzPts val="4400"/>
              <a:buFont typeface="Play"/>
              <a:buNone/>
            </a:pPr>
            <a:r>
              <a:rPr lang="en-US"/>
              <a:t>Filtering</a:t>
            </a:r>
            <a:endParaRPr/>
          </a:p>
        </p:txBody>
      </p:sp>
      <p:pic>
        <p:nvPicPr>
          <p:cNvPr id="363" name="Google Shape;363;p17"/>
          <p:cNvPicPr preferRelativeResize="0"/>
          <p:nvPr/>
        </p:nvPicPr>
        <p:blipFill rotWithShape="1">
          <a:blip r:embed="rId3">
            <a:alphaModFix/>
          </a:blip>
          <a:srcRect l="26750"/>
          <a:stretch/>
        </p:blipFill>
        <p:spPr>
          <a:xfrm>
            <a:off x="6374920" y="758514"/>
            <a:ext cx="5122238" cy="5122238"/>
          </a:xfrm>
          <a:custGeom>
            <a:avLst/>
            <a:gdLst/>
            <a:ahLst/>
            <a:cxnLst/>
            <a:rect l="l" t="t" r="r" b="b"/>
            <a:pathLst>
              <a:path w="2663168" h="2663168" extrusionOk="0">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364" name="Google Shape;364;p17"/>
          <p:cNvSpPr/>
          <p:nvPr/>
        </p:nvSpPr>
        <p:spPr>
          <a:xfrm rot="10389197" flipH="1">
            <a:off x="6261882" y="687822"/>
            <a:ext cx="5471147" cy="5471147"/>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65" name="Google Shape;365;p17"/>
          <p:cNvSpPr/>
          <p:nvPr/>
        </p:nvSpPr>
        <p:spPr>
          <a:xfrm>
            <a:off x="10248561" y="921125"/>
            <a:ext cx="791021" cy="7695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6" name="Google Shape;366;p17"/>
          <p:cNvGrpSpPr/>
          <p:nvPr/>
        </p:nvGrpSpPr>
        <p:grpSpPr>
          <a:xfrm>
            <a:off x="838200" y="1371600"/>
            <a:ext cx="5791199" cy="4805362"/>
            <a:chOff x="0" y="0"/>
            <a:chExt cx="5791199" cy="4805362"/>
          </a:xfrm>
        </p:grpSpPr>
        <p:sp>
          <p:nvSpPr>
            <p:cNvPr id="367" name="Google Shape;367;p17"/>
            <p:cNvSpPr/>
            <p:nvPr/>
          </p:nvSpPr>
          <p:spPr>
            <a:xfrm>
              <a:off x="0" y="0"/>
              <a:ext cx="4922520" cy="1441608"/>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7"/>
            <p:cNvSpPr txBox="1"/>
            <p:nvPr/>
          </p:nvSpPr>
          <p:spPr>
            <a:xfrm>
              <a:off x="42223" y="42223"/>
              <a:ext cx="3366912" cy="1357162"/>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Intent: Filter out records that are not of interest</a:t>
              </a:r>
              <a:endParaRPr/>
            </a:p>
          </p:txBody>
        </p:sp>
        <p:sp>
          <p:nvSpPr>
            <p:cNvPr id="369" name="Google Shape;369;p17"/>
            <p:cNvSpPr/>
            <p:nvPr/>
          </p:nvSpPr>
          <p:spPr>
            <a:xfrm>
              <a:off x="434339" y="1681877"/>
              <a:ext cx="4922520" cy="1441608"/>
            </a:xfrm>
            <a:prstGeom prst="roundRect">
              <a:avLst>
                <a:gd name="adj" fmla="val 10000"/>
              </a:avLst>
            </a:prstGeom>
            <a:solidFill>
              <a:srgbClr val="8CAF1D"/>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7"/>
            <p:cNvSpPr txBox="1"/>
            <p:nvPr/>
          </p:nvSpPr>
          <p:spPr>
            <a:xfrm>
              <a:off x="476562" y="1724100"/>
              <a:ext cx="3466688" cy="1357162"/>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Motivation</a:t>
              </a:r>
              <a:endParaRPr/>
            </a:p>
            <a:p>
              <a:pPr marL="171450" marR="0" lvl="1" indent="-171450" algn="l" rtl="0">
                <a:lnSpc>
                  <a:spcPct val="10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Your data set is large and you want to take a subset of this data to focus in on it and perhaps do follow-on analysis</a:t>
              </a:r>
              <a:endParaRPr/>
            </a:p>
          </p:txBody>
        </p:sp>
        <p:sp>
          <p:nvSpPr>
            <p:cNvPr id="371" name="Google Shape;371;p17"/>
            <p:cNvSpPr/>
            <p:nvPr/>
          </p:nvSpPr>
          <p:spPr>
            <a:xfrm>
              <a:off x="868679" y="3363754"/>
              <a:ext cx="4922520" cy="1441608"/>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7"/>
            <p:cNvSpPr txBox="1"/>
            <p:nvPr/>
          </p:nvSpPr>
          <p:spPr>
            <a:xfrm>
              <a:off x="910902" y="3405977"/>
              <a:ext cx="3466688" cy="1357162"/>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Applicability</a:t>
              </a:r>
              <a:endParaRPr/>
            </a:p>
            <a:p>
              <a:pPr marL="171450" marR="0" lvl="1" indent="-171450" algn="l" rtl="0">
                <a:lnSpc>
                  <a:spcPct val="10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The data can be parsed into “records” that can be categorized through some well-specified criterion determining whether they are to be kept</a:t>
              </a:r>
              <a:endParaRPr/>
            </a:p>
          </p:txBody>
        </p:sp>
        <p:sp>
          <p:nvSpPr>
            <p:cNvPr id="373" name="Google Shape;373;p17"/>
            <p:cNvSpPr/>
            <p:nvPr/>
          </p:nvSpPr>
          <p:spPr>
            <a:xfrm>
              <a:off x="3985474" y="1093220"/>
              <a:ext cx="937045" cy="937045"/>
            </a:xfrm>
            <a:prstGeom prst="downArrow">
              <a:avLst>
                <a:gd name="adj1" fmla="val 55000"/>
                <a:gd name="adj2" fmla="val 45000"/>
              </a:avLst>
            </a:prstGeom>
            <a:solidFill>
              <a:srgbClr val="F6D4CC">
                <a:alpha val="90196"/>
              </a:srgbClr>
            </a:solidFill>
            <a:ln w="19050" cap="flat" cmpd="sng">
              <a:solidFill>
                <a:srgbClr val="F6D4CC">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7"/>
            <p:cNvSpPr txBox="1"/>
            <p:nvPr/>
          </p:nvSpPr>
          <p:spPr>
            <a:xfrm>
              <a:off x="4196309" y="1093220"/>
              <a:ext cx="515375" cy="705126"/>
            </a:xfrm>
            <a:prstGeom prst="rect">
              <a:avLst/>
            </a:prstGeom>
            <a:noFill/>
            <a:ln>
              <a:noFill/>
            </a:ln>
          </p:spPr>
          <p:txBody>
            <a:bodyPr spcFirstLastPara="1" wrap="square" lIns="20300" tIns="20300" rIns="20300" bIns="203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a:solidFill>
                  <a:schemeClr val="dk1"/>
                </a:solidFill>
                <a:latin typeface="Arial"/>
                <a:ea typeface="Arial"/>
                <a:cs typeface="Arial"/>
                <a:sym typeface="Arial"/>
              </a:endParaRPr>
            </a:p>
          </p:txBody>
        </p:sp>
        <p:sp>
          <p:nvSpPr>
            <p:cNvPr id="375" name="Google Shape;375;p17"/>
            <p:cNvSpPr/>
            <p:nvPr/>
          </p:nvSpPr>
          <p:spPr>
            <a:xfrm>
              <a:off x="4419814" y="2765486"/>
              <a:ext cx="937045" cy="937045"/>
            </a:xfrm>
            <a:prstGeom prst="downArrow">
              <a:avLst>
                <a:gd name="adj1" fmla="val 55000"/>
                <a:gd name="adj2" fmla="val 45000"/>
              </a:avLst>
            </a:prstGeom>
            <a:solidFill>
              <a:srgbClr val="CAD2CA">
                <a:alpha val="90196"/>
              </a:srgbClr>
            </a:solidFill>
            <a:ln w="19050" cap="flat" cmpd="sng">
              <a:solidFill>
                <a:srgbClr val="CAD2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7"/>
            <p:cNvSpPr txBox="1"/>
            <p:nvPr/>
          </p:nvSpPr>
          <p:spPr>
            <a:xfrm>
              <a:off x="4630649" y="2765486"/>
              <a:ext cx="515375" cy="705126"/>
            </a:xfrm>
            <a:prstGeom prst="rect">
              <a:avLst/>
            </a:prstGeom>
            <a:noFill/>
            <a:ln>
              <a:noFill/>
            </a:ln>
          </p:spPr>
          <p:txBody>
            <a:bodyPr spcFirstLastPara="1" wrap="square" lIns="20300" tIns="20300" rIns="20300" bIns="203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a:solidFill>
                  <a:schemeClr val="dk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0"/>
        <p:cNvGrpSpPr/>
        <p:nvPr/>
      </p:nvGrpSpPr>
      <p:grpSpPr>
        <a:xfrm>
          <a:off x="0" y="0"/>
          <a:ext cx="0" cy="0"/>
          <a:chOff x="0" y="0"/>
          <a:chExt cx="0" cy="0"/>
        </a:xfrm>
      </p:grpSpPr>
      <p:sp>
        <p:nvSpPr>
          <p:cNvPr id="381" name="Google Shape;381;p1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2" name="Google Shape;382;p18" descr="$PPTXTitle"/>
          <p:cNvSpPr txBox="1">
            <a:spLocks noGrp="1"/>
          </p:cNvSpPr>
          <p:nvPr>
            <p:ph type="title"/>
          </p:nvPr>
        </p:nvSpPr>
        <p:spPr>
          <a:xfrm>
            <a:off x="589560" y="856180"/>
            <a:ext cx="4560584" cy="1128068"/>
          </a:xfrm>
          <a:prstGeom prst="rect">
            <a:avLst/>
          </a:prstGeom>
          <a:noFill/>
          <a:ln>
            <a:noFill/>
          </a:ln>
        </p:spPr>
        <p:txBody>
          <a:bodyPr spcFirstLastPara="1" wrap="square" lIns="91425" tIns="45700" rIns="91425" bIns="45700" anchor="ctr" anchorCtr="0">
            <a:normAutofit/>
          </a:bodyPr>
          <a:lstStyle/>
          <a:p>
            <a:pPr marL="2503170" lvl="0" indent="0" algn="l" rtl="0">
              <a:lnSpc>
                <a:spcPct val="90000"/>
              </a:lnSpc>
              <a:spcBef>
                <a:spcPts val="0"/>
              </a:spcBef>
              <a:spcAft>
                <a:spcPts val="0"/>
              </a:spcAft>
              <a:buClr>
                <a:schemeClr val="dk1"/>
              </a:buClr>
              <a:buSzPts val="4000"/>
              <a:buFont typeface="Play"/>
              <a:buNone/>
            </a:pPr>
            <a:r>
              <a:rPr lang="en-US" sz="4000"/>
              <a:t>Filtering</a:t>
            </a:r>
            <a:endParaRPr/>
          </a:p>
        </p:txBody>
      </p:sp>
      <p:grpSp>
        <p:nvGrpSpPr>
          <p:cNvPr id="383" name="Google Shape;383;p18"/>
          <p:cNvGrpSpPr/>
          <p:nvPr/>
        </p:nvGrpSpPr>
        <p:grpSpPr>
          <a:xfrm>
            <a:off x="0" y="1083484"/>
            <a:ext cx="355196" cy="673460"/>
            <a:chOff x="0" y="823811"/>
            <a:chExt cx="355196" cy="673460"/>
          </a:xfrm>
        </p:grpSpPr>
        <p:sp>
          <p:nvSpPr>
            <p:cNvPr id="384" name="Google Shape;384;p18"/>
            <p:cNvSpPr/>
            <p:nvPr/>
          </p:nvSpPr>
          <p:spPr>
            <a:xfrm>
              <a:off x="0" y="823811"/>
              <a:ext cx="87363"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5" name="Google Shape;385;p18"/>
            <p:cNvSpPr/>
            <p:nvPr/>
          </p:nvSpPr>
          <p:spPr>
            <a:xfrm>
              <a:off x="159341" y="823811"/>
              <a:ext cx="195855"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86" name="Google Shape;386;p18"/>
          <p:cNvSpPr/>
          <p:nvPr/>
        </p:nvSpPr>
        <p:spPr>
          <a:xfrm flipH="1">
            <a:off x="665085" y="2090569"/>
            <a:ext cx="429768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7" name="Google Shape;387;p18"/>
          <p:cNvSpPr txBox="1"/>
          <p:nvPr/>
        </p:nvSpPr>
        <p:spPr>
          <a:xfrm>
            <a:off x="590719" y="2330505"/>
            <a:ext cx="4559425" cy="3979585"/>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The Mapper</a:t>
            </a:r>
            <a:endParaRPr sz="2000">
              <a:solidFill>
                <a:schemeClr val="dk1"/>
              </a:solidFill>
              <a:latin typeface="Arial"/>
              <a:ea typeface="Arial"/>
              <a:cs typeface="Arial"/>
              <a:sym typeface="Arial"/>
            </a:endParaRPr>
          </a:p>
          <a:p>
            <a:pPr marL="588645" marR="5080" lvl="0" indent="-228600" algn="l" rtl="0">
              <a:lnSpc>
                <a:spcPct val="90000"/>
              </a:lnSpc>
              <a:spcBef>
                <a:spcPts val="630"/>
              </a:spcBef>
              <a:spcAft>
                <a:spcPts val="0"/>
              </a:spcAft>
              <a:buClr>
                <a:schemeClr val="dk1"/>
              </a:buClr>
              <a:buSzPts val="2000"/>
              <a:buFont typeface="Arial"/>
              <a:buChar char="•"/>
            </a:pPr>
            <a:r>
              <a:rPr lang="en-US" sz="2000">
                <a:solidFill>
                  <a:schemeClr val="dk1"/>
                </a:solidFill>
                <a:latin typeface="Arial"/>
                <a:ea typeface="Arial"/>
                <a:cs typeface="Arial"/>
                <a:sym typeface="Arial"/>
              </a:rPr>
              <a:t>∗	Consider an evaluation function f that takes a record and returns a Boolean value of true or false. If this function returns true, keep the record; otherwise, toss it out</a:t>
            </a:r>
            <a:endParaRPr sz="2000">
              <a:solidFill>
                <a:schemeClr val="dk1"/>
              </a:solidFill>
              <a:latin typeface="Arial"/>
              <a:ea typeface="Arial"/>
              <a:cs typeface="Arial"/>
              <a:sym typeface="Arial"/>
            </a:endParaRPr>
          </a:p>
          <a:p>
            <a:pPr marL="12700" marR="0" lvl="0" indent="-12700" algn="l" rtl="0">
              <a:lnSpc>
                <a:spcPct val="90000"/>
              </a:lnSpc>
              <a:spcBef>
                <a:spcPts val="570"/>
              </a:spcBef>
              <a:spcAft>
                <a:spcPts val="0"/>
              </a:spcAft>
              <a:buClr>
                <a:schemeClr val="dk1"/>
              </a:buClr>
              <a:buSzPts val="2000"/>
              <a:buFont typeface="Arial"/>
              <a:buChar char="•"/>
            </a:pPr>
            <a:r>
              <a:rPr lang="en-US" sz="2000">
                <a:solidFill>
                  <a:schemeClr val="dk1"/>
                </a:solidFill>
                <a:latin typeface="Arial"/>
                <a:ea typeface="Arial"/>
                <a:cs typeface="Arial"/>
                <a:sym typeface="Arial"/>
              </a:rPr>
              <a:t>∗	The Reducer</a:t>
            </a:r>
            <a:endParaRPr sz="2000">
              <a:solidFill>
                <a:schemeClr val="dk1"/>
              </a:solidFill>
              <a:latin typeface="Arial"/>
              <a:ea typeface="Arial"/>
              <a:cs typeface="Arial"/>
              <a:sym typeface="Arial"/>
            </a:endParaRPr>
          </a:p>
          <a:p>
            <a:pPr marL="314325" marR="0" lvl="0" indent="-228600" algn="l" rtl="0">
              <a:lnSpc>
                <a:spcPct val="90000"/>
              </a:lnSpc>
              <a:spcBef>
                <a:spcPts val="635"/>
              </a:spcBef>
              <a:spcAft>
                <a:spcPts val="0"/>
              </a:spcAft>
              <a:buClr>
                <a:schemeClr val="dk1"/>
              </a:buClr>
              <a:buSzPts val="2000"/>
              <a:buFont typeface="Arial"/>
              <a:buChar char="•"/>
            </a:pPr>
            <a:r>
              <a:rPr lang="en-US" sz="2000">
                <a:solidFill>
                  <a:schemeClr val="dk1"/>
                </a:solidFill>
                <a:latin typeface="Arial"/>
                <a:ea typeface="Arial"/>
                <a:cs typeface="Arial"/>
                <a:sym typeface="Arial"/>
              </a:rPr>
              <a:t>∗	No reducer</a:t>
            </a:r>
            <a:endParaRPr sz="2000">
              <a:solidFill>
                <a:schemeClr val="dk1"/>
              </a:solidFill>
              <a:latin typeface="Arial"/>
              <a:ea typeface="Arial"/>
              <a:cs typeface="Arial"/>
              <a:sym typeface="Arial"/>
            </a:endParaRPr>
          </a:p>
        </p:txBody>
      </p:sp>
      <p:sp>
        <p:nvSpPr>
          <p:cNvPr id="388" name="Google Shape;388;p18"/>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9" name="Google Shape;389;p18"/>
          <p:cNvSpPr/>
          <p:nvPr/>
        </p:nvSpPr>
        <p:spPr>
          <a:xfrm>
            <a:off x="5685810" y="513853"/>
            <a:ext cx="6009366" cy="5834577"/>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90" name="Google Shape;390;p18"/>
          <p:cNvPicPr preferRelativeResize="0"/>
          <p:nvPr/>
        </p:nvPicPr>
        <p:blipFill rotWithShape="1">
          <a:blip r:embed="rId3">
            <a:alphaModFix/>
          </a:blip>
          <a:srcRect l="18780" r="22419"/>
          <a:stretch/>
        </p:blipFill>
        <p:spPr>
          <a:xfrm>
            <a:off x="5977788" y="799352"/>
            <a:ext cx="5425410" cy="525929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4"/>
        <p:cNvGrpSpPr/>
        <p:nvPr/>
      </p:nvGrpSpPr>
      <p:grpSpPr>
        <a:xfrm>
          <a:off x="0" y="0"/>
          <a:ext cx="0" cy="0"/>
          <a:chOff x="0" y="0"/>
          <a:chExt cx="0" cy="0"/>
        </a:xfrm>
      </p:grpSpPr>
      <p:sp>
        <p:nvSpPr>
          <p:cNvPr id="395" name="Google Shape;395;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6" name="Google Shape;396;p19" descr="$PPTXTitle"/>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2503170" lvl="0" indent="0" algn="l" rtl="0">
              <a:lnSpc>
                <a:spcPct val="90000"/>
              </a:lnSpc>
              <a:spcBef>
                <a:spcPts val="0"/>
              </a:spcBef>
              <a:spcAft>
                <a:spcPts val="0"/>
              </a:spcAft>
              <a:buClr>
                <a:schemeClr val="dk1"/>
              </a:buClr>
              <a:buSzPts val="3400"/>
              <a:buFont typeface="Play"/>
              <a:buNone/>
            </a:pPr>
            <a:r>
              <a:rPr lang="en-US" sz="3400"/>
              <a:t>Filtering</a:t>
            </a:r>
            <a:endParaRPr/>
          </a:p>
        </p:txBody>
      </p:sp>
      <p:sp>
        <p:nvSpPr>
          <p:cNvPr id="397" name="Google Shape;397;p19"/>
          <p:cNvSpPr/>
          <p:nvPr/>
        </p:nvSpPr>
        <p:spPr>
          <a:xfrm rot="5400000">
            <a:off x="649223" y="387939"/>
            <a:ext cx="73152" cy="54864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398" name="Google Shape;398;p19"/>
          <p:cNvSpPr/>
          <p:nvPr/>
        </p:nvSpPr>
        <p:spPr>
          <a:xfrm>
            <a:off x="411480" y="2285541"/>
            <a:ext cx="438912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399" name="Google Shape;399;p19"/>
          <p:cNvPicPr preferRelativeResize="0"/>
          <p:nvPr/>
        </p:nvPicPr>
        <p:blipFill rotWithShape="1">
          <a:blip r:embed="rId3">
            <a:alphaModFix/>
          </a:blip>
          <a:srcRect l="18026" r="15223" b="-1"/>
          <a:stretch/>
        </p:blipFill>
        <p:spPr>
          <a:xfrm>
            <a:off x="5830374" y="625683"/>
            <a:ext cx="5551308" cy="5551280"/>
          </a:xfrm>
          <a:prstGeom prst="rect">
            <a:avLst/>
          </a:prstGeom>
          <a:noFill/>
          <a:ln>
            <a:noFill/>
          </a:ln>
        </p:spPr>
      </p:pic>
      <p:grpSp>
        <p:nvGrpSpPr>
          <p:cNvPr id="400" name="Google Shape;400;p19"/>
          <p:cNvGrpSpPr/>
          <p:nvPr/>
        </p:nvGrpSpPr>
        <p:grpSpPr>
          <a:xfrm>
            <a:off x="415713" y="3141218"/>
            <a:ext cx="5410426" cy="2404634"/>
            <a:chOff x="4233" y="631110"/>
            <a:chExt cx="5410426" cy="2404634"/>
          </a:xfrm>
        </p:grpSpPr>
        <p:sp>
          <p:nvSpPr>
            <p:cNvPr id="401" name="Google Shape;401;p19"/>
            <p:cNvSpPr/>
            <p:nvPr/>
          </p:nvSpPr>
          <p:spPr>
            <a:xfrm>
              <a:off x="4233" y="631110"/>
              <a:ext cx="3005792" cy="2404634"/>
            </a:xfrm>
            <a:prstGeom prst="homePlate">
              <a:avLst>
                <a:gd name="adj" fmla="val 25000"/>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9"/>
            <p:cNvSpPr txBox="1"/>
            <p:nvPr/>
          </p:nvSpPr>
          <p:spPr>
            <a:xfrm>
              <a:off x="4233" y="631110"/>
              <a:ext cx="2705213" cy="2404634"/>
            </a:xfrm>
            <a:prstGeom prst="rect">
              <a:avLst/>
            </a:prstGeom>
            <a:noFill/>
            <a:ln>
              <a:noFill/>
            </a:ln>
          </p:spPr>
          <p:txBody>
            <a:bodyPr spcFirstLastPara="1" wrap="square" lIns="106025" tIns="35550" rIns="424150" bIns="3555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Consequences</a:t>
              </a:r>
              <a:endParaRPr/>
            </a:p>
            <a:p>
              <a:pPr marL="114300" marR="0" lvl="1" indent="-114300" algn="l" rtl="0">
                <a:lnSpc>
                  <a:spcPct val="100000"/>
                </a:lnSpc>
                <a:spcBef>
                  <a:spcPts val="49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A subset of the records that pass the selection criteria.</a:t>
              </a:r>
              <a:endParaRPr/>
            </a:p>
            <a:p>
              <a:pPr marL="228600" marR="0" lvl="2"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If the format was kept the same, any job that ran over the larger data set should be able to run over this filtered data set, as well.</a:t>
              </a:r>
              <a:endParaRPr/>
            </a:p>
          </p:txBody>
        </p:sp>
        <p:sp>
          <p:nvSpPr>
            <p:cNvPr id="403" name="Google Shape;403;p19"/>
            <p:cNvSpPr/>
            <p:nvPr/>
          </p:nvSpPr>
          <p:spPr>
            <a:xfrm>
              <a:off x="2408867" y="631110"/>
              <a:ext cx="3005792" cy="2404634"/>
            </a:xfrm>
            <a:prstGeom prst="chevron">
              <a:avLst>
                <a:gd name="adj" fmla="val 25000"/>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txBox="1"/>
            <p:nvPr/>
          </p:nvSpPr>
          <p:spPr>
            <a:xfrm>
              <a:off x="3010026" y="631110"/>
              <a:ext cx="1803475" cy="2404634"/>
            </a:xfrm>
            <a:prstGeom prst="rect">
              <a:avLst/>
            </a:prstGeom>
            <a:noFill/>
            <a:ln>
              <a:noFill/>
            </a:ln>
          </p:spPr>
          <p:txBody>
            <a:bodyPr spcFirstLastPara="1" wrap="square" lIns="106025" tIns="35550" rIns="106025" bIns="3555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	Known uses</a:t>
              </a:r>
              <a:endParaRPr/>
            </a:p>
            <a:p>
              <a:pPr marL="114300" marR="0" lvl="1" indent="-114300" algn="l" rtl="0">
                <a:lnSpc>
                  <a:spcPct val="100000"/>
                </a:lnSpc>
                <a:spcBef>
                  <a:spcPts val="49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Closer view of data</a:t>
              </a:r>
              <a:endParaRPr/>
            </a:p>
            <a:p>
              <a:pPr marL="114300" marR="0" lvl="1"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Tracking a thread of events</a:t>
              </a:r>
              <a:endParaRPr/>
            </a:p>
            <a:p>
              <a:pPr marL="114300" marR="0" lvl="1"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Distributed grep</a:t>
              </a:r>
              <a:endParaRPr/>
            </a:p>
            <a:p>
              <a:pPr marL="114300" marR="0" lvl="1"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Data cleansing</a:t>
              </a:r>
              <a:endParaRPr/>
            </a:p>
            <a:p>
              <a:pPr marL="114300" marR="0" lvl="1"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Simple random sampling</a:t>
              </a:r>
              <a:endParaRPr/>
            </a:p>
            <a:p>
              <a:pPr marL="114300" marR="0" lvl="1" indent="-114300" algn="l" rtl="0">
                <a:lnSpc>
                  <a:spcPct val="10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	Removing low scoring data (if you can score your data)</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8"/>
        <p:cNvGrpSpPr/>
        <p:nvPr/>
      </p:nvGrpSpPr>
      <p:grpSpPr>
        <a:xfrm>
          <a:off x="0" y="0"/>
          <a:ext cx="0" cy="0"/>
          <a:chOff x="0" y="0"/>
          <a:chExt cx="0" cy="0"/>
        </a:xfrm>
      </p:grpSpPr>
      <p:sp>
        <p:nvSpPr>
          <p:cNvPr id="409" name="Google Shape;409;p20"/>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0" name="Google Shape;410;p20"/>
          <p:cNvSpPr/>
          <p:nvPr/>
        </p:nvSpPr>
        <p:spPr>
          <a:xfrm rot="1790889" flipH="1">
            <a:off x="715850" y="795372"/>
            <a:ext cx="2987899" cy="2987899"/>
          </a:xfrm>
          <a:prstGeom prst="arc">
            <a:avLst>
              <a:gd name="adj1" fmla="val 15817365"/>
              <a:gd name="adj2" fmla="val 178138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11" name="Google Shape;411;p20"/>
          <p:cNvSpPr txBox="1"/>
          <p:nvPr/>
        </p:nvSpPr>
        <p:spPr>
          <a:xfrm>
            <a:off x="838200" y="1461360"/>
            <a:ext cx="5536397" cy="3935281"/>
          </a:xfrm>
          <a:prstGeom prst="rect">
            <a:avLst/>
          </a:prstGeom>
          <a:noFill/>
          <a:ln>
            <a:noFill/>
          </a:ln>
        </p:spPr>
        <p:txBody>
          <a:bodyPr spcFirstLastPara="1" wrap="square" lIns="91425" tIns="45700" rIns="91425" bIns="45700" anchor="t" anchorCtr="0">
            <a:normAutofit/>
          </a:bodyPr>
          <a:lstStyle/>
          <a:p>
            <a:pPr marL="12700" marR="0" lvl="0" indent="-12700" algn="l" rtl="0">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Resemblances</a:t>
            </a:r>
            <a:endParaRPr sz="1800">
              <a:solidFill>
                <a:schemeClr val="dk1"/>
              </a:solidFill>
              <a:latin typeface="Arial"/>
              <a:ea typeface="Arial"/>
              <a:cs typeface="Arial"/>
              <a:sym typeface="Arial"/>
            </a:endParaRPr>
          </a:p>
          <a:p>
            <a:pPr marL="333375" marR="0" lvl="0" indent="-228600" algn="l" rtl="0">
              <a:lnSpc>
                <a:spcPct val="90000"/>
              </a:lnSpc>
              <a:spcBef>
                <a:spcPts val="1575"/>
              </a:spcBef>
              <a:spcAft>
                <a:spcPts val="0"/>
              </a:spcAft>
              <a:buClr>
                <a:schemeClr val="dk1"/>
              </a:buClr>
              <a:buSzPts val="1800"/>
              <a:buFont typeface="Arial"/>
              <a:buChar char="•"/>
            </a:pPr>
            <a:r>
              <a:rPr lang="en-US" sz="1800" b="1">
                <a:solidFill>
                  <a:schemeClr val="dk1"/>
                </a:solidFill>
                <a:latin typeface="Arial"/>
                <a:ea typeface="Arial"/>
                <a:cs typeface="Arial"/>
                <a:sym typeface="Arial"/>
              </a:rPr>
              <a:t>SELECT * FROM table WHERE </a:t>
            </a:r>
            <a:r>
              <a:rPr lang="en-US" sz="1800">
                <a:solidFill>
                  <a:schemeClr val="dk1"/>
                </a:solidFill>
                <a:latin typeface="Arial"/>
                <a:ea typeface="Arial"/>
                <a:cs typeface="Arial"/>
                <a:sym typeface="Arial"/>
              </a:rPr>
              <a:t>value </a:t>
            </a:r>
            <a:r>
              <a:rPr lang="en-US" sz="1800" b="1">
                <a:solidFill>
                  <a:schemeClr val="dk1"/>
                </a:solidFill>
                <a:latin typeface="Arial"/>
                <a:ea typeface="Arial"/>
                <a:cs typeface="Arial"/>
                <a:sym typeface="Arial"/>
              </a:rPr>
              <a:t>&lt; 3;</a:t>
            </a:r>
            <a:endParaRPr sz="1800">
              <a:solidFill>
                <a:schemeClr val="dk1"/>
              </a:solidFill>
              <a:latin typeface="Arial"/>
              <a:ea typeface="Arial"/>
              <a:cs typeface="Arial"/>
              <a:sym typeface="Arial"/>
            </a:endParaRPr>
          </a:p>
          <a:p>
            <a:pPr marL="0" marR="0" lvl="0" indent="114300" algn="l" rtl="0">
              <a:lnSpc>
                <a:spcPct val="90000"/>
              </a:lnSpc>
              <a:spcBef>
                <a:spcPts val="434"/>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Performance Analysis</a:t>
            </a:r>
            <a:endParaRPr sz="1800">
              <a:solidFill>
                <a:schemeClr val="dk1"/>
              </a:solidFill>
              <a:latin typeface="Arial"/>
              <a:ea typeface="Arial"/>
              <a:cs typeface="Arial"/>
              <a:sym typeface="Arial"/>
            </a:endParaRPr>
          </a:p>
          <a:p>
            <a:pPr marL="314325" marR="0" lvl="0" indent="-228600" algn="l" rtl="0">
              <a:lnSpc>
                <a:spcPct val="90000"/>
              </a:lnSpc>
              <a:spcBef>
                <a:spcPts val="409"/>
              </a:spcBef>
              <a:spcAft>
                <a:spcPts val="0"/>
              </a:spcAft>
              <a:buClr>
                <a:schemeClr val="dk1"/>
              </a:buClr>
              <a:buSzPts val="1800"/>
              <a:buFont typeface="Arial"/>
              <a:buChar char="•"/>
            </a:pPr>
            <a:r>
              <a:rPr lang="en-US" sz="1800">
                <a:solidFill>
                  <a:schemeClr val="dk1"/>
                </a:solidFill>
                <a:latin typeface="Arial"/>
                <a:ea typeface="Arial"/>
                <a:cs typeface="Arial"/>
                <a:sym typeface="Arial"/>
              </a:rPr>
              <a:t>∗	NO reducers</a:t>
            </a:r>
            <a:endParaRPr sz="1800">
              <a:solidFill>
                <a:schemeClr val="dk1"/>
              </a:solidFill>
              <a:latin typeface="Arial"/>
              <a:ea typeface="Arial"/>
              <a:cs typeface="Arial"/>
              <a:sym typeface="Arial"/>
            </a:endParaRPr>
          </a:p>
          <a:p>
            <a:pPr marL="314325" marR="0" lvl="0" indent="-228600" algn="l" rtl="0">
              <a:lnSpc>
                <a:spcPct val="90000"/>
              </a:lnSpc>
              <a:spcBef>
                <a:spcPts val="385"/>
              </a:spcBef>
              <a:spcAft>
                <a:spcPts val="0"/>
              </a:spcAft>
              <a:buClr>
                <a:schemeClr val="dk1"/>
              </a:buClr>
              <a:buSzPts val="1800"/>
              <a:buFont typeface="Arial"/>
              <a:buChar char="•"/>
            </a:pPr>
            <a:r>
              <a:rPr lang="en-US" sz="1800">
                <a:solidFill>
                  <a:schemeClr val="dk1"/>
                </a:solidFill>
                <a:latin typeface="Arial"/>
                <a:ea typeface="Arial"/>
                <a:cs typeface="Arial"/>
                <a:sym typeface="Arial"/>
              </a:rPr>
              <a:t>∗	Data never has to be transmitted between the map and reduce phase.</a:t>
            </a:r>
            <a:endParaRPr sz="1800">
              <a:solidFill>
                <a:schemeClr val="dk1"/>
              </a:solidFill>
              <a:latin typeface="Arial"/>
              <a:ea typeface="Arial"/>
              <a:cs typeface="Arial"/>
              <a:sym typeface="Arial"/>
            </a:endParaRPr>
          </a:p>
          <a:p>
            <a:pPr marL="314325" marR="0" lvl="0" indent="-228600" algn="l" rtl="0">
              <a:lnSpc>
                <a:spcPct val="90000"/>
              </a:lnSpc>
              <a:spcBef>
                <a:spcPts val="390"/>
              </a:spcBef>
              <a:spcAft>
                <a:spcPts val="0"/>
              </a:spcAft>
              <a:buClr>
                <a:schemeClr val="dk1"/>
              </a:buClr>
              <a:buSzPts val="1800"/>
              <a:buFont typeface="Arial"/>
              <a:buChar char="•"/>
            </a:pPr>
            <a:r>
              <a:rPr lang="en-US" sz="1800">
                <a:solidFill>
                  <a:schemeClr val="dk1"/>
                </a:solidFill>
                <a:latin typeface="Arial"/>
                <a:ea typeface="Arial"/>
                <a:cs typeface="Arial"/>
                <a:sym typeface="Arial"/>
              </a:rPr>
              <a:t>∗	Most of the map tasks pull data off of their locally attached disks and then write back out to that node.</a:t>
            </a:r>
            <a:endParaRPr sz="1800">
              <a:solidFill>
                <a:schemeClr val="dk1"/>
              </a:solidFill>
              <a:latin typeface="Arial"/>
              <a:ea typeface="Arial"/>
              <a:cs typeface="Arial"/>
              <a:sym typeface="Arial"/>
            </a:endParaRPr>
          </a:p>
          <a:p>
            <a:pPr marL="314325" marR="0" lvl="0" indent="-228600" algn="l" rtl="0">
              <a:lnSpc>
                <a:spcPct val="90000"/>
              </a:lnSpc>
              <a:spcBef>
                <a:spcPts val="380"/>
              </a:spcBef>
              <a:spcAft>
                <a:spcPts val="0"/>
              </a:spcAft>
              <a:buClr>
                <a:schemeClr val="dk1"/>
              </a:buClr>
              <a:buSzPts val="1800"/>
              <a:buFont typeface="Arial"/>
              <a:buChar char="•"/>
            </a:pPr>
            <a:r>
              <a:rPr lang="en-US" sz="1800">
                <a:solidFill>
                  <a:schemeClr val="dk1"/>
                </a:solidFill>
                <a:latin typeface="Arial"/>
                <a:ea typeface="Arial"/>
                <a:cs typeface="Arial"/>
                <a:sym typeface="Arial"/>
              </a:rPr>
              <a:t>∗	Both the sort phase and the reduce phase are cut out</a:t>
            </a:r>
            <a:endParaRPr sz="1800">
              <a:solidFill>
                <a:schemeClr val="dk1"/>
              </a:solidFill>
              <a:latin typeface="Arial"/>
              <a:ea typeface="Arial"/>
              <a:cs typeface="Arial"/>
              <a:sym typeface="Arial"/>
            </a:endParaRPr>
          </a:p>
        </p:txBody>
      </p:sp>
      <p:sp>
        <p:nvSpPr>
          <p:cNvPr id="412" name="Google Shape;412;p20"/>
          <p:cNvSpPr/>
          <p:nvPr/>
        </p:nvSpPr>
        <p:spPr>
          <a:xfrm>
            <a:off x="6792396" y="1119031"/>
            <a:ext cx="4619938" cy="4619938"/>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3" name="Google Shape;413;p20"/>
          <p:cNvSpPr/>
          <p:nvPr/>
        </p:nvSpPr>
        <p:spPr>
          <a:xfrm>
            <a:off x="10517460" y="4737713"/>
            <a:ext cx="546100" cy="5461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p20" descr="$PPTXTitle"/>
          <p:cNvSpPr txBox="1">
            <a:spLocks noGrp="1"/>
          </p:cNvSpPr>
          <p:nvPr>
            <p:ph type="title"/>
          </p:nvPr>
        </p:nvSpPr>
        <p:spPr>
          <a:xfrm>
            <a:off x="7474281" y="1396686"/>
            <a:ext cx="3240506" cy="4064628"/>
          </a:xfrm>
          <a:prstGeom prst="rect">
            <a:avLst/>
          </a:prstGeom>
          <a:noFill/>
          <a:ln>
            <a:noFill/>
          </a:ln>
        </p:spPr>
        <p:txBody>
          <a:bodyPr spcFirstLastPara="1" wrap="square" lIns="91425" tIns="45700" rIns="91425" bIns="45700" anchor="ctr" anchorCtr="0">
            <a:normAutofit/>
          </a:bodyPr>
          <a:lstStyle/>
          <a:p>
            <a:pPr marL="2503170" lvl="0" indent="0" algn="l" rtl="0">
              <a:lnSpc>
                <a:spcPct val="90000"/>
              </a:lnSpc>
              <a:spcBef>
                <a:spcPts val="0"/>
              </a:spcBef>
              <a:spcAft>
                <a:spcPts val="0"/>
              </a:spcAft>
              <a:buClr>
                <a:srgbClr val="FFFFFF"/>
              </a:buClr>
              <a:buSzPts val="1400"/>
              <a:buFont typeface="Play"/>
              <a:buNone/>
            </a:pPr>
            <a:r>
              <a:rPr lang="en-US" sz="1400">
                <a:solidFill>
                  <a:srgbClr val="FFFFFF"/>
                </a:solidFill>
                <a:latin typeface="Play"/>
                <a:ea typeface="Play"/>
                <a:cs typeface="Play"/>
                <a:sym typeface="Play"/>
              </a:rPr>
              <a:t>Filtering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0" name="Google Shape;420;p21" descr="$PPTXTitle"/>
          <p:cNvSpPr txBox="1">
            <a:spLocks noGrp="1"/>
          </p:cNvSpPr>
          <p:nvPr>
            <p:ph type="title"/>
          </p:nvPr>
        </p:nvSpPr>
        <p:spPr>
          <a:xfrm>
            <a:off x="411480" y="991443"/>
            <a:ext cx="4443154" cy="1087819"/>
          </a:xfrm>
          <a:prstGeom prst="rect">
            <a:avLst/>
          </a:prstGeom>
          <a:noFill/>
          <a:ln>
            <a:noFill/>
          </a:ln>
        </p:spPr>
        <p:txBody>
          <a:bodyPr spcFirstLastPara="1" wrap="square" lIns="91425" tIns="45700" rIns="91425" bIns="45700" anchor="b" anchorCtr="0">
            <a:normAutofit/>
          </a:bodyPr>
          <a:lstStyle/>
          <a:p>
            <a:pPr marL="2503170" lvl="0" indent="0" algn="l" rtl="0">
              <a:lnSpc>
                <a:spcPct val="90000"/>
              </a:lnSpc>
              <a:spcBef>
                <a:spcPts val="0"/>
              </a:spcBef>
              <a:spcAft>
                <a:spcPts val="0"/>
              </a:spcAft>
              <a:buClr>
                <a:schemeClr val="dk1"/>
              </a:buClr>
              <a:buSzPts val="3400"/>
              <a:buFont typeface="Play"/>
              <a:buNone/>
            </a:pPr>
            <a:r>
              <a:rPr lang="en-US" sz="3400">
                <a:solidFill>
                  <a:schemeClr val="dk1"/>
                </a:solidFill>
                <a:latin typeface="Play"/>
                <a:ea typeface="Play"/>
                <a:cs typeface="Play"/>
                <a:sym typeface="Play"/>
              </a:rPr>
              <a:t>Filtering</a:t>
            </a:r>
            <a:endParaRPr/>
          </a:p>
        </p:txBody>
      </p:sp>
      <p:sp>
        <p:nvSpPr>
          <p:cNvPr id="421" name="Google Shape;421;p21"/>
          <p:cNvSpPr/>
          <p:nvPr/>
        </p:nvSpPr>
        <p:spPr>
          <a:xfrm rot="5400000">
            <a:off x="649223" y="387939"/>
            <a:ext cx="73152" cy="54864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22" name="Google Shape;422;p21"/>
          <p:cNvSpPr/>
          <p:nvPr/>
        </p:nvSpPr>
        <p:spPr>
          <a:xfrm>
            <a:off x="411480" y="2285541"/>
            <a:ext cx="438912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423" name="Google Shape;423;p21"/>
          <p:cNvGrpSpPr/>
          <p:nvPr/>
        </p:nvGrpSpPr>
        <p:grpSpPr>
          <a:xfrm>
            <a:off x="5393792" y="2633958"/>
            <a:ext cx="6432113" cy="1542378"/>
            <a:chOff x="4857750" y="3252724"/>
            <a:chExt cx="2457450" cy="589280"/>
          </a:xfrm>
        </p:grpSpPr>
        <p:pic>
          <p:nvPicPr>
            <p:cNvPr id="424" name="Google Shape;424;p21"/>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425" name="Google Shape;425;p21"/>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6" name="Google Shape;426;p21"/>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2" descr="$PPTXTitle"/>
          <p:cNvSpPr txBox="1">
            <a:spLocks noGrp="1"/>
          </p:cNvSpPr>
          <p:nvPr>
            <p:ph type="title"/>
          </p:nvPr>
        </p:nvSpPr>
        <p:spPr>
          <a:xfrm>
            <a:off x="838200" y="365125"/>
            <a:ext cx="10515600" cy="1325563"/>
          </a:xfrm>
          <a:prstGeom prst="rect">
            <a:avLst/>
          </a:prstGeom>
          <a:noFill/>
          <a:ln>
            <a:noFill/>
          </a:ln>
        </p:spPr>
        <p:txBody>
          <a:bodyPr spcFirstLastPara="1" wrap="square" lIns="0" tIns="13325" rIns="0" bIns="0" anchor="ctr" anchorCtr="0">
            <a:spAutoFit/>
          </a:bodyPr>
          <a:lstStyle/>
          <a:p>
            <a:pPr marL="2553335" lvl="0" indent="0" algn="l" rtl="0">
              <a:lnSpc>
                <a:spcPct val="100000"/>
              </a:lnSpc>
              <a:spcBef>
                <a:spcPts val="0"/>
              </a:spcBef>
              <a:spcAft>
                <a:spcPts val="0"/>
              </a:spcAft>
              <a:buClr>
                <a:schemeClr val="dk1"/>
              </a:buClr>
              <a:buSzPts val="4400"/>
              <a:buFont typeface="Play"/>
              <a:buNone/>
            </a:pPr>
            <a:r>
              <a:rPr lang="en-US"/>
              <a:t>Top Ten</a:t>
            </a:r>
            <a:endParaRPr/>
          </a:p>
        </p:txBody>
      </p:sp>
      <p:grpSp>
        <p:nvGrpSpPr>
          <p:cNvPr id="432" name="Google Shape;432;p22"/>
          <p:cNvGrpSpPr/>
          <p:nvPr/>
        </p:nvGrpSpPr>
        <p:grpSpPr>
          <a:xfrm>
            <a:off x="2702052" y="5826252"/>
            <a:ext cx="381000" cy="186055"/>
            <a:chOff x="2702052" y="5826252"/>
            <a:chExt cx="381000" cy="186055"/>
          </a:xfrm>
        </p:grpSpPr>
        <p:sp>
          <p:nvSpPr>
            <p:cNvPr id="433" name="Google Shape;433;p22"/>
            <p:cNvSpPr/>
            <p:nvPr/>
          </p:nvSpPr>
          <p:spPr>
            <a:xfrm>
              <a:off x="2702052" y="5826252"/>
              <a:ext cx="381000" cy="186055"/>
            </a:xfrm>
            <a:custGeom>
              <a:avLst/>
              <a:gdLst/>
              <a:ahLst/>
              <a:cxnLst/>
              <a:rect l="l" t="t" r="r" b="b"/>
              <a:pathLst>
                <a:path w="381000" h="186054" extrusionOk="0">
                  <a:moveTo>
                    <a:pt x="288036" y="0"/>
                  </a:moveTo>
                  <a:lnTo>
                    <a:pt x="288036" y="46482"/>
                  </a:lnTo>
                  <a:lnTo>
                    <a:pt x="92964" y="46482"/>
                  </a:lnTo>
                  <a:lnTo>
                    <a:pt x="92964" y="0"/>
                  </a:lnTo>
                  <a:lnTo>
                    <a:pt x="0" y="92964"/>
                  </a:lnTo>
                  <a:lnTo>
                    <a:pt x="92964" y="185928"/>
                  </a:lnTo>
                  <a:lnTo>
                    <a:pt x="92964" y="139446"/>
                  </a:lnTo>
                  <a:lnTo>
                    <a:pt x="288036" y="139446"/>
                  </a:lnTo>
                  <a:lnTo>
                    <a:pt x="288036" y="185928"/>
                  </a:lnTo>
                  <a:lnTo>
                    <a:pt x="381000" y="92964"/>
                  </a:lnTo>
                  <a:lnTo>
                    <a:pt x="288036" y="0"/>
                  </a:lnTo>
                  <a:close/>
                </a:path>
              </a:pathLst>
            </a:custGeom>
            <a:solidFill>
              <a:srgbClr val="30B6F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4" name="Google Shape;434;p22"/>
            <p:cNvSpPr/>
            <p:nvPr/>
          </p:nvSpPr>
          <p:spPr>
            <a:xfrm>
              <a:off x="2702052" y="5826252"/>
              <a:ext cx="381000" cy="186055"/>
            </a:xfrm>
            <a:custGeom>
              <a:avLst/>
              <a:gdLst/>
              <a:ahLst/>
              <a:cxnLst/>
              <a:rect l="l" t="t" r="r" b="b"/>
              <a:pathLst>
                <a:path w="381000" h="186054" extrusionOk="0">
                  <a:moveTo>
                    <a:pt x="0" y="92964"/>
                  </a:moveTo>
                  <a:lnTo>
                    <a:pt x="92964" y="0"/>
                  </a:lnTo>
                  <a:lnTo>
                    <a:pt x="92964" y="46482"/>
                  </a:lnTo>
                  <a:lnTo>
                    <a:pt x="288036" y="46482"/>
                  </a:lnTo>
                  <a:lnTo>
                    <a:pt x="288036" y="0"/>
                  </a:lnTo>
                  <a:lnTo>
                    <a:pt x="381000" y="92964"/>
                  </a:lnTo>
                  <a:lnTo>
                    <a:pt x="288036" y="185928"/>
                  </a:lnTo>
                  <a:lnTo>
                    <a:pt x="288036" y="139446"/>
                  </a:lnTo>
                  <a:lnTo>
                    <a:pt x="92964" y="139446"/>
                  </a:lnTo>
                  <a:lnTo>
                    <a:pt x="92964" y="185928"/>
                  </a:lnTo>
                  <a:lnTo>
                    <a:pt x="0" y="92964"/>
                  </a:lnTo>
                  <a:close/>
                </a:path>
              </a:pathLst>
            </a:custGeom>
            <a:noFill/>
            <a:ln w="15225" cap="flat" cmpd="sng">
              <a:solidFill>
                <a:srgbClr val="155D83"/>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35" name="Google Shape;435;p22"/>
          <p:cNvGrpSpPr/>
          <p:nvPr/>
        </p:nvGrpSpPr>
        <p:grpSpPr>
          <a:xfrm>
            <a:off x="1242164" y="2492037"/>
            <a:ext cx="10108672" cy="3056110"/>
            <a:chOff x="2963" y="801349"/>
            <a:chExt cx="10108672" cy="3056110"/>
          </a:xfrm>
        </p:grpSpPr>
        <p:sp>
          <p:nvSpPr>
            <p:cNvPr id="436" name="Google Shape;436;p22"/>
            <p:cNvSpPr/>
            <p:nvPr/>
          </p:nvSpPr>
          <p:spPr>
            <a:xfrm>
              <a:off x="2963" y="801349"/>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txBox="1"/>
            <p:nvPr/>
          </p:nvSpPr>
          <p:spPr>
            <a:xfrm>
              <a:off x="2963" y="801349"/>
              <a:ext cx="2350854" cy="1410512"/>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Intent:</a:t>
              </a:r>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Retrieve a relatively small number of top K records, according to a ranking scheme in your data set, no matter how large the data</a:t>
              </a:r>
              <a:endParaRPr/>
            </a:p>
          </p:txBody>
        </p:sp>
        <p:sp>
          <p:nvSpPr>
            <p:cNvPr id="438" name="Google Shape;438;p22"/>
            <p:cNvSpPr/>
            <p:nvPr/>
          </p:nvSpPr>
          <p:spPr>
            <a:xfrm>
              <a:off x="2588902" y="801349"/>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2"/>
            <p:cNvSpPr txBox="1"/>
            <p:nvPr/>
          </p:nvSpPr>
          <p:spPr>
            <a:xfrm>
              <a:off x="2588902" y="801349"/>
              <a:ext cx="2350854" cy="141051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Motivation</a:t>
              </a:r>
              <a:endParaRPr/>
            </a:p>
          </p:txBody>
        </p:sp>
        <p:sp>
          <p:nvSpPr>
            <p:cNvPr id="440" name="Google Shape;440;p22"/>
            <p:cNvSpPr/>
            <p:nvPr/>
          </p:nvSpPr>
          <p:spPr>
            <a:xfrm>
              <a:off x="5174842" y="801349"/>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txBox="1"/>
            <p:nvPr/>
          </p:nvSpPr>
          <p:spPr>
            <a:xfrm>
              <a:off x="5174842" y="801349"/>
              <a:ext cx="2350854" cy="141051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Finding records that are typically the most interesting</a:t>
              </a:r>
              <a:endParaRPr/>
            </a:p>
          </p:txBody>
        </p:sp>
        <p:sp>
          <p:nvSpPr>
            <p:cNvPr id="442" name="Google Shape;442;p22"/>
            <p:cNvSpPr/>
            <p:nvPr/>
          </p:nvSpPr>
          <p:spPr>
            <a:xfrm>
              <a:off x="7760781" y="801349"/>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txBox="1"/>
            <p:nvPr/>
          </p:nvSpPr>
          <p:spPr>
            <a:xfrm>
              <a:off x="7760781" y="801349"/>
              <a:ext cx="2350854" cy="141051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To find the best records for a specific criterion</a:t>
              </a:r>
              <a:endParaRPr/>
            </a:p>
          </p:txBody>
        </p:sp>
        <p:sp>
          <p:nvSpPr>
            <p:cNvPr id="444" name="Google Shape;444;p22"/>
            <p:cNvSpPr/>
            <p:nvPr/>
          </p:nvSpPr>
          <p:spPr>
            <a:xfrm>
              <a:off x="1295932" y="2446947"/>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2"/>
            <p:cNvSpPr txBox="1"/>
            <p:nvPr/>
          </p:nvSpPr>
          <p:spPr>
            <a:xfrm>
              <a:off x="1295932" y="2446947"/>
              <a:ext cx="2350854" cy="141051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Applicability</a:t>
              </a:r>
              <a:endParaRPr/>
            </a:p>
          </p:txBody>
        </p:sp>
        <p:sp>
          <p:nvSpPr>
            <p:cNvPr id="446" name="Google Shape;446;p22"/>
            <p:cNvSpPr/>
            <p:nvPr/>
          </p:nvSpPr>
          <p:spPr>
            <a:xfrm>
              <a:off x="3881872" y="2446947"/>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2"/>
            <p:cNvSpPr txBox="1"/>
            <p:nvPr/>
          </p:nvSpPr>
          <p:spPr>
            <a:xfrm>
              <a:off x="3881872" y="2446947"/>
              <a:ext cx="2350854" cy="1410512"/>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It is able to compare one record to another to determine which is “larger”</a:t>
              </a:r>
              <a:endParaRPr/>
            </a:p>
          </p:txBody>
        </p:sp>
        <p:sp>
          <p:nvSpPr>
            <p:cNvPr id="448" name="Google Shape;448;p22"/>
            <p:cNvSpPr/>
            <p:nvPr/>
          </p:nvSpPr>
          <p:spPr>
            <a:xfrm>
              <a:off x="6467811" y="2446947"/>
              <a:ext cx="2350854" cy="1410512"/>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2"/>
            <p:cNvSpPr txBox="1"/>
            <p:nvPr/>
          </p:nvSpPr>
          <p:spPr>
            <a:xfrm>
              <a:off x="6467811" y="2446947"/>
              <a:ext cx="2350854" cy="1410512"/>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The number of output records should be significantly fewer than the number of input</a:t>
              </a:r>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records	a total ordering of the data set</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3"/>
        <p:cNvGrpSpPr/>
        <p:nvPr/>
      </p:nvGrpSpPr>
      <p:grpSpPr>
        <a:xfrm>
          <a:off x="0" y="0"/>
          <a:ext cx="0" cy="0"/>
          <a:chOff x="0" y="0"/>
          <a:chExt cx="0" cy="0"/>
        </a:xfrm>
      </p:grpSpPr>
      <p:sp>
        <p:nvSpPr>
          <p:cNvPr id="454" name="Google Shape;454;p2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5" name="Google Shape;455;p23" descr="$PPTXTitle"/>
          <p:cNvSpPr txBox="1">
            <a:spLocks noGrp="1"/>
          </p:cNvSpPr>
          <p:nvPr>
            <p:ph type="title"/>
          </p:nvPr>
        </p:nvSpPr>
        <p:spPr>
          <a:xfrm>
            <a:off x="589560" y="856180"/>
            <a:ext cx="4560584" cy="1128068"/>
          </a:xfrm>
          <a:prstGeom prst="rect">
            <a:avLst/>
          </a:prstGeom>
          <a:noFill/>
          <a:ln>
            <a:noFill/>
          </a:ln>
        </p:spPr>
        <p:txBody>
          <a:bodyPr spcFirstLastPara="1" wrap="square" lIns="91425" tIns="45700" rIns="91425" bIns="45700" anchor="ctr" anchorCtr="0">
            <a:normAutofit/>
          </a:bodyPr>
          <a:lstStyle/>
          <a:p>
            <a:pPr marL="2553335" lvl="0" indent="0" algn="l" rtl="0">
              <a:lnSpc>
                <a:spcPct val="90000"/>
              </a:lnSpc>
              <a:spcBef>
                <a:spcPts val="0"/>
              </a:spcBef>
              <a:spcAft>
                <a:spcPts val="0"/>
              </a:spcAft>
              <a:buClr>
                <a:schemeClr val="dk1"/>
              </a:buClr>
              <a:buSzPts val="4000"/>
              <a:buFont typeface="Play"/>
              <a:buNone/>
            </a:pPr>
            <a:r>
              <a:rPr lang="en-US" sz="4000"/>
              <a:t>Top Ten</a:t>
            </a:r>
            <a:endParaRPr/>
          </a:p>
        </p:txBody>
      </p:sp>
      <p:grpSp>
        <p:nvGrpSpPr>
          <p:cNvPr id="456" name="Google Shape;456;p23"/>
          <p:cNvGrpSpPr/>
          <p:nvPr/>
        </p:nvGrpSpPr>
        <p:grpSpPr>
          <a:xfrm>
            <a:off x="0" y="1083484"/>
            <a:ext cx="355196" cy="673460"/>
            <a:chOff x="0" y="823811"/>
            <a:chExt cx="355196" cy="673460"/>
          </a:xfrm>
        </p:grpSpPr>
        <p:sp>
          <p:nvSpPr>
            <p:cNvPr id="457" name="Google Shape;457;p23"/>
            <p:cNvSpPr/>
            <p:nvPr/>
          </p:nvSpPr>
          <p:spPr>
            <a:xfrm>
              <a:off x="0" y="823811"/>
              <a:ext cx="87363"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8" name="Google Shape;458;p23"/>
            <p:cNvSpPr/>
            <p:nvPr/>
          </p:nvSpPr>
          <p:spPr>
            <a:xfrm>
              <a:off x="159341" y="823811"/>
              <a:ext cx="195855"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459" name="Google Shape;459;p23"/>
          <p:cNvSpPr/>
          <p:nvPr/>
        </p:nvSpPr>
        <p:spPr>
          <a:xfrm flipH="1">
            <a:off x="665085" y="2090569"/>
            <a:ext cx="429768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0" name="Google Shape;460;p23"/>
          <p:cNvSpPr txBox="1"/>
          <p:nvPr/>
        </p:nvSpPr>
        <p:spPr>
          <a:xfrm>
            <a:off x="590719" y="2330505"/>
            <a:ext cx="4559425" cy="3979585"/>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	The mapper</a:t>
            </a:r>
            <a:endParaRPr sz="1400">
              <a:solidFill>
                <a:schemeClr val="dk1"/>
              </a:solidFill>
              <a:latin typeface="Arial"/>
              <a:ea typeface="Arial"/>
              <a:cs typeface="Arial"/>
              <a:sym typeface="Arial"/>
            </a:endParaRPr>
          </a:p>
          <a:p>
            <a:pPr marL="588645" marR="5080" lvl="0" indent="-228600" algn="l" rtl="0">
              <a:lnSpc>
                <a:spcPct val="90000"/>
              </a:lnSpc>
              <a:spcBef>
                <a:spcPts val="630"/>
              </a:spcBef>
              <a:spcAft>
                <a:spcPts val="0"/>
              </a:spcAft>
              <a:buClr>
                <a:schemeClr val="dk1"/>
              </a:buClr>
              <a:buSzPts val="1400"/>
              <a:buFont typeface="Arial"/>
              <a:buChar char="•"/>
            </a:pPr>
            <a:r>
              <a:rPr lang="en-US" sz="1400">
                <a:solidFill>
                  <a:schemeClr val="dk1"/>
                </a:solidFill>
                <a:latin typeface="Arial"/>
                <a:ea typeface="Arial"/>
                <a:cs typeface="Arial"/>
                <a:sym typeface="Arial"/>
              </a:rPr>
              <a:t>∗	Each mapper determines the top ten records of its input split and outputs them to the reduce phase</a:t>
            </a:r>
            <a:endParaRPr sz="1400">
              <a:solidFill>
                <a:schemeClr val="dk1"/>
              </a:solidFill>
              <a:latin typeface="Arial"/>
              <a:ea typeface="Arial"/>
              <a:cs typeface="Arial"/>
              <a:sym typeface="Arial"/>
            </a:endParaRPr>
          </a:p>
          <a:p>
            <a:pPr marL="588645" marR="290195" lvl="0" indent="-228600" algn="l" rtl="0">
              <a:lnSpc>
                <a:spcPct val="90000"/>
              </a:lnSpc>
              <a:spcBef>
                <a:spcPts val="600"/>
              </a:spcBef>
              <a:spcAft>
                <a:spcPts val="0"/>
              </a:spcAft>
              <a:buClr>
                <a:schemeClr val="dk1"/>
              </a:buClr>
              <a:buSzPts val="1400"/>
              <a:buFont typeface="Arial"/>
              <a:buChar char="•"/>
            </a:pPr>
            <a:r>
              <a:rPr lang="en-US" sz="1400">
                <a:solidFill>
                  <a:schemeClr val="dk1"/>
                </a:solidFill>
                <a:latin typeface="Arial"/>
                <a:ea typeface="Arial"/>
                <a:cs typeface="Arial"/>
                <a:sym typeface="Arial"/>
              </a:rPr>
              <a:t>∗	The mappers are essentially filtering their input split to the top ten records, and the reducer is responsible for the final ten</a:t>
            </a:r>
            <a:endParaRPr sz="1400">
              <a:solidFill>
                <a:schemeClr val="dk1"/>
              </a:solidFill>
              <a:latin typeface="Arial"/>
              <a:ea typeface="Arial"/>
              <a:cs typeface="Arial"/>
              <a:sym typeface="Arial"/>
            </a:endParaRPr>
          </a:p>
          <a:p>
            <a:pPr marL="12700" marR="0" lvl="0" indent="-12700" algn="l" rtl="0">
              <a:lnSpc>
                <a:spcPct val="90000"/>
              </a:lnSpc>
              <a:spcBef>
                <a:spcPts val="1175"/>
              </a:spcBef>
              <a:spcAft>
                <a:spcPts val="0"/>
              </a:spcAft>
              <a:buClr>
                <a:schemeClr val="dk1"/>
              </a:buClr>
              <a:buSzPts val="1400"/>
              <a:buFont typeface="Arial"/>
              <a:buChar char="•"/>
            </a:pPr>
            <a:r>
              <a:rPr lang="en-US" sz="1400">
                <a:solidFill>
                  <a:schemeClr val="dk1"/>
                </a:solidFill>
                <a:latin typeface="Arial"/>
                <a:ea typeface="Arial"/>
                <a:cs typeface="Arial"/>
                <a:sym typeface="Arial"/>
              </a:rPr>
              <a:t>∗	The Reducer</a:t>
            </a:r>
            <a:endParaRPr sz="1400">
              <a:solidFill>
                <a:schemeClr val="dk1"/>
              </a:solidFill>
              <a:latin typeface="Arial"/>
              <a:ea typeface="Arial"/>
              <a:cs typeface="Arial"/>
              <a:sym typeface="Arial"/>
            </a:endParaRPr>
          </a:p>
          <a:p>
            <a:pPr marL="588645" marR="539115" lvl="0" indent="-228600" algn="l" rtl="0">
              <a:lnSpc>
                <a:spcPct val="90000"/>
              </a:lnSpc>
              <a:spcBef>
                <a:spcPts val="630"/>
              </a:spcBef>
              <a:spcAft>
                <a:spcPts val="0"/>
              </a:spcAft>
              <a:buClr>
                <a:schemeClr val="dk1"/>
              </a:buClr>
              <a:buSzPts val="1400"/>
              <a:buFont typeface="Arial"/>
              <a:buChar char="•"/>
            </a:pPr>
            <a:r>
              <a:rPr lang="en-US" sz="1400">
                <a:solidFill>
                  <a:schemeClr val="dk1"/>
                </a:solidFill>
                <a:latin typeface="Arial"/>
                <a:ea typeface="Arial"/>
                <a:cs typeface="Arial"/>
                <a:sym typeface="Arial"/>
              </a:rPr>
              <a:t>∗	Use an identity reducer to collect the results without doing anything with them</a:t>
            </a:r>
            <a:endParaRPr sz="1400">
              <a:solidFill>
                <a:schemeClr val="dk1"/>
              </a:solidFill>
              <a:latin typeface="Arial"/>
              <a:ea typeface="Arial"/>
              <a:cs typeface="Arial"/>
              <a:sym typeface="Arial"/>
            </a:endParaRPr>
          </a:p>
          <a:p>
            <a:pPr marL="314325" marR="0" lvl="0" indent="-228600" algn="l" rtl="0">
              <a:lnSpc>
                <a:spcPct val="90000"/>
              </a:lnSpc>
              <a:spcBef>
                <a:spcPts val="600"/>
              </a:spcBef>
              <a:spcAft>
                <a:spcPts val="0"/>
              </a:spcAft>
              <a:buClr>
                <a:schemeClr val="dk1"/>
              </a:buClr>
              <a:buSzPts val="1400"/>
              <a:buFont typeface="Arial"/>
              <a:buChar char="•"/>
            </a:pPr>
            <a:r>
              <a:rPr lang="en-US" sz="1400">
                <a:solidFill>
                  <a:schemeClr val="dk1"/>
                </a:solidFill>
                <a:latin typeface="Arial"/>
                <a:ea typeface="Arial"/>
                <a:cs typeface="Arial"/>
                <a:sym typeface="Arial"/>
              </a:rPr>
              <a:t>∗	Just remember to configure your job to only use</a:t>
            </a:r>
            <a:endParaRPr sz="1400">
              <a:solidFill>
                <a:schemeClr val="dk1"/>
              </a:solidFill>
              <a:latin typeface="Arial"/>
              <a:ea typeface="Arial"/>
              <a:cs typeface="Arial"/>
              <a:sym typeface="Arial"/>
            </a:endParaRPr>
          </a:p>
          <a:p>
            <a:pPr marL="588645" marR="0" lvl="0" indent="-228600" algn="l" rtl="0">
              <a:lnSpc>
                <a:spcPct val="9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one reducer!</a:t>
            </a:r>
            <a:endParaRPr sz="1400">
              <a:solidFill>
                <a:schemeClr val="dk1"/>
              </a:solidFill>
              <a:latin typeface="Arial"/>
              <a:ea typeface="Arial"/>
              <a:cs typeface="Arial"/>
              <a:sym typeface="Arial"/>
            </a:endParaRPr>
          </a:p>
          <a:p>
            <a:pPr marL="588645" marR="12700" lvl="0" indent="-228600" algn="l" rtl="0">
              <a:lnSpc>
                <a:spcPct val="90000"/>
              </a:lnSpc>
              <a:spcBef>
                <a:spcPts val="600"/>
              </a:spcBef>
              <a:spcAft>
                <a:spcPts val="0"/>
              </a:spcAft>
              <a:buClr>
                <a:schemeClr val="dk1"/>
              </a:buClr>
              <a:buSzPts val="1400"/>
              <a:buFont typeface="Arial"/>
              <a:buChar char="•"/>
            </a:pPr>
            <a:r>
              <a:rPr lang="en-US" sz="1400">
                <a:solidFill>
                  <a:schemeClr val="dk1"/>
                </a:solidFill>
                <a:latin typeface="Arial"/>
                <a:ea typeface="Arial"/>
                <a:cs typeface="Arial"/>
                <a:sym typeface="Arial"/>
              </a:rPr>
              <a:t>∗	Multiple reducers would shard the data and would result in multiple “top ten” lists</a:t>
            </a:r>
            <a:endParaRPr sz="1400">
              <a:solidFill>
                <a:schemeClr val="dk1"/>
              </a:solidFill>
              <a:latin typeface="Arial"/>
              <a:ea typeface="Arial"/>
              <a:cs typeface="Arial"/>
              <a:sym typeface="Arial"/>
            </a:endParaRPr>
          </a:p>
        </p:txBody>
      </p:sp>
      <p:sp>
        <p:nvSpPr>
          <p:cNvPr id="461" name="Google Shape;461;p23"/>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2" name="Google Shape;462;p23"/>
          <p:cNvSpPr/>
          <p:nvPr/>
        </p:nvSpPr>
        <p:spPr>
          <a:xfrm>
            <a:off x="5685810" y="513853"/>
            <a:ext cx="6009366" cy="5834577"/>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63" name="Google Shape;463;p23"/>
          <p:cNvPicPr preferRelativeResize="0"/>
          <p:nvPr/>
        </p:nvPicPr>
        <p:blipFill rotWithShape="1">
          <a:blip r:embed="rId3">
            <a:alphaModFix/>
          </a:blip>
          <a:srcRect r="22374" b="1"/>
          <a:stretch/>
        </p:blipFill>
        <p:spPr>
          <a:xfrm>
            <a:off x="5977788" y="799352"/>
            <a:ext cx="5425410" cy="52592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7"/>
        <p:cNvGrpSpPr/>
        <p:nvPr/>
      </p:nvGrpSpPr>
      <p:grpSpPr>
        <a:xfrm>
          <a:off x="0" y="0"/>
          <a:ext cx="0" cy="0"/>
          <a:chOff x="0" y="0"/>
          <a:chExt cx="0" cy="0"/>
        </a:xfrm>
      </p:grpSpPr>
      <p:sp>
        <p:nvSpPr>
          <p:cNvPr id="468" name="Google Shape;468;p2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9" name="Google Shape;469;p24"/>
          <p:cNvSpPr/>
          <p:nvPr/>
        </p:nvSpPr>
        <p:spPr>
          <a:xfrm>
            <a:off x="558209" y="0"/>
            <a:ext cx="11167447" cy="2018806"/>
          </a:xfrm>
          <a:prstGeom prst="rect">
            <a:avLst/>
          </a:prstGeom>
          <a:solidFill>
            <a:schemeClr val="lt1"/>
          </a:solidFill>
          <a:ln w="9525" cap="flat" cmpd="sng">
            <a:solidFill>
              <a:srgbClr val="E1E1E1"/>
            </a:solidFill>
            <a:prstDash val="solid"/>
            <a:miter lim="800000"/>
            <a:headEnd type="none" w="sm" len="sm"/>
            <a:tailEnd type="none" w="sm" len="sm"/>
          </a:ln>
          <a:effectLst>
            <a:outerShdw blurRad="50800" dist="38100" dir="2700000" algn="tl" rotWithShape="0">
              <a:srgbClr val="D8D8D8">
                <a:alpha val="5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p24"/>
          <p:cNvSpPr/>
          <p:nvPr/>
        </p:nvSpPr>
        <p:spPr>
          <a:xfrm>
            <a:off x="566928" y="0"/>
            <a:ext cx="11155680" cy="20116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p24" descr="$PPTXTitle"/>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2553335" lvl="0" indent="0" algn="l" rtl="0">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Top Ten</a:t>
            </a:r>
            <a:endParaRPr/>
          </a:p>
        </p:txBody>
      </p:sp>
      <p:sp>
        <p:nvSpPr>
          <p:cNvPr id="472" name="Google Shape;472;p24"/>
          <p:cNvSpPr/>
          <p:nvPr/>
        </p:nvSpPr>
        <p:spPr>
          <a:xfrm>
            <a:off x="498834" y="758952"/>
            <a:ext cx="128016"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73" name="Google Shape;473;p24"/>
          <p:cNvSpPr txBox="1"/>
          <p:nvPr/>
        </p:nvSpPr>
        <p:spPr>
          <a:xfrm>
            <a:off x="1115568" y="2481943"/>
            <a:ext cx="10168128" cy="3695020"/>
          </a:xfrm>
          <a:prstGeom prst="rect">
            <a:avLst/>
          </a:prstGeom>
          <a:noFill/>
          <a:ln>
            <a:noFill/>
          </a:ln>
        </p:spPr>
        <p:txBody>
          <a:bodyPr spcFirstLastPara="1" wrap="square" lIns="91425" tIns="45700" rIns="91425" bIns="45700" anchor="t" anchorCtr="0">
            <a:normAutofit/>
          </a:bodyPr>
          <a:lstStyle/>
          <a:p>
            <a:pPr marL="12700" marR="0" lvl="0" indent="-12700" algn="l" rtl="0">
              <a:lnSpc>
                <a:spcPct val="9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	Consequences</a:t>
            </a:r>
            <a:endParaRPr sz="2200">
              <a:solidFill>
                <a:schemeClr val="dk1"/>
              </a:solidFill>
              <a:latin typeface="Arial"/>
              <a:ea typeface="Arial"/>
              <a:cs typeface="Arial"/>
              <a:sym typeface="Arial"/>
            </a:endParaRPr>
          </a:p>
          <a:p>
            <a:pPr marL="314325" marR="0" lvl="0" indent="-228600" algn="l" rtl="0">
              <a:lnSpc>
                <a:spcPct val="90000"/>
              </a:lnSpc>
              <a:spcBef>
                <a:spcPts val="409"/>
              </a:spcBef>
              <a:spcAft>
                <a:spcPts val="0"/>
              </a:spcAft>
              <a:buClr>
                <a:schemeClr val="dk1"/>
              </a:buClr>
              <a:buSzPts val="2200"/>
              <a:buFont typeface="Arial"/>
              <a:buChar char="•"/>
            </a:pPr>
            <a:r>
              <a:rPr lang="en-US" sz="2200">
                <a:solidFill>
                  <a:schemeClr val="dk1"/>
                </a:solidFill>
                <a:latin typeface="Arial"/>
                <a:ea typeface="Arial"/>
                <a:cs typeface="Arial"/>
                <a:sym typeface="Arial"/>
              </a:rPr>
              <a:t>∗	The top K records are returned</a:t>
            </a:r>
            <a:endParaRPr sz="2200">
              <a:solidFill>
                <a:schemeClr val="dk1"/>
              </a:solidFill>
              <a:latin typeface="Arial"/>
              <a:ea typeface="Arial"/>
              <a:cs typeface="Arial"/>
              <a:sym typeface="Arial"/>
            </a:endParaRPr>
          </a:p>
          <a:p>
            <a:pPr marL="12700" marR="0" lvl="0" indent="-12700" algn="l" rtl="0">
              <a:lnSpc>
                <a:spcPct val="90000"/>
              </a:lnSpc>
              <a:spcBef>
                <a:spcPts val="1175"/>
              </a:spcBef>
              <a:spcAft>
                <a:spcPts val="0"/>
              </a:spcAft>
              <a:buClr>
                <a:schemeClr val="dk1"/>
              </a:buClr>
              <a:buSzPts val="2200"/>
              <a:buFont typeface="Arial"/>
              <a:buChar char="•"/>
            </a:pPr>
            <a:r>
              <a:rPr lang="en-US" sz="2200">
                <a:solidFill>
                  <a:schemeClr val="dk1"/>
                </a:solidFill>
                <a:latin typeface="Arial"/>
                <a:ea typeface="Arial"/>
                <a:cs typeface="Arial"/>
                <a:sym typeface="Arial"/>
              </a:rPr>
              <a:t>∗	Known uses</a:t>
            </a:r>
            <a:endParaRPr sz="2200">
              <a:solidFill>
                <a:schemeClr val="dk1"/>
              </a:solidFill>
              <a:latin typeface="Arial"/>
              <a:ea typeface="Arial"/>
              <a:cs typeface="Arial"/>
              <a:sym typeface="Arial"/>
            </a:endParaRPr>
          </a:p>
          <a:p>
            <a:pPr marL="314325" marR="0" lvl="0" indent="-228600" algn="l" rtl="0">
              <a:lnSpc>
                <a:spcPct val="90000"/>
              </a:lnSpc>
              <a:spcBef>
                <a:spcPts val="409"/>
              </a:spcBef>
              <a:spcAft>
                <a:spcPts val="0"/>
              </a:spcAft>
              <a:buClr>
                <a:schemeClr val="dk1"/>
              </a:buClr>
              <a:buSzPts val="2200"/>
              <a:buFont typeface="Arial"/>
              <a:buChar char="•"/>
            </a:pPr>
            <a:r>
              <a:rPr lang="en-US" sz="2200">
                <a:solidFill>
                  <a:schemeClr val="dk1"/>
                </a:solidFill>
                <a:latin typeface="Arial"/>
                <a:ea typeface="Arial"/>
                <a:cs typeface="Arial"/>
                <a:sym typeface="Arial"/>
              </a:rPr>
              <a:t>∗	Outlier analysis</a:t>
            </a:r>
            <a:endParaRPr sz="2200">
              <a:solidFill>
                <a:schemeClr val="dk1"/>
              </a:solidFill>
              <a:latin typeface="Arial"/>
              <a:ea typeface="Arial"/>
              <a:cs typeface="Arial"/>
              <a:sym typeface="Arial"/>
            </a:endParaRPr>
          </a:p>
          <a:p>
            <a:pPr marL="314325" marR="0" lvl="0" indent="-228600" algn="l" rtl="0">
              <a:lnSpc>
                <a:spcPct val="90000"/>
              </a:lnSpc>
              <a:spcBef>
                <a:spcPts val="385"/>
              </a:spcBef>
              <a:spcAft>
                <a:spcPts val="0"/>
              </a:spcAft>
              <a:buClr>
                <a:schemeClr val="dk1"/>
              </a:buClr>
              <a:buSzPts val="2200"/>
              <a:buFont typeface="Arial"/>
              <a:buChar char="•"/>
            </a:pPr>
            <a:r>
              <a:rPr lang="en-US" sz="2200">
                <a:solidFill>
                  <a:schemeClr val="dk1"/>
                </a:solidFill>
                <a:latin typeface="Arial"/>
                <a:ea typeface="Arial"/>
                <a:cs typeface="Arial"/>
                <a:sym typeface="Arial"/>
              </a:rPr>
              <a:t>∗	Select interesting data (most valuable data)</a:t>
            </a:r>
            <a:endParaRPr sz="2200">
              <a:solidFill>
                <a:schemeClr val="dk1"/>
              </a:solidFill>
              <a:latin typeface="Arial"/>
              <a:ea typeface="Arial"/>
              <a:cs typeface="Arial"/>
              <a:sym typeface="Arial"/>
            </a:endParaRPr>
          </a:p>
          <a:p>
            <a:pPr marL="314325" marR="0" lvl="0" indent="-228600" algn="l" rtl="0">
              <a:lnSpc>
                <a:spcPct val="90000"/>
              </a:lnSpc>
              <a:spcBef>
                <a:spcPts val="385"/>
              </a:spcBef>
              <a:spcAft>
                <a:spcPts val="0"/>
              </a:spcAft>
              <a:buClr>
                <a:schemeClr val="dk1"/>
              </a:buClr>
              <a:buSzPts val="2200"/>
              <a:buFont typeface="Arial"/>
              <a:buChar char="•"/>
            </a:pPr>
            <a:r>
              <a:rPr lang="en-US" sz="2200">
                <a:solidFill>
                  <a:schemeClr val="dk1"/>
                </a:solidFill>
                <a:latin typeface="Arial"/>
                <a:ea typeface="Arial"/>
                <a:cs typeface="Arial"/>
                <a:sym typeface="Arial"/>
              </a:rPr>
              <a:t>∗	Catchy dashboards</a:t>
            </a:r>
            <a:endParaRPr sz="2200">
              <a:solidFill>
                <a:schemeClr val="dk1"/>
              </a:solidFill>
              <a:latin typeface="Arial"/>
              <a:ea typeface="Arial"/>
              <a:cs typeface="Arial"/>
              <a:sym typeface="Arial"/>
            </a:endParaRPr>
          </a:p>
          <a:p>
            <a:pPr marL="12700" marR="0" lvl="0" indent="-12700" algn="l" rtl="0">
              <a:lnSpc>
                <a:spcPct val="90000"/>
              </a:lnSpc>
              <a:spcBef>
                <a:spcPts val="1175"/>
              </a:spcBef>
              <a:spcAft>
                <a:spcPts val="0"/>
              </a:spcAft>
              <a:buClr>
                <a:schemeClr val="dk1"/>
              </a:buClr>
              <a:buSzPts val="2200"/>
              <a:buFont typeface="Arial"/>
              <a:buChar char="•"/>
            </a:pPr>
            <a:r>
              <a:rPr lang="en-US" sz="2200">
                <a:solidFill>
                  <a:schemeClr val="dk1"/>
                </a:solidFill>
                <a:latin typeface="Arial"/>
                <a:ea typeface="Arial"/>
                <a:cs typeface="Arial"/>
                <a:sym typeface="Arial"/>
              </a:rPr>
              <a:t>∗	Resemblances</a:t>
            </a:r>
            <a:endParaRPr sz="2200">
              <a:solidFill>
                <a:schemeClr val="dk1"/>
              </a:solidFill>
              <a:latin typeface="Arial"/>
              <a:ea typeface="Arial"/>
              <a:cs typeface="Arial"/>
              <a:sym typeface="Arial"/>
            </a:endParaRPr>
          </a:p>
          <a:p>
            <a:pPr marL="317500" marR="0" lvl="0" indent="-228600" algn="l" rtl="0">
              <a:lnSpc>
                <a:spcPct val="90000"/>
              </a:lnSpc>
              <a:spcBef>
                <a:spcPts val="965"/>
              </a:spcBef>
              <a:spcAft>
                <a:spcPts val="0"/>
              </a:spcAft>
              <a:buClr>
                <a:schemeClr val="dk1"/>
              </a:buClr>
              <a:buSzPts val="2200"/>
              <a:buFont typeface="Arial"/>
              <a:buChar char="•"/>
            </a:pPr>
            <a:r>
              <a:rPr lang="en-US" sz="2200" b="1">
                <a:solidFill>
                  <a:schemeClr val="dk1"/>
                </a:solidFill>
                <a:latin typeface="Arial"/>
                <a:ea typeface="Arial"/>
                <a:cs typeface="Arial"/>
                <a:sym typeface="Arial"/>
              </a:rPr>
              <a:t>SELECT * FROM table WHERE col4 DESC LIMIT 10</a:t>
            </a:r>
            <a:endParaRPr sz="22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7"/>
        <p:cNvGrpSpPr/>
        <p:nvPr/>
      </p:nvGrpSpPr>
      <p:grpSpPr>
        <a:xfrm>
          <a:off x="0" y="0"/>
          <a:ext cx="0" cy="0"/>
          <a:chOff x="0" y="0"/>
          <a:chExt cx="0" cy="0"/>
        </a:xfrm>
      </p:grpSpPr>
      <p:pic>
        <p:nvPicPr>
          <p:cNvPr id="478" name="Google Shape;478;p25"/>
          <p:cNvPicPr preferRelativeResize="0"/>
          <p:nvPr/>
        </p:nvPicPr>
        <p:blipFill rotWithShape="1">
          <a:blip r:embed="rId3">
            <a:alphaModFix/>
          </a:blip>
          <a:srcRect t="15730"/>
          <a:stretch/>
        </p:blipFill>
        <p:spPr>
          <a:xfrm>
            <a:off x="20" y="10"/>
            <a:ext cx="12191980" cy="6857990"/>
          </a:xfrm>
          <a:prstGeom prst="rect">
            <a:avLst/>
          </a:prstGeom>
          <a:noFill/>
          <a:ln>
            <a:noFill/>
          </a:ln>
        </p:spPr>
      </p:pic>
      <p:sp>
        <p:nvSpPr>
          <p:cNvPr id="479" name="Google Shape;479;p25"/>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0" name="Google Shape;480;p25" descr="$PPTXTitle"/>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2553335" lvl="0" indent="0" algn="l" rtl="0">
              <a:lnSpc>
                <a:spcPct val="90000"/>
              </a:lnSpc>
              <a:spcBef>
                <a:spcPts val="0"/>
              </a:spcBef>
              <a:spcAft>
                <a:spcPts val="0"/>
              </a:spcAft>
              <a:buClr>
                <a:schemeClr val="dk1"/>
              </a:buClr>
              <a:buSzPts val="4400"/>
              <a:buFont typeface="Play"/>
              <a:buNone/>
            </a:pPr>
            <a:r>
              <a:rPr lang="en-US"/>
              <a:t>Top Ten</a:t>
            </a:r>
            <a:endParaRPr/>
          </a:p>
        </p:txBody>
      </p:sp>
      <p:grpSp>
        <p:nvGrpSpPr>
          <p:cNvPr id="481" name="Google Shape;481;p25"/>
          <p:cNvGrpSpPr/>
          <p:nvPr/>
        </p:nvGrpSpPr>
        <p:grpSpPr>
          <a:xfrm>
            <a:off x="838200" y="1296742"/>
            <a:ext cx="10896600" cy="4878878"/>
            <a:chOff x="0" y="1342"/>
            <a:chExt cx="10896600" cy="4878878"/>
          </a:xfrm>
        </p:grpSpPr>
        <p:sp>
          <p:nvSpPr>
            <p:cNvPr id="482" name="Google Shape;482;p25"/>
            <p:cNvSpPr/>
            <p:nvPr/>
          </p:nvSpPr>
          <p:spPr>
            <a:xfrm>
              <a:off x="0" y="1342"/>
              <a:ext cx="10896600" cy="515188"/>
            </a:xfrm>
            <a:prstGeom prst="roundRect">
              <a:avLst>
                <a:gd name="adj" fmla="val 16667"/>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txBox="1"/>
            <p:nvPr/>
          </p:nvSpPr>
          <p:spPr>
            <a:xfrm>
              <a:off x="25149" y="26491"/>
              <a:ext cx="10846302" cy="464890"/>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Performance Analysis</a:t>
              </a:r>
              <a:endParaRPr/>
            </a:p>
          </p:txBody>
        </p:sp>
        <p:sp>
          <p:nvSpPr>
            <p:cNvPr id="484" name="Google Shape;484;p25"/>
            <p:cNvSpPr/>
            <p:nvPr/>
          </p:nvSpPr>
          <p:spPr>
            <a:xfrm>
              <a:off x="0" y="516530"/>
              <a:ext cx="10896600" cy="348390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txBox="1"/>
            <p:nvPr/>
          </p:nvSpPr>
          <p:spPr>
            <a:xfrm>
              <a:off x="0" y="516530"/>
              <a:ext cx="10896600" cy="3483907"/>
            </a:xfrm>
            <a:prstGeom prst="rect">
              <a:avLst/>
            </a:prstGeom>
            <a:noFill/>
            <a:ln>
              <a:noFill/>
            </a:ln>
          </p:spPr>
          <p:txBody>
            <a:bodyPr spcFirstLastPara="1" wrap="square" lIns="345950" tIns="25400" rIns="142225" bIns="25400" anchor="t" anchorCtr="0">
              <a:noAutofit/>
            </a:bodyPr>
            <a:lstStyle/>
            <a:p>
              <a:pPr marL="228600" marR="0" lvl="1" indent="-2286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How many records (K*M) the reducer is getting?</a:t>
              </a:r>
              <a:endParaRPr/>
            </a:p>
            <a:p>
              <a:pPr marL="4572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The sort can become an expensive operation when it has too many records and has to do most of the sorting on local</a:t>
              </a:r>
              <a:endParaRPr/>
            </a:p>
            <a:p>
              <a:pPr marL="228600" marR="0" lvl="1"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The reducer host will receive a lot of data over the network à a network resource hot spot</a:t>
              </a:r>
              <a:endParaRPr/>
            </a:p>
            <a:p>
              <a:pPr marL="4572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Naturally, scanning through all the data in the reduce will take a long time if there are many records to look through</a:t>
              </a:r>
              <a:endParaRPr/>
            </a:p>
            <a:p>
              <a:pPr marL="4572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Any sort of memory growth in the reducer has the possibility of blowing through the Java virtual machine’s memory</a:t>
              </a:r>
              <a:endParaRPr/>
            </a:p>
            <a:p>
              <a:pPr marL="228600" marR="0" lvl="1"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Writes to the output file are not parallelized</a:t>
              </a:r>
              <a:endParaRPr/>
            </a:p>
          </p:txBody>
        </p:sp>
        <p:sp>
          <p:nvSpPr>
            <p:cNvPr id="486" name="Google Shape;486;p25"/>
            <p:cNvSpPr/>
            <p:nvPr/>
          </p:nvSpPr>
          <p:spPr>
            <a:xfrm>
              <a:off x="0" y="4000437"/>
              <a:ext cx="10896600" cy="515188"/>
            </a:xfrm>
            <a:prstGeom prst="roundRect">
              <a:avLst>
                <a:gd name="adj" fmla="val 16667"/>
              </a:avLst>
            </a:prstGeom>
            <a:solidFill>
              <a:srgbClr val="176B2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txBox="1"/>
            <p:nvPr/>
          </p:nvSpPr>
          <p:spPr>
            <a:xfrm>
              <a:off x="25149" y="4025586"/>
              <a:ext cx="10846302" cy="464890"/>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Reference</a:t>
              </a:r>
              <a:endParaRPr/>
            </a:p>
          </p:txBody>
        </p:sp>
        <p:sp>
          <p:nvSpPr>
            <p:cNvPr id="488" name="Google Shape;488;p25"/>
            <p:cNvSpPr/>
            <p:nvPr/>
          </p:nvSpPr>
          <p:spPr>
            <a:xfrm>
              <a:off x="0" y="4515626"/>
              <a:ext cx="10896600" cy="3645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txBox="1"/>
            <p:nvPr/>
          </p:nvSpPr>
          <p:spPr>
            <a:xfrm>
              <a:off x="0" y="4515626"/>
              <a:ext cx="10896600" cy="364594"/>
            </a:xfrm>
            <a:prstGeom prst="rect">
              <a:avLst/>
            </a:prstGeom>
            <a:noFill/>
            <a:ln>
              <a:noFill/>
            </a:ln>
          </p:spPr>
          <p:txBody>
            <a:bodyPr spcFirstLastPara="1" wrap="square" lIns="345950" tIns="25400" rIns="142225" bIns="25400" anchor="t" anchorCtr="0">
              <a:noAutofit/>
            </a:bodyPr>
            <a:lstStyle/>
            <a:p>
              <a:pPr marL="228600" marR="0" lvl="1" indent="-228600" algn="l" rtl="0">
                <a:lnSpc>
                  <a:spcPct val="100000"/>
                </a:lnSpc>
                <a:spcBef>
                  <a:spcPts val="0"/>
                </a:spcBef>
                <a:spcAft>
                  <a:spcPts val="0"/>
                </a:spcAft>
                <a:buClr>
                  <a:schemeClr val="dk1"/>
                </a:buClr>
                <a:buSzPts val="2000"/>
                <a:buFont typeface="Arial"/>
                <a:buChar char="•"/>
              </a:pPr>
              <a:r>
                <a:rPr lang="en-US" sz="2000" b="0" i="0" u="sng" strike="noStrike" cap="none">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a:t>
              </a:r>
              <a:endParaRPr sz="2000" b="0" i="0" u="none" strike="noStrike" cap="none">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3"/>
        <p:cNvGrpSpPr/>
        <p:nvPr/>
      </p:nvGrpSpPr>
      <p:grpSpPr>
        <a:xfrm>
          <a:off x="0" y="0"/>
          <a:ext cx="0" cy="0"/>
          <a:chOff x="0" y="0"/>
          <a:chExt cx="0" cy="0"/>
        </a:xfrm>
      </p:grpSpPr>
      <p:sp>
        <p:nvSpPr>
          <p:cNvPr id="494" name="Google Shape;494;p2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5" name="Google Shape;495;p26"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2553335"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Top Ten</a:t>
            </a:r>
            <a:endParaRPr/>
          </a:p>
        </p:txBody>
      </p:sp>
      <p:sp>
        <p:nvSpPr>
          <p:cNvPr id="496" name="Google Shape;496;p26"/>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7" name="Google Shape;497;p26"/>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8" name="Google Shape;498;p26"/>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499" name="Google Shape;499;p26"/>
          <p:cNvGrpSpPr/>
          <p:nvPr/>
        </p:nvGrpSpPr>
        <p:grpSpPr>
          <a:xfrm>
            <a:off x="5917911" y="3727732"/>
            <a:ext cx="5143631" cy="1233409"/>
            <a:chOff x="4857750" y="3252724"/>
            <a:chExt cx="2457450" cy="589280"/>
          </a:xfrm>
        </p:grpSpPr>
        <p:pic>
          <p:nvPicPr>
            <p:cNvPr id="500" name="Google Shape;500;p26"/>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501" name="Google Shape;501;p26"/>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26"/>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27" descr="$PPTXTitle"/>
          <p:cNvSpPr txBox="1">
            <a:spLocks noGrp="1"/>
          </p:cNvSpPr>
          <p:nvPr>
            <p:ph type="title"/>
          </p:nvPr>
        </p:nvSpPr>
        <p:spPr>
          <a:xfrm>
            <a:off x="5185409" y="580389"/>
            <a:ext cx="182054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Distinct</a:t>
            </a:r>
            <a:endParaRPr/>
          </a:p>
        </p:txBody>
      </p:sp>
      <p:grpSp>
        <p:nvGrpSpPr>
          <p:cNvPr id="508" name="Google Shape;508;p27"/>
          <p:cNvGrpSpPr/>
          <p:nvPr/>
        </p:nvGrpSpPr>
        <p:grpSpPr>
          <a:xfrm>
            <a:off x="1226749" y="2289954"/>
            <a:ext cx="9833495" cy="1705230"/>
            <a:chOff x="7549" y="689754"/>
            <a:chExt cx="9833495" cy="1705230"/>
          </a:xfrm>
        </p:grpSpPr>
        <p:sp>
          <p:nvSpPr>
            <p:cNvPr id="509" name="Google Shape;509;p27"/>
            <p:cNvSpPr/>
            <p:nvPr/>
          </p:nvSpPr>
          <p:spPr>
            <a:xfrm>
              <a:off x="2847800" y="1496649"/>
              <a:ext cx="623071" cy="91440"/>
            </a:xfrm>
            <a:custGeom>
              <a:avLst/>
              <a:gdLst/>
              <a:ahLst/>
              <a:cxnLst/>
              <a:rect l="l" t="t" r="r" b="b"/>
              <a:pathLst>
                <a:path w="120000" h="120000" extrusionOk="0">
                  <a:moveTo>
                    <a:pt x="0" y="60000"/>
                  </a:moveTo>
                  <a:lnTo>
                    <a:pt x="120000" y="60000"/>
                  </a:lnTo>
                </a:path>
              </a:pathLst>
            </a:custGeom>
            <a:noFill/>
            <a:ln w="12700" cap="flat" cmpd="sng">
              <a:solidFill>
                <a:srgbClr val="126082"/>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7"/>
            <p:cNvSpPr txBox="1"/>
            <p:nvPr/>
          </p:nvSpPr>
          <p:spPr>
            <a:xfrm>
              <a:off x="3142994" y="1539101"/>
              <a:ext cx="32683" cy="653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1600"/>
                <a:buFont typeface="Arial"/>
                <a:buNone/>
              </a:pPr>
              <a:endParaRPr sz="1600">
                <a:solidFill>
                  <a:schemeClr val="dk1"/>
                </a:solidFill>
                <a:latin typeface="Arial"/>
                <a:ea typeface="Arial"/>
                <a:cs typeface="Arial"/>
                <a:sym typeface="Arial"/>
              </a:endParaRPr>
            </a:p>
          </p:txBody>
        </p:sp>
        <p:sp>
          <p:nvSpPr>
            <p:cNvPr id="511" name="Google Shape;511;p27"/>
            <p:cNvSpPr/>
            <p:nvPr/>
          </p:nvSpPr>
          <p:spPr>
            <a:xfrm>
              <a:off x="7549" y="689754"/>
              <a:ext cx="2842050" cy="1705230"/>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7"/>
            <p:cNvSpPr txBox="1"/>
            <p:nvPr/>
          </p:nvSpPr>
          <p:spPr>
            <a:xfrm>
              <a:off x="7549" y="689754"/>
              <a:ext cx="2842050" cy="1705230"/>
            </a:xfrm>
            <a:prstGeom prst="rect">
              <a:avLst/>
            </a:prstGeom>
            <a:noFill/>
            <a:ln>
              <a:noFill/>
            </a:ln>
          </p:spPr>
          <p:txBody>
            <a:bodyPr spcFirstLastPara="1" wrap="square" lIns="139250" tIns="146175" rIns="139250" bIns="14617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Intent:</a:t>
              </a:r>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To find a unique set of values from similar records</a:t>
              </a:r>
              <a:endParaRPr/>
            </a:p>
          </p:txBody>
        </p:sp>
        <p:sp>
          <p:nvSpPr>
            <p:cNvPr id="513" name="Google Shape;513;p27"/>
            <p:cNvSpPr/>
            <p:nvPr/>
          </p:nvSpPr>
          <p:spPr>
            <a:xfrm>
              <a:off x="6343522" y="1496649"/>
              <a:ext cx="623071" cy="91440"/>
            </a:xfrm>
            <a:custGeom>
              <a:avLst/>
              <a:gdLst/>
              <a:ahLst/>
              <a:cxnLst/>
              <a:rect l="l" t="t" r="r" b="b"/>
              <a:pathLst>
                <a:path w="120000" h="120000" extrusionOk="0">
                  <a:moveTo>
                    <a:pt x="0" y="60000"/>
                  </a:moveTo>
                  <a:lnTo>
                    <a:pt x="120000" y="60000"/>
                  </a:lnTo>
                </a:path>
              </a:pathLst>
            </a:custGeom>
            <a:noFill/>
            <a:ln w="12700" cap="flat" cmpd="sng">
              <a:solidFill>
                <a:srgbClr val="126082"/>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7"/>
            <p:cNvSpPr txBox="1"/>
            <p:nvPr/>
          </p:nvSpPr>
          <p:spPr>
            <a:xfrm>
              <a:off x="6638716" y="1539101"/>
              <a:ext cx="32683" cy="653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1600"/>
                <a:buFont typeface="Arial"/>
                <a:buNone/>
              </a:pPr>
              <a:endParaRPr sz="1600">
                <a:solidFill>
                  <a:schemeClr val="dk1"/>
                </a:solidFill>
                <a:latin typeface="Arial"/>
                <a:ea typeface="Arial"/>
                <a:cs typeface="Arial"/>
                <a:sym typeface="Arial"/>
              </a:endParaRPr>
            </a:p>
          </p:txBody>
        </p:sp>
        <p:sp>
          <p:nvSpPr>
            <p:cNvPr id="515" name="Google Shape;515;p27"/>
            <p:cNvSpPr/>
            <p:nvPr/>
          </p:nvSpPr>
          <p:spPr>
            <a:xfrm>
              <a:off x="3503272" y="689754"/>
              <a:ext cx="2842050" cy="1705230"/>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7"/>
            <p:cNvSpPr txBox="1"/>
            <p:nvPr/>
          </p:nvSpPr>
          <p:spPr>
            <a:xfrm>
              <a:off x="3503272" y="689754"/>
              <a:ext cx="2842050" cy="1705230"/>
            </a:xfrm>
            <a:prstGeom prst="rect">
              <a:avLst/>
            </a:prstGeom>
            <a:noFill/>
            <a:ln>
              <a:noFill/>
            </a:ln>
          </p:spPr>
          <p:txBody>
            <a:bodyPr spcFirstLastPara="1" wrap="square" lIns="139250" tIns="146175" rIns="139250" bIns="14617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Motivation</a:t>
              </a:r>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Reducing a data set to a unique set of values has several uses</a:t>
              </a:r>
              <a:endParaRPr/>
            </a:p>
          </p:txBody>
        </p:sp>
        <p:sp>
          <p:nvSpPr>
            <p:cNvPr id="517" name="Google Shape;517;p27"/>
            <p:cNvSpPr/>
            <p:nvPr/>
          </p:nvSpPr>
          <p:spPr>
            <a:xfrm>
              <a:off x="6998994" y="689754"/>
              <a:ext cx="2842050" cy="1705230"/>
            </a:xfrm>
            <a:prstGeom prst="rect">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7"/>
            <p:cNvSpPr txBox="1"/>
            <p:nvPr/>
          </p:nvSpPr>
          <p:spPr>
            <a:xfrm>
              <a:off x="6998994" y="689754"/>
              <a:ext cx="2842050" cy="1705230"/>
            </a:xfrm>
            <a:prstGeom prst="rect">
              <a:avLst/>
            </a:prstGeom>
            <a:noFill/>
            <a:ln>
              <a:noFill/>
            </a:ln>
          </p:spPr>
          <p:txBody>
            <a:bodyPr spcFirstLastPara="1" wrap="square" lIns="139250" tIns="146175" rIns="139250" bIns="14617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Applicability</a:t>
              </a:r>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	You have duplicates values in data set; it is silly to use this pattern otherwise.</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2"/>
        <p:cNvGrpSpPr/>
        <p:nvPr/>
      </p:nvGrpSpPr>
      <p:grpSpPr>
        <a:xfrm>
          <a:off x="0" y="0"/>
          <a:ext cx="0" cy="0"/>
          <a:chOff x="0" y="0"/>
          <a:chExt cx="0" cy="0"/>
        </a:xfrm>
      </p:grpSpPr>
      <p:sp>
        <p:nvSpPr>
          <p:cNvPr id="523" name="Google Shape;523;p2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28"/>
          <p:cNvSpPr/>
          <p:nvPr/>
        </p:nvSpPr>
        <p:spPr>
          <a:xfrm>
            <a:off x="0" y="-1"/>
            <a:ext cx="11766176" cy="2061837"/>
          </a:xfrm>
          <a:custGeom>
            <a:avLst/>
            <a:gdLst/>
            <a:ahLst/>
            <a:cxnLst/>
            <a:rect l="l" t="t" r="r" b="b"/>
            <a:pathLst>
              <a:path w="10768629" h="1978172" extrusionOk="0">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5" name="Google Shape;525;p28" descr="$PPTXTitle"/>
          <p:cNvSpPr txBox="1">
            <a:spLocks noGrp="1"/>
          </p:cNvSpPr>
          <p:nvPr>
            <p:ph type="title"/>
          </p:nvPr>
        </p:nvSpPr>
        <p:spPr>
          <a:xfrm>
            <a:off x="1137034" y="609597"/>
            <a:ext cx="9392421" cy="1330841"/>
          </a:xfrm>
          <a:prstGeom prst="rect">
            <a:avLst/>
          </a:prstGeom>
          <a:noFill/>
          <a:ln>
            <a:noFill/>
          </a:ln>
        </p:spPr>
        <p:txBody>
          <a:bodyPr spcFirstLastPara="1" wrap="square" lIns="0" tIns="13325" rIns="0" bIns="0" anchor="ctr" anchorCtr="0">
            <a:normAutofit/>
          </a:bodyPr>
          <a:lstStyle/>
          <a:p>
            <a:pPr marL="12700" lvl="0" indent="0" algn="l" rtl="0">
              <a:lnSpc>
                <a:spcPct val="90000"/>
              </a:lnSpc>
              <a:spcBef>
                <a:spcPts val="0"/>
              </a:spcBef>
              <a:spcAft>
                <a:spcPts val="0"/>
              </a:spcAft>
              <a:buClr>
                <a:schemeClr val="dk1"/>
              </a:buClr>
              <a:buSzPts val="4400"/>
              <a:buFont typeface="Play"/>
              <a:buNone/>
            </a:pPr>
            <a:r>
              <a:rPr lang="en-US"/>
              <a:t>Distinct</a:t>
            </a:r>
            <a:endParaRPr/>
          </a:p>
        </p:txBody>
      </p:sp>
      <p:sp>
        <p:nvSpPr>
          <p:cNvPr id="526" name="Google Shape;526;p28"/>
          <p:cNvSpPr txBox="1">
            <a:spLocks noGrp="1"/>
          </p:cNvSpPr>
          <p:nvPr>
            <p:ph type="body" idx="1"/>
          </p:nvPr>
        </p:nvSpPr>
        <p:spPr>
          <a:xfrm>
            <a:off x="1137034" y="2198362"/>
            <a:ext cx="4958966" cy="3917773"/>
          </a:xfrm>
          <a:prstGeom prst="rect">
            <a:avLst/>
          </a:prstGeom>
          <a:noFill/>
          <a:ln>
            <a:noFill/>
          </a:ln>
        </p:spPr>
        <p:txBody>
          <a:bodyPr spcFirstLastPara="1" wrap="square" lIns="0" tIns="113650" rIns="0" bIns="0" anchor="t" anchorCtr="0">
            <a:normAutofit/>
          </a:bodyPr>
          <a:lstStyle/>
          <a:p>
            <a:pPr marL="12700" lvl="0" indent="-12700" algn="l" rtl="0">
              <a:lnSpc>
                <a:spcPct val="90000"/>
              </a:lnSpc>
              <a:spcBef>
                <a:spcPts val="0"/>
              </a:spcBef>
              <a:spcAft>
                <a:spcPts val="0"/>
              </a:spcAft>
              <a:buClr>
                <a:schemeClr val="dk1"/>
              </a:buClr>
              <a:buSzPts val="1600"/>
              <a:buChar char="•"/>
            </a:pPr>
            <a:r>
              <a:rPr lang="en-US" sz="1600">
                <a:latin typeface="Arimo"/>
                <a:ea typeface="Arimo"/>
                <a:cs typeface="Arimo"/>
                <a:sym typeface="Arimo"/>
              </a:rPr>
              <a:t>∗	</a:t>
            </a:r>
            <a:r>
              <a:rPr lang="en-US" sz="1600"/>
              <a:t>Structure</a:t>
            </a:r>
            <a:endParaRPr/>
          </a:p>
          <a:p>
            <a:pPr marL="314325" lvl="0" indent="-228600" algn="l" rtl="0">
              <a:lnSpc>
                <a:spcPct val="90000"/>
              </a:lnSpc>
              <a:spcBef>
                <a:spcPts val="630"/>
              </a:spcBef>
              <a:spcAft>
                <a:spcPts val="0"/>
              </a:spcAft>
              <a:buClr>
                <a:schemeClr val="dk1"/>
              </a:buClr>
              <a:buSzPts val="1600"/>
              <a:buChar char="•"/>
            </a:pPr>
            <a:r>
              <a:rPr lang="en-US" sz="1600">
                <a:latin typeface="Arimo"/>
                <a:ea typeface="Arimo"/>
                <a:cs typeface="Arimo"/>
                <a:sym typeface="Arimo"/>
              </a:rPr>
              <a:t>∗	</a:t>
            </a:r>
            <a:r>
              <a:rPr lang="en-US" sz="1600"/>
              <a:t>It exploits MapReduce’s ability to group keys together to remove duplicates</a:t>
            </a:r>
            <a:endParaRPr sz="1600">
              <a:latin typeface="Arimo"/>
              <a:ea typeface="Arimo"/>
              <a:cs typeface="Arimo"/>
              <a:sym typeface="Arimo"/>
            </a:endParaRPr>
          </a:p>
          <a:p>
            <a:pPr marL="314325" lvl="0" indent="-228600" algn="l" rtl="0">
              <a:lnSpc>
                <a:spcPct val="90000"/>
              </a:lnSpc>
              <a:spcBef>
                <a:spcPts val="600"/>
              </a:spcBef>
              <a:spcAft>
                <a:spcPts val="0"/>
              </a:spcAft>
              <a:buClr>
                <a:schemeClr val="dk1"/>
              </a:buClr>
              <a:buSzPts val="1600"/>
              <a:buChar char="•"/>
            </a:pPr>
            <a:r>
              <a:rPr lang="en-US" sz="1600">
                <a:latin typeface="Arimo"/>
                <a:ea typeface="Arimo"/>
                <a:cs typeface="Arimo"/>
                <a:sym typeface="Arimo"/>
              </a:rPr>
              <a:t>∗	</a:t>
            </a:r>
            <a:r>
              <a:rPr lang="en-US" sz="1600"/>
              <a:t>Mapper transforms the data and doesn’t do much in the reducer</a:t>
            </a:r>
            <a:endParaRPr sz="1600">
              <a:latin typeface="Arimo"/>
              <a:ea typeface="Arimo"/>
              <a:cs typeface="Arimo"/>
              <a:sym typeface="Arimo"/>
            </a:endParaRPr>
          </a:p>
          <a:p>
            <a:pPr marL="588645" marR="99060" lvl="0" indent="-274955" algn="l" rtl="0">
              <a:lnSpc>
                <a:spcPct val="90000"/>
              </a:lnSpc>
              <a:spcBef>
                <a:spcPts val="600"/>
              </a:spcBef>
              <a:spcAft>
                <a:spcPts val="0"/>
              </a:spcAft>
              <a:buClr>
                <a:schemeClr val="dk1"/>
              </a:buClr>
              <a:buSzPts val="1600"/>
              <a:buChar char="•"/>
            </a:pPr>
            <a:r>
              <a:rPr lang="en-US" sz="1600">
                <a:latin typeface="Arimo"/>
                <a:ea typeface="Arimo"/>
                <a:cs typeface="Arimo"/>
                <a:sym typeface="Arimo"/>
              </a:rPr>
              <a:t>∗	</a:t>
            </a:r>
            <a:r>
              <a:rPr lang="en-US" sz="1600"/>
              <a:t>The Mapper will get the user ID from each input record. This user ID will be output as the key with a null value</a:t>
            </a:r>
            <a:endParaRPr sz="1600">
              <a:latin typeface="Arimo"/>
              <a:ea typeface="Arimo"/>
              <a:cs typeface="Arimo"/>
              <a:sym typeface="Arimo"/>
            </a:endParaRPr>
          </a:p>
          <a:p>
            <a:pPr marL="314325" lvl="0" indent="-228600" algn="l" rtl="0">
              <a:lnSpc>
                <a:spcPct val="90000"/>
              </a:lnSpc>
              <a:spcBef>
                <a:spcPts val="600"/>
              </a:spcBef>
              <a:spcAft>
                <a:spcPts val="0"/>
              </a:spcAft>
              <a:buClr>
                <a:schemeClr val="dk1"/>
              </a:buClr>
              <a:buSzPts val="1600"/>
              <a:buChar char="•"/>
            </a:pPr>
            <a:r>
              <a:rPr lang="en-US" sz="1600">
                <a:latin typeface="Arimo"/>
                <a:ea typeface="Arimo"/>
                <a:cs typeface="Arimo"/>
                <a:sym typeface="Arimo"/>
              </a:rPr>
              <a:t>∗	</a:t>
            </a:r>
            <a:r>
              <a:rPr lang="en-US" sz="1600"/>
              <a:t>Duplicate records are often located close to another in a data set, so a combiner will deduplicate them in</a:t>
            </a:r>
            <a:endParaRPr sz="1600">
              <a:latin typeface="Arimo"/>
              <a:ea typeface="Arimo"/>
              <a:cs typeface="Arimo"/>
              <a:sym typeface="Arimo"/>
            </a:endParaRPr>
          </a:p>
          <a:p>
            <a:pPr marL="588645" lvl="0" indent="-228600" algn="l" rtl="0">
              <a:lnSpc>
                <a:spcPct val="90000"/>
              </a:lnSpc>
              <a:spcBef>
                <a:spcPts val="1000"/>
              </a:spcBef>
              <a:spcAft>
                <a:spcPts val="0"/>
              </a:spcAft>
              <a:buClr>
                <a:schemeClr val="dk1"/>
              </a:buClr>
              <a:buSzPts val="1600"/>
              <a:buChar char="•"/>
            </a:pPr>
            <a:r>
              <a:rPr lang="en-US" sz="1600"/>
              <a:t>the map phase.</a:t>
            </a:r>
            <a:endParaRPr sz="1600"/>
          </a:p>
          <a:p>
            <a:pPr marL="588645" marR="104775" lvl="0" indent="-274955" algn="l" rtl="0">
              <a:lnSpc>
                <a:spcPct val="90000"/>
              </a:lnSpc>
              <a:spcBef>
                <a:spcPts val="605"/>
              </a:spcBef>
              <a:spcAft>
                <a:spcPts val="0"/>
              </a:spcAft>
              <a:buClr>
                <a:schemeClr val="dk1"/>
              </a:buClr>
              <a:buSzPts val="1600"/>
              <a:buChar char="•"/>
            </a:pPr>
            <a:r>
              <a:rPr lang="en-US" sz="1600">
                <a:latin typeface="Arimo"/>
                <a:ea typeface="Arimo"/>
                <a:cs typeface="Arimo"/>
                <a:sym typeface="Arimo"/>
              </a:rPr>
              <a:t>∗	</a:t>
            </a:r>
            <a:r>
              <a:rPr lang="en-US" sz="1600"/>
              <a:t>Each reducer is given a unique key and a set of null values. These values are ignored and the input key is written to the file system with a null value</a:t>
            </a:r>
            <a:endParaRPr sz="1600">
              <a:latin typeface="Arimo"/>
              <a:ea typeface="Arimo"/>
              <a:cs typeface="Arimo"/>
              <a:sym typeface="Arimo"/>
            </a:endParaRPr>
          </a:p>
        </p:txBody>
      </p:sp>
      <p:pic>
        <p:nvPicPr>
          <p:cNvPr id="527" name="Google Shape;527;p28"/>
          <p:cNvPicPr preferRelativeResize="0"/>
          <p:nvPr/>
        </p:nvPicPr>
        <p:blipFill rotWithShape="1">
          <a:blip r:embed="rId3">
            <a:alphaModFix/>
          </a:blip>
          <a:srcRect/>
          <a:stretch/>
        </p:blipFill>
        <p:spPr>
          <a:xfrm>
            <a:off x="6719367" y="2918951"/>
            <a:ext cx="4788505" cy="2287841"/>
          </a:xfrm>
          <a:prstGeom prst="rect">
            <a:avLst/>
          </a:prstGeom>
          <a:noFill/>
          <a:ln>
            <a:noFill/>
          </a:ln>
        </p:spPr>
      </p:pic>
      <p:sp>
        <p:nvSpPr>
          <p:cNvPr id="528" name="Google Shape;528;p28"/>
          <p:cNvSpPr/>
          <p:nvPr/>
        </p:nvSpPr>
        <p:spPr>
          <a:xfrm rot="10800000">
            <a:off x="5381624" y="6209414"/>
            <a:ext cx="6810375" cy="648586"/>
          </a:xfrm>
          <a:custGeom>
            <a:avLst/>
            <a:gdLst/>
            <a:ahLst/>
            <a:cxnLst/>
            <a:rect l="l" t="t" r="r" b="b"/>
            <a:pathLst>
              <a:path w="10753706" h="1027260" extrusionOk="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2"/>
        <p:cNvGrpSpPr/>
        <p:nvPr/>
      </p:nvGrpSpPr>
      <p:grpSpPr>
        <a:xfrm>
          <a:off x="0" y="0"/>
          <a:ext cx="0" cy="0"/>
          <a:chOff x="0" y="0"/>
          <a:chExt cx="0" cy="0"/>
        </a:xfrm>
      </p:grpSpPr>
      <p:sp>
        <p:nvSpPr>
          <p:cNvPr id="533" name="Google Shape;533;p2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4" name="Google Shape;534;p29"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Distinct</a:t>
            </a:r>
            <a:endParaRPr/>
          </a:p>
        </p:txBody>
      </p:sp>
      <p:grpSp>
        <p:nvGrpSpPr>
          <p:cNvPr id="535" name="Google Shape;535;p29"/>
          <p:cNvGrpSpPr/>
          <p:nvPr/>
        </p:nvGrpSpPr>
        <p:grpSpPr>
          <a:xfrm>
            <a:off x="-2" y="1998368"/>
            <a:ext cx="11695083" cy="782176"/>
            <a:chOff x="-2" y="1998368"/>
            <a:chExt cx="11695083" cy="782176"/>
          </a:xfrm>
        </p:grpSpPr>
        <p:sp>
          <p:nvSpPr>
            <p:cNvPr id="536" name="Google Shape;536;p29"/>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7" name="Google Shape;537;p29"/>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538" name="Google Shape;538;p29"/>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9" name="Google Shape;539;p29"/>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	Consequences</a:t>
            </a:r>
            <a:endParaRPr sz="2200">
              <a:solidFill>
                <a:schemeClr val="dk1"/>
              </a:solidFill>
              <a:latin typeface="Arial"/>
              <a:ea typeface="Arial"/>
              <a:cs typeface="Arial"/>
              <a:sym typeface="Arial"/>
            </a:endParaRPr>
          </a:p>
          <a:p>
            <a:pPr marL="588645" marR="5080" lvl="0" indent="-228600" algn="l" rtl="0">
              <a:lnSpc>
                <a:spcPct val="90000"/>
              </a:lnSpc>
              <a:spcBef>
                <a:spcPts val="630"/>
              </a:spcBef>
              <a:spcAft>
                <a:spcPts val="0"/>
              </a:spcAft>
              <a:buClr>
                <a:schemeClr val="dk1"/>
              </a:buClr>
              <a:buSzPts val="2200"/>
              <a:buFont typeface="Arial"/>
              <a:buChar char="•"/>
            </a:pPr>
            <a:r>
              <a:rPr lang="en-US" sz="2200">
                <a:solidFill>
                  <a:schemeClr val="dk1"/>
                </a:solidFill>
                <a:latin typeface="Arial"/>
                <a:ea typeface="Arial"/>
                <a:cs typeface="Arial"/>
                <a:sym typeface="Arial"/>
              </a:rPr>
              <a:t>∗	The output records are guaranteed to be unique, but any order has not been preserved due to the random partitioning of the records</a:t>
            </a:r>
            <a:endParaRPr sz="2200">
              <a:solidFill>
                <a:schemeClr val="dk1"/>
              </a:solidFill>
              <a:latin typeface="Arial"/>
              <a:ea typeface="Arial"/>
              <a:cs typeface="Arial"/>
              <a:sym typeface="Arial"/>
            </a:endParaRPr>
          </a:p>
          <a:p>
            <a:pPr marL="12700" marR="0" lvl="0" indent="-12700" algn="l" rtl="0">
              <a:lnSpc>
                <a:spcPct val="90000"/>
              </a:lnSpc>
              <a:spcBef>
                <a:spcPts val="450"/>
              </a:spcBef>
              <a:spcAft>
                <a:spcPts val="0"/>
              </a:spcAft>
              <a:buClr>
                <a:schemeClr val="dk1"/>
              </a:buClr>
              <a:buSzPts val="2200"/>
              <a:buFont typeface="Arial"/>
              <a:buChar char="•"/>
            </a:pPr>
            <a:r>
              <a:rPr lang="en-US" sz="2200">
                <a:solidFill>
                  <a:schemeClr val="dk1"/>
                </a:solidFill>
                <a:latin typeface="Arial"/>
                <a:ea typeface="Arial"/>
                <a:cs typeface="Arial"/>
                <a:sym typeface="Arial"/>
              </a:rPr>
              <a:t>∗	Known uses</a:t>
            </a:r>
            <a:endParaRPr sz="2200">
              <a:solidFill>
                <a:schemeClr val="dk1"/>
              </a:solidFill>
              <a:latin typeface="Arial"/>
              <a:ea typeface="Arial"/>
              <a:cs typeface="Arial"/>
              <a:sym typeface="Arial"/>
            </a:endParaRPr>
          </a:p>
          <a:p>
            <a:pPr marL="314325" marR="0" lvl="0" indent="-228600" algn="l" rtl="0">
              <a:lnSpc>
                <a:spcPct val="90000"/>
              </a:lnSpc>
              <a:spcBef>
                <a:spcPts val="630"/>
              </a:spcBef>
              <a:spcAft>
                <a:spcPts val="0"/>
              </a:spcAft>
              <a:buClr>
                <a:schemeClr val="dk1"/>
              </a:buClr>
              <a:buSzPts val="2200"/>
              <a:buFont typeface="Arial"/>
              <a:buChar char="•"/>
            </a:pPr>
            <a:r>
              <a:rPr lang="en-US" sz="2200">
                <a:solidFill>
                  <a:schemeClr val="dk1"/>
                </a:solidFill>
                <a:latin typeface="Arial"/>
                <a:ea typeface="Arial"/>
                <a:cs typeface="Arial"/>
                <a:sym typeface="Arial"/>
              </a:rPr>
              <a:t>∗	Deduplicate data</a:t>
            </a:r>
            <a:endParaRPr sz="2200">
              <a:solidFill>
                <a:schemeClr val="dk1"/>
              </a:solidFill>
              <a:latin typeface="Arial"/>
              <a:ea typeface="Arial"/>
              <a:cs typeface="Arial"/>
              <a:sym typeface="Arial"/>
            </a:endParaRPr>
          </a:p>
          <a:p>
            <a:pPr marL="314325" marR="0" lvl="0" indent="-228600" algn="l" rtl="0">
              <a:lnSpc>
                <a:spcPct val="90000"/>
              </a:lnSpc>
              <a:spcBef>
                <a:spcPts val="600"/>
              </a:spcBef>
              <a:spcAft>
                <a:spcPts val="0"/>
              </a:spcAft>
              <a:buClr>
                <a:schemeClr val="dk1"/>
              </a:buClr>
              <a:buSzPts val="2200"/>
              <a:buFont typeface="Arial"/>
              <a:buChar char="•"/>
            </a:pPr>
            <a:r>
              <a:rPr lang="en-US" sz="2200">
                <a:solidFill>
                  <a:schemeClr val="dk1"/>
                </a:solidFill>
                <a:latin typeface="Arial"/>
                <a:ea typeface="Arial"/>
                <a:cs typeface="Arial"/>
                <a:sym typeface="Arial"/>
              </a:rPr>
              <a:t>∗	Getting distinct values</a:t>
            </a:r>
            <a:endParaRPr sz="2200">
              <a:solidFill>
                <a:schemeClr val="dk1"/>
              </a:solidFill>
              <a:latin typeface="Arial"/>
              <a:ea typeface="Arial"/>
              <a:cs typeface="Arial"/>
              <a:sym typeface="Arial"/>
            </a:endParaRPr>
          </a:p>
          <a:p>
            <a:pPr marL="314325" marR="0" lvl="0" indent="-228600" algn="l" rtl="0">
              <a:lnSpc>
                <a:spcPct val="90000"/>
              </a:lnSpc>
              <a:spcBef>
                <a:spcPts val="605"/>
              </a:spcBef>
              <a:spcAft>
                <a:spcPts val="0"/>
              </a:spcAft>
              <a:buClr>
                <a:schemeClr val="dk1"/>
              </a:buClr>
              <a:buSzPts val="2200"/>
              <a:buFont typeface="Arial"/>
              <a:buChar char="•"/>
            </a:pPr>
            <a:r>
              <a:rPr lang="en-US" sz="2200">
                <a:solidFill>
                  <a:schemeClr val="dk1"/>
                </a:solidFill>
                <a:latin typeface="Arial"/>
                <a:ea typeface="Arial"/>
                <a:cs typeface="Arial"/>
                <a:sym typeface="Arial"/>
              </a:rPr>
              <a:t>∗	Protecting from an inner join explosion</a:t>
            </a:r>
            <a:endParaRPr sz="2200">
              <a:solidFill>
                <a:schemeClr val="dk1"/>
              </a:solidFill>
              <a:latin typeface="Arial"/>
              <a:ea typeface="Arial"/>
              <a:cs typeface="Arial"/>
              <a:sym typeface="Arial"/>
            </a:endParaRPr>
          </a:p>
          <a:p>
            <a:pPr marL="12700" marR="0" lvl="0" indent="-12700" algn="l" rtl="0">
              <a:lnSpc>
                <a:spcPct val="90000"/>
              </a:lnSpc>
              <a:spcBef>
                <a:spcPts val="570"/>
              </a:spcBef>
              <a:spcAft>
                <a:spcPts val="0"/>
              </a:spcAft>
              <a:buClr>
                <a:schemeClr val="dk1"/>
              </a:buClr>
              <a:buSzPts val="2200"/>
              <a:buFont typeface="Arial"/>
              <a:buChar char="•"/>
            </a:pPr>
            <a:r>
              <a:rPr lang="en-US" sz="2200">
                <a:solidFill>
                  <a:schemeClr val="dk1"/>
                </a:solidFill>
                <a:latin typeface="Arial"/>
                <a:ea typeface="Arial"/>
                <a:cs typeface="Arial"/>
                <a:sym typeface="Arial"/>
              </a:rPr>
              <a:t>∗	Resemblances</a:t>
            </a:r>
            <a:endParaRPr sz="2200">
              <a:solidFill>
                <a:schemeClr val="dk1"/>
              </a:solidFill>
              <a:latin typeface="Arial"/>
              <a:ea typeface="Arial"/>
              <a:cs typeface="Arial"/>
              <a:sym typeface="Arial"/>
            </a:endParaRPr>
          </a:p>
          <a:p>
            <a:pPr marL="414020" marR="0" lvl="0" indent="-228600" algn="l" rtl="0">
              <a:lnSpc>
                <a:spcPct val="90000"/>
              </a:lnSpc>
              <a:spcBef>
                <a:spcPts val="900"/>
              </a:spcBef>
              <a:spcAft>
                <a:spcPts val="0"/>
              </a:spcAft>
              <a:buClr>
                <a:schemeClr val="dk1"/>
              </a:buClr>
              <a:buSzPts val="2200"/>
              <a:buFont typeface="Arial"/>
              <a:buChar char="•"/>
            </a:pPr>
            <a:r>
              <a:rPr lang="en-US" sz="2200" b="1">
                <a:solidFill>
                  <a:schemeClr val="dk1"/>
                </a:solidFill>
                <a:latin typeface="Arial"/>
                <a:ea typeface="Arial"/>
                <a:cs typeface="Arial"/>
                <a:sym typeface="Arial"/>
              </a:rPr>
              <a:t>SELECT DISTINCT * FROM table;</a:t>
            </a:r>
            <a:endParaRPr sz="22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30"/>
          <p:cNvSpPr/>
          <p:nvPr/>
        </p:nvSpPr>
        <p:spPr>
          <a:xfrm>
            <a:off x="0"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5" name="Google Shape;545;p30"/>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6" name="Google Shape;546;p30" descr="$PPTXTitle"/>
          <p:cNvSpPr txBox="1">
            <a:spLocks noGrp="1"/>
          </p:cNvSpPr>
          <p:nvPr>
            <p:ph type="title"/>
          </p:nvPr>
        </p:nvSpPr>
        <p:spPr>
          <a:xfrm>
            <a:off x="1179576" y="1261423"/>
            <a:ext cx="9829800" cy="1325880"/>
          </a:xfrm>
          <a:prstGeom prst="rect">
            <a:avLst/>
          </a:prstGeom>
          <a:noFill/>
          <a:ln>
            <a:noFill/>
          </a:ln>
        </p:spPr>
        <p:txBody>
          <a:bodyPr spcFirstLastPara="1" wrap="square" lIns="91425" tIns="45700" rIns="91425" bIns="45700" anchor="b" anchorCtr="0">
            <a:normAutofit/>
          </a:bodyPr>
          <a:lstStyle/>
          <a:p>
            <a:pPr marL="12700" lvl="0" indent="0" algn="ctr" rtl="0">
              <a:lnSpc>
                <a:spcPct val="90000"/>
              </a:lnSpc>
              <a:spcBef>
                <a:spcPts val="0"/>
              </a:spcBef>
              <a:spcAft>
                <a:spcPts val="0"/>
              </a:spcAft>
              <a:buClr>
                <a:schemeClr val="dk2"/>
              </a:buClr>
              <a:buSzPts val="3600"/>
              <a:buFont typeface="Play"/>
              <a:buNone/>
            </a:pPr>
            <a:r>
              <a:rPr lang="en-US" sz="3600">
                <a:solidFill>
                  <a:schemeClr val="dk2"/>
                </a:solidFill>
                <a:latin typeface="Play"/>
                <a:ea typeface="Play"/>
                <a:cs typeface="Play"/>
                <a:sym typeface="Play"/>
              </a:rPr>
              <a:t>Distinct</a:t>
            </a:r>
            <a:endParaRPr/>
          </a:p>
        </p:txBody>
      </p:sp>
      <p:grpSp>
        <p:nvGrpSpPr>
          <p:cNvPr id="547" name="Google Shape;547;p30"/>
          <p:cNvGrpSpPr/>
          <p:nvPr/>
        </p:nvGrpSpPr>
        <p:grpSpPr>
          <a:xfrm>
            <a:off x="-305" y="-1"/>
            <a:ext cx="3362070" cy="2522849"/>
            <a:chOff x="-305" y="-1"/>
            <a:chExt cx="3832880" cy="2876136"/>
          </a:xfrm>
        </p:grpSpPr>
        <p:sp>
          <p:nvSpPr>
            <p:cNvPr id="548" name="Google Shape;548;p30"/>
            <p:cNvSpPr/>
            <p:nvPr/>
          </p:nvSpPr>
          <p:spPr>
            <a:xfrm>
              <a:off x="305" y="1"/>
              <a:ext cx="3815424" cy="2653659"/>
            </a:xfrm>
            <a:custGeom>
              <a:avLst/>
              <a:gdLst/>
              <a:ahLst/>
              <a:cxnLst/>
              <a:rect l="l" t="t" r="r" b="b"/>
              <a:pathLst>
                <a:path w="3815424" h="2653659" extrusionOk="0">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9" name="Google Shape;549;p30"/>
            <p:cNvSpPr/>
            <p:nvPr/>
          </p:nvSpPr>
          <p:spPr>
            <a:xfrm>
              <a:off x="305" y="-1"/>
              <a:ext cx="3815424" cy="2653660"/>
            </a:xfrm>
            <a:custGeom>
              <a:avLst/>
              <a:gdLst/>
              <a:ahLst/>
              <a:cxnLst/>
              <a:rect l="l" t="t" r="r" b="b"/>
              <a:pathLst>
                <a:path w="3815424" h="2653660" extrusionOk="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0" name="Google Shape;550;p30"/>
            <p:cNvSpPr/>
            <p:nvPr/>
          </p:nvSpPr>
          <p:spPr>
            <a:xfrm>
              <a:off x="-305" y="1"/>
              <a:ext cx="3815986" cy="2675935"/>
            </a:xfrm>
            <a:custGeom>
              <a:avLst/>
              <a:gdLst/>
              <a:ahLst/>
              <a:cxnLst/>
              <a:rect l="l" t="t" r="r" b="b"/>
              <a:pathLst>
                <a:path w="3815986" h="2675935" extrusionOk="0">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1" name="Google Shape;551;p30"/>
            <p:cNvSpPr/>
            <p:nvPr/>
          </p:nvSpPr>
          <p:spPr>
            <a:xfrm>
              <a:off x="305" y="-1"/>
              <a:ext cx="3832270" cy="2876136"/>
            </a:xfrm>
            <a:custGeom>
              <a:avLst/>
              <a:gdLst/>
              <a:ahLst/>
              <a:cxnLst/>
              <a:rect l="l" t="t" r="r" b="b"/>
              <a:pathLst>
                <a:path w="3832270" h="2876136" extrusionOk="0">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552" name="Google Shape;552;p30"/>
          <p:cNvGrpSpPr/>
          <p:nvPr/>
        </p:nvGrpSpPr>
        <p:grpSpPr>
          <a:xfrm rot="5400000" flipH="1">
            <a:off x="10185732" y="4852038"/>
            <a:ext cx="2151670" cy="1860256"/>
            <a:chOff x="-305" y="-4155"/>
            <a:chExt cx="2514948" cy="2174333"/>
          </a:xfrm>
        </p:grpSpPr>
        <p:sp>
          <p:nvSpPr>
            <p:cNvPr id="553" name="Google Shape;553;p30"/>
            <p:cNvSpPr/>
            <p:nvPr/>
          </p:nvSpPr>
          <p:spPr>
            <a:xfrm>
              <a:off x="-305" y="0"/>
              <a:ext cx="2514948" cy="2170178"/>
            </a:xfrm>
            <a:custGeom>
              <a:avLst/>
              <a:gdLst/>
              <a:ahLst/>
              <a:cxnLst/>
              <a:rect l="l" t="t" r="r" b="b"/>
              <a:pathLst>
                <a:path w="2514948" h="2170178" extrusionOk="0">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4" name="Google Shape;554;p30"/>
            <p:cNvSpPr/>
            <p:nvPr/>
          </p:nvSpPr>
          <p:spPr>
            <a:xfrm>
              <a:off x="-305" y="-4155"/>
              <a:ext cx="2493062" cy="1947896"/>
            </a:xfrm>
            <a:custGeom>
              <a:avLst/>
              <a:gdLst/>
              <a:ahLst/>
              <a:cxnLst/>
              <a:rect l="l" t="t" r="r" b="b"/>
              <a:pathLst>
                <a:path w="2493062" h="1947896" extrusionOk="0">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5" name="Google Shape;555;p30"/>
            <p:cNvSpPr/>
            <p:nvPr/>
          </p:nvSpPr>
          <p:spPr>
            <a:xfrm>
              <a:off x="-305" y="0"/>
              <a:ext cx="2501089" cy="1972702"/>
            </a:xfrm>
            <a:custGeom>
              <a:avLst/>
              <a:gdLst/>
              <a:ahLst/>
              <a:cxnLst/>
              <a:rect l="l" t="t" r="r" b="b"/>
              <a:pathLst>
                <a:path w="2501089" h="1972702" extrusionOk="0">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556" name="Google Shape;556;p30"/>
            <p:cNvSpPr/>
            <p:nvPr/>
          </p:nvSpPr>
          <p:spPr>
            <a:xfrm>
              <a:off x="305" y="1"/>
              <a:ext cx="2491105" cy="1943661"/>
            </a:xfrm>
            <a:custGeom>
              <a:avLst/>
              <a:gdLst/>
              <a:ahLst/>
              <a:cxnLst/>
              <a:rect l="l" t="t" r="r" b="b"/>
              <a:pathLst>
                <a:path w="2491105" h="1943661" extrusionOk="0">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557" name="Google Shape;557;p30"/>
          <p:cNvGrpSpPr/>
          <p:nvPr/>
        </p:nvGrpSpPr>
        <p:grpSpPr>
          <a:xfrm>
            <a:off x="6435515" y="3856030"/>
            <a:ext cx="4948300" cy="1186568"/>
            <a:chOff x="4857750" y="3252724"/>
            <a:chExt cx="2457450" cy="589280"/>
          </a:xfrm>
        </p:grpSpPr>
        <p:pic>
          <p:nvPicPr>
            <p:cNvPr id="558" name="Google Shape;558;p30"/>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559" name="Google Shape;559;p30"/>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0" name="Google Shape;560;p30"/>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4"/>
        <p:cNvGrpSpPr/>
        <p:nvPr/>
      </p:nvGrpSpPr>
      <p:grpSpPr>
        <a:xfrm>
          <a:off x="0" y="0"/>
          <a:ext cx="0" cy="0"/>
          <a:chOff x="0" y="0"/>
          <a:chExt cx="0" cy="0"/>
        </a:xfrm>
      </p:grpSpPr>
      <p:sp>
        <p:nvSpPr>
          <p:cNvPr id="565" name="Google Shape;565;p3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6" name="Google Shape;566;p31"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9685"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III. Data Organization Pattern</a:t>
            </a:r>
            <a:endParaRPr/>
          </a:p>
        </p:txBody>
      </p:sp>
      <p:grpSp>
        <p:nvGrpSpPr>
          <p:cNvPr id="567" name="Google Shape;567;p31"/>
          <p:cNvGrpSpPr/>
          <p:nvPr/>
        </p:nvGrpSpPr>
        <p:grpSpPr>
          <a:xfrm>
            <a:off x="-2" y="1998368"/>
            <a:ext cx="11695083" cy="782176"/>
            <a:chOff x="-2" y="1998368"/>
            <a:chExt cx="11695083" cy="782176"/>
          </a:xfrm>
        </p:grpSpPr>
        <p:sp>
          <p:nvSpPr>
            <p:cNvPr id="568" name="Google Shape;568;p31"/>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9" name="Google Shape;569;p31"/>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570" name="Google Shape;570;p31"/>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1" name="Google Shape;571;p31"/>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All about reorganizing data</a:t>
            </a:r>
            <a:endParaRPr sz="2400">
              <a:solidFill>
                <a:schemeClr val="dk1"/>
              </a:solidFill>
              <a:latin typeface="Arial"/>
              <a:ea typeface="Arial"/>
              <a:cs typeface="Arial"/>
              <a:sym typeface="Arial"/>
            </a:endParaRPr>
          </a:p>
          <a:p>
            <a:pPr marL="12700" marR="0" lvl="0" indent="-12700" algn="l" rtl="0">
              <a:lnSpc>
                <a:spcPct val="9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	Patterns</a:t>
            </a:r>
            <a:endParaRPr sz="2400">
              <a:solidFill>
                <a:schemeClr val="dk1"/>
              </a:solidFill>
              <a:latin typeface="Arial"/>
              <a:ea typeface="Arial"/>
              <a:cs typeface="Arial"/>
              <a:sym typeface="Arial"/>
            </a:endParaRPr>
          </a:p>
          <a:p>
            <a:pPr marL="314325" marR="0" lvl="0" indent="-228600" algn="l" rtl="0">
              <a:lnSpc>
                <a:spcPct val="90000"/>
              </a:lnSpc>
              <a:spcBef>
                <a:spcPts val="630"/>
              </a:spcBef>
              <a:spcAft>
                <a:spcPts val="0"/>
              </a:spcAft>
              <a:buClr>
                <a:schemeClr val="dk1"/>
              </a:buClr>
              <a:buSzPts val="2400"/>
              <a:buFont typeface="Arial"/>
              <a:buChar char="•"/>
            </a:pPr>
            <a:r>
              <a:rPr lang="en-US" sz="2400">
                <a:solidFill>
                  <a:schemeClr val="dk1"/>
                </a:solidFill>
                <a:latin typeface="Arial"/>
                <a:ea typeface="Arial"/>
                <a:cs typeface="Arial"/>
                <a:sym typeface="Arial"/>
              </a:rPr>
              <a:t>∗	Structured to Hierarchical</a:t>
            </a:r>
            <a:endParaRPr sz="2400">
              <a:solidFill>
                <a:schemeClr val="dk1"/>
              </a:solidFill>
              <a:latin typeface="Arial"/>
              <a:ea typeface="Arial"/>
              <a:cs typeface="Arial"/>
              <a:sym typeface="Arial"/>
            </a:endParaRPr>
          </a:p>
          <a:p>
            <a:pPr marL="314325" marR="0" lvl="0" indent="-228600" algn="l" rtl="0">
              <a:lnSpc>
                <a:spcPct val="9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	Partition</a:t>
            </a:r>
            <a:endParaRPr sz="2400">
              <a:solidFill>
                <a:schemeClr val="dk1"/>
              </a:solidFill>
              <a:latin typeface="Arial"/>
              <a:ea typeface="Arial"/>
              <a:cs typeface="Arial"/>
              <a:sym typeface="Arial"/>
            </a:endParaRPr>
          </a:p>
          <a:p>
            <a:pPr marL="314325" marR="0" lvl="0" indent="-228600" algn="l" rtl="0">
              <a:lnSpc>
                <a:spcPct val="9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	Total Order</a:t>
            </a:r>
            <a:endParaRPr sz="2400">
              <a:solidFill>
                <a:schemeClr val="dk1"/>
              </a:solidFill>
              <a:latin typeface="Arial"/>
              <a:ea typeface="Arial"/>
              <a:cs typeface="Arial"/>
              <a:sym typeface="Arial"/>
            </a:endParaRPr>
          </a:p>
          <a:p>
            <a:pPr marL="314325" marR="0" lvl="0" indent="-228600" algn="l" rtl="0">
              <a:lnSpc>
                <a:spcPct val="9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	Shuffling</a:t>
            </a:r>
            <a:endParaRPr sz="24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5"/>
        <p:cNvGrpSpPr/>
        <p:nvPr/>
      </p:nvGrpSpPr>
      <p:grpSpPr>
        <a:xfrm>
          <a:off x="0" y="0"/>
          <a:ext cx="0" cy="0"/>
          <a:chOff x="0" y="0"/>
          <a:chExt cx="0" cy="0"/>
        </a:xfrm>
      </p:grpSpPr>
      <p:pic>
        <p:nvPicPr>
          <p:cNvPr id="576" name="Google Shape;576;p32"/>
          <p:cNvPicPr preferRelativeResize="0"/>
          <p:nvPr/>
        </p:nvPicPr>
        <p:blipFill rotWithShape="1">
          <a:blip r:embed="rId3">
            <a:alphaModFix/>
          </a:blip>
          <a:srcRect t="25000"/>
          <a:stretch/>
        </p:blipFill>
        <p:spPr>
          <a:xfrm>
            <a:off x="20" y="10"/>
            <a:ext cx="12191980" cy="6857990"/>
          </a:xfrm>
          <a:prstGeom prst="rect">
            <a:avLst/>
          </a:prstGeom>
          <a:noFill/>
          <a:ln>
            <a:noFill/>
          </a:ln>
        </p:spPr>
      </p:pic>
      <p:sp>
        <p:nvSpPr>
          <p:cNvPr id="577" name="Google Shape;577;p32"/>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8" name="Google Shape;578;p32" descr="$PPTXTitle"/>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440690" lvl="0" indent="0" algn="l" rtl="0">
              <a:lnSpc>
                <a:spcPct val="90000"/>
              </a:lnSpc>
              <a:spcBef>
                <a:spcPts val="0"/>
              </a:spcBef>
              <a:spcAft>
                <a:spcPts val="0"/>
              </a:spcAft>
              <a:buClr>
                <a:schemeClr val="dk1"/>
              </a:buClr>
              <a:buSzPts val="4400"/>
              <a:buFont typeface="Play"/>
              <a:buNone/>
            </a:pPr>
            <a:r>
              <a:rPr lang="en-US"/>
              <a:t>Structured to Hierarchical</a:t>
            </a:r>
            <a:endParaRPr/>
          </a:p>
        </p:txBody>
      </p:sp>
      <p:grpSp>
        <p:nvGrpSpPr>
          <p:cNvPr id="579" name="Google Shape;579;p32"/>
          <p:cNvGrpSpPr/>
          <p:nvPr/>
        </p:nvGrpSpPr>
        <p:grpSpPr>
          <a:xfrm>
            <a:off x="2414699" y="1524409"/>
            <a:ext cx="7515001" cy="4652144"/>
            <a:chOff x="1576499" y="409"/>
            <a:chExt cx="7515001" cy="4652144"/>
          </a:xfrm>
        </p:grpSpPr>
        <p:sp>
          <p:nvSpPr>
            <p:cNvPr id="580" name="Google Shape;580;p32"/>
            <p:cNvSpPr/>
            <p:nvPr/>
          </p:nvSpPr>
          <p:spPr>
            <a:xfrm>
              <a:off x="1576499" y="409"/>
              <a:ext cx="3578572" cy="2147143"/>
            </a:xfrm>
            <a:prstGeom prst="rect">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2"/>
            <p:cNvSpPr txBox="1"/>
            <p:nvPr/>
          </p:nvSpPr>
          <p:spPr>
            <a:xfrm>
              <a:off x="1576499" y="409"/>
              <a:ext cx="3578572" cy="2147143"/>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Intent</a:t>
              </a:r>
              <a:endParaRPr/>
            </a:p>
            <a:p>
              <a:pPr marL="171450" marR="0" lvl="1" indent="-171450" algn="l" rtl="0">
                <a:lnSpc>
                  <a:spcPct val="90000"/>
                </a:lnSpc>
                <a:spcBef>
                  <a:spcPts val="63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Transform your row-based data to a hierarchical format, such as JSON or XML</a:t>
              </a:r>
              <a:endParaRPr/>
            </a:p>
          </p:txBody>
        </p:sp>
        <p:sp>
          <p:nvSpPr>
            <p:cNvPr id="582" name="Google Shape;582;p32"/>
            <p:cNvSpPr/>
            <p:nvPr/>
          </p:nvSpPr>
          <p:spPr>
            <a:xfrm>
              <a:off x="5512928" y="409"/>
              <a:ext cx="3578572" cy="2147143"/>
            </a:xfrm>
            <a:prstGeom prst="rect">
              <a:avLst/>
            </a:prstGeom>
            <a:solidFill>
              <a:srgbClr val="176B2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2"/>
            <p:cNvSpPr txBox="1"/>
            <p:nvPr/>
          </p:nvSpPr>
          <p:spPr>
            <a:xfrm>
              <a:off x="5512928" y="409"/>
              <a:ext cx="3578572" cy="2147143"/>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Motivation</a:t>
              </a:r>
              <a:endParaRPr/>
            </a:p>
            <a:p>
              <a:pPr marL="171450" marR="0" lvl="1" indent="-171450" algn="l" rtl="0">
                <a:lnSpc>
                  <a:spcPct val="90000"/>
                </a:lnSpc>
                <a:spcBef>
                  <a:spcPts val="63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Creates new records from data that started in a very different structure</a:t>
              </a:r>
              <a:endParaRPr/>
            </a:p>
            <a:p>
              <a:pPr marL="171450" marR="0" lvl="1" indent="-171450" algn="l" rtl="0">
                <a:lnSpc>
                  <a:spcPct val="90000"/>
                </a:lnSpc>
                <a:spcBef>
                  <a:spcPts val="27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Migrating data from an RDBMS to a Hadoop system</a:t>
              </a:r>
              <a:endParaRPr/>
            </a:p>
            <a:p>
              <a:pPr marL="171450" marR="0" lvl="1" indent="-171450" algn="l" rtl="0">
                <a:lnSpc>
                  <a:spcPct val="90000"/>
                </a:lnSpc>
                <a:spcBef>
                  <a:spcPts val="27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Data doesn’t always come grouped together</a:t>
              </a:r>
              <a:endParaRPr/>
            </a:p>
            <a:p>
              <a:pPr marL="171450" marR="0" lvl="1" indent="-171450" algn="l" rtl="0">
                <a:lnSpc>
                  <a:spcPct val="90000"/>
                </a:lnSpc>
                <a:spcBef>
                  <a:spcPts val="27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Create the denormalized records for MapReduce</a:t>
              </a:r>
              <a:endParaRPr/>
            </a:p>
          </p:txBody>
        </p:sp>
        <p:sp>
          <p:nvSpPr>
            <p:cNvPr id="584" name="Google Shape;584;p32"/>
            <p:cNvSpPr/>
            <p:nvPr/>
          </p:nvSpPr>
          <p:spPr>
            <a:xfrm>
              <a:off x="3544713" y="2505410"/>
              <a:ext cx="3578572" cy="2147143"/>
            </a:xfrm>
            <a:prstGeom prst="rect">
              <a:avLst/>
            </a:prstGeom>
            <a:solidFill>
              <a:srgbClr val="0C9ED5"/>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2"/>
            <p:cNvSpPr txBox="1"/>
            <p:nvPr/>
          </p:nvSpPr>
          <p:spPr>
            <a:xfrm>
              <a:off x="3544713" y="2505410"/>
              <a:ext cx="3578572" cy="2147143"/>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Applicability</a:t>
              </a:r>
              <a:endParaRPr/>
            </a:p>
            <a:p>
              <a:pPr marL="171450" marR="0" lvl="1" indent="-171450" algn="l" rtl="0">
                <a:lnSpc>
                  <a:spcPct val="90000"/>
                </a:lnSpc>
                <a:spcBef>
                  <a:spcPts val="63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data sources that are linked by some set of foreign keys</a:t>
              </a:r>
              <a:endParaRPr/>
            </a:p>
            <a:p>
              <a:pPr marL="171450" marR="0" lvl="1" indent="-171450" algn="l" rtl="0">
                <a:lnSpc>
                  <a:spcPct val="90000"/>
                </a:lnSpc>
                <a:spcBef>
                  <a:spcPts val="27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	data is structured and row-based</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9"/>
        <p:cNvGrpSpPr/>
        <p:nvPr/>
      </p:nvGrpSpPr>
      <p:grpSpPr>
        <a:xfrm>
          <a:off x="0" y="0"/>
          <a:ext cx="0" cy="0"/>
          <a:chOff x="0" y="0"/>
          <a:chExt cx="0" cy="0"/>
        </a:xfrm>
      </p:grpSpPr>
      <p:sp>
        <p:nvSpPr>
          <p:cNvPr id="590" name="Google Shape;590;p3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1" name="Google Shape;591;p33"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44069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Structured to Hierarchical</a:t>
            </a:r>
            <a:endParaRPr/>
          </a:p>
        </p:txBody>
      </p:sp>
      <p:sp>
        <p:nvSpPr>
          <p:cNvPr id="592" name="Google Shape;592;p33"/>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3" name="Google Shape;593;p33"/>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4" name="Google Shape;594;p33"/>
          <p:cNvSpPr txBo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286385" marR="5080" lvl="0" indent="-2286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MultipleInputs allows you to specify different input paths and different mapper classes for each input</a:t>
            </a:r>
            <a:endParaRPr sz="1700">
              <a:solidFill>
                <a:schemeClr val="dk1"/>
              </a:solidFill>
              <a:latin typeface="Arial"/>
              <a:ea typeface="Arial"/>
              <a:cs typeface="Arial"/>
              <a:sym typeface="Arial"/>
            </a:endParaRPr>
          </a:p>
          <a:p>
            <a:pPr marL="286385" marR="164465" lvl="0" indent="-228600" algn="l" rtl="0">
              <a:lnSpc>
                <a:spcPct val="90000"/>
              </a:lnSpc>
              <a:spcBef>
                <a:spcPts val="1195"/>
              </a:spcBef>
              <a:spcAft>
                <a:spcPts val="0"/>
              </a:spcAft>
              <a:buClr>
                <a:schemeClr val="dk1"/>
              </a:buClr>
              <a:buSzPts val="1700"/>
              <a:buFont typeface="Arial"/>
              <a:buChar char="•"/>
            </a:pPr>
            <a:r>
              <a:rPr lang="en-US" sz="1700">
                <a:solidFill>
                  <a:schemeClr val="dk1"/>
                </a:solidFill>
                <a:latin typeface="Arial"/>
                <a:ea typeface="Arial"/>
                <a:cs typeface="Arial"/>
                <a:sym typeface="Arial"/>
              </a:rPr>
              <a:t>∗	Mappers load the data and parse the records into one cohesive format</a:t>
            </a:r>
            <a:endParaRPr sz="1700">
              <a:solidFill>
                <a:schemeClr val="dk1"/>
              </a:solidFill>
              <a:latin typeface="Arial"/>
              <a:ea typeface="Arial"/>
              <a:cs typeface="Arial"/>
              <a:sym typeface="Arial"/>
            </a:endParaRPr>
          </a:p>
          <a:p>
            <a:pPr marL="286385" marR="26034" lvl="0" indent="-228600" algn="l" rtl="0">
              <a:lnSpc>
                <a:spcPct val="90000"/>
              </a:lnSpc>
              <a:spcBef>
                <a:spcPts val="1190"/>
              </a:spcBef>
              <a:spcAft>
                <a:spcPts val="0"/>
              </a:spcAft>
              <a:buClr>
                <a:schemeClr val="dk1"/>
              </a:buClr>
              <a:buSzPts val="1700"/>
              <a:buFont typeface="Arial"/>
              <a:buChar char="•"/>
            </a:pPr>
            <a:r>
              <a:rPr lang="en-US" sz="1700">
                <a:solidFill>
                  <a:schemeClr val="dk1"/>
                </a:solidFill>
                <a:latin typeface="Arial"/>
                <a:ea typeface="Arial"/>
                <a:cs typeface="Arial"/>
                <a:sym typeface="Arial"/>
              </a:rPr>
              <a:t>∗	In general, a combiner isn’t going to help too much here</a:t>
            </a:r>
            <a:endParaRPr sz="1700">
              <a:solidFill>
                <a:schemeClr val="dk1"/>
              </a:solidFill>
              <a:latin typeface="Arial"/>
              <a:ea typeface="Arial"/>
              <a:cs typeface="Arial"/>
              <a:sym typeface="Arial"/>
            </a:endParaRPr>
          </a:p>
          <a:p>
            <a:pPr marL="286385" marR="19685" lvl="0" indent="-228600" algn="l" rtl="0">
              <a:lnSpc>
                <a:spcPct val="90000"/>
              </a:lnSpc>
              <a:spcBef>
                <a:spcPts val="1170"/>
              </a:spcBef>
              <a:spcAft>
                <a:spcPts val="0"/>
              </a:spcAft>
              <a:buClr>
                <a:schemeClr val="dk1"/>
              </a:buClr>
              <a:buSzPts val="1700"/>
              <a:buFont typeface="Arial"/>
              <a:buChar char="•"/>
            </a:pPr>
            <a:r>
              <a:rPr lang="en-US" sz="1700">
                <a:solidFill>
                  <a:schemeClr val="dk1"/>
                </a:solidFill>
                <a:latin typeface="Arial"/>
                <a:ea typeface="Arial"/>
                <a:cs typeface="Arial"/>
                <a:sym typeface="Arial"/>
              </a:rPr>
              <a:t>∗	The reducer receives the data from all the different sources key by key. All of the data for a particular grouping is going to be provided for you in one iterator, so all that is left for you to do is build the hierarchical data structure from the list of data Items</a:t>
            </a:r>
            <a:endParaRPr sz="1700">
              <a:solidFill>
                <a:schemeClr val="dk1"/>
              </a:solidFill>
              <a:latin typeface="Arial"/>
              <a:ea typeface="Arial"/>
              <a:cs typeface="Arial"/>
              <a:sym typeface="Arial"/>
            </a:endParaRPr>
          </a:p>
        </p:txBody>
      </p:sp>
      <p:pic>
        <p:nvPicPr>
          <p:cNvPr id="595" name="Google Shape;595;p33"/>
          <p:cNvPicPr preferRelativeResize="0"/>
          <p:nvPr/>
        </p:nvPicPr>
        <p:blipFill rotWithShape="1">
          <a:blip r:embed="rId3">
            <a:alphaModFix/>
          </a:blip>
          <a:srcRect/>
          <a:stretch/>
        </p:blipFill>
        <p:spPr>
          <a:xfrm>
            <a:off x="6035024" y="2484255"/>
            <a:ext cx="4903293" cy="3714244"/>
          </a:xfrm>
          <a:prstGeom prst="rect">
            <a:avLst/>
          </a:prstGeom>
          <a:noFill/>
          <a:ln>
            <a:noFill/>
          </a:ln>
        </p:spPr>
      </p:pic>
      <p:sp>
        <p:nvSpPr>
          <p:cNvPr id="596" name="Google Shape;596;p33"/>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0"/>
        <p:cNvGrpSpPr/>
        <p:nvPr/>
      </p:nvGrpSpPr>
      <p:grpSpPr>
        <a:xfrm>
          <a:off x="0" y="0"/>
          <a:ext cx="0" cy="0"/>
          <a:chOff x="0" y="0"/>
          <a:chExt cx="0" cy="0"/>
        </a:xfrm>
      </p:grpSpPr>
      <p:pic>
        <p:nvPicPr>
          <p:cNvPr id="601" name="Google Shape;601;p34"/>
          <p:cNvPicPr preferRelativeResize="0"/>
          <p:nvPr/>
        </p:nvPicPr>
        <p:blipFill rotWithShape="1">
          <a:blip r:embed="rId3">
            <a:alphaModFix/>
          </a:blip>
          <a:srcRect b="15730"/>
          <a:stretch/>
        </p:blipFill>
        <p:spPr>
          <a:xfrm>
            <a:off x="20" y="10"/>
            <a:ext cx="12191980" cy="6857990"/>
          </a:xfrm>
          <a:prstGeom prst="rect">
            <a:avLst/>
          </a:prstGeom>
          <a:noFill/>
          <a:ln>
            <a:noFill/>
          </a:ln>
        </p:spPr>
      </p:pic>
      <p:sp>
        <p:nvSpPr>
          <p:cNvPr id="602" name="Google Shape;602;p34"/>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3" name="Google Shape;603;p34" descr="$PPTXTitle"/>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440690" lvl="0" indent="0" algn="l" rtl="0">
              <a:lnSpc>
                <a:spcPct val="90000"/>
              </a:lnSpc>
              <a:spcBef>
                <a:spcPts val="0"/>
              </a:spcBef>
              <a:spcAft>
                <a:spcPts val="0"/>
              </a:spcAft>
              <a:buClr>
                <a:schemeClr val="dk1"/>
              </a:buClr>
              <a:buSzPts val="4400"/>
              <a:buFont typeface="Play"/>
              <a:buNone/>
            </a:pPr>
            <a:r>
              <a:rPr lang="en-US"/>
              <a:t>Structured to Hierarchical</a:t>
            </a:r>
            <a:endParaRPr/>
          </a:p>
        </p:txBody>
      </p:sp>
      <p:grpSp>
        <p:nvGrpSpPr>
          <p:cNvPr id="604" name="Google Shape;604;p34"/>
          <p:cNvGrpSpPr/>
          <p:nvPr/>
        </p:nvGrpSpPr>
        <p:grpSpPr>
          <a:xfrm>
            <a:off x="839483" y="2499432"/>
            <a:ext cx="10513033" cy="3003723"/>
            <a:chOff x="1283" y="673807"/>
            <a:chExt cx="10513033" cy="3003723"/>
          </a:xfrm>
        </p:grpSpPr>
        <p:sp>
          <p:nvSpPr>
            <p:cNvPr id="605" name="Google Shape;605;p34"/>
            <p:cNvSpPr/>
            <p:nvPr/>
          </p:nvSpPr>
          <p:spPr>
            <a:xfrm>
              <a:off x="1283" y="673807"/>
              <a:ext cx="5006206" cy="3003723"/>
            </a:xfrm>
            <a:prstGeom prst="rect">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4"/>
            <p:cNvSpPr txBox="1"/>
            <p:nvPr/>
          </p:nvSpPr>
          <p:spPr>
            <a:xfrm>
              <a:off x="1283" y="673807"/>
              <a:ext cx="5006206" cy="3003723"/>
            </a:xfrm>
            <a:prstGeom prst="rect">
              <a:avLst/>
            </a:prstGeom>
            <a:noFill/>
            <a:ln>
              <a:noFill/>
            </a:ln>
          </p:spPr>
          <p:txBody>
            <a:bodyPr spcFirstLastPara="1" wrap="square" lIns="110475" tIns="110475" rIns="110475" bIns="110475" anchor="t" anchorCtr="0">
              <a:noAutofit/>
            </a:bodyPr>
            <a:lstStyle/>
            <a:p>
              <a:pPr marL="0" marR="0" lvl="0" indent="0" algn="l" rtl="0">
                <a:lnSpc>
                  <a:spcPct val="90000"/>
                </a:lnSpc>
                <a:spcBef>
                  <a:spcPts val="0"/>
                </a:spcBef>
                <a:spcAft>
                  <a:spcPts val="0"/>
                </a:spcAft>
                <a:buClr>
                  <a:schemeClr val="lt1"/>
                </a:buClr>
                <a:buSzPts val="2900"/>
                <a:buFont typeface="Arial"/>
                <a:buNone/>
              </a:pPr>
              <a:r>
                <a:rPr lang="en-US" sz="2900">
                  <a:solidFill>
                    <a:schemeClr val="lt1"/>
                  </a:solidFill>
                  <a:latin typeface="Arial"/>
                  <a:ea typeface="Arial"/>
                  <a:cs typeface="Arial"/>
                  <a:sym typeface="Arial"/>
                </a:rPr>
                <a:t>∗	Known Usage</a:t>
              </a:r>
              <a:endParaRPr/>
            </a:p>
            <a:p>
              <a:pPr marL="228600" marR="0" lvl="1" indent="-228600" algn="l" rtl="0">
                <a:lnSpc>
                  <a:spcPct val="90000"/>
                </a:lnSpc>
                <a:spcBef>
                  <a:spcPts val="101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Pre-joining data</a:t>
              </a:r>
              <a:endParaRPr/>
            </a:p>
            <a:p>
              <a:pPr marL="228600" marR="0" lvl="1" indent="-228600" algn="l" rtl="0">
                <a:lnSpc>
                  <a:spcPct val="90000"/>
                </a:lnSpc>
                <a:spcBef>
                  <a:spcPts val="34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Preparing data for HBase or MongoDB</a:t>
              </a:r>
              <a:endParaRPr/>
            </a:p>
          </p:txBody>
        </p:sp>
        <p:sp>
          <p:nvSpPr>
            <p:cNvPr id="607" name="Google Shape;607;p34"/>
            <p:cNvSpPr/>
            <p:nvPr/>
          </p:nvSpPr>
          <p:spPr>
            <a:xfrm>
              <a:off x="5508110" y="673807"/>
              <a:ext cx="5006206" cy="3003723"/>
            </a:xfrm>
            <a:prstGeom prst="rect">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txBox="1"/>
            <p:nvPr/>
          </p:nvSpPr>
          <p:spPr>
            <a:xfrm>
              <a:off x="5508110" y="673807"/>
              <a:ext cx="5006206" cy="3003723"/>
            </a:xfrm>
            <a:prstGeom prst="rect">
              <a:avLst/>
            </a:prstGeom>
            <a:noFill/>
            <a:ln>
              <a:noFill/>
            </a:ln>
          </p:spPr>
          <p:txBody>
            <a:bodyPr spcFirstLastPara="1" wrap="square" lIns="110475" tIns="110475" rIns="110475" bIns="110475" anchor="t" anchorCtr="0">
              <a:noAutofit/>
            </a:bodyPr>
            <a:lstStyle/>
            <a:p>
              <a:pPr marL="0" marR="0" lvl="0" indent="0" algn="l" rtl="0">
                <a:lnSpc>
                  <a:spcPct val="90000"/>
                </a:lnSpc>
                <a:spcBef>
                  <a:spcPts val="0"/>
                </a:spcBef>
                <a:spcAft>
                  <a:spcPts val="0"/>
                </a:spcAft>
                <a:buClr>
                  <a:schemeClr val="lt1"/>
                </a:buClr>
                <a:buSzPts val="2900"/>
                <a:buFont typeface="Arial"/>
                <a:buNone/>
              </a:pPr>
              <a:r>
                <a:rPr lang="en-US" sz="2900">
                  <a:solidFill>
                    <a:schemeClr val="lt1"/>
                  </a:solidFill>
                  <a:latin typeface="Arial"/>
                  <a:ea typeface="Arial"/>
                  <a:cs typeface="Arial"/>
                  <a:sym typeface="Arial"/>
                </a:rPr>
                <a:t>∗	Performance Analysis</a:t>
              </a:r>
              <a:endParaRPr/>
            </a:p>
            <a:p>
              <a:pPr marL="228600" marR="0" lvl="1" indent="-228600" algn="l" rtl="0">
                <a:lnSpc>
                  <a:spcPct val="90000"/>
                </a:lnSpc>
                <a:spcBef>
                  <a:spcPts val="101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Be aware of how much data is being sent to the reducers from the mappers</a:t>
              </a:r>
              <a:endParaRPr/>
            </a:p>
            <a:p>
              <a:pPr marL="228600" marR="0" lvl="1" indent="-228600" algn="l" rtl="0">
                <a:lnSpc>
                  <a:spcPct val="90000"/>
                </a:lnSpc>
                <a:spcBef>
                  <a:spcPts val="34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Be aware of the memory footprint of the object that the reducer builds</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2"/>
        <p:cNvGrpSpPr/>
        <p:nvPr/>
      </p:nvGrpSpPr>
      <p:grpSpPr>
        <a:xfrm>
          <a:off x="0" y="0"/>
          <a:ext cx="0" cy="0"/>
          <a:chOff x="0" y="0"/>
          <a:chExt cx="0" cy="0"/>
        </a:xfrm>
      </p:grpSpPr>
      <p:sp>
        <p:nvSpPr>
          <p:cNvPr id="613" name="Google Shape;613;p35"/>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4" name="Google Shape;614;p35"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44069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Structured to Hierarchical</a:t>
            </a:r>
            <a:endParaRPr/>
          </a:p>
        </p:txBody>
      </p:sp>
      <p:sp>
        <p:nvSpPr>
          <p:cNvPr id="615" name="Google Shape;615;p35"/>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6" name="Google Shape;616;p35"/>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7" name="Google Shape;617;p35"/>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618" name="Google Shape;618;p35"/>
          <p:cNvGrpSpPr/>
          <p:nvPr/>
        </p:nvGrpSpPr>
        <p:grpSpPr>
          <a:xfrm>
            <a:off x="5917911" y="3727732"/>
            <a:ext cx="5143631" cy="1233409"/>
            <a:chOff x="4857750" y="3252724"/>
            <a:chExt cx="2457450" cy="589280"/>
          </a:xfrm>
        </p:grpSpPr>
        <p:pic>
          <p:nvPicPr>
            <p:cNvPr id="619" name="Google Shape;619;p35"/>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620" name="Google Shape;620;p35"/>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1" name="Google Shape;621;p35"/>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5"/>
        <p:cNvGrpSpPr/>
        <p:nvPr/>
      </p:nvGrpSpPr>
      <p:grpSpPr>
        <a:xfrm>
          <a:off x="0" y="0"/>
          <a:ext cx="0" cy="0"/>
          <a:chOff x="0" y="0"/>
          <a:chExt cx="0" cy="0"/>
        </a:xfrm>
      </p:grpSpPr>
      <p:sp>
        <p:nvSpPr>
          <p:cNvPr id="626" name="Google Shape;626;p3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7" name="Google Shape;627;p36"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2085339"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Partitioning</a:t>
            </a:r>
            <a:endParaRPr/>
          </a:p>
        </p:txBody>
      </p:sp>
      <p:grpSp>
        <p:nvGrpSpPr>
          <p:cNvPr id="628" name="Google Shape;628;p36"/>
          <p:cNvGrpSpPr/>
          <p:nvPr/>
        </p:nvGrpSpPr>
        <p:grpSpPr>
          <a:xfrm>
            <a:off x="-2" y="1998368"/>
            <a:ext cx="11695083" cy="782176"/>
            <a:chOff x="-2" y="1998368"/>
            <a:chExt cx="11695083" cy="782176"/>
          </a:xfrm>
        </p:grpSpPr>
        <p:sp>
          <p:nvSpPr>
            <p:cNvPr id="629" name="Google Shape;629;p36"/>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0" name="Google Shape;630;p36"/>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631" name="Google Shape;631;p36"/>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2" name="Google Shape;632;p36"/>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Intent	</a:t>
            </a:r>
            <a:endParaRPr/>
          </a:p>
          <a:p>
            <a:pPr marL="12700" marR="0" lvl="0" indent="-12700" algn="l" rtl="0">
              <a:lnSpc>
                <a:spcPct val="90000"/>
              </a:lnSpc>
              <a:spcBef>
                <a:spcPts val="965"/>
              </a:spcBef>
              <a:spcAft>
                <a:spcPts val="0"/>
              </a:spcAft>
              <a:buClr>
                <a:schemeClr val="dk1"/>
              </a:buClr>
              <a:buSzPts val="1700"/>
              <a:buFont typeface="Arial"/>
              <a:buChar char="•"/>
            </a:pPr>
            <a:r>
              <a:rPr lang="en-US" sz="1700">
                <a:solidFill>
                  <a:schemeClr val="dk1"/>
                </a:solidFill>
                <a:latin typeface="Arial"/>
                <a:ea typeface="Arial"/>
                <a:cs typeface="Arial"/>
                <a:sym typeface="Arial"/>
              </a:rPr>
              <a:t>Moves the records into categories (i.e., shards, partitions, or bins), but it doesn’t really care about the order of records.</a:t>
            </a:r>
            <a:endParaRPr sz="1700">
              <a:solidFill>
                <a:schemeClr val="dk1"/>
              </a:solidFill>
              <a:latin typeface="Arial"/>
              <a:ea typeface="Arial"/>
              <a:cs typeface="Arial"/>
              <a:sym typeface="Arial"/>
            </a:endParaRPr>
          </a:p>
          <a:p>
            <a:pPr marL="12700" marR="0" lvl="0" indent="-12700" algn="l" rtl="0">
              <a:lnSpc>
                <a:spcPct val="90000"/>
              </a:lnSpc>
              <a:spcBef>
                <a:spcPts val="865"/>
              </a:spcBef>
              <a:spcAft>
                <a:spcPts val="0"/>
              </a:spcAft>
              <a:buClr>
                <a:schemeClr val="dk1"/>
              </a:buClr>
              <a:buSzPts val="1700"/>
              <a:buFont typeface="Arial"/>
              <a:buChar char="•"/>
            </a:pPr>
            <a:r>
              <a:rPr lang="en-US" sz="1700">
                <a:solidFill>
                  <a:schemeClr val="dk1"/>
                </a:solidFill>
                <a:latin typeface="Arial"/>
                <a:ea typeface="Arial"/>
                <a:cs typeface="Arial"/>
                <a:sym typeface="Arial"/>
              </a:rPr>
              <a:t>∗	Take similar records in a data set and partition them into distinct, smaller data sets.</a:t>
            </a:r>
            <a:endParaRPr/>
          </a:p>
          <a:p>
            <a:pPr marL="12700" marR="0" lvl="0" indent="-12700" algn="l" rtl="0">
              <a:lnSpc>
                <a:spcPct val="90000"/>
              </a:lnSpc>
              <a:spcBef>
                <a:spcPts val="1435"/>
              </a:spcBef>
              <a:spcAft>
                <a:spcPts val="0"/>
              </a:spcAft>
              <a:buClr>
                <a:schemeClr val="dk1"/>
              </a:buClr>
              <a:buSzPts val="1700"/>
              <a:buFont typeface="Arial"/>
              <a:buChar char="•"/>
            </a:pPr>
            <a:r>
              <a:rPr lang="en-US" sz="1700">
                <a:solidFill>
                  <a:schemeClr val="dk1"/>
                </a:solidFill>
                <a:latin typeface="Arial"/>
                <a:ea typeface="Arial"/>
                <a:cs typeface="Arial"/>
                <a:sym typeface="Arial"/>
              </a:rPr>
              <a:t>∗ Motivation</a:t>
            </a:r>
            <a:endParaRPr sz="1700">
              <a:solidFill>
                <a:schemeClr val="dk1"/>
              </a:solidFill>
              <a:latin typeface="Arial"/>
              <a:ea typeface="Arial"/>
              <a:cs typeface="Arial"/>
              <a:sym typeface="Arial"/>
            </a:endParaRPr>
          </a:p>
          <a:p>
            <a:pPr marL="588645" marR="5080" lvl="0" indent="-228600" algn="l" rtl="0">
              <a:lnSpc>
                <a:spcPct val="90000"/>
              </a:lnSpc>
              <a:spcBef>
                <a:spcPts val="1265"/>
              </a:spcBef>
              <a:spcAft>
                <a:spcPts val="0"/>
              </a:spcAft>
              <a:buClr>
                <a:schemeClr val="dk1"/>
              </a:buClr>
              <a:buSzPts val="1700"/>
              <a:buFont typeface="Arial"/>
              <a:buChar char="•"/>
            </a:pPr>
            <a:r>
              <a:rPr lang="en-US" sz="1700">
                <a:solidFill>
                  <a:schemeClr val="dk1"/>
                </a:solidFill>
                <a:latin typeface="Arial"/>
                <a:ea typeface="Arial"/>
                <a:cs typeface="Arial"/>
                <a:sym typeface="Arial"/>
              </a:rPr>
              <a:t>∗	Want to look at a particular set of data—such as postings made on a particular date—the data items are normally spread out across the entire data set.</a:t>
            </a:r>
            <a:endParaRPr sz="1700">
              <a:solidFill>
                <a:schemeClr val="dk1"/>
              </a:solidFill>
              <a:latin typeface="Arial"/>
              <a:ea typeface="Arial"/>
              <a:cs typeface="Arial"/>
              <a:sym typeface="Arial"/>
            </a:endParaRPr>
          </a:p>
          <a:p>
            <a:pPr marL="314325" marR="0" lvl="0" indent="-228600" algn="l" rtl="0">
              <a:lnSpc>
                <a:spcPct val="90000"/>
              </a:lnSpc>
              <a:spcBef>
                <a:spcPts val="855"/>
              </a:spcBef>
              <a:spcAft>
                <a:spcPts val="0"/>
              </a:spcAft>
              <a:buClr>
                <a:schemeClr val="dk1"/>
              </a:buClr>
              <a:buSzPts val="1700"/>
              <a:buFont typeface="Arial"/>
              <a:buChar char="•"/>
            </a:pPr>
            <a:r>
              <a:rPr lang="en-US" sz="1700">
                <a:solidFill>
                  <a:schemeClr val="dk1"/>
                </a:solidFill>
                <a:latin typeface="Arial"/>
                <a:ea typeface="Arial"/>
                <a:cs typeface="Arial"/>
                <a:sym typeface="Arial"/>
              </a:rPr>
              <a:t>∗	Partitioning by date is one of the most common schemes</a:t>
            </a:r>
            <a:endParaRPr sz="1700">
              <a:solidFill>
                <a:schemeClr val="dk1"/>
              </a:solidFill>
              <a:latin typeface="Arial"/>
              <a:ea typeface="Arial"/>
              <a:cs typeface="Arial"/>
              <a:sym typeface="Arial"/>
            </a:endParaRPr>
          </a:p>
          <a:p>
            <a:pPr marL="12700" marR="0" lvl="0" indent="-12700" algn="l" rtl="0">
              <a:lnSpc>
                <a:spcPct val="90000"/>
              </a:lnSpc>
              <a:spcBef>
                <a:spcPts val="1125"/>
              </a:spcBef>
              <a:spcAft>
                <a:spcPts val="0"/>
              </a:spcAft>
              <a:buClr>
                <a:schemeClr val="dk1"/>
              </a:buClr>
              <a:buSzPts val="1700"/>
              <a:buFont typeface="Arial"/>
              <a:buChar char="•"/>
            </a:pPr>
            <a:r>
              <a:rPr lang="en-US" sz="1700">
                <a:solidFill>
                  <a:schemeClr val="dk1"/>
                </a:solidFill>
                <a:latin typeface="Arial"/>
                <a:ea typeface="Arial"/>
                <a:cs typeface="Arial"/>
                <a:sym typeface="Arial"/>
              </a:rPr>
              <a:t>∗ Applicability</a:t>
            </a:r>
            <a:endParaRPr sz="1700">
              <a:solidFill>
                <a:schemeClr val="dk1"/>
              </a:solidFill>
              <a:latin typeface="Arial"/>
              <a:ea typeface="Arial"/>
              <a:cs typeface="Arial"/>
              <a:sym typeface="Arial"/>
            </a:endParaRPr>
          </a:p>
          <a:p>
            <a:pPr marL="314325" marR="0" lvl="0" indent="-228600" algn="l" rtl="0">
              <a:lnSpc>
                <a:spcPct val="90000"/>
              </a:lnSpc>
              <a:spcBef>
                <a:spcPts val="915"/>
              </a:spcBef>
              <a:spcAft>
                <a:spcPts val="0"/>
              </a:spcAft>
              <a:buClr>
                <a:schemeClr val="dk1"/>
              </a:buClr>
              <a:buSzPts val="1700"/>
              <a:buFont typeface="Arial"/>
              <a:buChar char="•"/>
            </a:pPr>
            <a:r>
              <a:rPr lang="en-US" sz="1700">
                <a:solidFill>
                  <a:schemeClr val="dk1"/>
                </a:solidFill>
                <a:latin typeface="Arial"/>
                <a:ea typeface="Arial"/>
                <a:cs typeface="Arial"/>
                <a:sym typeface="Arial"/>
              </a:rPr>
              <a:t>∗	knowing how many partitions you are going to have ahead of time</a:t>
            </a:r>
            <a:endParaRPr sz="1700">
              <a:solidFill>
                <a:schemeClr val="dk1"/>
              </a:solidFill>
              <a:latin typeface="Arial"/>
              <a:ea typeface="Arial"/>
              <a:cs typeface="Arial"/>
              <a:sym typeface="Arial"/>
            </a:endParaRPr>
          </a:p>
          <a:p>
            <a:pPr marL="12700" marR="0" lvl="0" indent="95250" algn="l" rtl="0">
              <a:lnSpc>
                <a:spcPct val="90000"/>
              </a:lnSpc>
              <a:spcBef>
                <a:spcPts val="865"/>
              </a:spcBef>
              <a:spcAft>
                <a:spcPts val="0"/>
              </a:spcAft>
              <a:buClr>
                <a:schemeClr val="dk1"/>
              </a:buClr>
              <a:buSzPts val="1700"/>
              <a:buFont typeface="Arial"/>
              <a:buNone/>
            </a:pPr>
            <a:endParaRPr sz="17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6"/>
        <p:cNvGrpSpPr/>
        <p:nvPr/>
      </p:nvGrpSpPr>
      <p:grpSpPr>
        <a:xfrm>
          <a:off x="0" y="0"/>
          <a:ext cx="0" cy="0"/>
          <a:chOff x="0" y="0"/>
          <a:chExt cx="0" cy="0"/>
        </a:xfrm>
      </p:grpSpPr>
      <p:sp>
        <p:nvSpPr>
          <p:cNvPr id="637" name="Google Shape;637;p37"/>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638" name="Google Shape;638;p37"/>
          <p:cNvGrpSpPr/>
          <p:nvPr/>
        </p:nvGrpSpPr>
        <p:grpSpPr>
          <a:xfrm>
            <a:off x="4" y="1062849"/>
            <a:ext cx="731521" cy="673460"/>
            <a:chOff x="3940602" y="308034"/>
            <a:chExt cx="2116791" cy="3428999"/>
          </a:xfrm>
        </p:grpSpPr>
        <p:sp>
          <p:nvSpPr>
            <p:cNvPr id="639" name="Google Shape;639;p37"/>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0" name="Google Shape;640;p37"/>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1" name="Google Shape;641;p37"/>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642" name="Google Shape;642;p37"/>
          <p:cNvSpPr/>
          <p:nvPr/>
        </p:nvSpPr>
        <p:spPr>
          <a:xfrm>
            <a:off x="640080" y="656150"/>
            <a:ext cx="5590787" cy="14315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3" name="Google Shape;643;p37" descr="$PPTXTitle"/>
          <p:cNvSpPr txBox="1">
            <a:spLocks noGrp="1"/>
          </p:cNvSpPr>
          <p:nvPr>
            <p:ph type="title"/>
          </p:nvPr>
        </p:nvSpPr>
        <p:spPr>
          <a:xfrm>
            <a:off x="1043631" y="873940"/>
            <a:ext cx="4928291" cy="1035781"/>
          </a:xfrm>
          <a:prstGeom prst="rect">
            <a:avLst/>
          </a:prstGeom>
          <a:noFill/>
          <a:ln>
            <a:noFill/>
          </a:ln>
        </p:spPr>
        <p:txBody>
          <a:bodyPr spcFirstLastPara="1" wrap="square" lIns="91425" tIns="45700" rIns="91425" bIns="45700" anchor="ctr" anchorCtr="0">
            <a:normAutofit/>
          </a:bodyPr>
          <a:lstStyle/>
          <a:p>
            <a:pPr marL="2085339" lvl="0" indent="0" algn="l" rtl="0">
              <a:lnSpc>
                <a:spcPct val="90000"/>
              </a:lnSpc>
              <a:spcBef>
                <a:spcPts val="0"/>
              </a:spcBef>
              <a:spcAft>
                <a:spcPts val="0"/>
              </a:spcAft>
              <a:buClr>
                <a:schemeClr val="dk1"/>
              </a:buClr>
              <a:buSzPts val="3600"/>
              <a:buFont typeface="Play"/>
              <a:buNone/>
            </a:pPr>
            <a:r>
              <a:rPr lang="en-US" sz="3600"/>
              <a:t>Partitioning</a:t>
            </a:r>
            <a:endParaRPr/>
          </a:p>
        </p:txBody>
      </p:sp>
      <p:sp>
        <p:nvSpPr>
          <p:cNvPr id="644" name="Google Shape;644;p37"/>
          <p:cNvSpPr txBox="1"/>
          <p:nvPr/>
        </p:nvSpPr>
        <p:spPr>
          <a:xfrm>
            <a:off x="1045029" y="2524721"/>
            <a:ext cx="4991629" cy="3677123"/>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In most cases, the identity mapper can be used</a:t>
            </a:r>
            <a:endParaRPr sz="1800">
              <a:solidFill>
                <a:schemeClr val="dk1"/>
              </a:solidFill>
              <a:latin typeface="Arial"/>
              <a:ea typeface="Arial"/>
              <a:cs typeface="Arial"/>
              <a:sym typeface="Arial"/>
            </a:endParaRPr>
          </a:p>
          <a:p>
            <a:pPr marL="286385" marR="5080" lvl="0" indent="-228600" algn="l" rtl="0">
              <a:lnSpc>
                <a:spcPct val="90000"/>
              </a:lnSpc>
              <a:spcBef>
                <a:spcPts val="475"/>
              </a:spcBef>
              <a:spcAft>
                <a:spcPts val="0"/>
              </a:spcAft>
              <a:buClr>
                <a:schemeClr val="dk1"/>
              </a:buClr>
              <a:buSzPts val="1800"/>
              <a:buFont typeface="Arial"/>
              <a:buChar char="•"/>
            </a:pPr>
            <a:r>
              <a:rPr lang="en-US" sz="1800">
                <a:solidFill>
                  <a:schemeClr val="dk1"/>
                </a:solidFill>
                <a:latin typeface="Arial"/>
                <a:ea typeface="Arial"/>
                <a:cs typeface="Arial"/>
                <a:sym typeface="Arial"/>
              </a:rPr>
              <a:t>∗	The custom partitioner will determine which reducer to send each record to; each reducer corresponds to particular partitions</a:t>
            </a:r>
            <a:endParaRPr sz="1800">
              <a:solidFill>
                <a:schemeClr val="dk1"/>
              </a:solidFill>
              <a:latin typeface="Arial"/>
              <a:ea typeface="Arial"/>
              <a:cs typeface="Arial"/>
              <a:sym typeface="Arial"/>
            </a:endParaRPr>
          </a:p>
          <a:p>
            <a:pPr marL="12700" marR="0" lvl="0" indent="-12700" algn="l" rtl="0">
              <a:lnSpc>
                <a:spcPct val="90000"/>
              </a:lnSpc>
              <a:spcBef>
                <a:spcPts val="480"/>
              </a:spcBef>
              <a:spcAft>
                <a:spcPts val="0"/>
              </a:spcAft>
              <a:buClr>
                <a:schemeClr val="dk1"/>
              </a:buClr>
              <a:buSzPts val="1800"/>
              <a:buFont typeface="Arial"/>
              <a:buChar char="•"/>
            </a:pPr>
            <a:r>
              <a:rPr lang="en-US" sz="1800">
                <a:solidFill>
                  <a:schemeClr val="dk1"/>
                </a:solidFill>
                <a:latin typeface="Arial"/>
                <a:ea typeface="Arial"/>
                <a:cs typeface="Arial"/>
                <a:sym typeface="Arial"/>
              </a:rPr>
              <a:t>∗	In most cases, the identity reducer can be</a:t>
            </a:r>
            <a:endParaRPr sz="1800">
              <a:solidFill>
                <a:schemeClr val="dk1"/>
              </a:solidFill>
              <a:latin typeface="Arial"/>
              <a:ea typeface="Arial"/>
              <a:cs typeface="Arial"/>
              <a:sym typeface="Arial"/>
            </a:endParaRPr>
          </a:p>
          <a:p>
            <a:pPr marL="286385" marR="0" lvl="0" indent="-228600" algn="l" rtl="0">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used</a:t>
            </a:r>
            <a:endParaRPr sz="1800">
              <a:solidFill>
                <a:schemeClr val="dk1"/>
              </a:solidFill>
              <a:latin typeface="Arial"/>
              <a:ea typeface="Arial"/>
              <a:cs typeface="Arial"/>
              <a:sym typeface="Arial"/>
            </a:endParaRPr>
          </a:p>
          <a:p>
            <a:pPr marL="286385" marR="305435" lvl="0" indent="-228600" algn="l" rtl="0">
              <a:lnSpc>
                <a:spcPct val="90000"/>
              </a:lnSpc>
              <a:spcBef>
                <a:spcPts val="484"/>
              </a:spcBef>
              <a:spcAft>
                <a:spcPts val="0"/>
              </a:spcAft>
              <a:buClr>
                <a:schemeClr val="dk1"/>
              </a:buClr>
              <a:buSzPts val="1800"/>
              <a:buFont typeface="Arial"/>
              <a:buChar char="•"/>
            </a:pPr>
            <a:r>
              <a:rPr lang="en-US" sz="1800">
                <a:solidFill>
                  <a:schemeClr val="dk1"/>
                </a:solidFill>
                <a:latin typeface="Arial"/>
                <a:ea typeface="Arial"/>
                <a:cs typeface="Arial"/>
                <a:sym typeface="Arial"/>
              </a:rPr>
              <a:t>∗	The output folder of the job will have one part file for each partition</a:t>
            </a:r>
            <a:endParaRPr sz="1800">
              <a:solidFill>
                <a:schemeClr val="dk1"/>
              </a:solidFill>
              <a:latin typeface="Arial"/>
              <a:ea typeface="Arial"/>
              <a:cs typeface="Arial"/>
              <a:sym typeface="Arial"/>
            </a:endParaRPr>
          </a:p>
        </p:txBody>
      </p:sp>
      <p:pic>
        <p:nvPicPr>
          <p:cNvPr id="645" name="Google Shape;645;p37"/>
          <p:cNvPicPr preferRelativeResize="0"/>
          <p:nvPr/>
        </p:nvPicPr>
        <p:blipFill rotWithShape="1">
          <a:blip r:embed="rId3">
            <a:alphaModFix/>
          </a:blip>
          <a:srcRect l="3610" r="32319" b="3"/>
          <a:stretch/>
        </p:blipFill>
        <p:spPr>
          <a:xfrm>
            <a:off x="6788383" y="613147"/>
            <a:ext cx="4565417" cy="5593443"/>
          </a:xfrm>
          <a:prstGeom prst="rect">
            <a:avLst/>
          </a:prstGeom>
          <a:noFill/>
          <a:ln>
            <a:noFill/>
          </a:ln>
        </p:spPr>
      </p:pic>
      <p:cxnSp>
        <p:nvCxnSpPr>
          <p:cNvPr id="646" name="Google Shape;646;p37"/>
          <p:cNvCxnSpPr/>
          <p:nvPr/>
        </p:nvCxnSpPr>
        <p:spPr>
          <a:xfrm rot="10800000">
            <a:off x="838200" y="6492240"/>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0"/>
        <p:cNvGrpSpPr/>
        <p:nvPr/>
      </p:nvGrpSpPr>
      <p:grpSpPr>
        <a:xfrm>
          <a:off x="0" y="0"/>
          <a:ext cx="0" cy="0"/>
          <a:chOff x="0" y="0"/>
          <a:chExt cx="0" cy="0"/>
        </a:xfrm>
      </p:grpSpPr>
      <p:pic>
        <p:nvPicPr>
          <p:cNvPr id="651" name="Google Shape;651;p38"/>
          <p:cNvPicPr preferRelativeResize="0"/>
          <p:nvPr/>
        </p:nvPicPr>
        <p:blipFill rotWithShape="1">
          <a:blip r:embed="rId3">
            <a:alphaModFix/>
          </a:blip>
          <a:srcRect t="11931" b="3800"/>
          <a:stretch/>
        </p:blipFill>
        <p:spPr>
          <a:xfrm>
            <a:off x="20" y="10"/>
            <a:ext cx="12191980" cy="6857990"/>
          </a:xfrm>
          <a:prstGeom prst="rect">
            <a:avLst/>
          </a:prstGeom>
          <a:noFill/>
          <a:ln>
            <a:noFill/>
          </a:ln>
        </p:spPr>
      </p:pic>
      <p:sp>
        <p:nvSpPr>
          <p:cNvPr id="652" name="Google Shape;652;p38"/>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3" name="Google Shape;653;p38" descr="$PPTXTitle"/>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2085339" lvl="0" indent="0" algn="l" rtl="0">
              <a:lnSpc>
                <a:spcPct val="90000"/>
              </a:lnSpc>
              <a:spcBef>
                <a:spcPts val="0"/>
              </a:spcBef>
              <a:spcAft>
                <a:spcPts val="0"/>
              </a:spcAft>
              <a:buClr>
                <a:schemeClr val="dk1"/>
              </a:buClr>
              <a:buSzPts val="4400"/>
              <a:buFont typeface="Play"/>
              <a:buNone/>
            </a:pPr>
            <a:r>
              <a:rPr lang="en-US"/>
              <a:t>Partitioning</a:t>
            </a:r>
            <a:endParaRPr/>
          </a:p>
        </p:txBody>
      </p:sp>
      <p:grpSp>
        <p:nvGrpSpPr>
          <p:cNvPr id="654" name="Google Shape;654;p38"/>
          <p:cNvGrpSpPr/>
          <p:nvPr/>
        </p:nvGrpSpPr>
        <p:grpSpPr>
          <a:xfrm>
            <a:off x="839483" y="2499432"/>
            <a:ext cx="10513033" cy="3003723"/>
            <a:chOff x="1283" y="673807"/>
            <a:chExt cx="10513033" cy="3003723"/>
          </a:xfrm>
        </p:grpSpPr>
        <p:sp>
          <p:nvSpPr>
            <p:cNvPr id="655" name="Google Shape;655;p38"/>
            <p:cNvSpPr/>
            <p:nvPr/>
          </p:nvSpPr>
          <p:spPr>
            <a:xfrm>
              <a:off x="1283" y="673807"/>
              <a:ext cx="5006206" cy="3003723"/>
            </a:xfrm>
            <a:prstGeom prst="rect">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txBox="1"/>
            <p:nvPr/>
          </p:nvSpPr>
          <p:spPr>
            <a:xfrm>
              <a:off x="1283" y="673807"/>
              <a:ext cx="5006206" cy="3003723"/>
            </a:xfrm>
            <a:prstGeom prst="rect">
              <a:avLst/>
            </a:prstGeom>
            <a:noFill/>
            <a:ln>
              <a:noFill/>
            </a:ln>
          </p:spPr>
          <p:txBody>
            <a:bodyPr spcFirstLastPara="1" wrap="square" lIns="114300" tIns="114300" rIns="114300" bIns="114300" anchor="t" anchorCtr="0">
              <a:noAutofit/>
            </a:bodyPr>
            <a:lstStyle/>
            <a:p>
              <a:pPr marL="0" marR="0" lvl="0" indent="0" algn="l" rtl="0">
                <a:lnSpc>
                  <a:spcPct val="90000"/>
                </a:lnSpc>
                <a:spcBef>
                  <a:spcPts val="0"/>
                </a:spcBef>
                <a:spcAft>
                  <a:spcPts val="0"/>
                </a:spcAft>
                <a:buClr>
                  <a:schemeClr val="lt1"/>
                </a:buClr>
                <a:buSzPts val="3000"/>
                <a:buFont typeface="Arial"/>
                <a:buNone/>
              </a:pPr>
              <a:r>
                <a:rPr lang="en-US" sz="3000">
                  <a:solidFill>
                    <a:schemeClr val="lt1"/>
                  </a:solidFill>
                  <a:latin typeface="Arial"/>
                  <a:ea typeface="Arial"/>
                  <a:cs typeface="Arial"/>
                  <a:sym typeface="Arial"/>
                </a:rPr>
                <a:t>∗	Known Usage</a:t>
              </a:r>
              <a:endParaRPr/>
            </a:p>
            <a:p>
              <a:pPr marL="228600" marR="0" lvl="1" indent="-228600" algn="l" rtl="0">
                <a:lnSpc>
                  <a:spcPct val="90000"/>
                </a:lnSpc>
                <a:spcBef>
                  <a:spcPts val="1050"/>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The output folder of the job will have one part file for each partition</a:t>
              </a:r>
              <a:endParaRPr/>
            </a:p>
            <a:p>
              <a:pPr marL="228600" marR="0" lvl="1" indent="-228600" algn="l" rtl="0">
                <a:lnSpc>
                  <a:spcPct val="90000"/>
                </a:lnSpc>
                <a:spcBef>
                  <a:spcPts val="34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Partition pruning by category</a:t>
              </a:r>
              <a:endParaRPr/>
            </a:p>
          </p:txBody>
        </p:sp>
        <p:sp>
          <p:nvSpPr>
            <p:cNvPr id="657" name="Google Shape;657;p38"/>
            <p:cNvSpPr/>
            <p:nvPr/>
          </p:nvSpPr>
          <p:spPr>
            <a:xfrm>
              <a:off x="5508110" y="673807"/>
              <a:ext cx="5006206" cy="3003723"/>
            </a:xfrm>
            <a:prstGeom prst="rect">
              <a:avLst/>
            </a:prstGeom>
            <a:solidFill>
              <a:srgbClr val="4CA62C"/>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8"/>
            <p:cNvSpPr txBox="1"/>
            <p:nvPr/>
          </p:nvSpPr>
          <p:spPr>
            <a:xfrm>
              <a:off x="5508110" y="673807"/>
              <a:ext cx="5006206" cy="3003723"/>
            </a:xfrm>
            <a:prstGeom prst="rect">
              <a:avLst/>
            </a:prstGeom>
            <a:noFill/>
            <a:ln>
              <a:noFill/>
            </a:ln>
          </p:spPr>
          <p:txBody>
            <a:bodyPr spcFirstLastPara="1" wrap="square" lIns="114300" tIns="114300" rIns="114300" bIns="114300" anchor="t" anchorCtr="0">
              <a:noAutofit/>
            </a:bodyPr>
            <a:lstStyle/>
            <a:p>
              <a:pPr marL="0" marR="0" lvl="0" indent="0" algn="l" rtl="0">
                <a:lnSpc>
                  <a:spcPct val="90000"/>
                </a:lnSpc>
                <a:spcBef>
                  <a:spcPts val="0"/>
                </a:spcBef>
                <a:spcAft>
                  <a:spcPts val="0"/>
                </a:spcAft>
                <a:buClr>
                  <a:schemeClr val="lt1"/>
                </a:buClr>
                <a:buSzPts val="3000"/>
                <a:buFont typeface="Arial"/>
                <a:buNone/>
              </a:pPr>
              <a:r>
                <a:rPr lang="en-US" sz="3000">
                  <a:solidFill>
                    <a:schemeClr val="lt1"/>
                  </a:solidFill>
                  <a:latin typeface="Arial"/>
                  <a:ea typeface="Arial"/>
                  <a:cs typeface="Arial"/>
                  <a:sym typeface="Arial"/>
                </a:rPr>
                <a:t>∗	Performance Analysis</a:t>
              </a:r>
              <a:endParaRPr/>
            </a:p>
            <a:p>
              <a:pPr marL="228600" marR="0" lvl="1" indent="-228600" algn="l" rtl="0">
                <a:lnSpc>
                  <a:spcPct val="90000"/>
                </a:lnSpc>
                <a:spcBef>
                  <a:spcPts val="1050"/>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the resulting partitions will likely not have similar number of records</a:t>
              </a:r>
              <a:endParaRPr/>
            </a:p>
            <a:p>
              <a:pPr marL="228600" marR="0" lvl="1" indent="-228600" algn="l" rtl="0">
                <a:lnSpc>
                  <a:spcPct val="90000"/>
                </a:lnSpc>
                <a:spcBef>
                  <a:spcPts val="345"/>
                </a:spcBef>
                <a:spcAft>
                  <a:spcPts val="0"/>
                </a:spcAft>
                <a:buClr>
                  <a:schemeClr val="lt1"/>
                </a:buClr>
                <a:buSzPts val="2300"/>
                <a:buFont typeface="Arial"/>
                <a:buChar char="•"/>
              </a:pPr>
              <a:r>
                <a:rPr lang="en-US" sz="2300" b="0" i="0" u="none" strike="noStrike" cap="none">
                  <a:solidFill>
                    <a:schemeClr val="lt1"/>
                  </a:solidFill>
                  <a:latin typeface="Arial"/>
                  <a:ea typeface="Arial"/>
                  <a:cs typeface="Arial"/>
                  <a:sym typeface="Arial"/>
                </a:rPr>
                <a:t>∗	Split very large partitions into several smaller partitions</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2"/>
        <p:cNvGrpSpPr/>
        <p:nvPr/>
      </p:nvGrpSpPr>
      <p:grpSpPr>
        <a:xfrm>
          <a:off x="0" y="0"/>
          <a:ext cx="0" cy="0"/>
          <a:chOff x="0" y="0"/>
          <a:chExt cx="0" cy="0"/>
        </a:xfrm>
      </p:grpSpPr>
      <p:sp>
        <p:nvSpPr>
          <p:cNvPr id="663" name="Google Shape;663;p3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4" name="Google Shape;664;p39" descr="$PPTXTitle"/>
          <p:cNvSpPr txBox="1">
            <a:spLocks noGrp="1"/>
          </p:cNvSpPr>
          <p:nvPr>
            <p:ph type="title"/>
          </p:nvPr>
        </p:nvSpPr>
        <p:spPr>
          <a:xfrm>
            <a:off x="645064" y="525982"/>
            <a:ext cx="4282983" cy="1200361"/>
          </a:xfrm>
          <a:prstGeom prst="rect">
            <a:avLst/>
          </a:prstGeom>
          <a:noFill/>
          <a:ln>
            <a:noFill/>
          </a:ln>
        </p:spPr>
        <p:txBody>
          <a:bodyPr spcFirstLastPara="1" wrap="square" lIns="91425" tIns="45700" rIns="91425" bIns="45700" anchor="b" anchorCtr="0">
            <a:normAutofit/>
          </a:bodyPr>
          <a:lstStyle/>
          <a:p>
            <a:pPr marL="2085339" lvl="0" indent="0" algn="l" rtl="0">
              <a:lnSpc>
                <a:spcPct val="90000"/>
              </a:lnSpc>
              <a:spcBef>
                <a:spcPts val="0"/>
              </a:spcBef>
              <a:spcAft>
                <a:spcPts val="0"/>
              </a:spcAft>
              <a:buClr>
                <a:schemeClr val="dk1"/>
              </a:buClr>
              <a:buSzPts val="3300"/>
              <a:buFont typeface="Play"/>
              <a:buNone/>
            </a:pPr>
            <a:r>
              <a:rPr lang="en-US" sz="3300">
                <a:solidFill>
                  <a:schemeClr val="dk1"/>
                </a:solidFill>
                <a:latin typeface="Play"/>
                <a:ea typeface="Play"/>
                <a:cs typeface="Play"/>
                <a:sym typeface="Play"/>
              </a:rPr>
              <a:t>Partitioning</a:t>
            </a:r>
            <a:endParaRPr/>
          </a:p>
        </p:txBody>
      </p:sp>
      <p:sp>
        <p:nvSpPr>
          <p:cNvPr id="665" name="Google Shape;665;p39"/>
          <p:cNvSpPr/>
          <p:nvPr/>
        </p:nvSpPr>
        <p:spPr>
          <a:xfrm flipH="1">
            <a:off x="616533" y="1944913"/>
            <a:ext cx="402336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6" name="Google Shape;666;p39"/>
          <p:cNvSpPr/>
          <p:nvPr/>
        </p:nvSpPr>
        <p:spPr>
          <a:xfrm rot="5400000">
            <a:off x="-225843" y="6053360"/>
            <a:ext cx="740664" cy="15412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7" name="Google Shape;667;p39"/>
          <p:cNvSpPr/>
          <p:nvPr/>
        </p:nvSpPr>
        <p:spPr>
          <a:xfrm rot="5400000">
            <a:off x="5904923" y="215201"/>
            <a:ext cx="740664" cy="1183349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8" name="Google Shape;668;p39"/>
          <p:cNvSpPr/>
          <p:nvPr/>
        </p:nvSpPr>
        <p:spPr>
          <a:xfrm>
            <a:off x="5696793" y="354959"/>
            <a:ext cx="6184973" cy="5915212"/>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669" name="Google Shape;669;p39"/>
          <p:cNvGrpSpPr/>
          <p:nvPr/>
        </p:nvGrpSpPr>
        <p:grpSpPr>
          <a:xfrm>
            <a:off x="5994710" y="2641995"/>
            <a:ext cx="5620756" cy="1347819"/>
            <a:chOff x="4857750" y="3252724"/>
            <a:chExt cx="2457450" cy="589280"/>
          </a:xfrm>
        </p:grpSpPr>
        <p:pic>
          <p:nvPicPr>
            <p:cNvPr id="670" name="Google Shape;670;p39"/>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671" name="Google Shape;671;p39"/>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2" name="Google Shape;672;p39"/>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40"/>
          <p:cNvSpPr txBox="1"/>
          <p:nvPr/>
        </p:nvSpPr>
        <p:spPr>
          <a:xfrm>
            <a:off x="1241552" y="2620772"/>
            <a:ext cx="1122680" cy="406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500">
                <a:solidFill>
                  <a:srgbClr val="30B6FC"/>
                </a:solidFill>
                <a:latin typeface="Arimo"/>
                <a:ea typeface="Arimo"/>
                <a:cs typeface="Arimo"/>
                <a:sym typeface="Arimo"/>
              </a:rPr>
              <a:t>∗ </a:t>
            </a:r>
            <a:r>
              <a:rPr lang="en-US" sz="2500">
                <a:solidFill>
                  <a:srgbClr val="063D86"/>
                </a:solidFill>
                <a:latin typeface="Arial"/>
                <a:ea typeface="Arial"/>
                <a:cs typeface="Arial"/>
                <a:sym typeface="Arial"/>
              </a:rPr>
              <a:t>Intent</a:t>
            </a:r>
            <a:endParaRPr sz="2500">
              <a:solidFill>
                <a:schemeClr val="dk1"/>
              </a:solidFill>
              <a:latin typeface="Arial"/>
              <a:ea typeface="Arial"/>
              <a:cs typeface="Arial"/>
              <a:sym typeface="Arial"/>
            </a:endParaRPr>
          </a:p>
        </p:txBody>
      </p:sp>
      <p:sp>
        <p:nvSpPr>
          <p:cNvPr id="678" name="Google Shape;678;p40"/>
          <p:cNvSpPr txBox="1"/>
          <p:nvPr/>
        </p:nvSpPr>
        <p:spPr>
          <a:xfrm>
            <a:off x="1543303" y="3005079"/>
            <a:ext cx="8712200" cy="974625"/>
          </a:xfrm>
          <a:prstGeom prst="rect">
            <a:avLst/>
          </a:prstGeom>
          <a:noFill/>
          <a:ln>
            <a:noFill/>
          </a:ln>
        </p:spPr>
        <p:txBody>
          <a:bodyPr spcFirstLastPara="1" wrap="square" lIns="0" tIns="116825" rIns="0" bIns="0" anchor="t" anchorCtr="0">
            <a:spAutoFit/>
          </a:bodyPr>
          <a:lstStyle/>
          <a:p>
            <a:pPr marL="12700" marR="0" lvl="0" indent="0" algn="l" rtl="0">
              <a:lnSpc>
                <a:spcPct val="100000"/>
              </a:lnSpc>
              <a:spcBef>
                <a:spcPts val="0"/>
              </a:spcBef>
              <a:spcAft>
                <a:spcPts val="0"/>
              </a:spcAft>
              <a:buNone/>
            </a:pPr>
            <a:r>
              <a:rPr lang="en-US" sz="2000">
                <a:solidFill>
                  <a:srgbClr val="30B6FC"/>
                </a:solidFill>
                <a:latin typeface="Arimo"/>
                <a:ea typeface="Arimo"/>
                <a:cs typeface="Arimo"/>
                <a:sym typeface="Arimo"/>
              </a:rPr>
              <a:t>∗	</a:t>
            </a:r>
            <a:r>
              <a:rPr lang="en-US" sz="2000">
                <a:solidFill>
                  <a:srgbClr val="063D86"/>
                </a:solidFill>
                <a:latin typeface="Arial"/>
                <a:ea typeface="Arial"/>
                <a:cs typeface="Arial"/>
                <a:sym typeface="Arial"/>
              </a:rPr>
              <a:t>You have a set of records that you want to completely randomize</a:t>
            </a:r>
            <a:endParaRPr sz="2000">
              <a:solidFill>
                <a:schemeClr val="dk1"/>
              </a:solidFill>
              <a:latin typeface="Arial"/>
              <a:ea typeface="Arial"/>
              <a:cs typeface="Arial"/>
              <a:sym typeface="Arial"/>
            </a:endParaRPr>
          </a:p>
          <a:p>
            <a:pPr marL="287020" marR="5080" lvl="0" indent="-274955" algn="l" rtl="0">
              <a:lnSpc>
                <a:spcPct val="77000"/>
              </a:lnSpc>
              <a:spcBef>
                <a:spcPts val="1185"/>
              </a:spcBef>
              <a:spcAft>
                <a:spcPts val="0"/>
              </a:spcAft>
              <a:buNone/>
            </a:pPr>
            <a:r>
              <a:rPr lang="en-US" sz="2000">
                <a:solidFill>
                  <a:srgbClr val="30B6FC"/>
                </a:solidFill>
                <a:latin typeface="Arimo"/>
                <a:ea typeface="Arimo"/>
                <a:cs typeface="Arimo"/>
                <a:sym typeface="Arimo"/>
              </a:rPr>
              <a:t>∗	</a:t>
            </a:r>
            <a:r>
              <a:rPr lang="en-US" sz="2000">
                <a:solidFill>
                  <a:srgbClr val="063D86"/>
                </a:solidFill>
                <a:latin typeface="Arial"/>
                <a:ea typeface="Arial"/>
                <a:cs typeface="Arial"/>
                <a:sym typeface="Arial"/>
              </a:rPr>
              <a:t>The total order sorting and shuffling patterns are opposites in terms of effect, but the latter is also concerned with the order of data in records</a:t>
            </a:r>
            <a:endParaRPr sz="2000">
              <a:solidFill>
                <a:schemeClr val="dk1"/>
              </a:solidFill>
              <a:latin typeface="Arial"/>
              <a:ea typeface="Arial"/>
              <a:cs typeface="Arial"/>
              <a:sym typeface="Arial"/>
            </a:endParaRPr>
          </a:p>
        </p:txBody>
      </p:sp>
      <p:sp>
        <p:nvSpPr>
          <p:cNvPr id="679" name="Google Shape;679;p40"/>
          <p:cNvSpPr txBox="1"/>
          <p:nvPr/>
        </p:nvSpPr>
        <p:spPr>
          <a:xfrm>
            <a:off x="1241552" y="3798798"/>
            <a:ext cx="3388995" cy="927735"/>
          </a:xfrm>
          <a:prstGeom prst="rect">
            <a:avLst/>
          </a:prstGeom>
          <a:noFill/>
          <a:ln>
            <a:noFill/>
          </a:ln>
        </p:spPr>
        <p:txBody>
          <a:bodyPr spcFirstLastPara="1" wrap="square" lIns="0" tIns="181600" rIns="0" bIns="0" anchor="t" anchorCtr="0">
            <a:spAutoFit/>
          </a:bodyPr>
          <a:lstStyle/>
          <a:p>
            <a:pPr marL="12700" marR="0" lvl="0" indent="0" algn="l" rtl="0">
              <a:lnSpc>
                <a:spcPct val="100000"/>
              </a:lnSpc>
              <a:spcBef>
                <a:spcPts val="0"/>
              </a:spcBef>
              <a:spcAft>
                <a:spcPts val="0"/>
              </a:spcAft>
              <a:buNone/>
            </a:pPr>
            <a:r>
              <a:rPr lang="en-US" sz="2500">
                <a:solidFill>
                  <a:srgbClr val="30B6FC"/>
                </a:solidFill>
                <a:latin typeface="Arimo"/>
                <a:ea typeface="Arimo"/>
                <a:cs typeface="Arimo"/>
                <a:sym typeface="Arimo"/>
              </a:rPr>
              <a:t>∗ </a:t>
            </a:r>
            <a:r>
              <a:rPr lang="en-US" sz="2500">
                <a:solidFill>
                  <a:srgbClr val="063D86"/>
                </a:solidFill>
                <a:latin typeface="Arial"/>
                <a:ea typeface="Arial"/>
                <a:cs typeface="Arial"/>
                <a:sym typeface="Arial"/>
              </a:rPr>
              <a:t>Motivation</a:t>
            </a:r>
            <a:endParaRPr sz="2500">
              <a:solidFill>
                <a:schemeClr val="dk1"/>
              </a:solidFill>
              <a:latin typeface="Arial"/>
              <a:ea typeface="Arial"/>
              <a:cs typeface="Arial"/>
              <a:sym typeface="Arial"/>
            </a:endParaRPr>
          </a:p>
          <a:p>
            <a:pPr marL="314325" marR="0" lvl="0" indent="0" algn="l" rtl="0">
              <a:lnSpc>
                <a:spcPct val="100000"/>
              </a:lnSpc>
              <a:spcBef>
                <a:spcPts val="850"/>
              </a:spcBef>
              <a:spcAft>
                <a:spcPts val="0"/>
              </a:spcAft>
              <a:buNone/>
            </a:pPr>
            <a:r>
              <a:rPr lang="en-US" sz="1600">
                <a:solidFill>
                  <a:srgbClr val="30B6FC"/>
                </a:solidFill>
                <a:latin typeface="Arimo"/>
                <a:ea typeface="Arimo"/>
                <a:cs typeface="Arimo"/>
                <a:sym typeface="Arimo"/>
              </a:rPr>
              <a:t>∗	</a:t>
            </a:r>
            <a:r>
              <a:rPr lang="en-US" sz="1600">
                <a:solidFill>
                  <a:srgbClr val="063D86"/>
                </a:solidFill>
                <a:latin typeface="Arial"/>
                <a:ea typeface="Arial"/>
                <a:cs typeface="Arial"/>
                <a:sym typeface="Arial"/>
              </a:rPr>
              <a:t>Completely destroying the order</a:t>
            </a:r>
            <a:endParaRPr sz="1600">
              <a:solidFill>
                <a:schemeClr val="dk1"/>
              </a:solidFill>
              <a:latin typeface="Arial"/>
              <a:ea typeface="Arial"/>
              <a:cs typeface="Arial"/>
              <a:sym typeface="Arial"/>
            </a:endParaRPr>
          </a:p>
        </p:txBody>
      </p:sp>
      <p:sp>
        <p:nvSpPr>
          <p:cNvPr id="680" name="Google Shape;680;p40"/>
          <p:cNvSpPr txBox="1"/>
          <p:nvPr/>
        </p:nvSpPr>
        <p:spPr>
          <a:xfrm>
            <a:off x="1241552" y="4768722"/>
            <a:ext cx="1613535" cy="4222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600">
                <a:solidFill>
                  <a:srgbClr val="30B6FC"/>
                </a:solidFill>
                <a:latin typeface="Arimo"/>
                <a:ea typeface="Arimo"/>
                <a:cs typeface="Arimo"/>
                <a:sym typeface="Arimo"/>
              </a:rPr>
              <a:t>∗ </a:t>
            </a:r>
            <a:r>
              <a:rPr lang="en-US" sz="2600">
                <a:solidFill>
                  <a:srgbClr val="063D86"/>
                </a:solidFill>
                <a:latin typeface="Arial"/>
                <a:ea typeface="Arial"/>
                <a:cs typeface="Arial"/>
                <a:sym typeface="Arial"/>
              </a:rPr>
              <a:t>Structure</a:t>
            </a:r>
            <a:endParaRPr sz="2600">
              <a:solidFill>
                <a:schemeClr val="dk1"/>
              </a:solidFill>
              <a:latin typeface="Arial"/>
              <a:ea typeface="Arial"/>
              <a:cs typeface="Arial"/>
              <a:sym typeface="Arial"/>
            </a:endParaRPr>
          </a:p>
        </p:txBody>
      </p:sp>
      <p:sp>
        <p:nvSpPr>
          <p:cNvPr id="681" name="Google Shape;681;p40"/>
          <p:cNvSpPr txBox="1"/>
          <p:nvPr/>
        </p:nvSpPr>
        <p:spPr>
          <a:xfrm>
            <a:off x="1543303" y="5170474"/>
            <a:ext cx="6992620" cy="720725"/>
          </a:xfrm>
          <a:prstGeom prst="rect">
            <a:avLst/>
          </a:prstGeom>
          <a:noFill/>
          <a:ln>
            <a:noFill/>
          </a:ln>
        </p:spPr>
        <p:txBody>
          <a:bodyPr spcFirstLastPara="1" wrap="square" lIns="0" tIns="116200" rIns="0" bIns="0" anchor="t" anchorCtr="0">
            <a:spAutoFit/>
          </a:bodyPr>
          <a:lstStyle/>
          <a:p>
            <a:pPr marL="12700" marR="0" lvl="0" indent="0" algn="l" rtl="0">
              <a:lnSpc>
                <a:spcPct val="100000"/>
              </a:lnSpc>
              <a:spcBef>
                <a:spcPts val="0"/>
              </a:spcBef>
              <a:spcAft>
                <a:spcPts val="0"/>
              </a:spcAft>
              <a:buNone/>
            </a:pPr>
            <a:r>
              <a:rPr lang="en-US" sz="1600">
                <a:solidFill>
                  <a:srgbClr val="30B6FC"/>
                </a:solidFill>
                <a:latin typeface="Arimo"/>
                <a:ea typeface="Arimo"/>
                <a:cs typeface="Arimo"/>
                <a:sym typeface="Arimo"/>
              </a:rPr>
              <a:t>∗	</a:t>
            </a:r>
            <a:r>
              <a:rPr lang="en-US" sz="1600">
                <a:solidFill>
                  <a:srgbClr val="063D86"/>
                </a:solidFill>
                <a:latin typeface="Arial"/>
                <a:ea typeface="Arial"/>
                <a:cs typeface="Arial"/>
                <a:sym typeface="Arial"/>
              </a:rPr>
              <a:t>All the mapper does is output the record as the value along with a random key</a:t>
            </a:r>
            <a:endParaRPr sz="1600">
              <a:solidFill>
                <a:schemeClr val="dk1"/>
              </a:solidFill>
              <a:latin typeface="Arial"/>
              <a:ea typeface="Arial"/>
              <a:cs typeface="Arial"/>
              <a:sym typeface="Arial"/>
            </a:endParaRPr>
          </a:p>
          <a:p>
            <a:pPr marL="12700" marR="0" lvl="0" indent="0" algn="l" rtl="0">
              <a:lnSpc>
                <a:spcPct val="100000"/>
              </a:lnSpc>
              <a:spcBef>
                <a:spcPts val="815"/>
              </a:spcBef>
              <a:spcAft>
                <a:spcPts val="0"/>
              </a:spcAft>
              <a:buNone/>
            </a:pPr>
            <a:r>
              <a:rPr lang="en-US" sz="1600">
                <a:solidFill>
                  <a:srgbClr val="30B6FC"/>
                </a:solidFill>
                <a:latin typeface="Arimo"/>
                <a:ea typeface="Arimo"/>
                <a:cs typeface="Arimo"/>
                <a:sym typeface="Arimo"/>
              </a:rPr>
              <a:t>∗	</a:t>
            </a:r>
            <a:r>
              <a:rPr lang="en-US" sz="1600">
                <a:solidFill>
                  <a:srgbClr val="063D86"/>
                </a:solidFill>
                <a:latin typeface="Arial"/>
                <a:ea typeface="Arial"/>
                <a:cs typeface="Arial"/>
                <a:sym typeface="Arial"/>
              </a:rPr>
              <a:t>The reducer sorts the random keys, further randomizing the data</a:t>
            </a:r>
            <a:endParaRPr sz="1600">
              <a:solidFill>
                <a:schemeClr val="dk1"/>
              </a:solidFill>
              <a:latin typeface="Arial"/>
              <a:ea typeface="Arial"/>
              <a:cs typeface="Arial"/>
              <a:sym typeface="Arial"/>
            </a:endParaRPr>
          </a:p>
        </p:txBody>
      </p:sp>
      <p:sp>
        <p:nvSpPr>
          <p:cNvPr id="682" name="Google Shape;682;p40" descr="$PPTXTitle"/>
          <p:cNvSpPr txBox="1">
            <a:spLocks noGrp="1"/>
          </p:cNvSpPr>
          <p:nvPr>
            <p:ph type="title"/>
          </p:nvPr>
        </p:nvSpPr>
        <p:spPr>
          <a:xfrm>
            <a:off x="5022341" y="580389"/>
            <a:ext cx="2150110"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Shuffling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6"/>
        <p:cNvGrpSpPr/>
        <p:nvPr/>
      </p:nvGrpSpPr>
      <p:grpSpPr>
        <a:xfrm>
          <a:off x="0" y="0"/>
          <a:ext cx="0" cy="0"/>
          <a:chOff x="0" y="0"/>
          <a:chExt cx="0" cy="0"/>
        </a:xfrm>
      </p:grpSpPr>
      <p:sp>
        <p:nvSpPr>
          <p:cNvPr id="687" name="Google Shape;687;p4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688" name="Google Shape;688;p41"/>
          <p:cNvGrpSpPr/>
          <p:nvPr/>
        </p:nvGrpSpPr>
        <p:grpSpPr>
          <a:xfrm>
            <a:off x="4" y="1216597"/>
            <a:ext cx="731521" cy="673460"/>
            <a:chOff x="3940602" y="308034"/>
            <a:chExt cx="2116791" cy="3428999"/>
          </a:xfrm>
        </p:grpSpPr>
        <p:sp>
          <p:nvSpPr>
            <p:cNvPr id="689" name="Google Shape;689;p41"/>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0" name="Google Shape;690;p41"/>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1" name="Google Shape;691;p41"/>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692" name="Google Shape;692;p41"/>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3" name="Google Shape;693;p41"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Shuffling</a:t>
            </a:r>
            <a:endParaRPr/>
          </a:p>
        </p:txBody>
      </p:sp>
      <p:sp>
        <p:nvSpPr>
          <p:cNvPr id="694" name="Google Shape;694;p41"/>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Consequences</a:t>
            </a:r>
            <a:endParaRPr sz="1700">
              <a:solidFill>
                <a:schemeClr val="dk1"/>
              </a:solidFill>
              <a:latin typeface="Arial"/>
              <a:ea typeface="Arial"/>
              <a:cs typeface="Arial"/>
              <a:sym typeface="Arial"/>
            </a:endParaRPr>
          </a:p>
          <a:p>
            <a:pPr marL="314325" marR="0" lvl="0" indent="-228600" algn="l" rtl="0">
              <a:lnSpc>
                <a:spcPct val="90000"/>
              </a:lnSpc>
              <a:spcBef>
                <a:spcPts val="1235"/>
              </a:spcBef>
              <a:spcAft>
                <a:spcPts val="0"/>
              </a:spcAft>
              <a:buClr>
                <a:schemeClr val="dk1"/>
              </a:buClr>
              <a:buSzPts val="1700"/>
              <a:buFont typeface="Arial"/>
              <a:buChar char="•"/>
            </a:pPr>
            <a:r>
              <a:rPr lang="en-US" sz="1700">
                <a:solidFill>
                  <a:schemeClr val="dk1"/>
                </a:solidFill>
                <a:latin typeface="Arial"/>
                <a:ea typeface="Arial"/>
                <a:cs typeface="Arial"/>
                <a:sym typeface="Arial"/>
              </a:rPr>
              <a:t>∗	Each reducer outputs a file containing random records.</a:t>
            </a:r>
            <a:endParaRPr sz="1700">
              <a:solidFill>
                <a:schemeClr val="dk1"/>
              </a:solidFill>
              <a:latin typeface="Arial"/>
              <a:ea typeface="Arial"/>
              <a:cs typeface="Arial"/>
              <a:sym typeface="Arial"/>
            </a:endParaRPr>
          </a:p>
          <a:p>
            <a:pPr marL="12700" marR="0" lvl="0" indent="-12700" algn="l" rtl="0">
              <a:lnSpc>
                <a:spcPct val="90000"/>
              </a:lnSpc>
              <a:spcBef>
                <a:spcPts val="1165"/>
              </a:spcBef>
              <a:spcAft>
                <a:spcPts val="0"/>
              </a:spcAft>
              <a:buClr>
                <a:schemeClr val="dk1"/>
              </a:buClr>
              <a:buSzPts val="1700"/>
              <a:buFont typeface="Arial"/>
              <a:buChar char="•"/>
            </a:pPr>
            <a:r>
              <a:rPr lang="en-US" sz="1700">
                <a:solidFill>
                  <a:schemeClr val="dk1"/>
                </a:solidFill>
                <a:latin typeface="Arial"/>
                <a:ea typeface="Arial"/>
                <a:cs typeface="Arial"/>
                <a:sym typeface="Arial"/>
              </a:rPr>
              <a:t>∗	Resemblances</a:t>
            </a:r>
            <a:endParaRPr sz="1700">
              <a:solidFill>
                <a:schemeClr val="dk1"/>
              </a:solidFill>
              <a:latin typeface="Arial"/>
              <a:ea typeface="Arial"/>
              <a:cs typeface="Arial"/>
              <a:sym typeface="Arial"/>
            </a:endParaRPr>
          </a:p>
          <a:p>
            <a:pPr marL="491490" marR="0" lvl="0" indent="-228600" algn="l" rtl="0">
              <a:lnSpc>
                <a:spcPct val="90000"/>
              </a:lnSpc>
              <a:spcBef>
                <a:spcPts val="890"/>
              </a:spcBef>
              <a:spcAft>
                <a:spcPts val="0"/>
              </a:spcAft>
              <a:buClr>
                <a:schemeClr val="dk1"/>
              </a:buClr>
              <a:buSzPts val="1700"/>
              <a:buFont typeface="Arial"/>
              <a:buChar char="•"/>
            </a:pPr>
            <a:r>
              <a:rPr lang="en-US" sz="1700" b="1">
                <a:solidFill>
                  <a:schemeClr val="dk1"/>
                </a:solidFill>
                <a:latin typeface="Arial"/>
                <a:ea typeface="Arial"/>
                <a:cs typeface="Arial"/>
                <a:sym typeface="Arial"/>
              </a:rPr>
              <a:t>SELECT * FROM table ORDER BY RAND();</a:t>
            </a:r>
            <a:endParaRPr sz="1700">
              <a:solidFill>
                <a:schemeClr val="dk1"/>
              </a:solidFill>
              <a:latin typeface="Arial"/>
              <a:ea typeface="Arial"/>
              <a:cs typeface="Arial"/>
              <a:sym typeface="Arial"/>
            </a:endParaRPr>
          </a:p>
          <a:p>
            <a:pPr marL="12700" marR="0" lvl="0" indent="-12700" algn="l" rtl="0">
              <a:lnSpc>
                <a:spcPct val="90000"/>
              </a:lnSpc>
              <a:spcBef>
                <a:spcPts val="1480"/>
              </a:spcBef>
              <a:spcAft>
                <a:spcPts val="0"/>
              </a:spcAft>
              <a:buClr>
                <a:schemeClr val="dk1"/>
              </a:buClr>
              <a:buSzPts val="1700"/>
              <a:buFont typeface="Arial"/>
              <a:buChar char="•"/>
            </a:pPr>
            <a:r>
              <a:rPr lang="en-US" sz="1700">
                <a:solidFill>
                  <a:schemeClr val="dk1"/>
                </a:solidFill>
                <a:latin typeface="Arial"/>
                <a:ea typeface="Arial"/>
                <a:cs typeface="Arial"/>
                <a:sym typeface="Arial"/>
              </a:rPr>
              <a:t>∗ Performance Analysis</a:t>
            </a:r>
            <a:endParaRPr sz="1700">
              <a:solidFill>
                <a:schemeClr val="dk1"/>
              </a:solidFill>
              <a:latin typeface="Arial"/>
              <a:ea typeface="Arial"/>
              <a:cs typeface="Arial"/>
              <a:sym typeface="Arial"/>
            </a:endParaRPr>
          </a:p>
          <a:p>
            <a:pPr marL="588645" marR="5080" lvl="0" indent="-228600" algn="l" rtl="0">
              <a:lnSpc>
                <a:spcPct val="90000"/>
              </a:lnSpc>
              <a:spcBef>
                <a:spcPts val="1270"/>
              </a:spcBef>
              <a:spcAft>
                <a:spcPts val="0"/>
              </a:spcAft>
              <a:buClr>
                <a:schemeClr val="dk1"/>
              </a:buClr>
              <a:buSzPts val="1700"/>
              <a:buFont typeface="Arial"/>
              <a:buChar char="•"/>
            </a:pPr>
            <a:r>
              <a:rPr lang="en-US" sz="1700">
                <a:solidFill>
                  <a:schemeClr val="dk1"/>
                </a:solidFill>
                <a:latin typeface="Arial"/>
                <a:ea typeface="Arial"/>
                <a:cs typeface="Arial"/>
                <a:sym typeface="Arial"/>
              </a:rPr>
              <a:t>∗	Since the reducer each record goes to is completely random, the data distribution across reducers will be completely balanced</a:t>
            </a:r>
            <a:endParaRPr sz="1700">
              <a:solidFill>
                <a:schemeClr val="dk1"/>
              </a:solidFill>
              <a:latin typeface="Arial"/>
              <a:ea typeface="Arial"/>
              <a:cs typeface="Arial"/>
              <a:sym typeface="Arial"/>
            </a:endParaRPr>
          </a:p>
          <a:p>
            <a:pPr marL="314325" marR="0" lvl="0" indent="-228600" algn="l" rtl="0">
              <a:lnSpc>
                <a:spcPct val="90000"/>
              </a:lnSpc>
              <a:spcBef>
                <a:spcPts val="1200"/>
              </a:spcBef>
              <a:spcAft>
                <a:spcPts val="0"/>
              </a:spcAft>
              <a:buClr>
                <a:schemeClr val="dk1"/>
              </a:buClr>
              <a:buSzPts val="1700"/>
              <a:buFont typeface="Arial"/>
              <a:buChar char="•"/>
            </a:pPr>
            <a:r>
              <a:rPr lang="en-US" sz="1700">
                <a:solidFill>
                  <a:schemeClr val="dk1"/>
                </a:solidFill>
                <a:latin typeface="Arial"/>
                <a:ea typeface="Arial"/>
                <a:cs typeface="Arial"/>
                <a:sym typeface="Arial"/>
              </a:rPr>
              <a:t>∗	The size of the files will also be very predictable: each is the size of the data set divided by the number of reducers</a:t>
            </a:r>
            <a:endParaRPr sz="1700">
              <a:solidFill>
                <a:schemeClr val="dk1"/>
              </a:solidFill>
              <a:latin typeface="Arial"/>
              <a:ea typeface="Arial"/>
              <a:cs typeface="Arial"/>
              <a:sym typeface="Arial"/>
            </a:endParaRPr>
          </a:p>
        </p:txBody>
      </p:sp>
      <p:cxnSp>
        <p:nvCxnSpPr>
          <p:cNvPr id="695" name="Google Shape;695;p41"/>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9"/>
        <p:cNvGrpSpPr/>
        <p:nvPr/>
      </p:nvGrpSpPr>
      <p:grpSpPr>
        <a:xfrm>
          <a:off x="0" y="0"/>
          <a:ext cx="0" cy="0"/>
          <a:chOff x="0" y="0"/>
          <a:chExt cx="0" cy="0"/>
        </a:xfrm>
      </p:grpSpPr>
      <p:sp>
        <p:nvSpPr>
          <p:cNvPr id="700" name="Google Shape;700;p4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1" name="Google Shape;701;p42"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Window Function </a:t>
            </a:r>
            <a:endParaRPr/>
          </a:p>
        </p:txBody>
      </p:sp>
      <p:grpSp>
        <p:nvGrpSpPr>
          <p:cNvPr id="702" name="Google Shape;702;p42"/>
          <p:cNvGrpSpPr/>
          <p:nvPr/>
        </p:nvGrpSpPr>
        <p:grpSpPr>
          <a:xfrm>
            <a:off x="-2" y="1998368"/>
            <a:ext cx="11695083" cy="782176"/>
            <a:chOff x="-2" y="1998368"/>
            <a:chExt cx="11695083" cy="782176"/>
          </a:xfrm>
        </p:grpSpPr>
        <p:sp>
          <p:nvSpPr>
            <p:cNvPr id="703" name="Google Shape;703;p42"/>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4" name="Google Shape;704;p42"/>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705" name="Google Shape;705;p42"/>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6" name="Google Shape;706;p42"/>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What Is a Window Function</a:t>
            </a:r>
            <a:endParaRPr sz="2400">
              <a:solidFill>
                <a:schemeClr val="dk1"/>
              </a:solidFill>
              <a:latin typeface="Arial"/>
              <a:ea typeface="Arial"/>
              <a:cs typeface="Arial"/>
              <a:sym typeface="Arial"/>
            </a:endParaRPr>
          </a:p>
          <a:p>
            <a:pPr marL="0" marR="0" lvl="0" indent="152400" algn="l" rtl="0">
              <a:lnSpc>
                <a:spcPct val="90000"/>
              </a:lnSpc>
              <a:spcBef>
                <a:spcPts val="12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12700" marR="508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Definition: A window function performs a calculation across a set of rows that are related to the current row.</a:t>
            </a:r>
            <a:endParaRPr sz="2400">
              <a:solidFill>
                <a:schemeClr val="dk1"/>
              </a:solidFill>
              <a:latin typeface="Arial"/>
              <a:ea typeface="Arial"/>
              <a:cs typeface="Arial"/>
              <a:sym typeface="Arial"/>
            </a:endParaRPr>
          </a:p>
          <a:p>
            <a:pPr marL="12700" marR="45720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Unlike GROUP BY, it doesn’t collapse rows — you still see individual records. Key Clause: PARTITION BY divides rows into groups (partitions).</a:t>
            </a:r>
            <a:endParaRPr sz="2400">
              <a:solidFill>
                <a:schemeClr val="dk1"/>
              </a:solidFill>
              <a:latin typeface="Arial"/>
              <a:ea typeface="Arial"/>
              <a:cs typeface="Arial"/>
              <a:sym typeface="Arial"/>
            </a:endParaRPr>
          </a:p>
          <a:p>
            <a:pPr marL="0" marR="0" lvl="0" indent="152400" algn="l" rtl="0">
              <a:lnSpc>
                <a:spcPct val="90000"/>
              </a:lnSpc>
              <a:spcBef>
                <a:spcPts val="12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window function runs independently within each partition.</a:t>
            </a:r>
            <a:endParaRPr sz="24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0"/>
        <p:cNvGrpSpPr/>
        <p:nvPr/>
      </p:nvGrpSpPr>
      <p:grpSpPr>
        <a:xfrm>
          <a:off x="0" y="0"/>
          <a:ext cx="0" cy="0"/>
          <a:chOff x="0" y="0"/>
          <a:chExt cx="0" cy="0"/>
        </a:xfrm>
      </p:grpSpPr>
      <p:sp>
        <p:nvSpPr>
          <p:cNvPr id="711" name="Google Shape;711;p4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2" name="Google Shape;712;p43"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Window Function </a:t>
            </a:r>
            <a:endParaRPr/>
          </a:p>
        </p:txBody>
      </p:sp>
      <p:sp>
        <p:nvSpPr>
          <p:cNvPr id="713" name="Google Shape;713;p43"/>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4" name="Google Shape;714;p43"/>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5" name="Google Shape;715;p43"/>
          <p:cNvSpPr txBo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0" marR="2580640" lvl="0" indent="0" algn="l" rtl="0">
              <a:lnSpc>
                <a:spcPct val="90000"/>
              </a:lnSpc>
              <a:spcBef>
                <a:spcPts val="0"/>
              </a:spcBef>
              <a:spcAft>
                <a:spcPts val="0"/>
              </a:spcAft>
              <a:buClr>
                <a:schemeClr val="dk1"/>
              </a:buClr>
              <a:buSzPts val="2000"/>
              <a:buFont typeface="Arial"/>
              <a:buChar char="•"/>
            </a:pPr>
            <a:r>
              <a:rPr lang="en-US" sz="2000" b="0" i="0">
                <a:solidFill>
                  <a:schemeClr val="dk1"/>
                </a:solidFill>
                <a:latin typeface="Arial"/>
                <a:ea typeface="Arial"/>
                <a:cs typeface="Arial"/>
                <a:sym typeface="Arial"/>
              </a:rPr>
              <a:t>SELECT DISTINCT</a:t>
            </a:r>
            <a:endParaRPr sz="2000" b="0" i="0">
              <a:solidFill>
                <a:schemeClr val="dk1"/>
              </a:solidFill>
              <a:latin typeface="Arial"/>
              <a:ea typeface="Arial"/>
              <a:cs typeface="Arial"/>
              <a:sym typeface="Arial"/>
            </a:endParaRPr>
          </a:p>
          <a:p>
            <a:pPr marL="457200" marR="1682750" lvl="1" indent="-2286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employee_id, </a:t>
            </a:r>
            <a:endParaRPr/>
          </a:p>
          <a:p>
            <a:pPr marL="457200" marR="1682750" lvl="1" indent="-2286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department, </a:t>
            </a:r>
            <a:endParaRPr/>
          </a:p>
          <a:p>
            <a:pPr marL="457200" marR="1682750" lvl="1" indent="-228600" algn="l" rtl="0">
              <a:lnSpc>
                <a:spcPct val="90000"/>
              </a:lnSpc>
              <a:spcBef>
                <a:spcPts val="6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	sale_amount,</a:t>
            </a:r>
            <a:endParaRPr sz="2000" b="0" i="0" u="none" strike="noStrike" cap="none">
              <a:solidFill>
                <a:schemeClr val="dk1"/>
              </a:solidFill>
              <a:latin typeface="Arial"/>
              <a:ea typeface="Arial"/>
              <a:cs typeface="Arial"/>
              <a:sym typeface="Arial"/>
            </a:endParaRPr>
          </a:p>
          <a:p>
            <a:pPr marL="0" marR="1682750" lvl="0" indent="0" algn="l" rtl="0">
              <a:lnSpc>
                <a:spcPct val="90000"/>
              </a:lnSpc>
              <a:spcBef>
                <a:spcPts val="600"/>
              </a:spcBef>
              <a:spcAft>
                <a:spcPts val="0"/>
              </a:spcAft>
              <a:buClr>
                <a:schemeClr val="dk1"/>
              </a:buClr>
              <a:buSzPts val="2000"/>
              <a:buFont typeface="Arial"/>
              <a:buChar char="•"/>
            </a:pPr>
            <a:r>
              <a:rPr lang="en-US" sz="2000" b="0" i="0">
                <a:solidFill>
                  <a:schemeClr val="dk1"/>
                </a:solidFill>
                <a:latin typeface="Arial"/>
                <a:ea typeface="Arial"/>
                <a:cs typeface="Arial"/>
                <a:sym typeface="Arial"/>
              </a:rPr>
              <a:t>SUM (sale_amount) over 	(PARTITION BY Department) AS total_sales_per_dept</a:t>
            </a:r>
            <a:endParaRPr sz="2000" b="0" i="0">
              <a:solidFill>
                <a:schemeClr val="dk1"/>
              </a:solidFill>
              <a:latin typeface="Arial"/>
              <a:ea typeface="Arial"/>
              <a:cs typeface="Arial"/>
              <a:sym typeface="Arial"/>
            </a:endParaRPr>
          </a:p>
          <a:p>
            <a:pPr marL="0" marR="0" lvl="0" indent="0" algn="l" rtl="0">
              <a:lnSpc>
                <a:spcPct val="90000"/>
              </a:lnSpc>
              <a:spcBef>
                <a:spcPts val="600"/>
              </a:spcBef>
              <a:spcAft>
                <a:spcPts val="0"/>
              </a:spcAft>
              <a:buClr>
                <a:schemeClr val="dk1"/>
              </a:buClr>
              <a:buSzPts val="2000"/>
              <a:buFont typeface="Arial"/>
              <a:buChar char="•"/>
            </a:pPr>
            <a:r>
              <a:rPr lang="en-US" sz="2000" b="0" i="0">
                <a:solidFill>
                  <a:schemeClr val="dk1"/>
                </a:solidFill>
                <a:latin typeface="Arial"/>
                <a:ea typeface="Arial"/>
                <a:cs typeface="Arial"/>
                <a:sym typeface="Arial"/>
              </a:rPr>
              <a:t>FROM</a:t>
            </a:r>
            <a:endParaRPr sz="2000" b="0" i="0">
              <a:solidFill>
                <a:schemeClr val="dk1"/>
              </a:solidFill>
              <a:latin typeface="Arial"/>
              <a:ea typeface="Arial"/>
              <a:cs typeface="Arial"/>
              <a:sym typeface="Arial"/>
            </a:endParaRPr>
          </a:p>
          <a:p>
            <a:pPr marL="0" marR="0" lvl="0" indent="0" algn="l" rtl="0">
              <a:lnSpc>
                <a:spcPct val="90000"/>
              </a:lnSpc>
              <a:spcBef>
                <a:spcPts val="600"/>
              </a:spcBef>
              <a:spcAft>
                <a:spcPts val="0"/>
              </a:spcAft>
              <a:buClr>
                <a:schemeClr val="dk1"/>
              </a:buClr>
              <a:buSzPts val="2000"/>
              <a:buFont typeface="Arial"/>
              <a:buChar char="•"/>
            </a:pPr>
            <a:r>
              <a:rPr lang="en-US" sz="2000" b="0" i="0">
                <a:solidFill>
                  <a:schemeClr val="dk1"/>
                </a:solidFill>
                <a:latin typeface="Arial"/>
                <a:ea typeface="Arial"/>
                <a:cs typeface="Arial"/>
                <a:sym typeface="Arial"/>
              </a:rPr>
              <a:t>sales;</a:t>
            </a:r>
            <a:endParaRPr sz="2000" b="0" i="0">
              <a:solidFill>
                <a:schemeClr val="dk1"/>
              </a:solidFill>
              <a:latin typeface="Arial"/>
              <a:ea typeface="Arial"/>
              <a:cs typeface="Arial"/>
              <a:sym typeface="Arial"/>
            </a:endParaRPr>
          </a:p>
        </p:txBody>
      </p:sp>
      <p:sp>
        <p:nvSpPr>
          <p:cNvPr id="716" name="Google Shape;716;p43"/>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717" name="Google Shape;717;p43"/>
          <p:cNvGraphicFramePr/>
          <p:nvPr/>
        </p:nvGraphicFramePr>
        <p:xfrm>
          <a:off x="6358394" y="2484255"/>
          <a:ext cx="3000000" cy="3000000"/>
        </p:xfrm>
        <a:graphic>
          <a:graphicData uri="http://schemas.openxmlformats.org/drawingml/2006/table">
            <a:tbl>
              <a:tblPr>
                <a:solidFill>
                  <a:srgbClr val="F2F2F2"/>
                </a:solidFill>
                <a:tableStyleId>{85CE15A3-5152-4696-AD4B-9BD29868967D}</a:tableStyleId>
              </a:tblPr>
              <a:tblGrid>
                <a:gridCol w="1457050">
                  <a:extLst>
                    <a:ext uri="{9D8B030D-6E8A-4147-A177-3AD203B41FA5}">
                      <a16:colId xmlns:a16="http://schemas.microsoft.com/office/drawing/2014/main" val="20000"/>
                    </a:ext>
                  </a:extLst>
                </a:gridCol>
                <a:gridCol w="1328975">
                  <a:extLst>
                    <a:ext uri="{9D8B030D-6E8A-4147-A177-3AD203B41FA5}">
                      <a16:colId xmlns:a16="http://schemas.microsoft.com/office/drawing/2014/main" val="20001"/>
                    </a:ext>
                  </a:extLst>
                </a:gridCol>
                <a:gridCol w="1470525">
                  <a:extLst>
                    <a:ext uri="{9D8B030D-6E8A-4147-A177-3AD203B41FA5}">
                      <a16:colId xmlns:a16="http://schemas.microsoft.com/office/drawing/2014/main" val="20002"/>
                    </a:ext>
                  </a:extLst>
                </a:gridCol>
              </a:tblGrid>
              <a:tr h="530600">
                <a:tc gridSpan="2">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Sales Table</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hMerge="1">
                  <a:txBody>
                    <a:bodyPr/>
                    <a:lstStyle/>
                    <a:p>
                      <a:endParaRPr lang="en-US"/>
                    </a:p>
                  </a:txBody>
                  <a:tcPr/>
                </a:tc>
                <a:tc>
                  <a:txBody>
                    <a:bodyPr/>
                    <a:lstStyle/>
                    <a:p>
                      <a:pPr marL="0" marR="0" lvl="0" indent="0" algn="l" rtl="0">
                        <a:spcBef>
                          <a:spcPts val="0"/>
                        </a:spcBef>
                        <a:spcAft>
                          <a:spcPts val="0"/>
                        </a:spcAft>
                        <a:buClr>
                          <a:schemeClr val="dk1"/>
                        </a:buClr>
                        <a:buSzPts val="1700"/>
                        <a:buFont typeface="Arial"/>
                        <a:buNone/>
                      </a:pP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530600">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employee_id</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department</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sale_amount</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530600">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1</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HR</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580,000</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30600">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2</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HR</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525,000</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530600">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3</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IT</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810,000</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530600">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4</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IT</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190,000</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530600">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5</a:t>
                      </a:r>
                      <a:endParaRPr sz="1700" b="0" i="0" u="none" strike="noStrike" cap="none">
                        <a:solidFill>
                          <a:schemeClr val="dk1"/>
                        </a:solidFill>
                        <a:latin typeface="Arial"/>
                        <a:ea typeface="Arial"/>
                        <a:cs typeface="Arial"/>
                        <a:sym typeface="Arial"/>
                      </a:endParaRPr>
                    </a:p>
                  </a:txBody>
                  <a:tcPr marL="90600" marR="13425" marT="25875" marB="194125" anchor="b">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Clr>
                          <a:schemeClr val="dk1"/>
                        </a:buClr>
                        <a:buSzPts val="1700"/>
                        <a:buFont typeface="Arial"/>
                        <a:buNone/>
                      </a:pPr>
                      <a:r>
                        <a:rPr lang="en-US" sz="1700" u="none" strike="noStrike" cap="none">
                          <a:solidFill>
                            <a:schemeClr val="dk1"/>
                          </a:solidFill>
                        </a:rPr>
                        <a:t>Finance</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r" rtl="0">
                        <a:spcBef>
                          <a:spcPts val="0"/>
                        </a:spcBef>
                        <a:spcAft>
                          <a:spcPts val="0"/>
                        </a:spcAft>
                        <a:buClr>
                          <a:schemeClr val="dk1"/>
                        </a:buClr>
                        <a:buSzPts val="1700"/>
                        <a:buFont typeface="Arial"/>
                        <a:buNone/>
                      </a:pPr>
                      <a:r>
                        <a:rPr lang="en-US" sz="1700" u="none" strike="noStrike" cap="none">
                          <a:solidFill>
                            <a:schemeClr val="dk1"/>
                          </a:solidFill>
                        </a:rPr>
                        <a:t>500,000</a:t>
                      </a:r>
                      <a:endParaRPr sz="1700" b="0" i="0" u="none" strike="noStrike" cap="none">
                        <a:solidFill>
                          <a:schemeClr val="dk1"/>
                        </a:solidFill>
                        <a:latin typeface="Arial"/>
                        <a:ea typeface="Arial"/>
                        <a:cs typeface="Arial"/>
                        <a:sym typeface="Arial"/>
                      </a:endParaRPr>
                    </a:p>
                  </a:txBody>
                  <a:tcPr marL="90600" marR="13425" marT="25875" marB="1941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1"/>
        <p:cNvGrpSpPr/>
        <p:nvPr/>
      </p:nvGrpSpPr>
      <p:grpSpPr>
        <a:xfrm>
          <a:off x="0" y="0"/>
          <a:ext cx="0" cy="0"/>
          <a:chOff x="0" y="0"/>
          <a:chExt cx="0" cy="0"/>
        </a:xfrm>
      </p:grpSpPr>
      <p:sp>
        <p:nvSpPr>
          <p:cNvPr id="722" name="Google Shape;722;p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3" name="Google Shape;723;p44" descr="$PPTXTitle"/>
          <p:cNvSpPr txBox="1">
            <a:spLocks noGrp="1"/>
          </p:cNvSpPr>
          <p:nvPr>
            <p:ph type="title"/>
          </p:nvPr>
        </p:nvSpPr>
        <p:spPr>
          <a:xfrm>
            <a:off x="638881" y="417576"/>
            <a:ext cx="10909640" cy="1249394"/>
          </a:xfrm>
          <a:prstGeom prst="rect">
            <a:avLst/>
          </a:prstGeom>
          <a:noFill/>
          <a:ln>
            <a:noFill/>
          </a:ln>
        </p:spPr>
        <p:txBody>
          <a:bodyPr spcFirstLastPara="1" wrap="square" lIns="91425" tIns="45700" rIns="91425" bIns="45700" anchor="ctr" anchorCtr="0">
            <a:normAutofit/>
          </a:bodyPr>
          <a:lstStyle/>
          <a:p>
            <a:pPr marL="12700" lvl="0" indent="0" algn="ctr" rtl="0">
              <a:lnSpc>
                <a:spcPct val="90000"/>
              </a:lnSpc>
              <a:spcBef>
                <a:spcPts val="0"/>
              </a:spcBef>
              <a:spcAft>
                <a:spcPts val="0"/>
              </a:spcAft>
              <a:buClr>
                <a:schemeClr val="dk1"/>
              </a:buClr>
              <a:buSzPts val="6600"/>
              <a:buFont typeface="Play"/>
              <a:buNone/>
            </a:pPr>
            <a:r>
              <a:rPr lang="en-US" sz="6600">
                <a:solidFill>
                  <a:schemeClr val="dk1"/>
                </a:solidFill>
                <a:latin typeface="Play"/>
                <a:ea typeface="Play"/>
                <a:cs typeface="Play"/>
                <a:sym typeface="Play"/>
              </a:rPr>
              <a:t>Window Function </a:t>
            </a:r>
            <a:endParaRPr/>
          </a:p>
        </p:txBody>
      </p:sp>
      <p:sp>
        <p:nvSpPr>
          <p:cNvPr id="724" name="Google Shape;724;p44"/>
          <p:cNvSpPr/>
          <p:nvPr/>
        </p:nvSpPr>
        <p:spPr>
          <a:xfrm>
            <a:off x="3807702" y="1733454"/>
            <a:ext cx="4572000" cy="18288"/>
          </a:xfrm>
          <a:custGeom>
            <a:avLst/>
            <a:gdLst/>
            <a:ahLst/>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725" name="Google Shape;725;p44"/>
          <p:cNvGraphicFramePr/>
          <p:nvPr/>
        </p:nvGraphicFramePr>
        <p:xfrm>
          <a:off x="320040" y="2724972"/>
          <a:ext cx="3000000" cy="3000000"/>
        </p:xfrm>
        <a:graphic>
          <a:graphicData uri="http://schemas.openxmlformats.org/drawingml/2006/table">
            <a:tbl>
              <a:tblPr firstRow="1" bandRow="1">
                <a:noFill/>
                <a:tableStyleId>{F646AA23-0E02-4031-917B-29EA51141A64}</a:tableStyleId>
              </a:tblPr>
              <a:tblGrid>
                <a:gridCol w="2575000">
                  <a:extLst>
                    <a:ext uri="{9D8B030D-6E8A-4147-A177-3AD203B41FA5}">
                      <a16:colId xmlns:a16="http://schemas.microsoft.com/office/drawing/2014/main" val="20000"/>
                    </a:ext>
                  </a:extLst>
                </a:gridCol>
                <a:gridCol w="2325225">
                  <a:extLst>
                    <a:ext uri="{9D8B030D-6E8A-4147-A177-3AD203B41FA5}">
                      <a16:colId xmlns:a16="http://schemas.microsoft.com/office/drawing/2014/main" val="20001"/>
                    </a:ext>
                  </a:extLst>
                </a:gridCol>
                <a:gridCol w="2597700">
                  <a:extLst>
                    <a:ext uri="{9D8B030D-6E8A-4147-A177-3AD203B41FA5}">
                      <a16:colId xmlns:a16="http://schemas.microsoft.com/office/drawing/2014/main" val="20002"/>
                    </a:ext>
                  </a:extLst>
                </a:gridCol>
                <a:gridCol w="4050950">
                  <a:extLst>
                    <a:ext uri="{9D8B030D-6E8A-4147-A177-3AD203B41FA5}">
                      <a16:colId xmlns:a16="http://schemas.microsoft.com/office/drawing/2014/main" val="20003"/>
                    </a:ext>
                  </a:extLst>
                </a:gridCol>
              </a:tblGrid>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employee_id</a:t>
                      </a:r>
                      <a:endParaRPr sz="3200" b="1"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department</a:t>
                      </a:r>
                      <a:endParaRPr sz="3200" b="1"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sale_amount</a:t>
                      </a:r>
                      <a:endParaRPr sz="3200" b="1"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total_sales_per_dept</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0"/>
                  </a:ext>
                </a:extLst>
              </a:tr>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1</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HR</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580,000</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1,105,000</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1"/>
                  </a:ext>
                </a:extLst>
              </a:tr>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2</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HR</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525,000</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1,105,000</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2"/>
                  </a:ext>
                </a:extLst>
              </a:tr>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3</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IT</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810,000</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1,000,000</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3"/>
                  </a:ext>
                </a:extLst>
              </a:tr>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4</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IT</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190,000</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1,000,000</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4"/>
                  </a:ext>
                </a:extLst>
              </a:tr>
              <a:tr h="567225">
                <a:tc>
                  <a:txBody>
                    <a:bodyPr/>
                    <a:lstStyle/>
                    <a:p>
                      <a:pPr marL="0" marR="0" lvl="0" indent="0" algn="ctr" rtl="0">
                        <a:spcBef>
                          <a:spcPts val="0"/>
                        </a:spcBef>
                        <a:spcAft>
                          <a:spcPts val="0"/>
                        </a:spcAft>
                        <a:buClr>
                          <a:schemeClr val="dk1"/>
                        </a:buClr>
                        <a:buSzPts val="3200"/>
                        <a:buFont typeface="Arial"/>
                        <a:buNone/>
                      </a:pPr>
                      <a:r>
                        <a:rPr lang="en-US" sz="3200" u="none" strike="noStrike" cap="none"/>
                        <a:t>5</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Finance</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500,000</a:t>
                      </a:r>
                      <a:endParaRPr sz="3200" b="0" i="0" u="none" strike="noStrike" cap="none">
                        <a:solidFill>
                          <a:srgbClr val="000000"/>
                        </a:solidFill>
                        <a:latin typeface="Arial"/>
                        <a:ea typeface="Arial"/>
                        <a:cs typeface="Arial"/>
                        <a:sym typeface="Arial"/>
                      </a:endParaRPr>
                    </a:p>
                  </a:txBody>
                  <a:tcPr marL="11350" marR="11350" marT="11350" marB="0" anchor="ctr"/>
                </a:tc>
                <a:tc>
                  <a:txBody>
                    <a:bodyPr/>
                    <a:lstStyle/>
                    <a:p>
                      <a:pPr marL="0" marR="0" lvl="0" indent="0" algn="ctr" rtl="0">
                        <a:spcBef>
                          <a:spcPts val="0"/>
                        </a:spcBef>
                        <a:spcAft>
                          <a:spcPts val="0"/>
                        </a:spcAft>
                        <a:buClr>
                          <a:schemeClr val="dk1"/>
                        </a:buClr>
                        <a:buSzPts val="3200"/>
                        <a:buFont typeface="Arial"/>
                        <a:buNone/>
                      </a:pPr>
                      <a:r>
                        <a:rPr lang="en-US" sz="3200" u="none" strike="noStrike" cap="none"/>
                        <a:t>500,000</a:t>
                      </a:r>
                      <a:endParaRPr sz="3200" b="1" i="0" u="none" strike="noStrike" cap="none">
                        <a:solidFill>
                          <a:srgbClr val="000000"/>
                        </a:solidFill>
                        <a:latin typeface="Arial"/>
                        <a:ea typeface="Arial"/>
                        <a:cs typeface="Arial"/>
                        <a:sym typeface="Arial"/>
                      </a:endParaRPr>
                    </a:p>
                  </a:txBody>
                  <a:tcPr marL="11350" marR="11350" marT="1135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45" descr="$PPTXTitle"/>
          <p:cNvSpPr txBox="1">
            <a:spLocks noGrp="1"/>
          </p:cNvSpPr>
          <p:nvPr>
            <p:ph type="title"/>
          </p:nvPr>
        </p:nvSpPr>
        <p:spPr>
          <a:xfrm>
            <a:off x="5022341" y="580389"/>
            <a:ext cx="2150110"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Shuffling</a:t>
            </a:r>
            <a:endParaRPr/>
          </a:p>
        </p:txBody>
      </p:sp>
      <p:grpSp>
        <p:nvGrpSpPr>
          <p:cNvPr id="731" name="Google Shape;731;p45"/>
          <p:cNvGrpSpPr/>
          <p:nvPr/>
        </p:nvGrpSpPr>
        <p:grpSpPr>
          <a:xfrm>
            <a:off x="4857750" y="3252724"/>
            <a:ext cx="2457450" cy="589280"/>
            <a:chOff x="4857750" y="3252724"/>
            <a:chExt cx="2457450" cy="589280"/>
          </a:xfrm>
        </p:grpSpPr>
        <p:pic>
          <p:nvPicPr>
            <p:cNvPr id="732" name="Google Shape;732;p45"/>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733" name="Google Shape;733;p45"/>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45"/>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8"/>
        <p:cNvGrpSpPr/>
        <p:nvPr/>
      </p:nvGrpSpPr>
      <p:grpSpPr>
        <a:xfrm>
          <a:off x="0" y="0"/>
          <a:ext cx="0" cy="0"/>
          <a:chOff x="0" y="0"/>
          <a:chExt cx="0" cy="0"/>
        </a:xfrm>
      </p:grpSpPr>
      <p:sp>
        <p:nvSpPr>
          <p:cNvPr id="739" name="Google Shape;739;p4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0" name="Google Shape;740;p46"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IV. Join Pattern</a:t>
            </a:r>
            <a:endParaRPr/>
          </a:p>
        </p:txBody>
      </p:sp>
      <p:grpSp>
        <p:nvGrpSpPr>
          <p:cNvPr id="741" name="Google Shape;741;p46"/>
          <p:cNvGrpSpPr/>
          <p:nvPr/>
        </p:nvGrpSpPr>
        <p:grpSpPr>
          <a:xfrm>
            <a:off x="-2" y="1998368"/>
            <a:ext cx="11695083" cy="782176"/>
            <a:chOff x="-2" y="1998368"/>
            <a:chExt cx="11695083" cy="782176"/>
          </a:xfrm>
        </p:grpSpPr>
        <p:sp>
          <p:nvSpPr>
            <p:cNvPr id="742" name="Google Shape;742;p46"/>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3" name="Google Shape;743;p46"/>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744" name="Google Shape;744;p46"/>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5" name="Google Shape;745;p46"/>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The SQL </a:t>
            </a:r>
            <a:r>
              <a:rPr lang="en-US" sz="2000" b="1">
                <a:solidFill>
                  <a:schemeClr val="dk1"/>
                </a:solidFill>
                <a:latin typeface="Arial"/>
                <a:ea typeface="Arial"/>
                <a:cs typeface="Arial"/>
                <a:sym typeface="Arial"/>
              </a:rPr>
              <a:t>Joins </a:t>
            </a:r>
            <a:r>
              <a:rPr lang="en-US" sz="2000">
                <a:solidFill>
                  <a:schemeClr val="dk1"/>
                </a:solidFill>
                <a:latin typeface="Arial"/>
                <a:ea typeface="Arial"/>
                <a:cs typeface="Arial"/>
                <a:sym typeface="Arial"/>
              </a:rPr>
              <a:t>clause is used to combine records from two or more tables in a database</a:t>
            </a:r>
            <a:endParaRPr sz="2000">
              <a:solidFill>
                <a:schemeClr val="dk1"/>
              </a:solidFill>
              <a:latin typeface="Arial"/>
              <a:ea typeface="Arial"/>
              <a:cs typeface="Arial"/>
              <a:sym typeface="Arial"/>
            </a:endParaRPr>
          </a:p>
          <a:p>
            <a:pPr marL="12700" marR="0" lvl="0" indent="-12700" algn="l" rtl="0">
              <a:lnSpc>
                <a:spcPct val="90000"/>
              </a:lnSpc>
              <a:spcBef>
                <a:spcPts val="360"/>
              </a:spcBef>
              <a:spcAft>
                <a:spcPts val="0"/>
              </a:spcAft>
              <a:buClr>
                <a:schemeClr val="dk1"/>
              </a:buClr>
              <a:buSzPts val="2000"/>
              <a:buFont typeface="Arial"/>
              <a:buChar char="•"/>
            </a:pPr>
            <a:r>
              <a:rPr lang="en-US" sz="2000">
                <a:solidFill>
                  <a:schemeClr val="dk1"/>
                </a:solidFill>
                <a:latin typeface="Arial"/>
                <a:ea typeface="Arial"/>
                <a:cs typeface="Arial"/>
                <a:sym typeface="Arial"/>
              </a:rPr>
              <a:t>∗  Joins are possibly one of the most complex operations one can execute in MapReduce</a:t>
            </a:r>
            <a:endParaRPr sz="2000">
              <a:solidFill>
                <a:schemeClr val="dk1"/>
              </a:solidFill>
              <a:latin typeface="Arial"/>
              <a:ea typeface="Arial"/>
              <a:cs typeface="Arial"/>
              <a:sym typeface="Arial"/>
            </a:endParaRPr>
          </a:p>
          <a:p>
            <a:pPr marL="286385" marR="423545" lvl="0" indent="-228600" algn="l" rtl="0">
              <a:lnSpc>
                <a:spcPct val="90000"/>
              </a:lnSpc>
              <a:spcBef>
                <a:spcPts val="635"/>
              </a:spcBef>
              <a:spcAft>
                <a:spcPts val="0"/>
              </a:spcAft>
              <a:buClr>
                <a:schemeClr val="dk1"/>
              </a:buClr>
              <a:buSzPts val="2000"/>
              <a:buFont typeface="Arial"/>
              <a:buChar char="•"/>
            </a:pPr>
            <a:r>
              <a:rPr lang="en-US" sz="2000">
                <a:solidFill>
                  <a:schemeClr val="dk1"/>
                </a:solidFill>
                <a:latin typeface="Arial"/>
                <a:ea typeface="Arial"/>
                <a:cs typeface="Arial"/>
                <a:sym typeface="Arial"/>
              </a:rPr>
              <a:t>∗ MapReduce is very good at processing large data sets by looking at every record or group in isolation, so joining two very large data sets together does not fit into the paradigm gracefully</a:t>
            </a:r>
            <a:endParaRPr sz="2000">
              <a:solidFill>
                <a:schemeClr val="dk1"/>
              </a:solidFill>
              <a:latin typeface="Arial"/>
              <a:ea typeface="Arial"/>
              <a:cs typeface="Arial"/>
              <a:sym typeface="Arial"/>
            </a:endParaRPr>
          </a:p>
          <a:p>
            <a:pPr marL="12700" marR="0" lvl="0" indent="-12700" algn="l" rtl="0">
              <a:lnSpc>
                <a:spcPct val="90000"/>
              </a:lnSpc>
              <a:spcBef>
                <a:spcPts val="675"/>
              </a:spcBef>
              <a:spcAft>
                <a:spcPts val="0"/>
              </a:spcAft>
              <a:buClr>
                <a:schemeClr val="dk1"/>
              </a:buClr>
              <a:buSzPts val="2000"/>
              <a:buFont typeface="Arial"/>
              <a:buChar char="•"/>
            </a:pPr>
            <a:r>
              <a:rPr lang="en-US" sz="2000">
                <a:solidFill>
                  <a:schemeClr val="dk1"/>
                </a:solidFill>
                <a:latin typeface="Arial"/>
                <a:ea typeface="Arial"/>
                <a:cs typeface="Arial"/>
                <a:sym typeface="Arial"/>
              </a:rPr>
              <a:t>∗	We need to know what data set a record came from in order to process it correctly</a:t>
            </a:r>
            <a:endParaRPr sz="2000">
              <a:solidFill>
                <a:schemeClr val="dk1"/>
              </a:solidFill>
              <a:latin typeface="Arial"/>
              <a:ea typeface="Arial"/>
              <a:cs typeface="Arial"/>
              <a:sym typeface="Arial"/>
            </a:endParaRPr>
          </a:p>
          <a:p>
            <a:pPr marL="12700" marR="0" lvl="0" indent="-12700" algn="l" rtl="0">
              <a:lnSpc>
                <a:spcPct val="90000"/>
              </a:lnSpc>
              <a:spcBef>
                <a:spcPts val="495"/>
              </a:spcBef>
              <a:spcAft>
                <a:spcPts val="0"/>
              </a:spcAft>
              <a:buClr>
                <a:schemeClr val="dk1"/>
              </a:buClr>
              <a:buSzPts val="2000"/>
              <a:buFont typeface="Arial"/>
              <a:buChar char="•"/>
            </a:pPr>
            <a:r>
              <a:rPr lang="en-US" sz="2000">
                <a:solidFill>
                  <a:schemeClr val="dk1"/>
                </a:solidFill>
                <a:latin typeface="Arial"/>
                <a:ea typeface="Arial"/>
                <a:cs typeface="Arial"/>
                <a:sym typeface="Arial"/>
              </a:rPr>
              <a:t>∗	Network bandwidth is a very important resource and joins have a tendency to use a lot</a:t>
            </a:r>
            <a:endParaRPr sz="2000">
              <a:solidFill>
                <a:schemeClr val="dk1"/>
              </a:solidFill>
              <a:latin typeface="Arial"/>
              <a:ea typeface="Arial"/>
              <a:cs typeface="Arial"/>
              <a:sym typeface="Arial"/>
            </a:endParaRPr>
          </a:p>
          <a:p>
            <a:pPr marL="12700" marR="0" lvl="0" indent="-12700" algn="l" rtl="0">
              <a:lnSpc>
                <a:spcPct val="90000"/>
              </a:lnSpc>
              <a:spcBef>
                <a:spcPts val="360"/>
              </a:spcBef>
              <a:spcAft>
                <a:spcPts val="0"/>
              </a:spcAft>
              <a:buClr>
                <a:schemeClr val="dk1"/>
              </a:buClr>
              <a:buSzPts val="2000"/>
              <a:buFont typeface="Arial"/>
              <a:buChar char="•"/>
            </a:pPr>
            <a:r>
              <a:rPr lang="en-US" sz="2000">
                <a:solidFill>
                  <a:schemeClr val="dk1"/>
                </a:solidFill>
                <a:latin typeface="Arial"/>
                <a:ea typeface="Arial"/>
                <a:cs typeface="Arial"/>
                <a:sym typeface="Arial"/>
              </a:rPr>
              <a:t>∗	Patterns</a:t>
            </a:r>
            <a:endParaRPr sz="2000">
              <a:solidFill>
                <a:schemeClr val="dk1"/>
              </a:solidFill>
              <a:latin typeface="Arial"/>
              <a:ea typeface="Arial"/>
              <a:cs typeface="Arial"/>
              <a:sym typeface="Arial"/>
            </a:endParaRPr>
          </a:p>
          <a:p>
            <a:pPr marL="314325" marR="0" lvl="0" indent="-228600" algn="l" rtl="0">
              <a:lnSpc>
                <a:spcPct val="90000"/>
              </a:lnSpc>
              <a:spcBef>
                <a:spcPts val="434"/>
              </a:spcBef>
              <a:spcAft>
                <a:spcPts val="0"/>
              </a:spcAft>
              <a:buClr>
                <a:schemeClr val="dk1"/>
              </a:buClr>
              <a:buSzPts val="2000"/>
              <a:buFont typeface="Arial"/>
              <a:buChar char="•"/>
            </a:pPr>
            <a:r>
              <a:rPr lang="en-US" sz="2000">
                <a:solidFill>
                  <a:schemeClr val="dk1"/>
                </a:solidFill>
                <a:latin typeface="Arial"/>
                <a:ea typeface="Arial"/>
                <a:cs typeface="Arial"/>
                <a:sym typeface="Arial"/>
              </a:rPr>
              <a:t>∗	Reduce Side Join</a:t>
            </a:r>
            <a:endParaRPr sz="2000">
              <a:solidFill>
                <a:schemeClr val="dk1"/>
              </a:solidFill>
              <a:latin typeface="Arial"/>
              <a:ea typeface="Arial"/>
              <a:cs typeface="Arial"/>
              <a:sym typeface="Arial"/>
            </a:endParaRPr>
          </a:p>
          <a:p>
            <a:pPr marL="314325" marR="0" lvl="0" indent="-228600" algn="l" rtl="0">
              <a:lnSpc>
                <a:spcPct val="90000"/>
              </a:lnSpc>
              <a:spcBef>
                <a:spcPts val="409"/>
              </a:spcBef>
              <a:spcAft>
                <a:spcPts val="0"/>
              </a:spcAft>
              <a:buClr>
                <a:schemeClr val="dk1"/>
              </a:buClr>
              <a:buSzPts val="2000"/>
              <a:buFont typeface="Arial"/>
              <a:buChar char="•"/>
            </a:pPr>
            <a:r>
              <a:rPr lang="en-US" sz="2000">
                <a:solidFill>
                  <a:schemeClr val="dk1"/>
                </a:solidFill>
                <a:latin typeface="Arial"/>
                <a:ea typeface="Arial"/>
                <a:cs typeface="Arial"/>
                <a:sym typeface="Arial"/>
              </a:rPr>
              <a:t>∗	Replicated Join</a:t>
            </a:r>
            <a:endParaRPr sz="20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7"/>
          <p:cNvSpPr txBox="1"/>
          <p:nvPr/>
        </p:nvSpPr>
        <p:spPr>
          <a:xfrm>
            <a:off x="4718050" y="2000250"/>
            <a:ext cx="12560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30B6FC"/>
                </a:solidFill>
                <a:latin typeface="Arimo"/>
                <a:ea typeface="Arimo"/>
                <a:cs typeface="Arimo"/>
                <a:sym typeface="Arimo"/>
              </a:rPr>
              <a:t>∗	</a:t>
            </a:r>
            <a:r>
              <a:rPr lang="en-US" sz="1800">
                <a:solidFill>
                  <a:srgbClr val="063D86"/>
                </a:solidFill>
                <a:latin typeface="Arial"/>
                <a:ea typeface="Arial"/>
                <a:cs typeface="Arial"/>
                <a:sym typeface="Arial"/>
              </a:rPr>
              <a:t>Inner Join</a:t>
            </a:r>
            <a:endParaRPr sz="1800">
              <a:solidFill>
                <a:schemeClr val="dk1"/>
              </a:solidFill>
              <a:latin typeface="Arial"/>
              <a:ea typeface="Arial"/>
              <a:cs typeface="Arial"/>
              <a:sym typeface="Arial"/>
            </a:endParaRPr>
          </a:p>
        </p:txBody>
      </p:sp>
      <p:sp>
        <p:nvSpPr>
          <p:cNvPr id="751" name="Google Shape;751;p47"/>
          <p:cNvSpPr txBox="1"/>
          <p:nvPr/>
        </p:nvSpPr>
        <p:spPr>
          <a:xfrm>
            <a:off x="4718050" y="3311144"/>
            <a:ext cx="17481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30B6FC"/>
                </a:solidFill>
                <a:latin typeface="Arimo"/>
                <a:ea typeface="Arimo"/>
                <a:cs typeface="Arimo"/>
                <a:sym typeface="Arimo"/>
              </a:rPr>
              <a:t>∗	</a:t>
            </a:r>
            <a:r>
              <a:rPr lang="en-US" sz="1800">
                <a:solidFill>
                  <a:srgbClr val="063D86"/>
                </a:solidFill>
                <a:latin typeface="Arial"/>
                <a:ea typeface="Arial"/>
                <a:cs typeface="Arial"/>
                <a:sym typeface="Arial"/>
              </a:rPr>
              <a:t>Left Outer Join</a:t>
            </a:r>
            <a:endParaRPr sz="1800">
              <a:solidFill>
                <a:schemeClr val="dk1"/>
              </a:solidFill>
              <a:latin typeface="Arial"/>
              <a:ea typeface="Arial"/>
              <a:cs typeface="Arial"/>
              <a:sym typeface="Arial"/>
            </a:endParaRPr>
          </a:p>
        </p:txBody>
      </p:sp>
      <p:sp>
        <p:nvSpPr>
          <p:cNvPr id="752" name="Google Shape;752;p47"/>
          <p:cNvSpPr txBox="1"/>
          <p:nvPr/>
        </p:nvSpPr>
        <p:spPr>
          <a:xfrm>
            <a:off x="4718050" y="5110098"/>
            <a:ext cx="18745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30B6FC"/>
                </a:solidFill>
                <a:latin typeface="Arimo"/>
                <a:ea typeface="Arimo"/>
                <a:cs typeface="Arimo"/>
                <a:sym typeface="Arimo"/>
              </a:rPr>
              <a:t>∗	</a:t>
            </a:r>
            <a:r>
              <a:rPr lang="en-US" sz="1800">
                <a:solidFill>
                  <a:srgbClr val="063D86"/>
                </a:solidFill>
                <a:latin typeface="Arial"/>
                <a:ea typeface="Arial"/>
                <a:cs typeface="Arial"/>
                <a:sym typeface="Arial"/>
              </a:rPr>
              <a:t>Right Outer Join</a:t>
            </a:r>
            <a:endParaRPr sz="1800">
              <a:solidFill>
                <a:schemeClr val="dk1"/>
              </a:solidFill>
              <a:latin typeface="Arial"/>
              <a:ea typeface="Arial"/>
              <a:cs typeface="Arial"/>
              <a:sym typeface="Arial"/>
            </a:endParaRPr>
          </a:p>
        </p:txBody>
      </p:sp>
      <p:sp>
        <p:nvSpPr>
          <p:cNvPr id="753" name="Google Shape;753;p47"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pic>
        <p:nvPicPr>
          <p:cNvPr id="754" name="Google Shape;754;p47"/>
          <p:cNvPicPr preferRelativeResize="0"/>
          <p:nvPr/>
        </p:nvPicPr>
        <p:blipFill rotWithShape="1">
          <a:blip r:embed="rId3">
            <a:alphaModFix/>
          </a:blip>
          <a:srcRect/>
          <a:stretch/>
        </p:blipFill>
        <p:spPr>
          <a:xfrm>
            <a:off x="609600" y="2688335"/>
            <a:ext cx="2324100" cy="1524000"/>
          </a:xfrm>
          <a:prstGeom prst="rect">
            <a:avLst/>
          </a:prstGeom>
          <a:noFill/>
          <a:ln>
            <a:noFill/>
          </a:ln>
        </p:spPr>
      </p:pic>
      <p:pic>
        <p:nvPicPr>
          <p:cNvPr id="755" name="Google Shape;755;p47"/>
          <p:cNvPicPr preferRelativeResize="0"/>
          <p:nvPr/>
        </p:nvPicPr>
        <p:blipFill rotWithShape="1">
          <a:blip r:embed="rId4">
            <a:alphaModFix/>
          </a:blip>
          <a:srcRect/>
          <a:stretch/>
        </p:blipFill>
        <p:spPr>
          <a:xfrm>
            <a:off x="704839" y="4298043"/>
            <a:ext cx="3171469" cy="1647483"/>
          </a:xfrm>
          <a:prstGeom prst="rect">
            <a:avLst/>
          </a:prstGeom>
          <a:noFill/>
          <a:ln>
            <a:noFill/>
          </a:ln>
        </p:spPr>
      </p:pic>
      <p:pic>
        <p:nvPicPr>
          <p:cNvPr id="756" name="Google Shape;756;p47"/>
          <p:cNvPicPr preferRelativeResize="0"/>
          <p:nvPr/>
        </p:nvPicPr>
        <p:blipFill rotWithShape="1">
          <a:blip r:embed="rId5">
            <a:alphaModFix/>
          </a:blip>
          <a:srcRect/>
          <a:stretch/>
        </p:blipFill>
        <p:spPr>
          <a:xfrm>
            <a:off x="4956047" y="2346960"/>
            <a:ext cx="4213859" cy="970788"/>
          </a:xfrm>
          <a:prstGeom prst="rect">
            <a:avLst/>
          </a:prstGeom>
          <a:noFill/>
          <a:ln>
            <a:noFill/>
          </a:ln>
        </p:spPr>
      </p:pic>
      <p:pic>
        <p:nvPicPr>
          <p:cNvPr id="757" name="Google Shape;757;p47"/>
          <p:cNvPicPr preferRelativeResize="0"/>
          <p:nvPr/>
        </p:nvPicPr>
        <p:blipFill rotWithShape="1">
          <a:blip r:embed="rId6">
            <a:alphaModFix/>
          </a:blip>
          <a:srcRect/>
          <a:stretch/>
        </p:blipFill>
        <p:spPr>
          <a:xfrm>
            <a:off x="4956047" y="3572255"/>
            <a:ext cx="4847844" cy="1572768"/>
          </a:xfrm>
          <a:prstGeom prst="rect">
            <a:avLst/>
          </a:prstGeom>
          <a:noFill/>
          <a:ln>
            <a:noFill/>
          </a:ln>
        </p:spPr>
      </p:pic>
      <p:pic>
        <p:nvPicPr>
          <p:cNvPr id="758" name="Google Shape;758;p47"/>
          <p:cNvPicPr preferRelativeResize="0"/>
          <p:nvPr/>
        </p:nvPicPr>
        <p:blipFill rotWithShape="1">
          <a:blip r:embed="rId7">
            <a:alphaModFix/>
          </a:blip>
          <a:srcRect/>
          <a:stretch/>
        </p:blipFill>
        <p:spPr>
          <a:xfrm>
            <a:off x="4999482" y="5503900"/>
            <a:ext cx="4734306" cy="125163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8"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pic>
        <p:nvPicPr>
          <p:cNvPr id="764" name="Google Shape;764;p48"/>
          <p:cNvPicPr preferRelativeResize="0"/>
          <p:nvPr/>
        </p:nvPicPr>
        <p:blipFill rotWithShape="1">
          <a:blip r:embed="rId3">
            <a:alphaModFix/>
          </a:blip>
          <a:srcRect/>
          <a:stretch/>
        </p:blipFill>
        <p:spPr>
          <a:xfrm>
            <a:off x="4965191" y="2371344"/>
            <a:ext cx="4853940" cy="1775459"/>
          </a:xfrm>
          <a:prstGeom prst="rect">
            <a:avLst/>
          </a:prstGeom>
          <a:noFill/>
          <a:ln>
            <a:noFill/>
          </a:ln>
        </p:spPr>
      </p:pic>
      <p:pic>
        <p:nvPicPr>
          <p:cNvPr id="765" name="Google Shape;765;p48"/>
          <p:cNvPicPr preferRelativeResize="0"/>
          <p:nvPr/>
        </p:nvPicPr>
        <p:blipFill rotWithShape="1">
          <a:blip r:embed="rId4">
            <a:alphaModFix/>
          </a:blip>
          <a:srcRect/>
          <a:stretch/>
        </p:blipFill>
        <p:spPr>
          <a:xfrm>
            <a:off x="4987255" y="5439328"/>
            <a:ext cx="4809813" cy="852555"/>
          </a:xfrm>
          <a:prstGeom prst="rect">
            <a:avLst/>
          </a:prstGeom>
          <a:noFill/>
          <a:ln>
            <a:noFill/>
          </a:ln>
        </p:spPr>
      </p:pic>
      <p:pic>
        <p:nvPicPr>
          <p:cNvPr id="766" name="Google Shape;766;p48"/>
          <p:cNvPicPr preferRelativeResize="0"/>
          <p:nvPr/>
        </p:nvPicPr>
        <p:blipFill rotWithShape="1">
          <a:blip r:embed="rId5">
            <a:alphaModFix/>
          </a:blip>
          <a:srcRect/>
          <a:stretch/>
        </p:blipFill>
        <p:spPr>
          <a:xfrm>
            <a:off x="609600" y="2688335"/>
            <a:ext cx="2324100" cy="1524000"/>
          </a:xfrm>
          <a:prstGeom prst="rect">
            <a:avLst/>
          </a:prstGeom>
          <a:noFill/>
          <a:ln>
            <a:noFill/>
          </a:ln>
        </p:spPr>
      </p:pic>
      <p:pic>
        <p:nvPicPr>
          <p:cNvPr id="767" name="Google Shape;767;p48"/>
          <p:cNvPicPr preferRelativeResize="0"/>
          <p:nvPr/>
        </p:nvPicPr>
        <p:blipFill rotWithShape="1">
          <a:blip r:embed="rId6">
            <a:alphaModFix/>
          </a:blip>
          <a:srcRect/>
          <a:stretch/>
        </p:blipFill>
        <p:spPr>
          <a:xfrm>
            <a:off x="704839" y="4298043"/>
            <a:ext cx="3171469" cy="1647483"/>
          </a:xfrm>
          <a:prstGeom prst="rect">
            <a:avLst/>
          </a:prstGeom>
          <a:noFill/>
          <a:ln>
            <a:noFill/>
          </a:ln>
        </p:spPr>
      </p:pic>
      <p:sp>
        <p:nvSpPr>
          <p:cNvPr id="768" name="Google Shape;768;p48"/>
          <p:cNvSpPr txBox="1"/>
          <p:nvPr/>
        </p:nvSpPr>
        <p:spPr>
          <a:xfrm>
            <a:off x="4718050" y="2000250"/>
            <a:ext cx="169481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30B6FC"/>
                </a:solidFill>
                <a:latin typeface="Arimo"/>
                <a:ea typeface="Arimo"/>
                <a:cs typeface="Arimo"/>
                <a:sym typeface="Arimo"/>
              </a:rPr>
              <a:t>∗	</a:t>
            </a:r>
            <a:r>
              <a:rPr lang="en-US" sz="1800">
                <a:solidFill>
                  <a:srgbClr val="063D86"/>
                </a:solidFill>
                <a:latin typeface="Arial"/>
                <a:ea typeface="Arial"/>
                <a:cs typeface="Arial"/>
                <a:sym typeface="Arial"/>
              </a:rPr>
              <a:t>Full Outer Join</a:t>
            </a:r>
            <a:endParaRPr sz="1800">
              <a:solidFill>
                <a:schemeClr val="dk1"/>
              </a:solidFill>
              <a:latin typeface="Arial"/>
              <a:ea typeface="Arial"/>
              <a:cs typeface="Arial"/>
              <a:sym typeface="Arial"/>
            </a:endParaRPr>
          </a:p>
        </p:txBody>
      </p:sp>
      <p:sp>
        <p:nvSpPr>
          <p:cNvPr id="769" name="Google Shape;769;p48"/>
          <p:cNvSpPr txBox="1"/>
          <p:nvPr/>
        </p:nvSpPr>
        <p:spPr>
          <a:xfrm>
            <a:off x="4718050" y="4301997"/>
            <a:ext cx="5511165" cy="10344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30B6FC"/>
                </a:solidFill>
                <a:latin typeface="Arimo"/>
                <a:ea typeface="Arimo"/>
                <a:cs typeface="Arimo"/>
                <a:sym typeface="Arimo"/>
              </a:rPr>
              <a:t>∗	</a:t>
            </a:r>
            <a:r>
              <a:rPr lang="en-US" sz="1800">
                <a:solidFill>
                  <a:srgbClr val="063D86"/>
                </a:solidFill>
                <a:latin typeface="Arial"/>
                <a:ea typeface="Arial"/>
                <a:cs typeface="Arial"/>
                <a:sym typeface="Arial"/>
              </a:rPr>
              <a:t>Anti Join</a:t>
            </a:r>
            <a:endParaRPr sz="1800">
              <a:solidFill>
                <a:schemeClr val="dk1"/>
              </a:solidFill>
              <a:latin typeface="Arial"/>
              <a:ea typeface="Arial"/>
              <a:cs typeface="Arial"/>
              <a:sym typeface="Arial"/>
            </a:endParaRPr>
          </a:p>
          <a:p>
            <a:pPr marL="588645" marR="5080" lvl="0" indent="-274320" algn="l" rtl="0">
              <a:lnSpc>
                <a:spcPct val="100000"/>
              </a:lnSpc>
              <a:spcBef>
                <a:spcPts val="20"/>
              </a:spcBef>
              <a:spcAft>
                <a:spcPts val="0"/>
              </a:spcAft>
              <a:buNone/>
            </a:pPr>
            <a:r>
              <a:rPr lang="en-US" sz="1600">
                <a:solidFill>
                  <a:srgbClr val="30B6FC"/>
                </a:solidFill>
                <a:latin typeface="Arimo"/>
                <a:ea typeface="Arimo"/>
                <a:cs typeface="Arimo"/>
                <a:sym typeface="Arimo"/>
              </a:rPr>
              <a:t>∗	</a:t>
            </a:r>
            <a:r>
              <a:rPr lang="en-US" sz="1600">
                <a:solidFill>
                  <a:srgbClr val="063D86"/>
                </a:solidFill>
                <a:latin typeface="Arial"/>
                <a:ea typeface="Arial"/>
                <a:cs typeface="Arial"/>
                <a:sym typeface="Arial"/>
              </a:rPr>
              <a:t>An anti join is a full outer join minus the inner join. That is, the resulting table contains only records that did not contain a match on f.</a:t>
            </a:r>
            <a:endParaRPr sz="1600">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49" descr="$PPTXTitle"/>
          <p:cNvSpPr txBox="1"/>
          <p:nvPr/>
        </p:nvSpPr>
        <p:spPr>
          <a:xfrm>
            <a:off x="2624835" y="580389"/>
            <a:ext cx="6942328" cy="696594"/>
          </a:xfrm>
          <a:prstGeom prst="rect">
            <a:avLst/>
          </a:prstGeom>
          <a:noFill/>
          <a:ln>
            <a:noFill/>
          </a:ln>
        </p:spPr>
        <p:txBody>
          <a:bodyPr spcFirstLastPara="1" wrap="square" lIns="0" tIns="0" rIns="0" bIns="0" anchor="t" anchorCtr="0">
            <a:normAutofit/>
          </a:bodyPr>
          <a:lstStyle/>
          <a:p>
            <a:pPr marL="12700" marR="0" lvl="0" indent="0" algn="l" rtl="0">
              <a:spcBef>
                <a:spcPts val="0"/>
              </a:spcBef>
              <a:spcAft>
                <a:spcPts val="0"/>
              </a:spcAft>
              <a:buNone/>
            </a:pPr>
            <a:r>
              <a:rPr lang="en-US" sz="4400" b="0" i="0">
                <a:solidFill>
                  <a:schemeClr val="lt1"/>
                </a:solidFill>
                <a:latin typeface="Arial"/>
                <a:ea typeface="Arial"/>
                <a:cs typeface="Arial"/>
                <a:sym typeface="Arial"/>
              </a:rPr>
              <a:t>Refresher on Joins</a:t>
            </a:r>
            <a:endParaRPr sz="4400" b="0" i="0">
              <a:solidFill>
                <a:schemeClr val="lt1"/>
              </a:solidFill>
              <a:latin typeface="Arial"/>
              <a:ea typeface="Arial"/>
              <a:cs typeface="Arial"/>
              <a:sym typeface="Arial"/>
            </a:endParaRPr>
          </a:p>
        </p:txBody>
      </p:sp>
      <p:graphicFrame>
        <p:nvGraphicFramePr>
          <p:cNvPr id="775" name="Google Shape;775;p49"/>
          <p:cNvGraphicFramePr/>
          <p:nvPr/>
        </p:nvGraphicFramePr>
        <p:xfrm>
          <a:off x="866773" y="2261235"/>
          <a:ext cx="3000000" cy="3000000"/>
        </p:xfrm>
        <a:graphic>
          <a:graphicData uri="http://schemas.openxmlformats.org/drawingml/2006/table">
            <a:tbl>
              <a:tblPr firstRow="1" bandRow="1">
                <a:noFill/>
                <a:tableStyleId>{85CE15A3-5152-4696-AD4B-9BD29868967D}</a:tableStyleId>
              </a:tblPr>
              <a:tblGrid>
                <a:gridCol w="1696400">
                  <a:extLst>
                    <a:ext uri="{9D8B030D-6E8A-4147-A177-3AD203B41FA5}">
                      <a16:colId xmlns:a16="http://schemas.microsoft.com/office/drawing/2014/main" val="20000"/>
                    </a:ext>
                  </a:extLst>
                </a:gridCol>
                <a:gridCol w="1396375">
                  <a:extLst>
                    <a:ext uri="{9D8B030D-6E8A-4147-A177-3AD203B41FA5}">
                      <a16:colId xmlns:a16="http://schemas.microsoft.com/office/drawing/2014/main" val="20001"/>
                    </a:ext>
                  </a:extLst>
                </a:gridCol>
                <a:gridCol w="1696400">
                  <a:extLst>
                    <a:ext uri="{9D8B030D-6E8A-4147-A177-3AD203B41FA5}">
                      <a16:colId xmlns:a16="http://schemas.microsoft.com/office/drawing/2014/main" val="20002"/>
                    </a:ext>
                  </a:extLst>
                </a:gridCol>
              </a:tblGrid>
              <a:tr h="631700">
                <a:tc>
                  <a:txBody>
                    <a:bodyPr/>
                    <a:lstStyle/>
                    <a:p>
                      <a:pPr marL="0" marR="0" lvl="0" indent="0" algn="ctr" rtl="0">
                        <a:spcBef>
                          <a:spcPts val="0"/>
                        </a:spcBef>
                        <a:spcAft>
                          <a:spcPts val="0"/>
                        </a:spcAft>
                        <a:buClr>
                          <a:schemeClr val="dk1"/>
                        </a:buClr>
                        <a:buSzPts val="3300"/>
                        <a:buFont typeface="Arial"/>
                        <a:buNone/>
                      </a:pPr>
                      <a:r>
                        <a:rPr lang="en-US" sz="3300" u="none" strike="noStrike" cap="none"/>
                        <a:t>emp_id</a:t>
                      </a:r>
                      <a:endParaRPr sz="3300" b="1"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ctr" rtl="0">
                        <a:spcBef>
                          <a:spcPts val="0"/>
                        </a:spcBef>
                        <a:spcAft>
                          <a:spcPts val="0"/>
                        </a:spcAft>
                        <a:buClr>
                          <a:schemeClr val="dk1"/>
                        </a:buClr>
                        <a:buSzPts val="3300"/>
                        <a:buFont typeface="Arial"/>
                        <a:buNone/>
                      </a:pPr>
                      <a:r>
                        <a:rPr lang="en-US" sz="3300" u="none" strike="noStrike" cap="none"/>
                        <a:t>name</a:t>
                      </a:r>
                      <a:endParaRPr sz="3300" b="1"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ctr" rtl="0">
                        <a:spcBef>
                          <a:spcPts val="0"/>
                        </a:spcBef>
                        <a:spcAft>
                          <a:spcPts val="0"/>
                        </a:spcAft>
                        <a:buClr>
                          <a:schemeClr val="dk1"/>
                        </a:buClr>
                        <a:buSzPts val="3300"/>
                        <a:buFont typeface="Arial"/>
                        <a:buNone/>
                      </a:pPr>
                      <a:r>
                        <a:rPr lang="en-US" sz="3300" u="none" strike="noStrike" cap="none"/>
                        <a:t>dept_id</a:t>
                      </a:r>
                      <a:endParaRPr sz="3300" b="1" i="0" u="none" strike="noStrike" cap="none">
                        <a:solidFill>
                          <a:srgbClr val="000000"/>
                        </a:solidFill>
                        <a:latin typeface="Arial"/>
                        <a:ea typeface="Arial"/>
                        <a:cs typeface="Arial"/>
                        <a:sym typeface="Arial"/>
                      </a:endParaRPr>
                    </a:p>
                  </a:txBody>
                  <a:tcPr marL="19050" marR="19050" marT="19050" marB="0" anchor="ctr"/>
                </a:tc>
                <a:extLst>
                  <a:ext uri="{0D108BD9-81ED-4DB2-BD59-A6C34878D82A}">
                    <a16:rowId xmlns:a16="http://schemas.microsoft.com/office/drawing/2014/main" val="10000"/>
                  </a:ext>
                </a:extLst>
              </a:tr>
              <a:tr h="631700">
                <a:tc>
                  <a:txBody>
                    <a:bodyPr/>
                    <a:lstStyle/>
                    <a:p>
                      <a:pPr marL="0" marR="0" lvl="0" indent="0" algn="r" rtl="0">
                        <a:spcBef>
                          <a:spcPts val="0"/>
                        </a:spcBef>
                        <a:spcAft>
                          <a:spcPts val="0"/>
                        </a:spcAft>
                        <a:buClr>
                          <a:schemeClr val="dk1"/>
                        </a:buClr>
                        <a:buSzPts val="3300"/>
                        <a:buFont typeface="Arial"/>
                        <a:buNone/>
                      </a:pPr>
                      <a:r>
                        <a:rPr lang="en-US" sz="3300" u="none" strike="noStrike" cap="none"/>
                        <a:t>1</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Alice</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r" rtl="0">
                        <a:spcBef>
                          <a:spcPts val="0"/>
                        </a:spcBef>
                        <a:spcAft>
                          <a:spcPts val="0"/>
                        </a:spcAft>
                        <a:buClr>
                          <a:schemeClr val="dk1"/>
                        </a:buClr>
                        <a:buSzPts val="3300"/>
                        <a:buFont typeface="Arial"/>
                        <a:buNone/>
                      </a:pPr>
                      <a:r>
                        <a:rPr lang="en-US" sz="3300" u="none" strike="noStrike" cap="none"/>
                        <a:t>1</a:t>
                      </a:r>
                      <a:endParaRPr sz="3300" b="0" i="0" u="none" strike="noStrike" cap="none">
                        <a:solidFill>
                          <a:srgbClr val="000000"/>
                        </a:solidFill>
                        <a:latin typeface="Arial"/>
                        <a:ea typeface="Arial"/>
                        <a:cs typeface="Arial"/>
                        <a:sym typeface="Arial"/>
                      </a:endParaRPr>
                    </a:p>
                  </a:txBody>
                  <a:tcPr marL="19050" marR="19050" marT="19050" marB="0" anchor="ctr"/>
                </a:tc>
                <a:extLst>
                  <a:ext uri="{0D108BD9-81ED-4DB2-BD59-A6C34878D82A}">
                    <a16:rowId xmlns:a16="http://schemas.microsoft.com/office/drawing/2014/main" val="10001"/>
                  </a:ext>
                </a:extLst>
              </a:tr>
              <a:tr h="631700">
                <a:tc>
                  <a:txBody>
                    <a:bodyPr/>
                    <a:lstStyle/>
                    <a:p>
                      <a:pPr marL="0" marR="0" lvl="0" indent="0" algn="r" rtl="0">
                        <a:spcBef>
                          <a:spcPts val="0"/>
                        </a:spcBef>
                        <a:spcAft>
                          <a:spcPts val="0"/>
                        </a:spcAft>
                        <a:buClr>
                          <a:schemeClr val="dk1"/>
                        </a:buClr>
                        <a:buSzPts val="3300"/>
                        <a:buFont typeface="Arial"/>
                        <a:buNone/>
                      </a:pPr>
                      <a:r>
                        <a:rPr lang="en-US" sz="3300" u="none" strike="noStrike" cap="none"/>
                        <a:t>2</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Bob</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r" rtl="0">
                        <a:spcBef>
                          <a:spcPts val="0"/>
                        </a:spcBef>
                        <a:spcAft>
                          <a:spcPts val="0"/>
                        </a:spcAft>
                        <a:buClr>
                          <a:schemeClr val="dk1"/>
                        </a:buClr>
                        <a:buSzPts val="3300"/>
                        <a:buFont typeface="Arial"/>
                        <a:buNone/>
                      </a:pPr>
                      <a:r>
                        <a:rPr lang="en-US" sz="3300" u="none" strike="noStrike" cap="none"/>
                        <a:t>2</a:t>
                      </a:r>
                      <a:endParaRPr sz="3300" b="0" i="0" u="none" strike="noStrike" cap="none">
                        <a:solidFill>
                          <a:srgbClr val="000000"/>
                        </a:solidFill>
                        <a:latin typeface="Arial"/>
                        <a:ea typeface="Arial"/>
                        <a:cs typeface="Arial"/>
                        <a:sym typeface="Arial"/>
                      </a:endParaRPr>
                    </a:p>
                  </a:txBody>
                  <a:tcPr marL="19050" marR="19050" marT="19050" marB="0" anchor="ctr"/>
                </a:tc>
                <a:extLst>
                  <a:ext uri="{0D108BD9-81ED-4DB2-BD59-A6C34878D82A}">
                    <a16:rowId xmlns:a16="http://schemas.microsoft.com/office/drawing/2014/main" val="10002"/>
                  </a:ext>
                </a:extLst>
              </a:tr>
              <a:tr h="631700">
                <a:tc>
                  <a:txBody>
                    <a:bodyPr/>
                    <a:lstStyle/>
                    <a:p>
                      <a:pPr marL="0" marR="0" lvl="0" indent="0" algn="r" rtl="0">
                        <a:spcBef>
                          <a:spcPts val="0"/>
                        </a:spcBef>
                        <a:spcAft>
                          <a:spcPts val="0"/>
                        </a:spcAft>
                        <a:buClr>
                          <a:schemeClr val="dk1"/>
                        </a:buClr>
                        <a:buSzPts val="3300"/>
                        <a:buFont typeface="Arial"/>
                        <a:buNone/>
                      </a:pPr>
                      <a:r>
                        <a:rPr lang="en-US" sz="3300" u="none" strike="noStrike" cap="none"/>
                        <a:t>3</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Carol</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NULL</a:t>
                      </a:r>
                      <a:endParaRPr sz="3300" b="0" i="0" u="none" strike="noStrike" cap="none">
                        <a:solidFill>
                          <a:srgbClr val="000000"/>
                        </a:solidFill>
                        <a:latin typeface="Arial"/>
                        <a:ea typeface="Arial"/>
                        <a:cs typeface="Arial"/>
                        <a:sym typeface="Arial"/>
                      </a:endParaRPr>
                    </a:p>
                  </a:txBody>
                  <a:tcPr marL="19050" marR="19050" marT="19050" marB="0" anchor="ctr"/>
                </a:tc>
                <a:extLst>
                  <a:ext uri="{0D108BD9-81ED-4DB2-BD59-A6C34878D82A}">
                    <a16:rowId xmlns:a16="http://schemas.microsoft.com/office/drawing/2014/main" val="10003"/>
                  </a:ext>
                </a:extLst>
              </a:tr>
              <a:tr h="631700">
                <a:tc>
                  <a:txBody>
                    <a:bodyPr/>
                    <a:lstStyle/>
                    <a:p>
                      <a:pPr marL="0" marR="0" lvl="0" indent="0" algn="r" rtl="0">
                        <a:spcBef>
                          <a:spcPts val="0"/>
                        </a:spcBef>
                        <a:spcAft>
                          <a:spcPts val="0"/>
                        </a:spcAft>
                        <a:buClr>
                          <a:schemeClr val="dk1"/>
                        </a:buClr>
                        <a:buSzPts val="3300"/>
                        <a:buFont typeface="Arial"/>
                        <a:buNone/>
                      </a:pPr>
                      <a:r>
                        <a:rPr lang="en-US" sz="3300" u="none" strike="noStrike" cap="none"/>
                        <a:t>4</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David</a:t>
                      </a:r>
                      <a:endParaRPr sz="3300" b="0" i="0" u="none" strike="noStrike" cap="none">
                        <a:solidFill>
                          <a:srgbClr val="000000"/>
                        </a:solidFill>
                        <a:latin typeface="Arial"/>
                        <a:ea typeface="Arial"/>
                        <a:cs typeface="Arial"/>
                        <a:sym typeface="Arial"/>
                      </a:endParaRPr>
                    </a:p>
                  </a:txBody>
                  <a:tcPr marL="19050" marR="19050" marT="19050" marB="0" anchor="ctr"/>
                </a:tc>
                <a:tc>
                  <a:txBody>
                    <a:bodyPr/>
                    <a:lstStyle/>
                    <a:p>
                      <a:pPr marL="0" marR="0" lvl="0" indent="0" algn="l" rtl="0">
                        <a:spcBef>
                          <a:spcPts val="0"/>
                        </a:spcBef>
                        <a:spcAft>
                          <a:spcPts val="0"/>
                        </a:spcAft>
                        <a:buClr>
                          <a:schemeClr val="dk1"/>
                        </a:buClr>
                        <a:buSzPts val="3300"/>
                        <a:buFont typeface="Arial"/>
                        <a:buNone/>
                      </a:pPr>
                      <a:r>
                        <a:rPr lang="en-US" sz="3300" u="none" strike="noStrike" cap="none"/>
                        <a:t>NULL</a:t>
                      </a:r>
                      <a:endParaRPr sz="3300" b="0" i="0" u="none" strike="noStrike" cap="none">
                        <a:solidFill>
                          <a:srgbClr val="000000"/>
                        </a:solidFill>
                        <a:latin typeface="Arial"/>
                        <a:ea typeface="Arial"/>
                        <a:cs typeface="Arial"/>
                        <a:sym typeface="Arial"/>
                      </a:endParaRPr>
                    </a:p>
                  </a:txBody>
                  <a:tcPr marL="19050" marR="19050" marT="19050" marB="0" anchor="ctr"/>
                </a:tc>
                <a:extLst>
                  <a:ext uri="{0D108BD9-81ED-4DB2-BD59-A6C34878D82A}">
                    <a16:rowId xmlns:a16="http://schemas.microsoft.com/office/drawing/2014/main" val="10004"/>
                  </a:ext>
                </a:extLst>
              </a:tr>
            </a:tbl>
          </a:graphicData>
        </a:graphic>
      </p:graphicFrame>
      <p:graphicFrame>
        <p:nvGraphicFramePr>
          <p:cNvPr id="776" name="Google Shape;776;p49"/>
          <p:cNvGraphicFramePr/>
          <p:nvPr/>
        </p:nvGraphicFramePr>
        <p:xfrm>
          <a:off x="6095999" y="2244302"/>
          <a:ext cx="3000000" cy="3000000"/>
        </p:xfrm>
        <a:graphic>
          <a:graphicData uri="http://schemas.openxmlformats.org/drawingml/2006/table">
            <a:tbl>
              <a:tblPr firstRow="1" bandRow="1">
                <a:noFill/>
                <a:tableStyleId>{85CE15A3-5152-4696-AD4B-9BD29868967D}</a:tableStyleId>
              </a:tblPr>
              <a:tblGrid>
                <a:gridCol w="22860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631700">
                <a:tc>
                  <a:txBody>
                    <a:bodyPr/>
                    <a:lstStyle/>
                    <a:p>
                      <a:pPr marL="0" marR="0" lvl="0" indent="0" algn="ctr" rtl="0">
                        <a:spcBef>
                          <a:spcPts val="0"/>
                        </a:spcBef>
                        <a:spcAft>
                          <a:spcPts val="0"/>
                        </a:spcAft>
                        <a:buClr>
                          <a:schemeClr val="lt1"/>
                        </a:buClr>
                        <a:buSzPts val="3300"/>
                        <a:buFont typeface="Arial"/>
                        <a:buNone/>
                      </a:pPr>
                      <a:r>
                        <a:rPr lang="en-US" sz="3300" b="1" u="none" strike="noStrike" cap="none">
                          <a:solidFill>
                            <a:schemeClr val="lt1"/>
                          </a:solidFill>
                          <a:latin typeface="Arial"/>
                          <a:ea typeface="Arial"/>
                          <a:cs typeface="Arial"/>
                          <a:sym typeface="Arial"/>
                        </a:rPr>
                        <a:t>dept_name</a:t>
                      </a:r>
                      <a:endParaRPr sz="3300" b="1" u="none" strike="noStrike" cap="none">
                        <a:solidFill>
                          <a:schemeClr val="lt1"/>
                        </a:solidFill>
                        <a:latin typeface="Arial"/>
                        <a:ea typeface="Arial"/>
                        <a:cs typeface="Arial"/>
                        <a:sym typeface="Arial"/>
                      </a:endParaRPr>
                    </a:p>
                  </a:txBody>
                  <a:tcPr marL="6350" marR="6350" marT="6350" marB="0" anchor="ctr"/>
                </a:tc>
                <a:tc>
                  <a:txBody>
                    <a:bodyPr/>
                    <a:lstStyle/>
                    <a:p>
                      <a:pPr marL="0" marR="0" lvl="0" indent="0" algn="ctr" rtl="0">
                        <a:spcBef>
                          <a:spcPts val="0"/>
                        </a:spcBef>
                        <a:spcAft>
                          <a:spcPts val="0"/>
                        </a:spcAft>
                        <a:buClr>
                          <a:schemeClr val="lt1"/>
                        </a:buClr>
                        <a:buSzPts val="3300"/>
                        <a:buFont typeface="Arial"/>
                        <a:buNone/>
                      </a:pPr>
                      <a:r>
                        <a:rPr lang="en-US" sz="3300" b="1" u="none" strike="noStrike" cap="none">
                          <a:solidFill>
                            <a:schemeClr val="lt1"/>
                          </a:solidFill>
                          <a:latin typeface="Arial"/>
                          <a:ea typeface="Arial"/>
                          <a:cs typeface="Arial"/>
                          <a:sym typeface="Arial"/>
                        </a:rPr>
                        <a:t>dept_id</a:t>
                      </a:r>
                      <a:endParaRPr sz="3300" b="1" u="none" strike="noStrike" cap="none">
                        <a:solidFill>
                          <a:schemeClr val="lt1"/>
                        </a:solidFill>
                        <a:latin typeface="Arial"/>
                        <a:ea typeface="Arial"/>
                        <a:cs typeface="Arial"/>
                        <a:sym typeface="Arial"/>
                      </a:endParaRPr>
                    </a:p>
                  </a:txBody>
                  <a:tcPr marL="6350" marR="6350" marT="6350" marB="0" anchor="ctr"/>
                </a:tc>
                <a:extLst>
                  <a:ext uri="{0D108BD9-81ED-4DB2-BD59-A6C34878D82A}">
                    <a16:rowId xmlns:a16="http://schemas.microsoft.com/office/drawing/2014/main" val="10000"/>
                  </a:ext>
                </a:extLst>
              </a:tr>
              <a:tr h="631700">
                <a:tc>
                  <a:txBody>
                    <a:bodyPr/>
                    <a:lstStyle/>
                    <a:p>
                      <a:pPr marL="0" marR="0" lvl="0" indent="0" algn="l"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HR</a:t>
                      </a:r>
                      <a:endParaRPr/>
                    </a:p>
                  </a:txBody>
                  <a:tcPr marL="6350" marR="6350" marT="6350" marB="0" anchor="ctr"/>
                </a:tc>
                <a:tc>
                  <a:txBody>
                    <a:bodyPr/>
                    <a:lstStyle/>
                    <a:p>
                      <a:pPr marL="0" marR="0" lvl="0" indent="0" algn="r"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1</a:t>
                      </a:r>
                      <a:endParaRPr/>
                    </a:p>
                  </a:txBody>
                  <a:tcPr marL="6350" marR="6350" marT="6350" marB="0" anchor="ctr"/>
                </a:tc>
                <a:extLst>
                  <a:ext uri="{0D108BD9-81ED-4DB2-BD59-A6C34878D82A}">
                    <a16:rowId xmlns:a16="http://schemas.microsoft.com/office/drawing/2014/main" val="10001"/>
                  </a:ext>
                </a:extLst>
              </a:tr>
              <a:tr h="631700">
                <a:tc>
                  <a:txBody>
                    <a:bodyPr/>
                    <a:lstStyle/>
                    <a:p>
                      <a:pPr marL="0" marR="0" lvl="0" indent="0" algn="l"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IT</a:t>
                      </a:r>
                      <a:endParaRPr/>
                    </a:p>
                  </a:txBody>
                  <a:tcPr marL="6350" marR="6350" marT="6350" marB="0" anchor="ctr"/>
                </a:tc>
                <a:tc>
                  <a:txBody>
                    <a:bodyPr/>
                    <a:lstStyle/>
                    <a:p>
                      <a:pPr marL="0" marR="0" lvl="0" indent="0" algn="r"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2</a:t>
                      </a:r>
                      <a:endParaRPr/>
                    </a:p>
                  </a:txBody>
                  <a:tcPr marL="6350" marR="6350" marT="6350" marB="0" anchor="ctr"/>
                </a:tc>
                <a:extLst>
                  <a:ext uri="{0D108BD9-81ED-4DB2-BD59-A6C34878D82A}">
                    <a16:rowId xmlns:a16="http://schemas.microsoft.com/office/drawing/2014/main" val="10002"/>
                  </a:ext>
                </a:extLst>
              </a:tr>
              <a:tr h="631700">
                <a:tc>
                  <a:txBody>
                    <a:bodyPr/>
                    <a:lstStyle/>
                    <a:p>
                      <a:pPr marL="0" marR="0" lvl="0" indent="0" algn="l"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Finance</a:t>
                      </a:r>
                      <a:endParaRPr/>
                    </a:p>
                  </a:txBody>
                  <a:tcPr marL="6350" marR="6350" marT="6350" marB="0" anchor="ctr"/>
                </a:tc>
                <a:tc>
                  <a:txBody>
                    <a:bodyPr/>
                    <a:lstStyle/>
                    <a:p>
                      <a:pPr marL="0" marR="0" lvl="0" indent="0" algn="r" rtl="0">
                        <a:spcBef>
                          <a:spcPts val="0"/>
                        </a:spcBef>
                        <a:spcAft>
                          <a:spcPts val="0"/>
                        </a:spcAft>
                        <a:buClr>
                          <a:schemeClr val="dk1"/>
                        </a:buClr>
                        <a:buSzPts val="3300"/>
                        <a:buFont typeface="Arial"/>
                        <a:buNone/>
                      </a:pPr>
                      <a:r>
                        <a:rPr lang="en-US" sz="3300" u="none" strike="noStrike" cap="none">
                          <a:solidFill>
                            <a:schemeClr val="dk1"/>
                          </a:solidFill>
                          <a:latin typeface="Arial"/>
                          <a:ea typeface="Arial"/>
                          <a:cs typeface="Arial"/>
                          <a:sym typeface="Arial"/>
                        </a:rPr>
                        <a:t>3</a:t>
                      </a:r>
                      <a:endParaRPr/>
                    </a:p>
                  </a:txBody>
                  <a:tcPr marL="6350" marR="6350" marT="6350" marB="0" anchor="ctr"/>
                </a:tc>
                <a:extLst>
                  <a:ext uri="{0D108BD9-81ED-4DB2-BD59-A6C34878D82A}">
                    <a16:rowId xmlns:a16="http://schemas.microsoft.com/office/drawing/2014/main" val="10003"/>
                  </a:ext>
                </a:extLst>
              </a:tr>
            </a:tbl>
          </a:graphicData>
        </a:graphic>
      </p:graphicFrame>
      <p:sp>
        <p:nvSpPr>
          <p:cNvPr id="777" name="Google Shape;777;p49"/>
          <p:cNvSpPr txBox="1"/>
          <p:nvPr/>
        </p:nvSpPr>
        <p:spPr>
          <a:xfrm>
            <a:off x="1004886" y="1791474"/>
            <a:ext cx="4512946"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latin typeface="Arial"/>
                <a:ea typeface="Arial"/>
                <a:cs typeface="Arial"/>
                <a:sym typeface="Arial"/>
              </a:rPr>
              <a:t>Employees Table</a:t>
            </a:r>
            <a:endParaRPr/>
          </a:p>
        </p:txBody>
      </p:sp>
      <p:sp>
        <p:nvSpPr>
          <p:cNvPr id="778" name="Google Shape;778;p49"/>
          <p:cNvSpPr txBox="1"/>
          <p:nvPr/>
        </p:nvSpPr>
        <p:spPr>
          <a:xfrm>
            <a:off x="5943600" y="1791474"/>
            <a:ext cx="4512946"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latin typeface="Arial"/>
                <a:ea typeface="Arial"/>
                <a:cs typeface="Arial"/>
                <a:sym typeface="Arial"/>
              </a:rPr>
              <a:t>Departments Table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50"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sp>
        <p:nvSpPr>
          <p:cNvPr id="784" name="Google Shape;784;p50" descr="$PPTXTitle"/>
          <p:cNvSpPr txBox="1"/>
          <p:nvPr/>
        </p:nvSpPr>
        <p:spPr>
          <a:xfrm>
            <a:off x="990600" y="1478280"/>
            <a:ext cx="7620000" cy="3031599"/>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400" b="1" i="0">
                <a:solidFill>
                  <a:schemeClr val="dk1"/>
                </a:solidFill>
                <a:latin typeface="Times New Roman"/>
                <a:ea typeface="Times New Roman"/>
                <a:cs typeface="Times New Roman"/>
                <a:sym typeface="Times New Roman"/>
              </a:rPr>
              <a:t>LEFT JOIN</a:t>
            </a:r>
            <a:endParaRPr/>
          </a:p>
          <a:p>
            <a:pPr marL="12700" marR="0" lvl="0" indent="0" algn="l" rtl="0">
              <a:spcBef>
                <a:spcPts val="100"/>
              </a:spcBef>
              <a:spcAft>
                <a:spcPts val="0"/>
              </a:spcAft>
              <a:buNone/>
            </a:pPr>
            <a:endParaRPr sz="2400" b="1" i="0">
              <a:solidFill>
                <a:schemeClr val="dk1"/>
              </a:solidFill>
              <a:latin typeface="Times New Roman"/>
              <a:ea typeface="Times New Roman"/>
              <a:cs typeface="Times New Roman"/>
              <a:sym typeface="Times New Roman"/>
            </a:endParaRPr>
          </a:p>
          <a:p>
            <a:pPr marL="12700" marR="2898775" lvl="0" indent="0" algn="l" rtl="0">
              <a:lnSpc>
                <a:spcPct val="100000"/>
              </a:lnSpc>
              <a:spcBef>
                <a:spcPts val="100"/>
              </a:spcBef>
              <a:spcAft>
                <a:spcPts val="0"/>
              </a:spcAft>
              <a:buNone/>
            </a:pPr>
            <a:r>
              <a:rPr lang="en-US" sz="2400" b="1" i="0">
                <a:solidFill>
                  <a:schemeClr val="dk1"/>
                </a:solidFill>
                <a:latin typeface="Times New Roman"/>
                <a:ea typeface="Times New Roman"/>
                <a:cs typeface="Times New Roman"/>
                <a:sym typeface="Times New Roman"/>
              </a:rPr>
              <a:t>SELECT e.name, d.dept_name FROM employees e</a:t>
            </a:r>
            <a:endParaRPr sz="2400" b="0" i="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i="0">
                <a:solidFill>
                  <a:schemeClr val="dk1"/>
                </a:solidFill>
                <a:latin typeface="Times New Roman"/>
                <a:ea typeface="Times New Roman"/>
                <a:cs typeface="Times New Roman"/>
                <a:sym typeface="Times New Roman"/>
              </a:rPr>
              <a:t>LEFT JOIN departments d ON e.dept_id = d.dept_id;</a:t>
            </a:r>
            <a:endParaRPr sz="2400" b="0" i="0">
              <a:solidFill>
                <a:schemeClr val="dk1"/>
              </a:solidFill>
              <a:latin typeface="Times New Roman"/>
              <a:ea typeface="Times New Roman"/>
              <a:cs typeface="Times New Roman"/>
              <a:sym typeface="Times New Roman"/>
            </a:endParaRPr>
          </a:p>
          <a:p>
            <a:pPr marL="12700" marR="0" lvl="0" indent="0" algn="l" rtl="0">
              <a:spcBef>
                <a:spcPts val="100"/>
              </a:spcBef>
              <a:spcAft>
                <a:spcPts val="0"/>
              </a:spcAft>
              <a:buNone/>
            </a:pPr>
            <a:endParaRPr sz="2400" b="0" i="0">
              <a:solidFill>
                <a:schemeClr val="dk1"/>
              </a:solidFill>
              <a:latin typeface="Times New Roman"/>
              <a:ea typeface="Times New Roman"/>
              <a:cs typeface="Times New Roman"/>
              <a:sym typeface="Times New Roman"/>
            </a:endParaRPr>
          </a:p>
          <a:p>
            <a:pPr marL="12700" marR="0" lvl="0" indent="0" algn="l" rtl="0">
              <a:spcBef>
                <a:spcPts val="100"/>
              </a:spcBef>
              <a:spcAft>
                <a:spcPts val="0"/>
              </a:spcAft>
              <a:buNone/>
            </a:pPr>
            <a:endParaRPr sz="2400" b="0" i="0">
              <a:solidFill>
                <a:schemeClr val="dk1"/>
              </a:solidFill>
              <a:latin typeface="Times New Roman"/>
              <a:ea typeface="Times New Roman"/>
              <a:cs typeface="Times New Roman"/>
              <a:sym typeface="Times New Roman"/>
            </a:endParaRPr>
          </a:p>
          <a:p>
            <a:pPr marL="12700" marR="0" lvl="0" indent="0" algn="l" rtl="0">
              <a:spcBef>
                <a:spcPts val="100"/>
              </a:spcBef>
              <a:spcAft>
                <a:spcPts val="0"/>
              </a:spcAft>
              <a:buNone/>
            </a:pPr>
            <a:endParaRPr sz="2400" b="0" i="0">
              <a:solidFill>
                <a:schemeClr val="dk1"/>
              </a:solidFill>
              <a:latin typeface="Times New Roman"/>
              <a:ea typeface="Times New Roman"/>
              <a:cs typeface="Times New Roman"/>
              <a:sym typeface="Times New Roman"/>
            </a:endParaRPr>
          </a:p>
        </p:txBody>
      </p:sp>
      <p:sp>
        <p:nvSpPr>
          <p:cNvPr id="785" name="Google Shape;785;p50"/>
          <p:cNvSpPr txBox="1"/>
          <p:nvPr/>
        </p:nvSpPr>
        <p:spPr>
          <a:xfrm>
            <a:off x="974889" y="3962400"/>
            <a:ext cx="2367280" cy="22199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Output Table name	dept_name Alice	HR</a:t>
            </a:r>
            <a:endParaRPr sz="2400">
              <a:solidFill>
                <a:schemeClr val="dk1"/>
              </a:solidFill>
              <a:latin typeface="Times New Roman"/>
              <a:ea typeface="Times New Roman"/>
              <a:cs typeface="Times New Roman"/>
              <a:sym typeface="Times New Roman"/>
            </a:endParaRPr>
          </a:p>
          <a:p>
            <a:pPr marL="12700" marR="648335"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Bob	IT Carol	NULL David	NULL</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9"/>
        <p:cNvGrpSpPr/>
        <p:nvPr/>
      </p:nvGrpSpPr>
      <p:grpSpPr>
        <a:xfrm>
          <a:off x="0" y="0"/>
          <a:ext cx="0" cy="0"/>
          <a:chOff x="0" y="0"/>
          <a:chExt cx="0" cy="0"/>
        </a:xfrm>
      </p:grpSpPr>
      <p:sp>
        <p:nvSpPr>
          <p:cNvPr id="790" name="Google Shape;790;p5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1" name="Google Shape;791;p51"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Refresher on Joins</a:t>
            </a:r>
            <a:endParaRPr sz="5400">
              <a:solidFill>
                <a:schemeClr val="dk1"/>
              </a:solidFill>
              <a:latin typeface="Play"/>
              <a:ea typeface="Play"/>
              <a:cs typeface="Play"/>
              <a:sym typeface="Play"/>
            </a:endParaRPr>
          </a:p>
        </p:txBody>
      </p:sp>
      <p:grpSp>
        <p:nvGrpSpPr>
          <p:cNvPr id="792" name="Google Shape;792;p51"/>
          <p:cNvGrpSpPr/>
          <p:nvPr/>
        </p:nvGrpSpPr>
        <p:grpSpPr>
          <a:xfrm>
            <a:off x="-2" y="1998368"/>
            <a:ext cx="11695083" cy="782176"/>
            <a:chOff x="-2" y="1998368"/>
            <a:chExt cx="11695083" cy="782176"/>
          </a:xfrm>
        </p:grpSpPr>
        <p:sp>
          <p:nvSpPr>
            <p:cNvPr id="793" name="Google Shape;793;p51"/>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4" name="Google Shape;794;p51"/>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795" name="Google Shape;795;p51"/>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6" name="Google Shape;796;p51"/>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1794510" lvl="0" indent="-127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RIGHT JOIN</a:t>
            </a:r>
            <a:endParaRPr sz="2400" b="1">
              <a:solidFill>
                <a:schemeClr val="dk1"/>
              </a:solidFill>
              <a:latin typeface="Arial"/>
              <a:ea typeface="Arial"/>
              <a:cs typeface="Arial"/>
              <a:sym typeface="Arial"/>
            </a:endParaRPr>
          </a:p>
          <a:p>
            <a:pPr marL="12700" marR="1794510" lvl="0" indent="139700" algn="l" rtl="0">
              <a:lnSpc>
                <a:spcPct val="90000"/>
              </a:lnSpc>
              <a:spcBef>
                <a:spcPts val="100"/>
              </a:spcBef>
              <a:spcAft>
                <a:spcPts val="0"/>
              </a:spcAft>
              <a:buClr>
                <a:schemeClr val="dk1"/>
              </a:buClr>
              <a:buSzPts val="2400"/>
              <a:buFont typeface="Arial"/>
              <a:buNone/>
            </a:pPr>
            <a:endParaRPr sz="2400" b="1">
              <a:solidFill>
                <a:schemeClr val="dk1"/>
              </a:solidFill>
              <a:latin typeface="Arial"/>
              <a:ea typeface="Arial"/>
              <a:cs typeface="Arial"/>
              <a:sym typeface="Arial"/>
            </a:endParaRPr>
          </a:p>
          <a:p>
            <a:pPr marL="12700" marR="1794510" lvl="0" indent="-12700" algn="l" rtl="0">
              <a:lnSpc>
                <a:spcPct val="90000"/>
              </a:lnSpc>
              <a:spcBef>
                <a:spcPts val="100"/>
              </a:spcBef>
              <a:spcAft>
                <a:spcPts val="0"/>
              </a:spcAft>
              <a:buClr>
                <a:schemeClr val="dk1"/>
              </a:buClr>
              <a:buSzPts val="2400"/>
              <a:buFont typeface="Arial"/>
              <a:buChar char="•"/>
            </a:pPr>
            <a:r>
              <a:rPr lang="en-US" sz="2400" b="1">
                <a:solidFill>
                  <a:schemeClr val="dk1"/>
                </a:solidFill>
                <a:latin typeface="Arial"/>
                <a:ea typeface="Arial"/>
                <a:cs typeface="Arial"/>
                <a:sym typeface="Arial"/>
              </a:rPr>
              <a:t>SELECT e.name, d.dept_name FROM employees e</a:t>
            </a:r>
            <a:endParaRPr sz="2400">
              <a:solidFill>
                <a:schemeClr val="dk1"/>
              </a:solidFill>
              <a:latin typeface="Arial"/>
              <a:ea typeface="Arial"/>
              <a:cs typeface="Arial"/>
              <a:sym typeface="Arial"/>
            </a:endParaRPr>
          </a:p>
          <a:p>
            <a:pPr marL="12700" marR="5080" lvl="0" indent="-127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RIGHT JOIN departments d ON e.dept_id = d.dept_id;</a:t>
            </a:r>
            <a:endParaRPr sz="2400">
              <a:solidFill>
                <a:schemeClr val="dk1"/>
              </a:solidFill>
              <a:latin typeface="Arial"/>
              <a:ea typeface="Arial"/>
              <a:cs typeface="Arial"/>
              <a:sym typeface="Arial"/>
            </a:endParaRPr>
          </a:p>
          <a:p>
            <a:pPr marL="0" marR="0" lvl="0" indent="152400" algn="l" rtl="0">
              <a:lnSpc>
                <a:spcPct val="90000"/>
              </a:lnSpc>
              <a:spcBef>
                <a:spcPts val="138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236220" marR="0" lvl="0" indent="-2286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Output Table</a:t>
            </a:r>
            <a:endParaRPr sz="2400">
              <a:solidFill>
                <a:schemeClr val="dk1"/>
              </a:solidFill>
              <a:latin typeface="Arial"/>
              <a:ea typeface="Arial"/>
              <a:cs typeface="Arial"/>
              <a:sym typeface="Arial"/>
            </a:endParaRPr>
          </a:p>
          <a:p>
            <a:pPr marL="0" marR="0" lvl="0" indent="152400" algn="l" rtl="0">
              <a:lnSpc>
                <a:spcPct val="90000"/>
              </a:lnSpc>
              <a:spcBef>
                <a:spcPts val="12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236220" marR="3102610" lvl="0" indent="-2286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name	dept_name Alice	HR</a:t>
            </a:r>
            <a:endParaRPr sz="2400">
              <a:solidFill>
                <a:schemeClr val="dk1"/>
              </a:solidFill>
              <a:latin typeface="Arial"/>
              <a:ea typeface="Arial"/>
              <a:cs typeface="Arial"/>
              <a:sym typeface="Arial"/>
            </a:endParaRPr>
          </a:p>
          <a:p>
            <a:pPr marL="236220" marR="3522345" lvl="0" indent="-228600" algn="l" rtl="0">
              <a:lnSpc>
                <a:spcPct val="90000"/>
              </a:lnSpc>
              <a:spcBef>
                <a:spcPts val="0"/>
              </a:spcBef>
              <a:spcAft>
                <a:spcPts val="0"/>
              </a:spcAft>
              <a:buClr>
                <a:schemeClr val="dk1"/>
              </a:buClr>
              <a:buSzPts val="2400"/>
              <a:buFont typeface="Arial"/>
              <a:buChar char="•"/>
            </a:pPr>
            <a:r>
              <a:rPr lang="en-US" sz="2400" b="1">
                <a:solidFill>
                  <a:schemeClr val="dk1"/>
                </a:solidFill>
                <a:latin typeface="Arial"/>
                <a:ea typeface="Arial"/>
                <a:cs typeface="Arial"/>
                <a:sym typeface="Arial"/>
              </a:rPr>
              <a:t>Bob	IT NULL	Finance</a:t>
            </a:r>
            <a:endParaRPr sz="2400">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52"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sp>
        <p:nvSpPr>
          <p:cNvPr id="802" name="Google Shape;802;p52" descr="$PPTXTitle"/>
          <p:cNvSpPr txBox="1"/>
          <p:nvPr/>
        </p:nvSpPr>
        <p:spPr>
          <a:xfrm>
            <a:off x="1295400" y="1783080"/>
            <a:ext cx="1494155" cy="39116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400" b="1" i="0">
                <a:solidFill>
                  <a:srgbClr val="000000"/>
                </a:solidFill>
                <a:latin typeface="Times New Roman"/>
                <a:ea typeface="Times New Roman"/>
                <a:cs typeface="Times New Roman"/>
                <a:sym typeface="Times New Roman"/>
              </a:rPr>
              <a:t>Inner JOIN</a:t>
            </a:r>
            <a:endParaRPr sz="2400" b="0" i="0">
              <a:solidFill>
                <a:schemeClr val="lt1"/>
              </a:solidFill>
              <a:latin typeface="Times New Roman"/>
              <a:ea typeface="Times New Roman"/>
              <a:cs typeface="Times New Roman"/>
              <a:sym typeface="Times New Roman"/>
            </a:endParaRPr>
          </a:p>
        </p:txBody>
      </p:sp>
      <p:sp>
        <p:nvSpPr>
          <p:cNvPr id="803" name="Google Shape;803;p52"/>
          <p:cNvSpPr txBox="1"/>
          <p:nvPr/>
        </p:nvSpPr>
        <p:spPr>
          <a:xfrm>
            <a:off x="1295400" y="2514600"/>
            <a:ext cx="7028180" cy="1122680"/>
          </a:xfrm>
          <a:prstGeom prst="rect">
            <a:avLst/>
          </a:prstGeom>
          <a:noFill/>
          <a:ln>
            <a:noFill/>
          </a:ln>
        </p:spPr>
        <p:txBody>
          <a:bodyPr spcFirstLastPara="1" wrap="square" lIns="0" tIns="12700" rIns="0" bIns="0" anchor="t" anchorCtr="0">
            <a:spAutoFit/>
          </a:bodyPr>
          <a:lstStyle/>
          <a:p>
            <a:pPr marL="12700" marR="3133725"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SELECT e.name, d.dept_name FROM employees e</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INNER JOIN departments d ON e.dept_id = d.dept_id;</a:t>
            </a:r>
            <a:endParaRPr sz="2400">
              <a:solidFill>
                <a:schemeClr val="dk1"/>
              </a:solidFill>
              <a:latin typeface="Times New Roman"/>
              <a:ea typeface="Times New Roman"/>
              <a:cs typeface="Times New Roman"/>
              <a:sym typeface="Times New Roman"/>
            </a:endParaRPr>
          </a:p>
        </p:txBody>
      </p:sp>
      <p:sp>
        <p:nvSpPr>
          <p:cNvPr id="804" name="Google Shape;804;p52"/>
          <p:cNvSpPr txBox="1"/>
          <p:nvPr/>
        </p:nvSpPr>
        <p:spPr>
          <a:xfrm>
            <a:off x="1327551" y="4662919"/>
            <a:ext cx="2367280" cy="185948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Output Table</a:t>
            </a:r>
            <a:endParaRPr sz="2400">
              <a:solidFill>
                <a:schemeClr val="dk1"/>
              </a:solidFill>
              <a:latin typeface="Times New Roman"/>
              <a:ea typeface="Times New Roman"/>
              <a:cs typeface="Times New Roman"/>
              <a:sym typeface="Times New Roman"/>
            </a:endParaRPr>
          </a:p>
          <a:p>
            <a:pPr marL="12700" marR="508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name	dept_name Alice	HR</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Bob	IT</a:t>
            </a:r>
            <a:endParaRPr sz="2400">
              <a:solidFill>
                <a:schemeClr val="dk1"/>
              </a:solidFill>
              <a:latin typeface="Times New Roman"/>
              <a:ea typeface="Times New Roman"/>
              <a:cs typeface="Times New Roman"/>
              <a:sym typeface="Times New Roman"/>
            </a:endParaRPr>
          </a:p>
          <a:p>
            <a:pPr marL="12700" marR="5080" lvl="0" indent="0" algn="l" rtl="0">
              <a:lnSpc>
                <a:spcPct val="100000"/>
              </a:lnSpc>
              <a:spcBef>
                <a:spcPts val="0"/>
              </a:spcBef>
              <a:spcAft>
                <a:spcPts val="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8"/>
        <p:cNvGrpSpPr/>
        <p:nvPr/>
      </p:nvGrpSpPr>
      <p:grpSpPr>
        <a:xfrm>
          <a:off x="0" y="0"/>
          <a:ext cx="0" cy="0"/>
          <a:chOff x="0" y="0"/>
          <a:chExt cx="0" cy="0"/>
        </a:xfrm>
      </p:grpSpPr>
      <p:sp>
        <p:nvSpPr>
          <p:cNvPr id="809" name="Google Shape;809;p5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0" name="Google Shape;810;p53"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Refresher on Joins</a:t>
            </a:r>
            <a:endParaRPr sz="5400">
              <a:solidFill>
                <a:schemeClr val="dk1"/>
              </a:solidFill>
              <a:latin typeface="Play"/>
              <a:ea typeface="Play"/>
              <a:cs typeface="Play"/>
              <a:sym typeface="Play"/>
            </a:endParaRPr>
          </a:p>
        </p:txBody>
      </p:sp>
      <p:grpSp>
        <p:nvGrpSpPr>
          <p:cNvPr id="811" name="Google Shape;811;p53"/>
          <p:cNvGrpSpPr/>
          <p:nvPr/>
        </p:nvGrpSpPr>
        <p:grpSpPr>
          <a:xfrm>
            <a:off x="-2" y="1998368"/>
            <a:ext cx="11695083" cy="782176"/>
            <a:chOff x="-2" y="1998368"/>
            <a:chExt cx="11695083" cy="782176"/>
          </a:xfrm>
        </p:grpSpPr>
        <p:sp>
          <p:nvSpPr>
            <p:cNvPr id="812" name="Google Shape;812;p53"/>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3" name="Google Shape;813;p53"/>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14" name="Google Shape;814;p53"/>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5" name="Google Shape;815;p53"/>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85725" marR="4011929" lvl="0" indent="-85725" algn="l" rtl="0">
              <a:lnSpc>
                <a:spcPct val="90000"/>
              </a:lnSpc>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FULL OUTER JOIN</a:t>
            </a:r>
            <a:endParaRPr sz="2000">
              <a:solidFill>
                <a:schemeClr val="dk1"/>
              </a:solidFill>
              <a:latin typeface="Arial"/>
              <a:ea typeface="Arial"/>
              <a:cs typeface="Arial"/>
              <a:sym typeface="Arial"/>
            </a:endParaRPr>
          </a:p>
          <a:p>
            <a:pPr marL="85725" marR="4011929" lvl="0" indent="41275" algn="l" rtl="0">
              <a:lnSpc>
                <a:spcPct val="90000"/>
              </a:lnSpc>
              <a:spcBef>
                <a:spcPts val="100"/>
              </a:spcBef>
              <a:spcAft>
                <a:spcPts val="0"/>
              </a:spcAft>
              <a:buClr>
                <a:schemeClr val="dk1"/>
              </a:buClr>
              <a:buSzPts val="2000"/>
              <a:buFont typeface="Arial"/>
              <a:buNone/>
            </a:pPr>
            <a:endParaRPr sz="2000" b="1">
              <a:solidFill>
                <a:schemeClr val="dk1"/>
              </a:solidFill>
              <a:latin typeface="Arial"/>
              <a:ea typeface="Arial"/>
              <a:cs typeface="Arial"/>
              <a:sym typeface="Arial"/>
            </a:endParaRPr>
          </a:p>
          <a:p>
            <a:pPr marL="85725" marR="4011929" lvl="0" indent="-85725" algn="l" rtl="0">
              <a:lnSpc>
                <a:spcPct val="90000"/>
              </a:lnSpc>
              <a:spcBef>
                <a:spcPts val="100"/>
              </a:spcBef>
              <a:spcAft>
                <a:spcPts val="0"/>
              </a:spcAft>
              <a:buClr>
                <a:schemeClr val="dk1"/>
              </a:buClr>
              <a:buSzPts val="2000"/>
              <a:buFont typeface="Arial"/>
              <a:buChar char="•"/>
            </a:pPr>
            <a:r>
              <a:rPr lang="en-US" sz="2000" b="1">
                <a:solidFill>
                  <a:schemeClr val="dk1"/>
                </a:solidFill>
                <a:latin typeface="Arial"/>
                <a:ea typeface="Arial"/>
                <a:cs typeface="Arial"/>
                <a:sym typeface="Arial"/>
              </a:rPr>
              <a:t>SELECT e.name, d.dept_name FROM employees e</a:t>
            </a:r>
            <a:endParaRPr sz="2000">
              <a:solidFill>
                <a:schemeClr val="dk1"/>
              </a:solidFill>
              <a:latin typeface="Arial"/>
              <a:ea typeface="Arial"/>
              <a:cs typeface="Arial"/>
              <a:sym typeface="Arial"/>
            </a:endParaRPr>
          </a:p>
          <a:p>
            <a:pPr marL="85725" marR="0" lvl="0" indent="-85725" algn="l" rtl="0">
              <a:lnSpc>
                <a:spcPct val="90000"/>
              </a:lnSpc>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FULL OUTER JOIN departments d ON e.dept_id = d.dept_id;</a:t>
            </a:r>
            <a:endParaRPr sz="2000">
              <a:solidFill>
                <a:schemeClr val="dk1"/>
              </a:solidFill>
              <a:latin typeface="Arial"/>
              <a:ea typeface="Arial"/>
              <a:cs typeface="Arial"/>
              <a:sym typeface="Arial"/>
            </a:endParaRPr>
          </a:p>
          <a:p>
            <a:pPr marL="0" marR="0" lvl="0" indent="127000" algn="l" rtl="0">
              <a:lnSpc>
                <a:spcPct val="90000"/>
              </a:lnSpc>
              <a:spcBef>
                <a:spcPts val="0"/>
              </a:spcBef>
              <a:spcAft>
                <a:spcPts val="0"/>
              </a:spcAft>
              <a:buClr>
                <a:schemeClr val="dk1"/>
              </a:buClr>
              <a:buSzPts val="2000"/>
              <a:buFont typeface="Arial"/>
              <a:buNone/>
            </a:pPr>
            <a:endParaRPr sz="2000">
              <a:solidFill>
                <a:schemeClr val="dk1"/>
              </a:solidFill>
              <a:latin typeface="Arial"/>
              <a:ea typeface="Arial"/>
              <a:cs typeface="Arial"/>
              <a:sym typeface="Arial"/>
            </a:endParaRPr>
          </a:p>
          <a:p>
            <a:pPr marL="0" marR="0" lvl="0" indent="0" algn="l" rtl="0">
              <a:lnSpc>
                <a:spcPct val="90000"/>
              </a:lnSpc>
              <a:spcBef>
                <a:spcPts val="430"/>
              </a:spcBef>
              <a:spcAft>
                <a:spcPts val="0"/>
              </a:spcAft>
              <a:buClr>
                <a:schemeClr val="dk1"/>
              </a:buClr>
              <a:buSzPts val="2000"/>
              <a:buFont typeface="Arial"/>
              <a:buChar char="•"/>
            </a:pPr>
            <a:r>
              <a:rPr lang="en-US" sz="2000" b="1">
                <a:solidFill>
                  <a:schemeClr val="dk1"/>
                </a:solidFill>
                <a:latin typeface="Arial"/>
                <a:ea typeface="Arial"/>
                <a:cs typeface="Arial"/>
                <a:sym typeface="Arial"/>
              </a:rPr>
              <a:t>Output Table</a:t>
            </a:r>
            <a:endParaRPr/>
          </a:p>
          <a:p>
            <a:pPr marL="12700" marR="5617210" lvl="0" indent="-12700" algn="l" rtl="0">
              <a:lnSpc>
                <a:spcPct val="90000"/>
              </a:lnSpc>
              <a:spcBef>
                <a:spcPts val="5"/>
              </a:spcBef>
              <a:spcAft>
                <a:spcPts val="0"/>
              </a:spcAft>
              <a:buClr>
                <a:schemeClr val="dk1"/>
              </a:buClr>
              <a:buSzPts val="2000"/>
              <a:buFont typeface="Arial"/>
              <a:buChar char="•"/>
            </a:pPr>
            <a:r>
              <a:rPr lang="en-US" sz="2000" b="1">
                <a:solidFill>
                  <a:schemeClr val="dk1"/>
                </a:solidFill>
                <a:latin typeface="Arial"/>
                <a:ea typeface="Arial"/>
                <a:cs typeface="Arial"/>
                <a:sym typeface="Arial"/>
              </a:rPr>
              <a:t>name	dept_name Alice	HR</a:t>
            </a:r>
            <a:endParaRPr sz="2000">
              <a:solidFill>
                <a:schemeClr val="dk1"/>
              </a:solidFill>
              <a:latin typeface="Arial"/>
              <a:ea typeface="Arial"/>
              <a:cs typeface="Arial"/>
              <a:sym typeface="Arial"/>
            </a:endParaRPr>
          </a:p>
          <a:p>
            <a:pPr marL="12700" marR="6036310" lvl="0" indent="-12700" algn="l" rtl="0">
              <a:lnSpc>
                <a:spcPct val="90000"/>
              </a:lnSpc>
              <a:spcBef>
                <a:spcPts val="0"/>
              </a:spcBef>
              <a:spcAft>
                <a:spcPts val="0"/>
              </a:spcAft>
              <a:buClr>
                <a:schemeClr val="dk1"/>
              </a:buClr>
              <a:buSzPts val="2000"/>
              <a:buFont typeface="Arial"/>
              <a:buChar char="•"/>
            </a:pPr>
            <a:r>
              <a:rPr lang="en-US" sz="2000" b="1">
                <a:solidFill>
                  <a:schemeClr val="dk1"/>
                </a:solidFill>
                <a:latin typeface="Arial"/>
                <a:ea typeface="Arial"/>
                <a:cs typeface="Arial"/>
                <a:sym typeface="Arial"/>
              </a:rPr>
              <a:t>Bob	IT Carol	NULL David	NULL NULL	Finance</a:t>
            </a:r>
            <a:endParaRPr sz="200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9"/>
        <p:cNvGrpSpPr/>
        <p:nvPr/>
      </p:nvGrpSpPr>
      <p:grpSpPr>
        <a:xfrm>
          <a:off x="0" y="0"/>
          <a:ext cx="0" cy="0"/>
          <a:chOff x="0" y="0"/>
          <a:chExt cx="0" cy="0"/>
        </a:xfrm>
      </p:grpSpPr>
      <p:sp>
        <p:nvSpPr>
          <p:cNvPr id="820" name="Google Shape;820;p5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1" name="Google Shape;821;p54"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Refresher on Joins</a:t>
            </a:r>
            <a:endParaRPr sz="5400">
              <a:solidFill>
                <a:schemeClr val="dk1"/>
              </a:solidFill>
              <a:latin typeface="Play"/>
              <a:ea typeface="Play"/>
              <a:cs typeface="Play"/>
              <a:sym typeface="Play"/>
            </a:endParaRPr>
          </a:p>
        </p:txBody>
      </p:sp>
      <p:grpSp>
        <p:nvGrpSpPr>
          <p:cNvPr id="822" name="Google Shape;822;p54"/>
          <p:cNvGrpSpPr/>
          <p:nvPr/>
        </p:nvGrpSpPr>
        <p:grpSpPr>
          <a:xfrm>
            <a:off x="-2" y="1998368"/>
            <a:ext cx="11695083" cy="782176"/>
            <a:chOff x="-2" y="1998368"/>
            <a:chExt cx="11695083" cy="782176"/>
          </a:xfrm>
        </p:grpSpPr>
        <p:sp>
          <p:nvSpPr>
            <p:cNvPr id="823" name="Google Shape;823;p54"/>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4" name="Google Shape;824;p54"/>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25" name="Google Shape;825;p54"/>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6" name="Google Shape;826;p54"/>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85725" marR="2165985" lvl="0" indent="-85725"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5 ANTI JOIN </a:t>
            </a:r>
            <a:endParaRPr/>
          </a:p>
          <a:p>
            <a:pPr marL="85725" marR="2165985" lvl="0" indent="22225" algn="l" rtl="0">
              <a:lnSpc>
                <a:spcPct val="90000"/>
              </a:lnSpc>
              <a:spcBef>
                <a:spcPts val="100"/>
              </a:spcBef>
              <a:spcAft>
                <a:spcPts val="0"/>
              </a:spcAft>
              <a:buClr>
                <a:schemeClr val="dk1"/>
              </a:buClr>
              <a:buSzPts val="1700"/>
              <a:buFont typeface="Arial"/>
              <a:buNone/>
            </a:pPr>
            <a:endParaRPr sz="1700" b="1">
              <a:solidFill>
                <a:schemeClr val="dk1"/>
              </a:solidFill>
              <a:latin typeface="Arial"/>
              <a:ea typeface="Arial"/>
              <a:cs typeface="Arial"/>
              <a:sym typeface="Arial"/>
            </a:endParaRPr>
          </a:p>
          <a:p>
            <a:pPr marL="85725" marR="2165985" lvl="0" indent="-85725" algn="l" rtl="0">
              <a:lnSpc>
                <a:spcPct val="90000"/>
              </a:lnSpc>
              <a:spcBef>
                <a:spcPts val="100"/>
              </a:spcBef>
              <a:spcAft>
                <a:spcPts val="0"/>
              </a:spcAft>
              <a:buClr>
                <a:schemeClr val="dk1"/>
              </a:buClr>
              <a:buSzPts val="1700"/>
              <a:buFont typeface="Arial"/>
              <a:buChar char="•"/>
            </a:pPr>
            <a:r>
              <a:rPr lang="en-US" sz="1700" b="1">
                <a:solidFill>
                  <a:schemeClr val="dk1"/>
                </a:solidFill>
                <a:latin typeface="Arial"/>
                <a:ea typeface="Arial"/>
                <a:cs typeface="Arial"/>
                <a:sym typeface="Arial"/>
              </a:rPr>
              <a:t>a) Employees without a department</a:t>
            </a:r>
            <a:endParaRPr/>
          </a:p>
          <a:p>
            <a:pPr marL="85725" marR="2165985" lvl="0" indent="22225" algn="l" rtl="0">
              <a:lnSpc>
                <a:spcPct val="90000"/>
              </a:lnSpc>
              <a:spcBef>
                <a:spcPts val="100"/>
              </a:spcBef>
              <a:spcAft>
                <a:spcPts val="0"/>
              </a:spcAft>
              <a:buClr>
                <a:schemeClr val="dk1"/>
              </a:buClr>
              <a:buSzPts val="1700"/>
              <a:buFont typeface="Arial"/>
              <a:buNone/>
            </a:pPr>
            <a:endParaRPr sz="1700" b="1">
              <a:solidFill>
                <a:schemeClr val="dk1"/>
              </a:solidFill>
              <a:latin typeface="Arial"/>
              <a:ea typeface="Arial"/>
              <a:cs typeface="Arial"/>
              <a:sym typeface="Arial"/>
            </a:endParaRPr>
          </a:p>
          <a:p>
            <a:pPr marL="85725" marR="2165985" lvl="0" indent="-85725" algn="l" rtl="0">
              <a:lnSpc>
                <a:spcPct val="90000"/>
              </a:lnSpc>
              <a:spcBef>
                <a:spcPts val="100"/>
              </a:spcBef>
              <a:spcAft>
                <a:spcPts val="0"/>
              </a:spcAft>
              <a:buClr>
                <a:schemeClr val="dk1"/>
              </a:buClr>
              <a:buSzPts val="1700"/>
              <a:buFont typeface="Arial"/>
              <a:buChar char="•"/>
            </a:pPr>
            <a:r>
              <a:rPr lang="en-US" sz="1700" b="1">
                <a:solidFill>
                  <a:schemeClr val="dk1"/>
                </a:solidFill>
                <a:latin typeface="Arial"/>
                <a:ea typeface="Arial"/>
                <a:cs typeface="Arial"/>
                <a:sym typeface="Arial"/>
              </a:rPr>
              <a:t> SELECT e.name</a:t>
            </a:r>
            <a:endParaRPr sz="1700">
              <a:solidFill>
                <a:schemeClr val="dk1"/>
              </a:solidFill>
              <a:latin typeface="Arial"/>
              <a:ea typeface="Arial"/>
              <a:cs typeface="Arial"/>
              <a:sym typeface="Arial"/>
            </a:endParaRPr>
          </a:p>
          <a:p>
            <a:pPr marL="85725" marR="0" lvl="0" indent="-85725"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FROM employees e</a:t>
            </a:r>
            <a:endParaRPr sz="1700">
              <a:solidFill>
                <a:schemeClr val="dk1"/>
              </a:solidFill>
              <a:latin typeface="Arial"/>
              <a:ea typeface="Arial"/>
              <a:cs typeface="Arial"/>
              <a:sym typeface="Arial"/>
            </a:endParaRPr>
          </a:p>
          <a:p>
            <a:pPr marL="85725" marR="5080" lvl="0" indent="-85725"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LEFT JOIN departments d ON e.dept_id = d.dept_id WHERE d.dept_id IS NULL;</a:t>
            </a:r>
            <a:endParaRPr sz="1700">
              <a:solidFill>
                <a:schemeClr val="dk1"/>
              </a:solidFill>
              <a:latin typeface="Arial"/>
              <a:ea typeface="Arial"/>
              <a:cs typeface="Arial"/>
              <a:sym typeface="Arial"/>
            </a:endParaRPr>
          </a:p>
          <a:p>
            <a:pPr marL="0" marR="0" lvl="0" indent="107950" algn="l" rtl="0">
              <a:lnSpc>
                <a:spcPct val="90000"/>
              </a:lnSpc>
              <a:spcBef>
                <a:spcPts val="150"/>
              </a:spcBef>
              <a:spcAft>
                <a:spcPts val="0"/>
              </a:spcAft>
              <a:buClr>
                <a:schemeClr val="dk1"/>
              </a:buClr>
              <a:buSzPts val="1700"/>
              <a:buFont typeface="Arial"/>
              <a:buNone/>
            </a:pPr>
            <a:endParaRPr sz="1700">
              <a:solidFill>
                <a:schemeClr val="dk1"/>
              </a:solidFill>
              <a:latin typeface="Arial"/>
              <a:ea typeface="Arial"/>
              <a:cs typeface="Arial"/>
              <a:sym typeface="Arial"/>
            </a:endParaRPr>
          </a:p>
          <a:p>
            <a:pPr marL="85725" marR="0" lvl="0" indent="-85725"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Output Table</a:t>
            </a:r>
            <a:endParaRPr sz="17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 name	|</a:t>
            </a:r>
            <a:endParaRPr sz="17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	|</a:t>
            </a:r>
            <a:endParaRPr sz="17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 Carol |</a:t>
            </a:r>
            <a:endParaRPr sz="17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700"/>
              <a:buFont typeface="Arial"/>
              <a:buChar char="•"/>
            </a:pPr>
            <a:r>
              <a:rPr lang="en-US" sz="1700" b="1">
                <a:solidFill>
                  <a:schemeClr val="dk1"/>
                </a:solidFill>
                <a:latin typeface="Arial"/>
                <a:ea typeface="Arial"/>
                <a:cs typeface="Arial"/>
                <a:sym typeface="Arial"/>
              </a:rPr>
              <a:t>| David |</a:t>
            </a:r>
            <a:endParaRPr sz="17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0"/>
        <p:cNvGrpSpPr/>
        <p:nvPr/>
      </p:nvGrpSpPr>
      <p:grpSpPr>
        <a:xfrm>
          <a:off x="0" y="0"/>
          <a:ext cx="0" cy="0"/>
          <a:chOff x="0" y="0"/>
          <a:chExt cx="0" cy="0"/>
        </a:xfrm>
      </p:grpSpPr>
      <p:sp>
        <p:nvSpPr>
          <p:cNvPr id="831" name="Google Shape;831;p55"/>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2" name="Google Shape;832;p55"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Refresher on Joins</a:t>
            </a:r>
            <a:endParaRPr sz="5400">
              <a:solidFill>
                <a:schemeClr val="dk1"/>
              </a:solidFill>
              <a:latin typeface="Play"/>
              <a:ea typeface="Play"/>
              <a:cs typeface="Play"/>
              <a:sym typeface="Play"/>
            </a:endParaRPr>
          </a:p>
        </p:txBody>
      </p:sp>
      <p:grpSp>
        <p:nvGrpSpPr>
          <p:cNvPr id="833" name="Google Shape;833;p55"/>
          <p:cNvGrpSpPr/>
          <p:nvPr/>
        </p:nvGrpSpPr>
        <p:grpSpPr>
          <a:xfrm>
            <a:off x="-2" y="1998368"/>
            <a:ext cx="11695083" cy="782176"/>
            <a:chOff x="-2" y="1998368"/>
            <a:chExt cx="11695083" cy="782176"/>
          </a:xfrm>
        </p:grpSpPr>
        <p:sp>
          <p:nvSpPr>
            <p:cNvPr id="834" name="Google Shape;834;p55"/>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5" name="Google Shape;835;p55"/>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36" name="Google Shape;836;p55"/>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7" name="Google Shape;837;p55"/>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84455" marR="0" lvl="0" indent="-84455"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5 ANTI JOIN</a:t>
            </a:r>
            <a:endParaRPr sz="1900">
              <a:solidFill>
                <a:schemeClr val="dk1"/>
              </a:solidFill>
              <a:latin typeface="Arial"/>
              <a:ea typeface="Arial"/>
              <a:cs typeface="Arial"/>
              <a:sym typeface="Arial"/>
            </a:endParaRPr>
          </a:p>
          <a:p>
            <a:pPr marL="84455" marR="1890395" lvl="0" indent="-84455" algn="l" rtl="0">
              <a:lnSpc>
                <a:spcPct val="90000"/>
              </a:lnSpc>
              <a:spcBef>
                <a:spcPts val="125"/>
              </a:spcBef>
              <a:spcAft>
                <a:spcPts val="0"/>
              </a:spcAft>
              <a:buClr>
                <a:schemeClr val="dk1"/>
              </a:buClr>
              <a:buSzPts val="1900"/>
              <a:buFont typeface="Arial"/>
              <a:buChar char="•"/>
            </a:pPr>
            <a:r>
              <a:rPr lang="en-US" sz="1900" b="1">
                <a:solidFill>
                  <a:schemeClr val="dk1"/>
                </a:solidFill>
                <a:latin typeface="Arial"/>
                <a:ea typeface="Arial"/>
                <a:cs typeface="Arial"/>
                <a:sym typeface="Arial"/>
              </a:rPr>
              <a:t>b) Departments without employees</a:t>
            </a:r>
            <a:endParaRPr/>
          </a:p>
          <a:p>
            <a:pPr marL="84455" marR="1890395" lvl="0" indent="36195" algn="l" rtl="0">
              <a:lnSpc>
                <a:spcPct val="90000"/>
              </a:lnSpc>
              <a:spcBef>
                <a:spcPts val="125"/>
              </a:spcBef>
              <a:spcAft>
                <a:spcPts val="0"/>
              </a:spcAft>
              <a:buClr>
                <a:schemeClr val="dk1"/>
              </a:buClr>
              <a:buSzPts val="1900"/>
              <a:buFont typeface="Arial"/>
              <a:buNone/>
            </a:pPr>
            <a:endParaRPr sz="1900" b="1">
              <a:solidFill>
                <a:schemeClr val="dk1"/>
              </a:solidFill>
              <a:latin typeface="Arial"/>
              <a:ea typeface="Arial"/>
              <a:cs typeface="Arial"/>
              <a:sym typeface="Arial"/>
            </a:endParaRPr>
          </a:p>
          <a:p>
            <a:pPr marL="84455" marR="1890395" lvl="0" indent="-84455" algn="l" rtl="0">
              <a:lnSpc>
                <a:spcPct val="90000"/>
              </a:lnSpc>
              <a:spcBef>
                <a:spcPts val="125"/>
              </a:spcBef>
              <a:spcAft>
                <a:spcPts val="0"/>
              </a:spcAft>
              <a:buClr>
                <a:schemeClr val="dk1"/>
              </a:buClr>
              <a:buSzPts val="1900"/>
              <a:buFont typeface="Arial"/>
              <a:buChar char="•"/>
            </a:pPr>
            <a:r>
              <a:rPr lang="en-US" sz="1900" b="1">
                <a:solidFill>
                  <a:schemeClr val="dk1"/>
                </a:solidFill>
                <a:latin typeface="Arial"/>
                <a:ea typeface="Arial"/>
                <a:cs typeface="Arial"/>
                <a:sym typeface="Arial"/>
              </a:rPr>
              <a:t> SELECT d.dept_name</a:t>
            </a:r>
            <a:endParaRPr sz="1900">
              <a:solidFill>
                <a:schemeClr val="dk1"/>
              </a:solidFill>
              <a:latin typeface="Arial"/>
              <a:ea typeface="Arial"/>
              <a:cs typeface="Arial"/>
              <a:sym typeface="Arial"/>
            </a:endParaRPr>
          </a:p>
          <a:p>
            <a:pPr marL="84455" marR="0" lvl="0" indent="-84455"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FROM departments d</a:t>
            </a:r>
            <a:endParaRPr sz="1900">
              <a:solidFill>
                <a:schemeClr val="dk1"/>
              </a:solidFill>
              <a:latin typeface="Arial"/>
              <a:ea typeface="Arial"/>
              <a:cs typeface="Arial"/>
              <a:sym typeface="Arial"/>
            </a:endParaRPr>
          </a:p>
          <a:p>
            <a:pPr marL="84455" marR="5080" lvl="0" indent="-84455" algn="l" rtl="0">
              <a:lnSpc>
                <a:spcPct val="90000"/>
              </a:lnSpc>
              <a:spcBef>
                <a:spcPts val="100"/>
              </a:spcBef>
              <a:spcAft>
                <a:spcPts val="0"/>
              </a:spcAft>
              <a:buClr>
                <a:schemeClr val="dk1"/>
              </a:buClr>
              <a:buSzPts val="1900"/>
              <a:buFont typeface="Arial"/>
              <a:buChar char="•"/>
            </a:pPr>
            <a:r>
              <a:rPr lang="en-US" sz="1900" b="1">
                <a:solidFill>
                  <a:schemeClr val="dk1"/>
                </a:solidFill>
                <a:latin typeface="Arial"/>
                <a:ea typeface="Arial"/>
                <a:cs typeface="Arial"/>
                <a:sym typeface="Arial"/>
              </a:rPr>
              <a:t>LEFT JOIN employees e ON e.dept_id = d.dept_id WHERE e.dept_id IS NULL;</a:t>
            </a:r>
            <a:endParaRPr sz="1900">
              <a:solidFill>
                <a:schemeClr val="dk1"/>
              </a:solidFill>
              <a:latin typeface="Arial"/>
              <a:ea typeface="Arial"/>
              <a:cs typeface="Arial"/>
              <a:sym typeface="Arial"/>
            </a:endParaRPr>
          </a:p>
          <a:p>
            <a:pPr marL="0" marR="0" lvl="0" indent="120650" algn="l" rtl="0">
              <a:lnSpc>
                <a:spcPct val="90000"/>
              </a:lnSpc>
              <a:spcBef>
                <a:spcPts val="45"/>
              </a:spcBef>
              <a:spcAft>
                <a:spcPts val="0"/>
              </a:spcAft>
              <a:buClr>
                <a:schemeClr val="dk1"/>
              </a:buClr>
              <a:buSzPts val="1900"/>
              <a:buFont typeface="Arial"/>
              <a:buNone/>
            </a:pPr>
            <a:endParaRPr sz="1900">
              <a:solidFill>
                <a:schemeClr val="dk1"/>
              </a:solidFill>
              <a:latin typeface="Arial"/>
              <a:ea typeface="Arial"/>
              <a:cs typeface="Arial"/>
              <a:sym typeface="Arial"/>
            </a:endParaRPr>
          </a:p>
          <a:p>
            <a:pPr marL="84455" marR="0" lvl="0" indent="-84455"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Output Table</a:t>
            </a:r>
            <a:endParaRPr sz="1900">
              <a:solidFill>
                <a:schemeClr val="dk1"/>
              </a:solidFill>
              <a:latin typeface="Arial"/>
              <a:ea typeface="Arial"/>
              <a:cs typeface="Arial"/>
              <a:sym typeface="Arial"/>
            </a:endParaRPr>
          </a:p>
          <a:p>
            <a:pPr marL="0" marR="0" lvl="0" indent="120650" algn="l" rtl="0">
              <a:lnSpc>
                <a:spcPct val="90000"/>
              </a:lnSpc>
              <a:spcBef>
                <a:spcPts val="125"/>
              </a:spcBef>
              <a:spcAft>
                <a:spcPts val="0"/>
              </a:spcAft>
              <a:buClr>
                <a:schemeClr val="dk1"/>
              </a:buClr>
              <a:buSzPts val="1900"/>
              <a:buFont typeface="Arial"/>
              <a:buNone/>
            </a:pPr>
            <a:endParaRPr sz="19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 dept_name |</a:t>
            </a:r>
            <a:endParaRPr sz="19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	|</a:t>
            </a:r>
            <a:endParaRPr sz="1900">
              <a:solidFill>
                <a:schemeClr val="dk1"/>
              </a:solidFill>
              <a:latin typeface="Arial"/>
              <a:ea typeface="Arial"/>
              <a:cs typeface="Arial"/>
              <a:sym typeface="Arial"/>
            </a:endParaRPr>
          </a:p>
          <a:p>
            <a:pPr marL="12700" marR="0" lvl="0" indent="-12700" algn="l" rtl="0">
              <a:lnSpc>
                <a:spcPct val="90000"/>
              </a:lnSpc>
              <a:spcBef>
                <a:spcPts val="0"/>
              </a:spcBef>
              <a:spcAft>
                <a:spcPts val="0"/>
              </a:spcAft>
              <a:buClr>
                <a:schemeClr val="dk1"/>
              </a:buClr>
              <a:buSzPts val="1900"/>
              <a:buFont typeface="Arial"/>
              <a:buChar char="•"/>
            </a:pPr>
            <a:r>
              <a:rPr lang="en-US" sz="1900" b="1">
                <a:solidFill>
                  <a:schemeClr val="dk1"/>
                </a:solidFill>
                <a:latin typeface="Arial"/>
                <a:ea typeface="Arial"/>
                <a:cs typeface="Arial"/>
                <a:sym typeface="Arial"/>
              </a:rPr>
              <a:t>| Finance	|</a:t>
            </a:r>
            <a:endParaRPr sz="1900">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1"/>
        <p:cNvGrpSpPr/>
        <p:nvPr/>
      </p:nvGrpSpPr>
      <p:grpSpPr>
        <a:xfrm>
          <a:off x="0" y="0"/>
          <a:ext cx="0" cy="0"/>
          <a:chOff x="0" y="0"/>
          <a:chExt cx="0" cy="0"/>
        </a:xfrm>
      </p:grpSpPr>
      <p:sp>
        <p:nvSpPr>
          <p:cNvPr id="842" name="Google Shape;842;p5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3" name="Google Shape;843;p56" descr="$PPTXTitle"/>
          <p:cNvSpPr txBox="1">
            <a:spLocks noGrp="1"/>
          </p:cNvSpPr>
          <p:nvPr>
            <p:ph type="title"/>
          </p:nvPr>
        </p:nvSpPr>
        <p:spPr>
          <a:xfrm>
            <a:off x="612648" y="365125"/>
            <a:ext cx="5295015" cy="2063808"/>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t>Refresher on Joins</a:t>
            </a:r>
            <a:endParaRPr sz="5400"/>
          </a:p>
        </p:txBody>
      </p:sp>
      <p:pic>
        <p:nvPicPr>
          <p:cNvPr id="844" name="Google Shape;844;p56"/>
          <p:cNvPicPr preferRelativeResize="0"/>
          <p:nvPr/>
        </p:nvPicPr>
        <p:blipFill rotWithShape="1">
          <a:blip r:embed="rId3">
            <a:alphaModFix/>
          </a:blip>
          <a:srcRect/>
          <a:stretch/>
        </p:blipFill>
        <p:spPr>
          <a:xfrm>
            <a:off x="6603972" y="365125"/>
            <a:ext cx="2398426" cy="2194560"/>
          </a:xfrm>
          <a:prstGeom prst="rect">
            <a:avLst/>
          </a:prstGeom>
          <a:noFill/>
          <a:ln>
            <a:noFill/>
          </a:ln>
        </p:spPr>
      </p:pic>
      <p:pic>
        <p:nvPicPr>
          <p:cNvPr id="845" name="Google Shape;845;p56"/>
          <p:cNvPicPr preferRelativeResize="0"/>
          <p:nvPr/>
        </p:nvPicPr>
        <p:blipFill rotWithShape="1">
          <a:blip r:embed="rId4">
            <a:alphaModFix/>
          </a:blip>
          <a:srcRect/>
          <a:stretch/>
        </p:blipFill>
        <p:spPr>
          <a:xfrm>
            <a:off x="9287394" y="629441"/>
            <a:ext cx="2540538" cy="1665927"/>
          </a:xfrm>
          <a:prstGeom prst="rect">
            <a:avLst/>
          </a:prstGeom>
          <a:noFill/>
          <a:ln>
            <a:noFill/>
          </a:ln>
        </p:spPr>
      </p:pic>
      <p:sp>
        <p:nvSpPr>
          <p:cNvPr id="846" name="Google Shape;846;p56"/>
          <p:cNvSpPr/>
          <p:nvPr/>
        </p:nvSpPr>
        <p:spPr>
          <a:xfrm>
            <a:off x="838200" y="2650181"/>
            <a:ext cx="4343400" cy="18288"/>
          </a:xfrm>
          <a:custGeom>
            <a:avLst/>
            <a:gdLst/>
            <a:ahLst/>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7" name="Google Shape;847;p56"/>
          <p:cNvSpPr txBox="1"/>
          <p:nvPr/>
        </p:nvSpPr>
        <p:spPr>
          <a:xfrm>
            <a:off x="612648" y="2908005"/>
            <a:ext cx="5295015" cy="3268957"/>
          </a:xfrm>
          <a:prstGeom prst="rect">
            <a:avLst/>
          </a:prstGeom>
          <a:noFill/>
          <a:ln>
            <a:noFill/>
          </a:ln>
        </p:spPr>
        <p:txBody>
          <a:bodyPr spcFirstLastPara="1" wrap="square" lIns="91425" tIns="45700" rIns="91425" bIns="45700" anchor="t" anchorCtr="0">
            <a:normAutofit/>
          </a:bodyPr>
          <a:lstStyle/>
          <a:p>
            <a:pPr marL="12700" marR="0" lvl="0" indent="-12700" algn="l" rtl="0">
              <a:lnSpc>
                <a:spcPct val="9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	Cartesian product</a:t>
            </a:r>
            <a:endParaRPr sz="2200">
              <a:solidFill>
                <a:schemeClr val="dk1"/>
              </a:solidFill>
              <a:latin typeface="Arial"/>
              <a:ea typeface="Arial"/>
              <a:cs typeface="Arial"/>
              <a:sym typeface="Arial"/>
            </a:endParaRPr>
          </a:p>
          <a:p>
            <a:pPr marL="588645" marR="5080" lvl="0" indent="-228600" algn="l" rtl="0">
              <a:lnSpc>
                <a:spcPct val="90000"/>
              </a:lnSpc>
              <a:spcBef>
                <a:spcPts val="365"/>
              </a:spcBef>
              <a:spcAft>
                <a:spcPts val="0"/>
              </a:spcAft>
              <a:buClr>
                <a:schemeClr val="dk1"/>
              </a:buClr>
              <a:buSzPts val="2200"/>
              <a:buFont typeface="Arial"/>
              <a:buChar char="•"/>
            </a:pPr>
            <a:r>
              <a:rPr lang="en-US" sz="2200">
                <a:solidFill>
                  <a:schemeClr val="dk1"/>
                </a:solidFill>
                <a:latin typeface="Arial"/>
                <a:ea typeface="Arial"/>
                <a:cs typeface="Arial"/>
                <a:sym typeface="Arial"/>
              </a:rPr>
              <a:t>∗ A Cartesian product or cross product takes each record from a table and matches it up with every record from another table. If table X contains n records and table Y contains m records, the cross product of X and Y, denoted X × Y, contains n × m records.</a:t>
            </a:r>
            <a:endParaRPr sz="2200">
              <a:solidFill>
                <a:schemeClr val="dk1"/>
              </a:solidFill>
              <a:latin typeface="Arial"/>
              <a:ea typeface="Arial"/>
              <a:cs typeface="Arial"/>
              <a:sym typeface="Arial"/>
            </a:endParaRPr>
          </a:p>
        </p:txBody>
      </p:sp>
      <p:pic>
        <p:nvPicPr>
          <p:cNvPr id="848" name="Google Shape;848;p56"/>
          <p:cNvPicPr preferRelativeResize="0"/>
          <p:nvPr/>
        </p:nvPicPr>
        <p:blipFill rotWithShape="1">
          <a:blip r:embed="rId5">
            <a:alphaModFix/>
          </a:blip>
          <a:srcRect/>
          <a:stretch/>
        </p:blipFill>
        <p:spPr>
          <a:xfrm>
            <a:off x="6532916" y="3096175"/>
            <a:ext cx="5295016" cy="275086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57"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sp>
        <p:nvSpPr>
          <p:cNvPr id="854" name="Google Shape;854;p57" descr="$PPTXTitle"/>
          <p:cNvSpPr txBox="1"/>
          <p:nvPr/>
        </p:nvSpPr>
        <p:spPr>
          <a:xfrm>
            <a:off x="1666341" y="1568196"/>
            <a:ext cx="3835400" cy="39116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400" b="1" i="0">
                <a:solidFill>
                  <a:srgbClr val="000000"/>
                </a:solidFill>
                <a:latin typeface="Times New Roman"/>
                <a:ea typeface="Times New Roman"/>
                <a:cs typeface="Times New Roman"/>
                <a:sym typeface="Times New Roman"/>
              </a:rPr>
              <a:t>CROSS JOIN (Cartesian Join)</a:t>
            </a:r>
            <a:endParaRPr sz="2400" b="0" i="0">
              <a:solidFill>
                <a:schemeClr val="lt1"/>
              </a:solidFill>
              <a:latin typeface="Times New Roman"/>
              <a:ea typeface="Times New Roman"/>
              <a:cs typeface="Times New Roman"/>
              <a:sym typeface="Times New Roman"/>
            </a:endParaRPr>
          </a:p>
        </p:txBody>
      </p:sp>
      <p:sp>
        <p:nvSpPr>
          <p:cNvPr id="855" name="Google Shape;855;p57"/>
          <p:cNvSpPr txBox="1"/>
          <p:nvPr/>
        </p:nvSpPr>
        <p:spPr>
          <a:xfrm>
            <a:off x="1295400" y="2286000"/>
            <a:ext cx="8923655" cy="14884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A CROSS JOIN returns every possible combination of rows from both tables.</a:t>
            </a:r>
            <a:endParaRPr sz="2400">
              <a:solidFill>
                <a:schemeClr val="dk1"/>
              </a:solidFill>
              <a:latin typeface="Times New Roman"/>
              <a:ea typeface="Times New Roman"/>
              <a:cs typeface="Times New Roman"/>
              <a:sym typeface="Times New Roman"/>
            </a:endParaRPr>
          </a:p>
          <a:p>
            <a:pPr marL="12700" marR="2009775"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If the first table has A rows and the second has B rows, the result will have A × B rows.</a:t>
            </a:r>
            <a:endParaRPr sz="2400">
              <a:solidFill>
                <a:schemeClr val="dk1"/>
              </a:solidFill>
              <a:latin typeface="Times New Roman"/>
              <a:ea typeface="Times New Roman"/>
              <a:cs typeface="Times New Roman"/>
              <a:sym typeface="Times New Roman"/>
            </a:endParaRPr>
          </a:p>
        </p:txBody>
      </p:sp>
      <p:sp>
        <p:nvSpPr>
          <p:cNvPr id="856" name="Google Shape;856;p57"/>
          <p:cNvSpPr txBox="1"/>
          <p:nvPr/>
        </p:nvSpPr>
        <p:spPr>
          <a:xfrm>
            <a:off x="1351255" y="4089497"/>
            <a:ext cx="246316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Employment Table</a:t>
            </a:r>
            <a:endParaRPr sz="2400">
              <a:solidFill>
                <a:schemeClr val="dk1"/>
              </a:solidFill>
              <a:latin typeface="Times New Roman"/>
              <a:ea typeface="Times New Roman"/>
              <a:cs typeface="Times New Roman"/>
              <a:sym typeface="Times New Roman"/>
            </a:endParaRPr>
          </a:p>
        </p:txBody>
      </p:sp>
      <p:sp>
        <p:nvSpPr>
          <p:cNvPr id="857" name="Google Shape;857;p57"/>
          <p:cNvSpPr txBox="1"/>
          <p:nvPr/>
        </p:nvSpPr>
        <p:spPr>
          <a:xfrm>
            <a:off x="1351255" y="4455257"/>
            <a:ext cx="3290570" cy="7569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emp_id	name	dept_id</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1	Alice	10</a:t>
            </a:r>
            <a:endParaRPr sz="2400">
              <a:solidFill>
                <a:schemeClr val="dk1"/>
              </a:solidFill>
              <a:latin typeface="Times New Roman"/>
              <a:ea typeface="Times New Roman"/>
              <a:cs typeface="Times New Roman"/>
              <a:sym typeface="Times New Roman"/>
            </a:endParaRPr>
          </a:p>
        </p:txBody>
      </p:sp>
      <p:sp>
        <p:nvSpPr>
          <p:cNvPr id="858" name="Google Shape;858;p57"/>
          <p:cNvSpPr txBox="1"/>
          <p:nvPr/>
        </p:nvSpPr>
        <p:spPr>
          <a:xfrm>
            <a:off x="1785916" y="5186777"/>
            <a:ext cx="2633683"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2	     Bob	            20</a:t>
            </a:r>
            <a:endParaRPr sz="2400">
              <a:solidFill>
                <a:schemeClr val="dk1"/>
              </a:solidFill>
              <a:latin typeface="Times New Roman"/>
              <a:ea typeface="Times New Roman"/>
              <a:cs typeface="Times New Roman"/>
              <a:sym typeface="Times New Roman"/>
            </a:endParaRPr>
          </a:p>
        </p:txBody>
      </p:sp>
      <p:sp>
        <p:nvSpPr>
          <p:cNvPr id="859" name="Google Shape;859;p57"/>
          <p:cNvSpPr txBox="1"/>
          <p:nvPr/>
        </p:nvSpPr>
        <p:spPr>
          <a:xfrm>
            <a:off x="1823714" y="5552537"/>
            <a:ext cx="2818111"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3	  Carol	            30</a:t>
            </a:r>
            <a:endParaRPr sz="2400">
              <a:solidFill>
                <a:schemeClr val="dk1"/>
              </a:solidFill>
              <a:latin typeface="Times New Roman"/>
              <a:ea typeface="Times New Roman"/>
              <a:cs typeface="Times New Roman"/>
              <a:sym typeface="Times New Roman"/>
            </a:endParaRPr>
          </a:p>
        </p:txBody>
      </p:sp>
      <p:sp>
        <p:nvSpPr>
          <p:cNvPr id="860" name="Google Shape;860;p57"/>
          <p:cNvSpPr txBox="1"/>
          <p:nvPr/>
        </p:nvSpPr>
        <p:spPr>
          <a:xfrm>
            <a:off x="7028116" y="4070447"/>
            <a:ext cx="2943225" cy="11226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Department Table</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dept_id | dept_name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 | --------- |</a:t>
            </a:r>
            <a:endParaRPr sz="2400">
              <a:solidFill>
                <a:schemeClr val="dk1"/>
              </a:solidFill>
              <a:latin typeface="Times New Roman"/>
              <a:ea typeface="Times New Roman"/>
              <a:cs typeface="Times New Roman"/>
              <a:sym typeface="Times New Roman"/>
            </a:endParaRPr>
          </a:p>
        </p:txBody>
      </p:sp>
      <p:sp>
        <p:nvSpPr>
          <p:cNvPr id="861" name="Google Shape;861;p57"/>
          <p:cNvSpPr txBox="1"/>
          <p:nvPr/>
        </p:nvSpPr>
        <p:spPr>
          <a:xfrm>
            <a:off x="7028116" y="5167727"/>
            <a:ext cx="2075180" cy="7569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10	| HR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20	| IT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58" descr="$PPTXTitle"/>
          <p:cNvSpPr txBox="1">
            <a:spLocks noGrp="1"/>
          </p:cNvSpPr>
          <p:nvPr>
            <p:ph type="title"/>
          </p:nvPr>
        </p:nvSpPr>
        <p:spPr>
          <a:xfrm>
            <a:off x="3693414" y="546861"/>
            <a:ext cx="4806315" cy="75692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800"/>
              <a:buFont typeface="Play"/>
              <a:buNone/>
            </a:pPr>
            <a:r>
              <a:rPr lang="en-US" sz="4800"/>
              <a:t>Refresher on Joins</a:t>
            </a:r>
            <a:endParaRPr sz="4800"/>
          </a:p>
        </p:txBody>
      </p:sp>
      <p:sp>
        <p:nvSpPr>
          <p:cNvPr id="867" name="Google Shape;867;p58"/>
          <p:cNvSpPr txBox="1"/>
          <p:nvPr/>
        </p:nvSpPr>
        <p:spPr>
          <a:xfrm>
            <a:off x="990600" y="1600200"/>
            <a:ext cx="3899535" cy="22199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SELECT e.name, d.dept_name FROM employees e</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CROSS JOIN departments d;</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120"/>
              </a:spcBef>
              <a:spcAft>
                <a:spcPts val="0"/>
              </a:spcAft>
              <a:buNone/>
            </a:pP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Output Table</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name	| dept_name |</a:t>
            </a:r>
            <a:endParaRPr sz="2400">
              <a:solidFill>
                <a:schemeClr val="dk1"/>
              </a:solidFill>
              <a:latin typeface="Times New Roman"/>
              <a:ea typeface="Times New Roman"/>
              <a:cs typeface="Times New Roman"/>
              <a:sym typeface="Times New Roman"/>
            </a:endParaRPr>
          </a:p>
        </p:txBody>
      </p:sp>
      <p:sp>
        <p:nvSpPr>
          <p:cNvPr id="868" name="Google Shape;868;p58"/>
          <p:cNvSpPr txBox="1"/>
          <p:nvPr/>
        </p:nvSpPr>
        <p:spPr>
          <a:xfrm>
            <a:off x="990600" y="3794760"/>
            <a:ext cx="2155825" cy="2585720"/>
          </a:xfrm>
          <a:prstGeom prst="rect">
            <a:avLst/>
          </a:prstGeom>
          <a:noFill/>
          <a:ln>
            <a:noFill/>
          </a:ln>
        </p:spPr>
        <p:txBody>
          <a:bodyPr spcFirstLastPara="1" wrap="square" lIns="0" tIns="12700" rIns="0" bIns="0" anchor="t" anchorCtr="0">
            <a:spAutoFit/>
          </a:bodyPr>
          <a:lstStyle/>
          <a:p>
            <a:pPr marL="0" marR="163830" lvl="0" indent="0" algn="r"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marR="69215" lvl="0" indent="0" algn="r"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Alice | HR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Alice | IT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Bob	| HR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Bob	| IT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Carol | HR	|</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 Carol | IT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2"/>
        <p:cNvGrpSpPr/>
        <p:nvPr/>
      </p:nvGrpSpPr>
      <p:grpSpPr>
        <a:xfrm>
          <a:off x="0" y="0"/>
          <a:ext cx="0" cy="0"/>
          <a:chOff x="0" y="0"/>
          <a:chExt cx="0" cy="0"/>
        </a:xfrm>
      </p:grpSpPr>
      <p:sp>
        <p:nvSpPr>
          <p:cNvPr id="873" name="Google Shape;873;p5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874" name="Google Shape;874;p59"/>
          <p:cNvGrpSpPr/>
          <p:nvPr/>
        </p:nvGrpSpPr>
        <p:grpSpPr>
          <a:xfrm>
            <a:off x="4" y="1216597"/>
            <a:ext cx="731521" cy="673460"/>
            <a:chOff x="3940602" y="308034"/>
            <a:chExt cx="2116791" cy="3428999"/>
          </a:xfrm>
        </p:grpSpPr>
        <p:sp>
          <p:nvSpPr>
            <p:cNvPr id="875" name="Google Shape;875;p59"/>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6" name="Google Shape;876;p59"/>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7" name="Google Shape;877;p59"/>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78" name="Google Shape;878;p59"/>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9" name="Google Shape;879;p59"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Refresher on Joins</a:t>
            </a:r>
            <a:endParaRPr sz="4800">
              <a:solidFill>
                <a:schemeClr val="dk1"/>
              </a:solidFill>
              <a:latin typeface="Play"/>
              <a:ea typeface="Play"/>
              <a:cs typeface="Play"/>
              <a:sym typeface="Play"/>
            </a:endParaRPr>
          </a:p>
        </p:txBody>
      </p:sp>
      <p:sp>
        <p:nvSpPr>
          <p:cNvPr id="880" name="Google Shape;880;p59"/>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Explanation</a:t>
            </a:r>
            <a:endParaRPr sz="2400">
              <a:solidFill>
                <a:schemeClr val="dk1"/>
              </a:solidFill>
              <a:latin typeface="Arial"/>
              <a:ea typeface="Arial"/>
              <a:cs typeface="Arial"/>
              <a:sym typeface="Arial"/>
            </a:endParaRPr>
          </a:p>
          <a:p>
            <a:pPr marL="342900" marR="0" lvl="0" indent="-76200" algn="l" rtl="0">
              <a:lnSpc>
                <a:spcPct val="90000"/>
              </a:lnSpc>
              <a:spcBef>
                <a:spcPts val="12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355600" marR="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There is no join condition.</a:t>
            </a:r>
            <a:endParaRPr sz="2400">
              <a:solidFill>
                <a:schemeClr val="dk1"/>
              </a:solidFill>
              <a:latin typeface="Arial"/>
              <a:ea typeface="Arial"/>
              <a:cs typeface="Arial"/>
              <a:sym typeface="Arial"/>
            </a:endParaRPr>
          </a:p>
          <a:p>
            <a:pPr marL="355600" marR="508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Every employee is paired with every department. Often used to:</a:t>
            </a:r>
            <a:endParaRPr sz="2400">
              <a:solidFill>
                <a:schemeClr val="dk1"/>
              </a:solidFill>
              <a:latin typeface="Arial"/>
              <a:ea typeface="Arial"/>
              <a:cs typeface="Arial"/>
              <a:sym typeface="Arial"/>
            </a:endParaRPr>
          </a:p>
          <a:p>
            <a:pPr marL="342900" marR="0" lvl="0" indent="-76200" algn="l" rtl="0">
              <a:lnSpc>
                <a:spcPct val="90000"/>
              </a:lnSpc>
              <a:spcBef>
                <a:spcPts val="12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355600" marR="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Generate test data</a:t>
            </a:r>
            <a:endParaRPr sz="2400">
              <a:solidFill>
                <a:schemeClr val="dk1"/>
              </a:solidFill>
              <a:latin typeface="Arial"/>
              <a:ea typeface="Arial"/>
              <a:cs typeface="Arial"/>
              <a:sym typeface="Arial"/>
            </a:endParaRPr>
          </a:p>
          <a:p>
            <a:pPr marL="355600" marR="37846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Produce all combinations (e.g., sizes × colors) Build matrices or pivot-like structures</a:t>
            </a:r>
            <a:endParaRPr sz="2400">
              <a:solidFill>
                <a:schemeClr val="dk1"/>
              </a:solidFill>
              <a:latin typeface="Arial"/>
              <a:ea typeface="Arial"/>
              <a:cs typeface="Arial"/>
              <a:sym typeface="Arial"/>
            </a:endParaRPr>
          </a:p>
        </p:txBody>
      </p:sp>
      <p:cxnSp>
        <p:nvCxnSpPr>
          <p:cNvPr id="881" name="Google Shape;881;p59"/>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5"/>
        <p:cNvGrpSpPr/>
        <p:nvPr/>
      </p:nvGrpSpPr>
      <p:grpSpPr>
        <a:xfrm>
          <a:off x="0" y="0"/>
          <a:ext cx="0" cy="0"/>
          <a:chOff x="0" y="0"/>
          <a:chExt cx="0" cy="0"/>
        </a:xfrm>
      </p:grpSpPr>
      <p:sp>
        <p:nvSpPr>
          <p:cNvPr id="886" name="Google Shape;886;p60"/>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87" name="Google Shape;887;p60"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Reduce Side Join</a:t>
            </a:r>
            <a:endParaRPr/>
          </a:p>
        </p:txBody>
      </p:sp>
      <p:grpSp>
        <p:nvGrpSpPr>
          <p:cNvPr id="888" name="Google Shape;888;p60"/>
          <p:cNvGrpSpPr/>
          <p:nvPr/>
        </p:nvGrpSpPr>
        <p:grpSpPr>
          <a:xfrm>
            <a:off x="-2" y="1998368"/>
            <a:ext cx="11695083" cy="782176"/>
            <a:chOff x="-2" y="1998368"/>
            <a:chExt cx="11695083" cy="782176"/>
          </a:xfrm>
        </p:grpSpPr>
        <p:sp>
          <p:nvSpPr>
            <p:cNvPr id="889" name="Google Shape;889;p60"/>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0" name="Google Shape;890;p60"/>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91" name="Google Shape;891;p60"/>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2" name="Google Shape;892;p60"/>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Intent</a:t>
            </a:r>
            <a:endParaRPr sz="1700">
              <a:solidFill>
                <a:schemeClr val="dk1"/>
              </a:solidFill>
              <a:latin typeface="Arial"/>
              <a:ea typeface="Arial"/>
              <a:cs typeface="Arial"/>
              <a:sym typeface="Arial"/>
            </a:endParaRPr>
          </a:p>
          <a:p>
            <a:pPr marL="314325" marR="0" lvl="0" indent="-228600" algn="l" rtl="0">
              <a:lnSpc>
                <a:spcPct val="90000"/>
              </a:lnSpc>
              <a:spcBef>
                <a:spcPts val="860"/>
              </a:spcBef>
              <a:spcAft>
                <a:spcPts val="0"/>
              </a:spcAft>
              <a:buClr>
                <a:schemeClr val="dk1"/>
              </a:buClr>
              <a:buSzPts val="1700"/>
              <a:buFont typeface="Arial"/>
              <a:buChar char="•"/>
            </a:pPr>
            <a:r>
              <a:rPr lang="en-US" sz="1700">
                <a:solidFill>
                  <a:schemeClr val="dk1"/>
                </a:solidFill>
                <a:latin typeface="Arial"/>
                <a:ea typeface="Arial"/>
                <a:cs typeface="Arial"/>
                <a:sym typeface="Arial"/>
              </a:rPr>
              <a:t>∗	Join large multiple data sets together by some foreign keys</a:t>
            </a:r>
            <a:endParaRPr sz="1700">
              <a:solidFill>
                <a:schemeClr val="dk1"/>
              </a:solidFill>
              <a:latin typeface="Arial"/>
              <a:ea typeface="Arial"/>
              <a:cs typeface="Arial"/>
              <a:sym typeface="Arial"/>
            </a:endParaRPr>
          </a:p>
          <a:p>
            <a:pPr marL="12700" marR="0" lvl="0" indent="-12700" algn="l" rtl="0">
              <a:lnSpc>
                <a:spcPct val="90000"/>
              </a:lnSpc>
              <a:spcBef>
                <a:spcPts val="730"/>
              </a:spcBef>
              <a:spcAft>
                <a:spcPts val="0"/>
              </a:spcAft>
              <a:buClr>
                <a:schemeClr val="dk1"/>
              </a:buClr>
              <a:buSzPts val="1700"/>
              <a:buFont typeface="Arial"/>
              <a:buChar char="•"/>
            </a:pPr>
            <a:r>
              <a:rPr lang="en-US" sz="1700">
                <a:solidFill>
                  <a:schemeClr val="dk1"/>
                </a:solidFill>
                <a:latin typeface="Arial"/>
                <a:ea typeface="Arial"/>
                <a:cs typeface="Arial"/>
                <a:sym typeface="Arial"/>
              </a:rPr>
              <a:t>∗	Motivation</a:t>
            </a:r>
            <a:endParaRPr sz="1700">
              <a:solidFill>
                <a:schemeClr val="dk1"/>
              </a:solidFill>
              <a:latin typeface="Arial"/>
              <a:ea typeface="Arial"/>
              <a:cs typeface="Arial"/>
              <a:sym typeface="Arial"/>
            </a:endParaRPr>
          </a:p>
          <a:p>
            <a:pPr marL="314325" marR="0" lvl="0" indent="-228600" algn="l" rtl="0">
              <a:lnSpc>
                <a:spcPct val="90000"/>
              </a:lnSpc>
              <a:spcBef>
                <a:spcPts val="855"/>
              </a:spcBef>
              <a:spcAft>
                <a:spcPts val="0"/>
              </a:spcAft>
              <a:buClr>
                <a:schemeClr val="dk1"/>
              </a:buClr>
              <a:buSzPts val="1700"/>
              <a:buFont typeface="Arial"/>
              <a:buChar char="•"/>
            </a:pPr>
            <a:r>
              <a:rPr lang="en-US" sz="1700">
                <a:solidFill>
                  <a:schemeClr val="dk1"/>
                </a:solidFill>
                <a:latin typeface="Arial"/>
                <a:ea typeface="Arial"/>
                <a:cs typeface="Arial"/>
                <a:sym typeface="Arial"/>
              </a:rPr>
              <a:t>∗	Simple to implement in Reducers</a:t>
            </a:r>
            <a:endParaRPr sz="1700">
              <a:solidFill>
                <a:schemeClr val="dk1"/>
              </a:solidFill>
              <a:latin typeface="Arial"/>
              <a:ea typeface="Arial"/>
              <a:cs typeface="Arial"/>
              <a:sym typeface="Arial"/>
            </a:endParaRPr>
          </a:p>
          <a:p>
            <a:pPr marL="314325" marR="0" lvl="0" indent="-228600" algn="l" rtl="0">
              <a:lnSpc>
                <a:spcPct val="90000"/>
              </a:lnSpc>
              <a:spcBef>
                <a:spcPts val="840"/>
              </a:spcBef>
              <a:spcAft>
                <a:spcPts val="0"/>
              </a:spcAft>
              <a:buClr>
                <a:schemeClr val="dk1"/>
              </a:buClr>
              <a:buSzPts val="1700"/>
              <a:buFont typeface="Arial"/>
              <a:buChar char="•"/>
            </a:pPr>
            <a:r>
              <a:rPr lang="en-US" sz="1700">
                <a:solidFill>
                  <a:schemeClr val="dk1"/>
                </a:solidFill>
                <a:latin typeface="Arial"/>
                <a:ea typeface="Arial"/>
                <a:cs typeface="Arial"/>
                <a:sym typeface="Arial"/>
              </a:rPr>
              <a:t>∗	Supports all the different join operations</a:t>
            </a:r>
            <a:endParaRPr sz="1700">
              <a:solidFill>
                <a:schemeClr val="dk1"/>
              </a:solidFill>
              <a:latin typeface="Arial"/>
              <a:ea typeface="Arial"/>
              <a:cs typeface="Arial"/>
              <a:sym typeface="Arial"/>
            </a:endParaRPr>
          </a:p>
          <a:p>
            <a:pPr marL="314325" marR="0" lvl="0" indent="-228600" algn="l" rtl="0">
              <a:lnSpc>
                <a:spcPct val="90000"/>
              </a:lnSpc>
              <a:spcBef>
                <a:spcPts val="840"/>
              </a:spcBef>
              <a:spcAft>
                <a:spcPts val="0"/>
              </a:spcAft>
              <a:buClr>
                <a:schemeClr val="dk1"/>
              </a:buClr>
              <a:buSzPts val="1700"/>
              <a:buFont typeface="Arial"/>
              <a:buChar char="•"/>
            </a:pPr>
            <a:r>
              <a:rPr lang="en-US" sz="1700">
                <a:solidFill>
                  <a:schemeClr val="dk1"/>
                </a:solidFill>
                <a:latin typeface="Arial"/>
                <a:ea typeface="Arial"/>
                <a:cs typeface="Arial"/>
                <a:sym typeface="Arial"/>
              </a:rPr>
              <a:t>∗	No limitation on the size of your data sets</a:t>
            </a:r>
            <a:endParaRPr sz="1700">
              <a:solidFill>
                <a:schemeClr val="dk1"/>
              </a:solidFill>
              <a:latin typeface="Arial"/>
              <a:ea typeface="Arial"/>
              <a:cs typeface="Arial"/>
              <a:sym typeface="Arial"/>
            </a:endParaRPr>
          </a:p>
          <a:p>
            <a:pPr marL="12700" marR="0" lvl="0" indent="-12700" algn="l" rtl="0">
              <a:lnSpc>
                <a:spcPct val="90000"/>
              </a:lnSpc>
              <a:spcBef>
                <a:spcPts val="730"/>
              </a:spcBef>
              <a:spcAft>
                <a:spcPts val="0"/>
              </a:spcAft>
              <a:buClr>
                <a:schemeClr val="dk1"/>
              </a:buClr>
              <a:buSzPts val="1700"/>
              <a:buFont typeface="Arial"/>
              <a:buChar char="•"/>
            </a:pPr>
            <a:r>
              <a:rPr lang="en-US" sz="1700">
                <a:solidFill>
                  <a:schemeClr val="dk1"/>
                </a:solidFill>
                <a:latin typeface="Arial"/>
                <a:ea typeface="Arial"/>
                <a:cs typeface="Arial"/>
                <a:sym typeface="Arial"/>
              </a:rPr>
              <a:t>∗	Applicability</a:t>
            </a:r>
            <a:endParaRPr sz="1700">
              <a:solidFill>
                <a:schemeClr val="dk1"/>
              </a:solidFill>
              <a:latin typeface="Arial"/>
              <a:ea typeface="Arial"/>
              <a:cs typeface="Arial"/>
              <a:sym typeface="Arial"/>
            </a:endParaRPr>
          </a:p>
          <a:p>
            <a:pPr marL="314325" marR="0" lvl="0" indent="-228600" algn="l" rtl="0">
              <a:lnSpc>
                <a:spcPct val="90000"/>
              </a:lnSpc>
              <a:spcBef>
                <a:spcPts val="855"/>
              </a:spcBef>
              <a:spcAft>
                <a:spcPts val="0"/>
              </a:spcAft>
              <a:buClr>
                <a:schemeClr val="dk1"/>
              </a:buClr>
              <a:buSzPts val="1700"/>
              <a:buFont typeface="Arial"/>
              <a:buChar char="•"/>
            </a:pPr>
            <a:r>
              <a:rPr lang="en-US" sz="1700">
                <a:solidFill>
                  <a:schemeClr val="dk1"/>
                </a:solidFill>
                <a:latin typeface="Arial"/>
                <a:ea typeface="Arial"/>
                <a:cs typeface="Arial"/>
                <a:sym typeface="Arial"/>
              </a:rPr>
              <a:t>∗	Multiple large data sets are being joined by a foreign key</a:t>
            </a:r>
            <a:endParaRPr sz="1700">
              <a:solidFill>
                <a:schemeClr val="dk1"/>
              </a:solidFill>
              <a:latin typeface="Arial"/>
              <a:ea typeface="Arial"/>
              <a:cs typeface="Arial"/>
              <a:sym typeface="Arial"/>
            </a:endParaRPr>
          </a:p>
          <a:p>
            <a:pPr marL="314325" marR="0" lvl="0" indent="-228600" algn="l" rtl="0">
              <a:lnSpc>
                <a:spcPct val="90000"/>
              </a:lnSpc>
              <a:spcBef>
                <a:spcPts val="840"/>
              </a:spcBef>
              <a:spcAft>
                <a:spcPts val="0"/>
              </a:spcAft>
              <a:buClr>
                <a:schemeClr val="dk1"/>
              </a:buClr>
              <a:buSzPts val="1700"/>
              <a:buFont typeface="Arial"/>
              <a:buChar char="•"/>
            </a:pPr>
            <a:r>
              <a:rPr lang="en-US" sz="1700">
                <a:solidFill>
                  <a:schemeClr val="dk1"/>
                </a:solidFill>
                <a:latin typeface="Arial"/>
                <a:ea typeface="Arial"/>
                <a:cs typeface="Arial"/>
                <a:sym typeface="Arial"/>
              </a:rPr>
              <a:t>∗	You want the flexibility of being able to execute any join operation</a:t>
            </a:r>
            <a:endParaRPr sz="1700">
              <a:solidFill>
                <a:schemeClr val="dk1"/>
              </a:solidFill>
              <a:latin typeface="Arial"/>
              <a:ea typeface="Arial"/>
              <a:cs typeface="Arial"/>
              <a:sym typeface="Arial"/>
            </a:endParaRPr>
          </a:p>
          <a:p>
            <a:pPr marL="314325" marR="0" lvl="0" indent="-228600" algn="l" rtl="0">
              <a:lnSpc>
                <a:spcPct val="90000"/>
              </a:lnSpc>
              <a:spcBef>
                <a:spcPts val="840"/>
              </a:spcBef>
              <a:spcAft>
                <a:spcPts val="0"/>
              </a:spcAft>
              <a:buClr>
                <a:schemeClr val="dk1"/>
              </a:buClr>
              <a:buSzPts val="1700"/>
              <a:buFont typeface="Arial"/>
              <a:buChar char="•"/>
            </a:pPr>
            <a:r>
              <a:rPr lang="en-US" sz="1700">
                <a:solidFill>
                  <a:schemeClr val="dk1"/>
                </a:solidFill>
                <a:latin typeface="Arial"/>
                <a:ea typeface="Arial"/>
                <a:cs typeface="Arial"/>
                <a:sym typeface="Arial"/>
              </a:rPr>
              <a:t>∗	A large amount of network bandwidth</a:t>
            </a:r>
            <a:endParaRPr sz="1700">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6"/>
        <p:cNvGrpSpPr/>
        <p:nvPr/>
      </p:nvGrpSpPr>
      <p:grpSpPr>
        <a:xfrm>
          <a:off x="0" y="0"/>
          <a:ext cx="0" cy="0"/>
          <a:chOff x="0" y="0"/>
          <a:chExt cx="0" cy="0"/>
        </a:xfrm>
      </p:grpSpPr>
      <p:sp>
        <p:nvSpPr>
          <p:cNvPr id="897" name="Google Shape;897;p6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8" name="Google Shape;898;p61" descr="$PPTXTitle"/>
          <p:cNvSpPr txBox="1">
            <a:spLocks noGrp="1"/>
          </p:cNvSpPr>
          <p:nvPr>
            <p:ph type="title"/>
          </p:nvPr>
        </p:nvSpPr>
        <p:spPr>
          <a:xfrm>
            <a:off x="589560" y="856180"/>
            <a:ext cx="4560584" cy="1128068"/>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000"/>
              <a:buFont typeface="Play"/>
              <a:buNone/>
            </a:pPr>
            <a:r>
              <a:rPr lang="en-US" sz="4000"/>
              <a:t>Reduce Side Join</a:t>
            </a:r>
            <a:endParaRPr/>
          </a:p>
        </p:txBody>
      </p:sp>
      <p:grpSp>
        <p:nvGrpSpPr>
          <p:cNvPr id="899" name="Google Shape;899;p61"/>
          <p:cNvGrpSpPr/>
          <p:nvPr/>
        </p:nvGrpSpPr>
        <p:grpSpPr>
          <a:xfrm>
            <a:off x="0" y="1083484"/>
            <a:ext cx="355196" cy="673460"/>
            <a:chOff x="0" y="823811"/>
            <a:chExt cx="355196" cy="673460"/>
          </a:xfrm>
        </p:grpSpPr>
        <p:sp>
          <p:nvSpPr>
            <p:cNvPr id="900" name="Google Shape;900;p61"/>
            <p:cNvSpPr/>
            <p:nvPr/>
          </p:nvSpPr>
          <p:spPr>
            <a:xfrm>
              <a:off x="0" y="823811"/>
              <a:ext cx="87363"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1" name="Google Shape;901;p61"/>
            <p:cNvSpPr/>
            <p:nvPr/>
          </p:nvSpPr>
          <p:spPr>
            <a:xfrm>
              <a:off x="159341" y="823811"/>
              <a:ext cx="195855"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902" name="Google Shape;902;p61"/>
          <p:cNvSpPr/>
          <p:nvPr/>
        </p:nvSpPr>
        <p:spPr>
          <a:xfrm flipH="1">
            <a:off x="665085" y="2090569"/>
            <a:ext cx="429768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3" name="Google Shape;903;p61"/>
          <p:cNvSpPr txBox="1"/>
          <p:nvPr/>
        </p:nvSpPr>
        <p:spPr>
          <a:xfrm>
            <a:off x="590719" y="2330505"/>
            <a:ext cx="4559425" cy="3979585"/>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	The mapper prepares the join operation</a:t>
            </a:r>
            <a:endParaRPr sz="1400">
              <a:solidFill>
                <a:schemeClr val="dk1"/>
              </a:solidFill>
              <a:latin typeface="Arial"/>
              <a:ea typeface="Arial"/>
              <a:cs typeface="Arial"/>
              <a:sym typeface="Arial"/>
            </a:endParaRPr>
          </a:p>
          <a:p>
            <a:pPr marL="314325" marR="0" lvl="0" indent="-228600" algn="l" rtl="0">
              <a:lnSpc>
                <a:spcPct val="90000"/>
              </a:lnSpc>
              <a:spcBef>
                <a:spcPts val="254"/>
              </a:spcBef>
              <a:spcAft>
                <a:spcPts val="0"/>
              </a:spcAft>
              <a:buClr>
                <a:schemeClr val="dk1"/>
              </a:buClr>
              <a:buSzPts val="1400"/>
              <a:buFont typeface="Arial"/>
              <a:buChar char="•"/>
            </a:pPr>
            <a:r>
              <a:rPr lang="en-US" sz="1400">
                <a:solidFill>
                  <a:schemeClr val="dk1"/>
                </a:solidFill>
                <a:latin typeface="Arial"/>
                <a:ea typeface="Arial"/>
                <a:cs typeface="Arial"/>
                <a:sym typeface="Arial"/>
              </a:rPr>
              <a:t>∗	Takes each input record from each of the data sets</a:t>
            </a:r>
            <a:endParaRPr sz="1400">
              <a:solidFill>
                <a:schemeClr val="dk1"/>
              </a:solidFill>
              <a:latin typeface="Arial"/>
              <a:ea typeface="Arial"/>
              <a:cs typeface="Arial"/>
              <a:sym typeface="Arial"/>
            </a:endParaRPr>
          </a:p>
          <a:p>
            <a:pPr marL="314325" marR="0" lvl="0" indent="-228600" algn="l" rtl="0">
              <a:lnSpc>
                <a:spcPct val="90000"/>
              </a:lnSpc>
              <a:spcBef>
                <a:spcPts val="240"/>
              </a:spcBef>
              <a:spcAft>
                <a:spcPts val="0"/>
              </a:spcAft>
              <a:buClr>
                <a:schemeClr val="dk1"/>
              </a:buClr>
              <a:buSzPts val="1400"/>
              <a:buFont typeface="Arial"/>
              <a:buChar char="•"/>
            </a:pPr>
            <a:r>
              <a:rPr lang="en-US" sz="1400">
                <a:solidFill>
                  <a:schemeClr val="dk1"/>
                </a:solidFill>
                <a:latin typeface="Arial"/>
                <a:ea typeface="Arial"/>
                <a:cs typeface="Arial"/>
                <a:sym typeface="Arial"/>
              </a:rPr>
              <a:t>∗	Extracts foreign key from each record</a:t>
            </a:r>
            <a:endParaRPr sz="1400">
              <a:solidFill>
                <a:schemeClr val="dk1"/>
              </a:solidFill>
              <a:latin typeface="Arial"/>
              <a:ea typeface="Arial"/>
              <a:cs typeface="Arial"/>
              <a:sym typeface="Arial"/>
            </a:endParaRPr>
          </a:p>
          <a:p>
            <a:pPr marL="314325" marR="0" lvl="0" indent="-228600" algn="l" rtl="0">
              <a:lnSpc>
                <a:spcPct val="90000"/>
              </a:lnSpc>
              <a:spcBef>
                <a:spcPts val="240"/>
              </a:spcBef>
              <a:spcAft>
                <a:spcPts val="0"/>
              </a:spcAft>
              <a:buClr>
                <a:schemeClr val="dk1"/>
              </a:buClr>
              <a:buSzPts val="1400"/>
              <a:buFont typeface="Arial"/>
              <a:buChar char="•"/>
            </a:pPr>
            <a:r>
              <a:rPr lang="en-US" sz="1400">
                <a:solidFill>
                  <a:schemeClr val="dk1"/>
                </a:solidFill>
                <a:latin typeface="Arial"/>
                <a:ea typeface="Arial"/>
                <a:cs typeface="Arial"/>
                <a:sym typeface="Arial"/>
              </a:rPr>
              <a:t>∗	Output key: foreign key</a:t>
            </a:r>
            <a:endParaRPr sz="1400">
              <a:solidFill>
                <a:schemeClr val="dk1"/>
              </a:solidFill>
              <a:latin typeface="Arial"/>
              <a:ea typeface="Arial"/>
              <a:cs typeface="Arial"/>
              <a:sym typeface="Arial"/>
            </a:endParaRPr>
          </a:p>
          <a:p>
            <a:pPr marL="588645" marR="120014" lvl="0" indent="-228600" algn="l" rtl="0">
              <a:lnSpc>
                <a:spcPct val="90000"/>
              </a:lnSpc>
              <a:spcBef>
                <a:spcPts val="600"/>
              </a:spcBef>
              <a:spcAft>
                <a:spcPts val="0"/>
              </a:spcAft>
              <a:buClr>
                <a:schemeClr val="dk1"/>
              </a:buClr>
              <a:buSzPts val="1400"/>
              <a:buFont typeface="Arial"/>
              <a:buChar char="•"/>
            </a:pPr>
            <a:r>
              <a:rPr lang="en-US" sz="1400">
                <a:solidFill>
                  <a:schemeClr val="dk1"/>
                </a:solidFill>
                <a:latin typeface="Arial"/>
                <a:ea typeface="Arial"/>
                <a:cs typeface="Arial"/>
                <a:sym typeface="Arial"/>
              </a:rPr>
              <a:t>∗	Output value: entire input record which is flagged by some unique identifier for the data set</a:t>
            </a:r>
            <a:endParaRPr sz="1400">
              <a:solidFill>
                <a:schemeClr val="dk1"/>
              </a:solidFill>
              <a:latin typeface="Arial"/>
              <a:ea typeface="Arial"/>
              <a:cs typeface="Arial"/>
              <a:sym typeface="Arial"/>
            </a:endParaRPr>
          </a:p>
          <a:p>
            <a:pPr marL="286385" marR="119380" lvl="0" indent="-228600" algn="l" rtl="0">
              <a:lnSpc>
                <a:spcPct val="90000"/>
              </a:lnSpc>
              <a:spcBef>
                <a:spcPts val="1185"/>
              </a:spcBef>
              <a:spcAft>
                <a:spcPts val="0"/>
              </a:spcAft>
              <a:buClr>
                <a:schemeClr val="dk1"/>
              </a:buClr>
              <a:buSzPts val="1400"/>
              <a:buFont typeface="Arial"/>
              <a:buChar char="•"/>
            </a:pPr>
            <a:r>
              <a:rPr lang="en-US" sz="1400">
                <a:solidFill>
                  <a:schemeClr val="dk1"/>
                </a:solidFill>
                <a:latin typeface="Arial"/>
                <a:ea typeface="Arial"/>
                <a:cs typeface="Arial"/>
                <a:sym typeface="Arial"/>
              </a:rPr>
              <a:t>∗	Reducer performs the desired join operation by collecting the values of each input group into temp lists</a:t>
            </a:r>
            <a:endParaRPr sz="1400">
              <a:solidFill>
                <a:schemeClr val="dk1"/>
              </a:solidFill>
              <a:latin typeface="Arial"/>
              <a:ea typeface="Arial"/>
              <a:cs typeface="Arial"/>
              <a:sym typeface="Arial"/>
            </a:endParaRPr>
          </a:p>
          <a:p>
            <a:pPr marL="588645" marR="5080" lvl="0" indent="-228600" algn="l" rtl="0">
              <a:lnSpc>
                <a:spcPct val="90000"/>
              </a:lnSpc>
              <a:spcBef>
                <a:spcPts val="605"/>
              </a:spcBef>
              <a:spcAft>
                <a:spcPts val="0"/>
              </a:spcAft>
              <a:buClr>
                <a:schemeClr val="dk1"/>
              </a:buClr>
              <a:buSzPts val="1400"/>
              <a:buFont typeface="Arial"/>
              <a:buChar char="•"/>
            </a:pPr>
            <a:r>
              <a:rPr lang="en-US" sz="1400">
                <a:solidFill>
                  <a:schemeClr val="dk1"/>
                </a:solidFill>
                <a:latin typeface="Arial"/>
                <a:ea typeface="Arial"/>
                <a:cs typeface="Arial"/>
                <a:sym typeface="Arial"/>
              </a:rPr>
              <a:t>∗	Lists are then iterated over and the records from both sets are joined together</a:t>
            </a:r>
            <a:endParaRPr sz="1400">
              <a:solidFill>
                <a:schemeClr val="dk1"/>
              </a:solidFill>
              <a:latin typeface="Arial"/>
              <a:ea typeface="Arial"/>
              <a:cs typeface="Arial"/>
              <a:sym typeface="Arial"/>
            </a:endParaRPr>
          </a:p>
          <a:p>
            <a:pPr marL="588645" marR="417830" lvl="0" indent="-228600" algn="l" rtl="0">
              <a:lnSpc>
                <a:spcPct val="90000"/>
              </a:lnSpc>
              <a:spcBef>
                <a:spcPts val="600"/>
              </a:spcBef>
              <a:spcAft>
                <a:spcPts val="0"/>
              </a:spcAft>
              <a:buClr>
                <a:schemeClr val="dk1"/>
              </a:buClr>
              <a:buSzPts val="1400"/>
              <a:buFont typeface="Arial"/>
              <a:buChar char="•"/>
            </a:pPr>
            <a:r>
              <a:rPr lang="en-US" sz="1400">
                <a:solidFill>
                  <a:schemeClr val="dk1"/>
                </a:solidFill>
                <a:latin typeface="Arial"/>
                <a:ea typeface="Arial"/>
                <a:cs typeface="Arial"/>
                <a:sym typeface="Arial"/>
              </a:rPr>
              <a:t>∗	Output is a number of part files equivalent to the number of reduce tasks</a:t>
            </a:r>
            <a:endParaRPr sz="1400">
              <a:solidFill>
                <a:schemeClr val="dk1"/>
              </a:solidFill>
              <a:latin typeface="Arial"/>
              <a:ea typeface="Arial"/>
              <a:cs typeface="Arial"/>
              <a:sym typeface="Arial"/>
            </a:endParaRPr>
          </a:p>
        </p:txBody>
      </p:sp>
      <p:sp>
        <p:nvSpPr>
          <p:cNvPr id="904" name="Google Shape;904;p61"/>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5" name="Google Shape;905;p61"/>
          <p:cNvSpPr/>
          <p:nvPr/>
        </p:nvSpPr>
        <p:spPr>
          <a:xfrm>
            <a:off x="5685810" y="513853"/>
            <a:ext cx="6009366" cy="5834577"/>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906" name="Google Shape;906;p61"/>
          <p:cNvPicPr preferRelativeResize="0"/>
          <p:nvPr/>
        </p:nvPicPr>
        <p:blipFill rotWithShape="1">
          <a:blip r:embed="rId3">
            <a:alphaModFix/>
          </a:blip>
          <a:srcRect l="10922" r="10933" b="-2"/>
          <a:stretch/>
        </p:blipFill>
        <p:spPr>
          <a:xfrm>
            <a:off x="5977788" y="799352"/>
            <a:ext cx="5425410" cy="525929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62"/>
          <p:cNvSpPr txBox="1"/>
          <p:nvPr/>
        </p:nvSpPr>
        <p:spPr>
          <a:xfrm>
            <a:off x="1607629" y="1894364"/>
            <a:ext cx="1762125" cy="31496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900">
                <a:solidFill>
                  <a:srgbClr val="30B6FC"/>
                </a:solidFill>
                <a:latin typeface="Arimo"/>
                <a:ea typeface="Arimo"/>
                <a:cs typeface="Arimo"/>
                <a:sym typeface="Arimo"/>
              </a:rPr>
              <a:t>∗	</a:t>
            </a:r>
            <a:r>
              <a:rPr lang="en-US" sz="1900">
                <a:solidFill>
                  <a:srgbClr val="063D86"/>
                </a:solidFill>
                <a:latin typeface="Arial"/>
                <a:ea typeface="Arial"/>
                <a:cs typeface="Arial"/>
                <a:sym typeface="Arial"/>
              </a:rPr>
              <a:t>Resemblances</a:t>
            </a:r>
            <a:endParaRPr sz="1900">
              <a:solidFill>
                <a:schemeClr val="dk1"/>
              </a:solidFill>
              <a:latin typeface="Arial"/>
              <a:ea typeface="Arial"/>
              <a:cs typeface="Arial"/>
              <a:sym typeface="Arial"/>
            </a:endParaRPr>
          </a:p>
        </p:txBody>
      </p:sp>
      <p:sp>
        <p:nvSpPr>
          <p:cNvPr id="912" name="Google Shape;912;p62" descr="$PPTXTitle"/>
          <p:cNvSpPr txBox="1">
            <a:spLocks noGrp="1"/>
          </p:cNvSpPr>
          <p:nvPr>
            <p:ph type="title"/>
          </p:nvPr>
        </p:nvSpPr>
        <p:spPr>
          <a:xfrm>
            <a:off x="4089653" y="580389"/>
            <a:ext cx="401383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Reduce Side Join</a:t>
            </a:r>
            <a:endParaRPr/>
          </a:p>
        </p:txBody>
      </p:sp>
      <p:pic>
        <p:nvPicPr>
          <p:cNvPr id="913" name="Google Shape;913;p62"/>
          <p:cNvPicPr preferRelativeResize="0"/>
          <p:nvPr/>
        </p:nvPicPr>
        <p:blipFill rotWithShape="1">
          <a:blip r:embed="rId3">
            <a:alphaModFix/>
          </a:blip>
          <a:srcRect/>
          <a:stretch/>
        </p:blipFill>
        <p:spPr>
          <a:xfrm>
            <a:off x="1822359" y="2380691"/>
            <a:ext cx="6102095" cy="1036320"/>
          </a:xfrm>
          <a:prstGeom prst="rect">
            <a:avLst/>
          </a:prstGeom>
          <a:noFill/>
          <a:ln>
            <a:noFill/>
          </a:ln>
        </p:spPr>
      </p:pic>
      <p:grpSp>
        <p:nvGrpSpPr>
          <p:cNvPr id="914" name="Google Shape;914;p62"/>
          <p:cNvGrpSpPr/>
          <p:nvPr/>
        </p:nvGrpSpPr>
        <p:grpSpPr>
          <a:xfrm>
            <a:off x="1760155" y="3445819"/>
            <a:ext cx="9746044" cy="3048479"/>
            <a:chOff x="0" y="4829"/>
            <a:chExt cx="9746044" cy="3048479"/>
          </a:xfrm>
        </p:grpSpPr>
        <p:sp>
          <p:nvSpPr>
            <p:cNvPr id="915" name="Google Shape;915;p62"/>
            <p:cNvSpPr/>
            <p:nvPr/>
          </p:nvSpPr>
          <p:spPr>
            <a:xfrm>
              <a:off x="0" y="4829"/>
              <a:ext cx="9746044" cy="542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62"/>
            <p:cNvSpPr txBox="1"/>
            <p:nvPr/>
          </p:nvSpPr>
          <p:spPr>
            <a:xfrm>
              <a:off x="26501" y="31330"/>
              <a:ext cx="9693042" cy="48987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Performance Analysis</a:t>
              </a:r>
              <a:endParaRPr/>
            </a:p>
          </p:txBody>
        </p:sp>
        <p:sp>
          <p:nvSpPr>
            <p:cNvPr id="917" name="Google Shape;917;p62"/>
            <p:cNvSpPr/>
            <p:nvPr/>
          </p:nvSpPr>
          <p:spPr>
            <a:xfrm>
              <a:off x="0" y="631229"/>
              <a:ext cx="9746044" cy="542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62"/>
            <p:cNvSpPr txBox="1"/>
            <p:nvPr/>
          </p:nvSpPr>
          <p:spPr>
            <a:xfrm>
              <a:off x="26501" y="657730"/>
              <a:ext cx="9693042" cy="48987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The whole data moves across the network to reducers</a:t>
              </a:r>
              <a:endParaRPr/>
            </a:p>
          </p:txBody>
        </p:sp>
        <p:sp>
          <p:nvSpPr>
            <p:cNvPr id="919" name="Google Shape;919;p62"/>
            <p:cNvSpPr/>
            <p:nvPr/>
          </p:nvSpPr>
          <p:spPr>
            <a:xfrm>
              <a:off x="0" y="1257629"/>
              <a:ext cx="9746044" cy="542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2"/>
            <p:cNvSpPr txBox="1"/>
            <p:nvPr/>
          </p:nvSpPr>
          <p:spPr>
            <a:xfrm>
              <a:off x="26501" y="1284130"/>
              <a:ext cx="9693042" cy="48987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∗You can optimize by using projection and sending only the required fields</a:t>
              </a:r>
              <a:endParaRPr/>
            </a:p>
          </p:txBody>
        </p:sp>
        <p:sp>
          <p:nvSpPr>
            <p:cNvPr id="921" name="Google Shape;921;p62"/>
            <p:cNvSpPr/>
            <p:nvPr/>
          </p:nvSpPr>
          <p:spPr>
            <a:xfrm>
              <a:off x="0" y="1884029"/>
              <a:ext cx="9746044" cy="542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2"/>
            <p:cNvSpPr txBox="1"/>
            <p:nvPr/>
          </p:nvSpPr>
          <p:spPr>
            <a:xfrm>
              <a:off x="26501" y="1910530"/>
              <a:ext cx="9693042" cy="48987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∗Number of reducers typically higher than normal</a:t>
              </a:r>
              <a:endParaRPr/>
            </a:p>
          </p:txBody>
        </p:sp>
        <p:sp>
          <p:nvSpPr>
            <p:cNvPr id="923" name="Google Shape;923;p62"/>
            <p:cNvSpPr/>
            <p:nvPr/>
          </p:nvSpPr>
          <p:spPr>
            <a:xfrm>
              <a:off x="0" y="2510428"/>
              <a:ext cx="9746044" cy="542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62"/>
            <p:cNvSpPr txBox="1"/>
            <p:nvPr/>
          </p:nvSpPr>
          <p:spPr>
            <a:xfrm>
              <a:off x="26501" y="2536929"/>
              <a:ext cx="9693042" cy="48987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∗If you can use any other Join type for your problem, use that instead</a:t>
              </a: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63" descr="$PPTXTitle"/>
          <p:cNvSpPr txBox="1">
            <a:spLocks noGrp="1"/>
          </p:cNvSpPr>
          <p:nvPr>
            <p:ph type="title"/>
          </p:nvPr>
        </p:nvSpPr>
        <p:spPr>
          <a:xfrm>
            <a:off x="4089653" y="580389"/>
            <a:ext cx="401383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Reduce Side Join</a:t>
            </a:r>
            <a:endParaRPr/>
          </a:p>
        </p:txBody>
      </p:sp>
      <p:grpSp>
        <p:nvGrpSpPr>
          <p:cNvPr id="930" name="Google Shape;930;p63"/>
          <p:cNvGrpSpPr/>
          <p:nvPr/>
        </p:nvGrpSpPr>
        <p:grpSpPr>
          <a:xfrm>
            <a:off x="4857750" y="3252724"/>
            <a:ext cx="2457450" cy="589280"/>
            <a:chOff x="4857750" y="3252724"/>
            <a:chExt cx="2457450" cy="589280"/>
          </a:xfrm>
        </p:grpSpPr>
        <p:pic>
          <p:nvPicPr>
            <p:cNvPr id="931" name="Google Shape;931;p63"/>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932" name="Google Shape;932;p63"/>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3" name="Google Shape;933;p63"/>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34" name="Google Shape;934;p63"/>
          <p:cNvSpPr txBox="1"/>
          <p:nvPr/>
        </p:nvSpPr>
        <p:spPr>
          <a:xfrm>
            <a:off x="4907660" y="4127754"/>
            <a:ext cx="16529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Reduce Side Join</a:t>
            </a:r>
            <a:endParaRPr sz="1800">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8"/>
        <p:cNvGrpSpPr/>
        <p:nvPr/>
      </p:nvGrpSpPr>
      <p:grpSpPr>
        <a:xfrm>
          <a:off x="0" y="0"/>
          <a:ext cx="0" cy="0"/>
          <a:chOff x="0" y="0"/>
          <a:chExt cx="0" cy="0"/>
        </a:xfrm>
      </p:grpSpPr>
      <p:sp>
        <p:nvSpPr>
          <p:cNvPr id="939" name="Google Shape;939;p6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940" name="Google Shape;940;p64"/>
          <p:cNvGrpSpPr/>
          <p:nvPr/>
        </p:nvGrpSpPr>
        <p:grpSpPr>
          <a:xfrm>
            <a:off x="4" y="1216597"/>
            <a:ext cx="731521" cy="673460"/>
            <a:chOff x="3940602" y="308034"/>
            <a:chExt cx="2116791" cy="3428999"/>
          </a:xfrm>
        </p:grpSpPr>
        <p:sp>
          <p:nvSpPr>
            <p:cNvPr id="941" name="Google Shape;941;p64"/>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2" name="Google Shape;942;p64"/>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3" name="Google Shape;943;p64"/>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944" name="Google Shape;944;p64"/>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5" name="Google Shape;945;p64"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Replicated Side Join</a:t>
            </a:r>
            <a:endParaRPr/>
          </a:p>
        </p:txBody>
      </p:sp>
      <p:sp>
        <p:nvSpPr>
          <p:cNvPr id="946" name="Google Shape;946;p64"/>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Intent</a:t>
            </a:r>
            <a:endParaRPr sz="2000">
              <a:solidFill>
                <a:schemeClr val="dk1"/>
              </a:solidFill>
              <a:latin typeface="Arial"/>
              <a:ea typeface="Arial"/>
              <a:cs typeface="Arial"/>
              <a:sym typeface="Arial"/>
            </a:endParaRPr>
          </a:p>
          <a:p>
            <a:pPr marL="314325" marR="0" lvl="0" indent="-228600" algn="l" rtl="0">
              <a:lnSpc>
                <a:spcPct val="90000"/>
              </a:lnSpc>
              <a:spcBef>
                <a:spcPts val="1225"/>
              </a:spcBef>
              <a:spcAft>
                <a:spcPts val="0"/>
              </a:spcAft>
              <a:buClr>
                <a:schemeClr val="dk1"/>
              </a:buClr>
              <a:buSzPts val="2000"/>
              <a:buFont typeface="Arial"/>
              <a:buChar char="•"/>
            </a:pPr>
            <a:r>
              <a:rPr lang="en-US" sz="2000">
                <a:solidFill>
                  <a:schemeClr val="dk1"/>
                </a:solidFill>
                <a:latin typeface="Arial"/>
                <a:ea typeface="Arial"/>
                <a:cs typeface="Arial"/>
                <a:sym typeface="Arial"/>
              </a:rPr>
              <a:t>∗	Eliminates the need to shuffle any data to the reduce phase</a:t>
            </a:r>
            <a:endParaRPr sz="2000">
              <a:solidFill>
                <a:schemeClr val="dk1"/>
              </a:solidFill>
              <a:latin typeface="Arial"/>
              <a:ea typeface="Arial"/>
              <a:cs typeface="Arial"/>
              <a:sym typeface="Arial"/>
            </a:endParaRPr>
          </a:p>
          <a:p>
            <a:pPr marL="12700" marR="0" lvl="0" indent="-12700" algn="l" rtl="0">
              <a:lnSpc>
                <a:spcPct val="90000"/>
              </a:lnSpc>
              <a:spcBef>
                <a:spcPts val="1175"/>
              </a:spcBef>
              <a:spcAft>
                <a:spcPts val="0"/>
              </a:spcAft>
              <a:buClr>
                <a:schemeClr val="dk1"/>
              </a:buClr>
              <a:buSzPts val="2000"/>
              <a:buFont typeface="Arial"/>
              <a:buChar char="•"/>
            </a:pPr>
            <a:r>
              <a:rPr lang="en-US" sz="2000">
                <a:solidFill>
                  <a:schemeClr val="dk1"/>
                </a:solidFill>
                <a:latin typeface="Arial"/>
                <a:ea typeface="Arial"/>
                <a:cs typeface="Arial"/>
                <a:sym typeface="Arial"/>
              </a:rPr>
              <a:t>∗	Motivation</a:t>
            </a:r>
            <a:endParaRPr sz="2000">
              <a:solidFill>
                <a:schemeClr val="dk1"/>
              </a:solidFill>
              <a:latin typeface="Arial"/>
              <a:ea typeface="Arial"/>
              <a:cs typeface="Arial"/>
              <a:sym typeface="Arial"/>
            </a:endParaRPr>
          </a:p>
          <a:p>
            <a:pPr marL="588645" marR="5080" lvl="0" indent="-228600" algn="l" rtl="0">
              <a:lnSpc>
                <a:spcPct val="90000"/>
              </a:lnSpc>
              <a:spcBef>
                <a:spcPts val="1225"/>
              </a:spcBef>
              <a:spcAft>
                <a:spcPts val="0"/>
              </a:spcAft>
              <a:buClr>
                <a:schemeClr val="dk1"/>
              </a:buClr>
              <a:buSzPts val="2000"/>
              <a:buFont typeface="Arial"/>
              <a:buChar char="•"/>
            </a:pPr>
            <a:r>
              <a:rPr lang="en-US" sz="2000">
                <a:solidFill>
                  <a:schemeClr val="dk1"/>
                </a:solidFill>
                <a:latin typeface="Arial"/>
                <a:ea typeface="Arial"/>
                <a:cs typeface="Arial"/>
                <a:sym typeface="Arial"/>
              </a:rPr>
              <a:t>∗	All the data sets except the very large one are essentially read into memory during the setup phase of each map task, which is limited by the JVM heap</a:t>
            </a:r>
            <a:endParaRPr sz="2000">
              <a:solidFill>
                <a:schemeClr val="dk1"/>
              </a:solidFill>
              <a:latin typeface="Arial"/>
              <a:ea typeface="Arial"/>
              <a:cs typeface="Arial"/>
              <a:sym typeface="Arial"/>
            </a:endParaRPr>
          </a:p>
          <a:p>
            <a:pPr marL="12700" marR="0" lvl="0" indent="-12700" algn="l" rtl="0">
              <a:lnSpc>
                <a:spcPct val="90000"/>
              </a:lnSpc>
              <a:spcBef>
                <a:spcPts val="1175"/>
              </a:spcBef>
              <a:spcAft>
                <a:spcPts val="0"/>
              </a:spcAft>
              <a:buClr>
                <a:schemeClr val="dk1"/>
              </a:buClr>
              <a:buSzPts val="2000"/>
              <a:buFont typeface="Arial"/>
              <a:buChar char="•"/>
            </a:pPr>
            <a:r>
              <a:rPr lang="en-US" sz="2000">
                <a:solidFill>
                  <a:schemeClr val="dk1"/>
                </a:solidFill>
                <a:latin typeface="Arial"/>
                <a:ea typeface="Arial"/>
                <a:cs typeface="Arial"/>
                <a:sym typeface="Arial"/>
              </a:rPr>
              <a:t>∗	Applicability</a:t>
            </a:r>
            <a:endParaRPr sz="2000">
              <a:solidFill>
                <a:schemeClr val="dk1"/>
              </a:solidFill>
              <a:latin typeface="Arial"/>
              <a:ea typeface="Arial"/>
              <a:cs typeface="Arial"/>
              <a:sym typeface="Arial"/>
            </a:endParaRPr>
          </a:p>
          <a:p>
            <a:pPr marL="314325" marR="0" lvl="0" indent="-228600" algn="l" rtl="0">
              <a:lnSpc>
                <a:spcPct val="90000"/>
              </a:lnSpc>
              <a:spcBef>
                <a:spcPts val="1230"/>
              </a:spcBef>
              <a:spcAft>
                <a:spcPts val="0"/>
              </a:spcAft>
              <a:buClr>
                <a:schemeClr val="dk1"/>
              </a:buClr>
              <a:buSzPts val="2000"/>
              <a:buFont typeface="Arial"/>
              <a:buChar char="•"/>
            </a:pPr>
            <a:r>
              <a:rPr lang="en-US" sz="2000">
                <a:solidFill>
                  <a:schemeClr val="dk1"/>
                </a:solidFill>
                <a:latin typeface="Arial"/>
                <a:ea typeface="Arial"/>
                <a:cs typeface="Arial"/>
                <a:sym typeface="Arial"/>
              </a:rPr>
              <a:t>∗	All of the data sets, except for the large one, can be fit into main memory of each map task</a:t>
            </a:r>
            <a:endParaRPr sz="2000">
              <a:solidFill>
                <a:schemeClr val="dk1"/>
              </a:solidFill>
              <a:latin typeface="Arial"/>
              <a:ea typeface="Arial"/>
              <a:cs typeface="Arial"/>
              <a:sym typeface="Arial"/>
            </a:endParaRPr>
          </a:p>
        </p:txBody>
      </p:sp>
      <p:cxnSp>
        <p:nvCxnSpPr>
          <p:cNvPr id="947" name="Google Shape;947;p64"/>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1"/>
        <p:cNvGrpSpPr/>
        <p:nvPr/>
      </p:nvGrpSpPr>
      <p:grpSpPr>
        <a:xfrm>
          <a:off x="0" y="0"/>
          <a:ext cx="0" cy="0"/>
          <a:chOff x="0" y="0"/>
          <a:chExt cx="0" cy="0"/>
        </a:xfrm>
      </p:grpSpPr>
      <p:sp>
        <p:nvSpPr>
          <p:cNvPr id="952" name="Google Shape;952;p65"/>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53" name="Google Shape;953;p65" descr="$PPTXTitle"/>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t>Replicated Side Join</a:t>
            </a:r>
            <a:endParaRPr/>
          </a:p>
        </p:txBody>
      </p:sp>
      <p:sp>
        <p:nvSpPr>
          <p:cNvPr id="954" name="Google Shape;954;p65"/>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55" name="Google Shape;955;p65"/>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56" name="Google Shape;956;p65"/>
          <p:cNvSpPr txBo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Map-only pattern</a:t>
            </a:r>
            <a:endParaRPr sz="2000">
              <a:solidFill>
                <a:schemeClr val="dk1"/>
              </a:solidFill>
              <a:latin typeface="Arial"/>
              <a:ea typeface="Arial"/>
              <a:cs typeface="Arial"/>
              <a:sym typeface="Arial"/>
            </a:endParaRPr>
          </a:p>
          <a:p>
            <a:pPr marL="12700" marR="0" lvl="0" indent="-12700" algn="l" rtl="0">
              <a:lnSpc>
                <a:spcPct val="90000"/>
              </a:lnSpc>
              <a:spcBef>
                <a:spcPts val="1200"/>
              </a:spcBef>
              <a:spcAft>
                <a:spcPts val="0"/>
              </a:spcAft>
              <a:buClr>
                <a:schemeClr val="dk1"/>
              </a:buClr>
              <a:buSzPts val="2000"/>
              <a:buFont typeface="Arial"/>
              <a:buChar char="•"/>
            </a:pPr>
            <a:r>
              <a:rPr lang="en-US" sz="2000">
                <a:solidFill>
                  <a:schemeClr val="dk1"/>
                </a:solidFill>
                <a:latin typeface="Arial"/>
                <a:ea typeface="Arial"/>
                <a:cs typeface="Arial"/>
                <a:sym typeface="Arial"/>
              </a:rPr>
              <a:t>∗	Read all files from the distributed cache and</a:t>
            </a:r>
            <a:endParaRPr sz="2000">
              <a:solidFill>
                <a:schemeClr val="dk1"/>
              </a:solidFill>
              <a:latin typeface="Arial"/>
              <a:ea typeface="Arial"/>
              <a:cs typeface="Arial"/>
              <a:sym typeface="Arial"/>
            </a:endParaRPr>
          </a:p>
          <a:p>
            <a:pPr marL="286385" marR="0" lvl="0" indent="-228600" algn="l" rtl="0">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store them into in-memory lookup tables</a:t>
            </a:r>
            <a:endParaRPr sz="2000">
              <a:solidFill>
                <a:schemeClr val="dk1"/>
              </a:solidFill>
              <a:latin typeface="Arial"/>
              <a:ea typeface="Arial"/>
              <a:cs typeface="Arial"/>
              <a:sym typeface="Arial"/>
            </a:endParaRPr>
          </a:p>
          <a:p>
            <a:pPr marL="286385" marR="92075" lvl="0" indent="-228600" algn="l" rtl="0">
              <a:lnSpc>
                <a:spcPct val="90000"/>
              </a:lnSpc>
              <a:spcBef>
                <a:spcPts val="1200"/>
              </a:spcBef>
              <a:spcAft>
                <a:spcPts val="0"/>
              </a:spcAft>
              <a:buClr>
                <a:schemeClr val="dk1"/>
              </a:buClr>
              <a:buSzPts val="2000"/>
              <a:buFont typeface="Arial"/>
              <a:buChar char="•"/>
            </a:pPr>
            <a:r>
              <a:rPr lang="en-US" sz="2000">
                <a:solidFill>
                  <a:schemeClr val="dk1"/>
                </a:solidFill>
                <a:latin typeface="Arial"/>
                <a:ea typeface="Arial"/>
                <a:cs typeface="Arial"/>
                <a:sym typeface="Arial"/>
              </a:rPr>
              <a:t>∗	Process each record and joins it with all the data stored in-memory</a:t>
            </a:r>
            <a:endParaRPr sz="2000">
              <a:solidFill>
                <a:schemeClr val="dk1"/>
              </a:solidFill>
              <a:latin typeface="Arial"/>
              <a:ea typeface="Arial"/>
              <a:cs typeface="Arial"/>
              <a:sym typeface="Arial"/>
            </a:endParaRPr>
          </a:p>
        </p:txBody>
      </p:sp>
      <p:pic>
        <p:nvPicPr>
          <p:cNvPr id="957" name="Google Shape;957;p65"/>
          <p:cNvPicPr preferRelativeResize="0"/>
          <p:nvPr/>
        </p:nvPicPr>
        <p:blipFill rotWithShape="1">
          <a:blip r:embed="rId3">
            <a:alphaModFix/>
          </a:blip>
          <a:srcRect r="2" b="10136"/>
          <a:stretch/>
        </p:blipFill>
        <p:spPr>
          <a:xfrm>
            <a:off x="5911532" y="2484255"/>
            <a:ext cx="5150277" cy="3714244"/>
          </a:xfrm>
          <a:prstGeom prst="rect">
            <a:avLst/>
          </a:prstGeom>
          <a:noFill/>
          <a:ln>
            <a:noFill/>
          </a:ln>
        </p:spPr>
      </p:pic>
      <p:sp>
        <p:nvSpPr>
          <p:cNvPr id="958" name="Google Shape;958;p65"/>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2"/>
        <p:cNvGrpSpPr/>
        <p:nvPr/>
      </p:nvGrpSpPr>
      <p:grpSpPr>
        <a:xfrm>
          <a:off x="0" y="0"/>
          <a:ext cx="0" cy="0"/>
          <a:chOff x="0" y="0"/>
          <a:chExt cx="0" cy="0"/>
        </a:xfrm>
      </p:grpSpPr>
      <p:sp>
        <p:nvSpPr>
          <p:cNvPr id="963" name="Google Shape;963;p6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964" name="Google Shape;964;p66"/>
          <p:cNvGrpSpPr/>
          <p:nvPr/>
        </p:nvGrpSpPr>
        <p:grpSpPr>
          <a:xfrm>
            <a:off x="4" y="1216597"/>
            <a:ext cx="731521" cy="673460"/>
            <a:chOff x="3940602" y="308034"/>
            <a:chExt cx="2116791" cy="3428999"/>
          </a:xfrm>
        </p:grpSpPr>
        <p:sp>
          <p:nvSpPr>
            <p:cNvPr id="965" name="Google Shape;965;p66"/>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6" name="Google Shape;966;p66"/>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7" name="Google Shape;967;p66"/>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968" name="Google Shape;968;p66"/>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9" name="Google Shape;969;p66" descr="$PPTXTitle"/>
          <p:cNvSpPr txBox="1">
            <a:spLocks noGrp="1"/>
          </p:cNvSpPr>
          <p:nvPr>
            <p:ph type="title"/>
          </p:nvPr>
        </p:nvSpPr>
        <p:spPr>
          <a:xfrm>
            <a:off x="1043631" y="809898"/>
            <a:ext cx="10173010" cy="1554480"/>
          </a:xfrm>
          <a:prstGeom prst="rect">
            <a:avLst/>
          </a:prstGeom>
          <a:noFill/>
          <a:ln>
            <a:noFill/>
          </a:ln>
        </p:spPr>
        <p:txBody>
          <a:bodyPr spcFirstLastPara="1" wrap="square" lIns="91425" tIns="45700" rIns="91425" bIns="45700" anchor="ctr" anchorCtr="0">
            <a:normAutofit/>
          </a:bodyPr>
          <a:lstStyle/>
          <a:p>
            <a:pPr marL="12700" lvl="0" indent="0" algn="l" rtl="0">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Replicated Side Join</a:t>
            </a:r>
            <a:endParaRPr/>
          </a:p>
        </p:txBody>
      </p:sp>
      <p:cxnSp>
        <p:nvCxnSpPr>
          <p:cNvPr id="970" name="Google Shape;970;p66"/>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grpSp>
        <p:nvGrpSpPr>
          <p:cNvPr id="971" name="Google Shape;971;p66"/>
          <p:cNvGrpSpPr/>
          <p:nvPr/>
        </p:nvGrpSpPr>
        <p:grpSpPr>
          <a:xfrm>
            <a:off x="3426465" y="2365696"/>
            <a:ext cx="5405471" cy="3860406"/>
            <a:chOff x="2521863" y="1318"/>
            <a:chExt cx="5405471" cy="3860406"/>
          </a:xfrm>
        </p:grpSpPr>
        <p:sp>
          <p:nvSpPr>
            <p:cNvPr id="972" name="Google Shape;972;p66"/>
            <p:cNvSpPr/>
            <p:nvPr/>
          </p:nvSpPr>
          <p:spPr>
            <a:xfrm>
              <a:off x="5095897" y="1472378"/>
              <a:ext cx="1415718" cy="673753"/>
            </a:xfrm>
            <a:custGeom>
              <a:avLst/>
              <a:gdLst/>
              <a:ahLst/>
              <a:cxnLst/>
              <a:rect l="l" t="t" r="r" b="b"/>
              <a:pathLst>
                <a:path w="120000" h="120000" extrusionOk="0">
                  <a:moveTo>
                    <a:pt x="0" y="0"/>
                  </a:moveTo>
                  <a:lnTo>
                    <a:pt x="0" y="81776"/>
                  </a:lnTo>
                  <a:lnTo>
                    <a:pt x="120000" y="81776"/>
                  </a:lnTo>
                  <a:lnTo>
                    <a:pt x="120000" y="120000"/>
                  </a:lnTo>
                </a:path>
              </a:pathLst>
            </a:custGeom>
            <a:noFill/>
            <a:ln w="19050" cap="flat" cmpd="sng">
              <a:solidFill>
                <a:srgbClr val="0D4C67"/>
              </a:solidFill>
              <a:prstDash val="solid"/>
              <a:miter lim="800000"/>
              <a:headEnd type="none" w="sm" len="sm"/>
              <a:tailEnd type="none" w="sm" len="sm"/>
            </a:ln>
          </p:spPr>
          <p:txBody>
            <a:bodyPr/>
            <a:lstStyle/>
            <a:p>
              <a:endParaRPr lang="en-US"/>
            </a:p>
          </p:txBody>
        </p:sp>
        <p:sp>
          <p:nvSpPr>
            <p:cNvPr id="973" name="Google Shape;973;p66"/>
            <p:cNvSpPr/>
            <p:nvPr/>
          </p:nvSpPr>
          <p:spPr>
            <a:xfrm>
              <a:off x="3680178" y="1472378"/>
              <a:ext cx="1415718" cy="673753"/>
            </a:xfrm>
            <a:custGeom>
              <a:avLst/>
              <a:gdLst/>
              <a:ahLst/>
              <a:cxnLst/>
              <a:rect l="l" t="t" r="r" b="b"/>
              <a:pathLst>
                <a:path w="120000" h="120000" extrusionOk="0">
                  <a:moveTo>
                    <a:pt x="120000" y="0"/>
                  </a:moveTo>
                  <a:lnTo>
                    <a:pt x="120000" y="81776"/>
                  </a:lnTo>
                  <a:lnTo>
                    <a:pt x="0" y="81776"/>
                  </a:lnTo>
                  <a:lnTo>
                    <a:pt x="0" y="120000"/>
                  </a:lnTo>
                </a:path>
              </a:pathLst>
            </a:custGeom>
            <a:noFill/>
            <a:ln w="19050" cap="flat" cmpd="sng">
              <a:solidFill>
                <a:srgbClr val="0D4C67"/>
              </a:solidFill>
              <a:prstDash val="solid"/>
              <a:miter lim="800000"/>
              <a:headEnd type="none" w="sm" len="sm"/>
              <a:tailEnd type="none" w="sm" len="sm"/>
            </a:ln>
          </p:spPr>
          <p:txBody>
            <a:bodyPr/>
            <a:lstStyle/>
            <a:p>
              <a:endParaRPr lang="en-US"/>
            </a:p>
          </p:txBody>
        </p:sp>
        <p:sp>
          <p:nvSpPr>
            <p:cNvPr id="974" name="Google Shape;974;p66"/>
            <p:cNvSpPr/>
            <p:nvPr/>
          </p:nvSpPr>
          <p:spPr>
            <a:xfrm>
              <a:off x="3937582" y="1318"/>
              <a:ext cx="2316630" cy="1471060"/>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66"/>
            <p:cNvSpPr/>
            <p:nvPr/>
          </p:nvSpPr>
          <p:spPr>
            <a:xfrm>
              <a:off x="4194985" y="245851"/>
              <a:ext cx="2316630" cy="1471060"/>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66"/>
            <p:cNvSpPr txBox="1"/>
            <p:nvPr/>
          </p:nvSpPr>
          <p:spPr>
            <a:xfrm>
              <a:off x="4238071" y="288937"/>
              <a:ext cx="2230458" cy="138488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Performance Analysis</a:t>
              </a:r>
              <a:endParaRPr/>
            </a:p>
          </p:txBody>
        </p:sp>
        <p:sp>
          <p:nvSpPr>
            <p:cNvPr id="977" name="Google Shape;977;p66"/>
            <p:cNvSpPr/>
            <p:nvPr/>
          </p:nvSpPr>
          <p:spPr>
            <a:xfrm>
              <a:off x="2521863" y="2146131"/>
              <a:ext cx="2316630" cy="1471060"/>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66"/>
            <p:cNvSpPr/>
            <p:nvPr/>
          </p:nvSpPr>
          <p:spPr>
            <a:xfrm>
              <a:off x="2779267" y="2390664"/>
              <a:ext cx="2316630" cy="1471060"/>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66"/>
            <p:cNvSpPr txBox="1"/>
            <p:nvPr/>
          </p:nvSpPr>
          <p:spPr>
            <a:xfrm>
              <a:off x="2822353" y="2433750"/>
              <a:ext cx="2230458" cy="138488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A replicated join can be the fastest type of join executed because there is no reducer required</a:t>
              </a:r>
              <a:endParaRPr/>
            </a:p>
          </p:txBody>
        </p:sp>
        <p:sp>
          <p:nvSpPr>
            <p:cNvPr id="980" name="Google Shape;980;p66"/>
            <p:cNvSpPr/>
            <p:nvPr/>
          </p:nvSpPr>
          <p:spPr>
            <a:xfrm>
              <a:off x="5353300" y="2146131"/>
              <a:ext cx="2316630" cy="1471060"/>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6"/>
            <p:cNvSpPr/>
            <p:nvPr/>
          </p:nvSpPr>
          <p:spPr>
            <a:xfrm>
              <a:off x="5610704" y="2390664"/>
              <a:ext cx="2316630" cy="1471060"/>
            </a:xfrm>
            <a:prstGeom prst="roundRect">
              <a:avLst>
                <a:gd name="adj" fmla="val 10000"/>
              </a:avLst>
            </a:prstGeom>
            <a:solidFill>
              <a:schemeClr val="lt1">
                <a:alpha val="90196"/>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66"/>
            <p:cNvSpPr txBox="1"/>
            <p:nvPr/>
          </p:nvSpPr>
          <p:spPr>
            <a:xfrm>
              <a:off x="5653790" y="2433750"/>
              <a:ext cx="2230458" cy="1384888"/>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The amount of data that can be stored safely inside JVM</a:t>
              </a: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67" descr="$PPTXTitle"/>
          <p:cNvSpPr txBox="1">
            <a:spLocks noGrp="1"/>
          </p:cNvSpPr>
          <p:nvPr>
            <p:ph type="title"/>
          </p:nvPr>
        </p:nvSpPr>
        <p:spPr>
          <a:xfrm>
            <a:off x="3720846" y="580389"/>
            <a:ext cx="475170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Replicated Side Join</a:t>
            </a:r>
            <a:endParaRPr/>
          </a:p>
        </p:txBody>
      </p:sp>
      <p:grpSp>
        <p:nvGrpSpPr>
          <p:cNvPr id="988" name="Google Shape;988;p67"/>
          <p:cNvGrpSpPr/>
          <p:nvPr/>
        </p:nvGrpSpPr>
        <p:grpSpPr>
          <a:xfrm>
            <a:off x="4857750" y="3252724"/>
            <a:ext cx="2457450" cy="589280"/>
            <a:chOff x="4857750" y="3252724"/>
            <a:chExt cx="2457450" cy="589280"/>
          </a:xfrm>
        </p:grpSpPr>
        <p:pic>
          <p:nvPicPr>
            <p:cNvPr id="989" name="Google Shape;989;p67"/>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990" name="Google Shape;990;p67"/>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1" name="Google Shape;991;p67"/>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92" name="Google Shape;992;p67"/>
          <p:cNvSpPr txBox="1"/>
          <p:nvPr/>
        </p:nvSpPr>
        <p:spPr>
          <a:xfrm>
            <a:off x="4907660" y="4127754"/>
            <a:ext cx="195516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Replicated Side Join</a:t>
            </a:r>
            <a:endParaRPr sz="1800">
              <a:solidFill>
                <a:schemeClr val="dk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6"/>
        <p:cNvGrpSpPr/>
        <p:nvPr/>
      </p:nvGrpSpPr>
      <p:grpSpPr>
        <a:xfrm>
          <a:off x="0" y="0"/>
          <a:ext cx="0" cy="0"/>
          <a:chOff x="0" y="0"/>
          <a:chExt cx="0" cy="0"/>
        </a:xfrm>
      </p:grpSpPr>
      <p:sp>
        <p:nvSpPr>
          <p:cNvPr id="997" name="Google Shape;997;p6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98" name="Google Shape;998;p68"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235204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Summary</a:t>
            </a:r>
            <a:endParaRPr/>
          </a:p>
        </p:txBody>
      </p:sp>
      <p:grpSp>
        <p:nvGrpSpPr>
          <p:cNvPr id="999" name="Google Shape;999;p68"/>
          <p:cNvGrpSpPr/>
          <p:nvPr/>
        </p:nvGrpSpPr>
        <p:grpSpPr>
          <a:xfrm>
            <a:off x="-2" y="1998368"/>
            <a:ext cx="11695083" cy="782176"/>
            <a:chOff x="-2" y="1998368"/>
            <a:chExt cx="11695083" cy="782176"/>
          </a:xfrm>
        </p:grpSpPr>
        <p:sp>
          <p:nvSpPr>
            <p:cNvPr id="1000" name="Google Shape;1000;p68"/>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01" name="Google Shape;1001;p68"/>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002" name="Google Shape;1002;p68"/>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03" name="Google Shape;1003;p68"/>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MapReduce has proven to be a useful abstraction</a:t>
            </a:r>
            <a:endParaRPr sz="2400">
              <a:solidFill>
                <a:schemeClr val="dk1"/>
              </a:solidFill>
              <a:latin typeface="Arial"/>
              <a:ea typeface="Arial"/>
              <a:cs typeface="Arial"/>
              <a:sym typeface="Arial"/>
            </a:endParaRPr>
          </a:p>
          <a:p>
            <a:pPr marL="12700" marR="0" lvl="0" indent="-12700" algn="l" rtl="0">
              <a:lnSpc>
                <a:spcPct val="90000"/>
              </a:lnSpc>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	Greatly simplifies large-scale computations</a:t>
            </a:r>
            <a:endParaRPr sz="2400">
              <a:solidFill>
                <a:schemeClr val="dk1"/>
              </a:solidFill>
              <a:latin typeface="Arial"/>
              <a:ea typeface="Arial"/>
              <a:cs typeface="Arial"/>
              <a:sym typeface="Arial"/>
            </a:endParaRPr>
          </a:p>
          <a:p>
            <a:pPr marL="12700" marR="0" lvl="0" indent="-12700" algn="l" rtl="0">
              <a:lnSpc>
                <a:spcPct val="90000"/>
              </a:lnSpc>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	Hadoop is widely used</a:t>
            </a:r>
            <a:endParaRPr sz="2400">
              <a:solidFill>
                <a:schemeClr val="dk1"/>
              </a:solidFill>
              <a:latin typeface="Arial"/>
              <a:ea typeface="Arial"/>
              <a:cs typeface="Arial"/>
              <a:sym typeface="Arial"/>
            </a:endParaRPr>
          </a:p>
          <a:p>
            <a:pPr marL="12700" marR="0" lvl="0" indent="-12700" algn="l" rtl="0">
              <a:lnSpc>
                <a:spcPct val="90000"/>
              </a:lnSpc>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	Focus on problems, let MapReduce deal with messy details</a:t>
            </a:r>
            <a:endParaRPr sz="2400">
              <a:solidFill>
                <a:schemeClr val="dk1"/>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1007"/>
        <p:cNvGrpSpPr/>
        <p:nvPr/>
      </p:nvGrpSpPr>
      <p:grpSpPr>
        <a:xfrm>
          <a:off x="0" y="0"/>
          <a:ext cx="0" cy="0"/>
          <a:chOff x="0" y="0"/>
          <a:chExt cx="0" cy="0"/>
        </a:xfrm>
      </p:grpSpPr>
      <p:grpSp>
        <p:nvGrpSpPr>
          <p:cNvPr id="1008" name="Google Shape;1008;p69"/>
          <p:cNvGrpSpPr/>
          <p:nvPr/>
        </p:nvGrpSpPr>
        <p:grpSpPr>
          <a:xfrm>
            <a:off x="304800" y="4482"/>
            <a:ext cx="12192000" cy="6858127"/>
            <a:chOff x="0" y="0"/>
            <a:chExt cx="12192000" cy="6858127"/>
          </a:xfrm>
        </p:grpSpPr>
        <p:sp>
          <p:nvSpPr>
            <p:cNvPr id="1009" name="Google Shape;1009;p69"/>
            <p:cNvSpPr/>
            <p:nvPr/>
          </p:nvSpPr>
          <p:spPr>
            <a:xfrm>
              <a:off x="8072628" y="5498591"/>
              <a:ext cx="3840479" cy="716280"/>
            </a:xfrm>
            <a:custGeom>
              <a:avLst/>
              <a:gdLst/>
              <a:ahLst/>
              <a:cxnLst/>
              <a:rect l="l" t="t" r="r" b="b"/>
              <a:pathLst>
                <a:path w="3840479" h="716279" extrusionOk="0">
                  <a:moveTo>
                    <a:pt x="3840479" y="0"/>
                  </a:moveTo>
                  <a:lnTo>
                    <a:pt x="3831971" y="0"/>
                  </a:lnTo>
                  <a:lnTo>
                    <a:pt x="3670173" y="20193"/>
                  </a:lnTo>
                  <a:lnTo>
                    <a:pt x="3164967" y="91770"/>
                  </a:lnTo>
                  <a:lnTo>
                    <a:pt x="2807207" y="149974"/>
                  </a:lnTo>
                  <a:lnTo>
                    <a:pt x="2432557" y="217119"/>
                  </a:lnTo>
                  <a:lnTo>
                    <a:pt x="2089150" y="282028"/>
                  </a:lnTo>
                  <a:lnTo>
                    <a:pt x="1124077" y="445439"/>
                  </a:lnTo>
                  <a:lnTo>
                    <a:pt x="828801" y="490207"/>
                  </a:lnTo>
                  <a:lnTo>
                    <a:pt x="266826" y="568540"/>
                  </a:lnTo>
                  <a:lnTo>
                    <a:pt x="0" y="602119"/>
                  </a:lnTo>
                  <a:lnTo>
                    <a:pt x="184530" y="622261"/>
                  </a:lnTo>
                  <a:lnTo>
                    <a:pt x="530860" y="655840"/>
                  </a:lnTo>
                  <a:lnTo>
                    <a:pt x="860044" y="682701"/>
                  </a:lnTo>
                  <a:lnTo>
                    <a:pt x="1166622" y="700608"/>
                  </a:lnTo>
                  <a:lnTo>
                    <a:pt x="1314196" y="707326"/>
                  </a:lnTo>
                  <a:lnTo>
                    <a:pt x="1458976" y="711796"/>
                  </a:lnTo>
                  <a:lnTo>
                    <a:pt x="1731518" y="716280"/>
                  </a:lnTo>
                  <a:lnTo>
                    <a:pt x="1862074" y="716280"/>
                  </a:lnTo>
                  <a:lnTo>
                    <a:pt x="2114677" y="711796"/>
                  </a:lnTo>
                  <a:lnTo>
                    <a:pt x="2233929" y="707326"/>
                  </a:lnTo>
                  <a:lnTo>
                    <a:pt x="2461005" y="693889"/>
                  </a:lnTo>
                  <a:lnTo>
                    <a:pt x="2571623" y="684936"/>
                  </a:lnTo>
                  <a:lnTo>
                    <a:pt x="2781680" y="662559"/>
                  </a:lnTo>
                  <a:lnTo>
                    <a:pt x="2980436" y="635698"/>
                  </a:lnTo>
                  <a:lnTo>
                    <a:pt x="3167761" y="604354"/>
                  </a:lnTo>
                  <a:lnTo>
                    <a:pt x="3346577" y="568540"/>
                  </a:lnTo>
                  <a:lnTo>
                    <a:pt x="3516883" y="528256"/>
                  </a:lnTo>
                  <a:lnTo>
                    <a:pt x="3678681" y="483489"/>
                  </a:lnTo>
                  <a:lnTo>
                    <a:pt x="3834765" y="436486"/>
                  </a:lnTo>
                  <a:lnTo>
                    <a:pt x="3840479" y="434238"/>
                  </a:lnTo>
                  <a:lnTo>
                    <a:pt x="3840479" y="0"/>
                  </a:lnTo>
                  <a:close/>
                </a:path>
              </a:pathLst>
            </a:custGeom>
            <a:solidFill>
              <a:srgbClr val="C5E7FB">
                <a:alpha val="29019"/>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0" name="Google Shape;1010;p69"/>
            <p:cNvSpPr/>
            <p:nvPr/>
          </p:nvSpPr>
          <p:spPr>
            <a:xfrm>
              <a:off x="3496055" y="5370576"/>
              <a:ext cx="7402195" cy="852169"/>
            </a:xfrm>
            <a:custGeom>
              <a:avLst/>
              <a:gdLst/>
              <a:ahLst/>
              <a:cxnLst/>
              <a:rect l="l" t="t" r="r" b="b"/>
              <a:pathLst>
                <a:path w="7402195" h="852170" extrusionOk="0">
                  <a:moveTo>
                    <a:pt x="1138174" y="0"/>
                  </a:moveTo>
                  <a:lnTo>
                    <a:pt x="913892" y="0"/>
                  </a:lnTo>
                  <a:lnTo>
                    <a:pt x="703834" y="4445"/>
                  </a:lnTo>
                  <a:lnTo>
                    <a:pt x="508000" y="11176"/>
                  </a:lnTo>
                  <a:lnTo>
                    <a:pt x="326390" y="22352"/>
                  </a:lnTo>
                  <a:lnTo>
                    <a:pt x="156083" y="35814"/>
                  </a:lnTo>
                  <a:lnTo>
                    <a:pt x="0" y="53721"/>
                  </a:lnTo>
                  <a:lnTo>
                    <a:pt x="445643" y="96139"/>
                  </a:lnTo>
                  <a:lnTo>
                    <a:pt x="925195" y="156464"/>
                  </a:lnTo>
                  <a:lnTo>
                    <a:pt x="1439037" y="234784"/>
                  </a:lnTo>
                  <a:lnTo>
                    <a:pt x="1711452" y="279501"/>
                  </a:lnTo>
                  <a:lnTo>
                    <a:pt x="2491994" y="422605"/>
                  </a:lnTo>
                  <a:lnTo>
                    <a:pt x="3417189" y="576884"/>
                  </a:lnTo>
                  <a:lnTo>
                    <a:pt x="4047236" y="668566"/>
                  </a:lnTo>
                  <a:lnTo>
                    <a:pt x="4626229" y="740117"/>
                  </a:lnTo>
                  <a:lnTo>
                    <a:pt x="5321681" y="807199"/>
                  </a:lnTo>
                  <a:lnTo>
                    <a:pt x="5483479" y="818375"/>
                  </a:lnTo>
                  <a:lnTo>
                    <a:pt x="5789930" y="836269"/>
                  </a:lnTo>
                  <a:lnTo>
                    <a:pt x="5937504" y="842975"/>
                  </a:lnTo>
                  <a:lnTo>
                    <a:pt x="6221349" y="851916"/>
                  </a:lnTo>
                  <a:lnTo>
                    <a:pt x="6485382" y="851916"/>
                  </a:lnTo>
                  <a:lnTo>
                    <a:pt x="6735064" y="847445"/>
                  </a:lnTo>
                  <a:lnTo>
                    <a:pt x="6854317" y="842975"/>
                  </a:lnTo>
                  <a:lnTo>
                    <a:pt x="6970649" y="836269"/>
                  </a:lnTo>
                  <a:lnTo>
                    <a:pt x="7299833" y="809434"/>
                  </a:lnTo>
                  <a:lnTo>
                    <a:pt x="7402068" y="798245"/>
                  </a:lnTo>
                  <a:lnTo>
                    <a:pt x="7072884" y="766953"/>
                  </a:lnTo>
                  <a:lnTo>
                    <a:pt x="6723761" y="728941"/>
                  </a:lnTo>
                  <a:lnTo>
                    <a:pt x="5965952" y="630555"/>
                  </a:lnTo>
                  <a:lnTo>
                    <a:pt x="5120132" y="498627"/>
                  </a:lnTo>
                  <a:lnTo>
                    <a:pt x="3806063" y="263842"/>
                  </a:lnTo>
                  <a:lnTo>
                    <a:pt x="3448430" y="205740"/>
                  </a:lnTo>
                  <a:lnTo>
                    <a:pt x="2943225" y="134112"/>
                  </a:lnTo>
                  <a:lnTo>
                    <a:pt x="2625344" y="96139"/>
                  </a:lnTo>
                  <a:lnTo>
                    <a:pt x="2174113" y="51435"/>
                  </a:lnTo>
                  <a:lnTo>
                    <a:pt x="1893062" y="31242"/>
                  </a:lnTo>
                  <a:lnTo>
                    <a:pt x="1629156" y="15621"/>
                  </a:lnTo>
                  <a:lnTo>
                    <a:pt x="1376553" y="4445"/>
                  </a:lnTo>
                  <a:lnTo>
                    <a:pt x="1138174"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1" name="Google Shape;1011;p69"/>
            <p:cNvSpPr/>
            <p:nvPr/>
          </p:nvSpPr>
          <p:spPr>
            <a:xfrm>
              <a:off x="3777234" y="5369814"/>
              <a:ext cx="8129270" cy="789940"/>
            </a:xfrm>
            <a:custGeom>
              <a:avLst/>
              <a:gdLst/>
              <a:ahLst/>
              <a:cxnLst/>
              <a:rect l="l" t="t" r="r" b="b"/>
              <a:pathLst>
                <a:path w="8129270" h="789939" extrusionOk="0">
                  <a:moveTo>
                    <a:pt x="0" y="91948"/>
                  </a:moveTo>
                  <a:lnTo>
                    <a:pt x="25526" y="87503"/>
                  </a:lnTo>
                  <a:lnTo>
                    <a:pt x="102235" y="76327"/>
                  </a:lnTo>
                  <a:lnTo>
                    <a:pt x="232790" y="60706"/>
                  </a:lnTo>
                  <a:lnTo>
                    <a:pt x="317880" y="51689"/>
                  </a:lnTo>
                  <a:lnTo>
                    <a:pt x="417194" y="42799"/>
                  </a:lnTo>
                  <a:lnTo>
                    <a:pt x="527938" y="36068"/>
                  </a:lnTo>
                  <a:lnTo>
                    <a:pt x="655574" y="29337"/>
                  </a:lnTo>
                  <a:lnTo>
                    <a:pt x="794765" y="22606"/>
                  </a:lnTo>
                  <a:lnTo>
                    <a:pt x="950849" y="18161"/>
                  </a:lnTo>
                  <a:lnTo>
                    <a:pt x="1121155" y="16002"/>
                  </a:lnTo>
                  <a:lnTo>
                    <a:pt x="1305560" y="13716"/>
                  </a:lnTo>
                  <a:lnTo>
                    <a:pt x="1504314" y="16002"/>
                  </a:lnTo>
                  <a:lnTo>
                    <a:pt x="1717166" y="20447"/>
                  </a:lnTo>
                  <a:lnTo>
                    <a:pt x="1947037" y="29337"/>
                  </a:lnTo>
                  <a:lnTo>
                    <a:pt x="2191130" y="40513"/>
                  </a:lnTo>
                  <a:lnTo>
                    <a:pt x="2449449" y="58420"/>
                  </a:lnTo>
                  <a:lnTo>
                    <a:pt x="2724657" y="78486"/>
                  </a:lnTo>
                  <a:lnTo>
                    <a:pt x="3017012" y="103124"/>
                  </a:lnTo>
                  <a:lnTo>
                    <a:pt x="3323590" y="132207"/>
                  </a:lnTo>
                  <a:lnTo>
                    <a:pt x="3647186" y="168021"/>
                  </a:lnTo>
                  <a:lnTo>
                    <a:pt x="3984879" y="208153"/>
                  </a:lnTo>
                  <a:lnTo>
                    <a:pt x="4339717" y="255143"/>
                  </a:lnTo>
                  <a:lnTo>
                    <a:pt x="4711445" y="311035"/>
                  </a:lnTo>
                  <a:lnTo>
                    <a:pt x="5100320" y="371398"/>
                  </a:lnTo>
                  <a:lnTo>
                    <a:pt x="5506212" y="438454"/>
                  </a:lnTo>
                  <a:lnTo>
                    <a:pt x="5929121" y="514464"/>
                  </a:lnTo>
                  <a:lnTo>
                    <a:pt x="6369049" y="597179"/>
                  </a:lnTo>
                  <a:lnTo>
                    <a:pt x="6825996" y="688835"/>
                  </a:lnTo>
                  <a:lnTo>
                    <a:pt x="7299959" y="789432"/>
                  </a:lnTo>
                </a:path>
                <a:path w="8129270" h="789939" extrusionOk="0">
                  <a:moveTo>
                    <a:pt x="3712464" y="652272"/>
                  </a:moveTo>
                  <a:lnTo>
                    <a:pt x="3840225" y="625462"/>
                  </a:lnTo>
                  <a:lnTo>
                    <a:pt x="4189348" y="556221"/>
                  </a:lnTo>
                  <a:lnTo>
                    <a:pt x="4430521" y="509308"/>
                  </a:lnTo>
                  <a:lnTo>
                    <a:pt x="4708779" y="457923"/>
                  </a:lnTo>
                  <a:lnTo>
                    <a:pt x="5018150" y="402082"/>
                  </a:lnTo>
                  <a:lnTo>
                    <a:pt x="5350256" y="341769"/>
                  </a:lnTo>
                  <a:lnTo>
                    <a:pt x="5702172" y="283692"/>
                  </a:lnTo>
                  <a:lnTo>
                    <a:pt x="6062598" y="225615"/>
                  </a:lnTo>
                  <a:lnTo>
                    <a:pt x="6431661" y="171958"/>
                  </a:lnTo>
                  <a:lnTo>
                    <a:pt x="6797802" y="120650"/>
                  </a:lnTo>
                  <a:lnTo>
                    <a:pt x="6979411" y="98298"/>
                  </a:lnTo>
                  <a:lnTo>
                    <a:pt x="7155434" y="75946"/>
                  </a:lnTo>
                  <a:lnTo>
                    <a:pt x="7331456" y="58039"/>
                  </a:lnTo>
                  <a:lnTo>
                    <a:pt x="7501763" y="40259"/>
                  </a:lnTo>
                  <a:lnTo>
                    <a:pt x="7669148" y="26797"/>
                  </a:lnTo>
                  <a:lnTo>
                    <a:pt x="7828152" y="15621"/>
                  </a:lnTo>
                  <a:lnTo>
                    <a:pt x="7981442" y="6731"/>
                  </a:lnTo>
                  <a:lnTo>
                    <a:pt x="8129015"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2" name="Google Shape;1012;p69"/>
            <p:cNvSpPr/>
            <p:nvPr/>
          </p:nvSpPr>
          <p:spPr>
            <a:xfrm>
              <a:off x="281940" y="5353811"/>
              <a:ext cx="11631295" cy="1332230"/>
            </a:xfrm>
            <a:custGeom>
              <a:avLst/>
              <a:gdLst/>
              <a:ahLst/>
              <a:cxnLst/>
              <a:rect l="l" t="t" r="r" b="b"/>
              <a:pathLst>
                <a:path w="11631295" h="1332229" extrusionOk="0">
                  <a:moveTo>
                    <a:pt x="2074799" y="0"/>
                  </a:moveTo>
                  <a:lnTo>
                    <a:pt x="1870456" y="0"/>
                  </a:lnTo>
                  <a:lnTo>
                    <a:pt x="1677416" y="4444"/>
                  </a:lnTo>
                  <a:lnTo>
                    <a:pt x="1495805" y="11175"/>
                  </a:lnTo>
                  <a:lnTo>
                    <a:pt x="1166495" y="33528"/>
                  </a:lnTo>
                  <a:lnTo>
                    <a:pt x="1016126" y="49149"/>
                  </a:lnTo>
                  <a:lnTo>
                    <a:pt x="879856" y="64769"/>
                  </a:lnTo>
                  <a:lnTo>
                    <a:pt x="752132" y="82676"/>
                  </a:lnTo>
                  <a:lnTo>
                    <a:pt x="638606" y="102743"/>
                  </a:lnTo>
                  <a:lnTo>
                    <a:pt x="530758" y="120650"/>
                  </a:lnTo>
                  <a:lnTo>
                    <a:pt x="437095" y="140843"/>
                  </a:lnTo>
                  <a:lnTo>
                    <a:pt x="275310" y="178815"/>
                  </a:lnTo>
                  <a:lnTo>
                    <a:pt x="210032" y="196722"/>
                  </a:lnTo>
                  <a:lnTo>
                    <a:pt x="68122" y="241363"/>
                  </a:lnTo>
                  <a:lnTo>
                    <a:pt x="0" y="268185"/>
                  </a:lnTo>
                  <a:lnTo>
                    <a:pt x="0" y="1331976"/>
                  </a:lnTo>
                  <a:lnTo>
                    <a:pt x="11625453" y="1331976"/>
                  </a:lnTo>
                  <a:lnTo>
                    <a:pt x="11631167" y="1325270"/>
                  </a:lnTo>
                  <a:lnTo>
                    <a:pt x="11631167" y="851484"/>
                  </a:lnTo>
                  <a:lnTo>
                    <a:pt x="9576308" y="851484"/>
                  </a:lnTo>
                  <a:lnTo>
                    <a:pt x="9391777" y="849249"/>
                  </a:lnTo>
                  <a:lnTo>
                    <a:pt x="9198737" y="844778"/>
                  </a:lnTo>
                  <a:lnTo>
                    <a:pt x="9000109" y="838072"/>
                  </a:lnTo>
                  <a:lnTo>
                    <a:pt x="8792971" y="826897"/>
                  </a:lnTo>
                  <a:lnTo>
                    <a:pt x="8347329" y="793369"/>
                  </a:lnTo>
                  <a:lnTo>
                    <a:pt x="7867650" y="746442"/>
                  </a:lnTo>
                  <a:lnTo>
                    <a:pt x="7612253" y="717384"/>
                  </a:lnTo>
                  <a:lnTo>
                    <a:pt x="7345426" y="683869"/>
                  </a:lnTo>
                  <a:lnTo>
                    <a:pt x="6482588" y="558711"/>
                  </a:lnTo>
                  <a:lnTo>
                    <a:pt x="5514721" y="395566"/>
                  </a:lnTo>
                  <a:lnTo>
                    <a:pt x="4819396" y="268185"/>
                  </a:lnTo>
                  <a:lnTo>
                    <a:pt x="4163695" y="165353"/>
                  </a:lnTo>
                  <a:lnTo>
                    <a:pt x="3857244" y="125094"/>
                  </a:lnTo>
                  <a:lnTo>
                    <a:pt x="3564890" y="91566"/>
                  </a:lnTo>
                  <a:lnTo>
                    <a:pt x="3283839" y="62610"/>
                  </a:lnTo>
                  <a:lnTo>
                    <a:pt x="3017012" y="40259"/>
                  </a:lnTo>
                  <a:lnTo>
                    <a:pt x="2764409" y="22351"/>
                  </a:lnTo>
                  <a:lnTo>
                    <a:pt x="2293366" y="2285"/>
                  </a:lnTo>
                  <a:lnTo>
                    <a:pt x="2074799" y="0"/>
                  </a:lnTo>
                  <a:close/>
                </a:path>
                <a:path w="11631295" h="1332229" extrusionOk="0">
                  <a:moveTo>
                    <a:pt x="11631167" y="569887"/>
                  </a:moveTo>
                  <a:lnTo>
                    <a:pt x="11517630" y="605650"/>
                  </a:lnTo>
                  <a:lnTo>
                    <a:pt x="11409807" y="636930"/>
                  </a:lnTo>
                  <a:lnTo>
                    <a:pt x="11296268" y="665988"/>
                  </a:lnTo>
                  <a:lnTo>
                    <a:pt x="11060684" y="719620"/>
                  </a:lnTo>
                  <a:lnTo>
                    <a:pt x="10935842" y="744207"/>
                  </a:lnTo>
                  <a:lnTo>
                    <a:pt x="10674731" y="784440"/>
                  </a:lnTo>
                  <a:lnTo>
                    <a:pt x="10535539" y="802309"/>
                  </a:lnTo>
                  <a:lnTo>
                    <a:pt x="10240391" y="829132"/>
                  </a:lnTo>
                  <a:lnTo>
                    <a:pt x="9922510" y="847013"/>
                  </a:lnTo>
                  <a:lnTo>
                    <a:pt x="9752203" y="851484"/>
                  </a:lnTo>
                  <a:lnTo>
                    <a:pt x="11631167" y="851484"/>
                  </a:lnTo>
                  <a:lnTo>
                    <a:pt x="11631167" y="56988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13" name="Google Shape;1013;p69"/>
            <p:cNvPicPr preferRelativeResize="0"/>
            <p:nvPr/>
          </p:nvPicPr>
          <p:blipFill rotWithShape="1">
            <a:blip r:embed="rId3">
              <a:alphaModFix/>
            </a:blip>
            <a:srcRect/>
            <a:stretch/>
          </p:blipFill>
          <p:spPr>
            <a:xfrm>
              <a:off x="0" y="4654294"/>
              <a:ext cx="12192000" cy="2203705"/>
            </a:xfrm>
            <a:prstGeom prst="rect">
              <a:avLst/>
            </a:prstGeom>
            <a:noFill/>
            <a:ln>
              <a:noFill/>
            </a:ln>
          </p:spPr>
        </p:pic>
        <p:sp>
          <p:nvSpPr>
            <p:cNvPr id="1014" name="Google Shape;1014;p69"/>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15" name="Google Shape;1015;p69"/>
            <p:cNvPicPr preferRelativeResize="0"/>
            <p:nvPr/>
          </p:nvPicPr>
          <p:blipFill rotWithShape="1">
            <a:blip r:embed="rId4">
              <a:alphaModFix/>
            </a:blip>
            <a:srcRect/>
            <a:stretch/>
          </p:blipFill>
          <p:spPr>
            <a:xfrm>
              <a:off x="9649968" y="0"/>
              <a:ext cx="2542031" cy="6858000"/>
            </a:xfrm>
            <a:prstGeom prst="rect">
              <a:avLst/>
            </a:prstGeom>
            <a:noFill/>
            <a:ln>
              <a:noFill/>
            </a:ln>
          </p:spPr>
        </p:pic>
        <p:sp>
          <p:nvSpPr>
            <p:cNvPr id="1016" name="Google Shape;1016;p69"/>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17" name="Google Shape;1017;p69"/>
            <p:cNvPicPr preferRelativeResize="0"/>
            <p:nvPr/>
          </p:nvPicPr>
          <p:blipFill rotWithShape="1">
            <a:blip r:embed="rId3">
              <a:alphaModFix/>
            </a:blip>
            <a:srcRect/>
            <a:stretch/>
          </p:blipFill>
          <p:spPr>
            <a:xfrm>
              <a:off x="0" y="4654294"/>
              <a:ext cx="12192000" cy="2203705"/>
            </a:xfrm>
            <a:prstGeom prst="rect">
              <a:avLst/>
            </a:prstGeom>
            <a:noFill/>
            <a:ln>
              <a:noFill/>
            </a:ln>
          </p:spPr>
        </p:pic>
        <p:sp>
          <p:nvSpPr>
            <p:cNvPr id="1018" name="Google Shape;1018;p69"/>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19" name="Google Shape;1019;p69"/>
            <p:cNvPicPr preferRelativeResize="0"/>
            <p:nvPr/>
          </p:nvPicPr>
          <p:blipFill rotWithShape="1">
            <a:blip r:embed="rId4">
              <a:alphaModFix/>
            </a:blip>
            <a:srcRect/>
            <a:stretch/>
          </p:blipFill>
          <p:spPr>
            <a:xfrm>
              <a:off x="9649968" y="0"/>
              <a:ext cx="2542031" cy="6858000"/>
            </a:xfrm>
            <a:prstGeom prst="rect">
              <a:avLst/>
            </a:prstGeom>
            <a:noFill/>
            <a:ln>
              <a:noFill/>
            </a:ln>
          </p:spPr>
        </p:pic>
        <p:sp>
          <p:nvSpPr>
            <p:cNvPr id="1020" name="Google Shape;1020;p69"/>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21" name="Google Shape;1021;p69"/>
            <p:cNvPicPr preferRelativeResize="0"/>
            <p:nvPr/>
          </p:nvPicPr>
          <p:blipFill rotWithShape="1">
            <a:blip r:embed="rId3">
              <a:alphaModFix/>
            </a:blip>
            <a:srcRect/>
            <a:stretch/>
          </p:blipFill>
          <p:spPr>
            <a:xfrm>
              <a:off x="0" y="4654294"/>
              <a:ext cx="12192000" cy="2203705"/>
            </a:xfrm>
            <a:prstGeom prst="rect">
              <a:avLst/>
            </a:prstGeom>
            <a:noFill/>
            <a:ln>
              <a:noFill/>
            </a:ln>
          </p:spPr>
        </p:pic>
        <p:sp>
          <p:nvSpPr>
            <p:cNvPr id="1022" name="Google Shape;1022;p69"/>
            <p:cNvSpPr/>
            <p:nvPr/>
          </p:nvSpPr>
          <p:spPr>
            <a:xfrm>
              <a:off x="0" y="4751832"/>
              <a:ext cx="12192000" cy="2106295"/>
            </a:xfrm>
            <a:custGeom>
              <a:avLst/>
              <a:gdLst/>
              <a:ahLst/>
              <a:cxnLst/>
              <a:rect l="l" t="t" r="r" b="b"/>
              <a:pathLst>
                <a:path w="12192000" h="2106295" extrusionOk="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w="12192000" h="2106295" extrusionOk="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023" name="Google Shape;1023;p69"/>
            <p:cNvPicPr preferRelativeResize="0"/>
            <p:nvPr/>
          </p:nvPicPr>
          <p:blipFill rotWithShape="1">
            <a:blip r:embed="rId4">
              <a:alphaModFix/>
            </a:blip>
            <a:srcRect/>
            <a:stretch/>
          </p:blipFill>
          <p:spPr>
            <a:xfrm>
              <a:off x="9649968" y="0"/>
              <a:ext cx="2542031" cy="6858000"/>
            </a:xfrm>
            <a:prstGeom prst="rect">
              <a:avLst/>
            </a:prstGeom>
            <a:noFill/>
            <a:ln>
              <a:noFill/>
            </a:ln>
          </p:spPr>
        </p:pic>
        <p:sp>
          <p:nvSpPr>
            <p:cNvPr id="1024" name="Google Shape;1024;p69"/>
            <p:cNvSpPr/>
            <p:nvPr/>
          </p:nvSpPr>
          <p:spPr>
            <a:xfrm>
              <a:off x="9753600" y="0"/>
              <a:ext cx="2438400" cy="6858000"/>
            </a:xfrm>
            <a:custGeom>
              <a:avLst/>
              <a:gdLst/>
              <a:ahLst/>
              <a:cxnLst/>
              <a:rect l="l" t="t" r="r" b="b"/>
              <a:pathLst>
                <a:path w="2438400" h="6858000" extrusionOk="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25" name="Google Shape;1025;p69" descr="$PPTXTitle"/>
          <p:cNvSpPr txBox="1">
            <a:spLocks noGrp="1"/>
          </p:cNvSpPr>
          <p:nvPr>
            <p:ph type="title"/>
          </p:nvPr>
        </p:nvSpPr>
        <p:spPr>
          <a:xfrm>
            <a:off x="2471420" y="2950921"/>
            <a:ext cx="5544820" cy="1367790"/>
          </a:xfrm>
          <a:prstGeom prst="rect">
            <a:avLst/>
          </a:prstGeom>
          <a:noFill/>
          <a:ln>
            <a:noFill/>
          </a:ln>
        </p:spPr>
        <p:txBody>
          <a:bodyPr spcFirstLastPara="1" wrap="square" lIns="0" tIns="13325" rIns="0" bIns="0" anchor="ctr" anchorCtr="0">
            <a:spAutoFit/>
          </a:bodyPr>
          <a:lstStyle/>
          <a:p>
            <a:pPr marL="688975" marR="5080" lvl="0" indent="-676910" algn="l" rtl="0">
              <a:lnSpc>
                <a:spcPct val="100000"/>
              </a:lnSpc>
              <a:spcBef>
                <a:spcPts val="0"/>
              </a:spcBef>
              <a:spcAft>
                <a:spcPts val="0"/>
              </a:spcAft>
              <a:buClr>
                <a:schemeClr val="dk1"/>
              </a:buClr>
              <a:buSzPts val="4400"/>
              <a:buFont typeface="Play"/>
              <a:buNone/>
            </a:pPr>
            <a:r>
              <a:rPr lang="en-US"/>
              <a:t>Map Reduce in Practice II Design patterns</a:t>
            </a:r>
            <a:endParaRPr/>
          </a:p>
        </p:txBody>
      </p:sp>
      <p:sp>
        <p:nvSpPr>
          <p:cNvPr id="1026" name="Google Shape;1026;p69"/>
          <p:cNvSpPr txBox="1"/>
          <p:nvPr/>
        </p:nvSpPr>
        <p:spPr>
          <a:xfrm>
            <a:off x="4393438" y="4726304"/>
            <a:ext cx="1405890" cy="5137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3200">
                <a:solidFill>
                  <a:srgbClr val="FFFFFF"/>
                </a:solidFill>
                <a:latin typeface="Arial"/>
                <a:ea typeface="Arial"/>
                <a:cs typeface="Arial"/>
                <a:sym typeface="Arial"/>
              </a:rPr>
              <a:t>The End</a:t>
            </a:r>
            <a:endParaRPr sz="3200">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0"/>
        <p:cNvGrpSpPr/>
        <p:nvPr/>
      </p:nvGrpSpPr>
      <p:grpSpPr>
        <a:xfrm>
          <a:off x="0" y="0"/>
          <a:ext cx="0" cy="0"/>
          <a:chOff x="0" y="0"/>
          <a:chExt cx="0" cy="0"/>
        </a:xfrm>
      </p:grpSpPr>
      <p:sp>
        <p:nvSpPr>
          <p:cNvPr id="1031" name="Google Shape;1031;p70"/>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2" name="Google Shape;1032;p70"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Total Order</a:t>
            </a:r>
            <a:endParaRPr/>
          </a:p>
        </p:txBody>
      </p:sp>
      <p:grpSp>
        <p:nvGrpSpPr>
          <p:cNvPr id="1033" name="Google Shape;1033;p70"/>
          <p:cNvGrpSpPr/>
          <p:nvPr/>
        </p:nvGrpSpPr>
        <p:grpSpPr>
          <a:xfrm>
            <a:off x="-2" y="1998368"/>
            <a:ext cx="11695083" cy="782176"/>
            <a:chOff x="-2" y="1998368"/>
            <a:chExt cx="11695083" cy="782176"/>
          </a:xfrm>
        </p:grpSpPr>
        <p:sp>
          <p:nvSpPr>
            <p:cNvPr id="1034" name="Google Shape;1034;p70"/>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5" name="Google Shape;1035;p70"/>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036" name="Google Shape;1036;p70"/>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7" name="Google Shape;1037;p70"/>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Intent</a:t>
            </a:r>
            <a:endParaRPr sz="2400">
              <a:solidFill>
                <a:schemeClr val="dk1"/>
              </a:solidFill>
              <a:latin typeface="Arial"/>
              <a:ea typeface="Arial"/>
              <a:cs typeface="Arial"/>
              <a:sym typeface="Arial"/>
            </a:endParaRPr>
          </a:p>
          <a:p>
            <a:pPr marL="314325" marR="0" lvl="0" indent="-228600" algn="l" rtl="0">
              <a:lnSpc>
                <a:spcPct val="90000"/>
              </a:lnSpc>
              <a:spcBef>
                <a:spcPts val="1040"/>
              </a:spcBef>
              <a:spcAft>
                <a:spcPts val="0"/>
              </a:spcAft>
              <a:buClr>
                <a:schemeClr val="dk1"/>
              </a:buClr>
              <a:buSzPts val="2400"/>
              <a:buFont typeface="Arial"/>
              <a:buChar char="•"/>
            </a:pPr>
            <a:r>
              <a:rPr lang="en-US" sz="2400">
                <a:solidFill>
                  <a:schemeClr val="dk1"/>
                </a:solidFill>
                <a:latin typeface="Arial"/>
                <a:ea typeface="Arial"/>
                <a:cs typeface="Arial"/>
                <a:sym typeface="Arial"/>
              </a:rPr>
              <a:t>∗	Sort data in parallel on a sort key</a:t>
            </a:r>
            <a:endParaRPr sz="2400">
              <a:solidFill>
                <a:schemeClr val="dk1"/>
              </a:solidFill>
              <a:latin typeface="Arial"/>
              <a:ea typeface="Arial"/>
              <a:cs typeface="Arial"/>
              <a:sym typeface="Arial"/>
            </a:endParaRPr>
          </a:p>
          <a:p>
            <a:pPr marL="12700" marR="0" lvl="0" indent="-12700" algn="l" rtl="0">
              <a:lnSpc>
                <a:spcPct val="90000"/>
              </a:lnSpc>
              <a:spcBef>
                <a:spcPts val="1300"/>
              </a:spcBef>
              <a:spcAft>
                <a:spcPts val="0"/>
              </a:spcAft>
              <a:buClr>
                <a:schemeClr val="dk1"/>
              </a:buClr>
              <a:buSzPts val="2400"/>
              <a:buFont typeface="Arial"/>
              <a:buChar char="•"/>
            </a:pPr>
            <a:r>
              <a:rPr lang="en-US" sz="2400">
                <a:solidFill>
                  <a:schemeClr val="dk1"/>
                </a:solidFill>
                <a:latin typeface="Arial"/>
                <a:ea typeface="Arial"/>
                <a:cs typeface="Arial"/>
                <a:sym typeface="Arial"/>
              </a:rPr>
              <a:t>∗ Motivation</a:t>
            </a:r>
            <a:endParaRPr sz="2400">
              <a:solidFill>
                <a:schemeClr val="dk1"/>
              </a:solidFill>
              <a:latin typeface="Arial"/>
              <a:ea typeface="Arial"/>
              <a:cs typeface="Arial"/>
              <a:sym typeface="Arial"/>
            </a:endParaRPr>
          </a:p>
          <a:p>
            <a:pPr marL="314325" marR="0" lvl="0" indent="-228600" algn="l" rtl="0">
              <a:lnSpc>
                <a:spcPct val="90000"/>
              </a:lnSpc>
              <a:spcBef>
                <a:spcPts val="1275"/>
              </a:spcBef>
              <a:spcAft>
                <a:spcPts val="0"/>
              </a:spcAft>
              <a:buClr>
                <a:schemeClr val="dk1"/>
              </a:buClr>
              <a:buSzPts val="2400"/>
              <a:buFont typeface="Arial"/>
              <a:buChar char="•"/>
            </a:pPr>
            <a:r>
              <a:rPr lang="en-US" sz="2400">
                <a:solidFill>
                  <a:schemeClr val="dk1"/>
                </a:solidFill>
                <a:latin typeface="Arial"/>
                <a:ea typeface="Arial"/>
                <a:cs typeface="Arial"/>
                <a:sym typeface="Arial"/>
              </a:rPr>
              <a:t>∗	Sorting is easy in sequential programming</a:t>
            </a:r>
            <a:endParaRPr sz="2400">
              <a:solidFill>
                <a:schemeClr val="dk1"/>
              </a:solidFill>
              <a:latin typeface="Arial"/>
              <a:ea typeface="Arial"/>
              <a:cs typeface="Arial"/>
              <a:sym typeface="Arial"/>
            </a:endParaRPr>
          </a:p>
          <a:p>
            <a:pPr marL="314325" marR="0" lvl="0" indent="-228600" algn="l" rtl="0">
              <a:lnSpc>
                <a:spcPct val="90000"/>
              </a:lnSpc>
              <a:spcBef>
                <a:spcPts val="1000"/>
              </a:spcBef>
              <a:spcAft>
                <a:spcPts val="0"/>
              </a:spcAft>
              <a:buClr>
                <a:schemeClr val="dk1"/>
              </a:buClr>
              <a:buSzPts val="2400"/>
              <a:buFont typeface="Arial"/>
              <a:buChar char="•"/>
            </a:pPr>
            <a:r>
              <a:rPr lang="en-US" sz="2400">
                <a:solidFill>
                  <a:schemeClr val="dk1"/>
                </a:solidFill>
                <a:latin typeface="Arial"/>
                <a:ea typeface="Arial"/>
                <a:cs typeface="Arial"/>
                <a:sym typeface="Arial"/>
              </a:rPr>
              <a:t>∗	Divide and Conquer</a:t>
            </a:r>
            <a:endParaRPr sz="2400">
              <a:solidFill>
                <a:schemeClr val="dk1"/>
              </a:solidFill>
              <a:latin typeface="Arial"/>
              <a:ea typeface="Arial"/>
              <a:cs typeface="Arial"/>
              <a:sym typeface="Arial"/>
            </a:endParaRPr>
          </a:p>
          <a:p>
            <a:pPr marL="12700" marR="0" lvl="0" indent="-12700" algn="l" rtl="0">
              <a:lnSpc>
                <a:spcPct val="90000"/>
              </a:lnSpc>
              <a:spcBef>
                <a:spcPts val="1275"/>
              </a:spcBef>
              <a:spcAft>
                <a:spcPts val="0"/>
              </a:spcAft>
              <a:buClr>
                <a:schemeClr val="dk1"/>
              </a:buClr>
              <a:buSzPts val="2400"/>
              <a:buFont typeface="Arial"/>
              <a:buChar char="•"/>
            </a:pPr>
            <a:r>
              <a:rPr lang="en-US" sz="2400">
                <a:solidFill>
                  <a:schemeClr val="dk1"/>
                </a:solidFill>
                <a:latin typeface="Arial"/>
                <a:ea typeface="Arial"/>
                <a:cs typeface="Arial"/>
                <a:sym typeface="Arial"/>
              </a:rPr>
              <a:t>∗ Applicability</a:t>
            </a:r>
            <a:endParaRPr sz="2400">
              <a:solidFill>
                <a:schemeClr val="dk1"/>
              </a:solidFill>
              <a:latin typeface="Arial"/>
              <a:ea typeface="Arial"/>
              <a:cs typeface="Arial"/>
              <a:sym typeface="Arial"/>
            </a:endParaRPr>
          </a:p>
          <a:p>
            <a:pPr marL="314325" marR="0" lvl="0" indent="-228600" algn="l" rtl="0">
              <a:lnSpc>
                <a:spcPct val="90000"/>
              </a:lnSpc>
              <a:spcBef>
                <a:spcPts val="1270"/>
              </a:spcBef>
              <a:spcAft>
                <a:spcPts val="0"/>
              </a:spcAft>
              <a:buClr>
                <a:schemeClr val="dk1"/>
              </a:buClr>
              <a:buSzPts val="2400"/>
              <a:buFont typeface="Arial"/>
              <a:buChar char="•"/>
            </a:pPr>
            <a:r>
              <a:rPr lang="en-US" sz="2400">
                <a:solidFill>
                  <a:schemeClr val="dk1"/>
                </a:solidFill>
                <a:latin typeface="Arial"/>
                <a:ea typeface="Arial"/>
                <a:cs typeface="Arial"/>
                <a:sym typeface="Arial"/>
              </a:rPr>
              <a:t>∗	sort key has to be comparable so the data can be ordered</a:t>
            </a:r>
            <a:endParaRPr sz="2400">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1"/>
        <p:cNvGrpSpPr/>
        <p:nvPr/>
      </p:nvGrpSpPr>
      <p:grpSpPr>
        <a:xfrm>
          <a:off x="0" y="0"/>
          <a:ext cx="0" cy="0"/>
          <a:chOff x="0" y="0"/>
          <a:chExt cx="0" cy="0"/>
        </a:xfrm>
      </p:grpSpPr>
      <p:sp>
        <p:nvSpPr>
          <p:cNvPr id="1042" name="Google Shape;1042;p71"/>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3" name="Google Shape;1043;p71"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Total Order</a:t>
            </a:r>
            <a:endParaRPr/>
          </a:p>
        </p:txBody>
      </p:sp>
      <p:grpSp>
        <p:nvGrpSpPr>
          <p:cNvPr id="1044" name="Google Shape;1044;p71"/>
          <p:cNvGrpSpPr/>
          <p:nvPr/>
        </p:nvGrpSpPr>
        <p:grpSpPr>
          <a:xfrm>
            <a:off x="-2" y="1998368"/>
            <a:ext cx="11695083" cy="782176"/>
            <a:chOff x="-2" y="1998368"/>
            <a:chExt cx="11695083" cy="782176"/>
          </a:xfrm>
        </p:grpSpPr>
        <p:sp>
          <p:nvSpPr>
            <p:cNvPr id="1045" name="Google Shape;1045;p71"/>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6" name="Google Shape;1046;p71"/>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047" name="Google Shape;1047;p71"/>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8" name="Google Shape;1048;p71"/>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12700" marR="0" lvl="0" indent="-127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	An analyze phase that determines the ranges</a:t>
            </a:r>
            <a:endParaRPr sz="1700">
              <a:solidFill>
                <a:schemeClr val="dk1"/>
              </a:solidFill>
              <a:latin typeface="Arial"/>
              <a:ea typeface="Arial"/>
              <a:cs typeface="Arial"/>
              <a:sym typeface="Arial"/>
            </a:endParaRPr>
          </a:p>
          <a:p>
            <a:pPr marL="314325" marR="0" lvl="0" indent="-228600" algn="l" rtl="0">
              <a:lnSpc>
                <a:spcPct val="90000"/>
              </a:lnSpc>
              <a:spcBef>
                <a:spcPts val="405"/>
              </a:spcBef>
              <a:spcAft>
                <a:spcPts val="0"/>
              </a:spcAft>
              <a:buClr>
                <a:schemeClr val="dk1"/>
              </a:buClr>
              <a:buSzPts val="1700"/>
              <a:buFont typeface="Arial"/>
              <a:buChar char="•"/>
            </a:pPr>
            <a:r>
              <a:rPr lang="en-US" sz="1700">
                <a:solidFill>
                  <a:schemeClr val="dk1"/>
                </a:solidFill>
                <a:latin typeface="Arial"/>
                <a:ea typeface="Arial"/>
                <a:cs typeface="Arial"/>
                <a:sym typeface="Arial"/>
              </a:rPr>
              <a:t>∗	The mapper does a simple random sampling. When dividing records, it outputs the sort key as its output key so</a:t>
            </a:r>
            <a:endParaRPr sz="1700">
              <a:solidFill>
                <a:schemeClr val="dk1"/>
              </a:solidFill>
              <a:latin typeface="Arial"/>
              <a:ea typeface="Arial"/>
              <a:cs typeface="Arial"/>
              <a:sym typeface="Arial"/>
            </a:endParaRPr>
          </a:p>
          <a:p>
            <a:pPr marL="588645" marR="0" lvl="0" indent="-228600" algn="l" rtl="0">
              <a:lnSpc>
                <a:spcPct val="9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that the data will show up sorted at the reducer</a:t>
            </a:r>
            <a:endParaRPr sz="1700">
              <a:solidFill>
                <a:schemeClr val="dk1"/>
              </a:solidFill>
              <a:latin typeface="Arial"/>
              <a:ea typeface="Arial"/>
              <a:cs typeface="Arial"/>
              <a:sym typeface="Arial"/>
            </a:endParaRPr>
          </a:p>
          <a:p>
            <a:pPr marL="588645" marR="55244" lvl="0" indent="-228600" algn="l" rtl="0">
              <a:lnSpc>
                <a:spcPct val="90000"/>
              </a:lnSpc>
              <a:spcBef>
                <a:spcPts val="385"/>
              </a:spcBef>
              <a:spcAft>
                <a:spcPts val="0"/>
              </a:spcAft>
              <a:buClr>
                <a:schemeClr val="dk1"/>
              </a:buClr>
              <a:buSzPts val="1700"/>
              <a:buFont typeface="Arial"/>
              <a:buChar char="•"/>
            </a:pPr>
            <a:r>
              <a:rPr lang="en-US" sz="1700">
                <a:solidFill>
                  <a:schemeClr val="dk1"/>
                </a:solidFill>
                <a:latin typeface="Arial"/>
                <a:ea typeface="Arial"/>
                <a:cs typeface="Arial"/>
                <a:sym typeface="Arial"/>
              </a:rPr>
              <a:t>∗	Ahead of time, determine the number of records in the total data set and figure out what percentage of records you’ll need to analyze to make a reasonable sample</a:t>
            </a:r>
            <a:endParaRPr sz="1700">
              <a:solidFill>
                <a:schemeClr val="dk1"/>
              </a:solidFill>
              <a:latin typeface="Arial"/>
              <a:ea typeface="Arial"/>
              <a:cs typeface="Arial"/>
              <a:sym typeface="Arial"/>
            </a:endParaRPr>
          </a:p>
          <a:p>
            <a:pPr marL="314325" marR="0" lvl="0" indent="-228600" algn="l" rtl="0">
              <a:lnSpc>
                <a:spcPct val="90000"/>
              </a:lnSpc>
              <a:spcBef>
                <a:spcPts val="384"/>
              </a:spcBef>
              <a:spcAft>
                <a:spcPts val="0"/>
              </a:spcAft>
              <a:buClr>
                <a:schemeClr val="dk1"/>
              </a:buClr>
              <a:buSzPts val="1700"/>
              <a:buFont typeface="Arial"/>
              <a:buChar char="•"/>
            </a:pPr>
            <a:r>
              <a:rPr lang="en-US" sz="1700">
                <a:solidFill>
                  <a:schemeClr val="dk1"/>
                </a:solidFill>
                <a:latin typeface="Arial"/>
                <a:ea typeface="Arial"/>
                <a:cs typeface="Arial"/>
                <a:sym typeface="Arial"/>
              </a:rPr>
              <a:t>∗	Only one reducer will be used here</a:t>
            </a:r>
            <a:endParaRPr sz="1700">
              <a:solidFill>
                <a:schemeClr val="dk1"/>
              </a:solidFill>
              <a:latin typeface="Arial"/>
              <a:ea typeface="Arial"/>
              <a:cs typeface="Arial"/>
              <a:sym typeface="Arial"/>
            </a:endParaRPr>
          </a:p>
          <a:p>
            <a:pPr marL="12700" marR="0" lvl="0" indent="-12700" algn="l" rtl="0">
              <a:lnSpc>
                <a:spcPct val="90000"/>
              </a:lnSpc>
              <a:spcBef>
                <a:spcPts val="450"/>
              </a:spcBef>
              <a:spcAft>
                <a:spcPts val="0"/>
              </a:spcAft>
              <a:buClr>
                <a:schemeClr val="dk1"/>
              </a:buClr>
              <a:buSzPts val="1700"/>
              <a:buFont typeface="Arial"/>
              <a:buChar char="•"/>
            </a:pPr>
            <a:r>
              <a:rPr lang="en-US" sz="1700">
                <a:solidFill>
                  <a:schemeClr val="dk1"/>
                </a:solidFill>
                <a:latin typeface="Arial"/>
                <a:ea typeface="Arial"/>
                <a:cs typeface="Arial"/>
                <a:sym typeface="Arial"/>
              </a:rPr>
              <a:t>∗	An order phase that actually sorts the data</a:t>
            </a:r>
            <a:endParaRPr sz="1700">
              <a:solidFill>
                <a:schemeClr val="dk1"/>
              </a:solidFill>
              <a:latin typeface="Arial"/>
              <a:ea typeface="Arial"/>
              <a:cs typeface="Arial"/>
              <a:sym typeface="Arial"/>
            </a:endParaRPr>
          </a:p>
          <a:p>
            <a:pPr marL="314325" marR="0" lvl="0" indent="-228600" algn="l" rtl="0">
              <a:lnSpc>
                <a:spcPct val="90000"/>
              </a:lnSpc>
              <a:spcBef>
                <a:spcPts val="415"/>
              </a:spcBef>
              <a:spcAft>
                <a:spcPts val="0"/>
              </a:spcAft>
              <a:buClr>
                <a:schemeClr val="dk1"/>
              </a:buClr>
              <a:buSzPts val="1700"/>
              <a:buFont typeface="Arial"/>
              <a:buChar char="•"/>
            </a:pPr>
            <a:r>
              <a:rPr lang="en-US" sz="1700">
                <a:solidFill>
                  <a:schemeClr val="dk1"/>
                </a:solidFill>
                <a:latin typeface="Arial"/>
                <a:ea typeface="Arial"/>
                <a:cs typeface="Arial"/>
                <a:sym typeface="Arial"/>
              </a:rPr>
              <a:t>∗	The mapper extracts the sort key in the same way as the analyze step</a:t>
            </a:r>
            <a:endParaRPr sz="1700">
              <a:solidFill>
                <a:schemeClr val="dk1"/>
              </a:solidFill>
              <a:latin typeface="Arial"/>
              <a:ea typeface="Arial"/>
              <a:cs typeface="Arial"/>
              <a:sym typeface="Arial"/>
            </a:endParaRPr>
          </a:p>
          <a:p>
            <a:pPr marL="314325" marR="0" lvl="0" indent="-228600" algn="l" rtl="0">
              <a:lnSpc>
                <a:spcPct val="90000"/>
              </a:lnSpc>
              <a:spcBef>
                <a:spcPts val="385"/>
              </a:spcBef>
              <a:spcAft>
                <a:spcPts val="0"/>
              </a:spcAft>
              <a:buClr>
                <a:schemeClr val="dk1"/>
              </a:buClr>
              <a:buSzPts val="1700"/>
              <a:buFont typeface="Arial"/>
              <a:buChar char="•"/>
            </a:pPr>
            <a:r>
              <a:rPr lang="en-US" sz="1700">
                <a:solidFill>
                  <a:schemeClr val="dk1"/>
                </a:solidFill>
                <a:latin typeface="Arial"/>
                <a:ea typeface="Arial"/>
                <a:cs typeface="Arial"/>
                <a:sym typeface="Arial"/>
              </a:rPr>
              <a:t>∗	A custom partitioner is used that loads up the partition file</a:t>
            </a:r>
            <a:endParaRPr sz="1700">
              <a:solidFill>
                <a:schemeClr val="dk1"/>
              </a:solidFill>
              <a:latin typeface="Arial"/>
              <a:ea typeface="Arial"/>
              <a:cs typeface="Arial"/>
              <a:sym typeface="Arial"/>
            </a:endParaRPr>
          </a:p>
          <a:p>
            <a:pPr marL="588645" marR="5080" lvl="0" indent="-228600" algn="l" rtl="0">
              <a:lnSpc>
                <a:spcPct val="90000"/>
              </a:lnSpc>
              <a:spcBef>
                <a:spcPts val="384"/>
              </a:spcBef>
              <a:spcAft>
                <a:spcPts val="0"/>
              </a:spcAft>
              <a:buClr>
                <a:schemeClr val="dk1"/>
              </a:buClr>
              <a:buSzPts val="1700"/>
              <a:buFont typeface="Arial"/>
              <a:buChar char="•"/>
            </a:pPr>
            <a:r>
              <a:rPr lang="en-US" sz="1700">
                <a:solidFill>
                  <a:schemeClr val="dk1"/>
                </a:solidFill>
                <a:latin typeface="Arial"/>
                <a:ea typeface="Arial"/>
                <a:cs typeface="Arial"/>
                <a:sym typeface="Arial"/>
              </a:rPr>
              <a:t>∗	The reduce function simply takes the values that have come in and outputs them. The number of reducers needs to be equal to the number of partitions for the TotalOrderPartitioner to work properly</a:t>
            </a:r>
            <a:endParaRPr sz="1700">
              <a:solidFill>
                <a:schemeClr val="dk1"/>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2"/>
        <p:cNvGrpSpPr/>
        <p:nvPr/>
      </p:nvGrpSpPr>
      <p:grpSpPr>
        <a:xfrm>
          <a:off x="0" y="0"/>
          <a:ext cx="0" cy="0"/>
          <a:chOff x="0" y="0"/>
          <a:chExt cx="0" cy="0"/>
        </a:xfrm>
      </p:grpSpPr>
      <p:sp>
        <p:nvSpPr>
          <p:cNvPr id="1053" name="Google Shape;1053;p7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4" name="Google Shape;1054;p72" descr="$PPTXTitle"/>
          <p:cNvSpPr txBox="1">
            <a:spLocks noGrp="1"/>
          </p:cNvSpPr>
          <p:nvPr>
            <p:ph type="title"/>
          </p:nvPr>
        </p:nvSpPr>
        <p:spPr>
          <a:xfrm>
            <a:off x="808638" y="386930"/>
            <a:ext cx="9236700" cy="1188950"/>
          </a:xfrm>
          <a:prstGeom prst="rect">
            <a:avLst/>
          </a:prstGeom>
          <a:noFill/>
          <a:ln>
            <a:noFill/>
          </a:ln>
        </p:spPr>
        <p:txBody>
          <a:bodyPr spcFirstLastPara="1" wrap="square" lIns="0" tIns="13325" rIns="0" bIns="0" anchor="b" anchorCtr="0">
            <a:normAutofit/>
          </a:bodyPr>
          <a:lstStyle/>
          <a:p>
            <a:pPr marL="12700" lvl="0" indent="0" algn="l" rtl="0">
              <a:lnSpc>
                <a:spcPct val="90000"/>
              </a:lnSpc>
              <a:spcBef>
                <a:spcPts val="0"/>
              </a:spcBef>
              <a:spcAft>
                <a:spcPts val="0"/>
              </a:spcAft>
              <a:buClr>
                <a:schemeClr val="dk1"/>
              </a:buClr>
              <a:buSzPts val="5400"/>
              <a:buFont typeface="Play"/>
              <a:buNone/>
            </a:pPr>
            <a:r>
              <a:rPr lang="en-US" sz="5400"/>
              <a:t>Total Order</a:t>
            </a:r>
            <a:endParaRPr/>
          </a:p>
        </p:txBody>
      </p:sp>
      <p:grpSp>
        <p:nvGrpSpPr>
          <p:cNvPr id="1055" name="Google Shape;1055;p72"/>
          <p:cNvGrpSpPr/>
          <p:nvPr/>
        </p:nvGrpSpPr>
        <p:grpSpPr>
          <a:xfrm>
            <a:off x="-2" y="1998368"/>
            <a:ext cx="11695083" cy="782176"/>
            <a:chOff x="-2" y="1998368"/>
            <a:chExt cx="11695083" cy="782176"/>
          </a:xfrm>
        </p:grpSpPr>
        <p:sp>
          <p:nvSpPr>
            <p:cNvPr id="1056" name="Google Shape;1056;p72"/>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7" name="Google Shape;1057;p72"/>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058" name="Google Shape;1058;p72"/>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9" name="Google Shape;1059;p72"/>
          <p:cNvSpPr txBox="1">
            <a:spLocks noGrp="1"/>
          </p:cNvSpPr>
          <p:nvPr>
            <p:ph type="body" idx="1"/>
          </p:nvPr>
        </p:nvSpPr>
        <p:spPr>
          <a:xfrm>
            <a:off x="793660" y="2599509"/>
            <a:ext cx="10143668" cy="3435531"/>
          </a:xfrm>
          <a:prstGeom prst="rect">
            <a:avLst/>
          </a:prstGeom>
          <a:noFill/>
          <a:ln>
            <a:noFill/>
          </a:ln>
        </p:spPr>
        <p:txBody>
          <a:bodyPr spcFirstLastPara="1" wrap="square" lIns="0" tIns="113850" rIns="0" bIns="0" anchor="ctr" anchorCtr="0">
            <a:normAutofit/>
          </a:bodyPr>
          <a:lstStyle/>
          <a:p>
            <a:pPr marL="12700" lvl="0" indent="-12700" algn="l" rtl="0">
              <a:lnSpc>
                <a:spcPct val="90000"/>
              </a:lnSpc>
              <a:spcBef>
                <a:spcPts val="0"/>
              </a:spcBef>
              <a:spcAft>
                <a:spcPts val="0"/>
              </a:spcAft>
              <a:buClr>
                <a:schemeClr val="dk1"/>
              </a:buClr>
              <a:buSzPts val="2200"/>
              <a:buChar char="•"/>
            </a:pPr>
            <a:r>
              <a:rPr lang="en-US" sz="2200">
                <a:latin typeface="Arial"/>
                <a:ea typeface="Arial"/>
                <a:cs typeface="Arial"/>
                <a:sym typeface="Arial"/>
              </a:rPr>
              <a:t>∗	Performance Analysis</a:t>
            </a:r>
            <a:endParaRPr/>
          </a:p>
          <a:p>
            <a:pPr marL="314325" lvl="0" indent="-228600" algn="l" rtl="0">
              <a:lnSpc>
                <a:spcPct val="90000"/>
              </a:lnSpc>
              <a:spcBef>
                <a:spcPts val="1235"/>
              </a:spcBef>
              <a:spcAft>
                <a:spcPts val="0"/>
              </a:spcAft>
              <a:buClr>
                <a:schemeClr val="dk1"/>
              </a:buClr>
              <a:buSzPts val="2200"/>
              <a:buChar char="•"/>
            </a:pPr>
            <a:r>
              <a:rPr lang="en-US" sz="2200">
                <a:latin typeface="Arial"/>
                <a:ea typeface="Arial"/>
                <a:cs typeface="Arial"/>
                <a:sym typeface="Arial"/>
              </a:rPr>
              <a:t>∗	Expensive: load and parse the data twice, first to build the partition ranges, and then to actually sort the data.</a:t>
            </a:r>
            <a:endParaRPr sz="2200">
              <a:latin typeface="Arial"/>
              <a:ea typeface="Arial"/>
              <a:cs typeface="Arial"/>
              <a:sym typeface="Arial"/>
            </a:endParaRPr>
          </a:p>
          <a:p>
            <a:pPr marL="588645" marR="434975" lvl="0" indent="-274955" algn="l" rtl="0">
              <a:lnSpc>
                <a:spcPct val="90000"/>
              </a:lnSpc>
              <a:spcBef>
                <a:spcPts val="1200"/>
              </a:spcBef>
              <a:spcAft>
                <a:spcPts val="0"/>
              </a:spcAft>
              <a:buClr>
                <a:schemeClr val="dk1"/>
              </a:buClr>
              <a:buSzPts val="2200"/>
              <a:buChar char="•"/>
            </a:pPr>
            <a:r>
              <a:rPr lang="en-US" sz="2200">
                <a:latin typeface="Arial"/>
                <a:ea typeface="Arial"/>
                <a:cs typeface="Arial"/>
                <a:sym typeface="Arial"/>
              </a:rPr>
              <a:t>∗	The job that builds the partitions is straightforward and efficient since it has only one reducer and sends a minimal amount of data over the network. The output file is small, so writing it out is trivial</a:t>
            </a:r>
            <a:endParaRPr sz="2200">
              <a:latin typeface="Arial"/>
              <a:ea typeface="Arial"/>
              <a:cs typeface="Arial"/>
              <a:sym typeface="Arial"/>
            </a:endParaRPr>
          </a:p>
          <a:p>
            <a:pPr marL="588645" marR="5080" lvl="0" indent="-274955" algn="l" rtl="0">
              <a:lnSpc>
                <a:spcPct val="90000"/>
              </a:lnSpc>
              <a:spcBef>
                <a:spcPts val="1200"/>
              </a:spcBef>
              <a:spcAft>
                <a:spcPts val="0"/>
              </a:spcAft>
              <a:buClr>
                <a:schemeClr val="dk1"/>
              </a:buClr>
              <a:buSzPts val="2200"/>
              <a:buChar char="•"/>
            </a:pPr>
            <a:r>
              <a:rPr lang="en-US" sz="2200">
                <a:latin typeface="Arial"/>
                <a:ea typeface="Arial"/>
                <a:cs typeface="Arial"/>
                <a:sym typeface="Arial"/>
              </a:rPr>
              <a:t>∗	The order step of the job has performance characteristics similar to the other data organization patterns, because it has to move all of the data over the network and write all of the data back out</a:t>
            </a:r>
            <a:endParaRPr sz="2200">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73" descr="$PPTXTitle"/>
          <p:cNvSpPr txBox="1">
            <a:spLocks noGrp="1"/>
          </p:cNvSpPr>
          <p:nvPr>
            <p:ph type="title"/>
          </p:nvPr>
        </p:nvSpPr>
        <p:spPr>
          <a:xfrm>
            <a:off x="4749546" y="580389"/>
            <a:ext cx="269557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Play"/>
              <a:buNone/>
            </a:pPr>
            <a:r>
              <a:rPr lang="en-US"/>
              <a:t>Total Order</a:t>
            </a:r>
            <a:endParaRPr/>
          </a:p>
        </p:txBody>
      </p:sp>
      <p:grpSp>
        <p:nvGrpSpPr>
          <p:cNvPr id="1065" name="Google Shape;1065;p73"/>
          <p:cNvGrpSpPr/>
          <p:nvPr/>
        </p:nvGrpSpPr>
        <p:grpSpPr>
          <a:xfrm>
            <a:off x="4857750" y="3252724"/>
            <a:ext cx="2457450" cy="589280"/>
            <a:chOff x="4857750" y="3252724"/>
            <a:chExt cx="2457450" cy="589280"/>
          </a:xfrm>
        </p:grpSpPr>
        <p:pic>
          <p:nvPicPr>
            <p:cNvPr id="1066" name="Google Shape;1066;p73"/>
            <p:cNvPicPr preferRelativeResize="0"/>
            <p:nvPr/>
          </p:nvPicPr>
          <p:blipFill rotWithShape="1">
            <a:blip r:embed="rId3">
              <a:alphaModFix/>
            </a:blip>
            <a:srcRect/>
            <a:stretch/>
          </p:blipFill>
          <p:spPr>
            <a:xfrm>
              <a:off x="4876800" y="3272028"/>
              <a:ext cx="2438400" cy="569976"/>
            </a:xfrm>
            <a:prstGeom prst="rect">
              <a:avLst/>
            </a:prstGeom>
            <a:noFill/>
            <a:ln>
              <a:noFill/>
            </a:ln>
          </p:spPr>
        </p:pic>
        <p:sp>
          <p:nvSpPr>
            <p:cNvPr id="1067" name="Google Shape;1067;p73"/>
            <p:cNvSpPr/>
            <p:nvPr/>
          </p:nvSpPr>
          <p:spPr>
            <a:xfrm>
              <a:off x="4857750" y="3252724"/>
              <a:ext cx="2429510" cy="560070"/>
            </a:xfrm>
            <a:custGeom>
              <a:avLst/>
              <a:gdLst/>
              <a:ahLst/>
              <a:cxnLst/>
              <a:rect l="l" t="t" r="r" b="b"/>
              <a:pathLst>
                <a:path w="2429509" h="560070" extrusionOk="0">
                  <a:moveTo>
                    <a:pt x="170774" y="9977"/>
                  </a:moveTo>
                  <a:lnTo>
                    <a:pt x="162581" y="9977"/>
                  </a:lnTo>
                  <a:lnTo>
                    <a:pt x="107668" y="11622"/>
                  </a:lnTo>
                  <a:lnTo>
                    <a:pt x="77614" y="12319"/>
                  </a:lnTo>
                  <a:lnTo>
                    <a:pt x="0" y="12319"/>
                  </a:lnTo>
                  <a:lnTo>
                    <a:pt x="1920" y="56134"/>
                  </a:lnTo>
                  <a:lnTo>
                    <a:pt x="3413" y="103454"/>
                  </a:lnTo>
                  <a:lnTo>
                    <a:pt x="4480" y="154279"/>
                  </a:lnTo>
                  <a:lnTo>
                    <a:pt x="5084" y="205517"/>
                  </a:lnTo>
                  <a:lnTo>
                    <a:pt x="5171" y="222321"/>
                  </a:lnTo>
                  <a:lnTo>
                    <a:pt x="5293" y="277876"/>
                  </a:lnTo>
                  <a:lnTo>
                    <a:pt x="5162" y="315287"/>
                  </a:lnTo>
                  <a:lnTo>
                    <a:pt x="5120" y="327222"/>
                  </a:lnTo>
                  <a:lnTo>
                    <a:pt x="4515" y="382335"/>
                  </a:lnTo>
                  <a:lnTo>
                    <a:pt x="4480" y="385492"/>
                  </a:lnTo>
                  <a:lnTo>
                    <a:pt x="3532" y="435028"/>
                  </a:lnTo>
                  <a:lnTo>
                    <a:pt x="3413" y="441251"/>
                  </a:lnTo>
                  <a:lnTo>
                    <a:pt x="1917" y="494568"/>
                  </a:lnTo>
                  <a:lnTo>
                    <a:pt x="0" y="545211"/>
                  </a:lnTo>
                  <a:lnTo>
                    <a:pt x="94932" y="548925"/>
                  </a:lnTo>
                  <a:lnTo>
                    <a:pt x="133838" y="549854"/>
                  </a:lnTo>
                  <a:lnTo>
                    <a:pt x="167004" y="550164"/>
                  </a:lnTo>
                  <a:lnTo>
                    <a:pt x="218271" y="546689"/>
                  </a:lnTo>
                  <a:lnTo>
                    <a:pt x="264776" y="536265"/>
                  </a:lnTo>
                  <a:lnTo>
                    <a:pt x="306515" y="518891"/>
                  </a:lnTo>
                  <a:lnTo>
                    <a:pt x="343480" y="494568"/>
                  </a:lnTo>
                  <a:lnTo>
                    <a:pt x="373051" y="465836"/>
                  </a:lnTo>
                  <a:lnTo>
                    <a:pt x="165734" y="465836"/>
                  </a:lnTo>
                  <a:lnTo>
                    <a:pt x="152419" y="465502"/>
                  </a:lnTo>
                  <a:lnTo>
                    <a:pt x="112521" y="460502"/>
                  </a:lnTo>
                  <a:lnTo>
                    <a:pt x="110761" y="412303"/>
                  </a:lnTo>
                  <a:lnTo>
                    <a:pt x="109489" y="363902"/>
                  </a:lnTo>
                  <a:lnTo>
                    <a:pt x="108739" y="316616"/>
                  </a:lnTo>
                  <a:lnTo>
                    <a:pt x="108518" y="277876"/>
                  </a:lnTo>
                  <a:lnTo>
                    <a:pt x="108422" y="260350"/>
                  </a:lnTo>
                  <a:lnTo>
                    <a:pt x="108303" y="240160"/>
                  </a:lnTo>
                  <a:lnTo>
                    <a:pt x="108198" y="222321"/>
                  </a:lnTo>
                  <a:lnTo>
                    <a:pt x="107426" y="179101"/>
                  </a:lnTo>
                  <a:lnTo>
                    <a:pt x="106154" y="136786"/>
                  </a:lnTo>
                  <a:lnTo>
                    <a:pt x="104393" y="95377"/>
                  </a:lnTo>
                  <a:lnTo>
                    <a:pt x="118899" y="93783"/>
                  </a:lnTo>
                  <a:lnTo>
                    <a:pt x="131762" y="92630"/>
                  </a:lnTo>
                  <a:lnTo>
                    <a:pt x="143005" y="91930"/>
                  </a:lnTo>
                  <a:lnTo>
                    <a:pt x="152653" y="91694"/>
                  </a:lnTo>
                  <a:lnTo>
                    <a:pt x="389790" y="91694"/>
                  </a:lnTo>
                  <a:lnTo>
                    <a:pt x="383666" y="83566"/>
                  </a:lnTo>
                  <a:lnTo>
                    <a:pt x="353826" y="57032"/>
                  </a:lnTo>
                  <a:lnTo>
                    <a:pt x="317486" y="36405"/>
                  </a:lnTo>
                  <a:lnTo>
                    <a:pt x="274643" y="21679"/>
                  </a:lnTo>
                  <a:lnTo>
                    <a:pt x="225288" y="12848"/>
                  </a:lnTo>
                  <a:lnTo>
                    <a:pt x="170774" y="9977"/>
                  </a:lnTo>
                  <a:close/>
                </a:path>
                <a:path w="2429509" h="560070" extrusionOk="0">
                  <a:moveTo>
                    <a:pt x="389790" y="91694"/>
                  </a:moveTo>
                  <a:lnTo>
                    <a:pt x="152653" y="91694"/>
                  </a:lnTo>
                  <a:lnTo>
                    <a:pt x="196685" y="95053"/>
                  </a:lnTo>
                  <a:lnTo>
                    <a:pt x="234680" y="105140"/>
                  </a:lnTo>
                  <a:lnTo>
                    <a:pt x="292607" y="145542"/>
                  </a:lnTo>
                  <a:lnTo>
                    <a:pt x="327009" y="205517"/>
                  </a:lnTo>
                  <a:lnTo>
                    <a:pt x="338454" y="277876"/>
                  </a:lnTo>
                  <a:lnTo>
                    <a:pt x="335839" y="315287"/>
                  </a:lnTo>
                  <a:lnTo>
                    <a:pt x="314612" y="382335"/>
                  </a:lnTo>
                  <a:lnTo>
                    <a:pt x="272033" y="435028"/>
                  </a:lnTo>
                  <a:lnTo>
                    <a:pt x="206882" y="462408"/>
                  </a:lnTo>
                  <a:lnTo>
                    <a:pt x="165734" y="465836"/>
                  </a:lnTo>
                  <a:lnTo>
                    <a:pt x="373051" y="465836"/>
                  </a:lnTo>
                  <a:lnTo>
                    <a:pt x="408263" y="418101"/>
                  </a:lnTo>
                  <a:lnTo>
                    <a:pt x="431561" y="369204"/>
                  </a:lnTo>
                  <a:lnTo>
                    <a:pt x="445549" y="316616"/>
                  </a:lnTo>
                  <a:lnTo>
                    <a:pt x="450214" y="260350"/>
                  </a:lnTo>
                  <a:lnTo>
                    <a:pt x="446049" y="210581"/>
                  </a:lnTo>
                  <a:lnTo>
                    <a:pt x="433562" y="164528"/>
                  </a:lnTo>
                  <a:lnTo>
                    <a:pt x="412763" y="122189"/>
                  </a:lnTo>
                  <a:lnTo>
                    <a:pt x="389790" y="91694"/>
                  </a:lnTo>
                  <a:close/>
                </a:path>
                <a:path w="2429509" h="560070" extrusionOk="0">
                  <a:moveTo>
                    <a:pt x="2175255" y="0"/>
                  </a:moveTo>
                  <a:lnTo>
                    <a:pt x="2120866" y="5167"/>
                  </a:lnTo>
                  <a:lnTo>
                    <a:pt x="2071036" y="20669"/>
                  </a:lnTo>
                  <a:lnTo>
                    <a:pt x="2025755" y="46505"/>
                  </a:lnTo>
                  <a:lnTo>
                    <a:pt x="1985009" y="82677"/>
                  </a:lnTo>
                  <a:lnTo>
                    <a:pt x="1957303" y="117469"/>
                  </a:lnTo>
                  <a:lnTo>
                    <a:pt x="1935754" y="155707"/>
                  </a:lnTo>
                  <a:lnTo>
                    <a:pt x="1920361" y="197388"/>
                  </a:lnTo>
                  <a:lnTo>
                    <a:pt x="1911126" y="242514"/>
                  </a:lnTo>
                  <a:lnTo>
                    <a:pt x="1908047" y="291084"/>
                  </a:lnTo>
                  <a:lnTo>
                    <a:pt x="1912598" y="347015"/>
                  </a:lnTo>
                  <a:lnTo>
                    <a:pt x="1926256" y="397827"/>
                  </a:lnTo>
                  <a:lnTo>
                    <a:pt x="1949035" y="443495"/>
                  </a:lnTo>
                  <a:lnTo>
                    <a:pt x="1980945" y="483997"/>
                  </a:lnTo>
                  <a:lnTo>
                    <a:pt x="2019544" y="517241"/>
                  </a:lnTo>
                  <a:lnTo>
                    <a:pt x="2062559" y="540972"/>
                  </a:lnTo>
                  <a:lnTo>
                    <a:pt x="2109979" y="555202"/>
                  </a:lnTo>
                  <a:lnTo>
                    <a:pt x="2161793" y="559943"/>
                  </a:lnTo>
                  <a:lnTo>
                    <a:pt x="2216201" y="554775"/>
                  </a:lnTo>
                  <a:lnTo>
                    <a:pt x="2266061" y="539273"/>
                  </a:lnTo>
                  <a:lnTo>
                    <a:pt x="2311348" y="513437"/>
                  </a:lnTo>
                  <a:lnTo>
                    <a:pt x="2352040" y="477266"/>
                  </a:lnTo>
                  <a:lnTo>
                    <a:pt x="2357905" y="469900"/>
                  </a:lnTo>
                  <a:lnTo>
                    <a:pt x="2172842" y="469900"/>
                  </a:lnTo>
                  <a:lnTo>
                    <a:pt x="2142172" y="466564"/>
                  </a:lnTo>
                  <a:lnTo>
                    <a:pt x="2088260" y="439842"/>
                  </a:lnTo>
                  <a:lnTo>
                    <a:pt x="2045757" y="387764"/>
                  </a:lnTo>
                  <a:lnTo>
                    <a:pt x="2032097" y="355377"/>
                  </a:lnTo>
                  <a:lnTo>
                    <a:pt x="2031984" y="355107"/>
                  </a:lnTo>
                  <a:lnTo>
                    <a:pt x="2023711" y="318474"/>
                  </a:lnTo>
                  <a:lnTo>
                    <a:pt x="2020951" y="277876"/>
                  </a:lnTo>
                  <a:lnTo>
                    <a:pt x="2023481" y="240053"/>
                  </a:lnTo>
                  <a:lnTo>
                    <a:pt x="2023568" y="238756"/>
                  </a:lnTo>
                  <a:lnTo>
                    <a:pt x="2031363" y="203358"/>
                  </a:lnTo>
                  <a:lnTo>
                    <a:pt x="2031412" y="203136"/>
                  </a:lnTo>
                  <a:lnTo>
                    <a:pt x="2062733" y="142494"/>
                  </a:lnTo>
                  <a:lnTo>
                    <a:pt x="2108993" y="102266"/>
                  </a:lnTo>
                  <a:lnTo>
                    <a:pt x="2164206" y="88900"/>
                  </a:lnTo>
                  <a:lnTo>
                    <a:pt x="2366612" y="88900"/>
                  </a:lnTo>
                  <a:lnTo>
                    <a:pt x="2356230" y="75692"/>
                  </a:lnTo>
                  <a:lnTo>
                    <a:pt x="2317559" y="42594"/>
                  </a:lnTo>
                  <a:lnTo>
                    <a:pt x="2274506" y="18938"/>
                  </a:lnTo>
                  <a:lnTo>
                    <a:pt x="2227072" y="4736"/>
                  </a:lnTo>
                  <a:lnTo>
                    <a:pt x="2175255" y="0"/>
                  </a:lnTo>
                  <a:close/>
                </a:path>
                <a:path w="2429509" h="560070" extrusionOk="0">
                  <a:moveTo>
                    <a:pt x="2366612" y="88900"/>
                  </a:moveTo>
                  <a:lnTo>
                    <a:pt x="2164206" y="88900"/>
                  </a:lnTo>
                  <a:lnTo>
                    <a:pt x="2195317" y="92237"/>
                  </a:lnTo>
                  <a:lnTo>
                    <a:pt x="2195163" y="92237"/>
                  </a:lnTo>
                  <a:lnTo>
                    <a:pt x="2249110" y="118796"/>
                  </a:lnTo>
                  <a:lnTo>
                    <a:pt x="2291453" y="170711"/>
                  </a:lnTo>
                  <a:lnTo>
                    <a:pt x="2305052" y="203136"/>
                  </a:lnTo>
                  <a:lnTo>
                    <a:pt x="2305145" y="203358"/>
                  </a:lnTo>
                  <a:lnTo>
                    <a:pt x="2313360" y="240053"/>
                  </a:lnTo>
                  <a:lnTo>
                    <a:pt x="2316098" y="280797"/>
                  </a:lnTo>
                  <a:lnTo>
                    <a:pt x="2313637" y="317493"/>
                  </a:lnTo>
                  <a:lnTo>
                    <a:pt x="2313572" y="318474"/>
                  </a:lnTo>
                  <a:lnTo>
                    <a:pt x="2313481" y="319825"/>
                  </a:lnTo>
                  <a:lnTo>
                    <a:pt x="2305696" y="355107"/>
                  </a:lnTo>
                  <a:lnTo>
                    <a:pt x="2305637" y="355377"/>
                  </a:lnTo>
                  <a:lnTo>
                    <a:pt x="2292578" y="387453"/>
                  </a:lnTo>
                  <a:lnTo>
                    <a:pt x="2274316" y="416052"/>
                  </a:lnTo>
                  <a:lnTo>
                    <a:pt x="2252335" y="439628"/>
                  </a:lnTo>
                  <a:lnTo>
                    <a:pt x="2227853" y="456549"/>
                  </a:lnTo>
                  <a:lnTo>
                    <a:pt x="2201547" y="466564"/>
                  </a:lnTo>
                  <a:lnTo>
                    <a:pt x="2201406" y="466564"/>
                  </a:lnTo>
                  <a:lnTo>
                    <a:pt x="2172842" y="469900"/>
                  </a:lnTo>
                  <a:lnTo>
                    <a:pt x="2357905" y="469900"/>
                  </a:lnTo>
                  <a:lnTo>
                    <a:pt x="2379746" y="442474"/>
                  </a:lnTo>
                  <a:lnTo>
                    <a:pt x="2401295" y="404244"/>
                  </a:lnTo>
                  <a:lnTo>
                    <a:pt x="2416688" y="362581"/>
                  </a:lnTo>
                  <a:lnTo>
                    <a:pt x="2425923" y="317493"/>
                  </a:lnTo>
                  <a:lnTo>
                    <a:pt x="2429002" y="268986"/>
                  </a:lnTo>
                  <a:lnTo>
                    <a:pt x="2424453" y="212834"/>
                  </a:lnTo>
                  <a:lnTo>
                    <a:pt x="2410809" y="161909"/>
                  </a:lnTo>
                  <a:lnTo>
                    <a:pt x="2388068" y="116199"/>
                  </a:lnTo>
                  <a:lnTo>
                    <a:pt x="2366612" y="88900"/>
                  </a:lnTo>
                  <a:close/>
                </a:path>
                <a:path w="2429509" h="560070" extrusionOk="0">
                  <a:moveTo>
                    <a:pt x="1334642" y="12319"/>
                  </a:moveTo>
                  <a:lnTo>
                    <a:pt x="1176273" y="12319"/>
                  </a:lnTo>
                  <a:lnTo>
                    <a:pt x="1175448" y="35052"/>
                  </a:lnTo>
                  <a:lnTo>
                    <a:pt x="1172971" y="67818"/>
                  </a:lnTo>
                  <a:lnTo>
                    <a:pt x="1168844" y="110617"/>
                  </a:lnTo>
                  <a:lnTo>
                    <a:pt x="1163065" y="163449"/>
                  </a:lnTo>
                  <a:lnTo>
                    <a:pt x="1155636" y="226314"/>
                  </a:lnTo>
                  <a:lnTo>
                    <a:pt x="1146555" y="299212"/>
                  </a:lnTo>
                  <a:lnTo>
                    <a:pt x="1135709" y="385536"/>
                  </a:lnTo>
                  <a:lnTo>
                    <a:pt x="1127636" y="450744"/>
                  </a:lnTo>
                  <a:lnTo>
                    <a:pt x="1121711" y="499931"/>
                  </a:lnTo>
                  <a:lnTo>
                    <a:pt x="1118152" y="531416"/>
                  </a:lnTo>
                  <a:lnTo>
                    <a:pt x="1116964" y="545211"/>
                  </a:lnTo>
                  <a:lnTo>
                    <a:pt x="1225041" y="545211"/>
                  </a:lnTo>
                  <a:lnTo>
                    <a:pt x="1225599" y="513572"/>
                  </a:lnTo>
                  <a:lnTo>
                    <a:pt x="1225637" y="511425"/>
                  </a:lnTo>
                  <a:lnTo>
                    <a:pt x="1227423" y="463232"/>
                  </a:lnTo>
                  <a:lnTo>
                    <a:pt x="1230399" y="400657"/>
                  </a:lnTo>
                  <a:lnTo>
                    <a:pt x="1234566" y="323723"/>
                  </a:lnTo>
                  <a:lnTo>
                    <a:pt x="1238831" y="246947"/>
                  </a:lnTo>
                  <a:lnTo>
                    <a:pt x="1241917" y="184816"/>
                  </a:lnTo>
                  <a:lnTo>
                    <a:pt x="1243752" y="139366"/>
                  </a:lnTo>
                  <a:lnTo>
                    <a:pt x="1243836" y="137306"/>
                  </a:lnTo>
                  <a:lnTo>
                    <a:pt x="1244599" y="104394"/>
                  </a:lnTo>
                  <a:lnTo>
                    <a:pt x="1352278" y="104394"/>
                  </a:lnTo>
                  <a:lnTo>
                    <a:pt x="1347200" y="85788"/>
                  </a:lnTo>
                  <a:lnTo>
                    <a:pt x="1337784" y="42160"/>
                  </a:lnTo>
                  <a:lnTo>
                    <a:pt x="1334642" y="12319"/>
                  </a:lnTo>
                  <a:close/>
                </a:path>
                <a:path w="2429509" h="560070" extrusionOk="0">
                  <a:moveTo>
                    <a:pt x="1352278" y="104394"/>
                  </a:moveTo>
                  <a:lnTo>
                    <a:pt x="1250822" y="104394"/>
                  </a:lnTo>
                  <a:lnTo>
                    <a:pt x="1255466" y="130044"/>
                  </a:lnTo>
                  <a:lnTo>
                    <a:pt x="1266896" y="181582"/>
                  </a:lnTo>
                  <a:lnTo>
                    <a:pt x="1282848" y="238379"/>
                  </a:lnTo>
                  <a:lnTo>
                    <a:pt x="1296050" y="278955"/>
                  </a:lnTo>
                  <a:lnTo>
                    <a:pt x="1313277" y="329247"/>
                  </a:lnTo>
                  <a:lnTo>
                    <a:pt x="1334515" y="389255"/>
                  </a:lnTo>
                  <a:lnTo>
                    <a:pt x="1354778" y="447645"/>
                  </a:lnTo>
                  <a:lnTo>
                    <a:pt x="1369266" y="493093"/>
                  </a:lnTo>
                  <a:lnTo>
                    <a:pt x="1377967" y="525611"/>
                  </a:lnTo>
                  <a:lnTo>
                    <a:pt x="1380870" y="545211"/>
                  </a:lnTo>
                  <a:lnTo>
                    <a:pt x="1471421" y="545211"/>
                  </a:lnTo>
                  <a:lnTo>
                    <a:pt x="1474448" y="526043"/>
                  </a:lnTo>
                  <a:lnTo>
                    <a:pt x="1483534" y="493887"/>
                  </a:lnTo>
                  <a:lnTo>
                    <a:pt x="1498693" y="448752"/>
                  </a:lnTo>
                  <a:lnTo>
                    <a:pt x="1511160" y="414655"/>
                  </a:lnTo>
                  <a:lnTo>
                    <a:pt x="1434972" y="414655"/>
                  </a:lnTo>
                  <a:lnTo>
                    <a:pt x="1431831" y="385720"/>
                  </a:lnTo>
                  <a:lnTo>
                    <a:pt x="1422415" y="342725"/>
                  </a:lnTo>
                  <a:lnTo>
                    <a:pt x="1406737" y="285656"/>
                  </a:lnTo>
                  <a:lnTo>
                    <a:pt x="1384807" y="214503"/>
                  </a:lnTo>
                  <a:lnTo>
                    <a:pt x="1362878" y="143228"/>
                  </a:lnTo>
                  <a:lnTo>
                    <a:pt x="1352278" y="104394"/>
                  </a:lnTo>
                  <a:close/>
                </a:path>
                <a:path w="2429509" h="560070" extrusionOk="0">
                  <a:moveTo>
                    <a:pt x="1715764" y="104394"/>
                  </a:moveTo>
                  <a:lnTo>
                    <a:pt x="1613788" y="104394"/>
                  </a:lnTo>
                  <a:lnTo>
                    <a:pt x="1614436" y="130044"/>
                  </a:lnTo>
                  <a:lnTo>
                    <a:pt x="1614501" y="132635"/>
                  </a:lnTo>
                  <a:lnTo>
                    <a:pt x="1616249" y="176403"/>
                  </a:lnTo>
                  <a:lnTo>
                    <a:pt x="1619021" y="235696"/>
                  </a:lnTo>
                  <a:lnTo>
                    <a:pt x="1622805" y="310515"/>
                  </a:lnTo>
                  <a:lnTo>
                    <a:pt x="1625898" y="372755"/>
                  </a:lnTo>
                  <a:lnTo>
                    <a:pt x="1628314" y="427344"/>
                  </a:lnTo>
                  <a:lnTo>
                    <a:pt x="1630048" y="474284"/>
                  </a:lnTo>
                  <a:lnTo>
                    <a:pt x="1631035" y="511425"/>
                  </a:lnTo>
                  <a:lnTo>
                    <a:pt x="1631092" y="513572"/>
                  </a:lnTo>
                  <a:lnTo>
                    <a:pt x="1631441" y="545211"/>
                  </a:lnTo>
                  <a:lnTo>
                    <a:pt x="1750440" y="545211"/>
                  </a:lnTo>
                  <a:lnTo>
                    <a:pt x="1747437" y="502012"/>
                  </a:lnTo>
                  <a:lnTo>
                    <a:pt x="1743665" y="455892"/>
                  </a:lnTo>
                  <a:lnTo>
                    <a:pt x="1737694" y="385720"/>
                  </a:lnTo>
                  <a:lnTo>
                    <a:pt x="1731517" y="314579"/>
                  </a:lnTo>
                  <a:lnTo>
                    <a:pt x="1725798" y="246947"/>
                  </a:lnTo>
                  <a:lnTo>
                    <a:pt x="1720973" y="184816"/>
                  </a:lnTo>
                  <a:lnTo>
                    <a:pt x="1717230" y="130254"/>
                  </a:lnTo>
                  <a:lnTo>
                    <a:pt x="1715764" y="104394"/>
                  </a:lnTo>
                  <a:close/>
                </a:path>
                <a:path w="2429509" h="560070" extrusionOk="0">
                  <a:moveTo>
                    <a:pt x="1712467" y="12319"/>
                  </a:moveTo>
                  <a:lnTo>
                    <a:pt x="1555241" y="12319"/>
                  </a:lnTo>
                  <a:lnTo>
                    <a:pt x="1551672" y="41939"/>
                  </a:lnTo>
                  <a:lnTo>
                    <a:pt x="1540970" y="85455"/>
                  </a:lnTo>
                  <a:lnTo>
                    <a:pt x="1523148" y="142853"/>
                  </a:lnTo>
                  <a:lnTo>
                    <a:pt x="1498218" y="214122"/>
                  </a:lnTo>
                  <a:lnTo>
                    <a:pt x="1473215" y="285245"/>
                  </a:lnTo>
                  <a:lnTo>
                    <a:pt x="1455356" y="342392"/>
                  </a:lnTo>
                  <a:lnTo>
                    <a:pt x="1444640" y="385536"/>
                  </a:lnTo>
                  <a:lnTo>
                    <a:pt x="1441068" y="414655"/>
                  </a:lnTo>
                  <a:lnTo>
                    <a:pt x="1511160" y="414655"/>
                  </a:lnTo>
                  <a:lnTo>
                    <a:pt x="1521748" y="385720"/>
                  </a:lnTo>
                  <a:lnTo>
                    <a:pt x="1542220" y="330019"/>
                  </a:lnTo>
                  <a:lnTo>
                    <a:pt x="1560671" y="277256"/>
                  </a:lnTo>
                  <a:lnTo>
                    <a:pt x="1575264" y="232328"/>
                  </a:lnTo>
                  <a:lnTo>
                    <a:pt x="1585975" y="195199"/>
                  </a:lnTo>
                  <a:lnTo>
                    <a:pt x="1600168" y="139366"/>
                  </a:lnTo>
                  <a:lnTo>
                    <a:pt x="1607692" y="104394"/>
                  </a:lnTo>
                  <a:lnTo>
                    <a:pt x="1715764" y="104394"/>
                  </a:lnTo>
                  <a:lnTo>
                    <a:pt x="1714710" y="85788"/>
                  </a:lnTo>
                  <a:lnTo>
                    <a:pt x="1714584" y="83570"/>
                  </a:lnTo>
                  <a:lnTo>
                    <a:pt x="1712997" y="44260"/>
                  </a:lnTo>
                  <a:lnTo>
                    <a:pt x="1712467" y="12319"/>
                  </a:lnTo>
                  <a:close/>
                </a:path>
                <a:path w="2429509" h="560070" extrusionOk="0">
                  <a:moveTo>
                    <a:pt x="949578" y="12319"/>
                  </a:moveTo>
                  <a:lnTo>
                    <a:pt x="617219" y="12319"/>
                  </a:lnTo>
                  <a:lnTo>
                    <a:pt x="619140" y="56134"/>
                  </a:lnTo>
                  <a:lnTo>
                    <a:pt x="620378" y="95377"/>
                  </a:lnTo>
                  <a:lnTo>
                    <a:pt x="620495" y="99073"/>
                  </a:lnTo>
                  <a:lnTo>
                    <a:pt x="620587" y="101981"/>
                  </a:lnTo>
                  <a:lnTo>
                    <a:pt x="620633" y="103454"/>
                  </a:lnTo>
                  <a:lnTo>
                    <a:pt x="621700" y="154279"/>
                  </a:lnTo>
                  <a:lnTo>
                    <a:pt x="622340" y="208610"/>
                  </a:lnTo>
                  <a:lnTo>
                    <a:pt x="622553" y="266446"/>
                  </a:lnTo>
                  <a:lnTo>
                    <a:pt x="622413" y="306578"/>
                  </a:lnTo>
                  <a:lnTo>
                    <a:pt x="621700" y="385492"/>
                  </a:lnTo>
                  <a:lnTo>
                    <a:pt x="620633" y="441251"/>
                  </a:lnTo>
                  <a:lnTo>
                    <a:pt x="619140" y="494493"/>
                  </a:lnTo>
                  <a:lnTo>
                    <a:pt x="617219" y="545211"/>
                  </a:lnTo>
                  <a:lnTo>
                    <a:pt x="965453" y="545211"/>
                  </a:lnTo>
                  <a:lnTo>
                    <a:pt x="968499" y="462153"/>
                  </a:lnTo>
                  <a:lnTo>
                    <a:pt x="729741" y="462153"/>
                  </a:lnTo>
                  <a:lnTo>
                    <a:pt x="728315" y="425217"/>
                  </a:lnTo>
                  <a:lnTo>
                    <a:pt x="727281" y="386984"/>
                  </a:lnTo>
                  <a:lnTo>
                    <a:pt x="726652" y="347442"/>
                  </a:lnTo>
                  <a:lnTo>
                    <a:pt x="726547" y="327222"/>
                  </a:lnTo>
                  <a:lnTo>
                    <a:pt x="726439" y="306578"/>
                  </a:lnTo>
                  <a:lnTo>
                    <a:pt x="909446" y="306578"/>
                  </a:lnTo>
                  <a:lnTo>
                    <a:pt x="909446" y="229616"/>
                  </a:lnTo>
                  <a:lnTo>
                    <a:pt x="726439" y="229616"/>
                  </a:lnTo>
                  <a:lnTo>
                    <a:pt x="726411" y="225171"/>
                  </a:lnTo>
                  <a:lnTo>
                    <a:pt x="726303" y="208610"/>
                  </a:lnTo>
                  <a:lnTo>
                    <a:pt x="726197" y="192228"/>
                  </a:lnTo>
                  <a:lnTo>
                    <a:pt x="725455" y="157400"/>
                  </a:lnTo>
                  <a:lnTo>
                    <a:pt x="724189" y="125120"/>
                  </a:lnTo>
                  <a:lnTo>
                    <a:pt x="722601" y="99073"/>
                  </a:lnTo>
                  <a:lnTo>
                    <a:pt x="722475" y="97012"/>
                  </a:lnTo>
                  <a:lnTo>
                    <a:pt x="722375" y="95377"/>
                  </a:lnTo>
                  <a:lnTo>
                    <a:pt x="945343" y="95377"/>
                  </a:lnTo>
                  <a:lnTo>
                    <a:pt x="949578" y="12319"/>
                  </a:lnTo>
                  <a:close/>
                </a:path>
                <a:path w="2429509" h="560070" extrusionOk="0">
                  <a:moveTo>
                    <a:pt x="968755" y="455168"/>
                  </a:moveTo>
                  <a:lnTo>
                    <a:pt x="869626" y="459601"/>
                  </a:lnTo>
                  <a:lnTo>
                    <a:pt x="821830" y="461011"/>
                  </a:lnTo>
                  <a:lnTo>
                    <a:pt x="775203" y="461865"/>
                  </a:lnTo>
                  <a:lnTo>
                    <a:pt x="729741" y="462153"/>
                  </a:lnTo>
                  <a:lnTo>
                    <a:pt x="968499" y="462153"/>
                  </a:lnTo>
                  <a:lnTo>
                    <a:pt x="968593" y="459601"/>
                  </a:lnTo>
                  <a:lnTo>
                    <a:pt x="968664" y="457650"/>
                  </a:lnTo>
                  <a:lnTo>
                    <a:pt x="968755" y="455168"/>
                  </a:lnTo>
                  <a:close/>
                </a:path>
                <a:path w="2429509" h="560070" extrusionOk="0">
                  <a:moveTo>
                    <a:pt x="909446" y="306578"/>
                  </a:moveTo>
                  <a:lnTo>
                    <a:pt x="726439" y="306578"/>
                  </a:lnTo>
                  <a:lnTo>
                    <a:pt x="770590" y="306837"/>
                  </a:lnTo>
                  <a:lnTo>
                    <a:pt x="815800" y="307609"/>
                  </a:lnTo>
                  <a:lnTo>
                    <a:pt x="909446" y="310642"/>
                  </a:lnTo>
                  <a:lnTo>
                    <a:pt x="909446" y="306578"/>
                  </a:lnTo>
                  <a:close/>
                </a:path>
                <a:path w="2429509" h="560070" extrusionOk="0">
                  <a:moveTo>
                    <a:pt x="909446" y="225171"/>
                  </a:moveTo>
                  <a:lnTo>
                    <a:pt x="861439" y="227097"/>
                  </a:lnTo>
                  <a:lnTo>
                    <a:pt x="814943" y="228488"/>
                  </a:lnTo>
                  <a:lnTo>
                    <a:pt x="769947" y="229332"/>
                  </a:lnTo>
                  <a:lnTo>
                    <a:pt x="726439" y="229616"/>
                  </a:lnTo>
                  <a:lnTo>
                    <a:pt x="909446" y="229616"/>
                  </a:lnTo>
                  <a:lnTo>
                    <a:pt x="909446" y="225171"/>
                  </a:lnTo>
                  <a:close/>
                </a:path>
                <a:path w="2429509" h="560070" extrusionOk="0">
                  <a:moveTo>
                    <a:pt x="945343" y="95377"/>
                  </a:moveTo>
                  <a:lnTo>
                    <a:pt x="722375" y="95377"/>
                  </a:lnTo>
                  <a:lnTo>
                    <a:pt x="773735" y="95783"/>
                  </a:lnTo>
                  <a:lnTo>
                    <a:pt x="827976" y="97012"/>
                  </a:lnTo>
                  <a:lnTo>
                    <a:pt x="885074" y="99073"/>
                  </a:lnTo>
                  <a:lnTo>
                    <a:pt x="945006" y="101981"/>
                  </a:lnTo>
                  <a:lnTo>
                    <a:pt x="945155" y="99073"/>
                  </a:lnTo>
                  <a:lnTo>
                    <a:pt x="945260" y="97012"/>
                  </a:lnTo>
                  <a:lnTo>
                    <a:pt x="945343" y="95377"/>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8" name="Google Shape;1068;p73"/>
            <p:cNvSpPr/>
            <p:nvPr/>
          </p:nvSpPr>
          <p:spPr>
            <a:xfrm>
              <a:off x="4857750" y="3252724"/>
              <a:ext cx="2429510" cy="560070"/>
            </a:xfrm>
            <a:custGeom>
              <a:avLst/>
              <a:gdLst/>
              <a:ahLst/>
              <a:cxnLst/>
              <a:rect l="l" t="t" r="r" b="b"/>
              <a:pathLst>
                <a:path w="2429509" h="560070" extrusionOk="0">
                  <a:moveTo>
                    <a:pt x="152653" y="91694"/>
                  </a:moveTo>
                  <a:lnTo>
                    <a:pt x="143005" y="91930"/>
                  </a:lnTo>
                  <a:lnTo>
                    <a:pt x="131762" y="92630"/>
                  </a:lnTo>
                  <a:lnTo>
                    <a:pt x="118899" y="93783"/>
                  </a:lnTo>
                  <a:lnTo>
                    <a:pt x="104393" y="95377"/>
                  </a:lnTo>
                  <a:lnTo>
                    <a:pt x="106154" y="136786"/>
                  </a:lnTo>
                  <a:lnTo>
                    <a:pt x="107426" y="179101"/>
                  </a:lnTo>
                  <a:lnTo>
                    <a:pt x="108198" y="222321"/>
                  </a:lnTo>
                  <a:lnTo>
                    <a:pt x="108457" y="266446"/>
                  </a:lnTo>
                  <a:lnTo>
                    <a:pt x="108717" y="315287"/>
                  </a:lnTo>
                  <a:lnTo>
                    <a:pt x="109489" y="363902"/>
                  </a:lnTo>
                  <a:lnTo>
                    <a:pt x="110761" y="412303"/>
                  </a:lnTo>
                  <a:lnTo>
                    <a:pt x="112521" y="460502"/>
                  </a:lnTo>
                  <a:lnTo>
                    <a:pt x="152419" y="465502"/>
                  </a:lnTo>
                  <a:lnTo>
                    <a:pt x="165734" y="465836"/>
                  </a:lnTo>
                  <a:lnTo>
                    <a:pt x="206882" y="462408"/>
                  </a:lnTo>
                  <a:lnTo>
                    <a:pt x="272033" y="435028"/>
                  </a:lnTo>
                  <a:lnTo>
                    <a:pt x="314612" y="382335"/>
                  </a:lnTo>
                  <a:lnTo>
                    <a:pt x="335809" y="315712"/>
                  </a:lnTo>
                  <a:lnTo>
                    <a:pt x="338454" y="277876"/>
                  </a:lnTo>
                  <a:lnTo>
                    <a:pt x="335595" y="240160"/>
                  </a:lnTo>
                  <a:lnTo>
                    <a:pt x="312683" y="173970"/>
                  </a:lnTo>
                  <a:lnTo>
                    <a:pt x="266650" y="121965"/>
                  </a:lnTo>
                  <a:lnTo>
                    <a:pt x="196685" y="95053"/>
                  </a:lnTo>
                  <a:lnTo>
                    <a:pt x="152653" y="91694"/>
                  </a:lnTo>
                  <a:close/>
                </a:path>
                <a:path w="2429509" h="560070" extrusionOk="0">
                  <a:moveTo>
                    <a:pt x="2164206" y="88900"/>
                  </a:moveTo>
                  <a:lnTo>
                    <a:pt x="2108993" y="102266"/>
                  </a:lnTo>
                  <a:lnTo>
                    <a:pt x="2062733" y="142494"/>
                  </a:lnTo>
                  <a:lnTo>
                    <a:pt x="2031412" y="203136"/>
                  </a:lnTo>
                  <a:lnTo>
                    <a:pt x="2020951" y="277876"/>
                  </a:lnTo>
                  <a:lnTo>
                    <a:pt x="2023711" y="318474"/>
                  </a:lnTo>
                  <a:lnTo>
                    <a:pt x="2045757" y="387764"/>
                  </a:lnTo>
                  <a:lnTo>
                    <a:pt x="2088260" y="439842"/>
                  </a:lnTo>
                  <a:lnTo>
                    <a:pt x="2142172" y="466564"/>
                  </a:lnTo>
                  <a:lnTo>
                    <a:pt x="2172842" y="469900"/>
                  </a:lnTo>
                  <a:lnTo>
                    <a:pt x="2201610" y="466540"/>
                  </a:lnTo>
                  <a:lnTo>
                    <a:pt x="2252335" y="439628"/>
                  </a:lnTo>
                  <a:lnTo>
                    <a:pt x="2292578" y="387453"/>
                  </a:lnTo>
                  <a:lnTo>
                    <a:pt x="2313481" y="319825"/>
                  </a:lnTo>
                  <a:lnTo>
                    <a:pt x="2316098" y="280797"/>
                  </a:lnTo>
                  <a:lnTo>
                    <a:pt x="2313360" y="240053"/>
                  </a:lnTo>
                  <a:lnTo>
                    <a:pt x="2291453" y="170711"/>
                  </a:lnTo>
                  <a:lnTo>
                    <a:pt x="2249110" y="118796"/>
                  </a:lnTo>
                  <a:lnTo>
                    <a:pt x="2195095" y="92213"/>
                  </a:lnTo>
                  <a:lnTo>
                    <a:pt x="2164206" y="88900"/>
                  </a:lnTo>
                  <a:close/>
                </a:path>
                <a:path w="2429509" h="560070" extrusionOk="0">
                  <a:moveTo>
                    <a:pt x="1176273" y="12319"/>
                  </a:moveTo>
                  <a:lnTo>
                    <a:pt x="1334642" y="12319"/>
                  </a:lnTo>
                  <a:lnTo>
                    <a:pt x="1337784" y="42160"/>
                  </a:lnTo>
                  <a:lnTo>
                    <a:pt x="1347200" y="85788"/>
                  </a:lnTo>
                  <a:lnTo>
                    <a:pt x="1362878" y="143228"/>
                  </a:lnTo>
                  <a:lnTo>
                    <a:pt x="1384807" y="214503"/>
                  </a:lnTo>
                  <a:lnTo>
                    <a:pt x="1406737" y="285656"/>
                  </a:lnTo>
                  <a:lnTo>
                    <a:pt x="1422415" y="342725"/>
                  </a:lnTo>
                  <a:lnTo>
                    <a:pt x="1431831" y="385720"/>
                  </a:lnTo>
                  <a:lnTo>
                    <a:pt x="1434972" y="414655"/>
                  </a:lnTo>
                  <a:lnTo>
                    <a:pt x="1441068" y="414655"/>
                  </a:lnTo>
                  <a:lnTo>
                    <a:pt x="1444640" y="385536"/>
                  </a:lnTo>
                  <a:lnTo>
                    <a:pt x="1455356" y="342392"/>
                  </a:lnTo>
                  <a:lnTo>
                    <a:pt x="1473215" y="285245"/>
                  </a:lnTo>
                  <a:lnTo>
                    <a:pt x="1498218" y="214122"/>
                  </a:lnTo>
                  <a:lnTo>
                    <a:pt x="1523148" y="142853"/>
                  </a:lnTo>
                  <a:lnTo>
                    <a:pt x="1540970" y="85455"/>
                  </a:lnTo>
                  <a:lnTo>
                    <a:pt x="1551672" y="41939"/>
                  </a:lnTo>
                  <a:lnTo>
                    <a:pt x="1555241" y="12319"/>
                  </a:lnTo>
                  <a:lnTo>
                    <a:pt x="1712467" y="12319"/>
                  </a:lnTo>
                  <a:lnTo>
                    <a:pt x="1714584" y="83570"/>
                  </a:lnTo>
                  <a:lnTo>
                    <a:pt x="1717230" y="130254"/>
                  </a:lnTo>
                  <a:lnTo>
                    <a:pt x="1720934" y="184314"/>
                  </a:lnTo>
                  <a:lnTo>
                    <a:pt x="1725697" y="245754"/>
                  </a:lnTo>
                  <a:lnTo>
                    <a:pt x="1731517" y="314579"/>
                  </a:lnTo>
                  <a:lnTo>
                    <a:pt x="1738362" y="393416"/>
                  </a:lnTo>
                  <a:lnTo>
                    <a:pt x="1743665" y="455892"/>
                  </a:lnTo>
                  <a:lnTo>
                    <a:pt x="1747437" y="502012"/>
                  </a:lnTo>
                  <a:lnTo>
                    <a:pt x="1749692" y="531783"/>
                  </a:lnTo>
                  <a:lnTo>
                    <a:pt x="1750440" y="545211"/>
                  </a:lnTo>
                  <a:lnTo>
                    <a:pt x="1631441" y="545211"/>
                  </a:lnTo>
                  <a:lnTo>
                    <a:pt x="1631092" y="513572"/>
                  </a:lnTo>
                  <a:lnTo>
                    <a:pt x="1630048" y="474284"/>
                  </a:lnTo>
                  <a:lnTo>
                    <a:pt x="1628314" y="427344"/>
                  </a:lnTo>
                  <a:lnTo>
                    <a:pt x="1625898" y="372755"/>
                  </a:lnTo>
                  <a:lnTo>
                    <a:pt x="1622805" y="310515"/>
                  </a:lnTo>
                  <a:lnTo>
                    <a:pt x="1619021" y="235696"/>
                  </a:lnTo>
                  <a:lnTo>
                    <a:pt x="1616249" y="176403"/>
                  </a:lnTo>
                  <a:lnTo>
                    <a:pt x="1614501" y="132635"/>
                  </a:lnTo>
                  <a:lnTo>
                    <a:pt x="1613788" y="104394"/>
                  </a:lnTo>
                  <a:lnTo>
                    <a:pt x="1607692" y="104394"/>
                  </a:lnTo>
                  <a:lnTo>
                    <a:pt x="1593905" y="164669"/>
                  </a:lnTo>
                  <a:lnTo>
                    <a:pt x="1575264" y="232328"/>
                  </a:lnTo>
                  <a:lnTo>
                    <a:pt x="1560671" y="277256"/>
                  </a:lnTo>
                  <a:lnTo>
                    <a:pt x="1542220" y="330019"/>
                  </a:lnTo>
                  <a:lnTo>
                    <a:pt x="1519935" y="390652"/>
                  </a:lnTo>
                  <a:lnTo>
                    <a:pt x="1498693" y="448752"/>
                  </a:lnTo>
                  <a:lnTo>
                    <a:pt x="1483534" y="493887"/>
                  </a:lnTo>
                  <a:lnTo>
                    <a:pt x="1474448" y="526043"/>
                  </a:lnTo>
                  <a:lnTo>
                    <a:pt x="1471421" y="545211"/>
                  </a:lnTo>
                  <a:lnTo>
                    <a:pt x="1380870" y="545211"/>
                  </a:lnTo>
                  <a:lnTo>
                    <a:pt x="1369266" y="493093"/>
                  </a:lnTo>
                  <a:lnTo>
                    <a:pt x="1354778" y="447645"/>
                  </a:lnTo>
                  <a:lnTo>
                    <a:pt x="1334515" y="389255"/>
                  </a:lnTo>
                  <a:lnTo>
                    <a:pt x="1313277" y="329247"/>
                  </a:lnTo>
                  <a:lnTo>
                    <a:pt x="1296050" y="278955"/>
                  </a:lnTo>
                  <a:lnTo>
                    <a:pt x="1282848" y="238379"/>
                  </a:lnTo>
                  <a:lnTo>
                    <a:pt x="1266896" y="181582"/>
                  </a:lnTo>
                  <a:lnTo>
                    <a:pt x="1255466" y="130044"/>
                  </a:lnTo>
                  <a:lnTo>
                    <a:pt x="1250822" y="104394"/>
                  </a:lnTo>
                  <a:lnTo>
                    <a:pt x="1244599" y="104394"/>
                  </a:lnTo>
                  <a:lnTo>
                    <a:pt x="1243836" y="137306"/>
                  </a:lnTo>
                  <a:lnTo>
                    <a:pt x="1241917" y="184816"/>
                  </a:lnTo>
                  <a:lnTo>
                    <a:pt x="1238831" y="246947"/>
                  </a:lnTo>
                  <a:lnTo>
                    <a:pt x="1234566" y="323723"/>
                  </a:lnTo>
                  <a:lnTo>
                    <a:pt x="1230399" y="400657"/>
                  </a:lnTo>
                  <a:lnTo>
                    <a:pt x="1227423" y="463232"/>
                  </a:lnTo>
                  <a:lnTo>
                    <a:pt x="1225637" y="511425"/>
                  </a:lnTo>
                  <a:lnTo>
                    <a:pt x="1225041" y="545211"/>
                  </a:lnTo>
                  <a:lnTo>
                    <a:pt x="1116964" y="545211"/>
                  </a:lnTo>
                  <a:lnTo>
                    <a:pt x="1121711" y="499931"/>
                  </a:lnTo>
                  <a:lnTo>
                    <a:pt x="1127636" y="450744"/>
                  </a:lnTo>
                  <a:lnTo>
                    <a:pt x="1135919" y="383841"/>
                  </a:lnTo>
                  <a:lnTo>
                    <a:pt x="1146555" y="299212"/>
                  </a:lnTo>
                  <a:lnTo>
                    <a:pt x="1155636" y="226314"/>
                  </a:lnTo>
                  <a:lnTo>
                    <a:pt x="1163065" y="163449"/>
                  </a:lnTo>
                  <a:lnTo>
                    <a:pt x="1168844" y="110617"/>
                  </a:lnTo>
                  <a:lnTo>
                    <a:pt x="1172971" y="67818"/>
                  </a:lnTo>
                  <a:lnTo>
                    <a:pt x="1175448" y="35052"/>
                  </a:lnTo>
                  <a:lnTo>
                    <a:pt x="1176273" y="12319"/>
                  </a:lnTo>
                  <a:close/>
                </a:path>
                <a:path w="2429509" h="560070" extrusionOk="0">
                  <a:moveTo>
                    <a:pt x="617219" y="12319"/>
                  </a:moveTo>
                  <a:lnTo>
                    <a:pt x="949578" y="12319"/>
                  </a:lnTo>
                  <a:lnTo>
                    <a:pt x="945006" y="101981"/>
                  </a:lnTo>
                  <a:lnTo>
                    <a:pt x="885074" y="99073"/>
                  </a:lnTo>
                  <a:lnTo>
                    <a:pt x="827976" y="97012"/>
                  </a:lnTo>
                  <a:lnTo>
                    <a:pt x="773735" y="95783"/>
                  </a:lnTo>
                  <a:lnTo>
                    <a:pt x="722375" y="95377"/>
                  </a:lnTo>
                  <a:lnTo>
                    <a:pt x="724189" y="125120"/>
                  </a:lnTo>
                  <a:lnTo>
                    <a:pt x="725455" y="157400"/>
                  </a:lnTo>
                  <a:lnTo>
                    <a:pt x="726197" y="192228"/>
                  </a:lnTo>
                  <a:lnTo>
                    <a:pt x="726439" y="229616"/>
                  </a:lnTo>
                  <a:lnTo>
                    <a:pt x="769947" y="229332"/>
                  </a:lnTo>
                  <a:lnTo>
                    <a:pt x="814943" y="228488"/>
                  </a:lnTo>
                  <a:lnTo>
                    <a:pt x="861439" y="227097"/>
                  </a:lnTo>
                  <a:lnTo>
                    <a:pt x="909446" y="225171"/>
                  </a:lnTo>
                  <a:lnTo>
                    <a:pt x="909446" y="310642"/>
                  </a:lnTo>
                  <a:lnTo>
                    <a:pt x="862081" y="308881"/>
                  </a:lnTo>
                  <a:lnTo>
                    <a:pt x="815800" y="307609"/>
                  </a:lnTo>
                  <a:lnTo>
                    <a:pt x="770590" y="306837"/>
                  </a:lnTo>
                  <a:lnTo>
                    <a:pt x="726439" y="306578"/>
                  </a:lnTo>
                  <a:lnTo>
                    <a:pt x="726652" y="347442"/>
                  </a:lnTo>
                  <a:lnTo>
                    <a:pt x="727281" y="386984"/>
                  </a:lnTo>
                  <a:lnTo>
                    <a:pt x="728315" y="425217"/>
                  </a:lnTo>
                  <a:lnTo>
                    <a:pt x="729741" y="462153"/>
                  </a:lnTo>
                  <a:lnTo>
                    <a:pt x="775203" y="461865"/>
                  </a:lnTo>
                  <a:lnTo>
                    <a:pt x="821830" y="461011"/>
                  </a:lnTo>
                  <a:lnTo>
                    <a:pt x="869626" y="459601"/>
                  </a:lnTo>
                  <a:lnTo>
                    <a:pt x="918600" y="457650"/>
                  </a:lnTo>
                  <a:lnTo>
                    <a:pt x="968755" y="455168"/>
                  </a:lnTo>
                  <a:lnTo>
                    <a:pt x="965453" y="545211"/>
                  </a:lnTo>
                  <a:lnTo>
                    <a:pt x="617219" y="545211"/>
                  </a:lnTo>
                  <a:lnTo>
                    <a:pt x="619140" y="494493"/>
                  </a:lnTo>
                  <a:lnTo>
                    <a:pt x="620633" y="441251"/>
                  </a:lnTo>
                  <a:lnTo>
                    <a:pt x="621700" y="385492"/>
                  </a:lnTo>
                  <a:lnTo>
                    <a:pt x="622340" y="327222"/>
                  </a:lnTo>
                  <a:lnTo>
                    <a:pt x="622553" y="266446"/>
                  </a:lnTo>
                  <a:lnTo>
                    <a:pt x="622340" y="208610"/>
                  </a:lnTo>
                  <a:lnTo>
                    <a:pt x="621700" y="154279"/>
                  </a:lnTo>
                  <a:lnTo>
                    <a:pt x="620633" y="103454"/>
                  </a:lnTo>
                  <a:lnTo>
                    <a:pt x="619140" y="56134"/>
                  </a:lnTo>
                  <a:lnTo>
                    <a:pt x="617219" y="12319"/>
                  </a:lnTo>
                  <a:close/>
                </a:path>
                <a:path w="2429509" h="560070" extrusionOk="0">
                  <a:moveTo>
                    <a:pt x="169417" y="9906"/>
                  </a:moveTo>
                  <a:lnTo>
                    <a:pt x="225288" y="12848"/>
                  </a:lnTo>
                  <a:lnTo>
                    <a:pt x="274643" y="21679"/>
                  </a:lnTo>
                  <a:lnTo>
                    <a:pt x="317486" y="36405"/>
                  </a:lnTo>
                  <a:lnTo>
                    <a:pt x="353826" y="57032"/>
                  </a:lnTo>
                  <a:lnTo>
                    <a:pt x="383666" y="83566"/>
                  </a:lnTo>
                  <a:lnTo>
                    <a:pt x="412763" y="122189"/>
                  </a:lnTo>
                  <a:lnTo>
                    <a:pt x="433562" y="164528"/>
                  </a:lnTo>
                  <a:lnTo>
                    <a:pt x="446049" y="210581"/>
                  </a:lnTo>
                  <a:lnTo>
                    <a:pt x="450214" y="260350"/>
                  </a:lnTo>
                  <a:lnTo>
                    <a:pt x="445549" y="316616"/>
                  </a:lnTo>
                  <a:lnTo>
                    <a:pt x="431561" y="369204"/>
                  </a:lnTo>
                  <a:lnTo>
                    <a:pt x="408263" y="418101"/>
                  </a:lnTo>
                  <a:lnTo>
                    <a:pt x="375665" y="463296"/>
                  </a:lnTo>
                  <a:lnTo>
                    <a:pt x="343480" y="494568"/>
                  </a:lnTo>
                  <a:lnTo>
                    <a:pt x="306515" y="518891"/>
                  </a:lnTo>
                  <a:lnTo>
                    <a:pt x="264776" y="536265"/>
                  </a:lnTo>
                  <a:lnTo>
                    <a:pt x="218271" y="546689"/>
                  </a:lnTo>
                  <a:lnTo>
                    <a:pt x="167004" y="550164"/>
                  </a:lnTo>
                  <a:lnTo>
                    <a:pt x="133838" y="549854"/>
                  </a:lnTo>
                  <a:lnTo>
                    <a:pt x="94932" y="548925"/>
                  </a:lnTo>
                  <a:lnTo>
                    <a:pt x="50311" y="547377"/>
                  </a:lnTo>
                  <a:lnTo>
                    <a:pt x="0" y="545211"/>
                  </a:lnTo>
                  <a:lnTo>
                    <a:pt x="1920" y="494493"/>
                  </a:lnTo>
                  <a:lnTo>
                    <a:pt x="3413" y="441251"/>
                  </a:lnTo>
                  <a:lnTo>
                    <a:pt x="4480" y="385492"/>
                  </a:lnTo>
                  <a:lnTo>
                    <a:pt x="5120" y="327222"/>
                  </a:lnTo>
                  <a:lnTo>
                    <a:pt x="5333" y="266446"/>
                  </a:lnTo>
                  <a:lnTo>
                    <a:pt x="5120" y="208610"/>
                  </a:lnTo>
                  <a:lnTo>
                    <a:pt x="4480" y="154279"/>
                  </a:lnTo>
                  <a:lnTo>
                    <a:pt x="3413" y="103454"/>
                  </a:lnTo>
                  <a:lnTo>
                    <a:pt x="1920" y="56134"/>
                  </a:lnTo>
                  <a:lnTo>
                    <a:pt x="0" y="12319"/>
                  </a:lnTo>
                  <a:lnTo>
                    <a:pt x="71627" y="12319"/>
                  </a:lnTo>
                  <a:lnTo>
                    <a:pt x="81482" y="12245"/>
                  </a:lnTo>
                  <a:lnTo>
                    <a:pt x="93503" y="12017"/>
                  </a:lnTo>
                  <a:lnTo>
                    <a:pt x="107668" y="11622"/>
                  </a:lnTo>
                  <a:lnTo>
                    <a:pt x="123951" y="11049"/>
                  </a:lnTo>
                  <a:lnTo>
                    <a:pt x="139860" y="10548"/>
                  </a:lnTo>
                  <a:lnTo>
                    <a:pt x="152733" y="10191"/>
                  </a:lnTo>
                  <a:lnTo>
                    <a:pt x="162581" y="9977"/>
                  </a:lnTo>
                  <a:lnTo>
                    <a:pt x="169417" y="9906"/>
                  </a:lnTo>
                  <a:close/>
                </a:path>
                <a:path w="2429509" h="560070" extrusionOk="0">
                  <a:moveTo>
                    <a:pt x="2175255" y="0"/>
                  </a:moveTo>
                  <a:lnTo>
                    <a:pt x="2227072" y="4736"/>
                  </a:lnTo>
                  <a:lnTo>
                    <a:pt x="2274506" y="18938"/>
                  </a:lnTo>
                  <a:lnTo>
                    <a:pt x="2317559" y="42594"/>
                  </a:lnTo>
                  <a:lnTo>
                    <a:pt x="2356230" y="75692"/>
                  </a:lnTo>
                  <a:lnTo>
                    <a:pt x="2388068" y="116199"/>
                  </a:lnTo>
                  <a:lnTo>
                    <a:pt x="2410809" y="161909"/>
                  </a:lnTo>
                  <a:lnTo>
                    <a:pt x="2424453" y="212834"/>
                  </a:lnTo>
                  <a:lnTo>
                    <a:pt x="2429002" y="268986"/>
                  </a:lnTo>
                  <a:lnTo>
                    <a:pt x="2425923" y="317493"/>
                  </a:lnTo>
                  <a:lnTo>
                    <a:pt x="2416688" y="362581"/>
                  </a:lnTo>
                  <a:lnTo>
                    <a:pt x="2401295" y="404244"/>
                  </a:lnTo>
                  <a:lnTo>
                    <a:pt x="2379746" y="442474"/>
                  </a:lnTo>
                  <a:lnTo>
                    <a:pt x="2352040" y="477266"/>
                  </a:lnTo>
                  <a:lnTo>
                    <a:pt x="2311348" y="513437"/>
                  </a:lnTo>
                  <a:lnTo>
                    <a:pt x="2266061" y="539273"/>
                  </a:lnTo>
                  <a:lnTo>
                    <a:pt x="2216201" y="554775"/>
                  </a:lnTo>
                  <a:lnTo>
                    <a:pt x="2161793" y="559943"/>
                  </a:lnTo>
                  <a:lnTo>
                    <a:pt x="2109979" y="555202"/>
                  </a:lnTo>
                  <a:lnTo>
                    <a:pt x="2062559" y="540972"/>
                  </a:lnTo>
                  <a:lnTo>
                    <a:pt x="2019544" y="517241"/>
                  </a:lnTo>
                  <a:lnTo>
                    <a:pt x="1980945" y="483997"/>
                  </a:lnTo>
                  <a:lnTo>
                    <a:pt x="1949035" y="443495"/>
                  </a:lnTo>
                  <a:lnTo>
                    <a:pt x="1926256" y="397827"/>
                  </a:lnTo>
                  <a:lnTo>
                    <a:pt x="1912598" y="347015"/>
                  </a:lnTo>
                  <a:lnTo>
                    <a:pt x="1908047" y="291084"/>
                  </a:lnTo>
                  <a:lnTo>
                    <a:pt x="1911126" y="242514"/>
                  </a:lnTo>
                  <a:lnTo>
                    <a:pt x="1920361" y="197388"/>
                  </a:lnTo>
                  <a:lnTo>
                    <a:pt x="1935754" y="155707"/>
                  </a:lnTo>
                  <a:lnTo>
                    <a:pt x="1957303" y="117469"/>
                  </a:lnTo>
                  <a:lnTo>
                    <a:pt x="1985009" y="82677"/>
                  </a:lnTo>
                  <a:lnTo>
                    <a:pt x="2025755" y="46505"/>
                  </a:lnTo>
                  <a:lnTo>
                    <a:pt x="2071036" y="20669"/>
                  </a:lnTo>
                  <a:lnTo>
                    <a:pt x="2120866" y="5167"/>
                  </a:lnTo>
                  <a:lnTo>
                    <a:pt x="2175255" y="0"/>
                  </a:lnTo>
                  <a:close/>
                </a:path>
              </a:pathLst>
            </a:custGeom>
            <a:noFill/>
            <a:ln w="9525" cap="flat" cmpd="sng">
              <a:solidFill>
                <a:srgbClr val="4584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69" name="Google Shape;1069;p73"/>
          <p:cNvSpPr txBox="1"/>
          <p:nvPr/>
        </p:nvSpPr>
        <p:spPr>
          <a:xfrm>
            <a:off x="4907660" y="4127754"/>
            <a:ext cx="111569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Total Order</a:t>
            </a:r>
            <a:endParaRPr sz="1800">
              <a:solidFill>
                <a:schemeClr val="dk1"/>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pic>
        <p:nvPicPr>
          <p:cNvPr id="1074" name="Google Shape;1074;p74"/>
          <p:cNvPicPr preferRelativeResize="0"/>
          <p:nvPr/>
        </p:nvPicPr>
        <p:blipFill rotWithShape="1">
          <a:blip r:embed="rId3">
            <a:alphaModFix/>
          </a:blip>
          <a:srcRect/>
          <a:stretch/>
        </p:blipFill>
        <p:spPr>
          <a:xfrm>
            <a:off x="2414781" y="2256046"/>
            <a:ext cx="102634" cy="102634"/>
          </a:xfrm>
          <a:prstGeom prst="rect">
            <a:avLst/>
          </a:prstGeom>
          <a:noFill/>
          <a:ln>
            <a:noFill/>
          </a:ln>
        </p:spPr>
      </p:pic>
      <p:pic>
        <p:nvPicPr>
          <p:cNvPr id="1075" name="Google Shape;1075;p74"/>
          <p:cNvPicPr preferRelativeResize="0"/>
          <p:nvPr/>
        </p:nvPicPr>
        <p:blipFill rotWithShape="1">
          <a:blip r:embed="rId3">
            <a:alphaModFix/>
          </a:blip>
          <a:srcRect/>
          <a:stretch/>
        </p:blipFill>
        <p:spPr>
          <a:xfrm>
            <a:off x="2414781" y="3662224"/>
            <a:ext cx="102634" cy="102634"/>
          </a:xfrm>
          <a:prstGeom prst="rect">
            <a:avLst/>
          </a:prstGeom>
          <a:noFill/>
          <a:ln>
            <a:noFill/>
          </a:ln>
        </p:spPr>
      </p:pic>
      <p:pic>
        <p:nvPicPr>
          <p:cNvPr id="1076" name="Google Shape;1076;p74"/>
          <p:cNvPicPr preferRelativeResize="0"/>
          <p:nvPr/>
        </p:nvPicPr>
        <p:blipFill rotWithShape="1">
          <a:blip r:embed="rId3">
            <a:alphaModFix/>
          </a:blip>
          <a:srcRect/>
          <a:stretch/>
        </p:blipFill>
        <p:spPr>
          <a:xfrm>
            <a:off x="2414781" y="4019532"/>
            <a:ext cx="102634" cy="102634"/>
          </a:xfrm>
          <a:prstGeom prst="rect">
            <a:avLst/>
          </a:prstGeom>
          <a:noFill/>
          <a:ln>
            <a:noFill/>
          </a:ln>
        </p:spPr>
      </p:pic>
      <p:pic>
        <p:nvPicPr>
          <p:cNvPr id="1077" name="Google Shape;1077;p74"/>
          <p:cNvPicPr preferRelativeResize="0"/>
          <p:nvPr/>
        </p:nvPicPr>
        <p:blipFill rotWithShape="1">
          <a:blip r:embed="rId3">
            <a:alphaModFix/>
          </a:blip>
          <a:srcRect/>
          <a:stretch/>
        </p:blipFill>
        <p:spPr>
          <a:xfrm>
            <a:off x="2414781" y="4376839"/>
            <a:ext cx="102634" cy="102634"/>
          </a:xfrm>
          <a:prstGeom prst="rect">
            <a:avLst/>
          </a:prstGeom>
          <a:noFill/>
          <a:ln>
            <a:noFill/>
          </a:ln>
        </p:spPr>
      </p:pic>
      <p:sp>
        <p:nvSpPr>
          <p:cNvPr id="1078" name="Google Shape;1078;p74"/>
          <p:cNvSpPr txBox="1"/>
          <p:nvPr/>
        </p:nvSpPr>
        <p:spPr>
          <a:xfrm>
            <a:off x="2375261" y="1675650"/>
            <a:ext cx="2442370" cy="2641846"/>
          </a:xfrm>
          <a:prstGeom prst="rect">
            <a:avLst/>
          </a:prstGeom>
          <a:noFill/>
          <a:ln>
            <a:noFill/>
          </a:ln>
        </p:spPr>
        <p:txBody>
          <a:bodyPr spcFirstLastPara="1" wrap="square" lIns="0" tIns="11525" rIns="0" bIns="0" anchor="t" anchorCtr="0">
            <a:spAutoFit/>
          </a:bodyPr>
          <a:lstStyle/>
          <a:p>
            <a:pPr marL="150997" marR="1207403" lvl="0" indent="-140047" algn="l" rtl="0">
              <a:lnSpc>
                <a:spcPct val="129700"/>
              </a:lnSpc>
              <a:spcBef>
                <a:spcPts val="0"/>
              </a:spcBef>
              <a:spcAft>
                <a:spcPts val="0"/>
              </a:spcAft>
              <a:buNone/>
            </a:pPr>
            <a:r>
              <a:rPr lang="en-US" sz="1815">
                <a:solidFill>
                  <a:schemeClr val="dk1"/>
                </a:solidFill>
                <a:latin typeface="Arial"/>
                <a:ea typeface="Arial"/>
                <a:cs typeface="Arial"/>
                <a:sym typeface="Arial"/>
              </a:rPr>
              <a:t>Traditional Exotic HW</a:t>
            </a:r>
            <a:endParaRPr sz="1815">
              <a:solidFill>
                <a:schemeClr val="dk1"/>
              </a:solidFill>
              <a:latin typeface="Arial"/>
              <a:ea typeface="Arial"/>
              <a:cs typeface="Arial"/>
              <a:sym typeface="Arial"/>
            </a:endParaRPr>
          </a:p>
          <a:p>
            <a:pPr marL="546357" marR="0" lvl="0" indent="-258194" algn="l" rtl="0">
              <a:spcBef>
                <a:spcPts val="123"/>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big central servers</a:t>
            </a:r>
            <a:endParaRPr sz="1815">
              <a:solidFill>
                <a:schemeClr val="dk1"/>
              </a:solidFill>
              <a:latin typeface="Arial"/>
              <a:ea typeface="Arial"/>
              <a:cs typeface="Arial"/>
              <a:sym typeface="Arial"/>
            </a:endParaRPr>
          </a:p>
          <a:p>
            <a:pPr marL="546357" marR="0" lvl="0" indent="-258194" algn="l" rtl="0">
              <a:spcBef>
                <a:spcPts val="0"/>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SAN</a:t>
            </a:r>
            <a:endParaRPr sz="1815">
              <a:solidFill>
                <a:schemeClr val="dk1"/>
              </a:solidFill>
              <a:latin typeface="Arial"/>
              <a:ea typeface="Arial"/>
              <a:cs typeface="Arial"/>
              <a:sym typeface="Arial"/>
            </a:endParaRPr>
          </a:p>
          <a:p>
            <a:pPr marL="546357" marR="0" lvl="0" indent="-258194" algn="l" rtl="0">
              <a:spcBef>
                <a:spcPts val="91"/>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RAID</a:t>
            </a:r>
            <a:endParaRPr sz="1815">
              <a:solidFill>
                <a:schemeClr val="dk1"/>
              </a:solidFill>
              <a:latin typeface="Arial"/>
              <a:ea typeface="Arial"/>
              <a:cs typeface="Arial"/>
              <a:sym typeface="Arial"/>
            </a:endParaRPr>
          </a:p>
          <a:p>
            <a:pPr marL="150997" marR="323319" lvl="0" indent="0" algn="l" rtl="0">
              <a:lnSpc>
                <a:spcPct val="155041"/>
              </a:lnSpc>
              <a:spcBef>
                <a:spcPts val="0"/>
              </a:spcBef>
              <a:spcAft>
                <a:spcPts val="0"/>
              </a:spcAft>
              <a:buNone/>
            </a:pPr>
            <a:r>
              <a:rPr lang="en-US" sz="1815">
                <a:solidFill>
                  <a:schemeClr val="dk1"/>
                </a:solidFill>
                <a:latin typeface="Arial"/>
                <a:ea typeface="Arial"/>
                <a:cs typeface="Arial"/>
                <a:sym typeface="Arial"/>
              </a:rPr>
              <a:t>Hardware reliability Limited scalability Expensive</a:t>
            </a:r>
            <a:endParaRPr sz="1815">
              <a:solidFill>
                <a:schemeClr val="dk1"/>
              </a:solidFill>
              <a:latin typeface="Arial"/>
              <a:ea typeface="Arial"/>
              <a:cs typeface="Arial"/>
              <a:sym typeface="Arial"/>
            </a:endParaRPr>
          </a:p>
        </p:txBody>
      </p:sp>
      <p:pic>
        <p:nvPicPr>
          <p:cNvPr id="1079" name="Google Shape;1079;p74"/>
          <p:cNvPicPr preferRelativeResize="0"/>
          <p:nvPr/>
        </p:nvPicPr>
        <p:blipFill rotWithShape="1">
          <a:blip r:embed="rId4">
            <a:alphaModFix/>
          </a:blip>
          <a:srcRect/>
          <a:stretch/>
        </p:blipFill>
        <p:spPr>
          <a:xfrm>
            <a:off x="3742830" y="4407666"/>
            <a:ext cx="1491179" cy="935049"/>
          </a:xfrm>
          <a:prstGeom prst="rect">
            <a:avLst/>
          </a:prstGeom>
          <a:noFill/>
          <a:ln>
            <a:noFill/>
          </a:ln>
        </p:spPr>
      </p:pic>
      <p:pic>
        <p:nvPicPr>
          <p:cNvPr id="1080" name="Google Shape;1080;p74"/>
          <p:cNvPicPr preferRelativeResize="0"/>
          <p:nvPr/>
        </p:nvPicPr>
        <p:blipFill rotWithShape="1">
          <a:blip r:embed="rId5">
            <a:alphaModFix/>
          </a:blip>
          <a:srcRect/>
          <a:stretch/>
        </p:blipFill>
        <p:spPr>
          <a:xfrm>
            <a:off x="6553745" y="4407666"/>
            <a:ext cx="1727462" cy="924964"/>
          </a:xfrm>
          <a:prstGeom prst="rect">
            <a:avLst/>
          </a:prstGeom>
          <a:noFill/>
          <a:ln>
            <a:noFill/>
          </a:ln>
        </p:spPr>
      </p:pic>
      <p:pic>
        <p:nvPicPr>
          <p:cNvPr id="1081" name="Google Shape;1081;p74"/>
          <p:cNvPicPr preferRelativeResize="0"/>
          <p:nvPr/>
        </p:nvPicPr>
        <p:blipFill rotWithShape="1">
          <a:blip r:embed="rId6">
            <a:alphaModFix/>
          </a:blip>
          <a:srcRect/>
          <a:stretch/>
        </p:blipFill>
        <p:spPr>
          <a:xfrm>
            <a:off x="7210880" y="1093926"/>
            <a:ext cx="2682384" cy="2350322"/>
          </a:xfrm>
          <a:prstGeom prst="rect">
            <a:avLst/>
          </a:prstGeom>
          <a:noFill/>
          <a:ln>
            <a:noFill/>
          </a:ln>
        </p:spPr>
      </p:pic>
      <p:sp>
        <p:nvSpPr>
          <p:cNvPr id="1082" name="Google Shape;1082;p74" descr="$PPTXTitle"/>
          <p:cNvSpPr txBox="1">
            <a:spLocks noGrp="1"/>
          </p:cNvSpPr>
          <p:nvPr>
            <p:ph type="title"/>
          </p:nvPr>
        </p:nvSpPr>
        <p:spPr>
          <a:xfrm>
            <a:off x="1934676" y="1098937"/>
            <a:ext cx="830913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400"/>
              <a:buFont typeface="Arial"/>
              <a:buNone/>
            </a:pPr>
            <a:r>
              <a:rPr lang="en-US" u="none"/>
              <a:t>	New</a:t>
            </a:r>
            <a:r>
              <a:rPr lang="en-US"/>
              <a:t> </a:t>
            </a:r>
            <a:r>
              <a:rPr lang="en-US" u="none"/>
              <a:t>Hardware</a:t>
            </a:r>
            <a:r>
              <a:rPr lang="en-US"/>
              <a:t> Approach</a:t>
            </a:r>
            <a:r>
              <a:rPr lang="en-US" u="none"/>
              <a:t>	</a:t>
            </a:r>
            <a:endParaRPr/>
          </a:p>
        </p:txBody>
      </p:sp>
      <p:pic>
        <p:nvPicPr>
          <p:cNvPr id="1083" name="Google Shape;1083;p74"/>
          <p:cNvPicPr preferRelativeResize="0"/>
          <p:nvPr/>
        </p:nvPicPr>
        <p:blipFill rotWithShape="1">
          <a:blip r:embed="rId3">
            <a:alphaModFix/>
          </a:blip>
          <a:srcRect/>
          <a:stretch/>
        </p:blipFill>
        <p:spPr>
          <a:xfrm>
            <a:off x="6601906" y="2227518"/>
            <a:ext cx="102633" cy="102634"/>
          </a:xfrm>
          <a:prstGeom prst="rect">
            <a:avLst/>
          </a:prstGeom>
          <a:noFill/>
          <a:ln>
            <a:noFill/>
          </a:ln>
        </p:spPr>
      </p:pic>
      <p:pic>
        <p:nvPicPr>
          <p:cNvPr id="1084" name="Google Shape;1084;p74"/>
          <p:cNvPicPr preferRelativeResize="0"/>
          <p:nvPr/>
        </p:nvPicPr>
        <p:blipFill rotWithShape="1">
          <a:blip r:embed="rId3">
            <a:alphaModFix/>
          </a:blip>
          <a:srcRect/>
          <a:stretch/>
        </p:blipFill>
        <p:spPr>
          <a:xfrm>
            <a:off x="6601906" y="3564540"/>
            <a:ext cx="102633" cy="102634"/>
          </a:xfrm>
          <a:prstGeom prst="rect">
            <a:avLst/>
          </a:prstGeom>
          <a:noFill/>
          <a:ln>
            <a:noFill/>
          </a:ln>
        </p:spPr>
      </p:pic>
      <p:pic>
        <p:nvPicPr>
          <p:cNvPr id="1085" name="Google Shape;1085;p74"/>
          <p:cNvPicPr preferRelativeResize="0"/>
          <p:nvPr/>
        </p:nvPicPr>
        <p:blipFill rotWithShape="1">
          <a:blip r:embed="rId3">
            <a:alphaModFix/>
          </a:blip>
          <a:srcRect/>
          <a:stretch/>
        </p:blipFill>
        <p:spPr>
          <a:xfrm>
            <a:off x="6601906" y="3864218"/>
            <a:ext cx="102633" cy="102634"/>
          </a:xfrm>
          <a:prstGeom prst="rect">
            <a:avLst/>
          </a:prstGeom>
          <a:noFill/>
          <a:ln>
            <a:noFill/>
          </a:ln>
        </p:spPr>
      </p:pic>
      <p:pic>
        <p:nvPicPr>
          <p:cNvPr id="1086" name="Google Shape;1086;p74"/>
          <p:cNvPicPr preferRelativeResize="0"/>
          <p:nvPr/>
        </p:nvPicPr>
        <p:blipFill rotWithShape="1">
          <a:blip r:embed="rId3">
            <a:alphaModFix/>
          </a:blip>
          <a:srcRect/>
          <a:stretch/>
        </p:blipFill>
        <p:spPr>
          <a:xfrm>
            <a:off x="6601906" y="4175421"/>
            <a:ext cx="102633" cy="102634"/>
          </a:xfrm>
          <a:prstGeom prst="rect">
            <a:avLst/>
          </a:prstGeom>
          <a:noFill/>
          <a:ln>
            <a:noFill/>
          </a:ln>
        </p:spPr>
      </p:pic>
      <p:sp>
        <p:nvSpPr>
          <p:cNvPr id="1087" name="Google Shape;1087;p74"/>
          <p:cNvSpPr txBox="1"/>
          <p:nvPr/>
        </p:nvSpPr>
        <p:spPr>
          <a:xfrm>
            <a:off x="6562385" y="1652882"/>
            <a:ext cx="2534578" cy="2503475"/>
          </a:xfrm>
          <a:prstGeom prst="rect">
            <a:avLst/>
          </a:prstGeom>
          <a:noFill/>
          <a:ln>
            <a:noFill/>
          </a:ln>
        </p:spPr>
        <p:txBody>
          <a:bodyPr spcFirstLastPara="1" wrap="square" lIns="0" tIns="11525" rIns="0" bIns="0" anchor="t" anchorCtr="0">
            <a:spAutoFit/>
          </a:bodyPr>
          <a:lstStyle/>
          <a:p>
            <a:pPr marL="150997" marR="793025" lvl="0" indent="-140047" algn="l" rtl="0">
              <a:lnSpc>
                <a:spcPct val="128699"/>
              </a:lnSpc>
              <a:spcBef>
                <a:spcPts val="0"/>
              </a:spcBef>
              <a:spcAft>
                <a:spcPts val="0"/>
              </a:spcAft>
              <a:buNone/>
            </a:pPr>
            <a:r>
              <a:rPr lang="en-US" sz="1815">
                <a:solidFill>
                  <a:schemeClr val="dk1"/>
                </a:solidFill>
                <a:latin typeface="Tahoma"/>
                <a:ea typeface="Tahoma"/>
                <a:cs typeface="Tahoma"/>
                <a:sym typeface="Tahoma"/>
              </a:rPr>
              <a:t>Big Data Commodity HW</a:t>
            </a:r>
            <a:endParaRPr sz="1815">
              <a:solidFill>
                <a:schemeClr val="dk1"/>
              </a:solidFill>
              <a:latin typeface="Tahoma"/>
              <a:ea typeface="Tahoma"/>
              <a:cs typeface="Tahoma"/>
              <a:sym typeface="Tahoma"/>
            </a:endParaRPr>
          </a:p>
          <a:p>
            <a:pPr marL="491030" marR="0" lvl="0" indent="-237446" algn="l" rtl="0">
              <a:spcBef>
                <a:spcPts val="9"/>
              </a:spcBef>
              <a:spcAft>
                <a:spcPts val="0"/>
              </a:spcAft>
              <a:buClr>
                <a:srgbClr val="008CBA"/>
              </a:buClr>
              <a:buSzPts val="2269"/>
              <a:buFont typeface="Merriweather Sans"/>
              <a:buChar char="-"/>
            </a:pPr>
            <a:r>
              <a:rPr lang="en-US" sz="1815">
                <a:solidFill>
                  <a:schemeClr val="dk1"/>
                </a:solidFill>
                <a:latin typeface="Tahoma"/>
                <a:ea typeface="Tahoma"/>
                <a:cs typeface="Tahoma"/>
                <a:sym typeface="Tahoma"/>
              </a:rPr>
              <a:t>racks of pizza boxes</a:t>
            </a:r>
            <a:endParaRPr sz="1815">
              <a:solidFill>
                <a:schemeClr val="dk1"/>
              </a:solidFill>
              <a:latin typeface="Tahoma"/>
              <a:ea typeface="Tahoma"/>
              <a:cs typeface="Tahoma"/>
              <a:sym typeface="Tahoma"/>
            </a:endParaRPr>
          </a:p>
          <a:p>
            <a:pPr marL="491030" marR="0" lvl="0" indent="-237446" algn="l" rtl="0">
              <a:spcBef>
                <a:spcPts val="0"/>
              </a:spcBef>
              <a:spcAft>
                <a:spcPts val="0"/>
              </a:spcAft>
              <a:buClr>
                <a:srgbClr val="008CBA"/>
              </a:buClr>
              <a:buSzPts val="2269"/>
              <a:buFont typeface="Merriweather Sans"/>
              <a:buChar char="-"/>
            </a:pPr>
            <a:r>
              <a:rPr lang="en-US" sz="1815">
                <a:solidFill>
                  <a:schemeClr val="dk1"/>
                </a:solidFill>
                <a:latin typeface="Tahoma"/>
                <a:ea typeface="Tahoma"/>
                <a:cs typeface="Tahoma"/>
                <a:sym typeface="Tahoma"/>
              </a:rPr>
              <a:t>Ethernet</a:t>
            </a:r>
            <a:endParaRPr sz="1815">
              <a:solidFill>
                <a:schemeClr val="dk1"/>
              </a:solidFill>
              <a:latin typeface="Tahoma"/>
              <a:ea typeface="Tahoma"/>
              <a:cs typeface="Tahoma"/>
              <a:sym typeface="Tahoma"/>
            </a:endParaRPr>
          </a:p>
          <a:p>
            <a:pPr marL="491030" marR="0" lvl="0" indent="-237446" algn="l" rtl="0">
              <a:spcBef>
                <a:spcPts val="0"/>
              </a:spcBef>
              <a:spcAft>
                <a:spcPts val="0"/>
              </a:spcAft>
              <a:buClr>
                <a:srgbClr val="008CBA"/>
              </a:buClr>
              <a:buSzPts val="2269"/>
              <a:buFont typeface="Merriweather Sans"/>
              <a:buChar char="-"/>
            </a:pPr>
            <a:r>
              <a:rPr lang="en-US" sz="1815">
                <a:solidFill>
                  <a:schemeClr val="dk1"/>
                </a:solidFill>
                <a:latin typeface="Tahoma"/>
                <a:ea typeface="Tahoma"/>
                <a:cs typeface="Tahoma"/>
                <a:sym typeface="Tahoma"/>
              </a:rPr>
              <a:t>JBOD</a:t>
            </a:r>
            <a:endParaRPr sz="1815">
              <a:solidFill>
                <a:schemeClr val="dk1"/>
              </a:solidFill>
              <a:latin typeface="Tahoma"/>
              <a:ea typeface="Tahoma"/>
              <a:cs typeface="Tahoma"/>
              <a:sym typeface="Tahoma"/>
            </a:endParaRPr>
          </a:p>
          <a:p>
            <a:pPr marL="150997" marR="929614" lvl="0" indent="0" algn="l" rtl="0">
              <a:lnSpc>
                <a:spcPct val="130027"/>
              </a:lnSpc>
              <a:spcBef>
                <a:spcPts val="100"/>
              </a:spcBef>
              <a:spcAft>
                <a:spcPts val="0"/>
              </a:spcAft>
              <a:buNone/>
            </a:pPr>
            <a:r>
              <a:rPr lang="en-US" sz="1815">
                <a:solidFill>
                  <a:schemeClr val="dk1"/>
                </a:solidFill>
                <a:latin typeface="Tahoma"/>
                <a:ea typeface="Tahoma"/>
                <a:cs typeface="Tahoma"/>
                <a:sym typeface="Tahoma"/>
              </a:rPr>
              <a:t>Unreliable HW Scales further</a:t>
            </a:r>
            <a:endParaRPr sz="1815">
              <a:solidFill>
                <a:schemeClr val="dk1"/>
              </a:solidFill>
              <a:latin typeface="Tahoma"/>
              <a:ea typeface="Tahoma"/>
              <a:cs typeface="Tahoma"/>
              <a:sym typeface="Tahoma"/>
            </a:endParaRPr>
          </a:p>
          <a:p>
            <a:pPr marL="150997" marR="0" lvl="0" indent="0" algn="l" rtl="0">
              <a:spcBef>
                <a:spcPts val="163"/>
              </a:spcBef>
              <a:spcAft>
                <a:spcPts val="0"/>
              </a:spcAft>
              <a:buNone/>
            </a:pPr>
            <a:r>
              <a:rPr lang="en-US" sz="1815">
                <a:solidFill>
                  <a:schemeClr val="dk1"/>
                </a:solidFill>
                <a:latin typeface="Tahoma"/>
                <a:ea typeface="Tahoma"/>
                <a:cs typeface="Tahoma"/>
                <a:sym typeface="Tahoma"/>
              </a:rPr>
              <a:t>Cost effective</a:t>
            </a:r>
            <a:endParaRPr sz="1815">
              <a:solidFill>
                <a:schemeClr val="dk1"/>
              </a:solidFill>
              <a:latin typeface="Tahoma"/>
              <a:ea typeface="Tahoma"/>
              <a:cs typeface="Tahoma"/>
              <a:sym typeface="Tahoma"/>
            </a:endParaRPr>
          </a:p>
        </p:txBody>
      </p:sp>
      <p:sp>
        <p:nvSpPr>
          <p:cNvPr id="1088" name="Google Shape;1088;p74"/>
          <p:cNvSpPr txBox="1">
            <a:spLocks noGrp="1"/>
          </p:cNvSpPr>
          <p:nvPr>
            <p:ph type="sldNum" idx="12"/>
          </p:nvPr>
        </p:nvSpPr>
        <p:spPr>
          <a:xfrm>
            <a:off x="9058195" y="5835452"/>
            <a:ext cx="2489627" cy="198049"/>
          </a:xfrm>
          <a:prstGeom prst="rect">
            <a:avLst/>
          </a:prstGeom>
          <a:noFill/>
          <a:ln>
            <a:noFill/>
          </a:ln>
        </p:spPr>
        <p:txBody>
          <a:bodyPr spcFirstLastPara="1" wrap="square" lIns="0" tIns="13250" rIns="0" bIns="0" anchor="ctr" anchorCtr="0">
            <a:spAutoFit/>
          </a:bodyPr>
          <a:lstStyle/>
          <a:p>
            <a:pPr marL="48411" lvl="0" indent="0" algn="r" rtl="0">
              <a:spcBef>
                <a:spcPts val="0"/>
              </a:spcBef>
              <a:spcAft>
                <a:spcPts val="0"/>
              </a:spcAft>
              <a:buNone/>
            </a:pPr>
            <a:r>
              <a:rPr lang="en-US"/>
              <a:t>22</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pic>
        <p:nvPicPr>
          <p:cNvPr id="1093" name="Google Shape;1093;p75"/>
          <p:cNvPicPr preferRelativeResize="0"/>
          <p:nvPr/>
        </p:nvPicPr>
        <p:blipFill rotWithShape="1">
          <a:blip r:embed="rId3">
            <a:alphaModFix/>
          </a:blip>
          <a:srcRect/>
          <a:stretch/>
        </p:blipFill>
        <p:spPr>
          <a:xfrm>
            <a:off x="6909613" y="4077733"/>
            <a:ext cx="2127993" cy="1179978"/>
          </a:xfrm>
          <a:prstGeom prst="rect">
            <a:avLst/>
          </a:prstGeom>
          <a:noFill/>
          <a:ln>
            <a:noFill/>
          </a:ln>
        </p:spPr>
      </p:pic>
      <p:pic>
        <p:nvPicPr>
          <p:cNvPr id="1094" name="Google Shape;1094;p75"/>
          <p:cNvPicPr preferRelativeResize="0"/>
          <p:nvPr/>
        </p:nvPicPr>
        <p:blipFill rotWithShape="1">
          <a:blip r:embed="rId4">
            <a:alphaModFix/>
          </a:blip>
          <a:srcRect/>
          <a:stretch/>
        </p:blipFill>
        <p:spPr>
          <a:xfrm>
            <a:off x="3007026" y="4107537"/>
            <a:ext cx="1997210" cy="961827"/>
          </a:xfrm>
          <a:prstGeom prst="rect">
            <a:avLst/>
          </a:prstGeom>
          <a:noFill/>
          <a:ln>
            <a:noFill/>
          </a:ln>
        </p:spPr>
      </p:pic>
      <p:pic>
        <p:nvPicPr>
          <p:cNvPr id="1095" name="Google Shape;1095;p75"/>
          <p:cNvPicPr preferRelativeResize="0"/>
          <p:nvPr/>
        </p:nvPicPr>
        <p:blipFill rotWithShape="1">
          <a:blip r:embed="rId5">
            <a:alphaModFix/>
          </a:blip>
          <a:srcRect/>
          <a:stretch/>
        </p:blipFill>
        <p:spPr>
          <a:xfrm>
            <a:off x="7210880" y="1093926"/>
            <a:ext cx="2682384" cy="2350322"/>
          </a:xfrm>
          <a:prstGeom prst="rect">
            <a:avLst/>
          </a:prstGeom>
          <a:noFill/>
          <a:ln>
            <a:noFill/>
          </a:ln>
        </p:spPr>
      </p:pic>
      <p:sp>
        <p:nvSpPr>
          <p:cNvPr id="1096" name="Google Shape;1096;p75" descr="$PPTXTitle"/>
          <p:cNvSpPr txBox="1">
            <a:spLocks noGrp="1"/>
          </p:cNvSpPr>
          <p:nvPr>
            <p:ph type="title"/>
          </p:nvPr>
        </p:nvSpPr>
        <p:spPr>
          <a:xfrm>
            <a:off x="1934676" y="1098937"/>
            <a:ext cx="830913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New</a:t>
            </a:r>
            <a:r>
              <a:rPr lang="en-US"/>
              <a:t> </a:t>
            </a:r>
            <a:r>
              <a:rPr lang="en-US" u="none"/>
              <a:t>Software</a:t>
            </a:r>
            <a:r>
              <a:rPr lang="en-US"/>
              <a:t> Approach</a:t>
            </a:r>
            <a:r>
              <a:rPr lang="en-US" u="none"/>
              <a:t>	</a:t>
            </a:r>
            <a:endParaRPr/>
          </a:p>
        </p:txBody>
      </p:sp>
      <p:pic>
        <p:nvPicPr>
          <p:cNvPr id="1097" name="Google Shape;1097;p75"/>
          <p:cNvPicPr preferRelativeResize="0"/>
          <p:nvPr/>
        </p:nvPicPr>
        <p:blipFill rotWithShape="1">
          <a:blip r:embed="rId6">
            <a:alphaModFix/>
          </a:blip>
          <a:srcRect/>
          <a:stretch/>
        </p:blipFill>
        <p:spPr>
          <a:xfrm>
            <a:off x="2414781" y="2256046"/>
            <a:ext cx="102634" cy="102634"/>
          </a:xfrm>
          <a:prstGeom prst="rect">
            <a:avLst/>
          </a:prstGeom>
          <a:noFill/>
          <a:ln>
            <a:noFill/>
          </a:ln>
        </p:spPr>
      </p:pic>
      <p:pic>
        <p:nvPicPr>
          <p:cNvPr id="1098" name="Google Shape;1098;p75"/>
          <p:cNvPicPr preferRelativeResize="0"/>
          <p:nvPr/>
        </p:nvPicPr>
        <p:blipFill rotWithShape="1">
          <a:blip r:embed="rId6">
            <a:alphaModFix/>
          </a:blip>
          <a:srcRect/>
          <a:stretch/>
        </p:blipFill>
        <p:spPr>
          <a:xfrm>
            <a:off x="2414781" y="3316442"/>
            <a:ext cx="102634" cy="102634"/>
          </a:xfrm>
          <a:prstGeom prst="rect">
            <a:avLst/>
          </a:prstGeom>
          <a:noFill/>
          <a:ln>
            <a:noFill/>
          </a:ln>
        </p:spPr>
      </p:pic>
      <p:pic>
        <p:nvPicPr>
          <p:cNvPr id="1099" name="Google Shape;1099;p75"/>
          <p:cNvPicPr preferRelativeResize="0"/>
          <p:nvPr/>
        </p:nvPicPr>
        <p:blipFill rotWithShape="1">
          <a:blip r:embed="rId6">
            <a:alphaModFix/>
          </a:blip>
          <a:srcRect/>
          <a:stretch/>
        </p:blipFill>
        <p:spPr>
          <a:xfrm>
            <a:off x="2414781" y="3673750"/>
            <a:ext cx="102634" cy="102634"/>
          </a:xfrm>
          <a:prstGeom prst="rect">
            <a:avLst/>
          </a:prstGeom>
          <a:noFill/>
          <a:ln>
            <a:noFill/>
          </a:ln>
        </p:spPr>
      </p:pic>
      <p:sp>
        <p:nvSpPr>
          <p:cNvPr id="1100" name="Google Shape;1100;p75"/>
          <p:cNvSpPr txBox="1"/>
          <p:nvPr/>
        </p:nvSpPr>
        <p:spPr>
          <a:xfrm>
            <a:off x="2375262" y="1675650"/>
            <a:ext cx="1724873" cy="2003466"/>
          </a:xfrm>
          <a:prstGeom prst="rect">
            <a:avLst/>
          </a:prstGeom>
          <a:noFill/>
          <a:ln>
            <a:noFill/>
          </a:ln>
        </p:spPr>
        <p:txBody>
          <a:bodyPr spcFirstLastPara="1" wrap="square" lIns="0" tIns="11525" rIns="0" bIns="0" anchor="t" anchorCtr="0">
            <a:spAutoFit/>
          </a:bodyPr>
          <a:lstStyle/>
          <a:p>
            <a:pPr marL="150997" marR="579208" lvl="0" indent="-140047" algn="l" rtl="0">
              <a:lnSpc>
                <a:spcPct val="129700"/>
              </a:lnSpc>
              <a:spcBef>
                <a:spcPts val="0"/>
              </a:spcBef>
              <a:spcAft>
                <a:spcPts val="0"/>
              </a:spcAft>
              <a:buNone/>
            </a:pPr>
            <a:r>
              <a:rPr lang="en-US" sz="1815">
                <a:solidFill>
                  <a:schemeClr val="dk1"/>
                </a:solidFill>
                <a:latin typeface="Arial"/>
                <a:ea typeface="Arial"/>
                <a:cs typeface="Arial"/>
                <a:sym typeface="Arial"/>
              </a:rPr>
              <a:t>Traditional Monolotic</a:t>
            </a:r>
            <a:endParaRPr sz="1815">
              <a:solidFill>
                <a:schemeClr val="dk1"/>
              </a:solidFill>
              <a:latin typeface="Arial"/>
              <a:ea typeface="Arial"/>
              <a:cs typeface="Arial"/>
              <a:sym typeface="Arial"/>
            </a:endParaRPr>
          </a:p>
          <a:p>
            <a:pPr marL="546357" marR="0" lvl="0" indent="-258194" algn="l" rtl="0">
              <a:spcBef>
                <a:spcPts val="123"/>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Centralized</a:t>
            </a:r>
            <a:endParaRPr sz="1815">
              <a:solidFill>
                <a:schemeClr val="dk1"/>
              </a:solidFill>
              <a:latin typeface="Arial"/>
              <a:ea typeface="Arial"/>
              <a:cs typeface="Arial"/>
              <a:sym typeface="Arial"/>
            </a:endParaRPr>
          </a:p>
          <a:p>
            <a:pPr marL="546357" marR="0" lvl="0" indent="-258194" algn="l" rtl="0">
              <a:spcBef>
                <a:spcPts val="0"/>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RDBMS</a:t>
            </a:r>
            <a:endParaRPr sz="1815">
              <a:solidFill>
                <a:schemeClr val="dk1"/>
              </a:solidFill>
              <a:latin typeface="Arial"/>
              <a:ea typeface="Arial"/>
              <a:cs typeface="Arial"/>
              <a:sym typeface="Arial"/>
            </a:endParaRPr>
          </a:p>
          <a:p>
            <a:pPr marL="150997" marR="284705" lvl="0" indent="0" algn="l" rtl="0">
              <a:lnSpc>
                <a:spcPct val="155041"/>
              </a:lnSpc>
              <a:spcBef>
                <a:spcPts val="59"/>
              </a:spcBef>
              <a:spcAft>
                <a:spcPts val="0"/>
              </a:spcAft>
              <a:buNone/>
            </a:pPr>
            <a:r>
              <a:rPr lang="en-US" sz="1815">
                <a:solidFill>
                  <a:schemeClr val="dk1"/>
                </a:solidFill>
                <a:latin typeface="Arial"/>
                <a:ea typeface="Arial"/>
                <a:cs typeface="Arial"/>
                <a:sym typeface="Arial"/>
              </a:rPr>
              <a:t>Schema first Proprietary</a:t>
            </a:r>
            <a:endParaRPr sz="1815">
              <a:solidFill>
                <a:schemeClr val="dk1"/>
              </a:solidFill>
              <a:latin typeface="Arial"/>
              <a:ea typeface="Arial"/>
              <a:cs typeface="Arial"/>
              <a:sym typeface="Arial"/>
            </a:endParaRPr>
          </a:p>
        </p:txBody>
      </p:sp>
      <p:pic>
        <p:nvPicPr>
          <p:cNvPr id="1101" name="Google Shape;1101;p75"/>
          <p:cNvPicPr preferRelativeResize="0"/>
          <p:nvPr/>
        </p:nvPicPr>
        <p:blipFill rotWithShape="1">
          <a:blip r:embed="rId6">
            <a:alphaModFix/>
          </a:blip>
          <a:srcRect/>
          <a:stretch/>
        </p:blipFill>
        <p:spPr>
          <a:xfrm>
            <a:off x="6342570" y="2227518"/>
            <a:ext cx="102633" cy="102634"/>
          </a:xfrm>
          <a:prstGeom prst="rect">
            <a:avLst/>
          </a:prstGeom>
          <a:noFill/>
          <a:ln>
            <a:noFill/>
          </a:ln>
        </p:spPr>
      </p:pic>
      <p:pic>
        <p:nvPicPr>
          <p:cNvPr id="1102" name="Google Shape;1102;p75"/>
          <p:cNvPicPr preferRelativeResize="0"/>
          <p:nvPr/>
        </p:nvPicPr>
        <p:blipFill rotWithShape="1">
          <a:blip r:embed="rId6">
            <a:alphaModFix/>
          </a:blip>
          <a:srcRect/>
          <a:stretch/>
        </p:blipFill>
        <p:spPr>
          <a:xfrm>
            <a:off x="6342570" y="2872977"/>
            <a:ext cx="102633" cy="102634"/>
          </a:xfrm>
          <a:prstGeom prst="rect">
            <a:avLst/>
          </a:prstGeom>
          <a:noFill/>
          <a:ln>
            <a:noFill/>
          </a:ln>
        </p:spPr>
      </p:pic>
      <p:pic>
        <p:nvPicPr>
          <p:cNvPr id="1103" name="Google Shape;1103;p75"/>
          <p:cNvPicPr preferRelativeResize="0"/>
          <p:nvPr/>
        </p:nvPicPr>
        <p:blipFill rotWithShape="1">
          <a:blip r:embed="rId6">
            <a:alphaModFix/>
          </a:blip>
          <a:srcRect/>
          <a:stretch/>
        </p:blipFill>
        <p:spPr>
          <a:xfrm>
            <a:off x="6342570" y="3172655"/>
            <a:ext cx="102633" cy="102634"/>
          </a:xfrm>
          <a:prstGeom prst="rect">
            <a:avLst/>
          </a:prstGeom>
          <a:noFill/>
          <a:ln>
            <a:noFill/>
          </a:ln>
        </p:spPr>
      </p:pic>
      <p:sp>
        <p:nvSpPr>
          <p:cNvPr id="1104" name="Google Shape;1104;p75"/>
          <p:cNvSpPr txBox="1"/>
          <p:nvPr/>
        </p:nvSpPr>
        <p:spPr>
          <a:xfrm>
            <a:off x="6303148" y="1652770"/>
            <a:ext cx="3113186" cy="1678377"/>
          </a:xfrm>
          <a:prstGeom prst="rect">
            <a:avLst/>
          </a:prstGeom>
          <a:noFill/>
          <a:ln>
            <a:noFill/>
          </a:ln>
        </p:spPr>
        <p:txBody>
          <a:bodyPr spcFirstLastPara="1" wrap="square" lIns="0" tIns="11525" rIns="0" bIns="0" anchor="t" anchorCtr="0">
            <a:spAutoFit/>
          </a:bodyPr>
          <a:lstStyle/>
          <a:p>
            <a:pPr marL="150997" marR="1847125" lvl="0" indent="-140047" algn="l" rtl="0">
              <a:lnSpc>
                <a:spcPct val="128699"/>
              </a:lnSpc>
              <a:spcBef>
                <a:spcPts val="0"/>
              </a:spcBef>
              <a:spcAft>
                <a:spcPts val="0"/>
              </a:spcAft>
              <a:buNone/>
            </a:pPr>
            <a:r>
              <a:rPr lang="en-US" sz="1815">
                <a:solidFill>
                  <a:schemeClr val="dk1"/>
                </a:solidFill>
                <a:latin typeface="Tahoma"/>
                <a:ea typeface="Tahoma"/>
                <a:cs typeface="Tahoma"/>
                <a:sym typeface="Tahoma"/>
              </a:rPr>
              <a:t>Big Data Distributed</a:t>
            </a:r>
            <a:endParaRPr sz="1815">
              <a:solidFill>
                <a:schemeClr val="dk1"/>
              </a:solidFill>
              <a:latin typeface="Tahoma"/>
              <a:ea typeface="Tahoma"/>
              <a:cs typeface="Tahoma"/>
              <a:sym typeface="Tahoma"/>
            </a:endParaRPr>
          </a:p>
          <a:p>
            <a:pPr marL="150997" marR="4611" lvl="0" indent="102010" algn="l" rtl="0">
              <a:lnSpc>
                <a:spcPct val="107580"/>
              </a:lnSpc>
              <a:spcBef>
                <a:spcPts val="326"/>
              </a:spcBef>
              <a:spcAft>
                <a:spcPts val="0"/>
              </a:spcAft>
              <a:buNone/>
            </a:pPr>
            <a:r>
              <a:rPr lang="en-US" sz="2269">
                <a:solidFill>
                  <a:srgbClr val="008CBA"/>
                </a:solidFill>
                <a:latin typeface="Merriweather Sans"/>
                <a:ea typeface="Merriweather Sans"/>
                <a:cs typeface="Merriweather Sans"/>
                <a:sym typeface="Merriweather Sans"/>
              </a:rPr>
              <a:t>- </a:t>
            </a:r>
            <a:r>
              <a:rPr lang="en-US" sz="1815">
                <a:solidFill>
                  <a:schemeClr val="dk1"/>
                </a:solidFill>
                <a:latin typeface="Tahoma"/>
                <a:ea typeface="Tahoma"/>
                <a:cs typeface="Tahoma"/>
                <a:sym typeface="Tahoma"/>
              </a:rPr>
              <a:t>storage &amp; compute nodes Raw data</a:t>
            </a:r>
            <a:endParaRPr sz="1815">
              <a:solidFill>
                <a:schemeClr val="dk1"/>
              </a:solidFill>
              <a:latin typeface="Tahoma"/>
              <a:ea typeface="Tahoma"/>
              <a:cs typeface="Tahoma"/>
              <a:sym typeface="Tahoma"/>
            </a:endParaRPr>
          </a:p>
          <a:p>
            <a:pPr marL="150997" marR="0" lvl="0" indent="0" algn="l" rtl="0">
              <a:spcBef>
                <a:spcPts val="54"/>
              </a:spcBef>
              <a:spcAft>
                <a:spcPts val="0"/>
              </a:spcAft>
              <a:buNone/>
            </a:pPr>
            <a:r>
              <a:rPr lang="en-US" sz="1815">
                <a:solidFill>
                  <a:schemeClr val="dk1"/>
                </a:solidFill>
                <a:latin typeface="Tahoma"/>
                <a:ea typeface="Tahoma"/>
                <a:cs typeface="Tahoma"/>
                <a:sym typeface="Tahoma"/>
              </a:rPr>
              <a:t>Open source</a:t>
            </a:r>
            <a:endParaRPr sz="1815">
              <a:solidFill>
                <a:schemeClr val="dk1"/>
              </a:solidFill>
              <a:latin typeface="Tahoma"/>
              <a:ea typeface="Tahoma"/>
              <a:cs typeface="Tahoma"/>
              <a:sym typeface="Tahoma"/>
            </a:endParaRPr>
          </a:p>
        </p:txBody>
      </p:sp>
      <p:sp>
        <p:nvSpPr>
          <p:cNvPr id="1105" name="Google Shape;1105;p75"/>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75</a:t>
            </a:fld>
            <a:endParaRPr sz="900" b="0" i="0">
              <a:solidFill>
                <a:srgbClr val="008CBA"/>
              </a:solidFill>
              <a:latin typeface="Tahoma"/>
              <a:ea typeface="Tahoma"/>
              <a:cs typeface="Tahoma"/>
              <a:sym typeface="Tahom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pic>
        <p:nvPicPr>
          <p:cNvPr id="1110" name="Google Shape;1110;p76"/>
          <p:cNvPicPr preferRelativeResize="0"/>
          <p:nvPr/>
        </p:nvPicPr>
        <p:blipFill rotWithShape="1">
          <a:blip r:embed="rId3">
            <a:alphaModFix/>
          </a:blip>
          <a:srcRect/>
          <a:stretch/>
        </p:blipFill>
        <p:spPr>
          <a:xfrm>
            <a:off x="7210880" y="1093926"/>
            <a:ext cx="2682384" cy="2350322"/>
          </a:xfrm>
          <a:prstGeom prst="rect">
            <a:avLst/>
          </a:prstGeom>
          <a:noFill/>
          <a:ln>
            <a:noFill/>
          </a:ln>
        </p:spPr>
      </p:pic>
      <p:sp>
        <p:nvSpPr>
          <p:cNvPr id="1111" name="Google Shape;1111;p76" descr="$PPTXTitle"/>
          <p:cNvSpPr txBox="1">
            <a:spLocks noGrp="1"/>
          </p:cNvSpPr>
          <p:nvPr>
            <p:ph type="title"/>
          </p:nvPr>
        </p:nvSpPr>
        <p:spPr>
          <a:xfrm>
            <a:off x="1934676" y="1098937"/>
            <a:ext cx="830913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t>
            </a:r>
            <a:r>
              <a:rPr lang="en-US"/>
              <a:t>Hadoop</a:t>
            </a:r>
            <a:r>
              <a:rPr lang="en-US" u="none"/>
              <a:t>	</a:t>
            </a:r>
            <a:endParaRPr/>
          </a:p>
        </p:txBody>
      </p:sp>
      <p:pic>
        <p:nvPicPr>
          <p:cNvPr id="1112" name="Google Shape;1112;p76"/>
          <p:cNvPicPr preferRelativeResize="0"/>
          <p:nvPr/>
        </p:nvPicPr>
        <p:blipFill rotWithShape="1">
          <a:blip r:embed="rId4">
            <a:alphaModFix/>
          </a:blip>
          <a:srcRect/>
          <a:stretch/>
        </p:blipFill>
        <p:spPr>
          <a:xfrm>
            <a:off x="2256298" y="1869865"/>
            <a:ext cx="102634" cy="102634"/>
          </a:xfrm>
          <a:prstGeom prst="rect">
            <a:avLst/>
          </a:prstGeom>
          <a:noFill/>
          <a:ln>
            <a:noFill/>
          </a:ln>
        </p:spPr>
      </p:pic>
      <p:sp>
        <p:nvSpPr>
          <p:cNvPr id="1113" name="Google Shape;1113;p76"/>
          <p:cNvSpPr txBox="1"/>
          <p:nvPr/>
        </p:nvSpPr>
        <p:spPr>
          <a:xfrm>
            <a:off x="2493403" y="1648275"/>
            <a:ext cx="5947442" cy="3403977"/>
          </a:xfrm>
          <a:prstGeom prst="rect">
            <a:avLst/>
          </a:prstGeom>
          <a:noFill/>
          <a:ln>
            <a:noFill/>
          </a:ln>
        </p:spPr>
        <p:txBody>
          <a:bodyPr spcFirstLastPara="1" wrap="square" lIns="0" tIns="11525" rIns="0" bIns="0" anchor="t" anchorCtr="0">
            <a:spAutoFit/>
          </a:bodyPr>
          <a:lstStyle/>
          <a:p>
            <a:pPr marL="73193" marR="1509974" lvl="0" indent="0" algn="l" rtl="0">
              <a:lnSpc>
                <a:spcPct val="129700"/>
              </a:lnSpc>
              <a:spcBef>
                <a:spcPts val="0"/>
              </a:spcBef>
              <a:spcAft>
                <a:spcPts val="0"/>
              </a:spcAft>
              <a:buNone/>
            </a:pPr>
            <a:r>
              <a:rPr lang="en-US" sz="1815">
                <a:solidFill>
                  <a:schemeClr val="dk1"/>
                </a:solidFill>
                <a:latin typeface="Arial"/>
                <a:ea typeface="Arial"/>
                <a:cs typeface="Arial"/>
                <a:sym typeface="Arial"/>
              </a:rPr>
              <a:t>De facto big data industry standard (batch) Vendor adoption</a:t>
            </a:r>
            <a:endParaRPr sz="1815">
              <a:solidFill>
                <a:schemeClr val="dk1"/>
              </a:solidFill>
              <a:latin typeface="Arial"/>
              <a:ea typeface="Arial"/>
              <a:cs typeface="Arial"/>
              <a:sym typeface="Arial"/>
            </a:endParaRPr>
          </a:p>
          <a:p>
            <a:pPr marL="73193" marR="2427485" lvl="0" indent="-144066" algn="l" rtl="0">
              <a:lnSpc>
                <a:spcPct val="153002"/>
              </a:lnSpc>
              <a:spcBef>
                <a:spcPts val="172"/>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	IBM, Microsoft, Oracle, EMC, ... A collection of projects at Apache</a:t>
            </a:r>
            <a:endParaRPr sz="1815">
              <a:solidFill>
                <a:schemeClr val="dk1"/>
              </a:solidFill>
              <a:latin typeface="Arial"/>
              <a:ea typeface="Arial"/>
              <a:cs typeface="Arial"/>
              <a:sym typeface="Arial"/>
            </a:endParaRPr>
          </a:p>
          <a:p>
            <a:pPr marL="269721" marR="0" lvl="0" indent="-258194" algn="l" rtl="0">
              <a:lnSpc>
                <a:spcPct val="146501"/>
              </a:lnSpc>
              <a:spcBef>
                <a:spcPts val="0"/>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HDFS, MapReduce, Hive, Pig, Hbase, Flume, Oozie, ...</a:t>
            </a:r>
            <a:endParaRPr sz="1815">
              <a:solidFill>
                <a:schemeClr val="dk1"/>
              </a:solidFill>
              <a:latin typeface="Arial"/>
              <a:ea typeface="Arial"/>
              <a:cs typeface="Arial"/>
              <a:sym typeface="Arial"/>
            </a:endParaRPr>
          </a:p>
          <a:p>
            <a:pPr marL="73193" marR="0" lvl="0" indent="0" algn="l" rtl="0">
              <a:spcBef>
                <a:spcPts val="599"/>
              </a:spcBef>
              <a:spcAft>
                <a:spcPts val="0"/>
              </a:spcAft>
              <a:buNone/>
            </a:pPr>
            <a:r>
              <a:rPr lang="en-US" sz="1815">
                <a:solidFill>
                  <a:schemeClr val="dk1"/>
                </a:solidFill>
                <a:latin typeface="Arial"/>
                <a:ea typeface="Arial"/>
                <a:cs typeface="Arial"/>
                <a:sym typeface="Arial"/>
              </a:rPr>
              <a:t>Main components</a:t>
            </a:r>
            <a:endParaRPr sz="1815">
              <a:solidFill>
                <a:schemeClr val="dk1"/>
              </a:solidFill>
              <a:latin typeface="Arial"/>
              <a:ea typeface="Arial"/>
              <a:cs typeface="Arial"/>
              <a:sym typeface="Arial"/>
            </a:endParaRPr>
          </a:p>
          <a:p>
            <a:pPr marL="269721" marR="0" lvl="0" indent="-258194" algn="l" rtl="0">
              <a:spcBef>
                <a:spcPts val="127"/>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HDFS</a:t>
            </a:r>
            <a:endParaRPr sz="1815">
              <a:solidFill>
                <a:schemeClr val="dk1"/>
              </a:solidFill>
              <a:latin typeface="Arial"/>
              <a:ea typeface="Arial"/>
              <a:cs typeface="Arial"/>
              <a:sym typeface="Arial"/>
            </a:endParaRPr>
          </a:p>
          <a:p>
            <a:pPr marL="269721" marR="0" lvl="0" indent="-258194" algn="l" rtl="0">
              <a:spcBef>
                <a:spcPts val="0"/>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MapReduce</a:t>
            </a:r>
            <a:endParaRPr sz="1815">
              <a:solidFill>
                <a:schemeClr val="dk1"/>
              </a:solidFill>
              <a:latin typeface="Arial"/>
              <a:ea typeface="Arial"/>
              <a:cs typeface="Arial"/>
              <a:sym typeface="Arial"/>
            </a:endParaRPr>
          </a:p>
          <a:p>
            <a:pPr marL="73193" marR="0" lvl="0" indent="0" algn="l" rtl="0">
              <a:spcBef>
                <a:spcPts val="599"/>
              </a:spcBef>
              <a:spcAft>
                <a:spcPts val="0"/>
              </a:spcAft>
              <a:buNone/>
            </a:pPr>
            <a:r>
              <a:rPr lang="en-US" sz="1815">
                <a:solidFill>
                  <a:schemeClr val="dk1"/>
                </a:solidFill>
                <a:latin typeface="Arial"/>
                <a:ea typeface="Arial"/>
                <a:cs typeface="Arial"/>
                <a:sym typeface="Arial"/>
              </a:rPr>
              <a:t>Cluster</a:t>
            </a:r>
            <a:endParaRPr sz="1815">
              <a:solidFill>
                <a:schemeClr val="dk1"/>
              </a:solidFill>
              <a:latin typeface="Arial"/>
              <a:ea typeface="Arial"/>
              <a:cs typeface="Arial"/>
              <a:sym typeface="Arial"/>
            </a:endParaRPr>
          </a:p>
          <a:p>
            <a:pPr marL="269721" marR="0" lvl="0" indent="-258194" algn="l" rtl="0">
              <a:spcBef>
                <a:spcPts val="127"/>
              </a:spcBef>
              <a:spcAft>
                <a:spcPts val="0"/>
              </a:spcAft>
              <a:buClr>
                <a:srgbClr val="008CBA"/>
              </a:buClr>
              <a:buSzPts val="2269"/>
              <a:buFont typeface="Merriweather Sans"/>
              <a:buChar char="-"/>
            </a:pPr>
            <a:r>
              <a:rPr lang="en-US" sz="1815">
                <a:solidFill>
                  <a:schemeClr val="dk1"/>
                </a:solidFill>
                <a:latin typeface="Arial"/>
                <a:ea typeface="Arial"/>
                <a:cs typeface="Arial"/>
                <a:sym typeface="Arial"/>
              </a:rPr>
              <a:t>Set of machines running HDFS and MapReduce</a:t>
            </a:r>
            <a:endParaRPr sz="1815">
              <a:solidFill>
                <a:schemeClr val="dk1"/>
              </a:solidFill>
              <a:latin typeface="Arial"/>
              <a:ea typeface="Arial"/>
              <a:cs typeface="Arial"/>
              <a:sym typeface="Arial"/>
            </a:endParaRPr>
          </a:p>
        </p:txBody>
      </p:sp>
      <p:pic>
        <p:nvPicPr>
          <p:cNvPr id="1114" name="Google Shape;1114;p76"/>
          <p:cNvPicPr preferRelativeResize="0"/>
          <p:nvPr/>
        </p:nvPicPr>
        <p:blipFill rotWithShape="1">
          <a:blip r:embed="rId4">
            <a:alphaModFix/>
          </a:blip>
          <a:srcRect/>
          <a:stretch/>
        </p:blipFill>
        <p:spPr>
          <a:xfrm>
            <a:off x="2256298" y="2228671"/>
            <a:ext cx="102634" cy="102634"/>
          </a:xfrm>
          <a:prstGeom prst="rect">
            <a:avLst/>
          </a:prstGeom>
          <a:noFill/>
          <a:ln>
            <a:noFill/>
          </a:ln>
        </p:spPr>
      </p:pic>
      <p:pic>
        <p:nvPicPr>
          <p:cNvPr id="1115" name="Google Shape;1115;p76"/>
          <p:cNvPicPr preferRelativeResize="0"/>
          <p:nvPr/>
        </p:nvPicPr>
        <p:blipFill rotWithShape="1">
          <a:blip r:embed="rId4">
            <a:alphaModFix/>
          </a:blip>
          <a:srcRect/>
          <a:stretch/>
        </p:blipFill>
        <p:spPr>
          <a:xfrm>
            <a:off x="2256298" y="2931760"/>
            <a:ext cx="102634" cy="102634"/>
          </a:xfrm>
          <a:prstGeom prst="rect">
            <a:avLst/>
          </a:prstGeom>
          <a:noFill/>
          <a:ln>
            <a:noFill/>
          </a:ln>
        </p:spPr>
      </p:pic>
      <p:pic>
        <p:nvPicPr>
          <p:cNvPr id="1116" name="Google Shape;1116;p76"/>
          <p:cNvPicPr preferRelativeResize="0"/>
          <p:nvPr/>
        </p:nvPicPr>
        <p:blipFill rotWithShape="1">
          <a:blip r:embed="rId4">
            <a:alphaModFix/>
          </a:blip>
          <a:srcRect/>
          <a:stretch/>
        </p:blipFill>
        <p:spPr>
          <a:xfrm>
            <a:off x="2256298" y="3646375"/>
            <a:ext cx="102634" cy="102634"/>
          </a:xfrm>
          <a:prstGeom prst="rect">
            <a:avLst/>
          </a:prstGeom>
          <a:noFill/>
          <a:ln>
            <a:noFill/>
          </a:ln>
        </p:spPr>
      </p:pic>
      <p:pic>
        <p:nvPicPr>
          <p:cNvPr id="1117" name="Google Shape;1117;p76"/>
          <p:cNvPicPr preferRelativeResize="0"/>
          <p:nvPr/>
        </p:nvPicPr>
        <p:blipFill rotWithShape="1">
          <a:blip r:embed="rId4">
            <a:alphaModFix/>
          </a:blip>
          <a:srcRect/>
          <a:stretch/>
        </p:blipFill>
        <p:spPr>
          <a:xfrm>
            <a:off x="2256298" y="4706772"/>
            <a:ext cx="102634" cy="102634"/>
          </a:xfrm>
          <a:prstGeom prst="rect">
            <a:avLst/>
          </a:prstGeom>
          <a:noFill/>
          <a:ln>
            <a:noFill/>
          </a:ln>
        </p:spPr>
      </p:pic>
      <p:sp>
        <p:nvSpPr>
          <p:cNvPr id="1118" name="Google Shape;1118;p76"/>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76</a:t>
            </a:fld>
            <a:endParaRPr sz="900" b="0" i="0">
              <a:solidFill>
                <a:srgbClr val="008CBA"/>
              </a:solidFill>
              <a:latin typeface="Tahoma"/>
              <a:ea typeface="Tahoma"/>
              <a:cs typeface="Tahoma"/>
              <a:sym typeface="Tahom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77"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t>
            </a:r>
            <a:r>
              <a:rPr lang="en-US"/>
              <a:t>Distributions</a:t>
            </a:r>
            <a:r>
              <a:rPr lang="en-US" u="none"/>
              <a:t>	</a:t>
            </a:r>
            <a:endParaRPr/>
          </a:p>
        </p:txBody>
      </p:sp>
      <p:pic>
        <p:nvPicPr>
          <p:cNvPr id="1124" name="Google Shape;1124;p77"/>
          <p:cNvPicPr preferRelativeResize="0"/>
          <p:nvPr/>
        </p:nvPicPr>
        <p:blipFill rotWithShape="1">
          <a:blip r:embed="rId3">
            <a:alphaModFix/>
          </a:blip>
          <a:srcRect/>
          <a:stretch/>
        </p:blipFill>
        <p:spPr>
          <a:xfrm>
            <a:off x="2452324" y="1884450"/>
            <a:ext cx="92371" cy="92370"/>
          </a:xfrm>
          <a:prstGeom prst="rect">
            <a:avLst/>
          </a:prstGeom>
          <a:noFill/>
          <a:ln>
            <a:noFill/>
          </a:ln>
        </p:spPr>
      </p:pic>
      <p:sp>
        <p:nvSpPr>
          <p:cNvPr id="1125" name="Google Shape;1125;p77"/>
          <p:cNvSpPr txBox="1"/>
          <p:nvPr/>
        </p:nvSpPr>
        <p:spPr>
          <a:xfrm>
            <a:off x="2669175" y="1744921"/>
            <a:ext cx="5805672" cy="3124136"/>
          </a:xfrm>
          <a:prstGeom prst="rect">
            <a:avLst/>
          </a:prstGeom>
          <a:noFill/>
          <a:ln>
            <a:noFill/>
          </a:ln>
        </p:spPr>
        <p:txBody>
          <a:bodyPr spcFirstLastPara="1" wrap="square" lIns="0" tIns="24200" rIns="0" bIns="0" anchor="t" anchorCtr="0">
            <a:spAutoFit/>
          </a:bodyPr>
          <a:lstStyle/>
          <a:p>
            <a:pPr marL="96246" marR="0" lvl="0" indent="0" algn="l" rtl="0">
              <a:spcBef>
                <a:spcPts val="0"/>
              </a:spcBef>
              <a:spcAft>
                <a:spcPts val="0"/>
              </a:spcAft>
              <a:buNone/>
            </a:pPr>
            <a:r>
              <a:rPr lang="en-US" sz="1634">
                <a:solidFill>
                  <a:schemeClr val="dk1"/>
                </a:solidFill>
                <a:latin typeface="Arial"/>
                <a:ea typeface="Arial"/>
                <a:cs typeface="Arial"/>
                <a:sym typeface="Arial"/>
              </a:rPr>
              <a:t>Cloudera</a:t>
            </a:r>
            <a:endParaRPr sz="1634">
              <a:solidFill>
                <a:schemeClr val="dk1"/>
              </a:solidFill>
              <a:latin typeface="Arial"/>
              <a:ea typeface="Arial"/>
              <a:cs typeface="Arial"/>
              <a:sym typeface="Arial"/>
            </a:endParaRPr>
          </a:p>
          <a:p>
            <a:pPr marL="292197" marR="0" lvl="0" indent="-280671" algn="l" rtl="0">
              <a:spcBef>
                <a:spcPts val="127"/>
              </a:spcBef>
              <a:spcAft>
                <a:spcPts val="0"/>
              </a:spcAft>
              <a:buClr>
                <a:srgbClr val="008CBA"/>
              </a:buClr>
              <a:buSzPts val="2043"/>
              <a:buFont typeface="Merriweather Sans"/>
              <a:buChar char="-"/>
            </a:pPr>
            <a:r>
              <a:rPr lang="en-US" sz="1634" u="sng">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www.cloudera.com</a:t>
            </a:r>
            <a:endParaRPr sz="1634">
              <a:solidFill>
                <a:schemeClr val="dk1"/>
              </a:solidFill>
              <a:latin typeface="Arial"/>
              <a:ea typeface="Arial"/>
              <a:cs typeface="Arial"/>
              <a:sym typeface="Arial"/>
            </a:endParaRPr>
          </a:p>
          <a:p>
            <a:pPr marL="292197" marR="0" lvl="0" indent="-280671" algn="l" rtl="0">
              <a:spcBef>
                <a:spcPts val="91"/>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Cloudera Enterprise subscription</a:t>
            </a:r>
            <a:endParaRPr sz="1634">
              <a:solidFill>
                <a:schemeClr val="dk1"/>
              </a:solidFill>
              <a:latin typeface="Arial"/>
              <a:ea typeface="Arial"/>
              <a:cs typeface="Arial"/>
              <a:sym typeface="Arial"/>
            </a:endParaRPr>
          </a:p>
          <a:p>
            <a:pPr marL="292197" marR="0" lvl="0" indent="-280671" algn="l" rtl="0">
              <a:spcBef>
                <a:spcPts val="91"/>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Currently CDH3</a:t>
            </a:r>
            <a:endParaRPr sz="1634">
              <a:solidFill>
                <a:schemeClr val="dk1"/>
              </a:solidFill>
              <a:latin typeface="Arial"/>
              <a:ea typeface="Arial"/>
              <a:cs typeface="Arial"/>
              <a:sym typeface="Arial"/>
            </a:endParaRPr>
          </a:p>
          <a:p>
            <a:pPr marL="418989" marR="0" lvl="1" indent="-131402" algn="l" rtl="0">
              <a:spcBef>
                <a:spcPts val="386"/>
              </a:spcBef>
              <a:spcAft>
                <a:spcPts val="0"/>
              </a:spcAft>
              <a:buClr>
                <a:srgbClr val="008CBA"/>
              </a:buClr>
              <a:buSzPts val="1362"/>
              <a:buFont typeface="Arial"/>
              <a:buChar char="■"/>
            </a:pPr>
            <a:r>
              <a:rPr lang="en-US" sz="1634" b="0" i="0" u="none" strike="noStrike" cap="none">
                <a:solidFill>
                  <a:schemeClr val="dk1"/>
                </a:solidFill>
                <a:latin typeface="Arial"/>
                <a:ea typeface="Arial"/>
                <a:cs typeface="Arial"/>
                <a:sym typeface="Arial"/>
              </a:rPr>
              <a:t>Linux package</a:t>
            </a:r>
            <a:endParaRPr sz="1634" b="0" i="0" u="none" strike="noStrike" cap="none">
              <a:solidFill>
                <a:schemeClr val="dk1"/>
              </a:solidFill>
              <a:latin typeface="Arial"/>
              <a:ea typeface="Arial"/>
              <a:cs typeface="Arial"/>
              <a:sym typeface="Arial"/>
            </a:endParaRPr>
          </a:p>
          <a:p>
            <a:pPr marL="418989" marR="0" lvl="1" indent="-131402" algn="l" rtl="0">
              <a:spcBef>
                <a:spcPts val="490"/>
              </a:spcBef>
              <a:spcAft>
                <a:spcPts val="0"/>
              </a:spcAft>
              <a:buClr>
                <a:srgbClr val="008CBA"/>
              </a:buClr>
              <a:buSzPts val="1362"/>
              <a:buFont typeface="Arial"/>
              <a:buChar char="■"/>
            </a:pPr>
            <a:r>
              <a:rPr lang="en-US" sz="1634" b="0" i="0" u="none" strike="noStrike" cap="none">
                <a:solidFill>
                  <a:schemeClr val="dk1"/>
                </a:solidFill>
                <a:latin typeface="Arial"/>
                <a:ea typeface="Arial"/>
                <a:cs typeface="Arial"/>
                <a:sym typeface="Arial"/>
              </a:rPr>
              <a:t>Virtual machine</a:t>
            </a:r>
            <a:endParaRPr sz="1634" b="0" i="0" u="none" strike="noStrike" cap="none">
              <a:solidFill>
                <a:schemeClr val="dk1"/>
              </a:solidFill>
              <a:latin typeface="Arial"/>
              <a:ea typeface="Arial"/>
              <a:cs typeface="Arial"/>
              <a:sym typeface="Arial"/>
            </a:endParaRPr>
          </a:p>
          <a:p>
            <a:pPr marL="418989" marR="0" lvl="1" indent="-131402" algn="l" rtl="0">
              <a:spcBef>
                <a:spcPts val="490"/>
              </a:spcBef>
              <a:spcAft>
                <a:spcPts val="0"/>
              </a:spcAft>
              <a:buClr>
                <a:srgbClr val="008CBA"/>
              </a:buClr>
              <a:buSzPts val="1362"/>
              <a:buFont typeface="Arial"/>
              <a:buChar char="■"/>
            </a:pPr>
            <a:r>
              <a:rPr lang="en-US" sz="1634" b="0" i="0" u="none" strike="noStrike" cap="none">
                <a:solidFill>
                  <a:schemeClr val="dk1"/>
                </a:solidFill>
                <a:latin typeface="Arial"/>
                <a:ea typeface="Arial"/>
                <a:cs typeface="Arial"/>
                <a:sym typeface="Arial"/>
              </a:rPr>
              <a:t>Cloud</a:t>
            </a:r>
            <a:endParaRPr sz="1634" b="0" i="0" u="none" strike="noStrike" cap="none">
              <a:solidFill>
                <a:schemeClr val="dk1"/>
              </a:solidFill>
              <a:latin typeface="Arial"/>
              <a:ea typeface="Arial"/>
              <a:cs typeface="Arial"/>
              <a:sym typeface="Arial"/>
            </a:endParaRPr>
          </a:p>
          <a:p>
            <a:pPr marL="292197" marR="0" lvl="0" indent="-280671" algn="l" rtl="0">
              <a:spcBef>
                <a:spcPts val="195"/>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Stack</a:t>
            </a:r>
            <a:endParaRPr sz="1634">
              <a:solidFill>
                <a:schemeClr val="dk1"/>
              </a:solidFill>
              <a:latin typeface="Arial"/>
              <a:ea typeface="Arial"/>
              <a:cs typeface="Arial"/>
              <a:sym typeface="Arial"/>
            </a:endParaRPr>
          </a:p>
          <a:p>
            <a:pPr marL="418989" marR="0" lvl="1" indent="-131402" algn="l" rtl="0">
              <a:spcBef>
                <a:spcPts val="386"/>
              </a:spcBef>
              <a:spcAft>
                <a:spcPts val="0"/>
              </a:spcAft>
              <a:buClr>
                <a:srgbClr val="008CBA"/>
              </a:buClr>
              <a:buSzPts val="1362"/>
              <a:buFont typeface="Arial"/>
              <a:buChar char="■"/>
            </a:pPr>
            <a:r>
              <a:rPr lang="en-US" sz="1634" b="0" i="0" u="none" strike="noStrike" cap="none">
                <a:solidFill>
                  <a:schemeClr val="dk1"/>
                </a:solidFill>
                <a:latin typeface="Arial"/>
                <a:ea typeface="Arial"/>
                <a:cs typeface="Arial"/>
                <a:sym typeface="Arial"/>
              </a:rPr>
              <a:t>hadoop, hbase, hive, pig, mahout, flume, ...</a:t>
            </a:r>
            <a:endParaRPr sz="1634" b="0" i="0" u="none" strike="noStrike" cap="none">
              <a:solidFill>
                <a:schemeClr val="dk1"/>
              </a:solidFill>
              <a:latin typeface="Arial"/>
              <a:ea typeface="Arial"/>
              <a:cs typeface="Arial"/>
              <a:sym typeface="Arial"/>
            </a:endParaRPr>
          </a:p>
          <a:p>
            <a:pPr marL="292197" marR="0" lvl="0" indent="-280671" algn="l" rtl="0">
              <a:spcBef>
                <a:spcPts val="195"/>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Cloudera SCM</a:t>
            </a:r>
            <a:endParaRPr sz="1634">
              <a:solidFill>
                <a:schemeClr val="dk1"/>
              </a:solidFill>
              <a:latin typeface="Arial"/>
              <a:ea typeface="Arial"/>
              <a:cs typeface="Arial"/>
              <a:sym typeface="Arial"/>
            </a:endParaRPr>
          </a:p>
          <a:p>
            <a:pPr marL="292197" marR="0" lvl="0" indent="-280671" algn="l" rtl="0">
              <a:spcBef>
                <a:spcPts val="91"/>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Connectors for Teradata, Netezza, Microstrategy and Quest</a:t>
            </a:r>
            <a:endParaRPr sz="1634">
              <a:solidFill>
                <a:schemeClr val="dk1"/>
              </a:solidFill>
              <a:latin typeface="Arial"/>
              <a:ea typeface="Arial"/>
              <a:cs typeface="Arial"/>
              <a:sym typeface="Arial"/>
            </a:endParaRPr>
          </a:p>
        </p:txBody>
      </p:sp>
      <p:sp>
        <p:nvSpPr>
          <p:cNvPr id="1126" name="Google Shape;1126;p77"/>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77</a:t>
            </a:fld>
            <a:endParaRPr sz="900" b="0" i="0">
              <a:solidFill>
                <a:srgbClr val="008CBA"/>
              </a:solidFill>
              <a:latin typeface="Tahoma"/>
              <a:ea typeface="Tahoma"/>
              <a:cs typeface="Tahoma"/>
              <a:sym typeface="Tahom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78"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t>
            </a:r>
            <a:r>
              <a:rPr lang="en-US"/>
              <a:t>Distributions</a:t>
            </a:r>
            <a:r>
              <a:rPr lang="en-US" u="none"/>
              <a:t>	</a:t>
            </a:r>
            <a:endParaRPr/>
          </a:p>
        </p:txBody>
      </p:sp>
      <p:pic>
        <p:nvPicPr>
          <p:cNvPr id="1132" name="Google Shape;1132;p78"/>
          <p:cNvPicPr preferRelativeResize="0"/>
          <p:nvPr/>
        </p:nvPicPr>
        <p:blipFill rotWithShape="1">
          <a:blip r:embed="rId3">
            <a:alphaModFix/>
          </a:blip>
          <a:srcRect/>
          <a:stretch/>
        </p:blipFill>
        <p:spPr>
          <a:xfrm>
            <a:off x="2452324" y="1884450"/>
            <a:ext cx="92371" cy="92370"/>
          </a:xfrm>
          <a:prstGeom prst="rect">
            <a:avLst/>
          </a:prstGeom>
          <a:noFill/>
          <a:ln>
            <a:noFill/>
          </a:ln>
        </p:spPr>
      </p:pic>
      <p:sp>
        <p:nvSpPr>
          <p:cNvPr id="1133" name="Google Shape;1133;p78"/>
          <p:cNvSpPr txBox="1"/>
          <p:nvPr/>
        </p:nvSpPr>
        <p:spPr>
          <a:xfrm>
            <a:off x="2669175" y="1744921"/>
            <a:ext cx="7465423" cy="3304185"/>
          </a:xfrm>
          <a:prstGeom prst="rect">
            <a:avLst/>
          </a:prstGeom>
          <a:noFill/>
          <a:ln>
            <a:noFill/>
          </a:ln>
        </p:spPr>
        <p:txBody>
          <a:bodyPr spcFirstLastPara="1" wrap="square" lIns="0" tIns="24200" rIns="0" bIns="0" anchor="t" anchorCtr="0">
            <a:spAutoFit/>
          </a:bodyPr>
          <a:lstStyle/>
          <a:p>
            <a:pPr marL="96246" marR="0" lvl="0" indent="0" algn="l" rtl="0">
              <a:spcBef>
                <a:spcPts val="0"/>
              </a:spcBef>
              <a:spcAft>
                <a:spcPts val="0"/>
              </a:spcAft>
              <a:buNone/>
            </a:pPr>
            <a:r>
              <a:rPr lang="en-US" sz="1634">
                <a:solidFill>
                  <a:schemeClr val="dk1"/>
                </a:solidFill>
                <a:latin typeface="Arial"/>
                <a:ea typeface="Arial"/>
                <a:cs typeface="Arial"/>
                <a:sym typeface="Arial"/>
              </a:rPr>
              <a:t>Hortonworks</a:t>
            </a:r>
            <a:endParaRPr sz="1634">
              <a:solidFill>
                <a:schemeClr val="dk1"/>
              </a:solidFill>
              <a:latin typeface="Arial"/>
              <a:ea typeface="Arial"/>
              <a:cs typeface="Arial"/>
              <a:sym typeface="Arial"/>
            </a:endParaRPr>
          </a:p>
          <a:p>
            <a:pPr marL="292197" marR="0" lvl="0" indent="-280671" algn="l" rtl="0">
              <a:spcBef>
                <a:spcPts val="127"/>
              </a:spcBef>
              <a:spcAft>
                <a:spcPts val="0"/>
              </a:spcAft>
              <a:buClr>
                <a:srgbClr val="008CBA"/>
              </a:buClr>
              <a:buSzPts val="2043"/>
              <a:buFont typeface="Merriweather Sans"/>
              <a:buChar char="-"/>
            </a:pPr>
            <a:r>
              <a:rPr lang="en-US" sz="1634" u="sng">
                <a:solidFill>
                  <a:srgbClr val="009999"/>
                </a:solidFill>
                <a:latin typeface="Arial"/>
                <a:ea typeface="Arial"/>
                <a:cs typeface="Arial"/>
                <a:sym typeface="Arial"/>
                <a:hlinkClick r:id="rId4">
                  <a:extLst>
                    <a:ext uri="{A12FA001-AC4F-418D-AE19-62706E023703}">
                      <ahyp:hlinkClr xmlns:ahyp="http://schemas.microsoft.com/office/drawing/2018/hyperlinkcolor" val="tx"/>
                    </a:ext>
                  </a:extLst>
                </a:hlinkClick>
              </a:rPr>
              <a:t>www.hortonworks.com</a:t>
            </a:r>
            <a:endParaRPr sz="1634">
              <a:solidFill>
                <a:schemeClr val="dk1"/>
              </a:solidFill>
              <a:latin typeface="Arial"/>
              <a:ea typeface="Arial"/>
              <a:cs typeface="Arial"/>
              <a:sym typeface="Arial"/>
            </a:endParaRPr>
          </a:p>
          <a:p>
            <a:pPr marL="287587" marR="189034" lvl="0" indent="-276636" algn="l" rtl="0">
              <a:lnSpc>
                <a:spcPct val="95500"/>
              </a:lnSpc>
              <a:spcBef>
                <a:spcPts val="200"/>
              </a:spcBef>
              <a:spcAft>
                <a:spcPts val="0"/>
              </a:spcAft>
              <a:buClr>
                <a:srgbClr val="008CBA"/>
              </a:buClr>
              <a:buSzPts val="2042"/>
              <a:buFont typeface="Merriweather Sans"/>
              <a:buChar char="-"/>
            </a:pPr>
            <a:r>
              <a:rPr lang="en-US" sz="2042">
                <a:solidFill>
                  <a:srgbClr val="008CBA"/>
                </a:solidFill>
                <a:latin typeface="Merriweather Sans"/>
                <a:ea typeface="Merriweather Sans"/>
                <a:cs typeface="Merriweather Sans"/>
                <a:sym typeface="Merriweather Sans"/>
              </a:rPr>
              <a:t>	</a:t>
            </a:r>
            <a:r>
              <a:rPr lang="en-US" sz="1634">
                <a:solidFill>
                  <a:schemeClr val="dk1"/>
                </a:solidFill>
                <a:latin typeface="Arial"/>
                <a:ea typeface="Arial"/>
                <a:cs typeface="Arial"/>
                <a:sym typeface="Arial"/>
              </a:rPr>
              <a:t>Hortonworks Data Platform Powered by Apache Hadoop, 100% opensource solution</a:t>
            </a:r>
            <a:endParaRPr sz="1634">
              <a:solidFill>
                <a:schemeClr val="dk1"/>
              </a:solidFill>
              <a:latin typeface="Arial"/>
              <a:ea typeface="Arial"/>
              <a:cs typeface="Arial"/>
              <a:sym typeface="Arial"/>
            </a:endParaRPr>
          </a:p>
          <a:p>
            <a:pPr marL="96246" marR="0" lvl="0" indent="0" algn="l" rtl="0">
              <a:spcBef>
                <a:spcPts val="685"/>
              </a:spcBef>
              <a:spcAft>
                <a:spcPts val="0"/>
              </a:spcAft>
              <a:buNone/>
            </a:pPr>
            <a:r>
              <a:rPr lang="en-US" sz="1634">
                <a:solidFill>
                  <a:schemeClr val="dk1"/>
                </a:solidFill>
                <a:latin typeface="Arial"/>
                <a:ea typeface="Arial"/>
                <a:cs typeface="Arial"/>
                <a:sym typeface="Arial"/>
              </a:rPr>
              <a:t>IBM</a:t>
            </a:r>
            <a:endParaRPr sz="1634">
              <a:solidFill>
                <a:schemeClr val="dk1"/>
              </a:solidFill>
              <a:latin typeface="Arial"/>
              <a:ea typeface="Arial"/>
              <a:cs typeface="Arial"/>
              <a:sym typeface="Arial"/>
            </a:endParaRPr>
          </a:p>
          <a:p>
            <a:pPr marL="287587" marR="4611" lvl="0" indent="-276636" algn="l" rtl="0">
              <a:lnSpc>
                <a:spcPct val="95500"/>
              </a:lnSpc>
              <a:spcBef>
                <a:spcPts val="318"/>
              </a:spcBef>
              <a:spcAft>
                <a:spcPts val="0"/>
              </a:spcAft>
              <a:buClr>
                <a:srgbClr val="008CBA"/>
              </a:buClr>
              <a:buSzPts val="2042"/>
              <a:buFont typeface="Merriweather Sans"/>
              <a:buChar char="-"/>
            </a:pPr>
            <a:r>
              <a:rPr lang="en-US" sz="2042">
                <a:solidFill>
                  <a:srgbClr val="008CBA"/>
                </a:solidFill>
                <a:latin typeface="Merriweather Sans"/>
                <a:ea typeface="Merriweather Sans"/>
                <a:cs typeface="Merriweather Sans"/>
                <a:sym typeface="Merriweather Sans"/>
              </a:rPr>
              <a:t>	</a:t>
            </a:r>
            <a:r>
              <a:rPr lang="en-US" sz="1634">
                <a:solidFill>
                  <a:schemeClr val="dk1"/>
                </a:solidFill>
                <a:latin typeface="Arial"/>
                <a:ea typeface="Arial"/>
                <a:cs typeface="Arial"/>
                <a:sym typeface="Arial"/>
              </a:rPr>
              <a:t>Offers a derivative version of Apache Hadoop that IBM supports on IBM JVMs on a number of platforms</a:t>
            </a:r>
            <a:endParaRPr sz="1634">
              <a:solidFill>
                <a:schemeClr val="dk1"/>
              </a:solidFill>
              <a:latin typeface="Arial"/>
              <a:ea typeface="Arial"/>
              <a:cs typeface="Arial"/>
              <a:sym typeface="Arial"/>
            </a:endParaRPr>
          </a:p>
          <a:p>
            <a:pPr marL="96246" marR="0" lvl="0" indent="0" algn="l" rtl="0">
              <a:spcBef>
                <a:spcPts val="594"/>
              </a:spcBef>
              <a:spcAft>
                <a:spcPts val="0"/>
              </a:spcAft>
              <a:buNone/>
            </a:pPr>
            <a:r>
              <a:rPr lang="en-US" sz="1634">
                <a:solidFill>
                  <a:schemeClr val="dk1"/>
                </a:solidFill>
                <a:latin typeface="Arial"/>
                <a:ea typeface="Arial"/>
                <a:cs typeface="Arial"/>
                <a:sym typeface="Arial"/>
              </a:rPr>
              <a:t>Microsoft</a:t>
            </a:r>
            <a:endParaRPr sz="1634">
              <a:solidFill>
                <a:schemeClr val="dk1"/>
              </a:solidFill>
              <a:latin typeface="Arial"/>
              <a:ea typeface="Arial"/>
              <a:cs typeface="Arial"/>
              <a:sym typeface="Arial"/>
            </a:endParaRPr>
          </a:p>
          <a:p>
            <a:pPr marL="96246" marR="3463719" lvl="0" indent="-129699" algn="l" rtl="0">
              <a:lnSpc>
                <a:spcPct val="158873"/>
              </a:lnSpc>
              <a:spcBef>
                <a:spcPts val="168"/>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	Hadoop on Azure &amp; Hadoop on Premise Apache Hadoop</a:t>
            </a:r>
            <a:endParaRPr sz="1634">
              <a:solidFill>
                <a:schemeClr val="dk1"/>
              </a:solidFill>
              <a:latin typeface="Arial"/>
              <a:ea typeface="Arial"/>
              <a:cs typeface="Arial"/>
              <a:sym typeface="Arial"/>
            </a:endParaRPr>
          </a:p>
          <a:p>
            <a:pPr marL="292197" marR="0" lvl="0" indent="-280671" algn="l" rtl="0">
              <a:spcBef>
                <a:spcPts val="18"/>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Distribution for individual components only</a:t>
            </a:r>
            <a:endParaRPr sz="1634">
              <a:solidFill>
                <a:schemeClr val="dk1"/>
              </a:solidFill>
              <a:latin typeface="Arial"/>
              <a:ea typeface="Arial"/>
              <a:cs typeface="Arial"/>
              <a:sym typeface="Arial"/>
            </a:endParaRPr>
          </a:p>
        </p:txBody>
      </p:sp>
      <p:pic>
        <p:nvPicPr>
          <p:cNvPr id="1134" name="Google Shape;1134;p78"/>
          <p:cNvPicPr preferRelativeResize="0"/>
          <p:nvPr/>
        </p:nvPicPr>
        <p:blipFill rotWithShape="1">
          <a:blip r:embed="rId3">
            <a:alphaModFix/>
          </a:blip>
          <a:srcRect/>
          <a:stretch/>
        </p:blipFill>
        <p:spPr>
          <a:xfrm>
            <a:off x="2452324" y="3107710"/>
            <a:ext cx="92371" cy="92370"/>
          </a:xfrm>
          <a:prstGeom prst="rect">
            <a:avLst/>
          </a:prstGeom>
          <a:noFill/>
          <a:ln>
            <a:noFill/>
          </a:ln>
        </p:spPr>
      </p:pic>
      <p:pic>
        <p:nvPicPr>
          <p:cNvPr id="1135" name="Google Shape;1135;p78"/>
          <p:cNvPicPr preferRelativeResize="0"/>
          <p:nvPr/>
        </p:nvPicPr>
        <p:blipFill rotWithShape="1">
          <a:blip r:embed="rId3">
            <a:alphaModFix/>
          </a:blip>
          <a:srcRect/>
          <a:stretch/>
        </p:blipFill>
        <p:spPr>
          <a:xfrm>
            <a:off x="2452324" y="4006742"/>
            <a:ext cx="92371" cy="92370"/>
          </a:xfrm>
          <a:prstGeom prst="rect">
            <a:avLst/>
          </a:prstGeom>
          <a:noFill/>
          <a:ln>
            <a:noFill/>
          </a:ln>
        </p:spPr>
      </p:pic>
      <p:pic>
        <p:nvPicPr>
          <p:cNvPr id="1136" name="Google Shape;1136;p78"/>
          <p:cNvPicPr preferRelativeResize="0"/>
          <p:nvPr/>
        </p:nvPicPr>
        <p:blipFill rotWithShape="1">
          <a:blip r:embed="rId3">
            <a:alphaModFix/>
          </a:blip>
          <a:srcRect/>
          <a:stretch/>
        </p:blipFill>
        <p:spPr>
          <a:xfrm>
            <a:off x="2452324" y="4663726"/>
            <a:ext cx="92371" cy="92371"/>
          </a:xfrm>
          <a:prstGeom prst="rect">
            <a:avLst/>
          </a:prstGeom>
          <a:noFill/>
          <a:ln>
            <a:noFill/>
          </a:ln>
        </p:spPr>
      </p:pic>
      <p:sp>
        <p:nvSpPr>
          <p:cNvPr id="1137" name="Google Shape;1137;p78"/>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78</a:t>
            </a:fld>
            <a:endParaRPr sz="900" b="0" i="0">
              <a:solidFill>
                <a:srgbClr val="008CBA"/>
              </a:solidFill>
              <a:latin typeface="Tahoma"/>
              <a:ea typeface="Tahoma"/>
              <a:cs typeface="Tahoma"/>
              <a:sym typeface="Tahom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grpSp>
        <p:nvGrpSpPr>
          <p:cNvPr id="1142" name="Google Shape;1142;p79"/>
          <p:cNvGrpSpPr/>
          <p:nvPr/>
        </p:nvGrpSpPr>
        <p:grpSpPr>
          <a:xfrm>
            <a:off x="3182375" y="1093926"/>
            <a:ext cx="6710889" cy="3767577"/>
            <a:chOff x="2136317" y="1205344"/>
            <a:chExt cx="7394405" cy="4151312"/>
          </a:xfrm>
        </p:grpSpPr>
        <p:pic>
          <p:nvPicPr>
            <p:cNvPr id="1143" name="Google Shape;1143;p79"/>
            <p:cNvPicPr preferRelativeResize="0"/>
            <p:nvPr/>
          </p:nvPicPr>
          <p:blipFill rotWithShape="1">
            <a:blip r:embed="rId3">
              <a:alphaModFix/>
            </a:blip>
            <a:srcRect/>
            <a:stretch/>
          </p:blipFill>
          <p:spPr>
            <a:xfrm>
              <a:off x="6575132" y="1205344"/>
              <a:ext cx="2955590" cy="2589707"/>
            </a:xfrm>
            <a:prstGeom prst="rect">
              <a:avLst/>
            </a:prstGeom>
            <a:noFill/>
            <a:ln>
              <a:noFill/>
            </a:ln>
          </p:spPr>
        </p:pic>
        <p:pic>
          <p:nvPicPr>
            <p:cNvPr id="1144" name="Google Shape;1144;p79"/>
            <p:cNvPicPr preferRelativeResize="0"/>
            <p:nvPr/>
          </p:nvPicPr>
          <p:blipFill rotWithShape="1">
            <a:blip r:embed="rId4">
              <a:alphaModFix/>
            </a:blip>
            <a:srcRect/>
            <a:stretch/>
          </p:blipFill>
          <p:spPr>
            <a:xfrm>
              <a:off x="2136317" y="2376920"/>
              <a:ext cx="6616693" cy="2979736"/>
            </a:xfrm>
            <a:prstGeom prst="rect">
              <a:avLst/>
            </a:prstGeom>
            <a:noFill/>
            <a:ln>
              <a:noFill/>
            </a:ln>
          </p:spPr>
        </p:pic>
      </p:grpSp>
      <p:sp>
        <p:nvSpPr>
          <p:cNvPr id="1145" name="Google Shape;1145;p79"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t>
            </a:r>
            <a:r>
              <a:rPr lang="en-US"/>
              <a:t>HDFS</a:t>
            </a:r>
            <a:r>
              <a:rPr lang="en-US" u="none"/>
              <a:t>	</a:t>
            </a:r>
            <a:endParaRPr/>
          </a:p>
        </p:txBody>
      </p:sp>
      <p:sp>
        <p:nvSpPr>
          <p:cNvPr id="1146" name="Google Shape;1146;p79"/>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79</a:t>
            </a:fld>
            <a:endParaRPr sz="900" b="0" i="0">
              <a:solidFill>
                <a:srgbClr val="008CBA"/>
              </a:solidFill>
              <a:latin typeface="Tahoma"/>
              <a:ea typeface="Tahoma"/>
              <a:cs typeface="Tahoma"/>
              <a:sym typeface="Tahom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80" descr="$PPTXTitle"/>
          <p:cNvSpPr txBox="1">
            <a:spLocks noGrp="1"/>
          </p:cNvSpPr>
          <p:nvPr>
            <p:ph type="title"/>
          </p:nvPr>
        </p:nvSpPr>
        <p:spPr>
          <a:xfrm>
            <a:off x="1934676" y="1098937"/>
            <a:ext cx="830913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Access</a:t>
            </a:r>
            <a:r>
              <a:rPr lang="en-US"/>
              <a:t> </a:t>
            </a:r>
            <a:r>
              <a:rPr lang="en-US" u="none"/>
              <a:t>to </a:t>
            </a:r>
            <a:r>
              <a:rPr lang="en-US"/>
              <a:t>HDFS</a:t>
            </a:r>
            <a:r>
              <a:rPr lang="en-US" u="none"/>
              <a:t>	</a:t>
            </a:r>
            <a:endParaRPr/>
          </a:p>
        </p:txBody>
      </p:sp>
      <p:pic>
        <p:nvPicPr>
          <p:cNvPr id="1152" name="Google Shape;1152;p80"/>
          <p:cNvPicPr preferRelativeResize="0"/>
          <p:nvPr/>
        </p:nvPicPr>
        <p:blipFill rotWithShape="1">
          <a:blip r:embed="rId3">
            <a:alphaModFix/>
          </a:blip>
          <a:srcRect/>
          <a:stretch/>
        </p:blipFill>
        <p:spPr>
          <a:xfrm>
            <a:off x="2452324" y="1884450"/>
            <a:ext cx="92371" cy="92370"/>
          </a:xfrm>
          <a:prstGeom prst="rect">
            <a:avLst/>
          </a:prstGeom>
          <a:noFill/>
          <a:ln>
            <a:noFill/>
          </a:ln>
        </p:spPr>
      </p:pic>
      <p:sp>
        <p:nvSpPr>
          <p:cNvPr id="1153" name="Google Shape;1153;p80"/>
          <p:cNvSpPr txBox="1"/>
          <p:nvPr/>
        </p:nvSpPr>
        <p:spPr>
          <a:xfrm>
            <a:off x="2754186" y="1682565"/>
            <a:ext cx="5202859" cy="1988066"/>
          </a:xfrm>
          <a:prstGeom prst="rect">
            <a:avLst/>
          </a:prstGeom>
          <a:noFill/>
          <a:ln>
            <a:noFill/>
          </a:ln>
        </p:spPr>
        <p:txBody>
          <a:bodyPr spcFirstLastPara="1" wrap="square" lIns="0" tIns="86425" rIns="0" bIns="0" anchor="t" anchorCtr="0">
            <a:spAutoFit/>
          </a:bodyPr>
          <a:lstStyle/>
          <a:p>
            <a:pPr marL="11527" marR="0" lvl="0" indent="0" algn="l" rtl="0">
              <a:spcBef>
                <a:spcPts val="0"/>
              </a:spcBef>
              <a:spcAft>
                <a:spcPts val="0"/>
              </a:spcAft>
              <a:buNone/>
            </a:pPr>
            <a:r>
              <a:rPr lang="en-US" sz="1634">
                <a:solidFill>
                  <a:schemeClr val="dk1"/>
                </a:solidFill>
                <a:latin typeface="Tahoma"/>
                <a:ea typeface="Tahoma"/>
                <a:cs typeface="Tahoma"/>
                <a:sym typeface="Tahoma"/>
              </a:rPr>
              <a:t>The HDFS java client api</a:t>
            </a:r>
            <a:r>
              <a:rPr lang="en-US" sz="1634">
                <a:solidFill>
                  <a:schemeClr val="dk1"/>
                </a:solidFill>
                <a:latin typeface="Arial"/>
                <a:ea typeface="Arial"/>
                <a:cs typeface="Arial"/>
                <a:sym typeface="Arial"/>
              </a:rPr>
              <a:t>’</a:t>
            </a:r>
            <a:r>
              <a:rPr lang="en-US" sz="1634">
                <a:solidFill>
                  <a:schemeClr val="dk1"/>
                </a:solidFill>
                <a:latin typeface="Tahoma"/>
                <a:ea typeface="Tahoma"/>
                <a:cs typeface="Tahoma"/>
                <a:sym typeface="Tahoma"/>
              </a:rPr>
              <a:t>s can be used</a:t>
            </a:r>
            <a:endParaRPr sz="1634">
              <a:solidFill>
                <a:schemeClr val="dk1"/>
              </a:solidFill>
              <a:latin typeface="Tahoma"/>
              <a:ea typeface="Tahoma"/>
              <a:cs typeface="Tahoma"/>
              <a:sym typeface="Tahoma"/>
            </a:endParaRPr>
          </a:p>
          <a:p>
            <a:pPr marL="11527" marR="4611" lvl="0" indent="0" algn="l" rtl="0">
              <a:lnSpc>
                <a:spcPct val="161077"/>
              </a:lnSpc>
              <a:spcBef>
                <a:spcPts val="123"/>
              </a:spcBef>
              <a:spcAft>
                <a:spcPts val="0"/>
              </a:spcAft>
              <a:buNone/>
            </a:pPr>
            <a:r>
              <a:rPr lang="en-US" sz="1634">
                <a:solidFill>
                  <a:schemeClr val="dk1"/>
                </a:solidFill>
                <a:latin typeface="Tahoma"/>
                <a:ea typeface="Tahoma"/>
                <a:cs typeface="Tahoma"/>
                <a:sym typeface="Tahoma"/>
              </a:rPr>
              <a:t>Typically, files are moved from local filesystem into HDFS Using hadoop fs commands</a:t>
            </a:r>
            <a:endParaRPr sz="1634">
              <a:solidFill>
                <a:schemeClr val="dk1"/>
              </a:solidFill>
              <a:latin typeface="Tahoma"/>
              <a:ea typeface="Tahoma"/>
              <a:cs typeface="Tahoma"/>
              <a:sym typeface="Tahoma"/>
            </a:endParaRPr>
          </a:p>
          <a:p>
            <a:pPr marL="11527" marR="2486847" lvl="0" indent="0" algn="l" rtl="0">
              <a:lnSpc>
                <a:spcPct val="155507"/>
              </a:lnSpc>
              <a:spcBef>
                <a:spcPts val="73"/>
              </a:spcBef>
              <a:spcAft>
                <a:spcPts val="0"/>
              </a:spcAft>
              <a:buNone/>
            </a:pPr>
            <a:r>
              <a:rPr lang="en-US" sz="1634">
                <a:solidFill>
                  <a:schemeClr val="dk1"/>
                </a:solidFill>
                <a:latin typeface="Tahoma"/>
                <a:ea typeface="Tahoma"/>
                <a:cs typeface="Tahoma"/>
                <a:sym typeface="Tahoma"/>
              </a:rPr>
              <a:t>Through Hue (Cloudera SCM) Fuse</a:t>
            </a:r>
            <a:endParaRPr sz="1634">
              <a:solidFill>
                <a:schemeClr val="dk1"/>
              </a:solidFill>
              <a:latin typeface="Tahoma"/>
              <a:ea typeface="Tahoma"/>
              <a:cs typeface="Tahoma"/>
              <a:sym typeface="Tahoma"/>
            </a:endParaRPr>
          </a:p>
          <a:p>
            <a:pPr marL="11527" marR="0" lvl="0" indent="0" algn="l" rtl="0">
              <a:spcBef>
                <a:spcPts val="490"/>
              </a:spcBef>
              <a:spcAft>
                <a:spcPts val="0"/>
              </a:spcAft>
              <a:buNone/>
            </a:pPr>
            <a:r>
              <a:rPr lang="en-US" sz="1634">
                <a:solidFill>
                  <a:schemeClr val="dk1"/>
                </a:solidFill>
                <a:latin typeface="Tahoma"/>
                <a:ea typeface="Tahoma"/>
                <a:cs typeface="Tahoma"/>
                <a:sym typeface="Tahoma"/>
              </a:rPr>
              <a:t>HDFS DAV</a:t>
            </a:r>
            <a:endParaRPr sz="1634">
              <a:solidFill>
                <a:schemeClr val="dk1"/>
              </a:solidFill>
              <a:latin typeface="Tahoma"/>
              <a:ea typeface="Tahoma"/>
              <a:cs typeface="Tahoma"/>
              <a:sym typeface="Tahoma"/>
            </a:endParaRPr>
          </a:p>
        </p:txBody>
      </p:sp>
      <p:pic>
        <p:nvPicPr>
          <p:cNvPr id="1154" name="Google Shape;1154;p80"/>
          <p:cNvPicPr preferRelativeResize="0"/>
          <p:nvPr/>
        </p:nvPicPr>
        <p:blipFill rotWithShape="1">
          <a:blip r:embed="rId3">
            <a:alphaModFix/>
          </a:blip>
          <a:srcRect/>
          <a:stretch/>
        </p:blipFill>
        <p:spPr>
          <a:xfrm>
            <a:off x="2452324" y="2208678"/>
            <a:ext cx="92371" cy="92370"/>
          </a:xfrm>
          <a:prstGeom prst="rect">
            <a:avLst/>
          </a:prstGeom>
          <a:noFill/>
          <a:ln>
            <a:noFill/>
          </a:ln>
        </p:spPr>
      </p:pic>
      <p:pic>
        <p:nvPicPr>
          <p:cNvPr id="1155" name="Google Shape;1155;p80"/>
          <p:cNvPicPr preferRelativeResize="0"/>
          <p:nvPr/>
        </p:nvPicPr>
        <p:blipFill rotWithShape="1">
          <a:blip r:embed="rId3">
            <a:alphaModFix/>
          </a:blip>
          <a:srcRect/>
          <a:stretch/>
        </p:blipFill>
        <p:spPr>
          <a:xfrm>
            <a:off x="2452324" y="2542933"/>
            <a:ext cx="92371" cy="92370"/>
          </a:xfrm>
          <a:prstGeom prst="rect">
            <a:avLst/>
          </a:prstGeom>
          <a:noFill/>
          <a:ln>
            <a:noFill/>
          </a:ln>
        </p:spPr>
      </p:pic>
      <p:pic>
        <p:nvPicPr>
          <p:cNvPr id="1156" name="Google Shape;1156;p80"/>
          <p:cNvPicPr preferRelativeResize="0"/>
          <p:nvPr/>
        </p:nvPicPr>
        <p:blipFill rotWithShape="1">
          <a:blip r:embed="rId3">
            <a:alphaModFix/>
          </a:blip>
          <a:srcRect/>
          <a:stretch/>
        </p:blipFill>
        <p:spPr>
          <a:xfrm>
            <a:off x="2452324" y="2877189"/>
            <a:ext cx="92371" cy="92370"/>
          </a:xfrm>
          <a:prstGeom prst="rect">
            <a:avLst/>
          </a:prstGeom>
          <a:noFill/>
          <a:ln>
            <a:noFill/>
          </a:ln>
        </p:spPr>
      </p:pic>
      <p:pic>
        <p:nvPicPr>
          <p:cNvPr id="1157" name="Google Shape;1157;p80"/>
          <p:cNvPicPr preferRelativeResize="0"/>
          <p:nvPr/>
        </p:nvPicPr>
        <p:blipFill rotWithShape="1">
          <a:blip r:embed="rId3">
            <a:alphaModFix/>
          </a:blip>
          <a:srcRect/>
          <a:stretch/>
        </p:blipFill>
        <p:spPr>
          <a:xfrm>
            <a:off x="2452324" y="3199918"/>
            <a:ext cx="92371" cy="92370"/>
          </a:xfrm>
          <a:prstGeom prst="rect">
            <a:avLst/>
          </a:prstGeom>
          <a:noFill/>
          <a:ln>
            <a:noFill/>
          </a:ln>
        </p:spPr>
      </p:pic>
      <p:pic>
        <p:nvPicPr>
          <p:cNvPr id="1158" name="Google Shape;1158;p80"/>
          <p:cNvPicPr preferRelativeResize="0"/>
          <p:nvPr/>
        </p:nvPicPr>
        <p:blipFill rotWithShape="1">
          <a:blip r:embed="rId3">
            <a:alphaModFix/>
          </a:blip>
          <a:srcRect/>
          <a:stretch/>
        </p:blipFill>
        <p:spPr>
          <a:xfrm>
            <a:off x="2452324" y="3534174"/>
            <a:ext cx="92371" cy="92370"/>
          </a:xfrm>
          <a:prstGeom prst="rect">
            <a:avLst/>
          </a:prstGeom>
          <a:noFill/>
          <a:ln>
            <a:noFill/>
          </a:ln>
        </p:spPr>
      </p:pic>
      <p:sp>
        <p:nvSpPr>
          <p:cNvPr id="1159" name="Google Shape;1159;p80"/>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80</a:t>
            </a:fld>
            <a:endParaRPr sz="900" b="0" i="0">
              <a:solidFill>
                <a:srgbClr val="008CBA"/>
              </a:solidFill>
              <a:latin typeface="Tahoma"/>
              <a:ea typeface="Tahoma"/>
              <a:cs typeface="Tahoma"/>
              <a:sym typeface="Tahom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81"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hadoop</a:t>
            </a:r>
            <a:r>
              <a:rPr lang="en-US"/>
              <a:t> </a:t>
            </a:r>
            <a:r>
              <a:rPr lang="en-US" u="none"/>
              <a:t>fs</a:t>
            </a:r>
            <a:r>
              <a:rPr lang="en-US"/>
              <a:t> examples</a:t>
            </a:r>
            <a:r>
              <a:rPr lang="en-US" u="none"/>
              <a:t>	</a:t>
            </a:r>
            <a:endParaRPr/>
          </a:p>
        </p:txBody>
      </p:sp>
      <p:pic>
        <p:nvPicPr>
          <p:cNvPr id="1165" name="Google Shape;1165;p81"/>
          <p:cNvPicPr preferRelativeResize="0"/>
          <p:nvPr/>
        </p:nvPicPr>
        <p:blipFill rotWithShape="1">
          <a:blip r:embed="rId3">
            <a:alphaModFix/>
          </a:blip>
          <a:srcRect/>
          <a:stretch/>
        </p:blipFill>
        <p:spPr>
          <a:xfrm>
            <a:off x="2449524" y="1871662"/>
            <a:ext cx="82106" cy="82106"/>
          </a:xfrm>
          <a:prstGeom prst="rect">
            <a:avLst/>
          </a:prstGeom>
          <a:noFill/>
          <a:ln>
            <a:noFill/>
          </a:ln>
        </p:spPr>
      </p:pic>
      <p:sp>
        <p:nvSpPr>
          <p:cNvPr id="1166" name="Google Shape;1166;p81"/>
          <p:cNvSpPr txBox="1"/>
          <p:nvPr/>
        </p:nvSpPr>
        <p:spPr>
          <a:xfrm>
            <a:off x="2669176" y="1736622"/>
            <a:ext cx="4568926" cy="3400116"/>
          </a:xfrm>
          <a:prstGeom prst="rect">
            <a:avLst/>
          </a:prstGeom>
          <a:noFill/>
          <a:ln>
            <a:noFill/>
          </a:ln>
        </p:spPr>
        <p:txBody>
          <a:bodyPr spcFirstLastPara="1" wrap="square" lIns="0" tIns="32825" rIns="0" bIns="0" anchor="t" anchorCtr="0">
            <a:spAutoFit/>
          </a:bodyPr>
          <a:lstStyle/>
          <a:p>
            <a:pPr marL="96246" marR="0" lvl="0" indent="0" algn="l" rtl="0">
              <a:spcBef>
                <a:spcPts val="0"/>
              </a:spcBef>
              <a:spcAft>
                <a:spcPts val="0"/>
              </a:spcAft>
              <a:buNone/>
            </a:pPr>
            <a:r>
              <a:rPr lang="en-US" sz="1452">
                <a:solidFill>
                  <a:schemeClr val="dk1"/>
                </a:solidFill>
                <a:latin typeface="Arial"/>
                <a:ea typeface="Arial"/>
                <a:cs typeface="Arial"/>
                <a:sym typeface="Arial"/>
              </a:rPr>
              <a:t>Get directory listing of user home directory in hdfs</a:t>
            </a:r>
            <a:endParaRPr sz="1452">
              <a:solidFill>
                <a:schemeClr val="dk1"/>
              </a:solidFill>
              <a:latin typeface="Arial"/>
              <a:ea typeface="Arial"/>
              <a:cs typeface="Arial"/>
              <a:sym typeface="Arial"/>
            </a:endParaRPr>
          </a:p>
          <a:p>
            <a:pPr marL="292197" marR="0" lvl="0" indent="-280671" algn="l" rtl="0">
              <a:spcBef>
                <a:spcPts val="208"/>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hadoop fs -ls</a:t>
            </a:r>
            <a:endParaRPr sz="1452">
              <a:solidFill>
                <a:schemeClr val="dk1"/>
              </a:solidFill>
              <a:latin typeface="Arial"/>
              <a:ea typeface="Arial"/>
              <a:cs typeface="Arial"/>
              <a:sym typeface="Arial"/>
            </a:endParaRPr>
          </a:p>
          <a:p>
            <a:pPr marL="96246" marR="0" lvl="0" indent="0" algn="l" rtl="0">
              <a:spcBef>
                <a:spcPts val="508"/>
              </a:spcBef>
              <a:spcAft>
                <a:spcPts val="0"/>
              </a:spcAft>
              <a:buNone/>
            </a:pPr>
            <a:r>
              <a:rPr lang="en-US" sz="1452">
                <a:solidFill>
                  <a:schemeClr val="dk1"/>
                </a:solidFill>
                <a:latin typeface="Arial"/>
                <a:ea typeface="Arial"/>
                <a:cs typeface="Arial"/>
                <a:sym typeface="Arial"/>
              </a:rPr>
              <a:t>Get directory listing of root directory</a:t>
            </a:r>
            <a:endParaRPr sz="1452">
              <a:solidFill>
                <a:schemeClr val="dk1"/>
              </a:solidFill>
              <a:latin typeface="Arial"/>
              <a:ea typeface="Arial"/>
              <a:cs typeface="Arial"/>
              <a:sym typeface="Arial"/>
            </a:endParaRPr>
          </a:p>
          <a:p>
            <a:pPr marL="292197" marR="0" lvl="0" indent="-280671" algn="l" rtl="0">
              <a:spcBef>
                <a:spcPts val="286"/>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hadoop fs -ls /</a:t>
            </a:r>
            <a:endParaRPr sz="1452">
              <a:solidFill>
                <a:schemeClr val="dk1"/>
              </a:solidFill>
              <a:latin typeface="Arial"/>
              <a:ea typeface="Arial"/>
              <a:cs typeface="Arial"/>
              <a:sym typeface="Arial"/>
            </a:endParaRPr>
          </a:p>
          <a:p>
            <a:pPr marL="96246" marR="0" lvl="0" indent="0" algn="l" rtl="0">
              <a:spcBef>
                <a:spcPts val="513"/>
              </a:spcBef>
              <a:spcAft>
                <a:spcPts val="0"/>
              </a:spcAft>
              <a:buNone/>
            </a:pPr>
            <a:r>
              <a:rPr lang="en-US" sz="1452">
                <a:solidFill>
                  <a:schemeClr val="dk1"/>
                </a:solidFill>
                <a:latin typeface="Arial"/>
                <a:ea typeface="Arial"/>
                <a:cs typeface="Arial"/>
                <a:sym typeface="Arial"/>
              </a:rPr>
              <a:t>Copy a local file to hdfs (user home directory)</a:t>
            </a:r>
            <a:endParaRPr sz="1452">
              <a:solidFill>
                <a:schemeClr val="dk1"/>
              </a:solidFill>
              <a:latin typeface="Arial"/>
              <a:ea typeface="Arial"/>
              <a:cs typeface="Arial"/>
              <a:sym typeface="Arial"/>
            </a:endParaRPr>
          </a:p>
          <a:p>
            <a:pPr marL="96246" marR="774006" lvl="0" indent="-115253" algn="l" rtl="0">
              <a:lnSpc>
                <a:spcPct val="159986"/>
              </a:lnSpc>
              <a:spcBef>
                <a:spcPts val="245"/>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	hadoop fs -copyFromLocal foo.txt foo.txt Move a file from hdfs to local disk</a:t>
            </a:r>
            <a:endParaRPr sz="1452">
              <a:solidFill>
                <a:schemeClr val="dk1"/>
              </a:solidFill>
              <a:latin typeface="Arial"/>
              <a:ea typeface="Arial"/>
              <a:cs typeface="Arial"/>
              <a:sym typeface="Arial"/>
            </a:endParaRPr>
          </a:p>
          <a:p>
            <a:pPr marL="96246" marR="4611" lvl="0" indent="-115253" algn="l" rtl="0">
              <a:lnSpc>
                <a:spcPct val="159986"/>
              </a:lnSpc>
              <a:spcBef>
                <a:spcPts val="73"/>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	hadoop fs	-copyToLocal /user/geert/foo.txt foo.txt Display the contents of a file</a:t>
            </a:r>
            <a:endParaRPr sz="1452">
              <a:solidFill>
                <a:schemeClr val="dk1"/>
              </a:solidFill>
              <a:latin typeface="Arial"/>
              <a:ea typeface="Arial"/>
              <a:cs typeface="Arial"/>
              <a:sym typeface="Arial"/>
            </a:endParaRPr>
          </a:p>
          <a:p>
            <a:pPr marL="96246" marR="783227" lvl="0" indent="-115253" algn="l" rtl="0">
              <a:lnSpc>
                <a:spcPct val="166253"/>
              </a:lnSpc>
              <a:spcBef>
                <a:spcPts val="0"/>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	hadoop fs -cat /data/as400/customers.txt Make a new directory (user home directory)</a:t>
            </a:r>
            <a:endParaRPr sz="1452">
              <a:solidFill>
                <a:schemeClr val="dk1"/>
              </a:solidFill>
              <a:latin typeface="Arial"/>
              <a:ea typeface="Arial"/>
              <a:cs typeface="Arial"/>
              <a:sym typeface="Arial"/>
            </a:endParaRPr>
          </a:p>
          <a:p>
            <a:pPr marL="292197" marR="0" lvl="0" indent="-280671" algn="l" rtl="0">
              <a:spcBef>
                <a:spcPts val="5"/>
              </a:spcBef>
              <a:spcAft>
                <a:spcPts val="0"/>
              </a:spcAft>
              <a:buClr>
                <a:srgbClr val="008CBA"/>
              </a:buClr>
              <a:buSzPts val="1815"/>
              <a:buFont typeface="Merriweather Sans"/>
              <a:buChar char="-"/>
            </a:pPr>
            <a:r>
              <a:rPr lang="en-US" sz="1452">
                <a:solidFill>
                  <a:schemeClr val="dk1"/>
                </a:solidFill>
                <a:latin typeface="Arial"/>
                <a:ea typeface="Arial"/>
                <a:cs typeface="Arial"/>
                <a:sym typeface="Arial"/>
              </a:rPr>
              <a:t>hadoop fs -mkdir output</a:t>
            </a:r>
            <a:endParaRPr sz="1452">
              <a:solidFill>
                <a:schemeClr val="dk1"/>
              </a:solidFill>
              <a:latin typeface="Arial"/>
              <a:ea typeface="Arial"/>
              <a:cs typeface="Arial"/>
              <a:sym typeface="Arial"/>
            </a:endParaRPr>
          </a:p>
        </p:txBody>
      </p:sp>
      <p:pic>
        <p:nvPicPr>
          <p:cNvPr id="1167" name="Google Shape;1167;p81"/>
          <p:cNvPicPr preferRelativeResize="0"/>
          <p:nvPr/>
        </p:nvPicPr>
        <p:blipFill rotWithShape="1">
          <a:blip r:embed="rId3">
            <a:alphaModFix/>
          </a:blip>
          <a:srcRect/>
          <a:stretch/>
        </p:blipFill>
        <p:spPr>
          <a:xfrm>
            <a:off x="2449524" y="2460989"/>
            <a:ext cx="82106" cy="82106"/>
          </a:xfrm>
          <a:prstGeom prst="rect">
            <a:avLst/>
          </a:prstGeom>
          <a:noFill/>
          <a:ln>
            <a:noFill/>
          </a:ln>
        </p:spPr>
      </p:pic>
      <p:pic>
        <p:nvPicPr>
          <p:cNvPr id="1168" name="Google Shape;1168;p81"/>
          <p:cNvPicPr preferRelativeResize="0"/>
          <p:nvPr/>
        </p:nvPicPr>
        <p:blipFill rotWithShape="1">
          <a:blip r:embed="rId3">
            <a:alphaModFix/>
          </a:blip>
          <a:srcRect/>
          <a:stretch/>
        </p:blipFill>
        <p:spPr>
          <a:xfrm>
            <a:off x="2449524" y="3060344"/>
            <a:ext cx="82106" cy="82106"/>
          </a:xfrm>
          <a:prstGeom prst="rect">
            <a:avLst/>
          </a:prstGeom>
          <a:noFill/>
          <a:ln>
            <a:noFill/>
          </a:ln>
        </p:spPr>
      </p:pic>
      <p:pic>
        <p:nvPicPr>
          <p:cNvPr id="1169" name="Google Shape;1169;p81"/>
          <p:cNvPicPr preferRelativeResize="0"/>
          <p:nvPr/>
        </p:nvPicPr>
        <p:blipFill rotWithShape="1">
          <a:blip r:embed="rId3">
            <a:alphaModFix/>
          </a:blip>
          <a:srcRect/>
          <a:stretch/>
        </p:blipFill>
        <p:spPr>
          <a:xfrm>
            <a:off x="2449524" y="3659699"/>
            <a:ext cx="82106" cy="82106"/>
          </a:xfrm>
          <a:prstGeom prst="rect">
            <a:avLst/>
          </a:prstGeom>
          <a:noFill/>
          <a:ln>
            <a:noFill/>
          </a:ln>
        </p:spPr>
      </p:pic>
      <p:pic>
        <p:nvPicPr>
          <p:cNvPr id="1170" name="Google Shape;1170;p81"/>
          <p:cNvPicPr preferRelativeResize="0"/>
          <p:nvPr/>
        </p:nvPicPr>
        <p:blipFill rotWithShape="1">
          <a:blip r:embed="rId3">
            <a:alphaModFix/>
          </a:blip>
          <a:srcRect/>
          <a:stretch/>
        </p:blipFill>
        <p:spPr>
          <a:xfrm>
            <a:off x="2449524" y="4259053"/>
            <a:ext cx="82106" cy="82106"/>
          </a:xfrm>
          <a:prstGeom prst="rect">
            <a:avLst/>
          </a:prstGeom>
          <a:noFill/>
          <a:ln>
            <a:noFill/>
          </a:ln>
        </p:spPr>
      </p:pic>
      <p:pic>
        <p:nvPicPr>
          <p:cNvPr id="1171" name="Google Shape;1171;p81"/>
          <p:cNvPicPr preferRelativeResize="0"/>
          <p:nvPr/>
        </p:nvPicPr>
        <p:blipFill rotWithShape="1">
          <a:blip r:embed="rId3">
            <a:alphaModFix/>
          </a:blip>
          <a:srcRect/>
          <a:stretch/>
        </p:blipFill>
        <p:spPr>
          <a:xfrm>
            <a:off x="2449524" y="4869932"/>
            <a:ext cx="82106" cy="82107"/>
          </a:xfrm>
          <a:prstGeom prst="rect">
            <a:avLst/>
          </a:prstGeom>
          <a:noFill/>
          <a:ln>
            <a:noFill/>
          </a:ln>
        </p:spPr>
      </p:pic>
      <p:sp>
        <p:nvSpPr>
          <p:cNvPr id="1172" name="Google Shape;1172;p81"/>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81</a:t>
            </a:fld>
            <a:endParaRPr sz="900" b="0" i="0">
              <a:solidFill>
                <a:srgbClr val="008CBA"/>
              </a:solidFill>
              <a:latin typeface="Tahoma"/>
              <a:ea typeface="Tahoma"/>
              <a:cs typeface="Tahoma"/>
              <a:sym typeface="Tahom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82"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hadoop</a:t>
            </a:r>
            <a:r>
              <a:rPr lang="en-US"/>
              <a:t> </a:t>
            </a:r>
            <a:r>
              <a:rPr lang="en-US" u="none"/>
              <a:t>fs</a:t>
            </a:r>
            <a:r>
              <a:rPr lang="en-US"/>
              <a:t> examples</a:t>
            </a:r>
            <a:r>
              <a:rPr lang="en-US" u="none"/>
              <a:t>	</a:t>
            </a:r>
            <a:endParaRPr/>
          </a:p>
        </p:txBody>
      </p:sp>
      <p:pic>
        <p:nvPicPr>
          <p:cNvPr id="1178" name="Google Shape;1178;p82"/>
          <p:cNvPicPr preferRelativeResize="0"/>
          <p:nvPr/>
        </p:nvPicPr>
        <p:blipFill rotWithShape="1">
          <a:blip r:embed="rId3">
            <a:alphaModFix/>
          </a:blip>
          <a:srcRect/>
          <a:stretch/>
        </p:blipFill>
        <p:spPr>
          <a:xfrm>
            <a:off x="2452324" y="1884450"/>
            <a:ext cx="92371" cy="92370"/>
          </a:xfrm>
          <a:prstGeom prst="rect">
            <a:avLst/>
          </a:prstGeom>
          <a:noFill/>
          <a:ln>
            <a:noFill/>
          </a:ln>
        </p:spPr>
      </p:pic>
      <p:sp>
        <p:nvSpPr>
          <p:cNvPr id="1179" name="Google Shape;1179;p82"/>
          <p:cNvSpPr txBox="1"/>
          <p:nvPr/>
        </p:nvSpPr>
        <p:spPr>
          <a:xfrm>
            <a:off x="2669175" y="1744921"/>
            <a:ext cx="6103044" cy="1751324"/>
          </a:xfrm>
          <a:prstGeom prst="rect">
            <a:avLst/>
          </a:prstGeom>
          <a:noFill/>
          <a:ln>
            <a:noFill/>
          </a:ln>
        </p:spPr>
        <p:txBody>
          <a:bodyPr spcFirstLastPara="1" wrap="square" lIns="0" tIns="24200" rIns="0" bIns="0" anchor="t" anchorCtr="0">
            <a:spAutoFit/>
          </a:bodyPr>
          <a:lstStyle/>
          <a:p>
            <a:pPr marL="96246" marR="0" lvl="0" indent="0" algn="l" rtl="0">
              <a:spcBef>
                <a:spcPts val="0"/>
              </a:spcBef>
              <a:spcAft>
                <a:spcPts val="0"/>
              </a:spcAft>
              <a:buNone/>
            </a:pPr>
            <a:r>
              <a:rPr lang="en-US" sz="1634">
                <a:solidFill>
                  <a:schemeClr val="dk1"/>
                </a:solidFill>
                <a:latin typeface="Arial"/>
                <a:ea typeface="Arial"/>
                <a:cs typeface="Arial"/>
                <a:sym typeface="Arial"/>
              </a:rPr>
              <a:t>Remove a directory</a:t>
            </a:r>
            <a:endParaRPr sz="1634">
              <a:solidFill>
                <a:schemeClr val="dk1"/>
              </a:solidFill>
              <a:latin typeface="Arial"/>
              <a:ea typeface="Arial"/>
              <a:cs typeface="Arial"/>
              <a:sym typeface="Arial"/>
            </a:endParaRPr>
          </a:p>
          <a:p>
            <a:pPr marL="292197" marR="0" lvl="0" indent="-280671" algn="l" rtl="0">
              <a:spcBef>
                <a:spcPts val="127"/>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hadoop	fs	-rm /business/data</a:t>
            </a:r>
            <a:endParaRPr sz="1634">
              <a:solidFill>
                <a:schemeClr val="dk1"/>
              </a:solidFill>
              <a:latin typeface="Arial"/>
              <a:ea typeface="Arial"/>
              <a:cs typeface="Arial"/>
              <a:sym typeface="Arial"/>
            </a:endParaRPr>
          </a:p>
          <a:p>
            <a:pPr marL="96246" marR="0" lvl="0" indent="0" algn="l" rtl="0">
              <a:spcBef>
                <a:spcPts val="558"/>
              </a:spcBef>
              <a:spcAft>
                <a:spcPts val="0"/>
              </a:spcAft>
              <a:buNone/>
            </a:pPr>
            <a:r>
              <a:rPr lang="en-US" sz="1634">
                <a:solidFill>
                  <a:schemeClr val="dk1"/>
                </a:solidFill>
                <a:latin typeface="Arial"/>
                <a:ea typeface="Arial"/>
                <a:cs typeface="Arial"/>
                <a:sym typeface="Arial"/>
              </a:rPr>
              <a:t>Remove a directory and all its content (recursive)</a:t>
            </a:r>
            <a:endParaRPr sz="1634">
              <a:solidFill>
                <a:schemeClr val="dk1"/>
              </a:solidFill>
              <a:latin typeface="Arial"/>
              <a:ea typeface="Arial"/>
              <a:cs typeface="Arial"/>
              <a:sym typeface="Arial"/>
            </a:endParaRPr>
          </a:p>
          <a:p>
            <a:pPr marL="292197" marR="0" lvl="0" indent="-280671" algn="l" rtl="0">
              <a:spcBef>
                <a:spcPts val="204"/>
              </a:spcBef>
              <a:spcAft>
                <a:spcPts val="0"/>
              </a:spcAft>
              <a:buClr>
                <a:srgbClr val="008CBA"/>
              </a:buClr>
              <a:buSzPts val="2043"/>
              <a:buFont typeface="Merriweather Sans"/>
              <a:buChar char="-"/>
            </a:pPr>
            <a:r>
              <a:rPr lang="en-US" sz="1634">
                <a:solidFill>
                  <a:schemeClr val="dk1"/>
                </a:solidFill>
                <a:latin typeface="Arial"/>
                <a:ea typeface="Arial"/>
                <a:cs typeface="Arial"/>
                <a:sym typeface="Arial"/>
              </a:rPr>
              <a:t>hadoop	fs	-rmr	/business/data</a:t>
            </a:r>
            <a:endParaRPr sz="1634">
              <a:solidFill>
                <a:schemeClr val="dk1"/>
              </a:solidFill>
              <a:latin typeface="Arial"/>
              <a:ea typeface="Arial"/>
              <a:cs typeface="Arial"/>
              <a:sym typeface="Arial"/>
            </a:endParaRPr>
          </a:p>
          <a:p>
            <a:pPr marL="96246" marR="0" lvl="0" indent="0" algn="l" rtl="0">
              <a:spcBef>
                <a:spcPts val="558"/>
              </a:spcBef>
              <a:spcAft>
                <a:spcPts val="0"/>
              </a:spcAft>
              <a:buNone/>
            </a:pPr>
            <a:r>
              <a:rPr lang="en-US" sz="1634">
                <a:solidFill>
                  <a:schemeClr val="dk1"/>
                </a:solidFill>
                <a:latin typeface="Arial"/>
                <a:ea typeface="Arial"/>
                <a:cs typeface="Arial"/>
                <a:sym typeface="Arial"/>
              </a:rPr>
              <a:t>More information about hadoop fs command options</a:t>
            </a:r>
            <a:endParaRPr sz="1634">
              <a:solidFill>
                <a:schemeClr val="dk1"/>
              </a:solidFill>
              <a:latin typeface="Arial"/>
              <a:ea typeface="Arial"/>
              <a:cs typeface="Arial"/>
              <a:sym typeface="Arial"/>
            </a:endParaRPr>
          </a:p>
          <a:p>
            <a:pPr marL="292197" marR="0" lvl="0" indent="-280671" algn="l" rtl="0">
              <a:spcBef>
                <a:spcPts val="204"/>
              </a:spcBef>
              <a:spcAft>
                <a:spcPts val="0"/>
              </a:spcAft>
              <a:buClr>
                <a:srgbClr val="008CBA"/>
              </a:buClr>
              <a:buSzPts val="2043"/>
              <a:buFont typeface="Merriweather Sans"/>
              <a:buChar char="-"/>
            </a:pPr>
            <a:r>
              <a:rPr lang="en-US" sz="1634" u="sng">
                <a:solidFill>
                  <a:srgbClr val="009999"/>
                </a:solidFill>
                <a:latin typeface="Arial"/>
                <a:ea typeface="Arial"/>
                <a:cs typeface="Arial"/>
                <a:sym typeface="Arial"/>
                <a:hlinkClick r:id="rId4">
                  <a:extLst>
                    <a:ext uri="{A12FA001-AC4F-418D-AE19-62706E023703}">
                      <ahyp:hlinkClr xmlns:ahyp="http://schemas.microsoft.com/office/drawing/2018/hyperlinkcolor" val="tx"/>
                    </a:ext>
                  </a:extLst>
                </a:hlinkClick>
              </a:rPr>
              <a:t>http://hadoop.apache.org/common/docs/r0.20.2/hdfs_shell.html</a:t>
            </a:r>
            <a:endParaRPr sz="1634">
              <a:solidFill>
                <a:schemeClr val="dk1"/>
              </a:solidFill>
              <a:latin typeface="Arial"/>
              <a:ea typeface="Arial"/>
              <a:cs typeface="Arial"/>
              <a:sym typeface="Arial"/>
            </a:endParaRPr>
          </a:p>
        </p:txBody>
      </p:sp>
      <p:pic>
        <p:nvPicPr>
          <p:cNvPr id="1180" name="Google Shape;1180;p82"/>
          <p:cNvPicPr preferRelativeResize="0"/>
          <p:nvPr/>
        </p:nvPicPr>
        <p:blipFill rotWithShape="1">
          <a:blip r:embed="rId3">
            <a:alphaModFix/>
          </a:blip>
          <a:srcRect/>
          <a:stretch/>
        </p:blipFill>
        <p:spPr>
          <a:xfrm>
            <a:off x="2452324" y="2531407"/>
            <a:ext cx="92371" cy="92370"/>
          </a:xfrm>
          <a:prstGeom prst="rect">
            <a:avLst/>
          </a:prstGeom>
          <a:noFill/>
          <a:ln>
            <a:noFill/>
          </a:ln>
        </p:spPr>
      </p:pic>
      <p:pic>
        <p:nvPicPr>
          <p:cNvPr id="1181" name="Google Shape;1181;p82"/>
          <p:cNvPicPr preferRelativeResize="0"/>
          <p:nvPr/>
        </p:nvPicPr>
        <p:blipFill rotWithShape="1">
          <a:blip r:embed="rId3">
            <a:alphaModFix/>
          </a:blip>
          <a:srcRect/>
          <a:stretch/>
        </p:blipFill>
        <p:spPr>
          <a:xfrm>
            <a:off x="2452324" y="3188392"/>
            <a:ext cx="92371" cy="92370"/>
          </a:xfrm>
          <a:prstGeom prst="rect">
            <a:avLst/>
          </a:prstGeom>
          <a:noFill/>
          <a:ln>
            <a:noFill/>
          </a:ln>
        </p:spPr>
      </p:pic>
      <p:sp>
        <p:nvSpPr>
          <p:cNvPr id="1182" name="Google Shape;1182;p82"/>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82</a:t>
            </a:fld>
            <a:endParaRPr sz="900" b="0" i="0">
              <a:solidFill>
                <a:srgbClr val="008CBA"/>
              </a:solidFill>
              <a:latin typeface="Tahoma"/>
              <a:ea typeface="Tahoma"/>
              <a:cs typeface="Tahoma"/>
              <a:sym typeface="Tahom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83"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hadoop fs examples	</a:t>
            </a:r>
            <a:endParaRPr/>
          </a:p>
        </p:txBody>
      </p:sp>
      <p:pic>
        <p:nvPicPr>
          <p:cNvPr id="1188" name="Google Shape;1188;p83"/>
          <p:cNvPicPr preferRelativeResize="0"/>
          <p:nvPr/>
        </p:nvPicPr>
        <p:blipFill rotWithShape="1">
          <a:blip r:embed="rId3">
            <a:alphaModFix/>
          </a:blip>
          <a:srcRect/>
          <a:stretch/>
        </p:blipFill>
        <p:spPr>
          <a:xfrm>
            <a:off x="4627954" y="525576"/>
            <a:ext cx="6126236" cy="4868577"/>
          </a:xfrm>
          <a:prstGeom prst="rect">
            <a:avLst/>
          </a:prstGeom>
          <a:noFill/>
          <a:ln>
            <a:noFill/>
          </a:ln>
        </p:spPr>
      </p:pic>
      <p:sp>
        <p:nvSpPr>
          <p:cNvPr id="1189" name="Google Shape;1189;p83"/>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83</a:t>
            </a:fld>
            <a:endParaRPr sz="998" b="0" i="0">
              <a:solidFill>
                <a:srgbClr val="7F7F7F"/>
              </a:solidFill>
              <a:latin typeface="Tahoma"/>
              <a:ea typeface="Tahoma"/>
              <a:cs typeface="Tahoma"/>
              <a:sym typeface="Tahom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84"/>
          <p:cNvSpPr txBox="1"/>
          <p:nvPr/>
        </p:nvSpPr>
        <p:spPr>
          <a:xfrm>
            <a:off x="6960075" y="5482132"/>
            <a:ext cx="113532" cy="1257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17">
                <a:solidFill>
                  <a:srgbClr val="008CBA"/>
                </a:solidFill>
                <a:latin typeface="Tahoma"/>
                <a:ea typeface="Tahoma"/>
                <a:cs typeface="Tahoma"/>
                <a:sym typeface="Tahoma"/>
              </a:rPr>
              <a:t>32</a:t>
            </a:r>
            <a:endParaRPr sz="817">
              <a:solidFill>
                <a:schemeClr val="dk1"/>
              </a:solidFill>
              <a:latin typeface="Tahoma"/>
              <a:ea typeface="Tahoma"/>
              <a:cs typeface="Tahoma"/>
              <a:sym typeface="Tahoma"/>
            </a:endParaRPr>
          </a:p>
        </p:txBody>
      </p:sp>
      <p:grpSp>
        <p:nvGrpSpPr>
          <p:cNvPr id="1195" name="Google Shape;1195;p84"/>
          <p:cNvGrpSpPr/>
          <p:nvPr/>
        </p:nvGrpSpPr>
        <p:grpSpPr>
          <a:xfrm>
            <a:off x="2440386" y="1772524"/>
            <a:ext cx="7610070" cy="3926059"/>
            <a:chOff x="1318755" y="1953058"/>
            <a:chExt cx="8385169" cy="4325935"/>
          </a:xfrm>
        </p:grpSpPr>
        <p:pic>
          <p:nvPicPr>
            <p:cNvPr id="1196" name="Google Shape;1196;p84"/>
            <p:cNvPicPr preferRelativeResize="0"/>
            <p:nvPr/>
          </p:nvPicPr>
          <p:blipFill rotWithShape="1">
            <a:blip r:embed="rId3">
              <a:alphaModFix/>
            </a:blip>
            <a:srcRect/>
            <a:stretch/>
          </p:blipFill>
          <p:spPr>
            <a:xfrm>
              <a:off x="1318755" y="1953058"/>
              <a:ext cx="5465757" cy="2762248"/>
            </a:xfrm>
            <a:prstGeom prst="rect">
              <a:avLst/>
            </a:prstGeom>
            <a:noFill/>
            <a:ln>
              <a:noFill/>
            </a:ln>
          </p:spPr>
        </p:pic>
        <p:pic>
          <p:nvPicPr>
            <p:cNvPr id="1197" name="Google Shape;1197;p84"/>
            <p:cNvPicPr preferRelativeResize="0"/>
            <p:nvPr/>
          </p:nvPicPr>
          <p:blipFill rotWithShape="1">
            <a:blip r:embed="rId4">
              <a:alphaModFix/>
            </a:blip>
            <a:srcRect/>
            <a:stretch/>
          </p:blipFill>
          <p:spPr>
            <a:xfrm>
              <a:off x="3525380" y="3157970"/>
              <a:ext cx="6178544" cy="3121023"/>
            </a:xfrm>
            <a:prstGeom prst="rect">
              <a:avLst/>
            </a:prstGeom>
            <a:noFill/>
            <a:ln>
              <a:noFill/>
            </a:ln>
          </p:spPr>
        </p:pic>
      </p:grpSp>
      <p:sp>
        <p:nvSpPr>
          <p:cNvPr id="1198" name="Google Shape;1198;p84"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Hadoop</a:t>
            </a:r>
            <a:r>
              <a:rPr lang="en-US"/>
              <a:t> </a:t>
            </a:r>
            <a:r>
              <a:rPr lang="en-US" u="none"/>
              <a:t>Namenode</a:t>
            </a:r>
            <a:r>
              <a:rPr lang="en-US"/>
              <a:t> webpage</a:t>
            </a:r>
            <a:r>
              <a:rPr lang="en-US" u="none"/>
              <a:t>	</a:t>
            </a:r>
            <a:endParaRPr/>
          </a:p>
        </p:txBody>
      </p:sp>
      <p:sp>
        <p:nvSpPr>
          <p:cNvPr id="1199" name="Google Shape;1199;p84"/>
          <p:cNvSpPr txBox="1"/>
          <p:nvPr/>
        </p:nvSpPr>
        <p:spPr>
          <a:xfrm>
            <a:off x="9553618" y="5430663"/>
            <a:ext cx="136584" cy="137379"/>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817">
                <a:solidFill>
                  <a:srgbClr val="008CBA"/>
                </a:solidFill>
                <a:latin typeface="Tahoma"/>
                <a:ea typeface="Tahoma"/>
                <a:cs typeface="Tahoma"/>
                <a:sym typeface="Tahoma"/>
              </a:rPr>
              <a:t>32</a:t>
            </a:r>
            <a:endParaRPr sz="817">
              <a:solidFill>
                <a:schemeClr val="dk1"/>
              </a:solidFill>
              <a:latin typeface="Tahoma"/>
              <a:ea typeface="Tahoma"/>
              <a:cs typeface="Tahoma"/>
              <a:sym typeface="Tahom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grpSp>
        <p:nvGrpSpPr>
          <p:cNvPr id="1204" name="Google Shape;1204;p85"/>
          <p:cNvGrpSpPr/>
          <p:nvPr/>
        </p:nvGrpSpPr>
        <p:grpSpPr>
          <a:xfrm>
            <a:off x="2433182" y="1748031"/>
            <a:ext cx="7519302" cy="3606211"/>
            <a:chOff x="1310817" y="1926070"/>
            <a:chExt cx="8285157" cy="3973511"/>
          </a:xfrm>
        </p:grpSpPr>
        <p:pic>
          <p:nvPicPr>
            <p:cNvPr id="1205" name="Google Shape;1205;p85"/>
            <p:cNvPicPr preferRelativeResize="0"/>
            <p:nvPr/>
          </p:nvPicPr>
          <p:blipFill rotWithShape="1">
            <a:blip r:embed="rId3">
              <a:alphaModFix/>
            </a:blip>
            <a:srcRect/>
            <a:stretch/>
          </p:blipFill>
          <p:spPr>
            <a:xfrm>
              <a:off x="1310817" y="1926070"/>
              <a:ext cx="6342057" cy="3206748"/>
            </a:xfrm>
            <a:prstGeom prst="rect">
              <a:avLst/>
            </a:prstGeom>
            <a:noFill/>
            <a:ln>
              <a:noFill/>
            </a:ln>
          </p:spPr>
        </p:pic>
        <p:pic>
          <p:nvPicPr>
            <p:cNvPr id="1206" name="Google Shape;1206;p85"/>
            <p:cNvPicPr preferRelativeResize="0"/>
            <p:nvPr/>
          </p:nvPicPr>
          <p:blipFill rotWithShape="1">
            <a:blip r:embed="rId4">
              <a:alphaModFix/>
            </a:blip>
            <a:srcRect/>
            <a:stretch/>
          </p:blipFill>
          <p:spPr>
            <a:xfrm>
              <a:off x="3888917" y="3005570"/>
              <a:ext cx="5707057" cy="2894011"/>
            </a:xfrm>
            <a:prstGeom prst="rect">
              <a:avLst/>
            </a:prstGeom>
            <a:noFill/>
            <a:ln>
              <a:noFill/>
            </a:ln>
          </p:spPr>
        </p:pic>
      </p:grpSp>
      <p:sp>
        <p:nvSpPr>
          <p:cNvPr id="1207" name="Google Shape;1207;p85"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Hadoop</a:t>
            </a:r>
            <a:r>
              <a:rPr lang="en-US"/>
              <a:t> </a:t>
            </a:r>
            <a:r>
              <a:rPr lang="en-US" u="none"/>
              <a:t>Namenode</a:t>
            </a:r>
            <a:r>
              <a:rPr lang="en-US"/>
              <a:t> webpage</a:t>
            </a:r>
            <a:r>
              <a:rPr lang="en-US" u="none"/>
              <a:t>	</a:t>
            </a:r>
            <a:endParaRPr/>
          </a:p>
        </p:txBody>
      </p:sp>
      <p:sp>
        <p:nvSpPr>
          <p:cNvPr id="1208" name="Google Shape;1208;p85"/>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85</a:t>
            </a:fld>
            <a:endParaRPr sz="900" b="0" i="0">
              <a:solidFill>
                <a:srgbClr val="008CBA"/>
              </a:solidFill>
              <a:latin typeface="Tahoma"/>
              <a:ea typeface="Tahoma"/>
              <a:cs typeface="Tahoma"/>
              <a:sym typeface="Tahom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grpSp>
        <p:nvGrpSpPr>
          <p:cNvPr id="1213" name="Google Shape;1213;p86"/>
          <p:cNvGrpSpPr/>
          <p:nvPr/>
        </p:nvGrpSpPr>
        <p:grpSpPr>
          <a:xfrm>
            <a:off x="2470642" y="1768201"/>
            <a:ext cx="7393956" cy="3204240"/>
            <a:chOff x="1352092" y="1948295"/>
            <a:chExt cx="8147044" cy="3530598"/>
          </a:xfrm>
        </p:grpSpPr>
        <p:pic>
          <p:nvPicPr>
            <p:cNvPr id="1214" name="Google Shape;1214;p86"/>
            <p:cNvPicPr preferRelativeResize="0"/>
            <p:nvPr/>
          </p:nvPicPr>
          <p:blipFill rotWithShape="1">
            <a:blip r:embed="rId3">
              <a:alphaModFix/>
            </a:blip>
            <a:srcRect/>
            <a:stretch/>
          </p:blipFill>
          <p:spPr>
            <a:xfrm>
              <a:off x="1352092" y="1948295"/>
              <a:ext cx="5484807" cy="2779711"/>
            </a:xfrm>
            <a:prstGeom prst="rect">
              <a:avLst/>
            </a:prstGeom>
            <a:noFill/>
            <a:ln>
              <a:noFill/>
            </a:ln>
          </p:spPr>
        </p:pic>
        <p:pic>
          <p:nvPicPr>
            <p:cNvPr id="1215" name="Google Shape;1215;p86"/>
            <p:cNvPicPr preferRelativeResize="0"/>
            <p:nvPr/>
          </p:nvPicPr>
          <p:blipFill rotWithShape="1">
            <a:blip r:embed="rId4">
              <a:alphaModFix/>
            </a:blip>
            <a:srcRect/>
            <a:stretch/>
          </p:blipFill>
          <p:spPr>
            <a:xfrm>
              <a:off x="4790617" y="2349934"/>
              <a:ext cx="4708519" cy="3128959"/>
            </a:xfrm>
            <a:prstGeom prst="rect">
              <a:avLst/>
            </a:prstGeom>
            <a:noFill/>
            <a:ln>
              <a:noFill/>
            </a:ln>
          </p:spPr>
        </p:pic>
      </p:grpSp>
      <p:sp>
        <p:nvSpPr>
          <p:cNvPr id="1216" name="Google Shape;1216;p86"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Hadoop</a:t>
            </a:r>
            <a:r>
              <a:rPr lang="en-US"/>
              <a:t> </a:t>
            </a:r>
            <a:r>
              <a:rPr lang="en-US" u="none"/>
              <a:t>Namenode</a:t>
            </a:r>
            <a:r>
              <a:rPr lang="en-US"/>
              <a:t> webpage</a:t>
            </a:r>
            <a:r>
              <a:rPr lang="en-US" u="none"/>
              <a:t>	</a:t>
            </a:r>
            <a:endParaRPr/>
          </a:p>
        </p:txBody>
      </p:sp>
      <p:sp>
        <p:nvSpPr>
          <p:cNvPr id="1217" name="Google Shape;1217;p86"/>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86</a:t>
            </a:fld>
            <a:endParaRPr sz="900" b="0" i="0">
              <a:solidFill>
                <a:srgbClr val="008CBA"/>
              </a:solidFill>
              <a:latin typeface="Tahoma"/>
              <a:ea typeface="Tahoma"/>
              <a:cs typeface="Tahoma"/>
              <a:sym typeface="Tahom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p87" descr="$PPTXTitle"/>
          <p:cNvSpPr txBox="1">
            <a:spLocks noGrp="1"/>
          </p:cNvSpPr>
          <p:nvPr>
            <p:ph type="title"/>
          </p:nvPr>
        </p:nvSpPr>
        <p:spPr>
          <a:xfrm>
            <a:off x="1934676" y="1098937"/>
            <a:ext cx="830913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a:t>
            </a:r>
            <a:r>
              <a:rPr lang="en-US"/>
              <a:t>MapReduce</a:t>
            </a:r>
            <a:r>
              <a:rPr lang="en-US" u="none"/>
              <a:t>	</a:t>
            </a:r>
            <a:endParaRPr/>
          </a:p>
        </p:txBody>
      </p:sp>
      <p:pic>
        <p:nvPicPr>
          <p:cNvPr id="1223" name="Google Shape;1223;p87"/>
          <p:cNvPicPr preferRelativeResize="0"/>
          <p:nvPr/>
        </p:nvPicPr>
        <p:blipFill rotWithShape="1">
          <a:blip r:embed="rId3">
            <a:alphaModFix/>
          </a:blip>
          <a:srcRect/>
          <a:stretch/>
        </p:blipFill>
        <p:spPr>
          <a:xfrm>
            <a:off x="2253499" y="1857076"/>
            <a:ext cx="92371" cy="92370"/>
          </a:xfrm>
          <a:prstGeom prst="rect">
            <a:avLst/>
          </a:prstGeom>
          <a:noFill/>
          <a:ln>
            <a:noFill/>
          </a:ln>
        </p:spPr>
      </p:pic>
      <p:pic>
        <p:nvPicPr>
          <p:cNvPr id="1224" name="Google Shape;1224;p87"/>
          <p:cNvPicPr preferRelativeResize="0"/>
          <p:nvPr/>
        </p:nvPicPr>
        <p:blipFill rotWithShape="1">
          <a:blip r:embed="rId3">
            <a:alphaModFix/>
          </a:blip>
          <a:srcRect/>
          <a:stretch/>
        </p:blipFill>
        <p:spPr>
          <a:xfrm>
            <a:off x="2253499" y="2181304"/>
            <a:ext cx="92371" cy="92370"/>
          </a:xfrm>
          <a:prstGeom prst="rect">
            <a:avLst/>
          </a:prstGeom>
          <a:noFill/>
          <a:ln>
            <a:noFill/>
          </a:ln>
        </p:spPr>
      </p:pic>
      <p:pic>
        <p:nvPicPr>
          <p:cNvPr id="1225" name="Google Shape;1225;p87"/>
          <p:cNvPicPr preferRelativeResize="0"/>
          <p:nvPr/>
        </p:nvPicPr>
        <p:blipFill rotWithShape="1">
          <a:blip r:embed="rId3">
            <a:alphaModFix/>
          </a:blip>
          <a:srcRect/>
          <a:stretch/>
        </p:blipFill>
        <p:spPr>
          <a:xfrm>
            <a:off x="2253499" y="3161018"/>
            <a:ext cx="92371" cy="92370"/>
          </a:xfrm>
          <a:prstGeom prst="rect">
            <a:avLst/>
          </a:prstGeom>
          <a:noFill/>
          <a:ln>
            <a:noFill/>
          </a:ln>
        </p:spPr>
      </p:pic>
      <p:pic>
        <p:nvPicPr>
          <p:cNvPr id="1226" name="Google Shape;1226;p87"/>
          <p:cNvPicPr preferRelativeResize="0"/>
          <p:nvPr/>
        </p:nvPicPr>
        <p:blipFill rotWithShape="1">
          <a:blip r:embed="rId3">
            <a:alphaModFix/>
          </a:blip>
          <a:srcRect/>
          <a:stretch/>
        </p:blipFill>
        <p:spPr>
          <a:xfrm>
            <a:off x="2253499" y="4140733"/>
            <a:ext cx="92371" cy="92370"/>
          </a:xfrm>
          <a:prstGeom prst="rect">
            <a:avLst/>
          </a:prstGeom>
          <a:noFill/>
          <a:ln>
            <a:noFill/>
          </a:ln>
        </p:spPr>
      </p:pic>
      <p:sp>
        <p:nvSpPr>
          <p:cNvPr id="1227" name="Google Shape;1227;p87"/>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87</a:t>
            </a:fld>
            <a:endParaRPr sz="900" b="0" i="0">
              <a:solidFill>
                <a:srgbClr val="008CBA"/>
              </a:solidFill>
              <a:latin typeface="Tahoma"/>
              <a:ea typeface="Tahoma"/>
              <a:cs typeface="Tahoma"/>
              <a:sym typeface="Tahoma"/>
            </a:endParaRPr>
          </a:p>
        </p:txBody>
      </p:sp>
      <p:grpSp>
        <p:nvGrpSpPr>
          <p:cNvPr id="1228" name="Google Shape;1228;p87"/>
          <p:cNvGrpSpPr/>
          <p:nvPr/>
        </p:nvGrpSpPr>
        <p:grpSpPr>
          <a:xfrm>
            <a:off x="2470352" y="1669667"/>
            <a:ext cx="8228795" cy="4821121"/>
            <a:chOff x="0" y="14477"/>
            <a:chExt cx="8228795" cy="4821121"/>
          </a:xfrm>
        </p:grpSpPr>
        <p:sp>
          <p:nvSpPr>
            <p:cNvPr id="1229" name="Google Shape;1229;p87"/>
            <p:cNvSpPr/>
            <p:nvPr/>
          </p:nvSpPr>
          <p:spPr>
            <a:xfrm>
              <a:off x="0" y="14477"/>
              <a:ext cx="8228795" cy="1010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87"/>
            <p:cNvSpPr txBox="1"/>
            <p:nvPr/>
          </p:nvSpPr>
          <p:spPr>
            <a:xfrm>
              <a:off x="49347" y="63824"/>
              <a:ext cx="8130101" cy="91218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MapReduce is the system used to process data in the Hadoop cluster Consists of two phases</a:t>
              </a:r>
              <a:endParaRPr/>
            </a:p>
          </p:txBody>
        </p:sp>
        <p:sp>
          <p:nvSpPr>
            <p:cNvPr id="1231" name="Google Shape;1231;p87"/>
            <p:cNvSpPr/>
            <p:nvPr/>
          </p:nvSpPr>
          <p:spPr>
            <a:xfrm>
              <a:off x="0" y="1025357"/>
              <a:ext cx="8228795" cy="894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87"/>
            <p:cNvSpPr txBox="1"/>
            <p:nvPr/>
          </p:nvSpPr>
          <p:spPr>
            <a:xfrm>
              <a:off x="0" y="1025357"/>
              <a:ext cx="8228795" cy="894240"/>
            </a:xfrm>
            <a:prstGeom prst="rect">
              <a:avLst/>
            </a:prstGeom>
            <a:noFill/>
            <a:ln>
              <a:noFill/>
            </a:ln>
          </p:spPr>
          <p:txBody>
            <a:bodyPr spcFirstLastPara="1" wrap="square" lIns="26125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Map &amp; Reduce</a:t>
              </a:r>
              <a:endParaRPr/>
            </a:p>
          </p:txBody>
        </p:sp>
        <p:sp>
          <p:nvSpPr>
            <p:cNvPr id="1233" name="Google Shape;1233;p87"/>
            <p:cNvSpPr/>
            <p:nvPr/>
          </p:nvSpPr>
          <p:spPr>
            <a:xfrm>
              <a:off x="0" y="1919597"/>
              <a:ext cx="8228795" cy="1010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87"/>
            <p:cNvSpPr txBox="1"/>
            <p:nvPr/>
          </p:nvSpPr>
          <p:spPr>
            <a:xfrm>
              <a:off x="49347" y="1968944"/>
              <a:ext cx="8130101" cy="91218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Between the two is a stage known as the shuffle and sort Data Locality</a:t>
              </a:r>
              <a:endParaRPr/>
            </a:p>
          </p:txBody>
        </p:sp>
        <p:sp>
          <p:nvSpPr>
            <p:cNvPr id="1235" name="Google Shape;1235;p87"/>
            <p:cNvSpPr/>
            <p:nvPr/>
          </p:nvSpPr>
          <p:spPr>
            <a:xfrm>
              <a:off x="0" y="2930477"/>
              <a:ext cx="8228795" cy="8942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87"/>
            <p:cNvSpPr txBox="1"/>
            <p:nvPr/>
          </p:nvSpPr>
          <p:spPr>
            <a:xfrm>
              <a:off x="0" y="2930477"/>
              <a:ext cx="8228795" cy="894240"/>
            </a:xfrm>
            <a:prstGeom prst="rect">
              <a:avLst/>
            </a:prstGeom>
            <a:noFill/>
            <a:ln>
              <a:noFill/>
            </a:ln>
          </p:spPr>
          <p:txBody>
            <a:bodyPr spcFirstLastPara="1" wrap="square" lIns="261250" tIns="25400" rIns="142225" bIns="25400"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Each Map task operates on a discrete portion of the overall dataset</a:t>
              </a:r>
              <a:endParaRPr/>
            </a:p>
            <a:p>
              <a:pPr marL="228600" marR="0" lvl="1" indent="-22860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Typically one HDFS block of data</a:t>
              </a:r>
              <a:endParaRPr/>
            </a:p>
          </p:txBody>
        </p:sp>
        <p:sp>
          <p:nvSpPr>
            <p:cNvPr id="1237" name="Google Shape;1237;p87"/>
            <p:cNvSpPr/>
            <p:nvPr/>
          </p:nvSpPr>
          <p:spPr>
            <a:xfrm>
              <a:off x="0" y="3824718"/>
              <a:ext cx="8228795" cy="101088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87"/>
            <p:cNvSpPr txBox="1"/>
            <p:nvPr/>
          </p:nvSpPr>
          <p:spPr>
            <a:xfrm>
              <a:off x="49347" y="3874065"/>
              <a:ext cx="8130101" cy="912186"/>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After all Maps are complete, the MapReduce system distributes the intermediate data to nodes which perform the Reduce phase</a:t>
              </a:r>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88"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MapReduce	</a:t>
            </a:r>
            <a:endParaRPr/>
          </a:p>
        </p:txBody>
      </p:sp>
      <p:pic>
        <p:nvPicPr>
          <p:cNvPr id="1244" name="Google Shape;1244;p88"/>
          <p:cNvPicPr preferRelativeResize="0"/>
          <p:nvPr/>
        </p:nvPicPr>
        <p:blipFill rotWithShape="1">
          <a:blip r:embed="rId3">
            <a:alphaModFix/>
          </a:blip>
          <a:srcRect/>
          <a:stretch/>
        </p:blipFill>
        <p:spPr>
          <a:xfrm>
            <a:off x="4827503" y="1778497"/>
            <a:ext cx="5751756" cy="3301007"/>
          </a:xfrm>
          <a:prstGeom prst="rect">
            <a:avLst/>
          </a:prstGeom>
          <a:noFill/>
          <a:ln>
            <a:noFill/>
          </a:ln>
        </p:spPr>
      </p:pic>
      <p:sp>
        <p:nvSpPr>
          <p:cNvPr id="1245" name="Google Shape;1245;p88"/>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88</a:t>
            </a:fld>
            <a:endParaRPr sz="998" b="0" i="0">
              <a:solidFill>
                <a:srgbClr val="7F7F7F"/>
              </a:solidFill>
              <a:latin typeface="Tahoma"/>
              <a:ea typeface="Tahoma"/>
              <a:cs typeface="Tahoma"/>
              <a:sym typeface="Tahom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sp>
        <p:nvSpPr>
          <p:cNvPr id="1250" name="Google Shape;1250;p89"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MapReduce	</a:t>
            </a:r>
            <a:endParaRPr/>
          </a:p>
        </p:txBody>
      </p:sp>
      <p:pic>
        <p:nvPicPr>
          <p:cNvPr id="1251" name="Google Shape;1251;p89"/>
          <p:cNvPicPr preferRelativeResize="0"/>
          <p:nvPr/>
        </p:nvPicPr>
        <p:blipFill rotWithShape="1">
          <a:blip r:embed="rId3">
            <a:alphaModFix/>
          </a:blip>
          <a:srcRect/>
          <a:stretch/>
        </p:blipFill>
        <p:spPr>
          <a:xfrm>
            <a:off x="4827503" y="2081510"/>
            <a:ext cx="5751756" cy="2694981"/>
          </a:xfrm>
          <a:prstGeom prst="rect">
            <a:avLst/>
          </a:prstGeom>
          <a:noFill/>
          <a:ln>
            <a:noFill/>
          </a:ln>
        </p:spPr>
      </p:pic>
      <p:sp>
        <p:nvSpPr>
          <p:cNvPr id="1252" name="Google Shape;1252;p89"/>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89</a:t>
            </a:fld>
            <a:endParaRPr sz="998" b="0" i="0">
              <a:solidFill>
                <a:srgbClr val="7F7F7F"/>
              </a:solidFill>
              <a:latin typeface="Tahoma"/>
              <a:ea typeface="Tahoma"/>
              <a:cs typeface="Tahoma"/>
              <a:sym typeface="Tahom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90"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MapReduce	</a:t>
            </a:r>
            <a:endParaRPr/>
          </a:p>
        </p:txBody>
      </p:sp>
      <p:pic>
        <p:nvPicPr>
          <p:cNvPr id="1258" name="Google Shape;1258;p90"/>
          <p:cNvPicPr preferRelativeResize="0"/>
          <p:nvPr/>
        </p:nvPicPr>
        <p:blipFill rotWithShape="1">
          <a:blip r:embed="rId3">
            <a:alphaModFix/>
          </a:blip>
          <a:srcRect/>
          <a:stretch/>
        </p:blipFill>
        <p:spPr>
          <a:xfrm>
            <a:off x="4827503" y="1538821"/>
            <a:ext cx="5751756" cy="3780358"/>
          </a:xfrm>
          <a:prstGeom prst="rect">
            <a:avLst/>
          </a:prstGeom>
          <a:noFill/>
          <a:ln>
            <a:noFill/>
          </a:ln>
        </p:spPr>
      </p:pic>
      <p:sp>
        <p:nvSpPr>
          <p:cNvPr id="1259" name="Google Shape;1259;p90"/>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90</a:t>
            </a:fld>
            <a:endParaRPr sz="998" b="0" i="0">
              <a:solidFill>
                <a:srgbClr val="7F7F7F"/>
              </a:solidFill>
              <a:latin typeface="Tahoma"/>
              <a:ea typeface="Tahoma"/>
              <a:cs typeface="Tahoma"/>
              <a:sym typeface="Tahom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91"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MapReduce	</a:t>
            </a:r>
            <a:endParaRPr/>
          </a:p>
        </p:txBody>
      </p:sp>
      <p:pic>
        <p:nvPicPr>
          <p:cNvPr id="1265" name="Google Shape;1265;p91"/>
          <p:cNvPicPr preferRelativeResize="0"/>
          <p:nvPr/>
        </p:nvPicPr>
        <p:blipFill rotWithShape="1">
          <a:blip r:embed="rId3">
            <a:alphaModFix/>
          </a:blip>
          <a:srcRect/>
          <a:stretch/>
        </p:blipFill>
        <p:spPr>
          <a:xfrm>
            <a:off x="4827503" y="1514543"/>
            <a:ext cx="5751756" cy="3828914"/>
          </a:xfrm>
          <a:prstGeom prst="rect">
            <a:avLst/>
          </a:prstGeom>
          <a:noFill/>
          <a:ln>
            <a:noFill/>
          </a:ln>
        </p:spPr>
      </p:pic>
      <p:sp>
        <p:nvSpPr>
          <p:cNvPr id="1266" name="Google Shape;1266;p91"/>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91</a:t>
            </a:fld>
            <a:endParaRPr sz="998" b="0" i="0">
              <a:solidFill>
                <a:srgbClr val="7F7F7F"/>
              </a:solidFill>
              <a:latin typeface="Tahoma"/>
              <a:ea typeface="Tahoma"/>
              <a:cs typeface="Tahoma"/>
              <a:sym typeface="Tahom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p92"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Hadoop Architecture	</a:t>
            </a:r>
            <a:endParaRPr/>
          </a:p>
        </p:txBody>
      </p:sp>
      <p:pic>
        <p:nvPicPr>
          <p:cNvPr id="1272" name="Google Shape;1272;p92"/>
          <p:cNvPicPr preferRelativeResize="0"/>
          <p:nvPr/>
        </p:nvPicPr>
        <p:blipFill rotWithShape="1">
          <a:blip r:embed="rId3">
            <a:alphaModFix/>
          </a:blip>
          <a:srcRect/>
          <a:stretch/>
        </p:blipFill>
        <p:spPr>
          <a:xfrm>
            <a:off x="4827503" y="1067295"/>
            <a:ext cx="5751756" cy="4723411"/>
          </a:xfrm>
          <a:prstGeom prst="rect">
            <a:avLst/>
          </a:prstGeom>
          <a:noFill/>
          <a:ln>
            <a:noFill/>
          </a:ln>
        </p:spPr>
      </p:pic>
      <p:sp>
        <p:nvSpPr>
          <p:cNvPr id="1273" name="Google Shape;1273;p92"/>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92</a:t>
            </a:fld>
            <a:endParaRPr sz="998" b="0" i="0">
              <a:solidFill>
                <a:srgbClr val="7F7F7F"/>
              </a:solidFill>
              <a:latin typeface="Tahoma"/>
              <a:ea typeface="Tahoma"/>
              <a:cs typeface="Tahoma"/>
              <a:sym typeface="Tahom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pic>
        <p:nvPicPr>
          <p:cNvPr id="1278" name="Google Shape;1278;p93"/>
          <p:cNvPicPr preferRelativeResize="0"/>
          <p:nvPr/>
        </p:nvPicPr>
        <p:blipFill rotWithShape="1">
          <a:blip r:embed="rId3">
            <a:alphaModFix/>
          </a:blip>
          <a:srcRect/>
          <a:stretch/>
        </p:blipFill>
        <p:spPr>
          <a:xfrm>
            <a:off x="2268895" y="1927413"/>
            <a:ext cx="148821" cy="148819"/>
          </a:xfrm>
          <a:prstGeom prst="rect">
            <a:avLst/>
          </a:prstGeom>
          <a:noFill/>
          <a:ln>
            <a:noFill/>
          </a:ln>
        </p:spPr>
      </p:pic>
      <p:sp>
        <p:nvSpPr>
          <p:cNvPr id="1279" name="Google Shape;1279;p93" descr="$PPTXTitle"/>
          <p:cNvSpPr txBox="1">
            <a:spLocks noGrp="1"/>
          </p:cNvSpPr>
          <p:nvPr>
            <p:ph type="title"/>
          </p:nvPr>
        </p:nvSpPr>
        <p:spPr>
          <a:xfrm>
            <a:off x="1934676" y="1249832"/>
            <a:ext cx="8309130" cy="1168339"/>
          </a:xfrm>
          <a:prstGeom prst="rect">
            <a:avLst/>
          </a:prstGeom>
          <a:noFill/>
          <a:ln>
            <a:noFill/>
          </a:ln>
        </p:spPr>
        <p:txBody>
          <a:bodyPr spcFirstLastPara="1" wrap="square" lIns="0" tIns="54150" rIns="0" bIns="0" anchor="ctr" anchorCtr="0">
            <a:spAutoFit/>
          </a:bodyPr>
          <a:lstStyle/>
          <a:p>
            <a:pPr marL="627619" marR="4611" lvl="0" indent="-616669" algn="l" rtl="0">
              <a:lnSpc>
                <a:spcPct val="103800"/>
              </a:lnSpc>
              <a:spcBef>
                <a:spcPts val="0"/>
              </a:spcBef>
              <a:spcAft>
                <a:spcPts val="0"/>
              </a:spcAft>
              <a:buClr>
                <a:schemeClr val="dk1"/>
              </a:buClr>
              <a:buSzPts val="4400"/>
              <a:buFont typeface="Play"/>
              <a:buNone/>
            </a:pPr>
            <a:r>
              <a:rPr lang="en-US" u="none"/>
              <a:t>	MapReduce</a:t>
            </a:r>
            <a:r>
              <a:rPr lang="en-US"/>
              <a:t> </a:t>
            </a:r>
            <a:r>
              <a:rPr lang="en-US" u="none"/>
              <a:t>In</a:t>
            </a:r>
            <a:r>
              <a:rPr lang="en-US"/>
              <a:t> Action</a:t>
            </a:r>
            <a:r>
              <a:rPr lang="en-US" u="none"/>
              <a:t>	 </a:t>
            </a:r>
            <a:r>
              <a:rPr lang="en-US" sz="2632"/>
              <a:t>Calculate average word length per first letter of word</a:t>
            </a:r>
            <a:endParaRPr sz="2632"/>
          </a:p>
        </p:txBody>
      </p:sp>
      <p:sp>
        <p:nvSpPr>
          <p:cNvPr id="1280" name="Google Shape;1280;p93"/>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93</a:t>
            </a:fld>
            <a:endParaRPr sz="900" b="0" i="0">
              <a:solidFill>
                <a:srgbClr val="008CBA"/>
              </a:solidFill>
              <a:latin typeface="Tahoma"/>
              <a:ea typeface="Tahoma"/>
              <a:cs typeface="Tahoma"/>
              <a:sym typeface="Tahoma"/>
            </a:endParaRPr>
          </a:p>
        </p:txBody>
      </p:sp>
      <p:sp>
        <p:nvSpPr>
          <p:cNvPr id="1281" name="Google Shape;1281;p93"/>
          <p:cNvSpPr txBox="1"/>
          <p:nvPr/>
        </p:nvSpPr>
        <p:spPr>
          <a:xfrm>
            <a:off x="2470351" y="2600672"/>
            <a:ext cx="5760144" cy="948080"/>
          </a:xfrm>
          <a:prstGeom prst="rect">
            <a:avLst/>
          </a:prstGeom>
          <a:noFill/>
          <a:ln>
            <a:noFill/>
          </a:ln>
        </p:spPr>
        <p:txBody>
          <a:bodyPr spcFirstLastPara="1" wrap="square" lIns="0" tIns="0" rIns="0" bIns="0" anchor="t" anchorCtr="0">
            <a:spAutoFit/>
          </a:bodyPr>
          <a:lstStyle/>
          <a:p>
            <a:pPr marL="292774" marR="0" lvl="0" indent="-281247" algn="l" rtl="0">
              <a:lnSpc>
                <a:spcPct val="129609"/>
              </a:lnSpc>
              <a:spcBef>
                <a:spcPts val="0"/>
              </a:spcBef>
              <a:spcAft>
                <a:spcPts val="0"/>
              </a:spcAft>
              <a:buClr>
                <a:srgbClr val="008CBA"/>
              </a:buClr>
              <a:buSzPts val="2495"/>
              <a:buFont typeface="Merriweather Sans"/>
              <a:buChar char="-"/>
            </a:pPr>
            <a:r>
              <a:rPr lang="en-US" sz="1997">
                <a:solidFill>
                  <a:schemeClr val="dk1"/>
                </a:solidFill>
                <a:latin typeface="Arial"/>
                <a:ea typeface="Arial"/>
                <a:cs typeface="Arial"/>
                <a:sym typeface="Arial"/>
              </a:rPr>
              <a:t>AverageWordLength.java: launches job</a:t>
            </a:r>
            <a:endParaRPr sz="1997">
              <a:solidFill>
                <a:schemeClr val="dk1"/>
              </a:solidFill>
              <a:latin typeface="Arial"/>
              <a:ea typeface="Arial"/>
              <a:cs typeface="Arial"/>
              <a:sym typeface="Arial"/>
            </a:endParaRPr>
          </a:p>
          <a:p>
            <a:pPr marL="292774" marR="0" lvl="0" indent="-281247" algn="l" rtl="0">
              <a:spcBef>
                <a:spcPts val="0"/>
              </a:spcBef>
              <a:spcAft>
                <a:spcPts val="0"/>
              </a:spcAft>
              <a:buClr>
                <a:srgbClr val="008CBA"/>
              </a:buClr>
              <a:buSzPts val="2495"/>
              <a:buFont typeface="Merriweather Sans"/>
              <a:buChar char="-"/>
            </a:pPr>
            <a:r>
              <a:rPr lang="en-US" sz="1997">
                <a:solidFill>
                  <a:schemeClr val="dk1"/>
                </a:solidFill>
                <a:latin typeface="Arial"/>
                <a:ea typeface="Arial"/>
                <a:cs typeface="Arial"/>
                <a:sym typeface="Arial"/>
              </a:rPr>
              <a:t>LetterMapper.java: mapper per first letter</a:t>
            </a:r>
            <a:endParaRPr sz="1997">
              <a:solidFill>
                <a:schemeClr val="dk1"/>
              </a:solidFill>
              <a:latin typeface="Arial"/>
              <a:ea typeface="Arial"/>
              <a:cs typeface="Arial"/>
              <a:sym typeface="Arial"/>
            </a:endParaRPr>
          </a:p>
          <a:p>
            <a:pPr marL="292774" marR="0" lvl="0" indent="-281247" algn="l" rtl="0">
              <a:spcBef>
                <a:spcPts val="0"/>
              </a:spcBef>
              <a:spcAft>
                <a:spcPts val="0"/>
              </a:spcAft>
              <a:buClr>
                <a:srgbClr val="008CBA"/>
              </a:buClr>
              <a:buSzPts val="2495"/>
              <a:buFont typeface="Merriweather Sans"/>
              <a:buChar char="-"/>
            </a:pPr>
            <a:r>
              <a:rPr lang="en-US" sz="1997">
                <a:solidFill>
                  <a:schemeClr val="dk1"/>
                </a:solidFill>
                <a:latin typeface="Arial"/>
                <a:ea typeface="Arial"/>
                <a:cs typeface="Arial"/>
                <a:sym typeface="Arial"/>
              </a:rPr>
              <a:t>AverageReducer.java: calculates average length</a:t>
            </a:r>
            <a:endParaRPr sz="1997">
              <a:solidFill>
                <a:schemeClr val="dk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94" descr="$PPTXTitle"/>
          <p:cNvSpPr txBox="1">
            <a:spLocks noGrp="1"/>
          </p:cNvSpPr>
          <p:nvPr>
            <p:ph type="title"/>
          </p:nvPr>
        </p:nvSpPr>
        <p:spPr>
          <a:xfrm>
            <a:off x="1768931" y="2767105"/>
            <a:ext cx="2293164" cy="3071907"/>
          </a:xfrm>
          <a:prstGeom prst="rect">
            <a:avLst/>
          </a:prstGeom>
          <a:noFill/>
          <a:ln>
            <a:noFill/>
          </a:ln>
        </p:spPr>
        <p:txBody>
          <a:bodyPr spcFirstLastPara="1" wrap="square" lIns="82975" tIns="41475" rIns="82975" bIns="41475" anchor="t" anchorCtr="0">
            <a:normAutofit/>
          </a:bodyPr>
          <a:lstStyle/>
          <a:p>
            <a:pPr marL="11527" lvl="0" indent="0" algn="l" rtl="0">
              <a:lnSpc>
                <a:spcPct val="90000"/>
              </a:lnSpc>
              <a:spcBef>
                <a:spcPts val="0"/>
              </a:spcBef>
              <a:spcAft>
                <a:spcPts val="0"/>
              </a:spcAft>
              <a:buClr>
                <a:srgbClr val="FFFFFF"/>
              </a:buClr>
              <a:buSzPts val="3540"/>
              <a:buFont typeface="Play"/>
              <a:buNone/>
            </a:pPr>
            <a:r>
              <a:rPr lang="en-US" sz="3540">
                <a:solidFill>
                  <a:srgbClr val="FFFFFF"/>
                </a:solidFill>
              </a:rPr>
              <a:t>	AverageWordLength	</a:t>
            </a:r>
            <a:endParaRPr/>
          </a:p>
        </p:txBody>
      </p:sp>
      <p:pic>
        <p:nvPicPr>
          <p:cNvPr id="1287" name="Google Shape;1287;p94"/>
          <p:cNvPicPr preferRelativeResize="0"/>
          <p:nvPr/>
        </p:nvPicPr>
        <p:blipFill rotWithShape="1">
          <a:blip r:embed="rId3">
            <a:alphaModFix/>
          </a:blip>
          <a:srcRect/>
          <a:stretch/>
        </p:blipFill>
        <p:spPr>
          <a:xfrm>
            <a:off x="5067060" y="467208"/>
            <a:ext cx="5272640" cy="5923584"/>
          </a:xfrm>
          <a:prstGeom prst="rect">
            <a:avLst/>
          </a:prstGeom>
          <a:noFill/>
          <a:ln>
            <a:noFill/>
          </a:ln>
        </p:spPr>
      </p:pic>
      <p:sp>
        <p:nvSpPr>
          <p:cNvPr id="1288" name="Google Shape;1288;p94"/>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94</a:t>
            </a:fld>
            <a:endParaRPr sz="998" b="0" i="0">
              <a:solidFill>
                <a:srgbClr val="7F7F7F"/>
              </a:solidFill>
              <a:latin typeface="Tahoma"/>
              <a:ea typeface="Tahoma"/>
              <a:cs typeface="Tahoma"/>
              <a:sym typeface="Tahom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1293" name="Google Shape;1293;p95" descr="$PPTXTitle"/>
          <p:cNvSpPr txBox="1">
            <a:spLocks noGrp="1"/>
          </p:cNvSpPr>
          <p:nvPr>
            <p:ph type="title"/>
          </p:nvPr>
        </p:nvSpPr>
        <p:spPr>
          <a:xfrm>
            <a:off x="1624010" y="1122363"/>
            <a:ext cx="3202628" cy="3204134"/>
          </a:xfrm>
          <a:prstGeom prst="rect">
            <a:avLst/>
          </a:prstGeom>
          <a:noFill/>
          <a:ln>
            <a:noFill/>
          </a:ln>
        </p:spPr>
        <p:txBody>
          <a:bodyPr spcFirstLastPara="1" wrap="square" lIns="82975" tIns="41475" rIns="82975" bIns="41475" anchor="b" anchorCtr="0">
            <a:normAutofit/>
          </a:bodyPr>
          <a:lstStyle/>
          <a:p>
            <a:pPr marL="11527" lvl="0" indent="0" algn="l" rtl="0">
              <a:lnSpc>
                <a:spcPct val="90000"/>
              </a:lnSpc>
              <a:spcBef>
                <a:spcPts val="0"/>
              </a:spcBef>
              <a:spcAft>
                <a:spcPts val="0"/>
              </a:spcAft>
              <a:buClr>
                <a:schemeClr val="dk1"/>
              </a:buClr>
              <a:buSzPts val="4266"/>
              <a:buFont typeface="Play"/>
              <a:buNone/>
            </a:pPr>
            <a:r>
              <a:rPr lang="en-US" sz="4266"/>
              <a:t>	LetterMapper	</a:t>
            </a:r>
            <a:endParaRPr/>
          </a:p>
        </p:txBody>
      </p:sp>
      <p:pic>
        <p:nvPicPr>
          <p:cNvPr id="1294" name="Google Shape;1294;p95"/>
          <p:cNvPicPr preferRelativeResize="0"/>
          <p:nvPr/>
        </p:nvPicPr>
        <p:blipFill rotWithShape="1">
          <a:blip r:embed="rId3">
            <a:alphaModFix/>
          </a:blip>
          <a:srcRect/>
          <a:stretch/>
        </p:blipFill>
        <p:spPr>
          <a:xfrm>
            <a:off x="5553406" y="661964"/>
            <a:ext cx="5101487" cy="5382819"/>
          </a:xfrm>
          <a:prstGeom prst="rect">
            <a:avLst/>
          </a:prstGeom>
          <a:noFill/>
          <a:ln>
            <a:noFill/>
          </a:ln>
        </p:spPr>
      </p:pic>
      <p:sp>
        <p:nvSpPr>
          <p:cNvPr id="1295" name="Google Shape;1295;p95"/>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95</a:t>
            </a:fld>
            <a:endParaRPr sz="1089" b="0" i="0">
              <a:solidFill>
                <a:srgbClr val="7F7F7F"/>
              </a:solidFill>
              <a:latin typeface="Tahoma"/>
              <a:ea typeface="Tahoma"/>
              <a:cs typeface="Tahoma"/>
              <a:sym typeface="Tahom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96" descr="$PPTXTitle"/>
          <p:cNvSpPr txBox="1">
            <a:spLocks noGrp="1"/>
          </p:cNvSpPr>
          <p:nvPr>
            <p:ph type="title"/>
          </p:nvPr>
        </p:nvSpPr>
        <p:spPr>
          <a:xfrm>
            <a:off x="69109" y="1122375"/>
            <a:ext cx="5484300" cy="3204000"/>
          </a:xfrm>
          <a:prstGeom prst="rect">
            <a:avLst/>
          </a:prstGeom>
          <a:noFill/>
          <a:ln>
            <a:noFill/>
          </a:ln>
        </p:spPr>
        <p:txBody>
          <a:bodyPr spcFirstLastPara="1" wrap="square" lIns="82975" tIns="41475" rIns="82975" bIns="41475" anchor="b" anchorCtr="0">
            <a:normAutofit/>
          </a:bodyPr>
          <a:lstStyle/>
          <a:p>
            <a:pPr marL="11527" lvl="0" indent="0" algn="ctr" rtl="0">
              <a:lnSpc>
                <a:spcPct val="90000"/>
              </a:lnSpc>
              <a:spcBef>
                <a:spcPts val="0"/>
              </a:spcBef>
              <a:spcAft>
                <a:spcPts val="0"/>
              </a:spcAft>
              <a:buClr>
                <a:schemeClr val="dk1"/>
              </a:buClr>
              <a:buSzPts val="4266"/>
              <a:buFont typeface="Play"/>
              <a:buNone/>
            </a:pPr>
            <a:r>
              <a:rPr lang="en-US" sz="4266"/>
              <a:t>AverageReducer</a:t>
            </a:r>
            <a:endParaRPr sz="4266"/>
          </a:p>
        </p:txBody>
      </p:sp>
      <p:pic>
        <p:nvPicPr>
          <p:cNvPr id="1301" name="Google Shape;1301;p96"/>
          <p:cNvPicPr preferRelativeResize="0"/>
          <p:nvPr/>
        </p:nvPicPr>
        <p:blipFill rotWithShape="1">
          <a:blip r:embed="rId3">
            <a:alphaModFix/>
          </a:blip>
          <a:srcRect/>
          <a:stretch/>
        </p:blipFill>
        <p:spPr>
          <a:xfrm>
            <a:off x="5553406" y="969619"/>
            <a:ext cx="5101487" cy="4767510"/>
          </a:xfrm>
          <a:prstGeom prst="rect">
            <a:avLst/>
          </a:prstGeom>
          <a:noFill/>
          <a:ln>
            <a:noFill/>
          </a:ln>
        </p:spPr>
      </p:pic>
      <p:sp>
        <p:nvSpPr>
          <p:cNvPr id="1302" name="Google Shape;1302;p96"/>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96</a:t>
            </a:fld>
            <a:endParaRPr sz="1089" b="0" i="0">
              <a:solidFill>
                <a:srgbClr val="7F7F7F"/>
              </a:solidFill>
              <a:latin typeface="Tahoma"/>
              <a:ea typeface="Tahoma"/>
              <a:cs typeface="Tahoma"/>
              <a:sym typeface="Tahom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07" name="Google Shape;1307;p97"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JobTracker</a:t>
            </a:r>
            <a:r>
              <a:rPr lang="en-US"/>
              <a:t> page</a:t>
            </a:r>
            <a:r>
              <a:rPr lang="en-US" u="none"/>
              <a:t>	</a:t>
            </a:r>
            <a:endParaRPr/>
          </a:p>
        </p:txBody>
      </p:sp>
      <p:pic>
        <p:nvPicPr>
          <p:cNvPr id="1308" name="Google Shape;1308;p97"/>
          <p:cNvPicPr preferRelativeResize="0"/>
          <p:nvPr/>
        </p:nvPicPr>
        <p:blipFill rotWithShape="1">
          <a:blip r:embed="rId3">
            <a:alphaModFix/>
          </a:blip>
          <a:srcRect/>
          <a:stretch/>
        </p:blipFill>
        <p:spPr>
          <a:xfrm>
            <a:off x="2476077" y="1768200"/>
            <a:ext cx="7354363" cy="4565364"/>
          </a:xfrm>
          <a:prstGeom prst="rect">
            <a:avLst/>
          </a:prstGeom>
          <a:noFill/>
          <a:ln>
            <a:noFill/>
          </a:ln>
        </p:spPr>
      </p:pic>
      <p:sp>
        <p:nvSpPr>
          <p:cNvPr id="1309" name="Google Shape;1309;p97"/>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97</a:t>
            </a:fld>
            <a:endParaRPr sz="900" b="0" i="0">
              <a:solidFill>
                <a:srgbClr val="008CBA"/>
              </a:solidFill>
              <a:latin typeface="Tahoma"/>
              <a:ea typeface="Tahoma"/>
              <a:cs typeface="Tahoma"/>
              <a:sym typeface="Tahom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pic>
        <p:nvPicPr>
          <p:cNvPr id="1314" name="Google Shape;1314;p98"/>
          <p:cNvPicPr preferRelativeResize="0"/>
          <p:nvPr/>
        </p:nvPicPr>
        <p:blipFill rotWithShape="1">
          <a:blip r:embed="rId3">
            <a:alphaModFix/>
          </a:blip>
          <a:srcRect/>
          <a:stretch/>
        </p:blipFill>
        <p:spPr>
          <a:xfrm>
            <a:off x="2432150" y="1740713"/>
            <a:ext cx="4355413" cy="2933100"/>
          </a:xfrm>
          <a:prstGeom prst="rect">
            <a:avLst/>
          </a:prstGeom>
          <a:noFill/>
          <a:ln>
            <a:noFill/>
          </a:ln>
        </p:spPr>
      </p:pic>
      <p:sp>
        <p:nvSpPr>
          <p:cNvPr id="1315" name="Google Shape;1315;p98"/>
          <p:cNvSpPr txBox="1"/>
          <p:nvPr/>
        </p:nvSpPr>
        <p:spPr>
          <a:xfrm>
            <a:off x="2776498" y="6402722"/>
            <a:ext cx="5126207" cy="290946"/>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1815">
                <a:solidFill>
                  <a:srgbClr val="008CBA"/>
                </a:solidFill>
                <a:latin typeface="Tahoma"/>
                <a:ea typeface="Tahoma"/>
                <a:cs typeface="Tahoma"/>
                <a:sym typeface="Tahoma"/>
              </a:rPr>
              <a:t>The Hadoop Ecosystem</a:t>
            </a:r>
            <a:endParaRPr sz="1815">
              <a:solidFill>
                <a:schemeClr val="dk1"/>
              </a:solidFill>
              <a:latin typeface="Tahoma"/>
              <a:ea typeface="Tahoma"/>
              <a:cs typeface="Tahoma"/>
              <a:sym typeface="Tahoma"/>
            </a:endParaRPr>
          </a:p>
        </p:txBody>
      </p:sp>
      <p:sp>
        <p:nvSpPr>
          <p:cNvPr id="1316" name="Google Shape;1316;p98" descr="$PPTXTitle"/>
          <p:cNvSpPr txBox="1">
            <a:spLocks noGrp="1"/>
          </p:cNvSpPr>
          <p:nvPr>
            <p:ph type="title"/>
          </p:nvPr>
        </p:nvSpPr>
        <p:spPr>
          <a:xfrm>
            <a:off x="2004252" y="588516"/>
            <a:ext cx="9543570" cy="688747"/>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dk1"/>
              </a:buClr>
              <a:buSzPts val="4400"/>
              <a:buFont typeface="Play"/>
              <a:buNone/>
            </a:pPr>
            <a:r>
              <a:rPr lang="en-US" u="none"/>
              <a:t>	JobTracker</a:t>
            </a:r>
            <a:r>
              <a:rPr lang="en-US"/>
              <a:t> page</a:t>
            </a:r>
            <a:r>
              <a:rPr lang="en-US" u="none"/>
              <a:t>	</a:t>
            </a:r>
            <a:endParaRPr/>
          </a:p>
        </p:txBody>
      </p:sp>
      <p:pic>
        <p:nvPicPr>
          <p:cNvPr id="1317" name="Google Shape;1317;p98"/>
          <p:cNvPicPr preferRelativeResize="0"/>
          <p:nvPr/>
        </p:nvPicPr>
        <p:blipFill rotWithShape="1">
          <a:blip r:embed="rId4">
            <a:alphaModFix/>
          </a:blip>
          <a:srcRect/>
          <a:stretch/>
        </p:blipFill>
        <p:spPr>
          <a:xfrm>
            <a:off x="2602695" y="4673813"/>
            <a:ext cx="6121245" cy="1592336"/>
          </a:xfrm>
          <a:prstGeom prst="rect">
            <a:avLst/>
          </a:prstGeom>
          <a:noFill/>
          <a:ln>
            <a:noFill/>
          </a:ln>
        </p:spPr>
      </p:pic>
      <p:sp>
        <p:nvSpPr>
          <p:cNvPr id="1318" name="Google Shape;1318;p98"/>
          <p:cNvSpPr txBox="1">
            <a:spLocks noGrp="1"/>
          </p:cNvSpPr>
          <p:nvPr>
            <p:ph type="sldNum" idx="12"/>
          </p:nvPr>
        </p:nvSpPr>
        <p:spPr>
          <a:xfrm>
            <a:off x="6245383" y="6025846"/>
            <a:ext cx="231775" cy="181610"/>
          </a:xfrm>
          <a:prstGeom prst="rect">
            <a:avLst/>
          </a:prstGeom>
          <a:noFill/>
          <a:ln>
            <a:noFill/>
          </a:ln>
        </p:spPr>
        <p:txBody>
          <a:bodyPr spcFirstLastPara="1" wrap="square" lIns="0" tIns="0" rIns="0" bIns="0" anchor="t" anchorCtr="0">
            <a:spAutoFit/>
          </a:bodyPr>
          <a:lstStyle/>
          <a:p>
            <a:pPr marL="48411" marR="0" lvl="0" indent="0" algn="l" rtl="0">
              <a:spcBef>
                <a:spcPts val="0"/>
              </a:spcBef>
              <a:spcAft>
                <a:spcPts val="0"/>
              </a:spcAft>
              <a:buNone/>
            </a:pPr>
            <a:fld id="{00000000-1234-1234-1234-123412341234}" type="slidenum">
              <a:rPr lang="en-US" sz="900" b="0" i="0">
                <a:solidFill>
                  <a:srgbClr val="008CBA"/>
                </a:solidFill>
                <a:latin typeface="Tahoma"/>
                <a:ea typeface="Tahoma"/>
                <a:cs typeface="Tahoma"/>
                <a:sym typeface="Tahoma"/>
              </a:rPr>
              <a:t>98</a:t>
            </a:fld>
            <a:endParaRPr sz="900" b="0" i="0">
              <a:solidFill>
                <a:srgbClr val="008CBA"/>
              </a:solidFill>
              <a:latin typeface="Tahoma"/>
              <a:ea typeface="Tahoma"/>
              <a:cs typeface="Tahoma"/>
              <a:sym typeface="Tahom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sp>
        <p:nvSpPr>
          <p:cNvPr id="1323" name="Google Shape;1323;p99"/>
          <p:cNvSpPr txBox="1">
            <a:spLocks noGrp="1"/>
          </p:cNvSpPr>
          <p:nvPr>
            <p:ph type="title"/>
          </p:nvPr>
        </p:nvSpPr>
        <p:spPr>
          <a:xfrm>
            <a:off x="1849934" y="350196"/>
            <a:ext cx="3698975" cy="1624520"/>
          </a:xfrm>
          <a:prstGeom prst="rect">
            <a:avLst/>
          </a:prstGeom>
          <a:noFill/>
          <a:ln>
            <a:noFill/>
          </a:ln>
        </p:spPr>
        <p:txBody>
          <a:bodyPr spcFirstLastPara="1" wrap="square" lIns="82975" tIns="41475" rIns="82975" bIns="41475" anchor="ctr" anchorCtr="0">
            <a:normAutofit/>
          </a:bodyPr>
          <a:lstStyle/>
          <a:p>
            <a:pPr marL="0" lvl="0" indent="0" algn="l" rtl="0">
              <a:lnSpc>
                <a:spcPct val="90000"/>
              </a:lnSpc>
              <a:spcBef>
                <a:spcPts val="0"/>
              </a:spcBef>
              <a:spcAft>
                <a:spcPts val="0"/>
              </a:spcAft>
              <a:buClr>
                <a:schemeClr val="dk1"/>
              </a:buClr>
              <a:buSzPts val="3540"/>
              <a:buFont typeface="Play"/>
              <a:buNone/>
            </a:pPr>
            <a:r>
              <a:rPr lang="en-US" sz="3540"/>
              <a:t>YARN = Cluster Resource Manager</a:t>
            </a:r>
            <a:endParaRPr/>
          </a:p>
        </p:txBody>
      </p:sp>
      <p:sp>
        <p:nvSpPr>
          <p:cNvPr id="1324" name="Google Shape;1324;p99"/>
          <p:cNvSpPr txBox="1"/>
          <p:nvPr/>
        </p:nvSpPr>
        <p:spPr>
          <a:xfrm>
            <a:off x="395446" y="2297989"/>
            <a:ext cx="8536117" cy="4381632"/>
          </a:xfrm>
          <a:prstGeom prst="rect">
            <a:avLst/>
          </a:prstGeom>
          <a:noFill/>
          <a:ln>
            <a:noFill/>
          </a:ln>
        </p:spPr>
        <p:txBody>
          <a:bodyPr spcFirstLastPara="1" wrap="square" lIns="82975" tIns="41475" rIns="82975" bIns="41475" anchor="ctr" anchorCtr="0">
            <a:noAutofit/>
          </a:bodyPr>
          <a:lstStyle/>
          <a:p>
            <a:pPr marL="0" marR="0" lvl="0" indent="0" algn="l" rtl="0">
              <a:lnSpc>
                <a:spcPct val="90000"/>
              </a:lnSpc>
              <a:spcBef>
                <a:spcPts val="0"/>
              </a:spcBef>
              <a:spcAft>
                <a:spcPts val="0"/>
              </a:spcAft>
              <a:buClr>
                <a:schemeClr val="dk1"/>
              </a:buClr>
              <a:buSzPts val="1271"/>
              <a:buFont typeface="Arial"/>
              <a:buChar char="•"/>
            </a:pPr>
            <a:r>
              <a:rPr lang="en-US" sz="2200" dirty="0">
                <a:solidFill>
                  <a:schemeClr val="dk1"/>
                </a:solidFill>
                <a:latin typeface="Arial"/>
                <a:ea typeface="Arial"/>
                <a:cs typeface="Arial"/>
                <a:sym typeface="Arial"/>
              </a:rPr>
              <a:t>YARN stands for </a:t>
            </a:r>
            <a:r>
              <a:rPr lang="en-US" sz="2200" b="1" dirty="0">
                <a:solidFill>
                  <a:schemeClr val="dk1"/>
                </a:solidFill>
                <a:latin typeface="Arial"/>
                <a:ea typeface="Arial"/>
                <a:cs typeface="Arial"/>
                <a:sym typeface="Arial"/>
              </a:rPr>
              <a:t>Yet Another Resource Negotiator</a:t>
            </a:r>
            <a:r>
              <a:rPr lang="en-US" sz="2200" dirty="0">
                <a:solidFill>
                  <a:schemeClr val="dk1"/>
                </a:solidFill>
                <a:latin typeface="Arial"/>
                <a:ea typeface="Arial"/>
                <a:cs typeface="Arial"/>
                <a:sym typeface="Arial"/>
              </a:rPr>
              <a:t>.</a:t>
            </a:r>
            <a:br>
              <a:rPr lang="en-US" sz="2200" dirty="0">
                <a:solidFill>
                  <a:schemeClr val="dk1"/>
                </a:solidFill>
                <a:latin typeface="Arial"/>
                <a:ea typeface="Arial"/>
                <a:cs typeface="Arial"/>
                <a:sym typeface="Arial"/>
              </a:rPr>
            </a:br>
            <a:r>
              <a:rPr lang="en-US" sz="2200" dirty="0">
                <a:solidFill>
                  <a:schemeClr val="dk1"/>
                </a:solidFill>
                <a:latin typeface="Arial"/>
                <a:ea typeface="Arial"/>
                <a:cs typeface="Arial"/>
                <a:sym typeface="Arial"/>
              </a:rPr>
              <a:t>It is the </a:t>
            </a:r>
            <a:r>
              <a:rPr lang="en-US" sz="2200" b="1" dirty="0">
                <a:solidFill>
                  <a:schemeClr val="dk1"/>
                </a:solidFill>
                <a:latin typeface="Arial"/>
                <a:ea typeface="Arial"/>
                <a:cs typeface="Arial"/>
                <a:sym typeface="Arial"/>
              </a:rPr>
              <a:t>operating system</a:t>
            </a:r>
            <a:r>
              <a:rPr lang="en-US" sz="2200" dirty="0">
                <a:solidFill>
                  <a:schemeClr val="dk1"/>
                </a:solidFill>
                <a:latin typeface="Arial"/>
                <a:ea typeface="Arial"/>
                <a:cs typeface="Arial"/>
                <a:sym typeface="Arial"/>
              </a:rPr>
              <a:t> of a Hadoop cluster.</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b="1" dirty="0">
                <a:solidFill>
                  <a:schemeClr val="dk1"/>
                </a:solidFill>
                <a:latin typeface="Arial"/>
                <a:ea typeface="Arial"/>
                <a:cs typeface="Arial"/>
                <a:sym typeface="Arial"/>
              </a:rPr>
              <a:t>What YARN does:</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dirty="0">
                <a:solidFill>
                  <a:schemeClr val="dk1"/>
                </a:solidFill>
                <a:latin typeface="Arial"/>
                <a:ea typeface="Arial"/>
                <a:cs typeface="Arial"/>
                <a:sym typeface="Arial"/>
              </a:rPr>
              <a:t>Allocates CPU, memory, and containers to applications</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dirty="0">
                <a:solidFill>
                  <a:schemeClr val="dk1"/>
                </a:solidFill>
                <a:latin typeface="Arial"/>
                <a:ea typeface="Arial"/>
                <a:cs typeface="Arial"/>
                <a:sym typeface="Arial"/>
              </a:rPr>
              <a:t>Schedules and manages tasks in the cluster</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dirty="0">
                <a:solidFill>
                  <a:schemeClr val="dk1"/>
                </a:solidFill>
                <a:latin typeface="Arial"/>
                <a:ea typeface="Arial"/>
                <a:cs typeface="Arial"/>
                <a:sym typeface="Arial"/>
              </a:rPr>
              <a:t>Allows multiple processing engines to run on Hadoop (Spark, Hive, MapReduce, etc.)</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dirty="0">
                <a:solidFill>
                  <a:schemeClr val="dk1"/>
                </a:solidFill>
                <a:latin typeface="Arial"/>
                <a:ea typeface="Arial"/>
                <a:cs typeface="Arial"/>
                <a:sym typeface="Arial"/>
              </a:rPr>
              <a:t>Tracks failures, retries, and container usage</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b="1" dirty="0">
                <a:solidFill>
                  <a:schemeClr val="dk1"/>
                </a:solidFill>
                <a:latin typeface="Arial"/>
                <a:ea typeface="Arial"/>
                <a:cs typeface="Arial"/>
                <a:sym typeface="Arial"/>
              </a:rPr>
              <a:t>Think of YARN like:</a:t>
            </a:r>
            <a:endParaRPr sz="2200" dirty="0"/>
          </a:p>
          <a:p>
            <a:pPr marL="0" marR="0" lvl="0" indent="0" algn="l" rtl="0">
              <a:lnSpc>
                <a:spcPct val="90000"/>
              </a:lnSpc>
              <a:spcBef>
                <a:spcPts val="1090"/>
              </a:spcBef>
              <a:spcAft>
                <a:spcPts val="0"/>
              </a:spcAft>
              <a:buClr>
                <a:schemeClr val="dk1"/>
              </a:buClr>
              <a:buSzPts val="1271"/>
              <a:buFont typeface="Arial"/>
              <a:buChar char="•"/>
            </a:pPr>
            <a:r>
              <a:rPr lang="en-US" sz="2200" b="1" dirty="0">
                <a:solidFill>
                  <a:schemeClr val="dk1"/>
                </a:solidFill>
                <a:latin typeface="Arial"/>
                <a:ea typeface="Arial"/>
                <a:cs typeface="Arial"/>
                <a:sym typeface="Arial"/>
              </a:rPr>
              <a:t>Air Traffic Control</a:t>
            </a:r>
            <a:r>
              <a:rPr lang="en-US" sz="2200" dirty="0">
                <a:solidFill>
                  <a:schemeClr val="dk1"/>
                </a:solidFill>
                <a:latin typeface="Arial"/>
                <a:ea typeface="Arial"/>
                <a:cs typeface="Arial"/>
                <a:sym typeface="Arial"/>
              </a:rPr>
              <a:t> — it decides </a:t>
            </a:r>
            <a:r>
              <a:rPr lang="en-US" sz="2200" i="1" dirty="0">
                <a:solidFill>
                  <a:schemeClr val="dk1"/>
                </a:solidFill>
                <a:latin typeface="Arial"/>
                <a:ea typeface="Arial"/>
                <a:cs typeface="Arial"/>
                <a:sym typeface="Arial"/>
              </a:rPr>
              <a:t>which job gets resources</a:t>
            </a:r>
            <a:r>
              <a:rPr lang="en-US" sz="2200" dirty="0">
                <a:solidFill>
                  <a:schemeClr val="dk1"/>
                </a:solidFill>
                <a:latin typeface="Arial"/>
                <a:ea typeface="Arial"/>
                <a:cs typeface="Arial"/>
                <a:sym typeface="Arial"/>
              </a:rPr>
              <a:t>, </a:t>
            </a:r>
            <a:r>
              <a:rPr lang="en-US" sz="2200" i="1" dirty="0">
                <a:solidFill>
                  <a:schemeClr val="dk1"/>
                </a:solidFill>
                <a:latin typeface="Arial"/>
                <a:ea typeface="Arial"/>
                <a:cs typeface="Arial"/>
                <a:sym typeface="Arial"/>
              </a:rPr>
              <a:t>when</a:t>
            </a:r>
            <a:r>
              <a:rPr lang="en-US" sz="2200" dirty="0">
                <a:solidFill>
                  <a:schemeClr val="dk1"/>
                </a:solidFill>
                <a:latin typeface="Arial"/>
                <a:ea typeface="Arial"/>
                <a:cs typeface="Arial"/>
                <a:sym typeface="Arial"/>
              </a:rPr>
              <a:t>, and </a:t>
            </a:r>
            <a:r>
              <a:rPr lang="en-US" sz="2200" i="1" dirty="0">
                <a:solidFill>
                  <a:schemeClr val="dk1"/>
                </a:solidFill>
                <a:latin typeface="Arial"/>
                <a:ea typeface="Arial"/>
                <a:cs typeface="Arial"/>
                <a:sym typeface="Arial"/>
              </a:rPr>
              <a:t>where</a:t>
            </a:r>
            <a:r>
              <a:rPr lang="en-US" sz="2200" dirty="0">
                <a:solidFill>
                  <a:schemeClr val="dk1"/>
                </a:solidFill>
                <a:latin typeface="Arial"/>
                <a:ea typeface="Arial"/>
                <a:cs typeface="Arial"/>
                <a:sym typeface="Arial"/>
              </a:rPr>
              <a:t>.</a:t>
            </a:r>
            <a:endParaRPr sz="2200" dirty="0"/>
          </a:p>
          <a:p>
            <a:pPr marL="0" marR="0" lvl="0" indent="80709" algn="l" rtl="0">
              <a:lnSpc>
                <a:spcPct val="90000"/>
              </a:lnSpc>
              <a:spcBef>
                <a:spcPts val="1090"/>
              </a:spcBef>
              <a:spcAft>
                <a:spcPts val="0"/>
              </a:spcAft>
              <a:buClr>
                <a:schemeClr val="dk1"/>
              </a:buClr>
              <a:buSzPts val="1271"/>
              <a:buFont typeface="Arial"/>
              <a:buNone/>
            </a:pPr>
            <a:endParaRPr sz="2200" dirty="0">
              <a:solidFill>
                <a:schemeClr val="dk1"/>
              </a:solidFill>
              <a:latin typeface="Arial"/>
              <a:ea typeface="Arial"/>
              <a:cs typeface="Arial"/>
              <a:sym typeface="Arial"/>
            </a:endParaRPr>
          </a:p>
        </p:txBody>
      </p:sp>
      <p:pic>
        <p:nvPicPr>
          <p:cNvPr id="1325" name="Google Shape;1325;p99" descr="Electronics protoboard"/>
          <p:cNvPicPr preferRelativeResize="0"/>
          <p:nvPr/>
        </p:nvPicPr>
        <p:blipFill rotWithShape="1">
          <a:blip r:embed="rId3">
            <a:alphaModFix/>
          </a:blip>
          <a:srcRect l="9356" r="43360" b="-2"/>
          <a:stretch/>
        </p:blipFill>
        <p:spPr>
          <a:xfrm>
            <a:off x="8931562" y="0"/>
            <a:ext cx="3260437" cy="68580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100"/>
          <p:cNvSpPr txBox="1">
            <a:spLocks noGrp="1"/>
          </p:cNvSpPr>
          <p:nvPr>
            <p:ph type="title"/>
          </p:nvPr>
        </p:nvSpPr>
        <p:spPr>
          <a:xfrm>
            <a:off x="4868343" y="548464"/>
            <a:ext cx="5411696" cy="1675623"/>
          </a:xfrm>
          <a:prstGeom prst="rect">
            <a:avLst/>
          </a:prstGeom>
          <a:noFill/>
          <a:ln>
            <a:noFill/>
          </a:ln>
        </p:spPr>
        <p:txBody>
          <a:bodyPr spcFirstLastPara="1" wrap="square" lIns="82975" tIns="41475" rIns="82975" bIns="41475" anchor="b" anchorCtr="0">
            <a:normAutofit/>
          </a:bodyPr>
          <a:lstStyle/>
          <a:p>
            <a:pPr marL="0" lvl="0" indent="0" algn="l" rtl="0">
              <a:lnSpc>
                <a:spcPct val="90000"/>
              </a:lnSpc>
              <a:spcBef>
                <a:spcPts val="0"/>
              </a:spcBef>
              <a:spcAft>
                <a:spcPts val="0"/>
              </a:spcAft>
              <a:buClr>
                <a:schemeClr val="dk1"/>
              </a:buClr>
              <a:buSzPts val="3540"/>
              <a:buFont typeface="Play"/>
              <a:buNone/>
            </a:pPr>
            <a:r>
              <a:rPr lang="en-US" sz="3540"/>
              <a:t>2. MapReduce = A Data Processing Model / Framework</a:t>
            </a:r>
            <a:endParaRPr/>
          </a:p>
        </p:txBody>
      </p:sp>
      <p:pic>
        <p:nvPicPr>
          <p:cNvPr id="1331" name="Google Shape;1331;p100"/>
          <p:cNvPicPr preferRelativeResize="0"/>
          <p:nvPr/>
        </p:nvPicPr>
        <p:blipFill rotWithShape="1">
          <a:blip r:embed="rId3">
            <a:alphaModFix/>
          </a:blip>
          <a:srcRect l="38309" r="35024" b="1"/>
          <a:stretch/>
        </p:blipFill>
        <p:spPr>
          <a:xfrm>
            <a:off x="1243551" y="9"/>
            <a:ext cx="3340428" cy="6857991"/>
          </a:xfrm>
          <a:prstGeom prst="rect">
            <a:avLst/>
          </a:prstGeom>
          <a:noFill/>
          <a:ln>
            <a:noFill/>
          </a:ln>
        </p:spPr>
      </p:pic>
      <p:grpSp>
        <p:nvGrpSpPr>
          <p:cNvPr id="1332" name="Google Shape;1332;p100"/>
          <p:cNvGrpSpPr/>
          <p:nvPr/>
        </p:nvGrpSpPr>
        <p:grpSpPr>
          <a:xfrm>
            <a:off x="4868343" y="2409936"/>
            <a:ext cx="6229496" cy="4475560"/>
            <a:chOff x="0" y="107"/>
            <a:chExt cx="6229496" cy="4475560"/>
          </a:xfrm>
        </p:grpSpPr>
        <p:sp>
          <p:nvSpPr>
            <p:cNvPr id="1333" name="Google Shape;1333;p100"/>
            <p:cNvSpPr/>
            <p:nvPr/>
          </p:nvSpPr>
          <p:spPr>
            <a:xfrm>
              <a:off x="0" y="107"/>
              <a:ext cx="6229496" cy="548506"/>
            </a:xfrm>
            <a:prstGeom prst="roundRect">
              <a:avLst>
                <a:gd name="adj" fmla="val 16667"/>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00"/>
            <p:cNvSpPr txBox="1"/>
            <p:nvPr/>
          </p:nvSpPr>
          <p:spPr>
            <a:xfrm>
              <a:off x="26776" y="26883"/>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MapReduce is a </a:t>
              </a:r>
              <a:r>
                <a:rPr lang="en-US" sz="1600" b="1">
                  <a:solidFill>
                    <a:schemeClr val="lt1"/>
                  </a:solidFill>
                  <a:latin typeface="Arial"/>
                  <a:ea typeface="Arial"/>
                  <a:cs typeface="Arial"/>
                  <a:sym typeface="Arial"/>
                </a:rPr>
                <a:t>programming model</a:t>
              </a:r>
              <a:r>
                <a:rPr lang="en-US" sz="1600">
                  <a:solidFill>
                    <a:schemeClr val="lt1"/>
                  </a:solidFill>
                  <a:latin typeface="Arial"/>
                  <a:ea typeface="Arial"/>
                  <a:cs typeface="Arial"/>
                  <a:sym typeface="Arial"/>
                </a:rPr>
                <a:t> for processing large-scale data in parallel.</a:t>
              </a:r>
              <a:endParaRPr/>
            </a:p>
          </p:txBody>
        </p:sp>
        <p:sp>
          <p:nvSpPr>
            <p:cNvPr id="1335" name="Google Shape;1335;p100"/>
            <p:cNvSpPr/>
            <p:nvPr/>
          </p:nvSpPr>
          <p:spPr>
            <a:xfrm>
              <a:off x="0" y="561115"/>
              <a:ext cx="6229496" cy="548506"/>
            </a:xfrm>
            <a:prstGeom prst="roundRect">
              <a:avLst>
                <a:gd name="adj" fmla="val 16667"/>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00"/>
            <p:cNvSpPr txBox="1"/>
            <p:nvPr/>
          </p:nvSpPr>
          <p:spPr>
            <a:xfrm>
              <a:off x="26776" y="587891"/>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What MapReduce does:</a:t>
              </a:r>
              <a:endParaRPr sz="1600">
                <a:solidFill>
                  <a:schemeClr val="lt1"/>
                </a:solidFill>
                <a:latin typeface="Arial"/>
                <a:ea typeface="Arial"/>
                <a:cs typeface="Arial"/>
                <a:sym typeface="Arial"/>
              </a:endParaRPr>
            </a:p>
          </p:txBody>
        </p:sp>
        <p:sp>
          <p:nvSpPr>
            <p:cNvPr id="1337" name="Google Shape;1337;p100"/>
            <p:cNvSpPr/>
            <p:nvPr/>
          </p:nvSpPr>
          <p:spPr>
            <a:xfrm>
              <a:off x="0" y="1122123"/>
              <a:ext cx="6229496" cy="548506"/>
            </a:xfrm>
            <a:prstGeom prst="roundRect">
              <a:avLst>
                <a:gd name="adj" fmla="val 16667"/>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00"/>
            <p:cNvSpPr txBox="1"/>
            <p:nvPr/>
          </p:nvSpPr>
          <p:spPr>
            <a:xfrm>
              <a:off x="26776" y="1148899"/>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Breaks a big job into small tasks</a:t>
              </a:r>
              <a:endParaRPr/>
            </a:p>
          </p:txBody>
        </p:sp>
        <p:sp>
          <p:nvSpPr>
            <p:cNvPr id="1339" name="Google Shape;1339;p100"/>
            <p:cNvSpPr/>
            <p:nvPr/>
          </p:nvSpPr>
          <p:spPr>
            <a:xfrm>
              <a:off x="0" y="1683130"/>
              <a:ext cx="6229496" cy="548506"/>
            </a:xfrm>
            <a:prstGeom prst="roundRect">
              <a:avLst>
                <a:gd name="adj" fmla="val 16667"/>
              </a:avLst>
            </a:prstGeom>
            <a:gradFill>
              <a:gsLst>
                <a:gs pos="0">
                  <a:srgbClr val="AB4E9D"/>
                </a:gs>
                <a:gs pos="50000">
                  <a:srgbClr val="A62094"/>
                </a:gs>
                <a:gs pos="100000">
                  <a:srgbClr val="961886"/>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00"/>
            <p:cNvSpPr txBox="1"/>
            <p:nvPr/>
          </p:nvSpPr>
          <p:spPr>
            <a:xfrm>
              <a:off x="26776" y="1709906"/>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Performs:</a:t>
              </a:r>
              <a:br>
                <a:rPr lang="en-US" sz="1600">
                  <a:solidFill>
                    <a:schemeClr val="lt1"/>
                  </a:solidFill>
                  <a:latin typeface="Arial"/>
                  <a:ea typeface="Arial"/>
                  <a:cs typeface="Arial"/>
                  <a:sym typeface="Arial"/>
                </a:rPr>
              </a:br>
              <a:r>
                <a:rPr lang="en-US" sz="1600" b="1">
                  <a:solidFill>
                    <a:schemeClr val="lt1"/>
                  </a:solidFill>
                  <a:latin typeface="Arial"/>
                  <a:ea typeface="Arial"/>
                  <a:cs typeface="Arial"/>
                  <a:sym typeface="Arial"/>
                </a:rPr>
                <a:t>Map → Shuffle → Reduce</a:t>
              </a:r>
              <a:endParaRPr sz="1600">
                <a:solidFill>
                  <a:schemeClr val="lt1"/>
                </a:solidFill>
                <a:latin typeface="Arial"/>
                <a:ea typeface="Arial"/>
                <a:cs typeface="Arial"/>
                <a:sym typeface="Arial"/>
              </a:endParaRPr>
            </a:p>
          </p:txBody>
        </p:sp>
        <p:sp>
          <p:nvSpPr>
            <p:cNvPr id="1341" name="Google Shape;1341;p100"/>
            <p:cNvSpPr/>
            <p:nvPr/>
          </p:nvSpPr>
          <p:spPr>
            <a:xfrm>
              <a:off x="0" y="2244138"/>
              <a:ext cx="6229496" cy="548506"/>
            </a:xfrm>
            <a:prstGeom prst="roundRect">
              <a:avLst>
                <a:gd name="adj" fmla="val 16667"/>
              </a:avLst>
            </a:prstGeom>
            <a:gradFill>
              <a:gsLst>
                <a:gs pos="0">
                  <a:srgbClr val="65B150"/>
                </a:gs>
                <a:gs pos="50000">
                  <a:srgbClr val="4AAC24"/>
                </a:gs>
                <a:gs pos="100000">
                  <a:srgbClr val="3F9D1A"/>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00"/>
            <p:cNvSpPr txBox="1"/>
            <p:nvPr/>
          </p:nvSpPr>
          <p:spPr>
            <a:xfrm>
              <a:off x="26776" y="2270914"/>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Runs tasks across many machines</a:t>
              </a:r>
              <a:endParaRPr/>
            </a:p>
          </p:txBody>
        </p:sp>
        <p:sp>
          <p:nvSpPr>
            <p:cNvPr id="1343" name="Google Shape;1343;p100"/>
            <p:cNvSpPr/>
            <p:nvPr/>
          </p:nvSpPr>
          <p:spPr>
            <a:xfrm>
              <a:off x="0" y="2805145"/>
              <a:ext cx="6229496" cy="548506"/>
            </a:xfrm>
            <a:prstGeom prst="roundRect">
              <a:avLst>
                <a:gd name="adj" fmla="val 16667"/>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00"/>
            <p:cNvSpPr txBox="1"/>
            <p:nvPr/>
          </p:nvSpPr>
          <p:spPr>
            <a:xfrm>
              <a:off x="26776" y="2831921"/>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Works best for batch, long-running processes</a:t>
              </a:r>
              <a:endParaRPr/>
            </a:p>
          </p:txBody>
        </p:sp>
        <p:sp>
          <p:nvSpPr>
            <p:cNvPr id="1345" name="Google Shape;1345;p100"/>
            <p:cNvSpPr/>
            <p:nvPr/>
          </p:nvSpPr>
          <p:spPr>
            <a:xfrm>
              <a:off x="0" y="3366153"/>
              <a:ext cx="6229496" cy="548506"/>
            </a:xfrm>
            <a:prstGeom prst="roundRect">
              <a:avLst>
                <a:gd name="adj" fmla="val 16667"/>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00"/>
            <p:cNvSpPr txBox="1"/>
            <p:nvPr/>
          </p:nvSpPr>
          <p:spPr>
            <a:xfrm>
              <a:off x="26776" y="3392929"/>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Think of MapReduce like:</a:t>
              </a:r>
              <a:endParaRPr sz="1600">
                <a:solidFill>
                  <a:schemeClr val="lt1"/>
                </a:solidFill>
                <a:latin typeface="Arial"/>
                <a:ea typeface="Arial"/>
                <a:cs typeface="Arial"/>
                <a:sym typeface="Arial"/>
              </a:endParaRPr>
            </a:p>
          </p:txBody>
        </p:sp>
        <p:sp>
          <p:nvSpPr>
            <p:cNvPr id="1347" name="Google Shape;1347;p100"/>
            <p:cNvSpPr/>
            <p:nvPr/>
          </p:nvSpPr>
          <p:spPr>
            <a:xfrm>
              <a:off x="0" y="3927161"/>
              <a:ext cx="6229496" cy="548506"/>
            </a:xfrm>
            <a:prstGeom prst="roundRect">
              <a:avLst>
                <a:gd name="adj" fmla="val 16667"/>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313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00"/>
            <p:cNvSpPr txBox="1"/>
            <p:nvPr/>
          </p:nvSpPr>
          <p:spPr>
            <a:xfrm>
              <a:off x="26776" y="3953937"/>
              <a:ext cx="6175944" cy="494954"/>
            </a:xfrm>
            <a:prstGeom prst="rect">
              <a:avLst/>
            </a:prstGeom>
            <a:no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The actual airplane</a:t>
              </a:r>
              <a:r>
                <a:rPr lang="en-US" sz="1600">
                  <a:solidFill>
                    <a:schemeClr val="lt1"/>
                  </a:solidFill>
                  <a:latin typeface="Arial"/>
                  <a:ea typeface="Arial"/>
                  <a:cs typeface="Arial"/>
                  <a:sym typeface="Arial"/>
                </a:rPr>
                <a:t> — doing the work (processing data), scheduled by YARN.</a:t>
              </a:r>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pic>
        <p:nvPicPr>
          <p:cNvPr id="1353" name="Google Shape;1353;p101"/>
          <p:cNvPicPr preferRelativeResize="0"/>
          <p:nvPr/>
        </p:nvPicPr>
        <p:blipFill rotWithShape="1">
          <a:blip r:embed="rId3">
            <a:alphaModFix/>
          </a:blip>
          <a:srcRect r="5539" b="-2"/>
          <a:stretch/>
        </p:blipFill>
        <p:spPr>
          <a:xfrm>
            <a:off x="1114242" y="78156"/>
            <a:ext cx="9704916" cy="6857991"/>
          </a:xfrm>
          <a:prstGeom prst="rect">
            <a:avLst/>
          </a:prstGeom>
          <a:noFill/>
          <a:ln>
            <a:noFill/>
          </a:ln>
        </p:spPr>
      </p:pic>
      <p:sp>
        <p:nvSpPr>
          <p:cNvPr id="1354" name="Google Shape;1354;p101"/>
          <p:cNvSpPr txBox="1">
            <a:spLocks noGrp="1"/>
          </p:cNvSpPr>
          <p:nvPr>
            <p:ph type="title"/>
          </p:nvPr>
        </p:nvSpPr>
        <p:spPr>
          <a:xfrm>
            <a:off x="1910747" y="365124"/>
            <a:ext cx="8370506" cy="1325563"/>
          </a:xfrm>
          <a:prstGeom prst="rect">
            <a:avLst/>
          </a:prstGeom>
          <a:noFill/>
          <a:ln>
            <a:noFill/>
          </a:ln>
        </p:spPr>
        <p:txBody>
          <a:bodyPr spcFirstLastPara="1" wrap="square" lIns="82975" tIns="41475" rIns="82975" bIns="41475" anchor="ctr" anchorCtr="0">
            <a:normAutofit/>
          </a:bodyPr>
          <a:lstStyle/>
          <a:p>
            <a:pPr marL="0" lvl="0" indent="0" algn="l" rtl="0">
              <a:lnSpc>
                <a:spcPct val="90000"/>
              </a:lnSpc>
              <a:spcBef>
                <a:spcPts val="0"/>
              </a:spcBef>
              <a:spcAft>
                <a:spcPts val="0"/>
              </a:spcAft>
              <a:buClr>
                <a:schemeClr val="dk1"/>
              </a:buClr>
              <a:buSzPts val="3993"/>
              <a:buFont typeface="Play"/>
              <a:buNone/>
            </a:pPr>
            <a:r>
              <a:rPr lang="en-US" sz="3993"/>
              <a:t>How They Work Together</a:t>
            </a:r>
            <a:endParaRPr/>
          </a:p>
        </p:txBody>
      </p:sp>
      <p:grpSp>
        <p:nvGrpSpPr>
          <p:cNvPr id="1355" name="Google Shape;1355;p101"/>
          <p:cNvGrpSpPr/>
          <p:nvPr/>
        </p:nvGrpSpPr>
        <p:grpSpPr>
          <a:xfrm>
            <a:off x="1770018" y="1604314"/>
            <a:ext cx="8393364" cy="4793805"/>
            <a:chOff x="414846" y="362"/>
            <a:chExt cx="8393364" cy="4793805"/>
          </a:xfrm>
        </p:grpSpPr>
        <p:sp>
          <p:nvSpPr>
            <p:cNvPr id="1356" name="Google Shape;1356;p101"/>
            <p:cNvSpPr/>
            <p:nvPr/>
          </p:nvSpPr>
          <p:spPr>
            <a:xfrm rot="5400000">
              <a:off x="127055" y="802612"/>
              <a:ext cx="1254962" cy="151383"/>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01"/>
            <p:cNvSpPr/>
            <p:nvPr/>
          </p:nvSpPr>
          <p:spPr>
            <a:xfrm>
              <a:off x="414846" y="362"/>
              <a:ext cx="1682037" cy="1009222"/>
            </a:xfrm>
            <a:prstGeom prst="roundRect">
              <a:avLst>
                <a:gd name="adj" fmla="val 10000"/>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01"/>
            <p:cNvSpPr txBox="1"/>
            <p:nvPr/>
          </p:nvSpPr>
          <p:spPr>
            <a:xfrm>
              <a:off x="444405" y="29921"/>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dirty="0">
                  <a:solidFill>
                    <a:schemeClr val="lt1"/>
                  </a:solidFill>
                  <a:latin typeface="Arial"/>
                  <a:ea typeface="Arial"/>
                  <a:cs typeface="Arial"/>
                  <a:sym typeface="Arial"/>
                </a:rPr>
                <a:t>Before Hadoop 2.0:</a:t>
              </a:r>
              <a:endParaRPr dirty="0"/>
            </a:p>
          </p:txBody>
        </p:sp>
        <p:sp>
          <p:nvSpPr>
            <p:cNvPr id="1359" name="Google Shape;1359;p101"/>
            <p:cNvSpPr/>
            <p:nvPr/>
          </p:nvSpPr>
          <p:spPr>
            <a:xfrm rot="5400000">
              <a:off x="127055" y="2064140"/>
              <a:ext cx="1254962" cy="151383"/>
            </a:xfrm>
            <a:prstGeom prst="rect">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01"/>
            <p:cNvSpPr/>
            <p:nvPr/>
          </p:nvSpPr>
          <p:spPr>
            <a:xfrm>
              <a:off x="414846" y="1261890"/>
              <a:ext cx="1682037" cy="1009222"/>
            </a:xfrm>
            <a:prstGeom prst="roundRect">
              <a:avLst>
                <a:gd name="adj" fmla="val 10000"/>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01"/>
            <p:cNvSpPr txBox="1"/>
            <p:nvPr/>
          </p:nvSpPr>
          <p:spPr>
            <a:xfrm>
              <a:off x="444405" y="1291449"/>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MapReduce = both compute engine + resource manager</a:t>
              </a:r>
              <a:endParaRPr/>
            </a:p>
          </p:txBody>
        </p:sp>
        <p:sp>
          <p:nvSpPr>
            <p:cNvPr id="1362" name="Google Shape;1362;p101"/>
            <p:cNvSpPr/>
            <p:nvPr/>
          </p:nvSpPr>
          <p:spPr>
            <a:xfrm rot="5400000">
              <a:off x="127055" y="3325668"/>
              <a:ext cx="1254962" cy="151383"/>
            </a:xfrm>
            <a:prstGeom prst="rect">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01"/>
            <p:cNvSpPr/>
            <p:nvPr/>
          </p:nvSpPr>
          <p:spPr>
            <a:xfrm>
              <a:off x="414846" y="2523417"/>
              <a:ext cx="1682037" cy="1009222"/>
            </a:xfrm>
            <a:prstGeom prst="roundRect">
              <a:avLst>
                <a:gd name="adj" fmla="val 10000"/>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01"/>
            <p:cNvSpPr txBox="1"/>
            <p:nvPr/>
          </p:nvSpPr>
          <p:spPr>
            <a:xfrm>
              <a:off x="444405" y="2552976"/>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Only one type of job could run: MapReduce</a:t>
              </a:r>
              <a:endParaRPr/>
            </a:p>
          </p:txBody>
        </p:sp>
        <p:sp>
          <p:nvSpPr>
            <p:cNvPr id="1365" name="Google Shape;1365;p101"/>
            <p:cNvSpPr/>
            <p:nvPr/>
          </p:nvSpPr>
          <p:spPr>
            <a:xfrm>
              <a:off x="757818" y="3956431"/>
              <a:ext cx="2230543" cy="151383"/>
            </a:xfrm>
            <a:prstGeom prst="rect">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01"/>
            <p:cNvSpPr/>
            <p:nvPr/>
          </p:nvSpPr>
          <p:spPr>
            <a:xfrm>
              <a:off x="414846" y="3784945"/>
              <a:ext cx="1682037" cy="1009222"/>
            </a:xfrm>
            <a:prstGeom prst="roundRect">
              <a:avLst>
                <a:gd name="adj" fmla="val 10000"/>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01"/>
            <p:cNvSpPr txBox="1"/>
            <p:nvPr/>
          </p:nvSpPr>
          <p:spPr>
            <a:xfrm>
              <a:off x="444405" y="3814504"/>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After Hadoop 2.0 (with YARN):</a:t>
              </a:r>
              <a:endParaRPr/>
            </a:p>
          </p:txBody>
        </p:sp>
        <p:sp>
          <p:nvSpPr>
            <p:cNvPr id="1368" name="Google Shape;1368;p101"/>
            <p:cNvSpPr/>
            <p:nvPr/>
          </p:nvSpPr>
          <p:spPr>
            <a:xfrm rot="-5400000">
              <a:off x="2364164" y="3325668"/>
              <a:ext cx="1254962" cy="151383"/>
            </a:xfrm>
            <a:prstGeom prst="rect">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01"/>
            <p:cNvSpPr/>
            <p:nvPr/>
          </p:nvSpPr>
          <p:spPr>
            <a:xfrm>
              <a:off x="2651955" y="3784945"/>
              <a:ext cx="1682037" cy="1009222"/>
            </a:xfrm>
            <a:prstGeom prst="roundRect">
              <a:avLst>
                <a:gd name="adj" fmla="val 10000"/>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01"/>
            <p:cNvSpPr txBox="1"/>
            <p:nvPr/>
          </p:nvSpPr>
          <p:spPr>
            <a:xfrm>
              <a:off x="2681514" y="3814504"/>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YARN handles cluster resources</a:t>
              </a:r>
              <a:endParaRPr/>
            </a:p>
          </p:txBody>
        </p:sp>
        <p:sp>
          <p:nvSpPr>
            <p:cNvPr id="1371" name="Google Shape;1371;p101"/>
            <p:cNvSpPr/>
            <p:nvPr/>
          </p:nvSpPr>
          <p:spPr>
            <a:xfrm rot="-5400000">
              <a:off x="2364164" y="2064140"/>
              <a:ext cx="1254962" cy="151383"/>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01"/>
            <p:cNvSpPr/>
            <p:nvPr/>
          </p:nvSpPr>
          <p:spPr>
            <a:xfrm>
              <a:off x="2651955" y="2523417"/>
              <a:ext cx="1682037" cy="1009222"/>
            </a:xfrm>
            <a:prstGeom prst="roundRect">
              <a:avLst>
                <a:gd name="adj" fmla="val 10000"/>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01"/>
            <p:cNvSpPr txBox="1"/>
            <p:nvPr/>
          </p:nvSpPr>
          <p:spPr>
            <a:xfrm>
              <a:off x="2681514" y="2552976"/>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MapReduce becomes just one of the processing frameworks</a:t>
              </a:r>
              <a:endParaRPr/>
            </a:p>
          </p:txBody>
        </p:sp>
        <p:sp>
          <p:nvSpPr>
            <p:cNvPr id="1374" name="Google Shape;1374;p101"/>
            <p:cNvSpPr/>
            <p:nvPr/>
          </p:nvSpPr>
          <p:spPr>
            <a:xfrm rot="-5400000">
              <a:off x="2364164" y="802612"/>
              <a:ext cx="1254962" cy="151383"/>
            </a:xfrm>
            <a:prstGeom prst="rect">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01"/>
            <p:cNvSpPr/>
            <p:nvPr/>
          </p:nvSpPr>
          <p:spPr>
            <a:xfrm>
              <a:off x="2651955" y="1261890"/>
              <a:ext cx="1682037" cy="1009222"/>
            </a:xfrm>
            <a:prstGeom prst="roundRect">
              <a:avLst>
                <a:gd name="adj" fmla="val 10000"/>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01"/>
            <p:cNvSpPr txBox="1"/>
            <p:nvPr/>
          </p:nvSpPr>
          <p:spPr>
            <a:xfrm>
              <a:off x="2681514" y="1291449"/>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So now, on Hadoop you can run:</a:t>
              </a:r>
              <a:endParaRPr/>
            </a:p>
          </p:txBody>
        </p:sp>
        <p:sp>
          <p:nvSpPr>
            <p:cNvPr id="1377" name="Google Shape;1377;p101"/>
            <p:cNvSpPr/>
            <p:nvPr/>
          </p:nvSpPr>
          <p:spPr>
            <a:xfrm>
              <a:off x="2994928" y="171848"/>
              <a:ext cx="2230543" cy="151383"/>
            </a:xfrm>
            <a:prstGeom prst="rect">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01"/>
            <p:cNvSpPr/>
            <p:nvPr/>
          </p:nvSpPr>
          <p:spPr>
            <a:xfrm>
              <a:off x="2651955" y="362"/>
              <a:ext cx="1682037" cy="1009222"/>
            </a:xfrm>
            <a:prstGeom prst="roundRect">
              <a:avLst>
                <a:gd name="adj" fmla="val 10000"/>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01"/>
            <p:cNvSpPr txBox="1"/>
            <p:nvPr/>
          </p:nvSpPr>
          <p:spPr>
            <a:xfrm>
              <a:off x="2681514" y="29921"/>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MapReduce</a:t>
              </a:r>
              <a:endParaRPr/>
            </a:p>
          </p:txBody>
        </p:sp>
        <p:sp>
          <p:nvSpPr>
            <p:cNvPr id="1380" name="Google Shape;1380;p101"/>
            <p:cNvSpPr/>
            <p:nvPr/>
          </p:nvSpPr>
          <p:spPr>
            <a:xfrm rot="5400000">
              <a:off x="4601273" y="802612"/>
              <a:ext cx="1254962" cy="151383"/>
            </a:xfrm>
            <a:prstGeom prst="rect">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01"/>
            <p:cNvSpPr/>
            <p:nvPr/>
          </p:nvSpPr>
          <p:spPr>
            <a:xfrm>
              <a:off x="4889064" y="362"/>
              <a:ext cx="1682037" cy="1009222"/>
            </a:xfrm>
            <a:prstGeom prst="roundRect">
              <a:avLst>
                <a:gd name="adj" fmla="val 10000"/>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01"/>
            <p:cNvSpPr txBox="1"/>
            <p:nvPr/>
          </p:nvSpPr>
          <p:spPr>
            <a:xfrm>
              <a:off x="4918623" y="29921"/>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Spark</a:t>
              </a:r>
              <a:endParaRPr/>
            </a:p>
          </p:txBody>
        </p:sp>
        <p:sp>
          <p:nvSpPr>
            <p:cNvPr id="1383" name="Google Shape;1383;p101"/>
            <p:cNvSpPr/>
            <p:nvPr/>
          </p:nvSpPr>
          <p:spPr>
            <a:xfrm rot="5400000">
              <a:off x="4601273" y="2064140"/>
              <a:ext cx="1254962" cy="151383"/>
            </a:xfrm>
            <a:prstGeom prst="rect">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01"/>
            <p:cNvSpPr/>
            <p:nvPr/>
          </p:nvSpPr>
          <p:spPr>
            <a:xfrm>
              <a:off x="4889064" y="1261890"/>
              <a:ext cx="1682037" cy="1009222"/>
            </a:xfrm>
            <a:prstGeom prst="roundRect">
              <a:avLst>
                <a:gd name="adj" fmla="val 10000"/>
              </a:avLst>
            </a:prstGeom>
            <a:gradFill>
              <a:gsLst>
                <a:gs pos="0">
                  <a:srgbClr val="65B150"/>
                </a:gs>
                <a:gs pos="50000">
                  <a:srgbClr val="4AAC24"/>
                </a:gs>
                <a:gs pos="100000">
                  <a:srgbClr val="3F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01"/>
            <p:cNvSpPr txBox="1"/>
            <p:nvPr/>
          </p:nvSpPr>
          <p:spPr>
            <a:xfrm>
              <a:off x="4918623" y="1291449"/>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Tez</a:t>
              </a:r>
              <a:endParaRPr/>
            </a:p>
          </p:txBody>
        </p:sp>
        <p:sp>
          <p:nvSpPr>
            <p:cNvPr id="1386" name="Google Shape;1386;p101"/>
            <p:cNvSpPr/>
            <p:nvPr/>
          </p:nvSpPr>
          <p:spPr>
            <a:xfrm rot="5400000">
              <a:off x="4601273" y="3325668"/>
              <a:ext cx="1254962" cy="151383"/>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01"/>
            <p:cNvSpPr/>
            <p:nvPr/>
          </p:nvSpPr>
          <p:spPr>
            <a:xfrm>
              <a:off x="4889064" y="2523417"/>
              <a:ext cx="1682037" cy="1009222"/>
            </a:xfrm>
            <a:prstGeom prst="roundRect">
              <a:avLst>
                <a:gd name="adj" fmla="val 10000"/>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01"/>
            <p:cNvSpPr txBox="1"/>
            <p:nvPr/>
          </p:nvSpPr>
          <p:spPr>
            <a:xfrm>
              <a:off x="4918623" y="2552976"/>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Flink</a:t>
              </a:r>
              <a:endParaRPr/>
            </a:p>
          </p:txBody>
        </p:sp>
        <p:sp>
          <p:nvSpPr>
            <p:cNvPr id="1389" name="Google Shape;1389;p101"/>
            <p:cNvSpPr/>
            <p:nvPr/>
          </p:nvSpPr>
          <p:spPr>
            <a:xfrm>
              <a:off x="5232037" y="3956431"/>
              <a:ext cx="2230543" cy="151383"/>
            </a:xfrm>
            <a:prstGeom prst="rect">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01"/>
            <p:cNvSpPr/>
            <p:nvPr/>
          </p:nvSpPr>
          <p:spPr>
            <a:xfrm>
              <a:off x="4889064" y="3784945"/>
              <a:ext cx="1682037" cy="1009222"/>
            </a:xfrm>
            <a:prstGeom prst="roundRect">
              <a:avLst>
                <a:gd name="adj" fmla="val 10000"/>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01"/>
            <p:cNvSpPr txBox="1"/>
            <p:nvPr/>
          </p:nvSpPr>
          <p:spPr>
            <a:xfrm>
              <a:off x="4918623" y="3814504"/>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Storm</a:t>
              </a:r>
              <a:endParaRPr/>
            </a:p>
          </p:txBody>
        </p:sp>
        <p:sp>
          <p:nvSpPr>
            <p:cNvPr id="1392" name="Google Shape;1392;p101"/>
            <p:cNvSpPr/>
            <p:nvPr/>
          </p:nvSpPr>
          <p:spPr>
            <a:xfrm rot="-5400000">
              <a:off x="6838382" y="3325668"/>
              <a:ext cx="1254962" cy="151383"/>
            </a:xfrm>
            <a:prstGeom prst="rect">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01"/>
            <p:cNvSpPr/>
            <p:nvPr/>
          </p:nvSpPr>
          <p:spPr>
            <a:xfrm>
              <a:off x="7126173" y="3784945"/>
              <a:ext cx="1682037" cy="1009222"/>
            </a:xfrm>
            <a:prstGeom prst="roundRect">
              <a:avLst>
                <a:gd name="adj" fmla="val 10000"/>
              </a:avLst>
            </a:prstGeom>
            <a:gradFill>
              <a:gsLst>
                <a:gs pos="0">
                  <a:srgbClr val="47A9DE"/>
                </a:gs>
                <a:gs pos="50000">
                  <a:srgbClr val="00A2DF"/>
                </a:gs>
                <a:gs pos="100000">
                  <a:srgbClr val="0093C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01"/>
            <p:cNvSpPr txBox="1"/>
            <p:nvPr/>
          </p:nvSpPr>
          <p:spPr>
            <a:xfrm>
              <a:off x="7155732" y="3814504"/>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And more…</a:t>
              </a:r>
              <a:endParaRPr/>
            </a:p>
          </p:txBody>
        </p:sp>
        <p:sp>
          <p:nvSpPr>
            <p:cNvPr id="1395" name="Google Shape;1395;p101"/>
            <p:cNvSpPr/>
            <p:nvPr/>
          </p:nvSpPr>
          <p:spPr>
            <a:xfrm>
              <a:off x="7126173" y="2523417"/>
              <a:ext cx="1682037" cy="1009222"/>
            </a:xfrm>
            <a:prstGeom prst="roundRect">
              <a:avLst>
                <a:gd name="adj" fmla="val 10000"/>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01"/>
            <p:cNvSpPr txBox="1"/>
            <p:nvPr/>
          </p:nvSpPr>
          <p:spPr>
            <a:xfrm>
              <a:off x="7155732" y="2552976"/>
              <a:ext cx="1622919" cy="950104"/>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a:solidFill>
                    <a:schemeClr val="lt1"/>
                  </a:solidFill>
                  <a:latin typeface="Arial"/>
                  <a:ea typeface="Arial"/>
                  <a:cs typeface="Arial"/>
                  <a:sym typeface="Arial"/>
                </a:rPr>
                <a:t>All managed by YARN.</a:t>
              </a:r>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102"/>
          <p:cNvSpPr txBox="1">
            <a:spLocks noGrp="1"/>
          </p:cNvSpPr>
          <p:nvPr>
            <p:ph type="title"/>
          </p:nvPr>
        </p:nvSpPr>
        <p:spPr>
          <a:xfrm>
            <a:off x="2046056" y="174031"/>
            <a:ext cx="8099887" cy="1111843"/>
          </a:xfrm>
          <a:prstGeom prst="rect">
            <a:avLst/>
          </a:prstGeom>
          <a:noFill/>
          <a:ln>
            <a:noFill/>
          </a:ln>
        </p:spPr>
        <p:txBody>
          <a:bodyPr spcFirstLastPara="1" wrap="square" lIns="82975" tIns="41475" rIns="82975" bIns="41475" anchor="ctr" anchorCtr="0">
            <a:normAutofit/>
          </a:bodyPr>
          <a:lstStyle/>
          <a:p>
            <a:pPr marL="0" lvl="0" indent="0" algn="ctr" rtl="0">
              <a:lnSpc>
                <a:spcPct val="90000"/>
              </a:lnSpc>
              <a:spcBef>
                <a:spcPts val="0"/>
              </a:spcBef>
              <a:spcAft>
                <a:spcPts val="0"/>
              </a:spcAft>
              <a:buClr>
                <a:schemeClr val="dk1"/>
              </a:buClr>
              <a:buSzPts val="3540"/>
              <a:buFont typeface="Play"/>
              <a:buNone/>
            </a:pPr>
            <a:r>
              <a:rPr lang="en-US" sz="3540"/>
              <a:t>Quick Summary</a:t>
            </a:r>
            <a:endParaRPr/>
          </a:p>
        </p:txBody>
      </p:sp>
      <p:sp>
        <p:nvSpPr>
          <p:cNvPr id="1402" name="Google Shape;1402;p102"/>
          <p:cNvSpPr txBox="1"/>
          <p:nvPr/>
        </p:nvSpPr>
        <p:spPr>
          <a:xfrm>
            <a:off x="2046056" y="1459907"/>
            <a:ext cx="8099887" cy="767904"/>
          </a:xfrm>
          <a:prstGeom prst="rect">
            <a:avLst/>
          </a:prstGeom>
          <a:noFill/>
          <a:ln>
            <a:noFill/>
          </a:ln>
        </p:spPr>
        <p:txBody>
          <a:bodyPr spcFirstLastPara="1" wrap="square" lIns="82975" tIns="41475" rIns="82975" bIns="41475" anchor="ctr" anchorCtr="0">
            <a:normAutofit/>
          </a:bodyPr>
          <a:lstStyle/>
          <a:p>
            <a:pPr marL="0" marR="0" lvl="0" indent="0" algn="ctr" rtl="0">
              <a:lnSpc>
                <a:spcPct val="90000"/>
              </a:lnSpc>
              <a:spcBef>
                <a:spcPts val="0"/>
              </a:spcBef>
              <a:spcAft>
                <a:spcPts val="0"/>
              </a:spcAft>
              <a:buClr>
                <a:schemeClr val="dk1"/>
              </a:buClr>
              <a:buSzPts val="1271"/>
              <a:buFont typeface="Arial"/>
              <a:buChar char="•"/>
            </a:pPr>
            <a:r>
              <a:rPr lang="en-US" sz="1271" b="1">
                <a:solidFill>
                  <a:schemeClr val="dk1"/>
                </a:solidFill>
                <a:latin typeface="Arial"/>
                <a:ea typeface="Arial"/>
                <a:cs typeface="Arial"/>
                <a:sym typeface="Arial"/>
              </a:rPr>
              <a:t>Modern clusters mostly use:</a:t>
            </a:r>
            <a:endParaRPr/>
          </a:p>
          <a:p>
            <a:pPr marL="0" marR="0" lvl="0" indent="0" algn="ctr" rtl="0">
              <a:lnSpc>
                <a:spcPct val="90000"/>
              </a:lnSpc>
              <a:spcBef>
                <a:spcPts val="545"/>
              </a:spcBef>
              <a:spcAft>
                <a:spcPts val="0"/>
              </a:spcAft>
              <a:buClr>
                <a:schemeClr val="dk1"/>
              </a:buClr>
              <a:buSzPts val="1271"/>
              <a:buFont typeface="Arial"/>
              <a:buChar char="•"/>
            </a:pPr>
            <a:r>
              <a:rPr lang="en-US" sz="1271" b="1">
                <a:solidFill>
                  <a:schemeClr val="dk1"/>
                </a:solidFill>
                <a:latin typeface="Arial"/>
                <a:ea typeface="Arial"/>
                <a:cs typeface="Arial"/>
                <a:sym typeface="Arial"/>
              </a:rPr>
              <a:t>Spark on YARN</a:t>
            </a:r>
            <a:r>
              <a:rPr lang="en-US" sz="1271">
                <a:solidFill>
                  <a:schemeClr val="dk1"/>
                </a:solidFill>
                <a:latin typeface="Arial"/>
                <a:ea typeface="Arial"/>
                <a:cs typeface="Arial"/>
                <a:sym typeface="Arial"/>
              </a:rPr>
              <a:t> (faster, in-memory)</a:t>
            </a:r>
            <a:endParaRPr/>
          </a:p>
          <a:p>
            <a:pPr marL="0" marR="0" lvl="0" indent="0" algn="ctr" rtl="0">
              <a:lnSpc>
                <a:spcPct val="90000"/>
              </a:lnSpc>
              <a:spcBef>
                <a:spcPts val="545"/>
              </a:spcBef>
              <a:spcAft>
                <a:spcPts val="0"/>
              </a:spcAft>
              <a:buClr>
                <a:schemeClr val="dk1"/>
              </a:buClr>
              <a:buSzPts val="1271"/>
              <a:buFont typeface="Arial"/>
              <a:buChar char="•"/>
            </a:pPr>
            <a:r>
              <a:rPr lang="en-US" sz="1271">
                <a:solidFill>
                  <a:schemeClr val="dk1"/>
                </a:solidFill>
                <a:latin typeface="Arial"/>
                <a:ea typeface="Arial"/>
                <a:cs typeface="Arial"/>
                <a:sym typeface="Arial"/>
              </a:rPr>
              <a:t>But MapReduce still exists for legacy, reliability, and heavy batch workloads.</a:t>
            </a:r>
            <a:endParaRPr/>
          </a:p>
        </p:txBody>
      </p:sp>
      <p:graphicFrame>
        <p:nvGraphicFramePr>
          <p:cNvPr id="1403" name="Google Shape;1403;p102"/>
          <p:cNvGraphicFramePr/>
          <p:nvPr/>
        </p:nvGraphicFramePr>
        <p:xfrm>
          <a:off x="1908322" y="2434376"/>
          <a:ext cx="8370500" cy="3840950"/>
        </p:xfrm>
        <a:graphic>
          <a:graphicData uri="http://schemas.openxmlformats.org/drawingml/2006/table">
            <a:tbl>
              <a:tblPr>
                <a:noFill/>
                <a:tableStyleId>{F646AA23-0E02-4031-917B-29EA51141A64}</a:tableStyleId>
              </a:tblPr>
              <a:tblGrid>
                <a:gridCol w="2146400">
                  <a:extLst>
                    <a:ext uri="{9D8B030D-6E8A-4147-A177-3AD203B41FA5}">
                      <a16:colId xmlns:a16="http://schemas.microsoft.com/office/drawing/2014/main" val="20000"/>
                    </a:ext>
                  </a:extLst>
                </a:gridCol>
                <a:gridCol w="1933100">
                  <a:extLst>
                    <a:ext uri="{9D8B030D-6E8A-4147-A177-3AD203B41FA5}">
                      <a16:colId xmlns:a16="http://schemas.microsoft.com/office/drawing/2014/main" val="20001"/>
                    </a:ext>
                  </a:extLst>
                </a:gridCol>
                <a:gridCol w="2162525">
                  <a:extLst>
                    <a:ext uri="{9D8B030D-6E8A-4147-A177-3AD203B41FA5}">
                      <a16:colId xmlns:a16="http://schemas.microsoft.com/office/drawing/2014/main" val="20002"/>
                    </a:ext>
                  </a:extLst>
                </a:gridCol>
                <a:gridCol w="2128475">
                  <a:extLst>
                    <a:ext uri="{9D8B030D-6E8A-4147-A177-3AD203B41FA5}">
                      <a16:colId xmlns:a16="http://schemas.microsoft.com/office/drawing/2014/main" val="20003"/>
                    </a:ext>
                  </a:extLst>
                </a:gridCol>
              </a:tblGrid>
              <a:tr h="523150">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Component</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What It Is</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What It Does</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Analogy</a:t>
                      </a:r>
                      <a:endParaRPr/>
                    </a:p>
                  </a:txBody>
                  <a:tcPr marL="103250" marR="103250" marT="51625" marB="51625" anchor="ctr"/>
                </a:tc>
                <a:extLst>
                  <a:ext uri="{0D108BD9-81ED-4DB2-BD59-A6C34878D82A}">
                    <a16:rowId xmlns:a16="http://schemas.microsoft.com/office/drawing/2014/main" val="10000"/>
                  </a:ext>
                </a:extLst>
              </a:tr>
              <a:tr h="2037475">
                <a:tc>
                  <a:txBody>
                    <a:bodyPr/>
                    <a:lstStyle/>
                    <a:p>
                      <a:pPr marL="0" marR="0" lvl="0" indent="0" algn="l" rtl="0">
                        <a:spcBef>
                          <a:spcPts val="0"/>
                        </a:spcBef>
                        <a:spcAft>
                          <a:spcPts val="0"/>
                        </a:spcAft>
                        <a:buClr>
                          <a:schemeClr val="dk1"/>
                        </a:buClr>
                        <a:buSzPts val="2500"/>
                        <a:buFont typeface="Arial"/>
                        <a:buNone/>
                      </a:pPr>
                      <a:r>
                        <a:rPr lang="en-US" sz="2500" b="1" u="none" strike="noStrike" cap="none">
                          <a:latin typeface="Arial"/>
                          <a:ea typeface="Arial"/>
                          <a:cs typeface="Arial"/>
                          <a:sym typeface="Arial"/>
                        </a:rPr>
                        <a:t>YARN</a:t>
                      </a:r>
                      <a:endParaRPr sz="2500" u="none" strike="noStrike" cap="none">
                        <a:latin typeface="Arial"/>
                        <a:ea typeface="Arial"/>
                        <a:cs typeface="Arial"/>
                        <a:sym typeface="Arial"/>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Resource manager</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Assigns cluster resources, schedules jobs</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Air traffic controller</a:t>
                      </a:r>
                      <a:endParaRPr/>
                    </a:p>
                  </a:txBody>
                  <a:tcPr marL="103250" marR="103250" marT="51625" marB="51625" anchor="ctr"/>
                </a:tc>
                <a:extLst>
                  <a:ext uri="{0D108BD9-81ED-4DB2-BD59-A6C34878D82A}">
                    <a16:rowId xmlns:a16="http://schemas.microsoft.com/office/drawing/2014/main" val="10001"/>
                  </a:ext>
                </a:extLst>
              </a:tr>
              <a:tr h="1280325">
                <a:tc>
                  <a:txBody>
                    <a:bodyPr/>
                    <a:lstStyle/>
                    <a:p>
                      <a:pPr marL="0" marR="0" lvl="0" indent="0" algn="l" rtl="0">
                        <a:spcBef>
                          <a:spcPts val="0"/>
                        </a:spcBef>
                        <a:spcAft>
                          <a:spcPts val="0"/>
                        </a:spcAft>
                        <a:buClr>
                          <a:schemeClr val="dk1"/>
                        </a:buClr>
                        <a:buSzPts val="2500"/>
                        <a:buFont typeface="Arial"/>
                        <a:buNone/>
                      </a:pPr>
                      <a:r>
                        <a:rPr lang="en-US" sz="2500" b="1" u="none" strike="noStrike" cap="none">
                          <a:latin typeface="Arial"/>
                          <a:ea typeface="Arial"/>
                          <a:cs typeface="Arial"/>
                          <a:sym typeface="Arial"/>
                        </a:rPr>
                        <a:t>MapReduce</a:t>
                      </a:r>
                      <a:endParaRPr sz="2500" u="none" strike="noStrike" cap="none">
                        <a:latin typeface="Arial"/>
                        <a:ea typeface="Arial"/>
                        <a:cs typeface="Arial"/>
                        <a:sym typeface="Arial"/>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Processing model</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Executes map and reduce tasks</a:t>
                      </a:r>
                      <a:endParaRPr/>
                    </a:p>
                  </a:txBody>
                  <a:tcPr marL="103250" marR="103250" marT="51625" marB="51625" anchor="ctr"/>
                </a:tc>
                <a:tc>
                  <a:txBody>
                    <a:bodyPr/>
                    <a:lstStyle/>
                    <a:p>
                      <a:pPr marL="0" marR="0" lvl="0" indent="0" algn="l" rtl="0">
                        <a:spcBef>
                          <a:spcPts val="0"/>
                        </a:spcBef>
                        <a:spcAft>
                          <a:spcPts val="0"/>
                        </a:spcAft>
                        <a:buClr>
                          <a:schemeClr val="dk1"/>
                        </a:buClr>
                        <a:buSzPts val="2500"/>
                        <a:buFont typeface="Arial"/>
                        <a:buNone/>
                      </a:pPr>
                      <a:r>
                        <a:rPr lang="en-US" sz="2500" u="none" strike="noStrike" cap="none">
                          <a:latin typeface="Arial"/>
                          <a:ea typeface="Arial"/>
                          <a:cs typeface="Arial"/>
                          <a:sym typeface="Arial"/>
                        </a:rPr>
                        <a:t>The airplane doing the work</a:t>
                      </a:r>
                      <a:endParaRPr/>
                    </a:p>
                  </a:txBody>
                  <a:tcPr marL="103250" marR="103250" marT="51625" marB="516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103"/>
          <p:cNvSpPr txBox="1"/>
          <p:nvPr/>
        </p:nvSpPr>
        <p:spPr>
          <a:xfrm>
            <a:off x="1747761" y="640081"/>
            <a:ext cx="5223616" cy="3849244"/>
          </a:xfrm>
          <a:prstGeom prst="rect">
            <a:avLst/>
          </a:prstGeom>
          <a:noFill/>
          <a:ln>
            <a:noFill/>
          </a:ln>
        </p:spPr>
        <p:txBody>
          <a:bodyPr spcFirstLastPara="1" wrap="square" lIns="82975" tIns="41475" rIns="82975" bIns="41475" anchor="b" anchorCtr="0">
            <a:normAutofit/>
          </a:bodyPr>
          <a:lstStyle/>
          <a:p>
            <a:pPr marL="0" marR="0" lvl="0" indent="0" algn="r" rtl="0">
              <a:lnSpc>
                <a:spcPct val="90000"/>
              </a:lnSpc>
              <a:spcBef>
                <a:spcPts val="0"/>
              </a:spcBef>
              <a:spcAft>
                <a:spcPts val="0"/>
              </a:spcAft>
              <a:buNone/>
            </a:pPr>
            <a:r>
              <a:rPr lang="en-US" sz="5446" b="1">
                <a:solidFill>
                  <a:schemeClr val="dk1"/>
                </a:solidFill>
                <a:latin typeface="Play"/>
                <a:ea typeface="Play"/>
                <a:cs typeface="Play"/>
                <a:sym typeface="Play"/>
              </a:rPr>
              <a:t>YARN + MapReduce Fit in This Architecture</a:t>
            </a:r>
            <a:endParaRPr/>
          </a:p>
        </p:txBody>
      </p:sp>
      <p:pic>
        <p:nvPicPr>
          <p:cNvPr id="1409" name="Google Shape;1409;p103"/>
          <p:cNvPicPr preferRelativeResize="0"/>
          <p:nvPr/>
        </p:nvPicPr>
        <p:blipFill rotWithShape="1">
          <a:blip r:embed="rId3">
            <a:alphaModFix/>
          </a:blip>
          <a:srcRect l="8418" r="10967" b="-1"/>
          <a:stretch/>
        </p:blipFill>
        <p:spPr>
          <a:xfrm>
            <a:off x="7255740" y="9"/>
            <a:ext cx="3690301" cy="6857991"/>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pic>
        <p:nvPicPr>
          <p:cNvPr id="1414" name="Google Shape;1414;p104" descr="Close-up of hopscotch on a sidewalk"/>
          <p:cNvPicPr preferRelativeResize="0"/>
          <p:nvPr/>
        </p:nvPicPr>
        <p:blipFill rotWithShape="1">
          <a:blip r:embed="rId3">
            <a:alphaModFix/>
          </a:blip>
          <a:srcRect l="3488" r="2051" b="-2"/>
          <a:stretch/>
        </p:blipFill>
        <p:spPr>
          <a:xfrm>
            <a:off x="1243551" y="9"/>
            <a:ext cx="9704916" cy="6857991"/>
          </a:xfrm>
          <a:prstGeom prst="rect">
            <a:avLst/>
          </a:prstGeom>
          <a:noFill/>
          <a:ln>
            <a:noFill/>
          </a:ln>
        </p:spPr>
      </p:pic>
      <p:sp>
        <p:nvSpPr>
          <p:cNvPr id="1415" name="Google Shape;1415;p104"/>
          <p:cNvSpPr txBox="1">
            <a:spLocks noGrp="1"/>
          </p:cNvSpPr>
          <p:nvPr>
            <p:ph type="title"/>
          </p:nvPr>
        </p:nvSpPr>
        <p:spPr>
          <a:xfrm>
            <a:off x="1660542" y="5317240"/>
            <a:ext cx="8923990" cy="744836"/>
          </a:xfrm>
          <a:prstGeom prst="rect">
            <a:avLst/>
          </a:prstGeom>
          <a:noFill/>
          <a:ln>
            <a:noFill/>
          </a:ln>
        </p:spPr>
        <p:txBody>
          <a:bodyPr spcFirstLastPara="1" wrap="square" lIns="82975" tIns="41475" rIns="82975" bIns="41475" anchor="ctr" anchorCtr="0">
            <a:normAutofit/>
          </a:bodyPr>
          <a:lstStyle/>
          <a:p>
            <a:pPr marL="0" lvl="0" indent="0" algn="ctr" rtl="0">
              <a:lnSpc>
                <a:spcPct val="90000"/>
              </a:lnSpc>
              <a:spcBef>
                <a:spcPts val="0"/>
              </a:spcBef>
              <a:spcAft>
                <a:spcPts val="0"/>
              </a:spcAft>
              <a:buClr>
                <a:srgbClr val="262626"/>
              </a:buClr>
              <a:buSzPts val="2269"/>
              <a:buFont typeface="Play"/>
              <a:buNone/>
            </a:pPr>
            <a:r>
              <a:rPr lang="en-US" sz="2269">
                <a:solidFill>
                  <a:srgbClr val="262626"/>
                </a:solidFill>
              </a:rPr>
              <a:t>END</a:t>
            </a:r>
            <a:br>
              <a:rPr lang="en-US" sz="2269">
                <a:solidFill>
                  <a:srgbClr val="262626"/>
                </a:solidFill>
              </a:rPr>
            </a:br>
            <a:endParaRPr sz="2269">
              <a:solidFill>
                <a:srgbClr val="262626"/>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5385</Words>
  <Application>Microsoft Macintosh PowerPoint</Application>
  <PresentationFormat>Widescreen</PresentationFormat>
  <Paragraphs>734</Paragraphs>
  <Slides>104</Slides>
  <Notes>104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104</vt:i4>
      </vt:variant>
    </vt:vector>
  </HeadingPairs>
  <TitlesOfParts>
    <vt:vector size="112" baseType="lpstr">
      <vt:lpstr>Tahoma</vt:lpstr>
      <vt:lpstr>Play</vt:lpstr>
      <vt:lpstr>Merriweather Sans</vt:lpstr>
      <vt:lpstr>Times New Roman</vt:lpstr>
      <vt:lpstr>Calibri</vt:lpstr>
      <vt:lpstr>Arimo</vt:lpstr>
      <vt:lpstr>Arial</vt:lpstr>
      <vt:lpstr>Office Theme</vt:lpstr>
      <vt:lpstr>Big Data Analytics (Spring 2026) </vt:lpstr>
      <vt:lpstr>Overview</vt:lpstr>
      <vt:lpstr>MapReduce</vt:lpstr>
      <vt:lpstr>MapReduce Design Pattern</vt:lpstr>
      <vt:lpstr>Design Pattern Rules</vt:lpstr>
      <vt:lpstr>I. Summarization Pattern</vt:lpstr>
      <vt:lpstr>Numerical Summarization</vt:lpstr>
      <vt:lpstr>Numerical Summarization</vt:lpstr>
      <vt:lpstr>Numerical Summarization</vt:lpstr>
      <vt:lpstr>Numerical Summarization</vt:lpstr>
      <vt:lpstr>Numerical Summarization</vt:lpstr>
      <vt:lpstr>Counting with Counters</vt:lpstr>
      <vt:lpstr>Counting with Counters</vt:lpstr>
      <vt:lpstr>Counting with Counters</vt:lpstr>
      <vt:lpstr>Counting with Counters</vt:lpstr>
      <vt:lpstr>II. Filtering Pattern</vt:lpstr>
      <vt:lpstr>Filtering</vt:lpstr>
      <vt:lpstr>Filtering</vt:lpstr>
      <vt:lpstr>Filtering</vt:lpstr>
      <vt:lpstr>Filtering</vt:lpstr>
      <vt:lpstr>Filtering</vt:lpstr>
      <vt:lpstr>Top Ten</vt:lpstr>
      <vt:lpstr>Top Ten</vt:lpstr>
      <vt:lpstr>Top Ten</vt:lpstr>
      <vt:lpstr>Top Ten</vt:lpstr>
      <vt:lpstr>Top Ten</vt:lpstr>
      <vt:lpstr>Distinct</vt:lpstr>
      <vt:lpstr>Distinct</vt:lpstr>
      <vt:lpstr>Distinct</vt:lpstr>
      <vt:lpstr>Distinct</vt:lpstr>
      <vt:lpstr>III. Data Organization Pattern</vt:lpstr>
      <vt:lpstr>Structured to Hierarchical</vt:lpstr>
      <vt:lpstr>Structured to Hierarchical</vt:lpstr>
      <vt:lpstr>Structured to Hierarchical</vt:lpstr>
      <vt:lpstr>Structured to Hierarchical</vt:lpstr>
      <vt:lpstr>Partitioning</vt:lpstr>
      <vt:lpstr>Partitioning</vt:lpstr>
      <vt:lpstr>Partitioning</vt:lpstr>
      <vt:lpstr>Partitioning</vt:lpstr>
      <vt:lpstr>Shuffling</vt:lpstr>
      <vt:lpstr>Shuffling</vt:lpstr>
      <vt:lpstr>Window Function </vt:lpstr>
      <vt:lpstr>Window Function </vt:lpstr>
      <vt:lpstr>Window Function </vt:lpstr>
      <vt:lpstr>Shuffling</vt:lpstr>
      <vt:lpstr>IV. Join Pattern</vt:lpstr>
      <vt:lpstr>Refresher on Joins</vt:lpstr>
      <vt:lpstr>Refresher on Joins</vt:lpstr>
      <vt:lpstr>PowerPoint Presentation</vt:lpstr>
      <vt:lpstr>Refresher on Joins</vt:lpstr>
      <vt:lpstr>Refresher on Joins</vt:lpstr>
      <vt:lpstr>Refresher on Joins</vt:lpstr>
      <vt:lpstr>Refresher on Joins</vt:lpstr>
      <vt:lpstr>Refresher on Joins</vt:lpstr>
      <vt:lpstr>Refresher on Joins</vt:lpstr>
      <vt:lpstr>Refresher on Joins</vt:lpstr>
      <vt:lpstr>Refresher on Joins</vt:lpstr>
      <vt:lpstr>Refresher on Joins</vt:lpstr>
      <vt:lpstr>Refresher on Joins</vt:lpstr>
      <vt:lpstr>Reduce Side Join</vt:lpstr>
      <vt:lpstr>Reduce Side Join</vt:lpstr>
      <vt:lpstr>Reduce Side Join</vt:lpstr>
      <vt:lpstr>Reduce Side Join</vt:lpstr>
      <vt:lpstr>Replicated Side Join</vt:lpstr>
      <vt:lpstr>Replicated Side Join</vt:lpstr>
      <vt:lpstr>Replicated Side Join</vt:lpstr>
      <vt:lpstr>Replicated Side Join</vt:lpstr>
      <vt:lpstr>Summary</vt:lpstr>
      <vt:lpstr>Map Reduce in Practice II Design patterns</vt:lpstr>
      <vt:lpstr>Total Order</vt:lpstr>
      <vt:lpstr>Total Order</vt:lpstr>
      <vt:lpstr>Total Order</vt:lpstr>
      <vt:lpstr>Total Order</vt:lpstr>
      <vt:lpstr> New Hardware Approach </vt:lpstr>
      <vt:lpstr> New Software Approach </vt:lpstr>
      <vt:lpstr> Hadoop </vt:lpstr>
      <vt:lpstr> Distributions </vt:lpstr>
      <vt:lpstr> Distributions </vt:lpstr>
      <vt:lpstr> HDFS </vt:lpstr>
      <vt:lpstr> Access to HDFS </vt:lpstr>
      <vt:lpstr> hadoop fs examples </vt:lpstr>
      <vt:lpstr> hadoop fs examples </vt:lpstr>
      <vt:lpstr> hadoop fs examples </vt:lpstr>
      <vt:lpstr> Hadoop Namenode webpage </vt:lpstr>
      <vt:lpstr> Hadoop Namenode webpage </vt:lpstr>
      <vt:lpstr> Hadoop Namenode webpage </vt:lpstr>
      <vt:lpstr> MapReduce </vt:lpstr>
      <vt:lpstr> MapReduce </vt:lpstr>
      <vt:lpstr> MapReduce </vt:lpstr>
      <vt:lpstr> MapReduce </vt:lpstr>
      <vt:lpstr> MapReduce </vt:lpstr>
      <vt:lpstr> Hadoop Architecture </vt:lpstr>
      <vt:lpstr> MapReduce In Action  Calculate average word length per first letter of word</vt:lpstr>
      <vt:lpstr> AverageWordLength </vt:lpstr>
      <vt:lpstr> LetterMapper </vt:lpstr>
      <vt:lpstr>AverageReducer</vt:lpstr>
      <vt:lpstr> JobTracker page </vt:lpstr>
      <vt:lpstr> JobTracker page </vt:lpstr>
      <vt:lpstr>YARN = Cluster Resource Manager</vt:lpstr>
      <vt:lpstr>2. MapReduce = A Data Processing Model / Framework</vt:lpstr>
      <vt:lpstr>How They Work Together</vt:lpstr>
      <vt:lpstr>Quick Summary</vt:lpstr>
      <vt:lpstr>PowerPoint Presentation</vt:lpstr>
      <vt:lpstr>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Dong</dc:creator>
  <cp:lastModifiedBy>Yu Zhang</cp:lastModifiedBy>
  <cp:revision>1</cp:revision>
  <dcterms:created xsi:type="dcterms:W3CDTF">2025-11-14T22:11:04Z</dcterms:created>
  <dcterms:modified xsi:type="dcterms:W3CDTF">2026-05-22T22:39:31Z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2021-01-08T00:00:00Z</vt:filetime>
  </property>
  <property fmtid="{D5CDD505-2E9C-101B-9397-08002B2CF9AE}" pid="3" name="Creator">
    <vt:lpwstr>Microsoft® PowerPoint® 2013</vt:lpwstr>
  </property>
  <property fmtid="{D5CDD505-2E9C-101B-9397-08002B2CF9AE}" pid="4" name="LastSaved">
    <vt:filetime>2025-11-14T00:00:00Z</vt:filetime>
  </property>
  <property fmtid="{D5CDD505-2E9C-101B-9397-08002B2CF9AE}" pid="5" name="Producer">
    <vt:lpwstr>Microsoft® PowerPoint® 2013</vt:lpwstr>
  </property>
</Properties>
</file>