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y="6858000" cx="12192000"/>
  <p:notesSz cx="12192000" cy="6858000"/>
  <p:embeddedFontLst>
    <p:embeddedFont>
      <p:font typeface="Play"/>
      <p:regular r:id="rId66"/>
      <p:bold r:id="rId67"/>
    </p:embeddedFont>
    <p:embeddedFont>
      <p:font typeface="Arimo"/>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72" roundtripDataSignature="AMtx7mhwa8ZIXegHY5eshcCyx2VddsGd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E5C25F-0834-4540-90C9-EA6330668ED8}">
  <a:tblStyle styleId="{7AE5C25F-0834-4540-90C9-EA6330668ED8}" styleName="Table_0">
    <a:wholeTbl>
      <a:tcTxStyle b="off" i="off">
        <a:font>
          <a:latin typeface="Aptos"/>
          <a:ea typeface="Aptos"/>
          <a:cs typeface="Apto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customschemas.google.com/relationships/presentationmetadata" Target="meta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Arimo-boldItalic.fntdata"/><Relationship Id="rId70" Type="http://schemas.openxmlformats.org/officeDocument/2006/relationships/font" Target="fonts/Arimo-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Play-regular.fntdata"/><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Arimo-regular.fntdata"/><Relationship Id="rId23" Type="http://schemas.openxmlformats.org/officeDocument/2006/relationships/slide" Target="slides/slide17.xml"/><Relationship Id="rId67" Type="http://schemas.openxmlformats.org/officeDocument/2006/relationships/font" Target="fonts/Play-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Arimo-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2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4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4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4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4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4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4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4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4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4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4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4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5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5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5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5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5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5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5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5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5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5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5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5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5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5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5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5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5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5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5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2" name="Shape 22"/>
        <p:cNvGrpSpPr/>
        <p:nvPr/>
      </p:nvGrpSpPr>
      <p:grpSpPr>
        <a:xfrm>
          <a:off x="0" y="0"/>
          <a:ext cx="0" cy="0"/>
          <a:chOff x="0" y="0"/>
          <a:chExt cx="0" cy="0"/>
        </a:xfrm>
      </p:grpSpPr>
      <p:sp>
        <p:nvSpPr>
          <p:cNvPr id="23" name="Google Shape;23;p63"/>
          <p:cNvSpPr txBox="1"/>
          <p:nvPr>
            <p:ph type="title"/>
          </p:nvPr>
        </p:nvSpPr>
        <p:spPr>
          <a:xfrm>
            <a:off x="838200" y="365125"/>
            <a:ext cx="10515600" cy="1325563"/>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4400"/>
              <a:buFont typeface="Arial"/>
              <a:buNone/>
              <a:defRPr b="0" i="0" sz="4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63"/>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406400" lvl="0" marL="457200" algn="l">
              <a:lnSpc>
                <a:spcPct val="90000"/>
              </a:lnSpc>
              <a:spcBef>
                <a:spcPts val="1000"/>
              </a:spcBef>
              <a:spcAft>
                <a:spcPts val="0"/>
              </a:spcAft>
              <a:buClr>
                <a:schemeClr val="dk1"/>
              </a:buClr>
              <a:buSzPts val="2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63"/>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406400" lvl="0" marL="457200" algn="l">
              <a:lnSpc>
                <a:spcPct val="90000"/>
              </a:lnSpc>
              <a:spcBef>
                <a:spcPts val="1000"/>
              </a:spcBef>
              <a:spcAft>
                <a:spcPts val="0"/>
              </a:spcAft>
              <a:buClr>
                <a:schemeClr val="dk1"/>
              </a:buClr>
              <a:buSzPts val="2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63"/>
          <p:cNvSpPr txBox="1"/>
          <p:nvPr>
            <p:ph idx="11" type="ftr"/>
          </p:nvPr>
        </p:nvSpPr>
        <p:spPr>
          <a:xfrm>
            <a:off x="4038600" y="6356350"/>
            <a:ext cx="4114800" cy="3651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3"/>
          <p:cNvSpPr txBox="1"/>
          <p:nvPr>
            <p:ph idx="10" type="dt"/>
          </p:nvPr>
        </p:nvSpPr>
        <p:spPr>
          <a:xfrm>
            <a:off x="838200" y="6356350"/>
            <a:ext cx="2743200" cy="365125"/>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3"/>
          <p:cNvSpPr txBox="1"/>
          <p:nvPr>
            <p:ph idx="12" type="sldNum"/>
          </p:nvPr>
        </p:nvSpPr>
        <p:spPr>
          <a:xfrm>
            <a:off x="8610600" y="6356350"/>
            <a:ext cx="2743200"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200">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29" name="Shape 29"/>
        <p:cNvGrpSpPr/>
        <p:nvPr/>
      </p:nvGrpSpPr>
      <p:grpSpPr>
        <a:xfrm>
          <a:off x="0" y="0"/>
          <a:ext cx="0" cy="0"/>
          <a:chOff x="0" y="0"/>
          <a:chExt cx="0" cy="0"/>
        </a:xfrm>
      </p:grpSpPr>
      <p:sp>
        <p:nvSpPr>
          <p:cNvPr id="30" name="Google Shape;30;p64"/>
          <p:cNvSpPr txBox="1"/>
          <p:nvPr>
            <p:ph type="ctrTitle"/>
          </p:nvPr>
        </p:nvSpPr>
        <p:spPr>
          <a:xfrm>
            <a:off x="2373248" y="580389"/>
            <a:ext cx="7445502" cy="696594"/>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lt1"/>
              </a:buClr>
              <a:buSzPts val="4400"/>
              <a:buFont typeface="Arial"/>
              <a:buNone/>
              <a:defRPr b="0" i="0" sz="4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4"/>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90000"/>
              </a:lnSpc>
              <a:spcBef>
                <a:spcPts val="1000"/>
              </a:spcBef>
              <a:spcAft>
                <a:spcPts val="0"/>
              </a:spcAft>
              <a:buClr>
                <a:srgbClr val="063D86"/>
              </a:buClr>
              <a:buSzPts val="2200"/>
              <a:buChar char="•"/>
              <a:defRPr b="0" i="0" sz="2200">
                <a:solidFill>
                  <a:srgbClr val="063D86"/>
                </a:solidFill>
                <a:latin typeface="Arial"/>
                <a:ea typeface="Arial"/>
                <a:cs typeface="Arial"/>
                <a:sym typeface="Arial"/>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32" name="Google Shape;32;p64"/>
          <p:cNvSpPr txBox="1"/>
          <p:nvPr>
            <p:ph idx="11" type="ftr"/>
          </p:nvPr>
        </p:nvSpPr>
        <p:spPr>
          <a:xfrm>
            <a:off x="4038600" y="6356350"/>
            <a:ext cx="4114800" cy="3651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4"/>
          <p:cNvSpPr txBox="1"/>
          <p:nvPr>
            <p:ph idx="10" type="dt"/>
          </p:nvPr>
        </p:nvSpPr>
        <p:spPr>
          <a:xfrm>
            <a:off x="838200" y="6356350"/>
            <a:ext cx="2743200" cy="365125"/>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4"/>
          <p:cNvSpPr txBox="1"/>
          <p:nvPr>
            <p:ph idx="12" type="sldNum"/>
          </p:nvPr>
        </p:nvSpPr>
        <p:spPr>
          <a:xfrm>
            <a:off x="8610600" y="6356350"/>
            <a:ext cx="2743200" cy="365125"/>
          </a:xfrm>
          <a:prstGeom prst="rect">
            <a:avLst/>
          </a:prstGeom>
          <a:noFill/>
          <a:ln>
            <a:noFill/>
          </a:ln>
        </p:spPr>
        <p:txBody>
          <a:bodyPr anchorCtr="0" anchor="ctr" bIns="0" lIns="0" spcFirstLastPara="1" rIns="0" wrap="square" tIns="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200">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6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8" name="Google Shape;38;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6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4" name="Google Shape;44;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6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6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6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6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6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7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7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0" name="Google Shape;70;p7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4" name="Shape 74"/>
        <p:cNvGrpSpPr/>
        <p:nvPr/>
      </p:nvGrpSpPr>
      <p:grpSpPr>
        <a:xfrm>
          <a:off x="0" y="0"/>
          <a:ext cx="0" cy="0"/>
          <a:chOff x="0" y="0"/>
          <a:chExt cx="0" cy="0"/>
        </a:xfrm>
      </p:grpSpPr>
      <p:sp>
        <p:nvSpPr>
          <p:cNvPr id="75" name="Google Shape;75;p7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71"/>
          <p:cNvSpPr/>
          <p:nvPr>
            <p:ph idx="2" type="pic"/>
          </p:nvPr>
        </p:nvSpPr>
        <p:spPr>
          <a:xfrm>
            <a:off x="5183188" y="987425"/>
            <a:ext cx="6172200" cy="4873625"/>
          </a:xfrm>
          <a:prstGeom prst="rect">
            <a:avLst/>
          </a:prstGeom>
          <a:noFill/>
          <a:ln>
            <a:noFill/>
          </a:ln>
        </p:spPr>
      </p:sp>
      <p:sp>
        <p:nvSpPr>
          <p:cNvPr id="77" name="Google Shape;77;p7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 name="Google Shape;78;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7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7" name="Shape 87"/>
        <p:cNvGrpSpPr/>
        <p:nvPr/>
      </p:nvGrpSpPr>
      <p:grpSpPr>
        <a:xfrm>
          <a:off x="0" y="0"/>
          <a:ext cx="0" cy="0"/>
          <a:chOff x="0" y="0"/>
          <a:chExt cx="0" cy="0"/>
        </a:xfrm>
      </p:grpSpPr>
      <p:sp>
        <p:nvSpPr>
          <p:cNvPr id="88" name="Google Shape;88;p7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7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9.jpg"/><Relationship Id="rId5"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www.edureka.co/blog/hadoop-ecosystem" TargetMode="External"/><Relationship Id="rId4" Type="http://schemas.openxmlformats.org/officeDocument/2006/relationships/image" Target="../media/image5.jpg"/><Relationship Id="rId5" Type="http://schemas.openxmlformats.org/officeDocument/2006/relationships/hyperlink" Target="https://www.edureka.co/blog/hadoop-ecosyste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1.jp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21.png"/><Relationship Id="rId7" Type="http://schemas.openxmlformats.org/officeDocument/2006/relationships/image" Target="../media/image45.png"/><Relationship Id="rId8"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8.jpg"/><Relationship Id="rId4" Type="http://schemas.openxmlformats.org/officeDocument/2006/relationships/hyperlink" Target="https://drive.google.com/drive/folders/1nGsrNeJwtDa7C2hAEmcbB_VdPQk3QgCJ"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hyperlink" Target="https://colab.research.google.com/drive/17ExNzsO_R_YSy5V-bZDhvNdQqieZJPv6" TargetMode="External"/><Relationship Id="rId4" Type="http://schemas.openxmlformats.org/officeDocument/2006/relationships/image" Target="../media/image4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3.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0.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2.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 name="Shape 96"/>
        <p:cNvGrpSpPr/>
        <p:nvPr/>
      </p:nvGrpSpPr>
      <p:grpSpPr>
        <a:xfrm>
          <a:off x="0" y="0"/>
          <a:ext cx="0" cy="0"/>
          <a:chOff x="0" y="0"/>
          <a:chExt cx="0" cy="0"/>
        </a:xfrm>
      </p:grpSpPr>
      <p:grpSp>
        <p:nvGrpSpPr>
          <p:cNvPr id="97" name="Google Shape;97;p1"/>
          <p:cNvGrpSpPr/>
          <p:nvPr/>
        </p:nvGrpSpPr>
        <p:grpSpPr>
          <a:xfrm>
            <a:off x="0" y="13447"/>
            <a:ext cx="12192000" cy="6858127"/>
            <a:chOff x="0" y="0"/>
            <a:chExt cx="12192000" cy="6858127"/>
          </a:xfrm>
        </p:grpSpPr>
        <p:sp>
          <p:nvSpPr>
            <p:cNvPr id="98" name="Google Shape;98;p1"/>
            <p:cNvSpPr/>
            <p:nvPr/>
          </p:nvSpPr>
          <p:spPr>
            <a:xfrm>
              <a:off x="8072628" y="5498591"/>
              <a:ext cx="3840479" cy="716280"/>
            </a:xfrm>
            <a:custGeom>
              <a:rect b="b" l="l" r="r" t="t"/>
              <a:pathLst>
                <a:path extrusionOk="0" h="716279" w="3840479">
                  <a:moveTo>
                    <a:pt x="3840479" y="0"/>
                  </a:moveTo>
                  <a:lnTo>
                    <a:pt x="3831971" y="0"/>
                  </a:lnTo>
                  <a:lnTo>
                    <a:pt x="3670173" y="20193"/>
                  </a:lnTo>
                  <a:lnTo>
                    <a:pt x="3164967" y="91770"/>
                  </a:lnTo>
                  <a:lnTo>
                    <a:pt x="2807207" y="149974"/>
                  </a:lnTo>
                  <a:lnTo>
                    <a:pt x="2432557" y="217119"/>
                  </a:lnTo>
                  <a:lnTo>
                    <a:pt x="2089150" y="282028"/>
                  </a:lnTo>
                  <a:lnTo>
                    <a:pt x="1124077" y="445439"/>
                  </a:lnTo>
                  <a:lnTo>
                    <a:pt x="828801" y="490207"/>
                  </a:lnTo>
                  <a:lnTo>
                    <a:pt x="266826" y="568540"/>
                  </a:lnTo>
                  <a:lnTo>
                    <a:pt x="0" y="602119"/>
                  </a:lnTo>
                  <a:lnTo>
                    <a:pt x="184530" y="622261"/>
                  </a:lnTo>
                  <a:lnTo>
                    <a:pt x="530860" y="655840"/>
                  </a:lnTo>
                  <a:lnTo>
                    <a:pt x="860044" y="682701"/>
                  </a:lnTo>
                  <a:lnTo>
                    <a:pt x="1166622" y="700608"/>
                  </a:lnTo>
                  <a:lnTo>
                    <a:pt x="1314196" y="707326"/>
                  </a:lnTo>
                  <a:lnTo>
                    <a:pt x="1458976" y="711796"/>
                  </a:lnTo>
                  <a:lnTo>
                    <a:pt x="1731518" y="716280"/>
                  </a:lnTo>
                  <a:lnTo>
                    <a:pt x="1862074" y="716280"/>
                  </a:lnTo>
                  <a:lnTo>
                    <a:pt x="2114677" y="711796"/>
                  </a:lnTo>
                  <a:lnTo>
                    <a:pt x="2233929" y="707326"/>
                  </a:lnTo>
                  <a:lnTo>
                    <a:pt x="2461005" y="693889"/>
                  </a:lnTo>
                  <a:lnTo>
                    <a:pt x="2571623" y="684936"/>
                  </a:lnTo>
                  <a:lnTo>
                    <a:pt x="2781680" y="662559"/>
                  </a:lnTo>
                  <a:lnTo>
                    <a:pt x="2980436" y="635698"/>
                  </a:lnTo>
                  <a:lnTo>
                    <a:pt x="3167761" y="604354"/>
                  </a:lnTo>
                  <a:lnTo>
                    <a:pt x="3346577" y="568540"/>
                  </a:lnTo>
                  <a:lnTo>
                    <a:pt x="3516883" y="528256"/>
                  </a:lnTo>
                  <a:lnTo>
                    <a:pt x="3678681" y="483489"/>
                  </a:lnTo>
                  <a:lnTo>
                    <a:pt x="3834765" y="436486"/>
                  </a:lnTo>
                  <a:lnTo>
                    <a:pt x="3840479" y="434238"/>
                  </a:lnTo>
                  <a:lnTo>
                    <a:pt x="3840479" y="0"/>
                  </a:lnTo>
                  <a:close/>
                </a:path>
              </a:pathLst>
            </a:custGeom>
            <a:solidFill>
              <a:srgbClr val="C5E7FB">
                <a:alpha val="29019"/>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1"/>
            <p:cNvSpPr/>
            <p:nvPr/>
          </p:nvSpPr>
          <p:spPr>
            <a:xfrm>
              <a:off x="3496055" y="5370576"/>
              <a:ext cx="7402195" cy="852169"/>
            </a:xfrm>
            <a:custGeom>
              <a:rect b="b" l="l" r="r" t="t"/>
              <a:pathLst>
                <a:path extrusionOk="0" h="852170" w="7402195">
                  <a:moveTo>
                    <a:pt x="1138174" y="0"/>
                  </a:moveTo>
                  <a:lnTo>
                    <a:pt x="913892" y="0"/>
                  </a:lnTo>
                  <a:lnTo>
                    <a:pt x="703834" y="4445"/>
                  </a:lnTo>
                  <a:lnTo>
                    <a:pt x="508000" y="11176"/>
                  </a:lnTo>
                  <a:lnTo>
                    <a:pt x="326390" y="22352"/>
                  </a:lnTo>
                  <a:lnTo>
                    <a:pt x="156083" y="35814"/>
                  </a:lnTo>
                  <a:lnTo>
                    <a:pt x="0" y="53721"/>
                  </a:lnTo>
                  <a:lnTo>
                    <a:pt x="445643" y="96139"/>
                  </a:lnTo>
                  <a:lnTo>
                    <a:pt x="925195" y="156464"/>
                  </a:lnTo>
                  <a:lnTo>
                    <a:pt x="1439037" y="234784"/>
                  </a:lnTo>
                  <a:lnTo>
                    <a:pt x="1711452" y="279501"/>
                  </a:lnTo>
                  <a:lnTo>
                    <a:pt x="2491994" y="422605"/>
                  </a:lnTo>
                  <a:lnTo>
                    <a:pt x="3417189" y="576884"/>
                  </a:lnTo>
                  <a:lnTo>
                    <a:pt x="4047236" y="668566"/>
                  </a:lnTo>
                  <a:lnTo>
                    <a:pt x="4626229" y="740117"/>
                  </a:lnTo>
                  <a:lnTo>
                    <a:pt x="5321681" y="807199"/>
                  </a:lnTo>
                  <a:lnTo>
                    <a:pt x="5483479" y="818375"/>
                  </a:lnTo>
                  <a:lnTo>
                    <a:pt x="5789930" y="836269"/>
                  </a:lnTo>
                  <a:lnTo>
                    <a:pt x="5937504" y="842975"/>
                  </a:lnTo>
                  <a:lnTo>
                    <a:pt x="6221349" y="851916"/>
                  </a:lnTo>
                  <a:lnTo>
                    <a:pt x="6485382" y="851916"/>
                  </a:lnTo>
                  <a:lnTo>
                    <a:pt x="6735064" y="847445"/>
                  </a:lnTo>
                  <a:lnTo>
                    <a:pt x="6854317" y="842975"/>
                  </a:lnTo>
                  <a:lnTo>
                    <a:pt x="6970649" y="836269"/>
                  </a:lnTo>
                  <a:lnTo>
                    <a:pt x="7299833" y="809434"/>
                  </a:lnTo>
                  <a:lnTo>
                    <a:pt x="7402068" y="798245"/>
                  </a:lnTo>
                  <a:lnTo>
                    <a:pt x="7072884" y="766953"/>
                  </a:lnTo>
                  <a:lnTo>
                    <a:pt x="6723761" y="728941"/>
                  </a:lnTo>
                  <a:lnTo>
                    <a:pt x="5965952" y="630555"/>
                  </a:lnTo>
                  <a:lnTo>
                    <a:pt x="5120132" y="498627"/>
                  </a:lnTo>
                  <a:lnTo>
                    <a:pt x="3806063" y="263842"/>
                  </a:lnTo>
                  <a:lnTo>
                    <a:pt x="3448430" y="205740"/>
                  </a:lnTo>
                  <a:lnTo>
                    <a:pt x="2943225" y="134112"/>
                  </a:lnTo>
                  <a:lnTo>
                    <a:pt x="2625344" y="96139"/>
                  </a:lnTo>
                  <a:lnTo>
                    <a:pt x="2174113" y="51435"/>
                  </a:lnTo>
                  <a:lnTo>
                    <a:pt x="1893062" y="31242"/>
                  </a:lnTo>
                  <a:lnTo>
                    <a:pt x="1629156" y="15621"/>
                  </a:lnTo>
                  <a:lnTo>
                    <a:pt x="1376553" y="4445"/>
                  </a:lnTo>
                  <a:lnTo>
                    <a:pt x="1138174" y="0"/>
                  </a:lnTo>
                  <a:close/>
                </a:path>
              </a:pathLst>
            </a:custGeom>
            <a:solidFill>
              <a:srgbClr val="C5E7FB">
                <a:alpha val="4000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1"/>
            <p:cNvSpPr/>
            <p:nvPr/>
          </p:nvSpPr>
          <p:spPr>
            <a:xfrm>
              <a:off x="3777234" y="5369814"/>
              <a:ext cx="8129270" cy="789940"/>
            </a:xfrm>
            <a:custGeom>
              <a:rect b="b" l="l" r="r" t="t"/>
              <a:pathLst>
                <a:path extrusionOk="0" h="789939" w="8129270">
                  <a:moveTo>
                    <a:pt x="0" y="91948"/>
                  </a:moveTo>
                  <a:lnTo>
                    <a:pt x="25526" y="87503"/>
                  </a:lnTo>
                  <a:lnTo>
                    <a:pt x="102235" y="76327"/>
                  </a:lnTo>
                  <a:lnTo>
                    <a:pt x="232790" y="60706"/>
                  </a:lnTo>
                  <a:lnTo>
                    <a:pt x="317880" y="51689"/>
                  </a:lnTo>
                  <a:lnTo>
                    <a:pt x="417194" y="42799"/>
                  </a:lnTo>
                  <a:lnTo>
                    <a:pt x="527938" y="36068"/>
                  </a:lnTo>
                  <a:lnTo>
                    <a:pt x="655574" y="29337"/>
                  </a:lnTo>
                  <a:lnTo>
                    <a:pt x="794765" y="22606"/>
                  </a:lnTo>
                  <a:lnTo>
                    <a:pt x="950849" y="18161"/>
                  </a:lnTo>
                  <a:lnTo>
                    <a:pt x="1121155" y="16002"/>
                  </a:lnTo>
                  <a:lnTo>
                    <a:pt x="1305560" y="13716"/>
                  </a:lnTo>
                  <a:lnTo>
                    <a:pt x="1504314" y="16002"/>
                  </a:lnTo>
                  <a:lnTo>
                    <a:pt x="1717166" y="20447"/>
                  </a:lnTo>
                  <a:lnTo>
                    <a:pt x="1947037" y="29337"/>
                  </a:lnTo>
                  <a:lnTo>
                    <a:pt x="2191130" y="40513"/>
                  </a:lnTo>
                  <a:lnTo>
                    <a:pt x="2449449" y="58420"/>
                  </a:lnTo>
                  <a:lnTo>
                    <a:pt x="2724657" y="78486"/>
                  </a:lnTo>
                  <a:lnTo>
                    <a:pt x="3017012" y="103124"/>
                  </a:lnTo>
                  <a:lnTo>
                    <a:pt x="3323590" y="132207"/>
                  </a:lnTo>
                  <a:lnTo>
                    <a:pt x="3647186" y="168021"/>
                  </a:lnTo>
                  <a:lnTo>
                    <a:pt x="3984879" y="208153"/>
                  </a:lnTo>
                  <a:lnTo>
                    <a:pt x="4339717" y="255143"/>
                  </a:lnTo>
                  <a:lnTo>
                    <a:pt x="4711445" y="311035"/>
                  </a:lnTo>
                  <a:lnTo>
                    <a:pt x="5100320" y="371398"/>
                  </a:lnTo>
                  <a:lnTo>
                    <a:pt x="5506212" y="438454"/>
                  </a:lnTo>
                  <a:lnTo>
                    <a:pt x="5929121" y="514464"/>
                  </a:lnTo>
                  <a:lnTo>
                    <a:pt x="6369049" y="597179"/>
                  </a:lnTo>
                  <a:lnTo>
                    <a:pt x="6825996" y="688835"/>
                  </a:lnTo>
                  <a:lnTo>
                    <a:pt x="7299959" y="789432"/>
                  </a:lnTo>
                </a:path>
                <a:path extrusionOk="0" h="789939" w="8129270">
                  <a:moveTo>
                    <a:pt x="3712464" y="652272"/>
                  </a:moveTo>
                  <a:lnTo>
                    <a:pt x="3840225" y="625462"/>
                  </a:lnTo>
                  <a:lnTo>
                    <a:pt x="4189348" y="556221"/>
                  </a:lnTo>
                  <a:lnTo>
                    <a:pt x="4430521" y="509308"/>
                  </a:lnTo>
                  <a:lnTo>
                    <a:pt x="4708779" y="457923"/>
                  </a:lnTo>
                  <a:lnTo>
                    <a:pt x="5018150" y="402082"/>
                  </a:lnTo>
                  <a:lnTo>
                    <a:pt x="5350256" y="341769"/>
                  </a:lnTo>
                  <a:lnTo>
                    <a:pt x="5702172" y="283692"/>
                  </a:lnTo>
                  <a:lnTo>
                    <a:pt x="6062598" y="225615"/>
                  </a:lnTo>
                  <a:lnTo>
                    <a:pt x="6431661" y="171958"/>
                  </a:lnTo>
                  <a:lnTo>
                    <a:pt x="6797802" y="120650"/>
                  </a:lnTo>
                  <a:lnTo>
                    <a:pt x="6979411" y="98298"/>
                  </a:lnTo>
                  <a:lnTo>
                    <a:pt x="7155434" y="75946"/>
                  </a:lnTo>
                  <a:lnTo>
                    <a:pt x="7331456" y="58039"/>
                  </a:lnTo>
                  <a:lnTo>
                    <a:pt x="7501763" y="40259"/>
                  </a:lnTo>
                  <a:lnTo>
                    <a:pt x="7669148" y="26797"/>
                  </a:lnTo>
                  <a:lnTo>
                    <a:pt x="7828152" y="15621"/>
                  </a:lnTo>
                  <a:lnTo>
                    <a:pt x="7981442" y="6731"/>
                  </a:lnTo>
                  <a:lnTo>
                    <a:pt x="8129015" y="0"/>
                  </a:lnTo>
                </a:path>
              </a:pathLst>
            </a:custGeom>
            <a:noFill/>
            <a:ln cap="flat" cmpd="sng" w="952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1"/>
            <p:cNvSpPr/>
            <p:nvPr/>
          </p:nvSpPr>
          <p:spPr>
            <a:xfrm>
              <a:off x="281940" y="5353811"/>
              <a:ext cx="11631295" cy="1332230"/>
            </a:xfrm>
            <a:custGeom>
              <a:rect b="b" l="l" r="r" t="t"/>
              <a:pathLst>
                <a:path extrusionOk="0" h="1332229" w="11631295">
                  <a:moveTo>
                    <a:pt x="2074799" y="0"/>
                  </a:moveTo>
                  <a:lnTo>
                    <a:pt x="1870456" y="0"/>
                  </a:lnTo>
                  <a:lnTo>
                    <a:pt x="1677416" y="4444"/>
                  </a:lnTo>
                  <a:lnTo>
                    <a:pt x="1495805" y="11175"/>
                  </a:lnTo>
                  <a:lnTo>
                    <a:pt x="1166495" y="33528"/>
                  </a:lnTo>
                  <a:lnTo>
                    <a:pt x="1016126" y="49149"/>
                  </a:lnTo>
                  <a:lnTo>
                    <a:pt x="879856" y="64769"/>
                  </a:lnTo>
                  <a:lnTo>
                    <a:pt x="752132" y="82676"/>
                  </a:lnTo>
                  <a:lnTo>
                    <a:pt x="638606" y="102743"/>
                  </a:lnTo>
                  <a:lnTo>
                    <a:pt x="530758" y="120650"/>
                  </a:lnTo>
                  <a:lnTo>
                    <a:pt x="437095" y="140843"/>
                  </a:lnTo>
                  <a:lnTo>
                    <a:pt x="275310" y="178815"/>
                  </a:lnTo>
                  <a:lnTo>
                    <a:pt x="210032" y="196722"/>
                  </a:lnTo>
                  <a:lnTo>
                    <a:pt x="68122" y="241363"/>
                  </a:lnTo>
                  <a:lnTo>
                    <a:pt x="0" y="268185"/>
                  </a:lnTo>
                  <a:lnTo>
                    <a:pt x="0" y="1331976"/>
                  </a:lnTo>
                  <a:lnTo>
                    <a:pt x="11625453" y="1331976"/>
                  </a:lnTo>
                  <a:lnTo>
                    <a:pt x="11631167" y="1325270"/>
                  </a:lnTo>
                  <a:lnTo>
                    <a:pt x="11631167" y="851484"/>
                  </a:lnTo>
                  <a:lnTo>
                    <a:pt x="9576308" y="851484"/>
                  </a:lnTo>
                  <a:lnTo>
                    <a:pt x="9391777" y="849249"/>
                  </a:lnTo>
                  <a:lnTo>
                    <a:pt x="9198737" y="844778"/>
                  </a:lnTo>
                  <a:lnTo>
                    <a:pt x="9000109" y="838072"/>
                  </a:lnTo>
                  <a:lnTo>
                    <a:pt x="8792971" y="826897"/>
                  </a:lnTo>
                  <a:lnTo>
                    <a:pt x="8347329" y="793369"/>
                  </a:lnTo>
                  <a:lnTo>
                    <a:pt x="7867650" y="746442"/>
                  </a:lnTo>
                  <a:lnTo>
                    <a:pt x="7612253" y="717384"/>
                  </a:lnTo>
                  <a:lnTo>
                    <a:pt x="7345426" y="683869"/>
                  </a:lnTo>
                  <a:lnTo>
                    <a:pt x="6482588" y="558711"/>
                  </a:lnTo>
                  <a:lnTo>
                    <a:pt x="5514721" y="395566"/>
                  </a:lnTo>
                  <a:lnTo>
                    <a:pt x="4819396" y="268185"/>
                  </a:lnTo>
                  <a:lnTo>
                    <a:pt x="4163695" y="165353"/>
                  </a:lnTo>
                  <a:lnTo>
                    <a:pt x="3857244" y="125094"/>
                  </a:lnTo>
                  <a:lnTo>
                    <a:pt x="3564890" y="91566"/>
                  </a:lnTo>
                  <a:lnTo>
                    <a:pt x="3283839" y="62610"/>
                  </a:lnTo>
                  <a:lnTo>
                    <a:pt x="3017012" y="40259"/>
                  </a:lnTo>
                  <a:lnTo>
                    <a:pt x="2764409" y="22351"/>
                  </a:lnTo>
                  <a:lnTo>
                    <a:pt x="2293366" y="2285"/>
                  </a:lnTo>
                  <a:lnTo>
                    <a:pt x="2074799" y="0"/>
                  </a:lnTo>
                  <a:close/>
                </a:path>
                <a:path extrusionOk="0" h="1332229" w="11631295">
                  <a:moveTo>
                    <a:pt x="11631167" y="569887"/>
                  </a:moveTo>
                  <a:lnTo>
                    <a:pt x="11517630" y="605650"/>
                  </a:lnTo>
                  <a:lnTo>
                    <a:pt x="11409807" y="636930"/>
                  </a:lnTo>
                  <a:lnTo>
                    <a:pt x="11296268" y="665988"/>
                  </a:lnTo>
                  <a:lnTo>
                    <a:pt x="11060684" y="719620"/>
                  </a:lnTo>
                  <a:lnTo>
                    <a:pt x="10935842" y="744207"/>
                  </a:lnTo>
                  <a:lnTo>
                    <a:pt x="10674731" y="784440"/>
                  </a:lnTo>
                  <a:lnTo>
                    <a:pt x="10535539" y="802309"/>
                  </a:lnTo>
                  <a:lnTo>
                    <a:pt x="10240391" y="829132"/>
                  </a:lnTo>
                  <a:lnTo>
                    <a:pt x="9922510" y="847013"/>
                  </a:lnTo>
                  <a:lnTo>
                    <a:pt x="9752203" y="851484"/>
                  </a:lnTo>
                  <a:lnTo>
                    <a:pt x="11631167" y="851484"/>
                  </a:lnTo>
                  <a:lnTo>
                    <a:pt x="11631167" y="569887"/>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02" name="Google Shape;102;p1"/>
            <p:cNvPicPr preferRelativeResize="0"/>
            <p:nvPr/>
          </p:nvPicPr>
          <p:blipFill rotWithShape="1">
            <a:blip r:embed="rId3">
              <a:alphaModFix/>
            </a:blip>
            <a:srcRect b="0" l="0" r="0" t="0"/>
            <a:stretch/>
          </p:blipFill>
          <p:spPr>
            <a:xfrm>
              <a:off x="0" y="4654294"/>
              <a:ext cx="12192000" cy="2203705"/>
            </a:xfrm>
            <a:prstGeom prst="rect">
              <a:avLst/>
            </a:prstGeom>
            <a:noFill/>
            <a:ln>
              <a:noFill/>
            </a:ln>
          </p:spPr>
        </p:pic>
        <p:sp>
          <p:nvSpPr>
            <p:cNvPr id="103" name="Google Shape;103;p1"/>
            <p:cNvSpPr/>
            <p:nvPr/>
          </p:nvSpPr>
          <p:spPr>
            <a:xfrm>
              <a:off x="0" y="4751832"/>
              <a:ext cx="12192000" cy="2106295"/>
            </a:xfrm>
            <a:custGeom>
              <a:rect b="b" l="l" r="r" t="t"/>
              <a:pathLst>
                <a:path extrusionOk="0" h="2106295" w="12192000">
                  <a:moveTo>
                    <a:pt x="0" y="1692935"/>
                  </a:moveTo>
                  <a:lnTo>
                    <a:pt x="0" y="2106168"/>
                  </a:lnTo>
                  <a:lnTo>
                    <a:pt x="12192000" y="2106168"/>
                  </a:lnTo>
                  <a:lnTo>
                    <a:pt x="12192000" y="1751497"/>
                  </a:lnTo>
                  <a:lnTo>
                    <a:pt x="2934817" y="1751497"/>
                  </a:lnTo>
                  <a:lnTo>
                    <a:pt x="2876641" y="1751349"/>
                  </a:lnTo>
                  <a:lnTo>
                    <a:pt x="2817092" y="1751121"/>
                  </a:lnTo>
                  <a:lnTo>
                    <a:pt x="0" y="1692935"/>
                  </a:lnTo>
                  <a:close/>
                </a:path>
                <a:path extrusionOk="0" h="2106295" w="12192000">
                  <a:moveTo>
                    <a:pt x="12192000" y="0"/>
                  </a:moveTo>
                  <a:lnTo>
                    <a:pt x="11716943" y="166999"/>
                  </a:lnTo>
                  <a:lnTo>
                    <a:pt x="10889368" y="446031"/>
                  </a:lnTo>
                  <a:lnTo>
                    <a:pt x="10181449" y="670627"/>
                  </a:lnTo>
                  <a:lnTo>
                    <a:pt x="9576625" y="850361"/>
                  </a:lnTo>
                  <a:lnTo>
                    <a:pt x="9061926" y="993217"/>
                  </a:lnTo>
                  <a:lnTo>
                    <a:pt x="8627362" y="1105785"/>
                  </a:lnTo>
                  <a:lnTo>
                    <a:pt x="8205916" y="1207284"/>
                  </a:lnTo>
                  <a:lnTo>
                    <a:pt x="7796037" y="1298223"/>
                  </a:lnTo>
                  <a:lnTo>
                    <a:pt x="7396173" y="1379112"/>
                  </a:lnTo>
                  <a:lnTo>
                    <a:pt x="7060227" y="1440831"/>
                  </a:lnTo>
                  <a:lnTo>
                    <a:pt x="6729521" y="1495861"/>
                  </a:lnTo>
                  <a:lnTo>
                    <a:pt x="6403079" y="1544521"/>
                  </a:lnTo>
                  <a:lnTo>
                    <a:pt x="6026314" y="1593670"/>
                  </a:lnTo>
                  <a:lnTo>
                    <a:pt x="5652470" y="1635094"/>
                  </a:lnTo>
                  <a:lnTo>
                    <a:pt x="5279994" y="1669304"/>
                  </a:lnTo>
                  <a:lnTo>
                    <a:pt x="4907336" y="1696809"/>
                  </a:lnTo>
                  <a:lnTo>
                    <a:pt x="4479226" y="1720684"/>
                  </a:lnTo>
                  <a:lnTo>
                    <a:pt x="3992010" y="1738816"/>
                  </a:lnTo>
                  <a:lnTo>
                    <a:pt x="3376991" y="1750019"/>
                  </a:lnTo>
                  <a:lnTo>
                    <a:pt x="3324690" y="1750449"/>
                  </a:lnTo>
                  <a:lnTo>
                    <a:pt x="3101274" y="1751497"/>
                  </a:lnTo>
                  <a:lnTo>
                    <a:pt x="12192000" y="1751497"/>
                  </a:lnTo>
                  <a:lnTo>
                    <a:pt x="12192000" y="0"/>
                  </a:lnTo>
                  <a:close/>
                </a:path>
              </a:pathLst>
            </a:custGeom>
            <a:solidFill>
              <a:srgbClr val="5BB9F6">
                <a:alpha val="45098"/>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04" name="Google Shape;104;p1"/>
            <p:cNvPicPr preferRelativeResize="0"/>
            <p:nvPr/>
          </p:nvPicPr>
          <p:blipFill rotWithShape="1">
            <a:blip r:embed="rId4">
              <a:alphaModFix/>
            </a:blip>
            <a:srcRect b="0" l="0" r="0" t="0"/>
            <a:stretch/>
          </p:blipFill>
          <p:spPr>
            <a:xfrm>
              <a:off x="9649968" y="0"/>
              <a:ext cx="2542031" cy="6858000"/>
            </a:xfrm>
            <a:prstGeom prst="rect">
              <a:avLst/>
            </a:prstGeom>
            <a:noFill/>
            <a:ln>
              <a:noFill/>
            </a:ln>
          </p:spPr>
        </p:pic>
        <p:sp>
          <p:nvSpPr>
            <p:cNvPr id="105" name="Google Shape;105;p1"/>
            <p:cNvSpPr/>
            <p:nvPr/>
          </p:nvSpPr>
          <p:spPr>
            <a:xfrm>
              <a:off x="9753600" y="0"/>
              <a:ext cx="2438400" cy="6858000"/>
            </a:xfrm>
            <a:custGeom>
              <a:rect b="b" l="l" r="r" t="t"/>
              <a:pathLst>
                <a:path extrusionOk="0" h="6858000" w="2438400">
                  <a:moveTo>
                    <a:pt x="0" y="0"/>
                  </a:moveTo>
                  <a:lnTo>
                    <a:pt x="45891" y="47929"/>
                  </a:lnTo>
                  <a:lnTo>
                    <a:pt x="91044" y="95891"/>
                  </a:lnTo>
                  <a:lnTo>
                    <a:pt x="135461" y="143882"/>
                  </a:lnTo>
                  <a:lnTo>
                    <a:pt x="179147" y="191900"/>
                  </a:lnTo>
                  <a:lnTo>
                    <a:pt x="222105" y="239944"/>
                  </a:lnTo>
                  <a:lnTo>
                    <a:pt x="264340" y="288010"/>
                  </a:lnTo>
                  <a:lnTo>
                    <a:pt x="305855" y="336097"/>
                  </a:lnTo>
                  <a:lnTo>
                    <a:pt x="346654" y="384203"/>
                  </a:lnTo>
                  <a:lnTo>
                    <a:pt x="386741" y="432325"/>
                  </a:lnTo>
                  <a:lnTo>
                    <a:pt x="426119" y="480460"/>
                  </a:lnTo>
                  <a:lnTo>
                    <a:pt x="464794" y="528608"/>
                  </a:lnTo>
                  <a:lnTo>
                    <a:pt x="502768" y="576765"/>
                  </a:lnTo>
                  <a:lnTo>
                    <a:pt x="540046" y="624930"/>
                  </a:lnTo>
                  <a:lnTo>
                    <a:pt x="576631" y="673099"/>
                  </a:lnTo>
                  <a:lnTo>
                    <a:pt x="612527" y="721271"/>
                  </a:lnTo>
                  <a:lnTo>
                    <a:pt x="647739" y="769444"/>
                  </a:lnTo>
                  <a:lnTo>
                    <a:pt x="682269" y="817616"/>
                  </a:lnTo>
                  <a:lnTo>
                    <a:pt x="716123" y="865783"/>
                  </a:lnTo>
                  <a:lnTo>
                    <a:pt x="749303" y="913945"/>
                  </a:lnTo>
                  <a:lnTo>
                    <a:pt x="781814" y="962098"/>
                  </a:lnTo>
                  <a:lnTo>
                    <a:pt x="813660" y="1010241"/>
                  </a:lnTo>
                  <a:lnTo>
                    <a:pt x="844844" y="1058371"/>
                  </a:lnTo>
                  <a:lnTo>
                    <a:pt x="875371" y="1106486"/>
                  </a:lnTo>
                  <a:lnTo>
                    <a:pt x="905244" y="1154584"/>
                  </a:lnTo>
                  <a:lnTo>
                    <a:pt x="934467" y="1202662"/>
                  </a:lnTo>
                  <a:lnTo>
                    <a:pt x="963043" y="1250719"/>
                  </a:lnTo>
                  <a:lnTo>
                    <a:pt x="990978" y="1298752"/>
                  </a:lnTo>
                  <a:lnTo>
                    <a:pt x="1018275" y="1346758"/>
                  </a:lnTo>
                  <a:lnTo>
                    <a:pt x="1044937" y="1394737"/>
                  </a:lnTo>
                  <a:lnTo>
                    <a:pt x="1070969" y="1442684"/>
                  </a:lnTo>
                  <a:lnTo>
                    <a:pt x="1096375" y="1490599"/>
                  </a:lnTo>
                  <a:lnTo>
                    <a:pt x="1121157" y="1538479"/>
                  </a:lnTo>
                  <a:lnTo>
                    <a:pt x="1145321" y="1586322"/>
                  </a:lnTo>
                  <a:lnTo>
                    <a:pt x="1168870" y="1634125"/>
                  </a:lnTo>
                  <a:lnTo>
                    <a:pt x="1191808" y="1681887"/>
                  </a:lnTo>
                  <a:lnTo>
                    <a:pt x="1214139" y="1729604"/>
                  </a:lnTo>
                  <a:lnTo>
                    <a:pt x="1235867" y="1777276"/>
                  </a:lnTo>
                  <a:lnTo>
                    <a:pt x="1256995" y="1824899"/>
                  </a:lnTo>
                  <a:lnTo>
                    <a:pt x="1277528" y="1872471"/>
                  </a:lnTo>
                  <a:lnTo>
                    <a:pt x="1297469" y="1919990"/>
                  </a:lnTo>
                  <a:lnTo>
                    <a:pt x="1316822" y="1967455"/>
                  </a:lnTo>
                  <a:lnTo>
                    <a:pt x="1335592" y="2014862"/>
                  </a:lnTo>
                  <a:lnTo>
                    <a:pt x="1353782" y="2062210"/>
                  </a:lnTo>
                  <a:lnTo>
                    <a:pt x="1371395" y="2109495"/>
                  </a:lnTo>
                  <a:lnTo>
                    <a:pt x="1388437" y="2156717"/>
                  </a:lnTo>
                  <a:lnTo>
                    <a:pt x="1404910" y="2203873"/>
                  </a:lnTo>
                  <a:lnTo>
                    <a:pt x="1420819" y="2250960"/>
                  </a:lnTo>
                  <a:lnTo>
                    <a:pt x="1436167" y="2297976"/>
                  </a:lnTo>
                  <a:lnTo>
                    <a:pt x="1450959" y="2344920"/>
                  </a:lnTo>
                  <a:lnTo>
                    <a:pt x="1465198" y="2391788"/>
                  </a:lnTo>
                  <a:lnTo>
                    <a:pt x="1478888" y="2438579"/>
                  </a:lnTo>
                  <a:lnTo>
                    <a:pt x="1492033" y="2485290"/>
                  </a:lnTo>
                  <a:lnTo>
                    <a:pt x="1504637" y="2531920"/>
                  </a:lnTo>
                  <a:lnTo>
                    <a:pt x="1516704" y="2578465"/>
                  </a:lnTo>
                  <a:lnTo>
                    <a:pt x="1528237" y="2624925"/>
                  </a:lnTo>
                  <a:lnTo>
                    <a:pt x="1539241" y="2671295"/>
                  </a:lnTo>
                  <a:lnTo>
                    <a:pt x="1549720" y="2717575"/>
                  </a:lnTo>
                  <a:lnTo>
                    <a:pt x="1559677" y="2763762"/>
                  </a:lnTo>
                  <a:lnTo>
                    <a:pt x="1569116" y="2809854"/>
                  </a:lnTo>
                  <a:lnTo>
                    <a:pt x="1578041" y="2855848"/>
                  </a:lnTo>
                  <a:lnTo>
                    <a:pt x="1586456" y="2901743"/>
                  </a:lnTo>
                  <a:lnTo>
                    <a:pt x="1594365" y="2947536"/>
                  </a:lnTo>
                  <a:lnTo>
                    <a:pt x="1601772" y="2993225"/>
                  </a:lnTo>
                  <a:lnTo>
                    <a:pt x="1608680" y="3038807"/>
                  </a:lnTo>
                  <a:lnTo>
                    <a:pt x="1615094" y="3084281"/>
                  </a:lnTo>
                  <a:lnTo>
                    <a:pt x="1621017" y="3129644"/>
                  </a:lnTo>
                  <a:lnTo>
                    <a:pt x="1626454" y="3174894"/>
                  </a:lnTo>
                  <a:lnTo>
                    <a:pt x="1631408" y="3220029"/>
                  </a:lnTo>
                  <a:lnTo>
                    <a:pt x="1635883" y="3265046"/>
                  </a:lnTo>
                  <a:lnTo>
                    <a:pt x="1639883" y="3309943"/>
                  </a:lnTo>
                  <a:lnTo>
                    <a:pt x="1643411" y="3354719"/>
                  </a:lnTo>
                  <a:lnTo>
                    <a:pt x="1646473" y="3399370"/>
                  </a:lnTo>
                  <a:lnTo>
                    <a:pt x="1649071" y="3443895"/>
                  </a:lnTo>
                  <a:lnTo>
                    <a:pt x="1651209" y="3488292"/>
                  </a:lnTo>
                  <a:lnTo>
                    <a:pt x="1652892" y="3532557"/>
                  </a:lnTo>
                  <a:lnTo>
                    <a:pt x="1654123" y="3576690"/>
                  </a:lnTo>
                  <a:lnTo>
                    <a:pt x="1654906" y="3620687"/>
                  </a:lnTo>
                  <a:lnTo>
                    <a:pt x="1655246" y="3664547"/>
                  </a:lnTo>
                  <a:lnTo>
                    <a:pt x="1655145" y="3708266"/>
                  </a:lnTo>
                  <a:lnTo>
                    <a:pt x="1654608" y="3751844"/>
                  </a:lnTo>
                  <a:lnTo>
                    <a:pt x="1653638" y="3795278"/>
                  </a:lnTo>
                  <a:lnTo>
                    <a:pt x="1652241" y="3838565"/>
                  </a:lnTo>
                  <a:lnTo>
                    <a:pt x="1650418" y="3881704"/>
                  </a:lnTo>
                  <a:lnTo>
                    <a:pt x="1648175" y="3924691"/>
                  </a:lnTo>
                  <a:lnTo>
                    <a:pt x="1645516" y="3967526"/>
                  </a:lnTo>
                  <a:lnTo>
                    <a:pt x="1642443" y="4010205"/>
                  </a:lnTo>
                  <a:lnTo>
                    <a:pt x="1638961" y="4052726"/>
                  </a:lnTo>
                  <a:lnTo>
                    <a:pt x="1635074" y="4095088"/>
                  </a:lnTo>
                  <a:lnTo>
                    <a:pt x="1630786" y="4137287"/>
                  </a:lnTo>
                  <a:lnTo>
                    <a:pt x="1626101" y="4179323"/>
                  </a:lnTo>
                  <a:lnTo>
                    <a:pt x="1621022" y="4221192"/>
                  </a:lnTo>
                  <a:lnTo>
                    <a:pt x="1615554" y="4262892"/>
                  </a:lnTo>
                  <a:lnTo>
                    <a:pt x="1609699" y="4304421"/>
                  </a:lnTo>
                  <a:lnTo>
                    <a:pt x="1603463" y="4345777"/>
                  </a:lnTo>
                  <a:lnTo>
                    <a:pt x="1596850" y="4386957"/>
                  </a:lnTo>
                  <a:lnTo>
                    <a:pt x="1589862" y="4427960"/>
                  </a:lnTo>
                  <a:lnTo>
                    <a:pt x="1582503" y="4468783"/>
                  </a:lnTo>
                  <a:lnTo>
                    <a:pt x="1574779" y="4509424"/>
                  </a:lnTo>
                  <a:lnTo>
                    <a:pt x="1566692" y="4549880"/>
                  </a:lnTo>
                  <a:lnTo>
                    <a:pt x="1558247" y="4590150"/>
                  </a:lnTo>
                  <a:lnTo>
                    <a:pt x="1549447" y="4630231"/>
                  </a:lnTo>
                  <a:lnTo>
                    <a:pt x="1540296" y="4670121"/>
                  </a:lnTo>
                  <a:lnTo>
                    <a:pt x="1530799" y="4709818"/>
                  </a:lnTo>
                  <a:lnTo>
                    <a:pt x="1520958" y="4749320"/>
                  </a:lnTo>
                  <a:lnTo>
                    <a:pt x="1510779" y="4788623"/>
                  </a:lnTo>
                  <a:lnTo>
                    <a:pt x="1500264" y="4827727"/>
                  </a:lnTo>
                  <a:lnTo>
                    <a:pt x="1489418" y="4866629"/>
                  </a:lnTo>
                  <a:lnTo>
                    <a:pt x="1478244" y="4905326"/>
                  </a:lnTo>
                  <a:lnTo>
                    <a:pt x="1466747" y="4943816"/>
                  </a:lnTo>
                  <a:lnTo>
                    <a:pt x="1454930" y="4982098"/>
                  </a:lnTo>
                  <a:lnTo>
                    <a:pt x="1442798" y="5020169"/>
                  </a:lnTo>
                  <a:lnTo>
                    <a:pt x="1430353" y="5058026"/>
                  </a:lnTo>
                  <a:lnTo>
                    <a:pt x="1417601" y="5095668"/>
                  </a:lnTo>
                  <a:lnTo>
                    <a:pt x="1404544" y="5133092"/>
                  </a:lnTo>
                  <a:lnTo>
                    <a:pt x="1391188" y="5170296"/>
                  </a:lnTo>
                  <a:lnTo>
                    <a:pt x="1377535" y="5207278"/>
                  </a:lnTo>
                  <a:lnTo>
                    <a:pt x="1363589" y="5244035"/>
                  </a:lnTo>
                  <a:lnTo>
                    <a:pt x="1349355" y="5280566"/>
                  </a:lnTo>
                  <a:lnTo>
                    <a:pt x="1334836" y="5316868"/>
                  </a:lnTo>
                  <a:lnTo>
                    <a:pt x="1320036" y="5352938"/>
                  </a:lnTo>
                  <a:lnTo>
                    <a:pt x="1304959" y="5388775"/>
                  </a:lnTo>
                  <a:lnTo>
                    <a:pt x="1289610" y="5424377"/>
                  </a:lnTo>
                  <a:lnTo>
                    <a:pt x="1273991" y="5459741"/>
                  </a:lnTo>
                  <a:lnTo>
                    <a:pt x="1258107" y="5494865"/>
                  </a:lnTo>
                  <a:lnTo>
                    <a:pt x="1241961" y="5529746"/>
                  </a:lnTo>
                  <a:lnTo>
                    <a:pt x="1225558" y="5564383"/>
                  </a:lnTo>
                  <a:lnTo>
                    <a:pt x="1208901" y="5598774"/>
                  </a:lnTo>
                  <a:lnTo>
                    <a:pt x="1174843" y="5666805"/>
                  </a:lnTo>
                  <a:lnTo>
                    <a:pt x="1139816" y="5733823"/>
                  </a:lnTo>
                  <a:lnTo>
                    <a:pt x="1103853" y="5799809"/>
                  </a:lnTo>
                  <a:lnTo>
                    <a:pt x="1066984" y="5864746"/>
                  </a:lnTo>
                  <a:lnTo>
                    <a:pt x="1029240" y="5928616"/>
                  </a:lnTo>
                  <a:lnTo>
                    <a:pt x="990653" y="5991400"/>
                  </a:lnTo>
                  <a:lnTo>
                    <a:pt x="951253" y="6053082"/>
                  </a:lnTo>
                  <a:lnTo>
                    <a:pt x="911072" y="6113644"/>
                  </a:lnTo>
                  <a:lnTo>
                    <a:pt x="870140" y="6173067"/>
                  </a:lnTo>
                  <a:lnTo>
                    <a:pt x="828490" y="6231333"/>
                  </a:lnTo>
                  <a:lnTo>
                    <a:pt x="786151" y="6288425"/>
                  </a:lnTo>
                  <a:lnTo>
                    <a:pt x="743155" y="6344326"/>
                  </a:lnTo>
                  <a:lnTo>
                    <a:pt x="699533" y="6399016"/>
                  </a:lnTo>
                  <a:lnTo>
                    <a:pt x="655316" y="6452479"/>
                  </a:lnTo>
                  <a:lnTo>
                    <a:pt x="610535" y="6504697"/>
                  </a:lnTo>
                  <a:lnTo>
                    <a:pt x="565221" y="6555651"/>
                  </a:lnTo>
                  <a:lnTo>
                    <a:pt x="519406" y="6605325"/>
                  </a:lnTo>
                  <a:lnTo>
                    <a:pt x="473120" y="6653699"/>
                  </a:lnTo>
                  <a:lnTo>
                    <a:pt x="426394" y="6700756"/>
                  </a:lnTo>
                  <a:lnTo>
                    <a:pt x="379260" y="6746479"/>
                  </a:lnTo>
                  <a:lnTo>
                    <a:pt x="331748" y="6790850"/>
                  </a:lnTo>
                  <a:lnTo>
                    <a:pt x="283891" y="6833850"/>
                  </a:lnTo>
                  <a:lnTo>
                    <a:pt x="259842" y="6854831"/>
                  </a:lnTo>
                  <a:lnTo>
                    <a:pt x="2438400" y="6857999"/>
                  </a:lnTo>
                  <a:lnTo>
                    <a:pt x="2438400" y="14224"/>
                  </a:lnTo>
                  <a:lnTo>
                    <a:pt x="0" y="0"/>
                  </a:lnTo>
                  <a:close/>
                </a:path>
              </a:pathLst>
            </a:custGeom>
            <a:solidFill>
              <a:srgbClr val="C5E7FB">
                <a:alpha val="4000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06" name="Google Shape;106;p1"/>
            <p:cNvPicPr preferRelativeResize="0"/>
            <p:nvPr/>
          </p:nvPicPr>
          <p:blipFill rotWithShape="1">
            <a:blip r:embed="rId3">
              <a:alphaModFix/>
            </a:blip>
            <a:srcRect b="0" l="0" r="0" t="0"/>
            <a:stretch/>
          </p:blipFill>
          <p:spPr>
            <a:xfrm>
              <a:off x="0" y="4654294"/>
              <a:ext cx="12192000" cy="2203705"/>
            </a:xfrm>
            <a:prstGeom prst="rect">
              <a:avLst/>
            </a:prstGeom>
            <a:noFill/>
            <a:ln>
              <a:noFill/>
            </a:ln>
          </p:spPr>
        </p:pic>
        <p:sp>
          <p:nvSpPr>
            <p:cNvPr id="107" name="Google Shape;107;p1"/>
            <p:cNvSpPr/>
            <p:nvPr/>
          </p:nvSpPr>
          <p:spPr>
            <a:xfrm>
              <a:off x="0" y="4751832"/>
              <a:ext cx="12192000" cy="2106295"/>
            </a:xfrm>
            <a:custGeom>
              <a:rect b="b" l="l" r="r" t="t"/>
              <a:pathLst>
                <a:path extrusionOk="0" h="2106295" w="12192000">
                  <a:moveTo>
                    <a:pt x="0" y="1692935"/>
                  </a:moveTo>
                  <a:lnTo>
                    <a:pt x="0" y="2106168"/>
                  </a:lnTo>
                  <a:lnTo>
                    <a:pt x="12192000" y="2106168"/>
                  </a:lnTo>
                  <a:lnTo>
                    <a:pt x="12192000" y="1751497"/>
                  </a:lnTo>
                  <a:lnTo>
                    <a:pt x="2934817" y="1751497"/>
                  </a:lnTo>
                  <a:lnTo>
                    <a:pt x="2876641" y="1751349"/>
                  </a:lnTo>
                  <a:lnTo>
                    <a:pt x="2817092" y="1751121"/>
                  </a:lnTo>
                  <a:lnTo>
                    <a:pt x="0" y="1692935"/>
                  </a:lnTo>
                  <a:close/>
                </a:path>
                <a:path extrusionOk="0" h="2106295" w="12192000">
                  <a:moveTo>
                    <a:pt x="12192000" y="0"/>
                  </a:moveTo>
                  <a:lnTo>
                    <a:pt x="11716943" y="166999"/>
                  </a:lnTo>
                  <a:lnTo>
                    <a:pt x="10889368" y="446031"/>
                  </a:lnTo>
                  <a:lnTo>
                    <a:pt x="10181449" y="670627"/>
                  </a:lnTo>
                  <a:lnTo>
                    <a:pt x="9576625" y="850361"/>
                  </a:lnTo>
                  <a:lnTo>
                    <a:pt x="9061926" y="993217"/>
                  </a:lnTo>
                  <a:lnTo>
                    <a:pt x="8627362" y="1105785"/>
                  </a:lnTo>
                  <a:lnTo>
                    <a:pt x="8205916" y="1207284"/>
                  </a:lnTo>
                  <a:lnTo>
                    <a:pt x="7796037" y="1298223"/>
                  </a:lnTo>
                  <a:lnTo>
                    <a:pt x="7396173" y="1379112"/>
                  </a:lnTo>
                  <a:lnTo>
                    <a:pt x="7060227" y="1440831"/>
                  </a:lnTo>
                  <a:lnTo>
                    <a:pt x="6729521" y="1495861"/>
                  </a:lnTo>
                  <a:lnTo>
                    <a:pt x="6403079" y="1544521"/>
                  </a:lnTo>
                  <a:lnTo>
                    <a:pt x="6026314" y="1593670"/>
                  </a:lnTo>
                  <a:lnTo>
                    <a:pt x="5652470" y="1635094"/>
                  </a:lnTo>
                  <a:lnTo>
                    <a:pt x="5279994" y="1669304"/>
                  </a:lnTo>
                  <a:lnTo>
                    <a:pt x="4907336" y="1696809"/>
                  </a:lnTo>
                  <a:lnTo>
                    <a:pt x="4479226" y="1720684"/>
                  </a:lnTo>
                  <a:lnTo>
                    <a:pt x="3992010" y="1738816"/>
                  </a:lnTo>
                  <a:lnTo>
                    <a:pt x="3376991" y="1750019"/>
                  </a:lnTo>
                  <a:lnTo>
                    <a:pt x="3324690" y="1750449"/>
                  </a:lnTo>
                  <a:lnTo>
                    <a:pt x="3101274" y="1751497"/>
                  </a:lnTo>
                  <a:lnTo>
                    <a:pt x="12192000" y="1751497"/>
                  </a:lnTo>
                  <a:lnTo>
                    <a:pt x="12192000" y="0"/>
                  </a:lnTo>
                  <a:close/>
                </a:path>
              </a:pathLst>
            </a:custGeom>
            <a:solidFill>
              <a:srgbClr val="5BB9F6">
                <a:alpha val="45098"/>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08" name="Google Shape;108;p1"/>
            <p:cNvPicPr preferRelativeResize="0"/>
            <p:nvPr/>
          </p:nvPicPr>
          <p:blipFill rotWithShape="1">
            <a:blip r:embed="rId4">
              <a:alphaModFix/>
            </a:blip>
            <a:srcRect b="0" l="0" r="0" t="0"/>
            <a:stretch/>
          </p:blipFill>
          <p:spPr>
            <a:xfrm>
              <a:off x="9649968" y="0"/>
              <a:ext cx="2542031" cy="6858000"/>
            </a:xfrm>
            <a:prstGeom prst="rect">
              <a:avLst/>
            </a:prstGeom>
            <a:noFill/>
            <a:ln>
              <a:noFill/>
            </a:ln>
          </p:spPr>
        </p:pic>
        <p:sp>
          <p:nvSpPr>
            <p:cNvPr id="109" name="Google Shape;109;p1"/>
            <p:cNvSpPr/>
            <p:nvPr/>
          </p:nvSpPr>
          <p:spPr>
            <a:xfrm>
              <a:off x="9753600" y="0"/>
              <a:ext cx="2438400" cy="6858000"/>
            </a:xfrm>
            <a:custGeom>
              <a:rect b="b" l="l" r="r" t="t"/>
              <a:pathLst>
                <a:path extrusionOk="0" h="6858000" w="2438400">
                  <a:moveTo>
                    <a:pt x="0" y="0"/>
                  </a:moveTo>
                  <a:lnTo>
                    <a:pt x="45891" y="47929"/>
                  </a:lnTo>
                  <a:lnTo>
                    <a:pt x="91044" y="95891"/>
                  </a:lnTo>
                  <a:lnTo>
                    <a:pt x="135461" y="143882"/>
                  </a:lnTo>
                  <a:lnTo>
                    <a:pt x="179147" y="191900"/>
                  </a:lnTo>
                  <a:lnTo>
                    <a:pt x="222105" y="239944"/>
                  </a:lnTo>
                  <a:lnTo>
                    <a:pt x="264340" y="288010"/>
                  </a:lnTo>
                  <a:lnTo>
                    <a:pt x="305855" y="336097"/>
                  </a:lnTo>
                  <a:lnTo>
                    <a:pt x="346654" y="384203"/>
                  </a:lnTo>
                  <a:lnTo>
                    <a:pt x="386741" y="432325"/>
                  </a:lnTo>
                  <a:lnTo>
                    <a:pt x="426119" y="480460"/>
                  </a:lnTo>
                  <a:lnTo>
                    <a:pt x="464794" y="528608"/>
                  </a:lnTo>
                  <a:lnTo>
                    <a:pt x="502768" y="576765"/>
                  </a:lnTo>
                  <a:lnTo>
                    <a:pt x="540046" y="624930"/>
                  </a:lnTo>
                  <a:lnTo>
                    <a:pt x="576631" y="673099"/>
                  </a:lnTo>
                  <a:lnTo>
                    <a:pt x="612527" y="721271"/>
                  </a:lnTo>
                  <a:lnTo>
                    <a:pt x="647739" y="769444"/>
                  </a:lnTo>
                  <a:lnTo>
                    <a:pt x="682269" y="817616"/>
                  </a:lnTo>
                  <a:lnTo>
                    <a:pt x="716123" y="865783"/>
                  </a:lnTo>
                  <a:lnTo>
                    <a:pt x="749303" y="913945"/>
                  </a:lnTo>
                  <a:lnTo>
                    <a:pt x="781814" y="962098"/>
                  </a:lnTo>
                  <a:lnTo>
                    <a:pt x="813660" y="1010241"/>
                  </a:lnTo>
                  <a:lnTo>
                    <a:pt x="844844" y="1058371"/>
                  </a:lnTo>
                  <a:lnTo>
                    <a:pt x="875371" y="1106486"/>
                  </a:lnTo>
                  <a:lnTo>
                    <a:pt x="905244" y="1154584"/>
                  </a:lnTo>
                  <a:lnTo>
                    <a:pt x="934467" y="1202662"/>
                  </a:lnTo>
                  <a:lnTo>
                    <a:pt x="963043" y="1250719"/>
                  </a:lnTo>
                  <a:lnTo>
                    <a:pt x="990978" y="1298752"/>
                  </a:lnTo>
                  <a:lnTo>
                    <a:pt x="1018275" y="1346758"/>
                  </a:lnTo>
                  <a:lnTo>
                    <a:pt x="1044937" y="1394737"/>
                  </a:lnTo>
                  <a:lnTo>
                    <a:pt x="1070969" y="1442684"/>
                  </a:lnTo>
                  <a:lnTo>
                    <a:pt x="1096375" y="1490599"/>
                  </a:lnTo>
                  <a:lnTo>
                    <a:pt x="1121157" y="1538479"/>
                  </a:lnTo>
                  <a:lnTo>
                    <a:pt x="1145321" y="1586322"/>
                  </a:lnTo>
                  <a:lnTo>
                    <a:pt x="1168870" y="1634125"/>
                  </a:lnTo>
                  <a:lnTo>
                    <a:pt x="1191808" y="1681887"/>
                  </a:lnTo>
                  <a:lnTo>
                    <a:pt x="1214139" y="1729604"/>
                  </a:lnTo>
                  <a:lnTo>
                    <a:pt x="1235867" y="1777276"/>
                  </a:lnTo>
                  <a:lnTo>
                    <a:pt x="1256995" y="1824899"/>
                  </a:lnTo>
                  <a:lnTo>
                    <a:pt x="1277528" y="1872471"/>
                  </a:lnTo>
                  <a:lnTo>
                    <a:pt x="1297469" y="1919990"/>
                  </a:lnTo>
                  <a:lnTo>
                    <a:pt x="1316822" y="1967455"/>
                  </a:lnTo>
                  <a:lnTo>
                    <a:pt x="1335592" y="2014862"/>
                  </a:lnTo>
                  <a:lnTo>
                    <a:pt x="1353782" y="2062210"/>
                  </a:lnTo>
                  <a:lnTo>
                    <a:pt x="1371395" y="2109495"/>
                  </a:lnTo>
                  <a:lnTo>
                    <a:pt x="1388437" y="2156717"/>
                  </a:lnTo>
                  <a:lnTo>
                    <a:pt x="1404910" y="2203873"/>
                  </a:lnTo>
                  <a:lnTo>
                    <a:pt x="1420819" y="2250960"/>
                  </a:lnTo>
                  <a:lnTo>
                    <a:pt x="1436167" y="2297976"/>
                  </a:lnTo>
                  <a:lnTo>
                    <a:pt x="1450959" y="2344920"/>
                  </a:lnTo>
                  <a:lnTo>
                    <a:pt x="1465198" y="2391788"/>
                  </a:lnTo>
                  <a:lnTo>
                    <a:pt x="1478888" y="2438579"/>
                  </a:lnTo>
                  <a:lnTo>
                    <a:pt x="1492033" y="2485290"/>
                  </a:lnTo>
                  <a:lnTo>
                    <a:pt x="1504637" y="2531920"/>
                  </a:lnTo>
                  <a:lnTo>
                    <a:pt x="1516704" y="2578465"/>
                  </a:lnTo>
                  <a:lnTo>
                    <a:pt x="1528237" y="2624925"/>
                  </a:lnTo>
                  <a:lnTo>
                    <a:pt x="1539241" y="2671295"/>
                  </a:lnTo>
                  <a:lnTo>
                    <a:pt x="1549720" y="2717575"/>
                  </a:lnTo>
                  <a:lnTo>
                    <a:pt x="1559677" y="2763762"/>
                  </a:lnTo>
                  <a:lnTo>
                    <a:pt x="1569116" y="2809854"/>
                  </a:lnTo>
                  <a:lnTo>
                    <a:pt x="1578041" y="2855848"/>
                  </a:lnTo>
                  <a:lnTo>
                    <a:pt x="1586456" y="2901743"/>
                  </a:lnTo>
                  <a:lnTo>
                    <a:pt x="1594365" y="2947536"/>
                  </a:lnTo>
                  <a:lnTo>
                    <a:pt x="1601772" y="2993225"/>
                  </a:lnTo>
                  <a:lnTo>
                    <a:pt x="1608680" y="3038807"/>
                  </a:lnTo>
                  <a:lnTo>
                    <a:pt x="1615094" y="3084281"/>
                  </a:lnTo>
                  <a:lnTo>
                    <a:pt x="1621017" y="3129644"/>
                  </a:lnTo>
                  <a:lnTo>
                    <a:pt x="1626454" y="3174894"/>
                  </a:lnTo>
                  <a:lnTo>
                    <a:pt x="1631408" y="3220029"/>
                  </a:lnTo>
                  <a:lnTo>
                    <a:pt x="1635883" y="3265046"/>
                  </a:lnTo>
                  <a:lnTo>
                    <a:pt x="1639883" y="3309943"/>
                  </a:lnTo>
                  <a:lnTo>
                    <a:pt x="1643411" y="3354719"/>
                  </a:lnTo>
                  <a:lnTo>
                    <a:pt x="1646473" y="3399370"/>
                  </a:lnTo>
                  <a:lnTo>
                    <a:pt x="1649071" y="3443895"/>
                  </a:lnTo>
                  <a:lnTo>
                    <a:pt x="1651209" y="3488292"/>
                  </a:lnTo>
                  <a:lnTo>
                    <a:pt x="1652892" y="3532557"/>
                  </a:lnTo>
                  <a:lnTo>
                    <a:pt x="1654123" y="3576690"/>
                  </a:lnTo>
                  <a:lnTo>
                    <a:pt x="1654906" y="3620687"/>
                  </a:lnTo>
                  <a:lnTo>
                    <a:pt x="1655246" y="3664547"/>
                  </a:lnTo>
                  <a:lnTo>
                    <a:pt x="1655145" y="3708266"/>
                  </a:lnTo>
                  <a:lnTo>
                    <a:pt x="1654608" y="3751844"/>
                  </a:lnTo>
                  <a:lnTo>
                    <a:pt x="1653638" y="3795278"/>
                  </a:lnTo>
                  <a:lnTo>
                    <a:pt x="1652241" y="3838565"/>
                  </a:lnTo>
                  <a:lnTo>
                    <a:pt x="1650418" y="3881704"/>
                  </a:lnTo>
                  <a:lnTo>
                    <a:pt x="1648175" y="3924691"/>
                  </a:lnTo>
                  <a:lnTo>
                    <a:pt x="1645516" y="3967526"/>
                  </a:lnTo>
                  <a:lnTo>
                    <a:pt x="1642443" y="4010205"/>
                  </a:lnTo>
                  <a:lnTo>
                    <a:pt x="1638961" y="4052726"/>
                  </a:lnTo>
                  <a:lnTo>
                    <a:pt x="1635074" y="4095088"/>
                  </a:lnTo>
                  <a:lnTo>
                    <a:pt x="1630786" y="4137287"/>
                  </a:lnTo>
                  <a:lnTo>
                    <a:pt x="1626101" y="4179323"/>
                  </a:lnTo>
                  <a:lnTo>
                    <a:pt x="1621022" y="4221192"/>
                  </a:lnTo>
                  <a:lnTo>
                    <a:pt x="1615554" y="4262892"/>
                  </a:lnTo>
                  <a:lnTo>
                    <a:pt x="1609699" y="4304421"/>
                  </a:lnTo>
                  <a:lnTo>
                    <a:pt x="1603463" y="4345777"/>
                  </a:lnTo>
                  <a:lnTo>
                    <a:pt x="1596850" y="4386957"/>
                  </a:lnTo>
                  <a:lnTo>
                    <a:pt x="1589862" y="4427960"/>
                  </a:lnTo>
                  <a:lnTo>
                    <a:pt x="1582503" y="4468783"/>
                  </a:lnTo>
                  <a:lnTo>
                    <a:pt x="1574779" y="4509424"/>
                  </a:lnTo>
                  <a:lnTo>
                    <a:pt x="1566692" y="4549880"/>
                  </a:lnTo>
                  <a:lnTo>
                    <a:pt x="1558247" y="4590150"/>
                  </a:lnTo>
                  <a:lnTo>
                    <a:pt x="1549447" y="4630231"/>
                  </a:lnTo>
                  <a:lnTo>
                    <a:pt x="1540296" y="4670121"/>
                  </a:lnTo>
                  <a:lnTo>
                    <a:pt x="1530799" y="4709818"/>
                  </a:lnTo>
                  <a:lnTo>
                    <a:pt x="1520958" y="4749320"/>
                  </a:lnTo>
                  <a:lnTo>
                    <a:pt x="1510779" y="4788623"/>
                  </a:lnTo>
                  <a:lnTo>
                    <a:pt x="1500264" y="4827727"/>
                  </a:lnTo>
                  <a:lnTo>
                    <a:pt x="1489418" y="4866629"/>
                  </a:lnTo>
                  <a:lnTo>
                    <a:pt x="1478244" y="4905326"/>
                  </a:lnTo>
                  <a:lnTo>
                    <a:pt x="1466747" y="4943816"/>
                  </a:lnTo>
                  <a:lnTo>
                    <a:pt x="1454930" y="4982098"/>
                  </a:lnTo>
                  <a:lnTo>
                    <a:pt x="1442798" y="5020169"/>
                  </a:lnTo>
                  <a:lnTo>
                    <a:pt x="1430353" y="5058026"/>
                  </a:lnTo>
                  <a:lnTo>
                    <a:pt x="1417601" y="5095668"/>
                  </a:lnTo>
                  <a:lnTo>
                    <a:pt x="1404544" y="5133092"/>
                  </a:lnTo>
                  <a:lnTo>
                    <a:pt x="1391188" y="5170296"/>
                  </a:lnTo>
                  <a:lnTo>
                    <a:pt x="1377535" y="5207278"/>
                  </a:lnTo>
                  <a:lnTo>
                    <a:pt x="1363589" y="5244035"/>
                  </a:lnTo>
                  <a:lnTo>
                    <a:pt x="1349355" y="5280566"/>
                  </a:lnTo>
                  <a:lnTo>
                    <a:pt x="1334836" y="5316868"/>
                  </a:lnTo>
                  <a:lnTo>
                    <a:pt x="1320036" y="5352938"/>
                  </a:lnTo>
                  <a:lnTo>
                    <a:pt x="1304959" y="5388775"/>
                  </a:lnTo>
                  <a:lnTo>
                    <a:pt x="1289610" y="5424377"/>
                  </a:lnTo>
                  <a:lnTo>
                    <a:pt x="1273991" y="5459741"/>
                  </a:lnTo>
                  <a:lnTo>
                    <a:pt x="1258107" y="5494865"/>
                  </a:lnTo>
                  <a:lnTo>
                    <a:pt x="1241961" y="5529746"/>
                  </a:lnTo>
                  <a:lnTo>
                    <a:pt x="1225558" y="5564383"/>
                  </a:lnTo>
                  <a:lnTo>
                    <a:pt x="1208901" y="5598774"/>
                  </a:lnTo>
                  <a:lnTo>
                    <a:pt x="1174843" y="5666805"/>
                  </a:lnTo>
                  <a:lnTo>
                    <a:pt x="1139816" y="5733823"/>
                  </a:lnTo>
                  <a:lnTo>
                    <a:pt x="1103853" y="5799809"/>
                  </a:lnTo>
                  <a:lnTo>
                    <a:pt x="1066984" y="5864746"/>
                  </a:lnTo>
                  <a:lnTo>
                    <a:pt x="1029240" y="5928616"/>
                  </a:lnTo>
                  <a:lnTo>
                    <a:pt x="990653" y="5991400"/>
                  </a:lnTo>
                  <a:lnTo>
                    <a:pt x="951253" y="6053082"/>
                  </a:lnTo>
                  <a:lnTo>
                    <a:pt x="911072" y="6113644"/>
                  </a:lnTo>
                  <a:lnTo>
                    <a:pt x="870140" y="6173067"/>
                  </a:lnTo>
                  <a:lnTo>
                    <a:pt x="828490" y="6231333"/>
                  </a:lnTo>
                  <a:lnTo>
                    <a:pt x="786151" y="6288425"/>
                  </a:lnTo>
                  <a:lnTo>
                    <a:pt x="743155" y="6344326"/>
                  </a:lnTo>
                  <a:lnTo>
                    <a:pt x="699533" y="6399016"/>
                  </a:lnTo>
                  <a:lnTo>
                    <a:pt x="655316" y="6452479"/>
                  </a:lnTo>
                  <a:lnTo>
                    <a:pt x="610535" y="6504697"/>
                  </a:lnTo>
                  <a:lnTo>
                    <a:pt x="565221" y="6555651"/>
                  </a:lnTo>
                  <a:lnTo>
                    <a:pt x="519406" y="6605325"/>
                  </a:lnTo>
                  <a:lnTo>
                    <a:pt x="473120" y="6653699"/>
                  </a:lnTo>
                  <a:lnTo>
                    <a:pt x="426394" y="6700756"/>
                  </a:lnTo>
                  <a:lnTo>
                    <a:pt x="379260" y="6746479"/>
                  </a:lnTo>
                  <a:lnTo>
                    <a:pt x="331748" y="6790850"/>
                  </a:lnTo>
                  <a:lnTo>
                    <a:pt x="283891" y="6833850"/>
                  </a:lnTo>
                  <a:lnTo>
                    <a:pt x="259842" y="6854831"/>
                  </a:lnTo>
                  <a:lnTo>
                    <a:pt x="2438400" y="6857999"/>
                  </a:lnTo>
                  <a:lnTo>
                    <a:pt x="2438400" y="14224"/>
                  </a:lnTo>
                  <a:lnTo>
                    <a:pt x="0" y="0"/>
                  </a:lnTo>
                  <a:close/>
                </a:path>
              </a:pathLst>
            </a:custGeom>
            <a:solidFill>
              <a:srgbClr val="C5E7FB">
                <a:alpha val="40000"/>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descr="$PPTXTitle" id="110" name="Google Shape;110;p1"/>
          <p:cNvSpPr txBox="1"/>
          <p:nvPr>
            <p:ph type="title"/>
          </p:nvPr>
        </p:nvSpPr>
        <p:spPr>
          <a:xfrm>
            <a:off x="2706116" y="2950921"/>
            <a:ext cx="5076900" cy="2722500"/>
          </a:xfrm>
          <a:prstGeom prst="rect">
            <a:avLst/>
          </a:prstGeom>
          <a:noFill/>
          <a:ln>
            <a:noFill/>
          </a:ln>
        </p:spPr>
        <p:txBody>
          <a:bodyPr anchorCtr="0" anchor="ctr" bIns="0" lIns="0" spcFirstLastPara="1" rIns="0" wrap="square" tIns="13325">
            <a:spAutoFit/>
          </a:bodyPr>
          <a:lstStyle/>
          <a:p>
            <a:pPr indent="0" lvl="0" marL="0" rtl="0" algn="ctr">
              <a:lnSpc>
                <a:spcPct val="100000"/>
              </a:lnSpc>
              <a:spcBef>
                <a:spcPts val="0"/>
              </a:spcBef>
              <a:spcAft>
                <a:spcPts val="0"/>
              </a:spcAft>
              <a:buClr>
                <a:schemeClr val="dk1"/>
              </a:buClr>
              <a:buSzPts val="4400"/>
              <a:buFont typeface="Play"/>
              <a:buNone/>
            </a:pPr>
            <a:r>
              <a:rPr lang="en-US"/>
              <a:t>Big Data Analytics </a:t>
            </a:r>
            <a:br>
              <a:rPr lang="en-US"/>
            </a:br>
            <a:r>
              <a:rPr lang="en-US"/>
              <a:t>(Spring 2026)</a:t>
            </a:r>
            <a:endParaRPr/>
          </a:p>
          <a:p>
            <a:pPr indent="0" lvl="0" marL="0" rtl="0" algn="ctr">
              <a:lnSpc>
                <a:spcPct val="100000"/>
              </a:lnSpc>
              <a:spcBef>
                <a:spcPts val="0"/>
              </a:spcBef>
              <a:spcAft>
                <a:spcPts val="0"/>
              </a:spcAft>
              <a:buClr>
                <a:schemeClr val="dk1"/>
              </a:buClr>
              <a:buSzPts val="4400"/>
              <a:buFont typeface="Play"/>
              <a:buNone/>
            </a:pPr>
            <a:r>
              <a:rPr lang="en-US"/>
              <a:t>I	Hadoop Ecosystem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116" name="Google Shape;116;p2"/>
          <p:cNvSpPr txBox="1"/>
          <p:nvPr>
            <p:ph type="title"/>
          </p:nvPr>
        </p:nvSpPr>
        <p:spPr>
          <a:xfrm>
            <a:off x="5080216" y="1076324"/>
            <a:ext cx="6272784" cy="1535051"/>
          </a:xfrm>
          <a:prstGeom prst="rect">
            <a:avLst/>
          </a:prstGeom>
          <a:noFill/>
          <a:ln>
            <a:noFill/>
          </a:ln>
        </p:spPr>
        <p:txBody>
          <a:bodyPr anchorCtr="0" anchor="b" bIns="45700" lIns="91425" spcFirstLastPara="1" rIns="91425" wrap="square" tIns="45700">
            <a:normAutofit/>
          </a:bodyPr>
          <a:lstStyle/>
          <a:p>
            <a:pPr indent="0" lvl="0" marL="2858135" rtl="0" algn="l">
              <a:lnSpc>
                <a:spcPct val="90000"/>
              </a:lnSpc>
              <a:spcBef>
                <a:spcPts val="0"/>
              </a:spcBef>
              <a:spcAft>
                <a:spcPts val="0"/>
              </a:spcAft>
              <a:buClr>
                <a:schemeClr val="dk1"/>
              </a:buClr>
              <a:buSzPts val="5200"/>
              <a:buFont typeface="Play"/>
              <a:buNone/>
            </a:pPr>
            <a:r>
              <a:rPr lang="en-US" sz="5200"/>
              <a:t>Overview</a:t>
            </a:r>
            <a:endParaRPr/>
          </a:p>
        </p:txBody>
      </p:sp>
      <p:pic>
        <p:nvPicPr>
          <p:cNvPr id="117" name="Google Shape;117;p2"/>
          <p:cNvPicPr preferRelativeResize="0"/>
          <p:nvPr/>
        </p:nvPicPr>
        <p:blipFill rotWithShape="1">
          <a:blip r:embed="rId3">
            <a:alphaModFix/>
          </a:blip>
          <a:srcRect b="-1" l="16988" r="39160" t="0"/>
          <a:stretch/>
        </p:blipFill>
        <p:spPr>
          <a:xfrm>
            <a:off x="20" y="10"/>
            <a:ext cx="4505305" cy="6857990"/>
          </a:xfrm>
          <a:prstGeom prst="rect">
            <a:avLst/>
          </a:prstGeom>
          <a:noFill/>
          <a:ln>
            <a:noFill/>
          </a:ln>
        </p:spPr>
      </p:pic>
      <p:sp>
        <p:nvSpPr>
          <p:cNvPr id="118" name="Google Shape;118;p2"/>
          <p:cNvSpPr/>
          <p:nvPr/>
        </p:nvSpPr>
        <p:spPr>
          <a:xfrm rot="5400000">
            <a:off x="5317960" y="363389"/>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9" name="Google Shape;119;p2"/>
          <p:cNvSpPr/>
          <p:nvPr/>
        </p:nvSpPr>
        <p:spPr>
          <a:xfrm>
            <a:off x="5099266" y="2935541"/>
            <a:ext cx="621792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20" name="Google Shape;120;p2"/>
          <p:cNvSpPr txBox="1"/>
          <p:nvPr/>
        </p:nvSpPr>
        <p:spPr>
          <a:xfrm>
            <a:off x="5080216" y="3351276"/>
            <a:ext cx="6272784" cy="2825686"/>
          </a:xfrm>
          <a:prstGeom prst="rect">
            <a:avLst/>
          </a:prstGeom>
          <a:noFill/>
          <a:ln>
            <a:noFill/>
          </a:ln>
        </p:spPr>
        <p:txBody>
          <a:bodyPr anchorCtr="0" anchor="t"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200"/>
              <a:buFont typeface="Arial"/>
              <a:buChar char="•"/>
            </a:pPr>
            <a:r>
              <a:rPr lang="en-US" sz="2200">
                <a:solidFill>
                  <a:schemeClr val="dk1"/>
                </a:solidFill>
                <a:latin typeface="Arial"/>
                <a:ea typeface="Arial"/>
                <a:cs typeface="Arial"/>
                <a:sym typeface="Arial"/>
              </a:rPr>
              <a:t>∗ Big Data Introduction</a:t>
            </a:r>
            <a:endParaRPr sz="2200">
              <a:solidFill>
                <a:schemeClr val="dk1"/>
              </a:solidFill>
              <a:latin typeface="Arial"/>
              <a:ea typeface="Arial"/>
              <a:cs typeface="Arial"/>
              <a:sym typeface="Arial"/>
            </a:endParaRPr>
          </a:p>
          <a:p>
            <a:pPr indent="-12700" lvl="0" marL="12700" marR="0" rtl="0" algn="l">
              <a:lnSpc>
                <a:spcPct val="90000"/>
              </a:lnSpc>
              <a:spcBef>
                <a:spcPts val="580"/>
              </a:spcBef>
              <a:spcAft>
                <a:spcPts val="0"/>
              </a:spcAft>
              <a:buClr>
                <a:schemeClr val="dk1"/>
              </a:buClr>
              <a:buSzPts val="2200"/>
              <a:buFont typeface="Arial"/>
              <a:buChar char="•"/>
            </a:pPr>
            <a:r>
              <a:rPr lang="en-US" sz="2200">
                <a:solidFill>
                  <a:schemeClr val="dk1"/>
                </a:solidFill>
                <a:latin typeface="Arial"/>
                <a:ea typeface="Arial"/>
                <a:cs typeface="Arial"/>
                <a:sym typeface="Arial"/>
              </a:rPr>
              <a:t>∗ Introduction to MapReduce</a:t>
            </a:r>
            <a:endParaRPr sz="2200">
              <a:solidFill>
                <a:schemeClr val="dk1"/>
              </a:solidFill>
              <a:latin typeface="Arial"/>
              <a:ea typeface="Arial"/>
              <a:cs typeface="Arial"/>
              <a:sym typeface="Arial"/>
            </a:endParaRPr>
          </a:p>
          <a:p>
            <a:pPr indent="-12700" lvl="0" marL="12700" marR="0" rtl="0" algn="l">
              <a:lnSpc>
                <a:spcPct val="90000"/>
              </a:lnSpc>
              <a:spcBef>
                <a:spcPts val="575"/>
              </a:spcBef>
              <a:spcAft>
                <a:spcPts val="0"/>
              </a:spcAft>
              <a:buClr>
                <a:schemeClr val="dk1"/>
              </a:buClr>
              <a:buSzPts val="2200"/>
              <a:buFont typeface="Arial"/>
              <a:buChar char="•"/>
            </a:pPr>
            <a:r>
              <a:rPr lang="en-US" sz="2200">
                <a:solidFill>
                  <a:schemeClr val="dk1"/>
                </a:solidFill>
                <a:latin typeface="Arial"/>
                <a:ea typeface="Arial"/>
                <a:cs typeface="Arial"/>
                <a:sym typeface="Arial"/>
              </a:rPr>
              <a:t>∗ Yarn</a:t>
            </a:r>
            <a:endParaRPr sz="2200">
              <a:solidFill>
                <a:schemeClr val="dk1"/>
              </a:solidFill>
              <a:latin typeface="Arial"/>
              <a:ea typeface="Arial"/>
              <a:cs typeface="Arial"/>
              <a:sym typeface="Arial"/>
            </a:endParaRPr>
          </a:p>
          <a:p>
            <a:pPr indent="-12700" lvl="0" marL="12700" marR="0" rtl="0" algn="l">
              <a:lnSpc>
                <a:spcPct val="90000"/>
              </a:lnSpc>
              <a:spcBef>
                <a:spcPts val="575"/>
              </a:spcBef>
              <a:spcAft>
                <a:spcPts val="0"/>
              </a:spcAft>
              <a:buClr>
                <a:schemeClr val="dk1"/>
              </a:buClr>
              <a:buSzPts val="2200"/>
              <a:buFont typeface="Arial"/>
              <a:buChar char="•"/>
            </a:pPr>
            <a:r>
              <a:rPr lang="en-US" sz="2200">
                <a:solidFill>
                  <a:schemeClr val="dk1"/>
                </a:solidFill>
                <a:latin typeface="Arial"/>
                <a:ea typeface="Arial"/>
                <a:cs typeface="Arial"/>
                <a:sym typeface="Arial"/>
              </a:rPr>
              <a:t>∗ Case Study</a:t>
            </a:r>
            <a:endParaRPr sz="2200">
              <a:solidFill>
                <a:schemeClr val="dk1"/>
              </a:solidFill>
              <a:latin typeface="Arial"/>
              <a:ea typeface="Arial"/>
              <a:cs typeface="Arial"/>
              <a:sym typeface="Arial"/>
            </a:endParaRPr>
          </a:p>
          <a:p>
            <a:pPr indent="-12700" lvl="0" marL="12700" marR="0" rtl="0" algn="l">
              <a:lnSpc>
                <a:spcPct val="90000"/>
              </a:lnSpc>
              <a:spcBef>
                <a:spcPts val="580"/>
              </a:spcBef>
              <a:spcAft>
                <a:spcPts val="0"/>
              </a:spcAft>
              <a:buClr>
                <a:schemeClr val="dk1"/>
              </a:buClr>
              <a:buSzPts val="2200"/>
              <a:buFont typeface="Arial"/>
              <a:buChar char="•"/>
            </a:pPr>
            <a:r>
              <a:rPr lang="en-US" sz="2200">
                <a:solidFill>
                  <a:schemeClr val="dk1"/>
                </a:solidFill>
                <a:latin typeface="Arial"/>
                <a:ea typeface="Arial"/>
                <a:cs typeface="Arial"/>
                <a:sym typeface="Arial"/>
              </a:rPr>
              <a:t>∗ Design Pattern</a:t>
            </a:r>
            <a:endParaRPr sz="2200">
              <a:solidFill>
                <a:schemeClr val="dk1"/>
              </a:solidFill>
              <a:latin typeface="Arial"/>
              <a:ea typeface="Arial"/>
              <a:cs typeface="Arial"/>
              <a:sym typeface="Arial"/>
            </a:endParaRPr>
          </a:p>
          <a:p>
            <a:pPr indent="-12700" lvl="0" marL="12700" marR="0" rtl="0" algn="l">
              <a:lnSpc>
                <a:spcPct val="90000"/>
              </a:lnSpc>
              <a:spcBef>
                <a:spcPts val="575"/>
              </a:spcBef>
              <a:spcAft>
                <a:spcPts val="0"/>
              </a:spcAft>
              <a:buClr>
                <a:schemeClr val="dk1"/>
              </a:buClr>
              <a:buSzPts val="2200"/>
              <a:buFont typeface="Arial"/>
              <a:buChar char="•"/>
            </a:pPr>
            <a:r>
              <a:rPr lang="en-US" sz="2200">
                <a:solidFill>
                  <a:schemeClr val="dk1"/>
                </a:solidFill>
                <a:latin typeface="Arial"/>
                <a:ea typeface="Arial"/>
                <a:cs typeface="Arial"/>
                <a:sym typeface="Arial"/>
              </a:rPr>
              <a:t>∗ Demo</a:t>
            </a:r>
            <a:endParaRPr sz="2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 name="Shape 124"/>
        <p:cNvGrpSpPr/>
        <p:nvPr/>
      </p:nvGrpSpPr>
      <p:grpSpPr>
        <a:xfrm>
          <a:off x="0" y="0"/>
          <a:ext cx="0" cy="0"/>
          <a:chOff x="0" y="0"/>
          <a:chExt cx="0" cy="0"/>
        </a:xfrm>
      </p:grpSpPr>
      <p:sp>
        <p:nvSpPr>
          <p:cNvPr id="125" name="Google Shape;125;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 name="Google Shape;126;p3"/>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7" name="Google Shape;127;p3"/>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128" name="Google Shape;128;p3"/>
          <p:cNvSpPr txBox="1"/>
          <p:nvPr>
            <p:ph type="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12700" rtl="0" algn="l">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What is Big Data</a:t>
            </a:r>
            <a:endParaRPr/>
          </a:p>
        </p:txBody>
      </p:sp>
      <p:sp>
        <p:nvSpPr>
          <p:cNvPr id="129" name="Google Shape;129;p3"/>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30" name="Google Shape;130;p3"/>
          <p:cNvSpPr/>
          <p:nvPr/>
        </p:nvSpPr>
        <p:spPr>
          <a:xfrm>
            <a:off x="481029"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131" name="Google Shape;131;p3"/>
          <p:cNvPicPr preferRelativeResize="0"/>
          <p:nvPr/>
        </p:nvPicPr>
        <p:blipFill rotWithShape="1">
          <a:blip r:embed="rId3">
            <a:alphaModFix/>
          </a:blip>
          <a:srcRect b="0" l="0" r="0" t="0"/>
          <a:stretch/>
        </p:blipFill>
        <p:spPr>
          <a:xfrm>
            <a:off x="5414356" y="1544545"/>
            <a:ext cx="6408836" cy="361765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7" name="Google Shape;137;p4"/>
          <p:cNvSpPr/>
          <p:nvPr/>
        </p:nvSpPr>
        <p:spPr>
          <a:xfrm>
            <a:off x="1903615" y="221673"/>
            <a:ext cx="8384770" cy="1332634"/>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C5C5C5">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138" name="Google Shape;138;p4"/>
          <p:cNvSpPr txBox="1"/>
          <p:nvPr>
            <p:ph type="title"/>
          </p:nvPr>
        </p:nvSpPr>
        <p:spPr>
          <a:xfrm>
            <a:off x="2103121" y="310343"/>
            <a:ext cx="7985759" cy="868823"/>
          </a:xfrm>
          <a:prstGeom prst="rect">
            <a:avLst/>
          </a:prstGeom>
          <a:noFill/>
          <a:ln>
            <a:noFill/>
          </a:ln>
        </p:spPr>
        <p:txBody>
          <a:bodyPr anchorCtr="0" anchor="ctr" bIns="45700" lIns="91425" spcFirstLastPara="1" rIns="91425" wrap="square" tIns="45700">
            <a:normAutofit/>
          </a:bodyPr>
          <a:lstStyle/>
          <a:p>
            <a:pPr indent="0" lvl="0" marL="2527300" rtl="0" algn="ctr">
              <a:lnSpc>
                <a:spcPct val="90000"/>
              </a:lnSpc>
              <a:spcBef>
                <a:spcPts val="0"/>
              </a:spcBef>
              <a:spcAft>
                <a:spcPts val="0"/>
              </a:spcAft>
              <a:buClr>
                <a:schemeClr val="dk1"/>
              </a:buClr>
              <a:buSzPts val="4000"/>
              <a:buFont typeface="Play"/>
              <a:buNone/>
            </a:pPr>
            <a:r>
              <a:rPr lang="en-US" sz="4000">
                <a:solidFill>
                  <a:schemeClr val="dk1"/>
                </a:solidFill>
                <a:latin typeface="Play"/>
                <a:ea typeface="Play"/>
                <a:cs typeface="Play"/>
                <a:sym typeface="Play"/>
              </a:rPr>
              <a:t>Opportunity</a:t>
            </a:r>
            <a:endParaRPr/>
          </a:p>
        </p:txBody>
      </p:sp>
      <p:sp>
        <p:nvSpPr>
          <p:cNvPr id="139" name="Google Shape;139;p4"/>
          <p:cNvSpPr/>
          <p:nvPr/>
        </p:nvSpPr>
        <p:spPr>
          <a:xfrm>
            <a:off x="2483110" y="1211407"/>
            <a:ext cx="7225780" cy="685800"/>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aphicFrame>
        <p:nvGraphicFramePr>
          <p:cNvPr id="140" name="Google Shape;140;p4"/>
          <p:cNvGraphicFramePr/>
          <p:nvPr/>
        </p:nvGraphicFramePr>
        <p:xfrm>
          <a:off x="385572" y="2157853"/>
          <a:ext cx="3000000" cy="3000000"/>
        </p:xfrm>
        <a:graphic>
          <a:graphicData uri="http://schemas.openxmlformats.org/drawingml/2006/table">
            <a:tbl>
              <a:tblPr bandRow="1" firstRow="1">
                <a:noFill/>
                <a:tableStyleId>{7AE5C25F-0834-4540-90C9-EA6330668ED8}</a:tableStyleId>
              </a:tblPr>
              <a:tblGrid>
                <a:gridCol w="2469425"/>
                <a:gridCol w="1958950"/>
                <a:gridCol w="1766825"/>
                <a:gridCol w="1888950"/>
                <a:gridCol w="1451875"/>
                <a:gridCol w="1884825"/>
              </a:tblGrid>
              <a:tr h="665275">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30B6FC"/>
                    </a:solidFill>
                  </a:tcPr>
                </a:tc>
                <a:tc>
                  <a:txBody>
                    <a:bodyPr/>
                    <a:lstStyle/>
                    <a:p>
                      <a:pPr indent="0" lvl="0" marL="635" marR="0" rtl="0" algn="ctr">
                        <a:lnSpc>
                          <a:spcPct val="100000"/>
                        </a:lnSpc>
                        <a:spcBef>
                          <a:spcPts val="0"/>
                        </a:spcBef>
                        <a:spcAft>
                          <a:spcPts val="0"/>
                        </a:spcAft>
                        <a:buNone/>
                      </a:pPr>
                      <a:r>
                        <a:rPr b="1" lang="en-US" sz="1900" u="none" cap="none" strike="noStrike">
                          <a:solidFill>
                            <a:srgbClr val="FFFFFF"/>
                          </a:solidFill>
                          <a:latin typeface="Arial"/>
                          <a:ea typeface="Arial"/>
                          <a:cs typeface="Arial"/>
                          <a:sym typeface="Arial"/>
                        </a:rPr>
                        <a:t>High Wage</a:t>
                      </a:r>
                      <a:endParaRPr sz="1900" u="none" cap="none" strike="noStrike">
                        <a:latin typeface="Arial"/>
                        <a:ea typeface="Arial"/>
                        <a:cs typeface="Arial"/>
                        <a:sym typeface="Arial"/>
                      </a:endParaRPr>
                    </a:p>
                  </a:txBody>
                  <a:tcPr marT="181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30B6FC"/>
                    </a:solidFill>
                  </a:tcPr>
                </a:tc>
                <a:tc>
                  <a:txBody>
                    <a:bodyPr/>
                    <a:lstStyle/>
                    <a:p>
                      <a:pPr indent="0" lvl="0" marL="0" marR="0" rtl="0" algn="ctr">
                        <a:lnSpc>
                          <a:spcPct val="100000"/>
                        </a:lnSpc>
                        <a:spcBef>
                          <a:spcPts val="0"/>
                        </a:spcBef>
                        <a:spcAft>
                          <a:spcPts val="0"/>
                        </a:spcAft>
                        <a:buNone/>
                      </a:pPr>
                      <a:r>
                        <a:rPr b="1" lang="en-US" sz="1900" u="none" cap="none" strike="noStrike">
                          <a:solidFill>
                            <a:srgbClr val="FFFFFF"/>
                          </a:solidFill>
                          <a:latin typeface="Arial"/>
                          <a:ea typeface="Arial"/>
                          <a:cs typeface="Arial"/>
                          <a:sym typeface="Arial"/>
                        </a:rPr>
                        <a:t>Median Wage</a:t>
                      </a:r>
                      <a:endParaRPr sz="1900" u="none" cap="none" strike="noStrike">
                        <a:latin typeface="Arial"/>
                        <a:ea typeface="Arial"/>
                        <a:cs typeface="Arial"/>
                        <a:sym typeface="Arial"/>
                      </a:endParaRPr>
                    </a:p>
                  </a:txBody>
                  <a:tcPr marT="181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30B6FC"/>
                    </a:solidFill>
                  </a:tcPr>
                </a:tc>
                <a:tc>
                  <a:txBody>
                    <a:bodyPr/>
                    <a:lstStyle/>
                    <a:p>
                      <a:pPr indent="0" lvl="0" marL="1905" marR="0" rtl="0" algn="ctr">
                        <a:lnSpc>
                          <a:spcPct val="100000"/>
                        </a:lnSpc>
                        <a:spcBef>
                          <a:spcPts val="0"/>
                        </a:spcBef>
                        <a:spcAft>
                          <a:spcPts val="0"/>
                        </a:spcAft>
                        <a:buNone/>
                      </a:pPr>
                      <a:r>
                        <a:rPr b="1" lang="en-US" sz="1900" u="none" cap="none" strike="noStrike">
                          <a:solidFill>
                            <a:srgbClr val="FFFFFF"/>
                          </a:solidFill>
                          <a:latin typeface="Arial"/>
                          <a:ea typeface="Arial"/>
                          <a:cs typeface="Arial"/>
                          <a:sym typeface="Arial"/>
                        </a:rPr>
                        <a:t>Projected Job</a:t>
                      </a:r>
                      <a:endParaRPr sz="1900" u="none" cap="none" strike="noStrike">
                        <a:latin typeface="Arial"/>
                        <a:ea typeface="Arial"/>
                        <a:cs typeface="Arial"/>
                        <a:sym typeface="Arial"/>
                      </a:endParaRPr>
                    </a:p>
                    <a:p>
                      <a:pPr indent="0" lvl="0" marL="0" marR="0" rtl="0" algn="ctr">
                        <a:lnSpc>
                          <a:spcPct val="100000"/>
                        </a:lnSpc>
                        <a:spcBef>
                          <a:spcPts val="5"/>
                        </a:spcBef>
                        <a:spcAft>
                          <a:spcPts val="0"/>
                        </a:spcAft>
                        <a:buNone/>
                      </a:pPr>
                      <a:r>
                        <a:rPr b="1" lang="en-US" sz="1900" u="none" cap="none" strike="noStrike">
                          <a:solidFill>
                            <a:srgbClr val="FFFFFF"/>
                          </a:solidFill>
                          <a:latin typeface="Arial"/>
                          <a:ea typeface="Arial"/>
                          <a:cs typeface="Arial"/>
                          <a:sym typeface="Arial"/>
                        </a:rPr>
                        <a:t>Openings</a:t>
                      </a:r>
                      <a:endParaRPr sz="1900" u="none" cap="none" strike="noStrike">
                        <a:latin typeface="Arial"/>
                        <a:ea typeface="Arial"/>
                        <a:cs typeface="Arial"/>
                        <a:sym typeface="Arial"/>
                      </a:endParaRPr>
                    </a:p>
                  </a:txBody>
                  <a:tcPr marT="329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30B6FC"/>
                    </a:solidFill>
                  </a:tcPr>
                </a:tc>
                <a:tc>
                  <a:txBody>
                    <a:bodyPr/>
                    <a:lstStyle/>
                    <a:p>
                      <a:pPr indent="0" lvl="0" marL="635" marR="0" rtl="0" algn="ctr">
                        <a:lnSpc>
                          <a:spcPct val="100000"/>
                        </a:lnSpc>
                        <a:spcBef>
                          <a:spcPts val="0"/>
                        </a:spcBef>
                        <a:spcAft>
                          <a:spcPts val="0"/>
                        </a:spcAft>
                        <a:buNone/>
                      </a:pPr>
                      <a:r>
                        <a:rPr b="1" lang="en-US" sz="1900" u="none" cap="none" strike="noStrike">
                          <a:solidFill>
                            <a:srgbClr val="FFFFFF"/>
                          </a:solidFill>
                          <a:latin typeface="Arial"/>
                          <a:ea typeface="Arial"/>
                          <a:cs typeface="Arial"/>
                          <a:sym typeface="Arial"/>
                        </a:rPr>
                        <a:t>Growth%</a:t>
                      </a:r>
                      <a:endParaRPr sz="1900" u="none" cap="none" strike="noStrike">
                        <a:latin typeface="Arial"/>
                        <a:ea typeface="Arial"/>
                        <a:cs typeface="Arial"/>
                        <a:sym typeface="Arial"/>
                      </a:endParaRPr>
                    </a:p>
                  </a:txBody>
                  <a:tcPr marT="181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30B6FC"/>
                    </a:solidFill>
                  </a:tcPr>
                </a:tc>
                <a:tc>
                  <a:txBody>
                    <a:bodyPr/>
                    <a:lstStyle/>
                    <a:p>
                      <a:pPr indent="0" lvl="0" marL="0" marR="0" rtl="0" algn="ctr">
                        <a:lnSpc>
                          <a:spcPct val="100000"/>
                        </a:lnSpc>
                        <a:spcBef>
                          <a:spcPts val="0"/>
                        </a:spcBef>
                        <a:spcAft>
                          <a:spcPts val="0"/>
                        </a:spcAft>
                        <a:buNone/>
                      </a:pPr>
                      <a:r>
                        <a:rPr b="1" lang="en-US" sz="1900" u="none" cap="none" strike="noStrike">
                          <a:solidFill>
                            <a:srgbClr val="FFFFFF"/>
                          </a:solidFill>
                          <a:latin typeface="Arial"/>
                          <a:ea typeface="Arial"/>
                          <a:cs typeface="Arial"/>
                          <a:sym typeface="Arial"/>
                        </a:rPr>
                        <a:t>National wide</a:t>
                      </a:r>
                      <a:endParaRPr sz="1900" u="none" cap="none" strike="noStrike">
                        <a:latin typeface="Arial"/>
                        <a:ea typeface="Arial"/>
                        <a:cs typeface="Arial"/>
                        <a:sym typeface="Arial"/>
                      </a:endParaRPr>
                    </a:p>
                    <a:p>
                      <a:pPr indent="0" lvl="0" marL="1270" marR="0" rtl="0" algn="ctr">
                        <a:lnSpc>
                          <a:spcPct val="100000"/>
                        </a:lnSpc>
                        <a:spcBef>
                          <a:spcPts val="5"/>
                        </a:spcBef>
                        <a:spcAft>
                          <a:spcPts val="0"/>
                        </a:spcAft>
                        <a:buNone/>
                      </a:pPr>
                      <a:r>
                        <a:rPr b="1" lang="en-US" sz="1900" u="none" cap="none" strike="noStrike">
                          <a:solidFill>
                            <a:srgbClr val="FFFFFF"/>
                          </a:solidFill>
                          <a:latin typeface="Arial"/>
                          <a:ea typeface="Arial"/>
                          <a:cs typeface="Arial"/>
                          <a:sym typeface="Arial"/>
                        </a:rPr>
                        <a:t># of Jobs</a:t>
                      </a:r>
                      <a:endParaRPr sz="1900" u="none" cap="none" strike="noStrike">
                        <a:latin typeface="Arial"/>
                        <a:ea typeface="Arial"/>
                        <a:cs typeface="Arial"/>
                        <a:sym typeface="Arial"/>
                      </a:endParaRPr>
                    </a:p>
                  </a:txBody>
                  <a:tcPr marT="329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30B6FC"/>
                    </a:solidFill>
                  </a:tcPr>
                </a:tc>
              </a:tr>
              <a:tr h="453950">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Software Engineer</a:t>
                      </a:r>
                      <a:endParaRPr sz="1900" u="none" cap="none" strike="noStrike">
                        <a:latin typeface="Arial"/>
                        <a:ea typeface="Arial"/>
                        <a:cs typeface="Arial"/>
                        <a:sym typeface="Arial"/>
                      </a:endParaRPr>
                    </a:p>
                  </a:txBody>
                  <a:tcPr marT="118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$138,800</a:t>
                      </a:r>
                      <a:endParaRPr sz="1900" u="none" cap="none" strike="noStrike">
                        <a:latin typeface="Arial"/>
                        <a:ea typeface="Arial"/>
                        <a:cs typeface="Arial"/>
                        <a:sym typeface="Arial"/>
                      </a:endParaRPr>
                    </a:p>
                  </a:txBody>
                  <a:tcPr marT="118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1270" marR="0" rtl="0" algn="ctr">
                        <a:lnSpc>
                          <a:spcPct val="100000"/>
                        </a:lnSpc>
                        <a:spcBef>
                          <a:spcPts val="0"/>
                        </a:spcBef>
                        <a:spcAft>
                          <a:spcPts val="0"/>
                        </a:spcAft>
                        <a:buNone/>
                      </a:pPr>
                      <a:r>
                        <a:rPr lang="en-US" sz="1900" u="none" cap="none" strike="noStrike">
                          <a:latin typeface="Arial"/>
                          <a:ea typeface="Arial"/>
                          <a:cs typeface="Arial"/>
                          <a:sym typeface="Arial"/>
                        </a:rPr>
                        <a:t>$100,690</a:t>
                      </a:r>
                      <a:endParaRPr sz="1900" u="none" cap="none" strike="noStrike">
                        <a:latin typeface="Arial"/>
                        <a:ea typeface="Arial"/>
                        <a:cs typeface="Arial"/>
                        <a:sym typeface="Arial"/>
                      </a:endParaRPr>
                    </a:p>
                  </a:txBody>
                  <a:tcPr marT="118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635" marR="0" rtl="0" algn="ctr">
                        <a:lnSpc>
                          <a:spcPct val="100000"/>
                        </a:lnSpc>
                        <a:spcBef>
                          <a:spcPts val="0"/>
                        </a:spcBef>
                        <a:spcAft>
                          <a:spcPts val="0"/>
                        </a:spcAft>
                        <a:buNone/>
                      </a:pPr>
                      <a:r>
                        <a:rPr lang="en-US" sz="1900" u="none" cap="none" strike="noStrike">
                          <a:latin typeface="Arial"/>
                          <a:ea typeface="Arial"/>
                          <a:cs typeface="Arial"/>
                          <a:sym typeface="Arial"/>
                        </a:rPr>
                        <a:t>186,600</a:t>
                      </a:r>
                      <a:endParaRPr sz="1900" u="none" cap="none" strike="noStrike">
                        <a:latin typeface="Arial"/>
                        <a:ea typeface="Arial"/>
                        <a:cs typeface="Arial"/>
                        <a:sym typeface="Arial"/>
                      </a:endParaRPr>
                    </a:p>
                  </a:txBody>
                  <a:tcPr marT="118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635" marR="0" rtl="0" algn="ctr">
                        <a:lnSpc>
                          <a:spcPct val="100000"/>
                        </a:lnSpc>
                        <a:spcBef>
                          <a:spcPts val="0"/>
                        </a:spcBef>
                        <a:spcAft>
                          <a:spcPts val="0"/>
                        </a:spcAft>
                        <a:buNone/>
                      </a:pPr>
                      <a:r>
                        <a:rPr lang="en-US" sz="1900" u="none" cap="none" strike="noStrike">
                          <a:latin typeface="Arial"/>
                          <a:ea typeface="Arial"/>
                          <a:cs typeface="Arial"/>
                          <a:sym typeface="Arial"/>
                        </a:rPr>
                        <a:t>17%</a:t>
                      </a:r>
                      <a:endParaRPr sz="1900" u="none" cap="none" strike="noStrike">
                        <a:latin typeface="Arial"/>
                        <a:ea typeface="Arial"/>
                        <a:cs typeface="Arial"/>
                        <a:sym typeface="Arial"/>
                      </a:endParaRPr>
                    </a:p>
                  </a:txBody>
                  <a:tcPr marT="118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3175" marR="0" rtl="0" algn="ctr">
                        <a:lnSpc>
                          <a:spcPct val="100000"/>
                        </a:lnSpc>
                        <a:spcBef>
                          <a:spcPts val="0"/>
                        </a:spcBef>
                        <a:spcAft>
                          <a:spcPts val="0"/>
                        </a:spcAft>
                        <a:buNone/>
                      </a:pPr>
                      <a:r>
                        <a:rPr lang="en-US" sz="1900" u="none" cap="none" strike="noStrike">
                          <a:latin typeface="Arial"/>
                          <a:ea typeface="Arial"/>
                          <a:cs typeface="Arial"/>
                          <a:sym typeface="Arial"/>
                        </a:rPr>
                        <a:t>1,114,000</a:t>
                      </a:r>
                      <a:endParaRPr sz="1900" u="none" cap="none" strike="noStrike">
                        <a:latin typeface="Arial"/>
                        <a:ea typeface="Arial"/>
                        <a:cs typeface="Arial"/>
                        <a:sym typeface="Arial"/>
                      </a:endParaRPr>
                    </a:p>
                  </a:txBody>
                  <a:tcPr marT="118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r>
              <a:tr h="454650">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Network Engineer</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635" marR="0" rtl="0" algn="ctr">
                        <a:lnSpc>
                          <a:spcPct val="100000"/>
                        </a:lnSpc>
                        <a:spcBef>
                          <a:spcPts val="0"/>
                        </a:spcBef>
                        <a:spcAft>
                          <a:spcPts val="0"/>
                        </a:spcAft>
                        <a:buNone/>
                      </a:pPr>
                      <a:r>
                        <a:rPr lang="en-US" sz="1900" u="none" cap="none" strike="noStrike">
                          <a:latin typeface="Arial"/>
                          <a:ea typeface="Arial"/>
                          <a:cs typeface="Arial"/>
                          <a:sym typeface="Arial"/>
                        </a:rPr>
                        <a:t>$115,300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1270" marR="0" rtl="0" algn="ctr">
                        <a:lnSpc>
                          <a:spcPct val="100000"/>
                        </a:lnSpc>
                        <a:spcBef>
                          <a:spcPts val="0"/>
                        </a:spcBef>
                        <a:spcAft>
                          <a:spcPts val="0"/>
                        </a:spcAft>
                        <a:buNone/>
                      </a:pPr>
                      <a:r>
                        <a:rPr lang="en-US" sz="1900" u="none" cap="none" strike="noStrike">
                          <a:latin typeface="Arial"/>
                          <a:ea typeface="Arial"/>
                          <a:cs typeface="Arial"/>
                          <a:sym typeface="Arial"/>
                        </a:rPr>
                        <a:t>$77,810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1270" marR="0" rtl="0" algn="ctr">
                        <a:lnSpc>
                          <a:spcPct val="100000"/>
                        </a:lnSpc>
                        <a:spcBef>
                          <a:spcPts val="0"/>
                        </a:spcBef>
                        <a:spcAft>
                          <a:spcPts val="0"/>
                        </a:spcAft>
                        <a:buNone/>
                      </a:pPr>
                      <a:r>
                        <a:rPr lang="en-US" sz="1900" u="none" cap="none" strike="noStrike">
                          <a:latin typeface="Arial"/>
                          <a:ea typeface="Arial"/>
                          <a:cs typeface="Arial"/>
                          <a:sym typeface="Arial"/>
                        </a:rPr>
                        <a:t>30,200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1270" marR="0" rtl="0" algn="ctr">
                        <a:lnSpc>
                          <a:spcPct val="100000"/>
                        </a:lnSpc>
                        <a:spcBef>
                          <a:spcPts val="0"/>
                        </a:spcBef>
                        <a:spcAft>
                          <a:spcPts val="0"/>
                        </a:spcAft>
                        <a:buNone/>
                      </a:pPr>
                      <a:r>
                        <a:rPr lang="en-US" sz="1900" u="none" cap="none" strike="noStrike">
                          <a:latin typeface="Arial"/>
                          <a:ea typeface="Arial"/>
                          <a:cs typeface="Arial"/>
                          <a:sym typeface="Arial"/>
                        </a:rPr>
                        <a:t>8%</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2540" marR="0" rtl="0" algn="ctr">
                        <a:lnSpc>
                          <a:spcPct val="100000"/>
                        </a:lnSpc>
                        <a:spcBef>
                          <a:spcPts val="0"/>
                        </a:spcBef>
                        <a:spcAft>
                          <a:spcPts val="0"/>
                        </a:spcAft>
                        <a:buNone/>
                      </a:pPr>
                      <a:r>
                        <a:rPr lang="en-US" sz="1900" u="none" cap="none" strike="noStrike">
                          <a:latin typeface="Arial"/>
                          <a:ea typeface="Arial"/>
                          <a:cs typeface="Arial"/>
                          <a:sym typeface="Arial"/>
                        </a:rPr>
                        <a:t>382,600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r>
              <a:tr h="665975">
                <a:tc>
                  <a:txBody>
                    <a:bodyPr/>
                    <a:lstStyle/>
                    <a:p>
                      <a:pPr indent="-363220" lvl="0" marL="664845" marR="294640" rtl="0" algn="l">
                        <a:lnSpc>
                          <a:spcPct val="100000"/>
                        </a:lnSpc>
                        <a:spcBef>
                          <a:spcPts val="0"/>
                        </a:spcBef>
                        <a:spcAft>
                          <a:spcPts val="0"/>
                        </a:spcAft>
                        <a:buNone/>
                      </a:pPr>
                      <a:r>
                        <a:rPr lang="en-US" sz="1900" u="none" cap="none" strike="noStrike">
                          <a:latin typeface="Arial"/>
                          <a:ea typeface="Arial"/>
                          <a:cs typeface="Arial"/>
                          <a:sym typeface="Arial"/>
                        </a:rPr>
                        <a:t>Electrical Design Engineer</a:t>
                      </a:r>
                      <a:endParaRPr sz="1900" u="none" cap="none" strike="noStrike">
                        <a:latin typeface="Arial"/>
                        <a:ea typeface="Arial"/>
                        <a:cs typeface="Arial"/>
                        <a:sym typeface="Arial"/>
                      </a:endParaRPr>
                    </a:p>
                  </a:txBody>
                  <a:tcPr marT="336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$148,000</a:t>
                      </a:r>
                      <a:endParaRPr sz="1900" u="none" cap="none" strike="noStrike">
                        <a:latin typeface="Arial"/>
                        <a:ea typeface="Arial"/>
                        <a:cs typeface="Arial"/>
                        <a:sym typeface="Arial"/>
                      </a:endParaRPr>
                    </a:p>
                  </a:txBody>
                  <a:tcPr marT="181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$89,630</a:t>
                      </a:r>
                      <a:endParaRPr sz="1900" u="none" cap="none" strike="noStrike">
                        <a:latin typeface="Arial"/>
                        <a:ea typeface="Arial"/>
                        <a:cs typeface="Arial"/>
                        <a:sym typeface="Arial"/>
                      </a:endParaRPr>
                    </a:p>
                  </a:txBody>
                  <a:tcPr marT="181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0" marR="0" rtl="0" algn="l">
                        <a:lnSpc>
                          <a:spcPct val="100000"/>
                        </a:lnSpc>
                        <a:spcBef>
                          <a:spcPts val="0"/>
                        </a:spcBef>
                        <a:spcAft>
                          <a:spcPts val="0"/>
                        </a:spcAft>
                        <a:buNone/>
                      </a:pPr>
                      <a:r>
                        <a:t/>
                      </a:r>
                      <a:endParaRPr sz="19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4%</a:t>
                      </a:r>
                      <a:endParaRPr sz="1900" u="none" cap="none" strike="noStrike">
                        <a:latin typeface="Arial"/>
                        <a:ea typeface="Arial"/>
                        <a:cs typeface="Arial"/>
                        <a:sym typeface="Arial"/>
                      </a:endParaRPr>
                    </a:p>
                  </a:txBody>
                  <a:tcPr marT="181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1270" marR="0" rtl="0" algn="ctr">
                        <a:lnSpc>
                          <a:spcPct val="100000"/>
                        </a:lnSpc>
                        <a:spcBef>
                          <a:spcPts val="0"/>
                        </a:spcBef>
                        <a:spcAft>
                          <a:spcPts val="0"/>
                        </a:spcAft>
                        <a:buNone/>
                      </a:pPr>
                      <a:r>
                        <a:rPr lang="en-US" sz="1900" u="none" cap="none" strike="noStrike">
                          <a:latin typeface="Arial"/>
                          <a:ea typeface="Arial"/>
                          <a:cs typeface="Arial"/>
                          <a:sym typeface="Arial"/>
                        </a:rPr>
                        <a:t>315,900</a:t>
                      </a:r>
                      <a:endParaRPr sz="1900" u="none" cap="none" strike="noStrike">
                        <a:latin typeface="Arial"/>
                        <a:ea typeface="Arial"/>
                        <a:cs typeface="Arial"/>
                        <a:sym typeface="Arial"/>
                      </a:endParaRPr>
                    </a:p>
                  </a:txBody>
                  <a:tcPr marT="181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r>
              <a:tr h="454650">
                <a:tc>
                  <a:txBody>
                    <a:bodyPr/>
                    <a:lstStyle/>
                    <a:p>
                      <a:pPr indent="0" lvl="0" marL="0" marR="0" rtl="0" algn="ctr">
                        <a:lnSpc>
                          <a:spcPct val="100000"/>
                        </a:lnSpc>
                        <a:spcBef>
                          <a:spcPts val="0"/>
                        </a:spcBef>
                        <a:spcAft>
                          <a:spcPts val="0"/>
                        </a:spcAft>
                        <a:buNone/>
                      </a:pPr>
                      <a:r>
                        <a:rPr lang="en-US" sz="1900" u="none" cap="none" strike="noStrike">
                          <a:solidFill>
                            <a:srgbClr val="FF0000"/>
                          </a:solidFill>
                          <a:latin typeface="Arial"/>
                          <a:ea typeface="Arial"/>
                          <a:cs typeface="Arial"/>
                          <a:sym typeface="Arial"/>
                        </a:rPr>
                        <a:t>Data Scientist</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$148,000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$110,620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8,100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11%</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2540" marR="0" rtl="0" algn="ctr">
                        <a:lnSpc>
                          <a:spcPct val="100000"/>
                        </a:lnSpc>
                        <a:spcBef>
                          <a:spcPts val="0"/>
                        </a:spcBef>
                        <a:spcAft>
                          <a:spcPts val="0"/>
                        </a:spcAft>
                        <a:buNone/>
                      </a:pPr>
                      <a:r>
                        <a:rPr lang="en-US" sz="1900" u="none" cap="none" strike="noStrike">
                          <a:latin typeface="Arial"/>
                          <a:ea typeface="Arial"/>
                          <a:cs typeface="Arial"/>
                          <a:sym typeface="Arial"/>
                        </a:rPr>
                        <a:t>75,600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r>
              <a:tr h="454650">
                <a:tc>
                  <a:txBody>
                    <a:bodyPr/>
                    <a:lstStyle/>
                    <a:p>
                      <a:pPr indent="0" lvl="0" marL="635" marR="0" rtl="0" algn="ctr">
                        <a:lnSpc>
                          <a:spcPct val="100000"/>
                        </a:lnSpc>
                        <a:spcBef>
                          <a:spcPts val="0"/>
                        </a:spcBef>
                        <a:spcAft>
                          <a:spcPts val="0"/>
                        </a:spcAft>
                        <a:buNone/>
                      </a:pPr>
                      <a:r>
                        <a:rPr lang="en-US" sz="1900" u="none" cap="none" strike="noStrike">
                          <a:solidFill>
                            <a:srgbClr val="FF0000"/>
                          </a:solidFill>
                          <a:latin typeface="Arial"/>
                          <a:ea typeface="Arial"/>
                          <a:cs typeface="Arial"/>
                          <a:sym typeface="Arial"/>
                        </a:rPr>
                        <a:t>Data Engineer</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1270" marR="0" rtl="0" algn="ctr">
                        <a:lnSpc>
                          <a:spcPct val="100000"/>
                        </a:lnSpc>
                        <a:spcBef>
                          <a:spcPts val="0"/>
                        </a:spcBef>
                        <a:spcAft>
                          <a:spcPts val="0"/>
                        </a:spcAft>
                        <a:buNone/>
                      </a:pPr>
                      <a:r>
                        <a:rPr lang="en-US" sz="1900" u="none" cap="none" strike="noStrike">
                          <a:latin typeface="Arial"/>
                          <a:ea typeface="Arial"/>
                          <a:cs typeface="Arial"/>
                          <a:sym typeface="Arial"/>
                        </a:rPr>
                        <a:t>$129,980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1270" marR="0" rtl="0" algn="ctr">
                        <a:lnSpc>
                          <a:spcPct val="100000"/>
                        </a:lnSpc>
                        <a:spcBef>
                          <a:spcPts val="0"/>
                        </a:spcBef>
                        <a:spcAft>
                          <a:spcPts val="0"/>
                        </a:spcAft>
                        <a:buNone/>
                      </a:pPr>
                      <a:r>
                        <a:rPr lang="en-US" sz="1900" u="none" cap="none" strike="noStrike">
                          <a:latin typeface="Arial"/>
                          <a:ea typeface="Arial"/>
                          <a:cs typeface="Arial"/>
                          <a:sym typeface="Arial"/>
                        </a:rPr>
                        <a:t>$95,800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1905" marR="0" rtl="0" algn="ctr">
                        <a:lnSpc>
                          <a:spcPct val="100000"/>
                        </a:lnSpc>
                        <a:spcBef>
                          <a:spcPts val="0"/>
                        </a:spcBef>
                        <a:spcAft>
                          <a:spcPts val="0"/>
                        </a:spcAft>
                        <a:buNone/>
                      </a:pPr>
                      <a:r>
                        <a:rPr lang="en-US" sz="1900" u="none" cap="none" strike="noStrike">
                          <a:latin typeface="Arial"/>
                          <a:ea typeface="Arial"/>
                          <a:cs typeface="Arial"/>
                          <a:sym typeface="Arial"/>
                        </a:rPr>
                        <a:t>118,600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1270" marR="0" rtl="0" algn="ctr">
                        <a:lnSpc>
                          <a:spcPct val="100000"/>
                        </a:lnSpc>
                        <a:spcBef>
                          <a:spcPts val="0"/>
                        </a:spcBef>
                        <a:spcAft>
                          <a:spcPts val="0"/>
                        </a:spcAft>
                        <a:buNone/>
                      </a:pPr>
                      <a:r>
                        <a:rPr lang="en-US" sz="1900" u="none" cap="none" strike="noStrike">
                          <a:latin typeface="Arial"/>
                          <a:ea typeface="Arial"/>
                          <a:cs typeface="Arial"/>
                          <a:sym typeface="Arial"/>
                        </a:rPr>
                        <a:t>21%</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635" marR="0" rtl="0" algn="ctr">
                        <a:lnSpc>
                          <a:spcPct val="100000"/>
                        </a:lnSpc>
                        <a:spcBef>
                          <a:spcPts val="0"/>
                        </a:spcBef>
                        <a:spcAft>
                          <a:spcPts val="0"/>
                        </a:spcAft>
                        <a:buNone/>
                      </a:pPr>
                      <a:r>
                        <a:rPr lang="en-US" sz="1900" u="none" cap="none" strike="noStrike">
                          <a:latin typeface="Arial"/>
                          <a:ea typeface="Arial"/>
                          <a:cs typeface="Arial"/>
                          <a:sym typeface="Arial"/>
                        </a:rPr>
                        <a:t>567,800</a:t>
                      </a:r>
                      <a:endParaRPr sz="1900" u="none" cap="none" strike="noStrike">
                        <a:latin typeface="Arial"/>
                        <a:ea typeface="Arial"/>
                        <a:cs typeface="Arial"/>
                        <a:sym typeface="Arial"/>
                      </a:endParaRPr>
                    </a:p>
                  </a:txBody>
                  <a:tcPr marT="1187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r>
              <a:tr h="455325">
                <a:tc>
                  <a:txBody>
                    <a:bodyPr/>
                    <a:lstStyle/>
                    <a:p>
                      <a:pPr indent="0" lvl="0" marL="0" marR="0" rtl="0" algn="ctr">
                        <a:lnSpc>
                          <a:spcPct val="100000"/>
                        </a:lnSpc>
                        <a:spcBef>
                          <a:spcPts val="0"/>
                        </a:spcBef>
                        <a:spcAft>
                          <a:spcPts val="0"/>
                        </a:spcAft>
                        <a:buNone/>
                      </a:pPr>
                      <a:r>
                        <a:rPr lang="en-US" sz="1900" u="none" cap="none" strike="noStrike">
                          <a:solidFill>
                            <a:srgbClr val="FF0000"/>
                          </a:solidFill>
                          <a:latin typeface="Arial"/>
                          <a:ea typeface="Arial"/>
                          <a:cs typeface="Arial"/>
                          <a:sym typeface="Arial"/>
                        </a:rPr>
                        <a:t>Data Analyst</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$124,000</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635" marR="0" rtl="0" algn="ctr">
                        <a:lnSpc>
                          <a:spcPct val="100000"/>
                        </a:lnSpc>
                        <a:spcBef>
                          <a:spcPts val="0"/>
                        </a:spcBef>
                        <a:spcAft>
                          <a:spcPts val="0"/>
                        </a:spcAft>
                        <a:buNone/>
                      </a:pPr>
                      <a:r>
                        <a:rPr lang="en-US" sz="1900" u="none" cap="none" strike="noStrike">
                          <a:latin typeface="Arial"/>
                          <a:ea typeface="Arial"/>
                          <a:cs typeface="Arial"/>
                          <a:sym typeface="Arial"/>
                        </a:rPr>
                        <a:t>$85,900</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1905" marR="0" rtl="0" algn="ctr">
                        <a:lnSpc>
                          <a:spcPct val="100000"/>
                        </a:lnSpc>
                        <a:spcBef>
                          <a:spcPts val="0"/>
                        </a:spcBef>
                        <a:spcAft>
                          <a:spcPts val="0"/>
                        </a:spcAft>
                        <a:buNone/>
                      </a:pPr>
                      <a:r>
                        <a:rPr lang="en-US" sz="1900" u="none" cap="none" strike="noStrike">
                          <a:latin typeface="Arial"/>
                          <a:ea typeface="Arial"/>
                          <a:cs typeface="Arial"/>
                          <a:sym typeface="Arial"/>
                        </a:rPr>
                        <a:t>140,000</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19%</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2540" marR="0" rtl="0" algn="ctr">
                        <a:lnSpc>
                          <a:spcPct val="100000"/>
                        </a:lnSpc>
                        <a:spcBef>
                          <a:spcPts val="0"/>
                        </a:spcBef>
                        <a:spcAft>
                          <a:spcPts val="0"/>
                        </a:spcAft>
                        <a:buNone/>
                      </a:pPr>
                      <a:r>
                        <a:rPr lang="en-US" sz="1900" u="none" cap="none" strike="noStrike">
                          <a:latin typeface="Arial"/>
                          <a:ea typeface="Arial"/>
                          <a:cs typeface="Arial"/>
                          <a:sym typeface="Arial"/>
                        </a:rPr>
                        <a:t>495,500</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r>
              <a:tr h="455325">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Finance Analyst</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$160,760</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1905" marR="0" rtl="0" algn="ctr">
                        <a:lnSpc>
                          <a:spcPct val="100000"/>
                        </a:lnSpc>
                        <a:spcBef>
                          <a:spcPts val="0"/>
                        </a:spcBef>
                        <a:spcAft>
                          <a:spcPts val="0"/>
                        </a:spcAft>
                        <a:buNone/>
                      </a:pPr>
                      <a:r>
                        <a:rPr lang="en-US" sz="1900" u="none" cap="none" strike="noStrike">
                          <a:latin typeface="Arial"/>
                          <a:ea typeface="Arial"/>
                          <a:cs typeface="Arial"/>
                          <a:sym typeface="Arial"/>
                        </a:rPr>
                        <a:t>95,320</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32,300</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1270" marR="0" rtl="0" algn="ctr">
                        <a:lnSpc>
                          <a:spcPct val="100000"/>
                        </a:lnSpc>
                        <a:spcBef>
                          <a:spcPts val="0"/>
                        </a:spcBef>
                        <a:spcAft>
                          <a:spcPts val="0"/>
                        </a:spcAft>
                        <a:buNone/>
                      </a:pPr>
                      <a:r>
                        <a:rPr lang="en-US" sz="1900" u="none" cap="none" strike="noStrike">
                          <a:latin typeface="Arial"/>
                          <a:ea typeface="Arial"/>
                          <a:cs typeface="Arial"/>
                          <a:sym typeface="Arial"/>
                        </a:rPr>
                        <a:t>12%</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0" marR="0" rtl="0" algn="ctr">
                        <a:lnSpc>
                          <a:spcPct val="100000"/>
                        </a:lnSpc>
                        <a:spcBef>
                          <a:spcPts val="0"/>
                        </a:spcBef>
                        <a:spcAft>
                          <a:spcPts val="0"/>
                        </a:spcAft>
                        <a:buNone/>
                      </a:pPr>
                      <a:r>
                        <a:rPr lang="en-US" sz="1900" u="none" cap="none" strike="noStrike">
                          <a:latin typeface="Arial"/>
                          <a:ea typeface="Arial"/>
                          <a:cs typeface="Arial"/>
                          <a:sym typeface="Arial"/>
                        </a:rPr>
                        <a:t>268,360</a:t>
                      </a:r>
                      <a:endParaRPr sz="1900" u="none" cap="none" strike="noStrike">
                        <a:latin typeface="Arial"/>
                        <a:ea typeface="Arial"/>
                        <a:cs typeface="Arial"/>
                        <a:sym typeface="Arial"/>
                      </a:endParaRPr>
                    </a:p>
                  </a:txBody>
                  <a:tcPr marT="1194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146" name="Google Shape;146;p5"/>
          <p:cNvSpPr txBox="1"/>
          <p:nvPr>
            <p:ph type="title"/>
          </p:nvPr>
        </p:nvSpPr>
        <p:spPr>
          <a:xfrm>
            <a:off x="7145654" y="991443"/>
            <a:ext cx="4603001" cy="1087819"/>
          </a:xfrm>
          <a:prstGeom prst="rect">
            <a:avLst/>
          </a:prstGeom>
          <a:noFill/>
          <a:ln>
            <a:noFill/>
          </a:ln>
        </p:spPr>
        <p:txBody>
          <a:bodyPr anchorCtr="0" anchor="b" bIns="45700" lIns="91425" spcFirstLastPara="1" rIns="91425" wrap="square" tIns="45700">
            <a:normAutofit/>
          </a:bodyPr>
          <a:lstStyle/>
          <a:p>
            <a:pPr indent="0" lvl="0" marL="1184275" rtl="0" algn="l">
              <a:lnSpc>
                <a:spcPct val="90000"/>
              </a:lnSpc>
              <a:spcBef>
                <a:spcPts val="0"/>
              </a:spcBef>
              <a:spcAft>
                <a:spcPts val="0"/>
              </a:spcAft>
              <a:buClr>
                <a:schemeClr val="dk1"/>
              </a:buClr>
              <a:buSzPts val="3400"/>
              <a:buFont typeface="Play"/>
              <a:buNone/>
            </a:pPr>
            <a:r>
              <a:rPr lang="en-US" sz="3400">
                <a:solidFill>
                  <a:schemeClr val="dk1"/>
                </a:solidFill>
                <a:latin typeface="Play"/>
                <a:ea typeface="Play"/>
                <a:cs typeface="Play"/>
                <a:sym typeface="Play"/>
              </a:rPr>
              <a:t>Data Engineer Positions</a:t>
            </a:r>
            <a:endParaRPr/>
          </a:p>
        </p:txBody>
      </p:sp>
      <p:sp>
        <p:nvSpPr>
          <p:cNvPr id="147" name="Google Shape;147;p5"/>
          <p:cNvSpPr/>
          <p:nvPr/>
        </p:nvSpPr>
        <p:spPr>
          <a:xfrm rot="5400000">
            <a:off x="7383398" y="387939"/>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48" name="Google Shape;148;p5"/>
          <p:cNvSpPr/>
          <p:nvPr/>
        </p:nvSpPr>
        <p:spPr>
          <a:xfrm>
            <a:off x="7145655" y="2285541"/>
            <a:ext cx="452628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149" name="Google Shape;149;p5"/>
          <p:cNvGrpSpPr/>
          <p:nvPr/>
        </p:nvGrpSpPr>
        <p:grpSpPr>
          <a:xfrm>
            <a:off x="443345" y="1857517"/>
            <a:ext cx="6249919" cy="3087535"/>
            <a:chOff x="1603247" y="1591055"/>
            <a:chExt cx="10340737" cy="5108448"/>
          </a:xfrm>
        </p:grpSpPr>
        <p:pic>
          <p:nvPicPr>
            <p:cNvPr id="150" name="Google Shape;150;p5"/>
            <p:cNvPicPr preferRelativeResize="0"/>
            <p:nvPr/>
          </p:nvPicPr>
          <p:blipFill rotWithShape="1">
            <a:blip r:embed="rId3">
              <a:alphaModFix/>
            </a:blip>
            <a:srcRect b="0" l="0" r="0" t="0"/>
            <a:stretch/>
          </p:blipFill>
          <p:spPr>
            <a:xfrm>
              <a:off x="1603247" y="1591055"/>
              <a:ext cx="4053840" cy="5108448"/>
            </a:xfrm>
            <a:prstGeom prst="rect">
              <a:avLst/>
            </a:prstGeom>
            <a:noFill/>
            <a:ln>
              <a:noFill/>
            </a:ln>
          </p:spPr>
        </p:pic>
        <p:pic>
          <p:nvPicPr>
            <p:cNvPr id="151" name="Google Shape;151;p5"/>
            <p:cNvPicPr preferRelativeResize="0"/>
            <p:nvPr/>
          </p:nvPicPr>
          <p:blipFill rotWithShape="1">
            <a:blip r:embed="rId4">
              <a:alphaModFix/>
            </a:blip>
            <a:srcRect b="0" l="0" r="0" t="0"/>
            <a:stretch/>
          </p:blipFill>
          <p:spPr>
            <a:xfrm>
              <a:off x="5657088" y="1591055"/>
              <a:ext cx="3994404" cy="2196084"/>
            </a:xfrm>
            <a:prstGeom prst="rect">
              <a:avLst/>
            </a:prstGeom>
            <a:noFill/>
            <a:ln>
              <a:noFill/>
            </a:ln>
          </p:spPr>
        </p:pic>
        <p:pic>
          <p:nvPicPr>
            <p:cNvPr id="152" name="Google Shape;152;p5"/>
            <p:cNvPicPr preferRelativeResize="0"/>
            <p:nvPr/>
          </p:nvPicPr>
          <p:blipFill rotWithShape="1">
            <a:blip r:embed="rId5">
              <a:alphaModFix/>
            </a:blip>
            <a:srcRect b="0" l="0" r="0" t="0"/>
            <a:stretch/>
          </p:blipFill>
          <p:spPr>
            <a:xfrm>
              <a:off x="5657088" y="3855720"/>
              <a:ext cx="6286896" cy="2450427"/>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 name="Google Shape;158;p6"/>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9" name="Google Shape;159;p6"/>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160" name="Google Shape;160;p6"/>
          <p:cNvSpPr txBox="1"/>
          <p:nvPr>
            <p:ph type="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2388870" rtl="0" algn="l">
              <a:lnSpc>
                <a:spcPct val="90000"/>
              </a:lnSpc>
              <a:spcBef>
                <a:spcPts val="0"/>
              </a:spcBef>
              <a:spcAft>
                <a:spcPts val="0"/>
              </a:spcAft>
              <a:buClr>
                <a:schemeClr val="dk1"/>
              </a:buClr>
              <a:buSzPts val="1900"/>
              <a:buFont typeface="Play"/>
              <a:buNone/>
            </a:pPr>
            <a:r>
              <a:rPr lang="en-US" sz="1900">
                <a:solidFill>
                  <a:schemeClr val="dk1"/>
                </a:solidFill>
                <a:latin typeface="Play"/>
                <a:ea typeface="Play"/>
                <a:cs typeface="Play"/>
                <a:sym typeface="Play"/>
              </a:rPr>
              <a:t>Collaboration</a:t>
            </a:r>
            <a:endParaRPr/>
          </a:p>
        </p:txBody>
      </p:sp>
      <p:sp>
        <p:nvSpPr>
          <p:cNvPr id="161" name="Google Shape;161;p6"/>
          <p:cNvSpPr txBox="1"/>
          <p:nvPr/>
        </p:nvSpPr>
        <p:spPr>
          <a:xfrm>
            <a:off x="477981" y="4872922"/>
            <a:ext cx="3933306" cy="1208141"/>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lang="en-US" sz="2000">
                <a:solidFill>
                  <a:schemeClr val="dk1"/>
                </a:solidFill>
                <a:latin typeface="Arial"/>
                <a:ea typeface="Arial"/>
                <a:cs typeface="Arial"/>
                <a:sym typeface="Arial"/>
              </a:rPr>
              <a:t>8</a:t>
            </a:r>
            <a:endParaRPr sz="2000">
              <a:solidFill>
                <a:schemeClr val="dk1"/>
              </a:solidFill>
              <a:latin typeface="Arial"/>
              <a:ea typeface="Arial"/>
              <a:cs typeface="Arial"/>
              <a:sym typeface="Arial"/>
            </a:endParaRPr>
          </a:p>
        </p:txBody>
      </p:sp>
      <p:sp>
        <p:nvSpPr>
          <p:cNvPr id="162" name="Google Shape;162;p6"/>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63" name="Google Shape;163;p6"/>
          <p:cNvSpPr/>
          <p:nvPr/>
        </p:nvSpPr>
        <p:spPr>
          <a:xfrm>
            <a:off x="481029"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一张图看懂数据科学家、数据工程师和软件工程师之间的区别" id="164" name="Google Shape;164;p6"/>
          <p:cNvPicPr preferRelativeResize="0"/>
          <p:nvPr/>
        </p:nvPicPr>
        <p:blipFill rotWithShape="1">
          <a:blip r:embed="rId3">
            <a:alphaModFix/>
          </a:blip>
          <a:srcRect b="0" l="0" r="0" t="0"/>
          <a:stretch/>
        </p:blipFill>
        <p:spPr>
          <a:xfrm>
            <a:off x="5414356" y="1021544"/>
            <a:ext cx="6408836" cy="466366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70" name="Google Shape;170;p7">
            <a:hlinkClick r:id="rId3"/>
          </p:cNvPr>
          <p:cNvPicPr preferRelativeResize="0"/>
          <p:nvPr/>
        </p:nvPicPr>
        <p:blipFill rotWithShape="1">
          <a:blip r:embed="rId4">
            <a:alphaModFix/>
          </a:blip>
          <a:srcRect b="-4" l="1018" r="-4" t="0"/>
          <a:stretch/>
        </p:blipFill>
        <p:spPr>
          <a:xfrm>
            <a:off x="20" y="10"/>
            <a:ext cx="8668492" cy="6857990"/>
          </a:xfrm>
          <a:prstGeom prst="rect">
            <a:avLst/>
          </a:prstGeom>
          <a:noFill/>
          <a:ln>
            <a:noFill/>
          </a:ln>
        </p:spPr>
      </p:pic>
      <p:sp>
        <p:nvSpPr>
          <p:cNvPr id="171" name="Google Shape;171;p7"/>
          <p:cNvSpPr/>
          <p:nvPr/>
        </p:nvSpPr>
        <p:spPr>
          <a:xfrm flipH="1">
            <a:off x="3711652" y="0"/>
            <a:ext cx="8480347" cy="6858000"/>
          </a:xfrm>
          <a:prstGeom prst="rect">
            <a:avLst/>
          </a:prstGeom>
          <a:gradFill>
            <a:gsLst>
              <a:gs pos="0">
                <a:srgbClr val="FFFFFF">
                  <a:alpha val="0"/>
                </a:srgbClr>
              </a:gs>
              <a:gs pos="19000">
                <a:srgbClr val="FFFFFF">
                  <a:alpha val="38039"/>
                </a:srgbClr>
              </a:gs>
              <a:gs pos="35000">
                <a:srgbClr val="FFFFFF">
                  <a:alpha val="76862"/>
                </a:srgbClr>
              </a:gs>
              <a:gs pos="4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172" name="Google Shape;172;p7"/>
          <p:cNvSpPr txBox="1"/>
          <p:nvPr>
            <p:ph type="title"/>
          </p:nvPr>
        </p:nvSpPr>
        <p:spPr>
          <a:xfrm>
            <a:off x="7848600" y="1122363"/>
            <a:ext cx="4023360" cy="3204134"/>
          </a:xfrm>
          <a:prstGeom prst="rect">
            <a:avLst/>
          </a:prstGeom>
          <a:noFill/>
          <a:ln>
            <a:noFill/>
          </a:ln>
        </p:spPr>
        <p:txBody>
          <a:bodyPr anchorCtr="0" anchor="b" bIns="45700" lIns="91425" spcFirstLastPara="1" rIns="91425" wrap="square" tIns="45700">
            <a:normAutofit/>
          </a:bodyPr>
          <a:lstStyle/>
          <a:p>
            <a:pPr indent="0" lvl="0" marL="1666239" rtl="0" algn="l">
              <a:lnSpc>
                <a:spcPct val="90000"/>
              </a:lnSpc>
              <a:spcBef>
                <a:spcPts val="0"/>
              </a:spcBef>
              <a:spcAft>
                <a:spcPts val="0"/>
              </a:spcAft>
              <a:buClr>
                <a:schemeClr val="dk1"/>
              </a:buClr>
              <a:buSzPts val="4100"/>
              <a:buFont typeface="Play"/>
              <a:buNone/>
            </a:pPr>
            <a:r>
              <a:rPr lang="en-US" sz="4100"/>
              <a:t>Big Data Ecosystem</a:t>
            </a:r>
            <a:endParaRPr/>
          </a:p>
        </p:txBody>
      </p:sp>
      <p:sp>
        <p:nvSpPr>
          <p:cNvPr id="173" name="Google Shape;173;p7"/>
          <p:cNvSpPr txBox="1"/>
          <p:nvPr/>
        </p:nvSpPr>
        <p:spPr>
          <a:xfrm>
            <a:off x="7848600" y="4872922"/>
            <a:ext cx="4023360" cy="1208141"/>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lang="en-US" sz="2000" u="sng">
                <a:solidFill>
                  <a:schemeClr val="dk1"/>
                </a:solidFill>
                <a:latin typeface="Arial"/>
                <a:ea typeface="Arial"/>
                <a:cs typeface="Arial"/>
                <a:sym typeface="Arial"/>
                <a:hlinkClick r:id="rId5">
                  <a:extLst>
                    <a:ext uri="{A12FA001-AC4F-418D-AE19-62706E023703}">
                      <ahyp:hlinkClr val="tx"/>
                    </a:ext>
                  </a:extLst>
                </a:hlinkClick>
              </a:rPr>
              <a:t>9</a:t>
            </a:r>
            <a:endParaRPr sz="2000">
              <a:solidFill>
                <a:schemeClr val="dk1"/>
              </a:solidFill>
              <a:latin typeface="Arial"/>
              <a:ea typeface="Arial"/>
              <a:cs typeface="Arial"/>
              <a:sym typeface="Arial"/>
            </a:endParaRPr>
          </a:p>
        </p:txBody>
      </p:sp>
      <p:sp>
        <p:nvSpPr>
          <p:cNvPr id="174" name="Google Shape;174;p7"/>
          <p:cNvSpPr/>
          <p:nvPr/>
        </p:nvSpPr>
        <p:spPr>
          <a:xfrm rot="5400000">
            <a:off x="8130540"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75" name="Google Shape;175;p7"/>
          <p:cNvSpPr/>
          <p:nvPr/>
        </p:nvSpPr>
        <p:spPr>
          <a:xfrm>
            <a:off x="7851648"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172"/>
                                        </p:tgtEl>
                                        <p:attrNameLst>
                                          <p:attrName>style.visibility</p:attrName>
                                        </p:attrNameLst>
                                      </p:cBhvr>
                                      <p:to>
                                        <p:strVal val="visible"/>
                                      </p:to>
                                    </p:set>
                                    <p:animEffect filter="fade" transition="in">
                                      <p:cBhvr>
                                        <p:cTn dur="7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descr="$PPTXTitle" id="180" name="Google Shape;180;p8"/>
          <p:cNvSpPr txBox="1"/>
          <p:nvPr>
            <p:ph type="title"/>
          </p:nvPr>
        </p:nvSpPr>
        <p:spPr>
          <a:xfrm>
            <a:off x="762001" y="5074024"/>
            <a:ext cx="10109199" cy="598032"/>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chemeClr val="dk1"/>
              </a:buClr>
              <a:buSzPts val="3600"/>
              <a:buFont typeface="Play"/>
              <a:buNone/>
            </a:pPr>
            <a:r>
              <a:rPr lang="en-US" sz="3600">
                <a:solidFill>
                  <a:schemeClr val="dk1"/>
                </a:solidFill>
                <a:latin typeface="Play"/>
                <a:ea typeface="Play"/>
                <a:cs typeface="Play"/>
                <a:sym typeface="Play"/>
              </a:rPr>
              <a:t>Technical Skills</a:t>
            </a:r>
            <a:endParaRPr/>
          </a:p>
        </p:txBody>
      </p:sp>
      <p:sp>
        <p:nvSpPr>
          <p:cNvPr id="181" name="Google Shape;181;p8"/>
          <p:cNvSpPr txBox="1"/>
          <p:nvPr/>
        </p:nvSpPr>
        <p:spPr>
          <a:xfrm>
            <a:off x="762001" y="5672059"/>
            <a:ext cx="10109199" cy="547765"/>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lnSpc>
                <a:spcPct val="90000"/>
              </a:lnSpc>
              <a:spcBef>
                <a:spcPts val="0"/>
              </a:spcBef>
              <a:spcAft>
                <a:spcPts val="0"/>
              </a:spcAft>
              <a:buNone/>
            </a:pPr>
            <a:r>
              <a:rPr lang="en-US" sz="500">
                <a:solidFill>
                  <a:schemeClr val="dk1"/>
                </a:solidFill>
                <a:latin typeface="Arial"/>
                <a:ea typeface="Arial"/>
                <a:cs typeface="Arial"/>
                <a:sym typeface="Arial"/>
              </a:rPr>
              <a:t>∗ NoSQL Technologies (e.g. Cassandra and</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MongoDB)</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 MatLab, SAS, R</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 Data Warehousing Solutions</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 Machine Learning</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 Data Mining</a:t>
            </a:r>
            <a:endParaRPr sz="500">
              <a:solidFill>
                <a:schemeClr val="dk1"/>
              </a:solidFill>
              <a:latin typeface="Arial"/>
              <a:ea typeface="Arial"/>
              <a:cs typeface="Arial"/>
              <a:sym typeface="Arial"/>
            </a:endParaRPr>
          </a:p>
          <a:p>
            <a:pPr indent="0" lvl="0" marL="0" marR="751840" rtl="0" algn="l">
              <a:lnSpc>
                <a:spcPct val="90000"/>
              </a:lnSpc>
              <a:spcBef>
                <a:spcPts val="1000"/>
              </a:spcBef>
              <a:spcAft>
                <a:spcPts val="0"/>
              </a:spcAft>
              <a:buNone/>
            </a:pPr>
            <a:r>
              <a:rPr lang="en-US" sz="500">
                <a:solidFill>
                  <a:schemeClr val="dk1"/>
                </a:solidFill>
                <a:latin typeface="Arial"/>
                <a:ea typeface="Arial"/>
                <a:cs typeface="Arial"/>
                <a:sym typeface="Arial"/>
              </a:rPr>
              <a:t>∗ Predictive Modeling, NLP and Text Analysis</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 Visualization</a:t>
            </a:r>
            <a:endParaRPr sz="500">
              <a:solidFill>
                <a:schemeClr val="dk1"/>
              </a:solidFill>
              <a:latin typeface="Arial"/>
              <a:ea typeface="Arial"/>
              <a:cs typeface="Arial"/>
              <a:sym typeface="Arial"/>
            </a:endParaRPr>
          </a:p>
        </p:txBody>
      </p:sp>
      <p:pic>
        <p:nvPicPr>
          <p:cNvPr descr="Financial graphs on a dark display" id="182" name="Google Shape;182;p8"/>
          <p:cNvPicPr preferRelativeResize="0"/>
          <p:nvPr/>
        </p:nvPicPr>
        <p:blipFill rotWithShape="1">
          <a:blip r:embed="rId3">
            <a:alphaModFix/>
          </a:blip>
          <a:srcRect b="-2" l="1443" r="7250" t="0"/>
          <a:stretch/>
        </p:blipFill>
        <p:spPr>
          <a:xfrm>
            <a:off x="20" y="-40"/>
            <a:ext cx="6095980" cy="4172827"/>
          </a:xfrm>
          <a:prstGeom prst="rect">
            <a:avLst/>
          </a:prstGeom>
          <a:noFill/>
          <a:ln>
            <a:noFill/>
          </a:ln>
        </p:spPr>
      </p:pic>
      <p:cxnSp>
        <p:nvCxnSpPr>
          <p:cNvPr id="183" name="Google Shape;183;p8"/>
          <p:cNvCxnSpPr/>
          <p:nvPr/>
        </p:nvCxnSpPr>
        <p:spPr>
          <a:xfrm>
            <a:off x="865141" y="4811517"/>
            <a:ext cx="736939" cy="0"/>
          </a:xfrm>
          <a:prstGeom prst="straightConnector1">
            <a:avLst/>
          </a:prstGeom>
          <a:noFill/>
          <a:ln cap="flat" cmpd="sng" w="57150">
            <a:solidFill>
              <a:schemeClr val="accent4"/>
            </a:solidFill>
            <a:prstDash val="solid"/>
            <a:miter lim="800000"/>
            <a:headEnd len="sm" w="sm" type="none"/>
            <a:tailEnd len="sm" w="sm" type="none"/>
          </a:ln>
        </p:spPr>
      </p:cxnSp>
      <p:sp>
        <p:nvSpPr>
          <p:cNvPr id="184" name="Google Shape;184;p8"/>
          <p:cNvSpPr txBox="1"/>
          <p:nvPr/>
        </p:nvSpPr>
        <p:spPr>
          <a:xfrm>
            <a:off x="6553200" y="979819"/>
            <a:ext cx="4685665" cy="3110230"/>
          </a:xfrm>
          <a:prstGeom prst="rect">
            <a:avLst/>
          </a:prstGeom>
          <a:noFill/>
          <a:ln>
            <a:noFill/>
          </a:ln>
        </p:spPr>
        <p:txBody>
          <a:bodyPr anchorCtr="0" anchor="t" bIns="0" lIns="0" spcFirstLastPara="1" rIns="0" wrap="square" tIns="79375">
            <a:spAutoFit/>
          </a:bodyPr>
          <a:lstStyle/>
          <a:p>
            <a:pPr indent="0" lvl="0" marL="12700" marR="0" rtl="0" algn="l">
              <a:spcBef>
                <a:spcPts val="0"/>
              </a:spcBef>
              <a:spcAft>
                <a:spcPts val="0"/>
              </a:spcAft>
              <a:buNone/>
            </a:pPr>
            <a:r>
              <a:rPr lang="en-US" sz="2200">
                <a:solidFill>
                  <a:srgbClr val="30B6FC"/>
                </a:solidFill>
                <a:latin typeface="Arimo"/>
                <a:ea typeface="Arimo"/>
                <a:cs typeface="Arimo"/>
                <a:sym typeface="Arimo"/>
              </a:rPr>
              <a:t>∗ </a:t>
            </a:r>
            <a:r>
              <a:rPr lang="en-US" sz="2200">
                <a:solidFill>
                  <a:srgbClr val="FF0000"/>
                </a:solidFill>
                <a:latin typeface="Arial"/>
                <a:ea typeface="Arial"/>
                <a:cs typeface="Arial"/>
                <a:sym typeface="Arial"/>
              </a:rPr>
              <a:t>Python, C/C++ Java, Perl</a:t>
            </a:r>
            <a:endParaRPr sz="2200">
              <a:solidFill>
                <a:schemeClr val="dk1"/>
              </a:solidFill>
              <a:latin typeface="Arial"/>
              <a:ea typeface="Arial"/>
              <a:cs typeface="Arial"/>
              <a:sym typeface="Arial"/>
            </a:endParaRPr>
          </a:p>
          <a:p>
            <a:pPr indent="0" lvl="0" marL="12700" marR="0" rtl="0" algn="l">
              <a:spcBef>
                <a:spcPts val="525"/>
              </a:spcBef>
              <a:spcAft>
                <a:spcPts val="0"/>
              </a:spcAft>
              <a:buNone/>
            </a:pPr>
            <a:r>
              <a:rPr lang="en-US" sz="2200">
                <a:solidFill>
                  <a:srgbClr val="30B6FC"/>
                </a:solidFill>
                <a:latin typeface="Arimo"/>
                <a:ea typeface="Arimo"/>
                <a:cs typeface="Arimo"/>
                <a:sym typeface="Arimo"/>
              </a:rPr>
              <a:t>∗ </a:t>
            </a:r>
            <a:r>
              <a:rPr lang="en-US" sz="2200">
                <a:solidFill>
                  <a:srgbClr val="FF0000"/>
                </a:solidFill>
                <a:latin typeface="Arial"/>
                <a:ea typeface="Arial"/>
                <a:cs typeface="Arial"/>
                <a:sym typeface="Arial"/>
              </a:rPr>
              <a:t>Data Structure and Algorithm</a:t>
            </a:r>
            <a:endParaRPr sz="2200">
              <a:solidFill>
                <a:schemeClr val="dk1"/>
              </a:solidFill>
              <a:latin typeface="Arial"/>
              <a:ea typeface="Arial"/>
              <a:cs typeface="Arial"/>
              <a:sym typeface="Arial"/>
            </a:endParaRPr>
          </a:p>
          <a:p>
            <a:pPr indent="0" lvl="0" marL="12700" marR="0" rtl="0" algn="l">
              <a:spcBef>
                <a:spcPts val="530"/>
              </a:spcBef>
              <a:spcAft>
                <a:spcPts val="0"/>
              </a:spcAft>
              <a:buNone/>
            </a:pPr>
            <a:r>
              <a:rPr lang="en-US" sz="2200">
                <a:solidFill>
                  <a:srgbClr val="30B6FC"/>
                </a:solidFill>
                <a:latin typeface="Arimo"/>
                <a:ea typeface="Arimo"/>
                <a:cs typeface="Arimo"/>
                <a:sym typeface="Arimo"/>
              </a:rPr>
              <a:t>∗ </a:t>
            </a:r>
            <a:r>
              <a:rPr lang="en-US" sz="2200">
                <a:solidFill>
                  <a:srgbClr val="00AF50"/>
                </a:solidFill>
                <a:latin typeface="Arial"/>
                <a:ea typeface="Arial"/>
                <a:cs typeface="Arial"/>
                <a:sym typeface="Arial"/>
              </a:rPr>
              <a:t>UNIX, Linux, Solaris and MS Windows</a:t>
            </a:r>
            <a:endParaRPr sz="2200">
              <a:solidFill>
                <a:schemeClr val="dk1"/>
              </a:solidFill>
              <a:latin typeface="Arial"/>
              <a:ea typeface="Arial"/>
              <a:cs typeface="Arial"/>
              <a:sym typeface="Arial"/>
            </a:endParaRPr>
          </a:p>
          <a:p>
            <a:pPr indent="0" lvl="0" marL="12700" marR="0" rtl="0" algn="l">
              <a:spcBef>
                <a:spcPts val="530"/>
              </a:spcBef>
              <a:spcAft>
                <a:spcPts val="0"/>
              </a:spcAft>
              <a:buNone/>
            </a:pPr>
            <a:r>
              <a:rPr lang="en-US" sz="2200">
                <a:solidFill>
                  <a:srgbClr val="30B6FC"/>
                </a:solidFill>
                <a:latin typeface="Arimo"/>
                <a:ea typeface="Arimo"/>
                <a:cs typeface="Arimo"/>
                <a:sym typeface="Arimo"/>
              </a:rPr>
              <a:t>∗ </a:t>
            </a:r>
            <a:r>
              <a:rPr lang="en-US" sz="2200">
                <a:solidFill>
                  <a:srgbClr val="00AF50"/>
                </a:solidFill>
                <a:latin typeface="Arial"/>
                <a:ea typeface="Arial"/>
                <a:cs typeface="Arial"/>
                <a:sym typeface="Arial"/>
              </a:rPr>
              <a:t>SQL-based Technologies (e.g.</a:t>
            </a:r>
            <a:endParaRPr sz="2200">
              <a:solidFill>
                <a:schemeClr val="dk1"/>
              </a:solidFill>
              <a:latin typeface="Arial"/>
              <a:ea typeface="Arial"/>
              <a:cs typeface="Arial"/>
              <a:sym typeface="Arial"/>
            </a:endParaRPr>
          </a:p>
          <a:p>
            <a:pPr indent="0" lvl="0" marL="286385" marR="0" rtl="0" algn="l">
              <a:spcBef>
                <a:spcPts val="0"/>
              </a:spcBef>
              <a:spcAft>
                <a:spcPts val="0"/>
              </a:spcAft>
              <a:buNone/>
            </a:pPr>
            <a:r>
              <a:rPr lang="en-US" sz="2200">
                <a:solidFill>
                  <a:srgbClr val="00AF50"/>
                </a:solidFill>
                <a:latin typeface="Arial"/>
                <a:ea typeface="Arial"/>
                <a:cs typeface="Arial"/>
                <a:sym typeface="Arial"/>
              </a:rPr>
              <a:t>PostgreSQL and MySQL)</a:t>
            </a:r>
            <a:endParaRPr sz="2200">
              <a:solidFill>
                <a:schemeClr val="dk1"/>
              </a:solidFill>
              <a:latin typeface="Arial"/>
              <a:ea typeface="Arial"/>
              <a:cs typeface="Arial"/>
              <a:sym typeface="Arial"/>
            </a:endParaRPr>
          </a:p>
          <a:p>
            <a:pPr indent="0" lvl="0" marL="12700" marR="0" rtl="0" algn="l">
              <a:spcBef>
                <a:spcPts val="530"/>
              </a:spcBef>
              <a:spcAft>
                <a:spcPts val="0"/>
              </a:spcAft>
              <a:buNone/>
            </a:pPr>
            <a:r>
              <a:rPr lang="en-US" sz="2200">
                <a:solidFill>
                  <a:srgbClr val="30B6FC"/>
                </a:solidFill>
                <a:latin typeface="Arimo"/>
                <a:ea typeface="Arimo"/>
                <a:cs typeface="Arimo"/>
                <a:sym typeface="Arimo"/>
              </a:rPr>
              <a:t>∗ </a:t>
            </a:r>
            <a:r>
              <a:rPr lang="en-US" sz="2200">
                <a:solidFill>
                  <a:srgbClr val="063D86"/>
                </a:solidFill>
                <a:latin typeface="Arial"/>
                <a:ea typeface="Arial"/>
                <a:cs typeface="Arial"/>
                <a:sym typeface="Arial"/>
              </a:rPr>
              <a:t>Statistical Analysis and Modeling</a:t>
            </a:r>
            <a:endParaRPr sz="2200">
              <a:solidFill>
                <a:schemeClr val="dk1"/>
              </a:solidFill>
              <a:latin typeface="Arial"/>
              <a:ea typeface="Arial"/>
              <a:cs typeface="Arial"/>
              <a:sym typeface="Arial"/>
            </a:endParaRPr>
          </a:p>
          <a:p>
            <a:pPr indent="-274320" lvl="0" marL="286385" marR="361315" rtl="0" algn="l">
              <a:spcBef>
                <a:spcPts val="530"/>
              </a:spcBef>
              <a:spcAft>
                <a:spcPts val="0"/>
              </a:spcAft>
              <a:buNone/>
            </a:pPr>
            <a:r>
              <a:rPr lang="en-US" sz="2200">
                <a:solidFill>
                  <a:srgbClr val="30B6FC"/>
                </a:solidFill>
                <a:latin typeface="Arimo"/>
                <a:ea typeface="Arimo"/>
                <a:cs typeface="Arimo"/>
                <a:sym typeface="Arimo"/>
              </a:rPr>
              <a:t>∗ </a:t>
            </a:r>
            <a:r>
              <a:rPr lang="en-US" sz="2200">
                <a:solidFill>
                  <a:srgbClr val="006FC0"/>
                </a:solidFill>
                <a:latin typeface="Arial"/>
                <a:ea typeface="Arial"/>
                <a:cs typeface="Arial"/>
                <a:sym typeface="Arial"/>
              </a:rPr>
              <a:t>Hadoop-based Technologies (e.g. MapReduce, Hive, Pig, Spark, etc.)</a:t>
            </a:r>
            <a:endParaRPr sz="22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8" name="Shape 188"/>
        <p:cNvGrpSpPr/>
        <p:nvPr/>
      </p:nvGrpSpPr>
      <p:grpSpPr>
        <a:xfrm>
          <a:off x="0" y="0"/>
          <a:ext cx="0" cy="0"/>
          <a:chOff x="0" y="0"/>
          <a:chExt cx="0" cy="0"/>
        </a:xfrm>
      </p:grpSpPr>
      <p:sp>
        <p:nvSpPr>
          <p:cNvPr id="189" name="Google Shape;189;p9"/>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190" name="Google Shape;190;p9"/>
          <p:cNvSpPr txBox="1"/>
          <p:nvPr>
            <p:ph type="title"/>
          </p:nvPr>
        </p:nvSpPr>
        <p:spPr>
          <a:xfrm>
            <a:off x="4553733" y="548464"/>
            <a:ext cx="6798541" cy="1675623"/>
          </a:xfrm>
          <a:prstGeom prst="rect">
            <a:avLst/>
          </a:prstGeom>
          <a:noFill/>
          <a:ln>
            <a:noFill/>
          </a:ln>
        </p:spPr>
        <p:txBody>
          <a:bodyPr anchorCtr="0" anchor="b" bIns="45700" lIns="91425" spcFirstLastPara="1" rIns="91425" wrap="square" tIns="45700">
            <a:normAutofit/>
          </a:bodyPr>
          <a:lstStyle/>
          <a:p>
            <a:pPr indent="0" lvl="0" marL="2858135" rtl="0" algn="l">
              <a:lnSpc>
                <a:spcPct val="90000"/>
              </a:lnSpc>
              <a:spcBef>
                <a:spcPts val="0"/>
              </a:spcBef>
              <a:spcAft>
                <a:spcPts val="0"/>
              </a:spcAft>
              <a:buClr>
                <a:schemeClr val="dk1"/>
              </a:buClr>
              <a:buSzPts val="4000"/>
              <a:buFont typeface="Play"/>
              <a:buNone/>
            </a:pPr>
            <a:r>
              <a:rPr lang="en-US" sz="4000"/>
              <a:t>Overview</a:t>
            </a:r>
            <a:endParaRPr/>
          </a:p>
        </p:txBody>
      </p:sp>
      <p:pic>
        <p:nvPicPr>
          <p:cNvPr id="191" name="Google Shape;191;p9"/>
          <p:cNvPicPr preferRelativeResize="0"/>
          <p:nvPr/>
        </p:nvPicPr>
        <p:blipFill rotWithShape="1">
          <a:blip r:embed="rId3">
            <a:alphaModFix/>
          </a:blip>
          <a:srcRect b="0" l="29622" r="33664" t="0"/>
          <a:stretch/>
        </p:blipFill>
        <p:spPr>
          <a:xfrm>
            <a:off x="1" y="10"/>
            <a:ext cx="4196496" cy="6857990"/>
          </a:xfrm>
          <a:prstGeom prst="rect">
            <a:avLst/>
          </a:prstGeom>
          <a:noFill/>
          <a:ln>
            <a:noFill/>
          </a:ln>
        </p:spPr>
      </p:pic>
      <p:grpSp>
        <p:nvGrpSpPr>
          <p:cNvPr id="192" name="Google Shape;192;p9"/>
          <p:cNvGrpSpPr/>
          <p:nvPr/>
        </p:nvGrpSpPr>
        <p:grpSpPr>
          <a:xfrm>
            <a:off x="4561128" y="2837204"/>
            <a:ext cx="6783750" cy="2850468"/>
            <a:chOff x="7394" y="427374"/>
            <a:chExt cx="6783750" cy="2850468"/>
          </a:xfrm>
        </p:grpSpPr>
        <p:sp>
          <p:nvSpPr>
            <p:cNvPr id="193" name="Google Shape;193;p9"/>
            <p:cNvSpPr/>
            <p:nvPr/>
          </p:nvSpPr>
          <p:spPr>
            <a:xfrm>
              <a:off x="402269" y="427374"/>
              <a:ext cx="1235250" cy="1235250"/>
            </a:xfrm>
            <a:prstGeom prst="ellipse">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665519" y="690624"/>
              <a:ext cx="708750" cy="7087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7394" y="2047374"/>
              <a:ext cx="2025000" cy="12304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txBox="1"/>
            <p:nvPr/>
          </p:nvSpPr>
          <p:spPr>
            <a:xfrm>
              <a:off x="7394" y="2047374"/>
              <a:ext cx="2025000" cy="1230468"/>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100"/>
                <a:buFont typeface="Arial"/>
                <a:buNone/>
              </a:pPr>
              <a:r>
                <a:rPr lang="en-US" sz="1100" cap="none">
                  <a:solidFill>
                    <a:schemeClr val="dk1"/>
                  </a:solidFill>
                  <a:latin typeface="Arial"/>
                  <a:ea typeface="Arial"/>
                  <a:cs typeface="Arial"/>
                  <a:sym typeface="Arial"/>
                </a:rPr>
                <a:t>∗ </a:t>
              </a:r>
              <a:r>
                <a:rPr b="1" lang="en-US" sz="1100" cap="none">
                  <a:solidFill>
                    <a:schemeClr val="dk1"/>
                  </a:solidFill>
                  <a:latin typeface="Arial"/>
                  <a:ea typeface="Arial"/>
                  <a:cs typeface="Arial"/>
                  <a:sym typeface="Arial"/>
                </a:rPr>
                <a:t>CREATIVE PROBLEM-SOLVING</a:t>
              </a:r>
              <a:r>
                <a:rPr lang="en-US" sz="1100" cap="none">
                  <a:solidFill>
                    <a:schemeClr val="dk1"/>
                  </a:solidFill>
                  <a:latin typeface="Arial"/>
                  <a:ea typeface="Arial"/>
                  <a:cs typeface="Arial"/>
                  <a:sym typeface="Arial"/>
                </a:rPr>
                <a:t>: APPROACHING DATA ORGANIZATION CHALLENGES WITH A CLEAR EYE ON WHAT IS IMPORTANT; EMPLOYING THE RIGHT APPROACH/METHODS TO MAKE THE MAXIMUM USE OF TIME AND HUMAN RESOURCES.</a:t>
              </a:r>
              <a:endParaRPr/>
            </a:p>
          </p:txBody>
        </p:sp>
        <p:sp>
          <p:nvSpPr>
            <p:cNvPr id="197" name="Google Shape;197;p9"/>
            <p:cNvSpPr/>
            <p:nvPr/>
          </p:nvSpPr>
          <p:spPr>
            <a:xfrm>
              <a:off x="2781644" y="427374"/>
              <a:ext cx="1235250" cy="1235250"/>
            </a:xfrm>
            <a:prstGeom prst="ellipse">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3044894" y="690624"/>
              <a:ext cx="708750" cy="7087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2386769" y="2047374"/>
              <a:ext cx="2025000" cy="12304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txBox="1"/>
            <p:nvPr/>
          </p:nvSpPr>
          <p:spPr>
            <a:xfrm>
              <a:off x="2386769" y="2047374"/>
              <a:ext cx="2025000" cy="1230468"/>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100"/>
                <a:buFont typeface="Arial"/>
                <a:buNone/>
              </a:pPr>
              <a:r>
                <a:rPr lang="en-US" sz="1100" cap="none">
                  <a:solidFill>
                    <a:schemeClr val="dk1"/>
                  </a:solidFill>
                  <a:latin typeface="Arial"/>
                  <a:ea typeface="Arial"/>
                  <a:cs typeface="Arial"/>
                  <a:sym typeface="Arial"/>
                </a:rPr>
                <a:t>∗ </a:t>
              </a:r>
              <a:r>
                <a:rPr b="1" lang="en-US" sz="1100" cap="none">
                  <a:solidFill>
                    <a:schemeClr val="dk1"/>
                  </a:solidFill>
                  <a:latin typeface="Arial"/>
                  <a:ea typeface="Arial"/>
                  <a:cs typeface="Arial"/>
                  <a:sym typeface="Arial"/>
                </a:rPr>
                <a:t>EFFECTIVE COLLABORATION</a:t>
              </a:r>
              <a:r>
                <a:rPr lang="en-US" sz="1100" cap="none">
                  <a:solidFill>
                    <a:schemeClr val="dk1"/>
                  </a:solidFill>
                  <a:latin typeface="Arial"/>
                  <a:ea typeface="Arial"/>
                  <a:cs typeface="Arial"/>
                  <a:sym typeface="Arial"/>
                </a:rPr>
                <a:t>: CAREFULLY LISTENING TO MANAGEMENT, DATA SCIENTISTS AND DATA ARCHITECTS TO ESTABLISH THEIR NEEDS.</a:t>
              </a:r>
              <a:endParaRPr/>
            </a:p>
          </p:txBody>
        </p:sp>
        <p:sp>
          <p:nvSpPr>
            <p:cNvPr id="201" name="Google Shape;201;p9"/>
            <p:cNvSpPr/>
            <p:nvPr/>
          </p:nvSpPr>
          <p:spPr>
            <a:xfrm>
              <a:off x="5161019" y="427374"/>
              <a:ext cx="1235250" cy="1235250"/>
            </a:xfrm>
            <a:prstGeom prst="ellipse">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5424269" y="690624"/>
              <a:ext cx="708750" cy="70875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4766144" y="2047374"/>
              <a:ext cx="2025000" cy="12304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txBox="1"/>
            <p:nvPr/>
          </p:nvSpPr>
          <p:spPr>
            <a:xfrm>
              <a:off x="4766144" y="2047374"/>
              <a:ext cx="2025000" cy="1230468"/>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100"/>
                <a:buFont typeface="Arial"/>
                <a:buNone/>
              </a:pPr>
              <a:r>
                <a:rPr lang="en-US" sz="1100" cap="none">
                  <a:solidFill>
                    <a:schemeClr val="dk1"/>
                  </a:solidFill>
                  <a:latin typeface="Arial"/>
                  <a:ea typeface="Arial"/>
                  <a:cs typeface="Arial"/>
                  <a:sym typeface="Arial"/>
                </a:rPr>
                <a:t>∗ </a:t>
              </a:r>
              <a:r>
                <a:rPr b="1" lang="en-US" sz="1100" cap="none">
                  <a:solidFill>
                    <a:schemeClr val="dk1"/>
                  </a:solidFill>
                  <a:latin typeface="Arial"/>
                  <a:ea typeface="Arial"/>
                  <a:cs typeface="Arial"/>
                  <a:sym typeface="Arial"/>
                </a:rPr>
                <a:t>INTELLECTUAL CURIOSITY</a:t>
              </a:r>
              <a:r>
                <a:rPr lang="en-US" sz="1100" cap="none">
                  <a:solidFill>
                    <a:schemeClr val="dk1"/>
                  </a:solidFill>
                  <a:latin typeface="Arial"/>
                  <a:ea typeface="Arial"/>
                  <a:cs typeface="Arial"/>
                  <a:sym typeface="Arial"/>
                </a:rPr>
                <a:t>: EXPLORING NEW TERRITORIES AND FINDING CREATIVE AND UNUSUAL</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id="209" name="Google Shape;209;p10"/>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210" name="Google Shape;210;p10"/>
          <p:cNvSpPr txBox="1"/>
          <p:nvPr>
            <p:ph type="title"/>
          </p:nvPr>
        </p:nvSpPr>
        <p:spPr>
          <a:xfrm>
            <a:off x="4553733" y="548464"/>
            <a:ext cx="6798541" cy="1675623"/>
          </a:xfrm>
          <a:prstGeom prst="rect">
            <a:avLst/>
          </a:prstGeom>
          <a:noFill/>
          <a:ln>
            <a:noFill/>
          </a:ln>
        </p:spPr>
        <p:txBody>
          <a:bodyPr anchorCtr="0" anchor="b" bIns="0" lIns="0" spcFirstLastPara="1" rIns="0" wrap="square" tIns="13325">
            <a:normAutofit/>
          </a:bodyPr>
          <a:lstStyle/>
          <a:p>
            <a:pPr indent="0" lvl="0" marL="1635760" rtl="0" algn="l">
              <a:lnSpc>
                <a:spcPct val="90000"/>
              </a:lnSpc>
              <a:spcBef>
                <a:spcPts val="0"/>
              </a:spcBef>
              <a:spcAft>
                <a:spcPts val="0"/>
              </a:spcAft>
              <a:buClr>
                <a:schemeClr val="dk1"/>
              </a:buClr>
              <a:buSzPts val="4000"/>
              <a:buFont typeface="Play"/>
              <a:buNone/>
            </a:pPr>
            <a:r>
              <a:rPr lang="en-US" sz="4000"/>
              <a:t>The Origins of HDFS</a:t>
            </a:r>
            <a:endParaRPr/>
          </a:p>
        </p:txBody>
      </p:sp>
      <p:pic>
        <p:nvPicPr>
          <p:cNvPr id="211" name="Google Shape;211;p10"/>
          <p:cNvPicPr preferRelativeResize="0"/>
          <p:nvPr/>
        </p:nvPicPr>
        <p:blipFill rotWithShape="1">
          <a:blip r:embed="rId3">
            <a:alphaModFix/>
          </a:blip>
          <a:srcRect b="-1" l="5289" r="53865" t="0"/>
          <a:stretch/>
        </p:blipFill>
        <p:spPr>
          <a:xfrm>
            <a:off x="1" y="10"/>
            <a:ext cx="4196496" cy="6857990"/>
          </a:xfrm>
          <a:prstGeom prst="rect">
            <a:avLst/>
          </a:prstGeom>
          <a:noFill/>
          <a:ln>
            <a:noFill/>
          </a:ln>
        </p:spPr>
      </p:pic>
      <p:sp>
        <p:nvSpPr>
          <p:cNvPr id="212" name="Google Shape;212;p10"/>
          <p:cNvSpPr txBox="1"/>
          <p:nvPr>
            <p:ph idx="1" type="body"/>
          </p:nvPr>
        </p:nvSpPr>
        <p:spPr>
          <a:xfrm>
            <a:off x="4553734" y="2409830"/>
            <a:ext cx="6798539" cy="3705217"/>
          </a:xfrm>
          <a:prstGeom prst="rect">
            <a:avLst/>
          </a:prstGeom>
          <a:noFill/>
          <a:ln>
            <a:noFill/>
          </a:ln>
        </p:spPr>
        <p:txBody>
          <a:bodyPr anchorCtr="0" anchor="t" bIns="0" lIns="0" spcFirstLastPara="1" rIns="0" wrap="square" tIns="88900">
            <a:normAutofit/>
          </a:bodyPr>
          <a:lstStyle/>
          <a:p>
            <a:pPr indent="-12700" lvl="0" marL="12700" rtl="0" algn="l">
              <a:lnSpc>
                <a:spcPct val="90000"/>
              </a:lnSpc>
              <a:spcBef>
                <a:spcPts val="0"/>
              </a:spcBef>
              <a:spcAft>
                <a:spcPts val="0"/>
              </a:spcAft>
              <a:buClr>
                <a:schemeClr val="dk1"/>
              </a:buClr>
              <a:buSzPts val="2000"/>
              <a:buChar char="•"/>
            </a:pPr>
            <a:r>
              <a:rPr lang="en-US" sz="2000">
                <a:latin typeface="Arimo"/>
                <a:ea typeface="Arimo"/>
                <a:cs typeface="Arimo"/>
                <a:sym typeface="Arimo"/>
              </a:rPr>
              <a:t>∗ </a:t>
            </a:r>
            <a:r>
              <a:rPr lang="en-US" sz="2000"/>
              <a:t>A distributed storage layer that satisfied the following requirements</a:t>
            </a:r>
            <a:endParaRPr sz="2000">
              <a:latin typeface="Arimo"/>
              <a:ea typeface="Arimo"/>
              <a:cs typeface="Arimo"/>
              <a:sym typeface="Arimo"/>
            </a:endParaRPr>
          </a:p>
          <a:p>
            <a:pPr indent="-228600" lvl="0" marL="314325" rtl="0" algn="l">
              <a:lnSpc>
                <a:spcPct val="90000"/>
              </a:lnSpc>
              <a:spcBef>
                <a:spcPts val="545"/>
              </a:spcBef>
              <a:spcAft>
                <a:spcPts val="0"/>
              </a:spcAft>
              <a:buClr>
                <a:schemeClr val="dk1"/>
              </a:buClr>
              <a:buSzPts val="2000"/>
              <a:buChar char="•"/>
            </a:pPr>
            <a:r>
              <a:rPr lang="en-US" sz="2000">
                <a:latin typeface="Arimo"/>
                <a:ea typeface="Arimo"/>
                <a:cs typeface="Arimo"/>
                <a:sym typeface="Arimo"/>
              </a:rPr>
              <a:t>∗ </a:t>
            </a:r>
            <a:r>
              <a:rPr lang="en-US" sz="2000"/>
              <a:t>schemaless</a:t>
            </a:r>
            <a:endParaRPr/>
          </a:p>
          <a:p>
            <a:pPr indent="-228600" lvl="0" marL="314325" rtl="0" algn="l">
              <a:lnSpc>
                <a:spcPct val="90000"/>
              </a:lnSpc>
              <a:spcBef>
                <a:spcPts val="530"/>
              </a:spcBef>
              <a:spcAft>
                <a:spcPts val="0"/>
              </a:spcAft>
              <a:buClr>
                <a:schemeClr val="dk1"/>
              </a:buClr>
              <a:buSzPts val="2000"/>
              <a:buChar char="•"/>
            </a:pPr>
            <a:r>
              <a:rPr lang="en-US" sz="2000">
                <a:latin typeface="Arimo"/>
                <a:ea typeface="Arimo"/>
                <a:cs typeface="Arimo"/>
                <a:sym typeface="Arimo"/>
              </a:rPr>
              <a:t>∗ </a:t>
            </a:r>
            <a:r>
              <a:rPr lang="en-US" sz="2000"/>
              <a:t>durable</a:t>
            </a:r>
            <a:endParaRPr/>
          </a:p>
          <a:p>
            <a:pPr indent="-228600" lvl="0" marL="314325" rtl="0" algn="l">
              <a:lnSpc>
                <a:spcPct val="90000"/>
              </a:lnSpc>
              <a:spcBef>
                <a:spcPts val="530"/>
              </a:spcBef>
              <a:spcAft>
                <a:spcPts val="0"/>
              </a:spcAft>
              <a:buClr>
                <a:schemeClr val="dk1"/>
              </a:buClr>
              <a:buSzPts val="2000"/>
              <a:buChar char="•"/>
            </a:pPr>
            <a:r>
              <a:rPr lang="en-US" sz="2000">
                <a:latin typeface="Arimo"/>
                <a:ea typeface="Arimo"/>
                <a:cs typeface="Arimo"/>
                <a:sym typeface="Arimo"/>
              </a:rPr>
              <a:t>∗ </a:t>
            </a:r>
            <a:r>
              <a:rPr lang="en-US" sz="2000"/>
              <a:t>capable of handling component failure</a:t>
            </a:r>
            <a:endParaRPr/>
          </a:p>
          <a:p>
            <a:pPr indent="-228600" lvl="0" marL="314325" rtl="0" algn="l">
              <a:lnSpc>
                <a:spcPct val="90000"/>
              </a:lnSpc>
              <a:spcBef>
                <a:spcPts val="525"/>
              </a:spcBef>
              <a:spcAft>
                <a:spcPts val="0"/>
              </a:spcAft>
              <a:buClr>
                <a:schemeClr val="dk1"/>
              </a:buClr>
              <a:buSzPts val="2000"/>
              <a:buChar char="•"/>
            </a:pPr>
            <a:r>
              <a:rPr lang="en-US" sz="2000">
                <a:latin typeface="Arimo"/>
                <a:ea typeface="Arimo"/>
                <a:cs typeface="Arimo"/>
                <a:sym typeface="Arimo"/>
              </a:rPr>
              <a:t>∗ </a:t>
            </a:r>
            <a:r>
              <a:rPr lang="en-US" sz="2000"/>
              <a:t>automatically rebalanced</a:t>
            </a:r>
            <a:endParaRPr/>
          </a:p>
          <a:p>
            <a:pPr indent="-12700" lvl="0" marL="12700" rtl="0" algn="l">
              <a:lnSpc>
                <a:spcPct val="90000"/>
              </a:lnSpc>
              <a:spcBef>
                <a:spcPts val="560"/>
              </a:spcBef>
              <a:spcAft>
                <a:spcPts val="0"/>
              </a:spcAft>
              <a:buClr>
                <a:schemeClr val="dk1"/>
              </a:buClr>
              <a:buSzPts val="2000"/>
              <a:buChar char="•"/>
            </a:pPr>
            <a:r>
              <a:rPr lang="en-US" sz="2000">
                <a:latin typeface="Arimo"/>
                <a:ea typeface="Arimo"/>
                <a:cs typeface="Arimo"/>
                <a:sym typeface="Arimo"/>
              </a:rPr>
              <a:t>∗ </a:t>
            </a:r>
            <a:r>
              <a:rPr i="1" lang="en-US" sz="2000">
                <a:latin typeface="Arial"/>
                <a:ea typeface="Arial"/>
                <a:cs typeface="Arial"/>
                <a:sym typeface="Arial"/>
              </a:rPr>
              <a:t>October 2003, Google File System</a:t>
            </a:r>
            <a:endParaRPr sz="2000">
              <a:latin typeface="Arial"/>
              <a:ea typeface="Arial"/>
              <a:cs typeface="Arial"/>
              <a:sym typeface="Arial"/>
            </a:endParaRPr>
          </a:p>
          <a:p>
            <a:pPr indent="-274320" lvl="0" marL="286385" marR="333375" rtl="0" algn="l">
              <a:lnSpc>
                <a:spcPct val="90000"/>
              </a:lnSpc>
              <a:spcBef>
                <a:spcPts val="575"/>
              </a:spcBef>
              <a:spcAft>
                <a:spcPts val="0"/>
              </a:spcAft>
              <a:buClr>
                <a:schemeClr val="dk1"/>
              </a:buClr>
              <a:buSzPts val="2000"/>
              <a:buChar char="•"/>
            </a:pPr>
            <a:r>
              <a:rPr lang="en-US" sz="2000">
                <a:latin typeface="Arimo"/>
                <a:ea typeface="Arimo"/>
                <a:cs typeface="Arimo"/>
                <a:sym typeface="Arimo"/>
              </a:rPr>
              <a:t>∗ </a:t>
            </a:r>
            <a:r>
              <a:rPr lang="en-US" sz="2000"/>
              <a:t>Nutch Distributed File System: abstract cluster’s storage so that it presents itself as a single reliable file system</a:t>
            </a:r>
            <a:endParaRPr sz="2000">
              <a:latin typeface="Arimo"/>
              <a:ea typeface="Arimo"/>
              <a:cs typeface="Arimo"/>
              <a:sym typeface="Arim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 name="Shape 216"/>
        <p:cNvGrpSpPr/>
        <p:nvPr/>
      </p:nvGrpSpPr>
      <p:grpSpPr>
        <a:xfrm>
          <a:off x="0" y="0"/>
          <a:ext cx="0" cy="0"/>
          <a:chOff x="0" y="0"/>
          <a:chExt cx="0" cy="0"/>
        </a:xfrm>
      </p:grpSpPr>
      <p:sp>
        <p:nvSpPr>
          <p:cNvPr id="217" name="Google Shape;217;p11"/>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218" name="Google Shape;218;p11"/>
          <p:cNvSpPr txBox="1"/>
          <p:nvPr>
            <p:ph type="title"/>
          </p:nvPr>
        </p:nvSpPr>
        <p:spPr>
          <a:xfrm>
            <a:off x="838200" y="365125"/>
            <a:ext cx="5558489" cy="1325563"/>
          </a:xfrm>
          <a:prstGeom prst="rect">
            <a:avLst/>
          </a:prstGeom>
          <a:noFill/>
          <a:ln>
            <a:noFill/>
          </a:ln>
        </p:spPr>
        <p:txBody>
          <a:bodyPr anchorCtr="0" anchor="ctr" bIns="45700" lIns="91425" spcFirstLastPara="1" rIns="91425" wrap="square" tIns="45700">
            <a:normAutofit/>
          </a:bodyPr>
          <a:lstStyle/>
          <a:p>
            <a:pPr indent="0" lvl="0" marL="2092960" rtl="0" algn="l">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Birth of Hadoop</a:t>
            </a:r>
            <a:endParaRPr/>
          </a:p>
        </p:txBody>
      </p:sp>
      <p:sp>
        <p:nvSpPr>
          <p:cNvPr id="219" name="Google Shape;219;p11"/>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 name="Google Shape;220;p11"/>
          <p:cNvSpPr txBox="1"/>
          <p:nvPr/>
        </p:nvSpPr>
        <p:spPr>
          <a:xfrm>
            <a:off x="838200" y="1825625"/>
            <a:ext cx="5558489" cy="4351338"/>
          </a:xfrm>
          <a:prstGeom prst="rect">
            <a:avLst/>
          </a:prstGeom>
          <a:noFill/>
          <a:ln>
            <a:noFill/>
          </a:ln>
        </p:spPr>
        <p:txBody>
          <a:bodyPr anchorCtr="0" anchor="t" bIns="45700" lIns="91425" spcFirstLastPara="1" rIns="91425" wrap="square" tIns="45700">
            <a:normAutofit/>
          </a:bodyPr>
          <a:lstStyle/>
          <a:p>
            <a:pPr indent="-228600" lvl="0" marL="286385" marR="798830" rtl="0" algn="l">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February 2006, Cutting pulled out GDFS and MapReduce out of the Nutch code base and created a new incubating project</a:t>
            </a:r>
            <a:endParaRPr sz="1800">
              <a:solidFill>
                <a:schemeClr val="dk1"/>
              </a:solidFill>
              <a:latin typeface="Arial"/>
              <a:ea typeface="Arial"/>
              <a:cs typeface="Arial"/>
              <a:sym typeface="Arial"/>
            </a:endParaRPr>
          </a:p>
          <a:p>
            <a:pPr indent="-12700" lvl="0" marL="12700" marR="0" rtl="0" algn="l">
              <a:lnSpc>
                <a:spcPct val="90000"/>
              </a:lnSpc>
              <a:spcBef>
                <a:spcPts val="210"/>
              </a:spcBef>
              <a:spcAft>
                <a:spcPts val="0"/>
              </a:spcAft>
              <a:buClr>
                <a:schemeClr val="dk1"/>
              </a:buClr>
              <a:buSzPts val="1800"/>
              <a:buFont typeface="Arial"/>
              <a:buChar char="•"/>
            </a:pPr>
            <a:r>
              <a:rPr lang="en-US" sz="1800">
                <a:solidFill>
                  <a:schemeClr val="dk1"/>
                </a:solidFill>
                <a:latin typeface="Arial"/>
                <a:ea typeface="Arial"/>
                <a:cs typeface="Arial"/>
                <a:sym typeface="Arial"/>
              </a:rPr>
              <a:t>∗	Same year, Cutting joined Yahoo!</a:t>
            </a:r>
            <a:endParaRPr sz="1800">
              <a:solidFill>
                <a:schemeClr val="dk1"/>
              </a:solidFill>
              <a:latin typeface="Arial"/>
              <a:ea typeface="Arial"/>
              <a:cs typeface="Arial"/>
              <a:sym typeface="Arial"/>
            </a:endParaRPr>
          </a:p>
          <a:p>
            <a:pPr indent="114300" lvl="0" marL="0" marR="0" rtl="0" algn="l">
              <a:lnSpc>
                <a:spcPct val="90000"/>
              </a:lnSpc>
              <a:spcBef>
                <a:spcPts val="58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a:t>
            </a:r>
            <a:r>
              <a:rPr b="1" i="1" lang="en-US" sz="1800">
                <a:solidFill>
                  <a:schemeClr val="dk1"/>
                </a:solidFill>
                <a:latin typeface="Arial"/>
                <a:ea typeface="Arial"/>
                <a:cs typeface="Arial"/>
                <a:sym typeface="Arial"/>
              </a:rPr>
              <a:t>! ! ! Hadoop ! ! !</a:t>
            </a:r>
            <a:endParaRPr sz="1800">
              <a:solidFill>
                <a:schemeClr val="dk1"/>
              </a:solidFill>
              <a:latin typeface="Arial"/>
              <a:ea typeface="Arial"/>
              <a:cs typeface="Arial"/>
              <a:sym typeface="Arial"/>
            </a:endParaRPr>
          </a:p>
          <a:p>
            <a:pPr indent="114300" lvl="0" marL="0" marR="0" rtl="0" algn="l">
              <a:lnSpc>
                <a:spcPct val="90000"/>
              </a:lnSpc>
              <a:spcBef>
                <a:spcPts val="855"/>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28600" lvl="0" marL="286385" marR="5080" rtl="0" algn="l">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a:t>
            </a:r>
            <a:r>
              <a:rPr b="1" i="1" lang="en-US" sz="1800">
                <a:solidFill>
                  <a:schemeClr val="dk1"/>
                </a:solidFill>
                <a:latin typeface="Arial"/>
                <a:ea typeface="Arial"/>
                <a:cs typeface="Arial"/>
                <a:sym typeface="Arial"/>
              </a:rPr>
              <a:t>“</a:t>
            </a:r>
            <a:r>
              <a:rPr lang="en-US" sz="1800">
                <a:solidFill>
                  <a:schemeClr val="dk1"/>
                </a:solidFill>
                <a:latin typeface="Arial"/>
                <a:ea typeface="Arial"/>
                <a:cs typeface="Arial"/>
                <a:sym typeface="Arial"/>
              </a:rPr>
              <a:t>It wasn't as though Hadoop was architected around batch because we felt batch was best. Rather, batch, MapReduce in particular, was a natural first step because it was relatively easy to implement and provided great value. Before Hadoop, there was no way to store and process petabytes on commodity hardware using open-source</a:t>
            </a:r>
            <a:endParaRPr sz="1800">
              <a:solidFill>
                <a:schemeClr val="dk1"/>
              </a:solidFill>
              <a:latin typeface="Arial"/>
              <a:ea typeface="Arial"/>
              <a:cs typeface="Arial"/>
              <a:sym typeface="Arial"/>
            </a:endParaRPr>
          </a:p>
          <a:p>
            <a:pPr indent="-228600" lvl="0" marL="286385" marR="0" rtl="0" algn="l">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software. Hadoop's MapReduce provided folks with a big step in capability.”</a:t>
            </a:r>
            <a:endParaRPr sz="1800">
              <a:solidFill>
                <a:schemeClr val="dk1"/>
              </a:solidFill>
              <a:latin typeface="Arial"/>
              <a:ea typeface="Arial"/>
              <a:cs typeface="Arial"/>
              <a:sym typeface="Arial"/>
            </a:endParaRPr>
          </a:p>
        </p:txBody>
      </p:sp>
      <p:sp>
        <p:nvSpPr>
          <p:cNvPr id="221" name="Google Shape;221;p11"/>
          <p:cNvSpPr/>
          <p:nvPr/>
        </p:nvSpPr>
        <p:spPr>
          <a:xfrm>
            <a:off x="6821310" y="2624479"/>
            <a:ext cx="812427" cy="812427"/>
          </a:xfrm>
          <a:prstGeom prst="ellipse">
            <a:avLst/>
          </a:prstGeom>
          <a:noFill/>
          <a:ln cap="flat" cmpd="sng" w="1270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 name="Google Shape;222;p11"/>
          <p:cNvSpPr/>
          <p:nvPr/>
        </p:nvSpPr>
        <p:spPr>
          <a:xfrm rot="-5400000">
            <a:off x="8912417" y="1218531"/>
            <a:ext cx="2387600" cy="2387600"/>
          </a:xfrm>
          <a:prstGeom prst="blockArc">
            <a:avLst>
              <a:gd fmla="val 10800000" name="adj1"/>
              <a:gd fmla="val 0" name="adj2"/>
              <a:gd fmla="val 25000" name="adj3"/>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11"/>
          <p:cNvSpPr/>
          <p:nvPr/>
        </p:nvSpPr>
        <p:spPr>
          <a:xfrm>
            <a:off x="6821310" y="0"/>
            <a:ext cx="2315251" cy="1550992"/>
          </a:xfrm>
          <a:custGeom>
            <a:rect b="b" l="l" r="r" t="t"/>
            <a:pathLst>
              <a:path extrusionOk="0" h="1550992" w="2315251">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24" name="Google Shape;224;p11"/>
          <p:cNvCxnSpPr/>
          <p:nvPr/>
        </p:nvCxnSpPr>
        <p:spPr>
          <a:xfrm>
            <a:off x="11724638" y="1331572"/>
            <a:ext cx="0" cy="1597708"/>
          </a:xfrm>
          <a:prstGeom prst="straightConnector1">
            <a:avLst/>
          </a:prstGeom>
          <a:noFill/>
          <a:ln cap="rnd" cmpd="sng" w="127000">
            <a:solidFill>
              <a:schemeClr val="accent4"/>
            </a:solidFill>
            <a:prstDash val="dash"/>
            <a:miter lim="800000"/>
            <a:headEnd len="sm" w="sm" type="none"/>
            <a:tailEnd len="sm" w="sm" type="none"/>
          </a:ln>
        </p:spPr>
      </p:cxnSp>
      <p:sp>
        <p:nvSpPr>
          <p:cNvPr id="225" name="Google Shape;225;p11"/>
          <p:cNvSpPr/>
          <p:nvPr/>
        </p:nvSpPr>
        <p:spPr>
          <a:xfrm>
            <a:off x="11005550" y="4112081"/>
            <a:ext cx="1186451" cy="1771650"/>
          </a:xfrm>
          <a:custGeom>
            <a:rect b="b" l="l" r="r" t="t"/>
            <a:pathLst>
              <a:path extrusionOk="0" h="1771650" w="1186451">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11"/>
          <p:cNvSpPr/>
          <p:nvPr/>
        </p:nvSpPr>
        <p:spPr>
          <a:xfrm rot="-607105">
            <a:off x="6086940" y="4145122"/>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11"/>
          <p:cNvSpPr/>
          <p:nvPr/>
        </p:nvSpPr>
        <p:spPr>
          <a:xfrm>
            <a:off x="6821310" y="4962670"/>
            <a:ext cx="2643352" cy="1895331"/>
          </a:xfrm>
          <a:custGeom>
            <a:rect b="b" l="l" r="r" t="t"/>
            <a:pathLst>
              <a:path extrusionOk="0" h="1895331" w="2643352">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1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233" name="Google Shape;233;p12"/>
          <p:cNvSpPr txBox="1"/>
          <p:nvPr>
            <p:ph type="title"/>
          </p:nvPr>
        </p:nvSpPr>
        <p:spPr>
          <a:xfrm>
            <a:off x="838200" y="365125"/>
            <a:ext cx="5393361" cy="1325563"/>
          </a:xfrm>
          <a:prstGeom prst="rect">
            <a:avLst/>
          </a:prstGeom>
          <a:noFill/>
          <a:ln>
            <a:noFill/>
          </a:ln>
        </p:spPr>
        <p:txBody>
          <a:bodyPr anchorCtr="0" anchor="ctr" bIns="45700" lIns="91425" spcFirstLastPara="1" rIns="91425" wrap="square" tIns="45700">
            <a:normAutofit/>
          </a:bodyPr>
          <a:lstStyle/>
          <a:p>
            <a:pPr indent="0" lvl="0" marL="1649730" rtl="0" algn="l">
              <a:lnSpc>
                <a:spcPct val="90000"/>
              </a:lnSpc>
              <a:spcBef>
                <a:spcPts val="0"/>
              </a:spcBef>
              <a:spcAft>
                <a:spcPts val="0"/>
              </a:spcAft>
              <a:buClr>
                <a:schemeClr val="dk1"/>
              </a:buClr>
              <a:buSzPts val="4400"/>
              <a:buFont typeface="Play"/>
              <a:buNone/>
            </a:pPr>
            <a:r>
              <a:rPr lang="en-US"/>
              <a:t>Cambrian Explosion</a:t>
            </a:r>
            <a:endParaRPr/>
          </a:p>
        </p:txBody>
      </p:sp>
      <p:pic>
        <p:nvPicPr>
          <p:cNvPr id="234" name="Google Shape;234;p12"/>
          <p:cNvPicPr preferRelativeResize="0"/>
          <p:nvPr/>
        </p:nvPicPr>
        <p:blipFill rotWithShape="1">
          <a:blip r:embed="rId3">
            <a:alphaModFix/>
          </a:blip>
          <a:srcRect b="-2" l="21402" r="11846" t="0"/>
          <a:stretch/>
        </p:blipFill>
        <p:spPr>
          <a:xfrm>
            <a:off x="6374920" y="758514"/>
            <a:ext cx="5122238" cy="5122238"/>
          </a:xfrm>
          <a:custGeom>
            <a:rect b="b" l="l" r="r" t="t"/>
            <a:pathLst>
              <a:path extrusionOk="0" h="2663168" w="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235" name="Google Shape;235;p12"/>
          <p:cNvSpPr/>
          <p:nvPr/>
        </p:nvSpPr>
        <p:spPr>
          <a:xfrm flipH="1" rot="10389197">
            <a:off x="6261882" y="687822"/>
            <a:ext cx="5471147" cy="5471147"/>
          </a:xfrm>
          <a:prstGeom prst="arc">
            <a:avLst>
              <a:gd fmla="val 16200000" name="adj1"/>
              <a:gd fmla="val 20093138" name="adj2"/>
            </a:avLst>
          </a:prstGeom>
          <a:noFill/>
          <a:ln cap="rnd" cmpd="sng" w="127000">
            <a:solidFill>
              <a:schemeClr val="accent4">
                <a:alpha val="94901"/>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6" name="Google Shape;236;p12"/>
          <p:cNvSpPr/>
          <p:nvPr/>
        </p:nvSpPr>
        <p:spPr>
          <a:xfrm>
            <a:off x="10248561" y="921125"/>
            <a:ext cx="791021" cy="769563"/>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237" name="Google Shape;237;p12"/>
          <p:cNvGrpSpPr/>
          <p:nvPr/>
        </p:nvGrpSpPr>
        <p:grpSpPr>
          <a:xfrm>
            <a:off x="838200" y="2315868"/>
            <a:ext cx="5393360" cy="3370851"/>
            <a:chOff x="0" y="490243"/>
            <a:chExt cx="5393360" cy="3370851"/>
          </a:xfrm>
        </p:grpSpPr>
        <p:sp>
          <p:nvSpPr>
            <p:cNvPr id="238" name="Google Shape;238;p12"/>
            <p:cNvSpPr/>
            <p:nvPr/>
          </p:nvSpPr>
          <p:spPr>
            <a:xfrm>
              <a:off x="0" y="490243"/>
              <a:ext cx="1685425" cy="1011255"/>
            </a:xfrm>
            <a:prstGeom prst="rect">
              <a:avLst/>
            </a:prstGeom>
            <a:solidFill>
              <a:srgbClr val="E9713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txBox="1"/>
            <p:nvPr/>
          </p:nvSpPr>
          <p:spPr>
            <a:xfrm>
              <a:off x="0" y="490243"/>
              <a:ext cx="1685425" cy="101125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	</a:t>
              </a:r>
              <a:r>
                <a:rPr b="1" i="1" lang="en-US" sz="1100">
                  <a:solidFill>
                    <a:schemeClr val="lt1"/>
                  </a:solidFill>
                  <a:latin typeface="Arial"/>
                  <a:ea typeface="Arial"/>
                  <a:cs typeface="Arial"/>
                  <a:sym typeface="Arial"/>
                </a:rPr>
                <a:t>“</a:t>
              </a:r>
              <a:r>
                <a:rPr lang="en-US" sz="1100">
                  <a:solidFill>
                    <a:schemeClr val="lt1"/>
                  </a:solidFill>
                  <a:latin typeface="Arial"/>
                  <a:ea typeface="Arial"/>
                  <a:cs typeface="Arial"/>
                  <a:sym typeface="Arial"/>
                </a:rPr>
                <a:t>of more normal evolution, as use of these technologies now spreads through industries.”</a:t>
              </a:r>
              <a:endParaRPr/>
            </a:p>
          </p:txBody>
        </p:sp>
        <p:sp>
          <p:nvSpPr>
            <p:cNvPr id="240" name="Google Shape;240;p12"/>
            <p:cNvSpPr/>
            <p:nvPr/>
          </p:nvSpPr>
          <p:spPr>
            <a:xfrm>
              <a:off x="1853967" y="490243"/>
              <a:ext cx="1685425" cy="1011255"/>
            </a:xfrm>
            <a:prstGeom prst="rect">
              <a:avLst/>
            </a:prstGeom>
            <a:solidFill>
              <a:srgbClr val="176B2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
            <p:cNvSpPr txBox="1"/>
            <p:nvPr/>
          </p:nvSpPr>
          <p:spPr>
            <a:xfrm>
              <a:off x="1853967" y="490243"/>
              <a:ext cx="1685425" cy="101125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	2007, Facebook, Twitter, LinkedIn and many others started doing serious work with Hadoop</a:t>
              </a:r>
              <a:endParaRPr/>
            </a:p>
          </p:txBody>
        </p:sp>
        <p:sp>
          <p:nvSpPr>
            <p:cNvPr id="242" name="Google Shape;242;p12"/>
            <p:cNvSpPr/>
            <p:nvPr/>
          </p:nvSpPr>
          <p:spPr>
            <a:xfrm>
              <a:off x="3707935" y="490243"/>
              <a:ext cx="1685425" cy="1011255"/>
            </a:xfrm>
            <a:prstGeom prst="rect">
              <a:avLst/>
            </a:prstGeom>
            <a:solidFill>
              <a:srgbClr val="0C9ED5"/>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txBox="1"/>
            <p:nvPr/>
          </p:nvSpPr>
          <p:spPr>
            <a:xfrm>
              <a:off x="3707935" y="490243"/>
              <a:ext cx="1685425" cy="101125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	In February, Yahoo! reported that their production Hadoop cluster is running on 1000 nodes</a:t>
              </a:r>
              <a:endParaRPr/>
            </a:p>
          </p:txBody>
        </p:sp>
        <p:sp>
          <p:nvSpPr>
            <p:cNvPr id="244" name="Google Shape;244;p12"/>
            <p:cNvSpPr/>
            <p:nvPr/>
          </p:nvSpPr>
          <p:spPr>
            <a:xfrm>
              <a:off x="0" y="1670041"/>
              <a:ext cx="1685425" cy="1011255"/>
            </a:xfrm>
            <a:prstGeom prst="rect">
              <a:avLst/>
            </a:prstGeom>
            <a:solidFill>
              <a:srgbClr val="A0289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txBox="1"/>
            <p:nvPr/>
          </p:nvSpPr>
          <p:spPr>
            <a:xfrm>
              <a:off x="0" y="1670041"/>
              <a:ext cx="1685425" cy="101125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	2008, HBase, Pig, Hive</a:t>
              </a:r>
              <a:endParaRPr/>
            </a:p>
          </p:txBody>
        </p:sp>
        <p:sp>
          <p:nvSpPr>
            <p:cNvPr id="246" name="Google Shape;246;p12"/>
            <p:cNvSpPr/>
            <p:nvPr/>
          </p:nvSpPr>
          <p:spPr>
            <a:xfrm>
              <a:off x="1853967" y="1670041"/>
              <a:ext cx="1685425" cy="1011255"/>
            </a:xfrm>
            <a:prstGeom prst="rect">
              <a:avLst/>
            </a:prstGeom>
            <a:solidFill>
              <a:srgbClr val="4EA62C"/>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2"/>
            <p:cNvSpPr txBox="1"/>
            <p:nvPr/>
          </p:nvSpPr>
          <p:spPr>
            <a:xfrm>
              <a:off x="1853967" y="1670041"/>
              <a:ext cx="1685425" cy="101125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	First professional system integrator dedicated to Hadoop was born: Cloudera</a:t>
              </a:r>
              <a:endParaRPr/>
            </a:p>
          </p:txBody>
        </p:sp>
        <p:sp>
          <p:nvSpPr>
            <p:cNvPr id="248" name="Google Shape;248;p12"/>
            <p:cNvSpPr/>
            <p:nvPr/>
          </p:nvSpPr>
          <p:spPr>
            <a:xfrm>
              <a:off x="3707935" y="1670041"/>
              <a:ext cx="1685425" cy="1011255"/>
            </a:xfrm>
            <a:prstGeom prst="rect">
              <a:avLst/>
            </a:prstGeom>
            <a:solidFill>
              <a:srgbClr val="E9713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txBox="1"/>
            <p:nvPr/>
          </p:nvSpPr>
          <p:spPr>
            <a:xfrm>
              <a:off x="3707935" y="1670041"/>
              <a:ext cx="1685425" cy="101125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	2009, Amazon started providing MapReduce hosting service</a:t>
              </a:r>
              <a:endParaRPr/>
            </a:p>
          </p:txBody>
        </p:sp>
        <p:sp>
          <p:nvSpPr>
            <p:cNvPr id="250" name="Google Shape;250;p12"/>
            <p:cNvSpPr/>
            <p:nvPr/>
          </p:nvSpPr>
          <p:spPr>
            <a:xfrm>
              <a:off x="926983" y="2849839"/>
              <a:ext cx="1685425" cy="1011255"/>
            </a:xfrm>
            <a:prstGeom prst="rect">
              <a:avLst/>
            </a:prstGeom>
            <a:solidFill>
              <a:srgbClr val="176B2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txBox="1"/>
            <p:nvPr/>
          </p:nvSpPr>
          <p:spPr>
            <a:xfrm>
              <a:off x="926983" y="2849839"/>
              <a:ext cx="1685425" cy="1011255"/>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	2010, Yahoo went down</a:t>
              </a:r>
              <a:endParaRPr/>
            </a:p>
          </p:txBody>
        </p:sp>
        <p:sp>
          <p:nvSpPr>
            <p:cNvPr id="252" name="Google Shape;252;p12"/>
            <p:cNvSpPr/>
            <p:nvPr/>
          </p:nvSpPr>
          <p:spPr>
            <a:xfrm>
              <a:off x="2780951" y="2849839"/>
              <a:ext cx="1685425" cy="1011255"/>
            </a:xfrm>
            <a:prstGeom prst="rect">
              <a:avLst/>
            </a:prstGeom>
            <a:solidFill>
              <a:srgbClr val="0C9ED5"/>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txBox="1"/>
            <p:nvPr/>
          </p:nvSpPr>
          <p:spPr>
            <a:xfrm>
              <a:off x="2780951" y="2849839"/>
              <a:ext cx="1685425" cy="1011255"/>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	2011, Hortonworks</a:t>
              </a:r>
              <a:endParaRPr/>
            </a:p>
            <a:p>
              <a:pPr indent="-57150" lvl="1" marL="57150" marR="0" rtl="0" algn="l">
                <a:lnSpc>
                  <a:spcPct val="90000"/>
                </a:lnSpc>
                <a:spcBef>
                  <a:spcPts val="385"/>
                </a:spcBef>
                <a:spcAft>
                  <a:spcPts val="0"/>
                </a:spcAft>
                <a:buClr>
                  <a:schemeClr val="lt1"/>
                </a:buClr>
                <a:buSzPts val="900"/>
                <a:buFont typeface="Arial"/>
                <a:buChar char="•"/>
              </a:pPr>
              <a:r>
                <a:rPr b="0" i="0" lang="en-US" sz="900" u="none" cap="none" strike="noStrike">
                  <a:solidFill>
                    <a:schemeClr val="lt1"/>
                  </a:solidFill>
                  <a:latin typeface="Arial"/>
                  <a:ea typeface="Arial"/>
                  <a:cs typeface="Arial"/>
                  <a:sym typeface="Arial"/>
                </a:rPr>
                <a:t>∗	2012, Yahoo!’s Hadoop cluster counts 42 000 nodes; Number of Hadoop contributors reaches 1200</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sp>
        <p:nvSpPr>
          <p:cNvPr id="258" name="Google Shape;258;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 name="Google Shape;259;p13"/>
          <p:cNvSpPr/>
          <p:nvPr/>
        </p:nvSpPr>
        <p:spPr>
          <a:xfrm flipH="1" rot="3967198">
            <a:off x="8631348" y="490493"/>
            <a:ext cx="2987899" cy="2987899"/>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descr="$PPTXTitle" id="260" name="Google Shape;260;p13"/>
          <p:cNvSpPr txBox="1"/>
          <p:nvPr>
            <p:ph type="title"/>
          </p:nvPr>
        </p:nvSpPr>
        <p:spPr>
          <a:xfrm>
            <a:off x="5894962" y="479493"/>
            <a:ext cx="5458838" cy="1325563"/>
          </a:xfrm>
          <a:prstGeom prst="rect">
            <a:avLst/>
          </a:prstGeom>
          <a:noFill/>
          <a:ln>
            <a:noFill/>
          </a:ln>
        </p:spPr>
        <p:txBody>
          <a:bodyPr anchorCtr="0" anchor="ctr" bIns="45700" lIns="91425" spcFirstLastPara="1" rIns="91425" wrap="square" tIns="45700">
            <a:normAutofit/>
          </a:bodyPr>
          <a:lstStyle/>
          <a:p>
            <a:pPr indent="0" lvl="0" marL="1463675" rtl="0" algn="l">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Hadoop Components</a:t>
            </a:r>
            <a:endParaRPr/>
          </a:p>
        </p:txBody>
      </p:sp>
      <p:sp>
        <p:nvSpPr>
          <p:cNvPr id="261" name="Google Shape;261;p13"/>
          <p:cNvSpPr/>
          <p:nvPr/>
        </p:nvSpPr>
        <p:spPr>
          <a:xfrm flipH="1">
            <a:off x="0"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62" name="Google Shape;262;p13"/>
          <p:cNvPicPr preferRelativeResize="0"/>
          <p:nvPr/>
        </p:nvPicPr>
        <p:blipFill rotWithShape="1">
          <a:blip r:embed="rId3">
            <a:alphaModFix/>
          </a:blip>
          <a:srcRect b="0" l="0" r="0" t="0"/>
          <a:stretch/>
        </p:blipFill>
        <p:spPr>
          <a:xfrm>
            <a:off x="703182" y="517815"/>
            <a:ext cx="4777381" cy="5652626"/>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263" name="Google Shape;263;p13"/>
          <p:cNvSpPr txBox="1"/>
          <p:nvPr/>
        </p:nvSpPr>
        <p:spPr>
          <a:xfrm>
            <a:off x="5894962" y="1984443"/>
            <a:ext cx="5458838" cy="4192520"/>
          </a:xfrm>
          <a:prstGeom prst="rect">
            <a:avLst/>
          </a:prstGeom>
          <a:noFill/>
          <a:ln>
            <a:noFill/>
          </a:ln>
        </p:spPr>
        <p:txBody>
          <a:bodyPr anchorCtr="0" anchor="t" bIns="45700" lIns="91425" spcFirstLastPara="1" rIns="91425" wrap="square" tIns="45700">
            <a:normAutofit/>
          </a:bodyPr>
          <a:lstStyle/>
          <a:p>
            <a:pPr indent="-228600" lvl="0" marL="287020" marR="320040" rtl="0" algn="l">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Hadoop Common</a:t>
            </a:r>
            <a:r>
              <a:rPr lang="en-US" sz="1800">
                <a:solidFill>
                  <a:schemeClr val="dk1"/>
                </a:solidFill>
                <a:latin typeface="Arial"/>
                <a:ea typeface="Arial"/>
                <a:cs typeface="Arial"/>
                <a:sym typeface="Arial"/>
              </a:rPr>
              <a:t>: Java libraries and utilities required by other Hadoop modules. These libraries provides file system and OS level abstractions and contains the necessary Java files and scripts required to start Hadoop.</a:t>
            </a:r>
            <a:endParaRPr sz="1800">
              <a:solidFill>
                <a:schemeClr val="dk1"/>
              </a:solidFill>
              <a:latin typeface="Arial"/>
              <a:ea typeface="Arial"/>
              <a:cs typeface="Arial"/>
              <a:sym typeface="Arial"/>
            </a:endParaRPr>
          </a:p>
          <a:p>
            <a:pPr indent="-228600" lvl="0" marL="287020" marR="5080" rtl="0" algn="l">
              <a:lnSpc>
                <a:spcPct val="90000"/>
              </a:lnSpc>
              <a:spcBef>
                <a:spcPts val="600"/>
              </a:spcBef>
              <a:spcAft>
                <a:spcPts val="0"/>
              </a:spcAft>
              <a:buClr>
                <a:schemeClr val="dk1"/>
              </a:buClr>
              <a:buSzPts val="1800"/>
              <a:buFont typeface="Arial"/>
              <a:buChar char="•"/>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Hadoop Distributed File System </a:t>
            </a:r>
            <a:r>
              <a:rPr lang="en-US" sz="1800">
                <a:solidFill>
                  <a:schemeClr val="dk1"/>
                </a:solidFill>
                <a:latin typeface="Arial"/>
                <a:ea typeface="Arial"/>
                <a:cs typeface="Arial"/>
                <a:sym typeface="Arial"/>
              </a:rPr>
              <a:t>(HDFS™): A distributed file system that provides high-throughput access to application data.</a:t>
            </a:r>
            <a:endParaRPr sz="1800">
              <a:solidFill>
                <a:schemeClr val="dk1"/>
              </a:solidFill>
              <a:latin typeface="Arial"/>
              <a:ea typeface="Arial"/>
              <a:cs typeface="Arial"/>
              <a:sym typeface="Arial"/>
            </a:endParaRPr>
          </a:p>
          <a:p>
            <a:pPr indent="-12700" lvl="0" marL="12700" marR="0" rtl="0" algn="l">
              <a:lnSpc>
                <a:spcPct val="90000"/>
              </a:lnSpc>
              <a:spcBef>
                <a:spcPts val="825"/>
              </a:spcBef>
              <a:spcAft>
                <a:spcPts val="0"/>
              </a:spcAft>
              <a:buClr>
                <a:schemeClr val="dk1"/>
              </a:buClr>
              <a:buSzPts val="1800"/>
              <a:buFont typeface="Arial"/>
              <a:buChar char="•"/>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Hadoop YARN</a:t>
            </a:r>
            <a:r>
              <a:rPr lang="en-US" sz="1800">
                <a:solidFill>
                  <a:schemeClr val="dk1"/>
                </a:solidFill>
                <a:latin typeface="Arial"/>
                <a:ea typeface="Arial"/>
                <a:cs typeface="Arial"/>
                <a:sym typeface="Arial"/>
              </a:rPr>
              <a:t>: This is a framework for job scheduling and cluster</a:t>
            </a:r>
            <a:endParaRPr sz="1800">
              <a:solidFill>
                <a:schemeClr val="dk1"/>
              </a:solidFill>
              <a:latin typeface="Arial"/>
              <a:ea typeface="Arial"/>
              <a:cs typeface="Arial"/>
              <a:sym typeface="Arial"/>
            </a:endParaRPr>
          </a:p>
          <a:p>
            <a:pPr indent="-228600" lvl="0" marL="287020" marR="0" rtl="0" algn="l">
              <a:lnSpc>
                <a:spcPct val="90000"/>
              </a:lnSpc>
              <a:spcBef>
                <a:spcPts val="229"/>
              </a:spcBef>
              <a:spcAft>
                <a:spcPts val="0"/>
              </a:spcAft>
              <a:buClr>
                <a:schemeClr val="dk1"/>
              </a:buClr>
              <a:buSzPts val="1800"/>
              <a:buFont typeface="Arial"/>
              <a:buChar char="•"/>
            </a:pPr>
            <a:r>
              <a:rPr lang="en-US" sz="1800">
                <a:solidFill>
                  <a:schemeClr val="dk1"/>
                </a:solidFill>
                <a:latin typeface="Arial"/>
                <a:ea typeface="Arial"/>
                <a:cs typeface="Arial"/>
                <a:sym typeface="Arial"/>
              </a:rPr>
              <a:t>resource management.</a:t>
            </a:r>
            <a:endParaRPr sz="1800">
              <a:solidFill>
                <a:schemeClr val="dk1"/>
              </a:solidFill>
              <a:latin typeface="Arial"/>
              <a:ea typeface="Arial"/>
              <a:cs typeface="Arial"/>
              <a:sym typeface="Arial"/>
            </a:endParaRPr>
          </a:p>
          <a:p>
            <a:pPr indent="-228600" lvl="0" marL="287020" marR="554355" rtl="0" algn="l">
              <a:lnSpc>
                <a:spcPct val="90000"/>
              </a:lnSpc>
              <a:spcBef>
                <a:spcPts val="600"/>
              </a:spcBef>
              <a:spcAft>
                <a:spcPts val="0"/>
              </a:spcAft>
              <a:buClr>
                <a:schemeClr val="dk1"/>
              </a:buClr>
              <a:buSzPts val="1800"/>
              <a:buFont typeface="Arial"/>
              <a:buChar char="•"/>
            </a:pPr>
            <a:r>
              <a:rPr lang="en-US" sz="1800">
                <a:solidFill>
                  <a:schemeClr val="dk1"/>
                </a:solidFill>
                <a:latin typeface="Arial"/>
                <a:ea typeface="Arial"/>
                <a:cs typeface="Arial"/>
                <a:sym typeface="Arial"/>
              </a:rPr>
              <a:t>∗	</a:t>
            </a:r>
            <a:r>
              <a:rPr b="1" lang="en-US" sz="1800">
                <a:solidFill>
                  <a:schemeClr val="dk1"/>
                </a:solidFill>
                <a:latin typeface="Arial"/>
                <a:ea typeface="Arial"/>
                <a:cs typeface="Arial"/>
                <a:sym typeface="Arial"/>
              </a:rPr>
              <a:t>Hadoop MapReduce</a:t>
            </a:r>
            <a:r>
              <a:rPr lang="en-US" sz="1800">
                <a:solidFill>
                  <a:schemeClr val="dk1"/>
                </a:solidFill>
                <a:latin typeface="Arial"/>
                <a:ea typeface="Arial"/>
                <a:cs typeface="Arial"/>
                <a:sym typeface="Arial"/>
              </a:rPr>
              <a:t>: This is YARN-based system for parallel processing of large data sets.</a:t>
            </a:r>
            <a:endParaRPr sz="18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7" name="Shape 267"/>
        <p:cNvGrpSpPr/>
        <p:nvPr/>
      </p:nvGrpSpPr>
      <p:grpSpPr>
        <a:xfrm>
          <a:off x="0" y="0"/>
          <a:ext cx="0" cy="0"/>
          <a:chOff x="0" y="0"/>
          <a:chExt cx="0" cy="0"/>
        </a:xfrm>
      </p:grpSpPr>
      <p:pic>
        <p:nvPicPr>
          <p:cNvPr id="268" name="Google Shape;268;p14"/>
          <p:cNvPicPr preferRelativeResize="0"/>
          <p:nvPr/>
        </p:nvPicPr>
        <p:blipFill rotWithShape="1">
          <a:blip r:embed="rId3">
            <a:alphaModFix/>
          </a:blip>
          <a:srcRect b="15730" l="0" r="0" t="0"/>
          <a:stretch/>
        </p:blipFill>
        <p:spPr>
          <a:xfrm>
            <a:off x="20" y="10"/>
            <a:ext cx="12191980" cy="6857990"/>
          </a:xfrm>
          <a:prstGeom prst="rect">
            <a:avLst/>
          </a:prstGeom>
          <a:noFill/>
          <a:ln>
            <a:noFill/>
          </a:ln>
        </p:spPr>
      </p:pic>
      <p:sp>
        <p:nvSpPr>
          <p:cNvPr id="269" name="Google Shape;269;p14"/>
          <p:cNvSpPr/>
          <p:nvPr/>
        </p:nvSpPr>
        <p:spPr>
          <a:xfrm>
            <a:off x="0" y="0"/>
            <a:ext cx="12192000" cy="6858000"/>
          </a:xfrm>
          <a:prstGeom prst="rect">
            <a:avLst/>
          </a:prstGeom>
          <a:gradFill>
            <a:gsLst>
              <a:gs pos="0">
                <a:srgbClr val="E8E8E8">
                  <a:alpha val="67843"/>
                </a:srgbClr>
              </a:gs>
              <a:gs pos="10000">
                <a:srgbClr val="E8E8E8">
                  <a:alpha val="67843"/>
                </a:srgbClr>
              </a:gs>
              <a:gs pos="85000">
                <a:srgbClr val="E8E8E8">
                  <a:alpha val="96862"/>
                </a:srgbClr>
              </a:gs>
              <a:gs pos="100000">
                <a:srgbClr val="E8E8E8">
                  <a:alpha val="9686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270" name="Google Shape;270;p14"/>
          <p:cNvSpPr txBox="1"/>
          <p:nvPr>
            <p:ph type="title"/>
          </p:nvPr>
        </p:nvSpPr>
        <p:spPr>
          <a:xfrm>
            <a:off x="838200" y="365125"/>
            <a:ext cx="10515600" cy="1325563"/>
          </a:xfrm>
          <a:prstGeom prst="rect">
            <a:avLst/>
          </a:prstGeom>
          <a:noFill/>
          <a:ln>
            <a:noFill/>
          </a:ln>
        </p:spPr>
        <p:txBody>
          <a:bodyPr anchorCtr="0" anchor="ctr" bIns="0" lIns="0" spcFirstLastPara="1" rIns="0" wrap="square" tIns="13325">
            <a:normAutofit/>
          </a:bodyPr>
          <a:lstStyle/>
          <a:p>
            <a:pPr indent="0" lvl="0" marL="1885950" rtl="0" algn="l">
              <a:lnSpc>
                <a:spcPct val="90000"/>
              </a:lnSpc>
              <a:spcBef>
                <a:spcPts val="0"/>
              </a:spcBef>
              <a:spcAft>
                <a:spcPts val="0"/>
              </a:spcAft>
              <a:buClr>
                <a:schemeClr val="dk1"/>
              </a:buClr>
              <a:buSzPts val="4400"/>
              <a:buFont typeface="Play"/>
              <a:buNone/>
            </a:pPr>
            <a:r>
              <a:rPr lang="en-US"/>
              <a:t>HDFS Design Goal</a:t>
            </a:r>
            <a:endParaRPr/>
          </a:p>
        </p:txBody>
      </p:sp>
      <p:grpSp>
        <p:nvGrpSpPr>
          <p:cNvPr id="271" name="Google Shape;271;p14"/>
          <p:cNvGrpSpPr/>
          <p:nvPr/>
        </p:nvGrpSpPr>
        <p:grpSpPr>
          <a:xfrm>
            <a:off x="838200" y="1825625"/>
            <a:ext cx="10515600" cy="4351337"/>
            <a:chOff x="0" y="0"/>
            <a:chExt cx="10515600" cy="4351337"/>
          </a:xfrm>
        </p:grpSpPr>
        <p:cxnSp>
          <p:nvCxnSpPr>
            <p:cNvPr id="272" name="Google Shape;272;p14"/>
            <p:cNvCxnSpPr/>
            <p:nvPr/>
          </p:nvCxnSpPr>
          <p:spPr>
            <a:xfrm>
              <a:off x="0" y="0"/>
              <a:ext cx="105156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73" name="Google Shape;273;p14"/>
            <p:cNvSpPr/>
            <p:nvPr/>
          </p:nvSpPr>
          <p:spPr>
            <a:xfrm>
              <a:off x="0" y="0"/>
              <a:ext cx="10515600" cy="5439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txBox="1"/>
            <p:nvPr/>
          </p:nvSpPr>
          <p:spPr>
            <a:xfrm>
              <a:off x="0" y="0"/>
              <a:ext cx="10515600" cy="543917"/>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Recover from hardware failure</a:t>
              </a:r>
              <a:endParaRPr/>
            </a:p>
          </p:txBody>
        </p:sp>
        <p:cxnSp>
          <p:nvCxnSpPr>
            <p:cNvPr id="275" name="Google Shape;275;p14"/>
            <p:cNvCxnSpPr/>
            <p:nvPr/>
          </p:nvCxnSpPr>
          <p:spPr>
            <a:xfrm>
              <a:off x="0" y="543917"/>
              <a:ext cx="105156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76" name="Google Shape;276;p14"/>
            <p:cNvSpPr/>
            <p:nvPr/>
          </p:nvSpPr>
          <p:spPr>
            <a:xfrm>
              <a:off x="0" y="543917"/>
              <a:ext cx="10515600" cy="5439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4"/>
            <p:cNvSpPr txBox="1"/>
            <p:nvPr/>
          </p:nvSpPr>
          <p:spPr>
            <a:xfrm>
              <a:off x="0" y="543917"/>
              <a:ext cx="10515600" cy="543917"/>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Streaming data access</a:t>
              </a:r>
              <a:endParaRPr/>
            </a:p>
          </p:txBody>
        </p:sp>
        <p:cxnSp>
          <p:nvCxnSpPr>
            <p:cNvPr id="278" name="Google Shape;278;p14"/>
            <p:cNvCxnSpPr/>
            <p:nvPr/>
          </p:nvCxnSpPr>
          <p:spPr>
            <a:xfrm>
              <a:off x="0" y="1087834"/>
              <a:ext cx="105156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79" name="Google Shape;279;p14"/>
            <p:cNvSpPr/>
            <p:nvPr/>
          </p:nvSpPr>
          <p:spPr>
            <a:xfrm>
              <a:off x="0" y="1087834"/>
              <a:ext cx="10515600" cy="5439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txBox="1"/>
            <p:nvPr/>
          </p:nvSpPr>
          <p:spPr>
            <a:xfrm>
              <a:off x="0" y="1087834"/>
              <a:ext cx="10515600" cy="543917"/>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Large data file / dataset</a:t>
              </a:r>
              <a:endParaRPr/>
            </a:p>
          </p:txBody>
        </p:sp>
        <p:cxnSp>
          <p:nvCxnSpPr>
            <p:cNvPr id="281" name="Google Shape;281;p14"/>
            <p:cNvCxnSpPr/>
            <p:nvPr/>
          </p:nvCxnSpPr>
          <p:spPr>
            <a:xfrm>
              <a:off x="0" y="1631751"/>
              <a:ext cx="105156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82" name="Google Shape;282;p14"/>
            <p:cNvSpPr/>
            <p:nvPr/>
          </p:nvSpPr>
          <p:spPr>
            <a:xfrm>
              <a:off x="0" y="1631751"/>
              <a:ext cx="10515600" cy="5439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
            <p:cNvSpPr txBox="1"/>
            <p:nvPr/>
          </p:nvSpPr>
          <p:spPr>
            <a:xfrm>
              <a:off x="0" y="1631751"/>
              <a:ext cx="10515600" cy="543917"/>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Write-once-read-many IO model</a:t>
              </a:r>
              <a:endParaRPr/>
            </a:p>
          </p:txBody>
        </p:sp>
        <p:cxnSp>
          <p:nvCxnSpPr>
            <p:cNvPr id="284" name="Google Shape;284;p14"/>
            <p:cNvCxnSpPr/>
            <p:nvPr/>
          </p:nvCxnSpPr>
          <p:spPr>
            <a:xfrm>
              <a:off x="0" y="2175669"/>
              <a:ext cx="105156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85" name="Google Shape;285;p14"/>
            <p:cNvSpPr/>
            <p:nvPr/>
          </p:nvSpPr>
          <p:spPr>
            <a:xfrm>
              <a:off x="0" y="2175669"/>
              <a:ext cx="10515600" cy="5439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txBox="1"/>
            <p:nvPr/>
          </p:nvSpPr>
          <p:spPr>
            <a:xfrm>
              <a:off x="0" y="2175669"/>
              <a:ext cx="10515600" cy="543917"/>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Move computation to data</a:t>
              </a:r>
              <a:endParaRPr/>
            </a:p>
          </p:txBody>
        </p:sp>
        <p:cxnSp>
          <p:nvCxnSpPr>
            <p:cNvPr id="287" name="Google Shape;287;p14"/>
            <p:cNvCxnSpPr/>
            <p:nvPr/>
          </p:nvCxnSpPr>
          <p:spPr>
            <a:xfrm>
              <a:off x="0" y="2719586"/>
              <a:ext cx="105156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88" name="Google Shape;288;p14"/>
            <p:cNvSpPr/>
            <p:nvPr/>
          </p:nvSpPr>
          <p:spPr>
            <a:xfrm>
              <a:off x="0" y="2719586"/>
              <a:ext cx="10515600" cy="5439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txBox="1"/>
            <p:nvPr/>
          </p:nvSpPr>
          <p:spPr>
            <a:xfrm>
              <a:off x="0" y="2719586"/>
              <a:ext cx="10515600" cy="543917"/>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Commodity hardware</a:t>
              </a:r>
              <a:endParaRPr/>
            </a:p>
          </p:txBody>
        </p:sp>
        <p:cxnSp>
          <p:nvCxnSpPr>
            <p:cNvPr id="290" name="Google Shape;290;p14"/>
            <p:cNvCxnSpPr/>
            <p:nvPr/>
          </p:nvCxnSpPr>
          <p:spPr>
            <a:xfrm>
              <a:off x="0" y="3263503"/>
              <a:ext cx="105156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91" name="Google Shape;291;p14"/>
            <p:cNvSpPr/>
            <p:nvPr/>
          </p:nvSpPr>
          <p:spPr>
            <a:xfrm>
              <a:off x="0" y="3263503"/>
              <a:ext cx="10515600" cy="5439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txBox="1"/>
            <p:nvPr/>
          </p:nvSpPr>
          <p:spPr>
            <a:xfrm>
              <a:off x="0" y="3263503"/>
              <a:ext cx="10515600" cy="543917"/>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Do not conflict with OS file system</a:t>
              </a:r>
              <a:endParaRPr/>
            </a:p>
          </p:txBody>
        </p:sp>
        <p:cxnSp>
          <p:nvCxnSpPr>
            <p:cNvPr id="293" name="Google Shape;293;p14"/>
            <p:cNvCxnSpPr/>
            <p:nvPr/>
          </p:nvCxnSpPr>
          <p:spPr>
            <a:xfrm>
              <a:off x="0" y="3807420"/>
              <a:ext cx="10515600" cy="0"/>
            </a:xfrm>
            <a:prstGeom prst="straightConnector1">
              <a:avLst/>
            </a:prstGeom>
            <a:solidFill>
              <a:srgbClr val="126082"/>
            </a:solidFill>
            <a:ln cap="flat" cmpd="sng" w="19050">
              <a:solidFill>
                <a:srgbClr val="126082"/>
              </a:solidFill>
              <a:prstDash val="solid"/>
              <a:miter lim="800000"/>
              <a:headEnd len="sm" w="sm" type="none"/>
              <a:tailEnd len="sm" w="sm" type="none"/>
            </a:ln>
          </p:spPr>
        </p:cxnSp>
        <p:sp>
          <p:nvSpPr>
            <p:cNvPr id="294" name="Google Shape;294;p14"/>
            <p:cNvSpPr/>
            <p:nvPr/>
          </p:nvSpPr>
          <p:spPr>
            <a:xfrm>
              <a:off x="0" y="3807420"/>
              <a:ext cx="10515600" cy="54391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txBox="1"/>
            <p:nvPr/>
          </p:nvSpPr>
          <p:spPr>
            <a:xfrm>
              <a:off x="0" y="3807420"/>
              <a:ext cx="10515600" cy="543917"/>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Not good – low-latency and many small files</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 name="Shape 299"/>
        <p:cNvGrpSpPr/>
        <p:nvPr/>
      </p:nvGrpSpPr>
      <p:grpSpPr>
        <a:xfrm>
          <a:off x="0" y="0"/>
          <a:ext cx="0" cy="0"/>
          <a:chOff x="0" y="0"/>
          <a:chExt cx="0" cy="0"/>
        </a:xfrm>
      </p:grpSpPr>
      <p:sp>
        <p:nvSpPr>
          <p:cNvPr id="300" name="Google Shape;300;p15"/>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301" name="Google Shape;301;p15"/>
          <p:cNvSpPr txBox="1"/>
          <p:nvPr>
            <p:ph type="title"/>
          </p:nvPr>
        </p:nvSpPr>
        <p:spPr>
          <a:xfrm>
            <a:off x="838200" y="5358141"/>
            <a:ext cx="10515600" cy="942664"/>
          </a:xfrm>
          <a:prstGeom prst="rect">
            <a:avLst/>
          </a:prstGeom>
          <a:noFill/>
          <a:ln>
            <a:noFill/>
          </a:ln>
        </p:spPr>
        <p:txBody>
          <a:bodyPr anchorCtr="0" anchor="ctr" bIns="0" lIns="0" spcFirstLastPara="1" rIns="0" wrap="square" tIns="13325">
            <a:normAutofit/>
          </a:bodyPr>
          <a:lstStyle/>
          <a:p>
            <a:pPr indent="0" lvl="0" marL="12700" rtl="0" algn="ctr">
              <a:lnSpc>
                <a:spcPct val="90000"/>
              </a:lnSpc>
              <a:spcBef>
                <a:spcPts val="0"/>
              </a:spcBef>
              <a:spcAft>
                <a:spcPts val="0"/>
              </a:spcAft>
              <a:buClr>
                <a:schemeClr val="dk1"/>
              </a:buClr>
              <a:buSzPts val="5200"/>
              <a:buFont typeface="Play"/>
              <a:buNone/>
            </a:pPr>
            <a:r>
              <a:rPr lang="en-US" sz="5200"/>
              <a:t>Hadoop File System</a:t>
            </a:r>
            <a:endParaRPr/>
          </a:p>
        </p:txBody>
      </p:sp>
      <p:pic>
        <p:nvPicPr>
          <p:cNvPr id="302" name="Google Shape;302;p15"/>
          <p:cNvPicPr preferRelativeResize="0"/>
          <p:nvPr/>
        </p:nvPicPr>
        <p:blipFill rotWithShape="1">
          <a:blip r:embed="rId3">
            <a:alphaModFix/>
          </a:blip>
          <a:srcRect b="0" l="0" r="0" t="0"/>
          <a:stretch/>
        </p:blipFill>
        <p:spPr>
          <a:xfrm>
            <a:off x="2436816" y="557189"/>
            <a:ext cx="7318367" cy="46292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6" name="Shape 306"/>
        <p:cNvGrpSpPr/>
        <p:nvPr/>
      </p:nvGrpSpPr>
      <p:grpSpPr>
        <a:xfrm>
          <a:off x="0" y="0"/>
          <a:ext cx="0" cy="0"/>
          <a:chOff x="0" y="0"/>
          <a:chExt cx="0" cy="0"/>
        </a:xfrm>
      </p:grpSpPr>
      <p:sp>
        <p:nvSpPr>
          <p:cNvPr id="307" name="Google Shape;307;p16"/>
          <p:cNvSpPr/>
          <p:nvPr/>
        </p:nvSpPr>
        <p:spPr>
          <a:xfrm>
            <a:off x="0" y="651752"/>
            <a:ext cx="12192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308" name="Google Shape;308;p16"/>
          <p:cNvSpPr txBox="1"/>
          <p:nvPr>
            <p:ph type="title"/>
          </p:nvPr>
        </p:nvSpPr>
        <p:spPr>
          <a:xfrm>
            <a:off x="556532" y="643467"/>
            <a:ext cx="11210925" cy="744836"/>
          </a:xfrm>
          <a:prstGeom prst="rect">
            <a:avLst/>
          </a:prstGeom>
          <a:noFill/>
          <a:ln>
            <a:noFill/>
          </a:ln>
        </p:spPr>
        <p:txBody>
          <a:bodyPr anchorCtr="0" anchor="ctr" bIns="0" lIns="0" spcFirstLastPara="1" rIns="0" wrap="square" tIns="13325">
            <a:normAutofit/>
          </a:bodyPr>
          <a:lstStyle/>
          <a:p>
            <a:pPr indent="0" lvl="0" marL="1806575" rtl="0" algn="ctr">
              <a:lnSpc>
                <a:spcPct val="90000"/>
              </a:lnSpc>
              <a:spcBef>
                <a:spcPts val="0"/>
              </a:spcBef>
              <a:spcAft>
                <a:spcPts val="0"/>
              </a:spcAft>
              <a:buClr>
                <a:schemeClr val="lt1"/>
              </a:buClr>
              <a:buSzPts val="3200"/>
              <a:buFont typeface="Play"/>
              <a:buNone/>
            </a:pPr>
            <a:r>
              <a:rPr lang="en-US" sz="3200">
                <a:solidFill>
                  <a:schemeClr val="lt1"/>
                </a:solidFill>
              </a:rPr>
              <a:t>HDFS Architecture</a:t>
            </a:r>
            <a:endParaRPr/>
          </a:p>
        </p:txBody>
      </p:sp>
      <p:pic>
        <p:nvPicPr>
          <p:cNvPr id="309" name="Google Shape;309;p16"/>
          <p:cNvPicPr preferRelativeResize="0"/>
          <p:nvPr/>
        </p:nvPicPr>
        <p:blipFill rotWithShape="1">
          <a:blip r:embed="rId3">
            <a:alphaModFix/>
          </a:blip>
          <a:srcRect b="0" l="0" r="0" t="0"/>
          <a:stretch/>
        </p:blipFill>
        <p:spPr>
          <a:xfrm>
            <a:off x="2373954" y="1675227"/>
            <a:ext cx="7444092" cy="43941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3" name="Shape 313"/>
        <p:cNvGrpSpPr/>
        <p:nvPr/>
      </p:nvGrpSpPr>
      <p:grpSpPr>
        <a:xfrm>
          <a:off x="0" y="0"/>
          <a:ext cx="0" cy="0"/>
          <a:chOff x="0" y="0"/>
          <a:chExt cx="0" cy="0"/>
        </a:xfrm>
      </p:grpSpPr>
      <p:sp>
        <p:nvSpPr>
          <p:cNvPr id="314" name="Google Shape;314;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5" name="Google Shape;315;p17"/>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6" name="Google Shape;316;p17"/>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317" name="Google Shape;317;p17"/>
          <p:cNvSpPr txBox="1"/>
          <p:nvPr>
            <p:ph type="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2676525" rtl="0" algn="l">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HDFS Read</a:t>
            </a:r>
            <a:endParaRPr/>
          </a:p>
        </p:txBody>
      </p:sp>
      <p:sp>
        <p:nvSpPr>
          <p:cNvPr id="318" name="Google Shape;318;p17"/>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19" name="Google Shape;319;p17"/>
          <p:cNvSpPr/>
          <p:nvPr/>
        </p:nvSpPr>
        <p:spPr>
          <a:xfrm>
            <a:off x="481029"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320" name="Google Shape;320;p17"/>
          <p:cNvPicPr preferRelativeResize="0"/>
          <p:nvPr/>
        </p:nvPicPr>
        <p:blipFill rotWithShape="1">
          <a:blip r:embed="rId3">
            <a:alphaModFix/>
          </a:blip>
          <a:srcRect b="0" l="0" r="0" t="0"/>
          <a:stretch/>
        </p:blipFill>
        <p:spPr>
          <a:xfrm>
            <a:off x="5414356" y="1380694"/>
            <a:ext cx="6408836" cy="39453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4" name="Shape 324"/>
        <p:cNvGrpSpPr/>
        <p:nvPr/>
      </p:nvGrpSpPr>
      <p:grpSpPr>
        <a:xfrm>
          <a:off x="0" y="0"/>
          <a:ext cx="0" cy="0"/>
          <a:chOff x="0" y="0"/>
          <a:chExt cx="0" cy="0"/>
        </a:xfrm>
      </p:grpSpPr>
      <p:sp>
        <p:nvSpPr>
          <p:cNvPr id="325" name="Google Shape;325;p18"/>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326" name="Google Shape;326;p18"/>
          <p:cNvSpPr txBox="1"/>
          <p:nvPr>
            <p:ph type="title"/>
          </p:nvPr>
        </p:nvSpPr>
        <p:spPr>
          <a:xfrm>
            <a:off x="196276" y="2751475"/>
            <a:ext cx="4941000" cy="2387700"/>
          </a:xfrm>
          <a:prstGeom prst="rect">
            <a:avLst/>
          </a:prstGeom>
          <a:noFill/>
          <a:ln>
            <a:noFill/>
          </a:ln>
        </p:spPr>
        <p:txBody>
          <a:bodyPr anchorCtr="0" anchor="t" bIns="45700" lIns="91425" spcFirstLastPara="1" rIns="91425" wrap="square" tIns="45700">
            <a:normAutofit/>
          </a:bodyPr>
          <a:lstStyle/>
          <a:p>
            <a:pPr indent="0" lvl="0" marL="2633980" rtl="0" algn="l">
              <a:lnSpc>
                <a:spcPct val="90000"/>
              </a:lnSpc>
              <a:spcBef>
                <a:spcPts val="0"/>
              </a:spcBef>
              <a:spcAft>
                <a:spcPts val="0"/>
              </a:spcAft>
              <a:buClr>
                <a:schemeClr val="dk1"/>
              </a:buClr>
              <a:buSzPts val="4200"/>
              <a:buFont typeface="Play"/>
              <a:buNone/>
            </a:pPr>
            <a:r>
              <a:rPr lang="en-US" sz="4200">
                <a:solidFill>
                  <a:schemeClr val="dk1"/>
                </a:solidFill>
                <a:latin typeface="Play"/>
                <a:ea typeface="Play"/>
                <a:cs typeface="Play"/>
                <a:sym typeface="Play"/>
              </a:rPr>
              <a:t>HDFS Write</a:t>
            </a:r>
            <a:endParaRPr/>
          </a:p>
        </p:txBody>
      </p:sp>
      <p:grpSp>
        <p:nvGrpSpPr>
          <p:cNvPr id="327" name="Google Shape;327;p18"/>
          <p:cNvGrpSpPr/>
          <p:nvPr/>
        </p:nvGrpSpPr>
        <p:grpSpPr>
          <a:xfrm>
            <a:off x="0" y="2984992"/>
            <a:ext cx="731521" cy="673460"/>
            <a:chOff x="3940602" y="308034"/>
            <a:chExt cx="2116791" cy="3428999"/>
          </a:xfrm>
        </p:grpSpPr>
        <p:sp>
          <p:nvSpPr>
            <p:cNvPr id="328" name="Google Shape;328;p18"/>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9" name="Google Shape;329;p18"/>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0" name="Google Shape;330;p18"/>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31" name="Google Shape;331;p18"/>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2" name="Google Shape;332;p18"/>
          <p:cNvSpPr/>
          <p:nvPr/>
        </p:nvSpPr>
        <p:spPr>
          <a:xfrm>
            <a:off x="5685810" y="391886"/>
            <a:ext cx="6009366" cy="6017078"/>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33" name="Google Shape;333;p18"/>
          <p:cNvPicPr preferRelativeResize="0"/>
          <p:nvPr/>
        </p:nvPicPr>
        <p:blipFill rotWithShape="1">
          <a:blip r:embed="rId3">
            <a:alphaModFix/>
          </a:blip>
          <a:srcRect b="0" l="0" r="0" t="0"/>
          <a:stretch/>
        </p:blipFill>
        <p:spPr>
          <a:xfrm>
            <a:off x="5922492" y="1660061"/>
            <a:ext cx="5536001" cy="34791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7" name="Shape 337"/>
        <p:cNvGrpSpPr/>
        <p:nvPr/>
      </p:nvGrpSpPr>
      <p:grpSpPr>
        <a:xfrm>
          <a:off x="0" y="0"/>
          <a:ext cx="0" cy="0"/>
          <a:chOff x="0" y="0"/>
          <a:chExt cx="0" cy="0"/>
        </a:xfrm>
      </p:grpSpPr>
      <p:sp>
        <p:nvSpPr>
          <p:cNvPr id="338" name="Google Shape;338;p19"/>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339" name="Google Shape;339;p19"/>
          <p:cNvSpPr txBox="1"/>
          <p:nvPr>
            <p:ph type="title"/>
          </p:nvPr>
        </p:nvSpPr>
        <p:spPr>
          <a:xfrm>
            <a:off x="599609" y="679731"/>
            <a:ext cx="4171994" cy="3736540"/>
          </a:xfrm>
          <a:prstGeom prst="rect">
            <a:avLst/>
          </a:prstGeom>
          <a:noFill/>
          <a:ln>
            <a:noFill/>
          </a:ln>
        </p:spPr>
        <p:txBody>
          <a:bodyPr anchorCtr="0" anchor="b" bIns="45700" lIns="91425" spcFirstLastPara="1" rIns="91425" wrap="square" tIns="45700">
            <a:normAutofit/>
          </a:bodyPr>
          <a:lstStyle/>
          <a:p>
            <a:pPr indent="0" lvl="0" marL="12700" rtl="0" algn="l">
              <a:lnSpc>
                <a:spcPct val="90000"/>
              </a:lnSpc>
              <a:spcBef>
                <a:spcPts val="0"/>
              </a:spcBef>
              <a:spcAft>
                <a:spcPts val="0"/>
              </a:spcAft>
              <a:buClr>
                <a:schemeClr val="dk1"/>
              </a:buClr>
              <a:buSzPts val="6000"/>
              <a:buFont typeface="Play"/>
              <a:buNone/>
            </a:pPr>
            <a:r>
              <a:rPr lang="en-US" sz="6000">
                <a:solidFill>
                  <a:schemeClr val="dk1"/>
                </a:solidFill>
                <a:latin typeface="Play"/>
                <a:ea typeface="Play"/>
                <a:cs typeface="Play"/>
                <a:sym typeface="Play"/>
              </a:rPr>
              <a:t>Namenode and Datanode</a:t>
            </a:r>
            <a:endParaRPr/>
          </a:p>
        </p:txBody>
      </p:sp>
      <p:grpSp>
        <p:nvGrpSpPr>
          <p:cNvPr id="340" name="Google Shape;340;p19"/>
          <p:cNvGrpSpPr/>
          <p:nvPr/>
        </p:nvGrpSpPr>
        <p:grpSpPr>
          <a:xfrm>
            <a:off x="9416432" y="1"/>
            <a:ext cx="2446384" cy="5777808"/>
            <a:chOff x="329184" y="1"/>
            <a:chExt cx="524256" cy="5777808"/>
          </a:xfrm>
        </p:grpSpPr>
        <p:cxnSp>
          <p:nvCxnSpPr>
            <p:cNvPr id="341" name="Google Shape;341;p19"/>
            <p:cNvCxnSpPr/>
            <p:nvPr/>
          </p:nvCxnSpPr>
          <p:spPr>
            <a:xfrm rot="10800000">
              <a:off x="329184" y="5777809"/>
              <a:ext cx="521208" cy="0"/>
            </a:xfrm>
            <a:prstGeom prst="straightConnector1">
              <a:avLst/>
            </a:prstGeom>
            <a:noFill/>
            <a:ln cap="flat" cmpd="sng" w="152400">
              <a:solidFill>
                <a:schemeClr val="accent4"/>
              </a:solidFill>
              <a:prstDash val="solid"/>
              <a:miter lim="800000"/>
              <a:headEnd len="sm" w="sm" type="none"/>
              <a:tailEnd len="sm" w="sm" type="none"/>
            </a:ln>
          </p:spPr>
        </p:cxnSp>
        <p:sp>
          <p:nvSpPr>
            <p:cNvPr id="342" name="Google Shape;342;p19"/>
            <p:cNvSpPr/>
            <p:nvPr/>
          </p:nvSpPr>
          <p:spPr>
            <a:xfrm>
              <a:off x="329184" y="1"/>
              <a:ext cx="524256" cy="553211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43" name="Google Shape;343;p19"/>
          <p:cNvSpPr/>
          <p:nvPr/>
        </p:nvSpPr>
        <p:spPr>
          <a:xfrm>
            <a:off x="5386598" y="269324"/>
            <a:ext cx="6116779" cy="6208776"/>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44" name="Google Shape;344;p19"/>
          <p:cNvPicPr preferRelativeResize="0"/>
          <p:nvPr/>
        </p:nvPicPr>
        <p:blipFill rotWithShape="1">
          <a:blip r:embed="rId3">
            <a:alphaModFix/>
          </a:blip>
          <a:srcRect b="0" l="0" r="0" t="0"/>
          <a:stretch/>
        </p:blipFill>
        <p:spPr>
          <a:xfrm>
            <a:off x="5640572" y="1718284"/>
            <a:ext cx="5608830" cy="331085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8" name="Shape 348"/>
        <p:cNvGrpSpPr/>
        <p:nvPr/>
      </p:nvGrpSpPr>
      <p:grpSpPr>
        <a:xfrm>
          <a:off x="0" y="0"/>
          <a:ext cx="0" cy="0"/>
          <a:chOff x="0" y="0"/>
          <a:chExt cx="0" cy="0"/>
        </a:xfrm>
      </p:grpSpPr>
      <p:sp>
        <p:nvSpPr>
          <p:cNvPr id="349" name="Google Shape;349;p20"/>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350" name="Google Shape;350;p20"/>
          <p:cNvSpPr txBox="1"/>
          <p:nvPr>
            <p:ph type="title"/>
          </p:nvPr>
        </p:nvSpPr>
        <p:spPr>
          <a:xfrm>
            <a:off x="144723" y="1336325"/>
            <a:ext cx="4793100" cy="4382700"/>
          </a:xfrm>
          <a:prstGeom prst="rect">
            <a:avLst/>
          </a:prstGeom>
          <a:noFill/>
          <a:ln>
            <a:noFill/>
          </a:ln>
        </p:spPr>
        <p:txBody>
          <a:bodyPr anchorCtr="0" anchor="ctr" bIns="45700" lIns="91425" spcFirstLastPara="1" rIns="91425" wrap="square" tIns="45700">
            <a:normAutofit/>
          </a:bodyPr>
          <a:lstStyle/>
          <a:p>
            <a:pPr indent="0" lvl="0" marL="2179955" rtl="0" algn="l">
              <a:lnSpc>
                <a:spcPct val="90000"/>
              </a:lnSpc>
              <a:spcBef>
                <a:spcPts val="0"/>
              </a:spcBef>
              <a:spcAft>
                <a:spcPts val="0"/>
              </a:spcAft>
              <a:buClr>
                <a:schemeClr val="dk1"/>
              </a:buClr>
              <a:buSzPts val="3800"/>
              <a:buFont typeface="Play"/>
              <a:buNone/>
            </a:pPr>
            <a:r>
              <a:rPr lang="en-US" sz="3800">
                <a:solidFill>
                  <a:schemeClr val="dk1"/>
                </a:solidFill>
                <a:latin typeface="Play"/>
                <a:ea typeface="Play"/>
                <a:cs typeface="Play"/>
                <a:sym typeface="Play"/>
              </a:rPr>
              <a:t>Handle Failures</a:t>
            </a:r>
            <a:endParaRPr/>
          </a:p>
        </p:txBody>
      </p:sp>
      <p:grpSp>
        <p:nvGrpSpPr>
          <p:cNvPr id="351" name="Google Shape;351;p20"/>
          <p:cNvGrpSpPr/>
          <p:nvPr/>
        </p:nvGrpSpPr>
        <p:grpSpPr>
          <a:xfrm>
            <a:off x="0" y="3163461"/>
            <a:ext cx="731521" cy="673460"/>
            <a:chOff x="3940602" y="308034"/>
            <a:chExt cx="2116791" cy="3428999"/>
          </a:xfrm>
        </p:grpSpPr>
        <p:sp>
          <p:nvSpPr>
            <p:cNvPr id="352" name="Google Shape;352;p20"/>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3" name="Google Shape;353;p20"/>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4" name="Google Shape;354;p20"/>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55" name="Google Shape;355;p20"/>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6" name="Google Shape;356;p20"/>
          <p:cNvSpPr/>
          <p:nvPr/>
        </p:nvSpPr>
        <p:spPr>
          <a:xfrm>
            <a:off x="5685810" y="982976"/>
            <a:ext cx="6009366" cy="5120635"/>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7" name="Google Shape;357;p20"/>
          <p:cNvSpPr txBox="1"/>
          <p:nvPr/>
        </p:nvSpPr>
        <p:spPr>
          <a:xfrm>
            <a:off x="6096001" y="1336329"/>
            <a:ext cx="5260848" cy="4382588"/>
          </a:xfrm>
          <a:prstGeom prst="rect">
            <a:avLst/>
          </a:prstGeom>
          <a:noFill/>
          <a:ln>
            <a:noFill/>
          </a:ln>
        </p:spPr>
        <p:txBody>
          <a:bodyPr anchorCtr="0" anchor="ctr"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NameNode Failure</a:t>
            </a:r>
            <a:endParaRPr sz="2000">
              <a:solidFill>
                <a:schemeClr val="dk1"/>
              </a:solidFill>
              <a:latin typeface="Arial"/>
              <a:ea typeface="Arial"/>
              <a:cs typeface="Arial"/>
              <a:sym typeface="Arial"/>
            </a:endParaRPr>
          </a:p>
          <a:p>
            <a:pPr indent="-228600" lvl="0" marL="314325" marR="0" rtl="0" algn="l">
              <a:lnSpc>
                <a:spcPct val="90000"/>
              </a:lnSpc>
              <a:spcBef>
                <a:spcPts val="10"/>
              </a:spcBef>
              <a:spcAft>
                <a:spcPts val="0"/>
              </a:spcAft>
              <a:buClr>
                <a:schemeClr val="dk1"/>
              </a:buClr>
              <a:buSzPts val="2000"/>
              <a:buFont typeface="Arial"/>
              <a:buChar char="•"/>
            </a:pPr>
            <a:r>
              <a:rPr lang="en-US" sz="2000">
                <a:solidFill>
                  <a:schemeClr val="dk1"/>
                </a:solidFill>
                <a:latin typeface="Arial"/>
                <a:ea typeface="Arial"/>
                <a:cs typeface="Arial"/>
                <a:sym typeface="Arial"/>
              </a:rPr>
              <a:t>∗	Multiple copies of FSImage and EditLog</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Second NameNode</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2.0 – NameNode Federation</a:t>
            </a:r>
            <a:endParaRPr sz="20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DataNode Failure</a:t>
            </a:r>
            <a:endParaRPr sz="2000">
              <a:solidFill>
                <a:schemeClr val="dk1"/>
              </a:solidFill>
              <a:latin typeface="Arial"/>
              <a:ea typeface="Arial"/>
              <a:cs typeface="Arial"/>
              <a:sym typeface="Arial"/>
            </a:endParaRPr>
          </a:p>
          <a:p>
            <a:pPr indent="-228600" lvl="0" marL="314325" marR="0" rtl="0" algn="l">
              <a:lnSpc>
                <a:spcPct val="90000"/>
              </a:lnSpc>
              <a:spcBef>
                <a:spcPts val="5"/>
              </a:spcBef>
              <a:spcAft>
                <a:spcPts val="0"/>
              </a:spcAft>
              <a:buClr>
                <a:schemeClr val="dk1"/>
              </a:buClr>
              <a:buSzPts val="2000"/>
              <a:buFont typeface="Arial"/>
              <a:buChar char="•"/>
            </a:pPr>
            <a:r>
              <a:rPr lang="en-US" sz="2000">
                <a:solidFill>
                  <a:schemeClr val="dk1"/>
                </a:solidFill>
                <a:latin typeface="Arial"/>
                <a:ea typeface="Arial"/>
                <a:cs typeface="Arial"/>
                <a:sym typeface="Arial"/>
              </a:rPr>
              <a:t>∗	Heartbeat</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Re-replication</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Cluster re-balance</a:t>
            </a:r>
            <a:endParaRPr sz="20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Network Partition</a:t>
            </a:r>
            <a:endParaRPr sz="2000">
              <a:solidFill>
                <a:schemeClr val="dk1"/>
              </a:solidFill>
              <a:latin typeface="Arial"/>
              <a:ea typeface="Arial"/>
              <a:cs typeface="Arial"/>
              <a:sym typeface="Arial"/>
            </a:endParaRPr>
          </a:p>
          <a:p>
            <a:pPr indent="-228600" lvl="0" marL="314325" marR="0" rtl="0" algn="l">
              <a:lnSpc>
                <a:spcPct val="90000"/>
              </a:lnSpc>
              <a:spcBef>
                <a:spcPts val="10"/>
              </a:spcBef>
              <a:spcAft>
                <a:spcPts val="0"/>
              </a:spcAft>
              <a:buClr>
                <a:schemeClr val="dk1"/>
              </a:buClr>
              <a:buSzPts val="2000"/>
              <a:buFont typeface="Arial"/>
              <a:buChar char="•"/>
            </a:pPr>
            <a:r>
              <a:rPr lang="en-US" sz="2000">
                <a:solidFill>
                  <a:schemeClr val="dk1"/>
                </a:solidFill>
                <a:latin typeface="Arial"/>
                <a:ea typeface="Arial"/>
                <a:cs typeface="Arial"/>
                <a:sym typeface="Arial"/>
              </a:rPr>
              <a:t>∗	Remove dead node</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Re-replication</a:t>
            </a:r>
            <a:endParaRPr sz="20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File Corruption - checksum</a:t>
            </a:r>
            <a:endParaRPr sz="20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p21"/>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63" name="Google Shape;363;p21"/>
          <p:cNvGrpSpPr/>
          <p:nvPr/>
        </p:nvGrpSpPr>
        <p:grpSpPr>
          <a:xfrm>
            <a:off x="74300" y="2385102"/>
            <a:ext cx="574091" cy="2087796"/>
            <a:chOff x="209668" y="2857422"/>
            <a:chExt cx="463662" cy="2087796"/>
          </a:xfrm>
        </p:grpSpPr>
        <p:sp>
          <p:nvSpPr>
            <p:cNvPr id="364" name="Google Shape;364;p21"/>
            <p:cNvSpPr/>
            <p:nvPr/>
          </p:nvSpPr>
          <p:spPr>
            <a:xfrm rot="10800000">
              <a:off x="423947" y="2857422"/>
              <a:ext cx="249383" cy="208779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65" name="Google Shape;365;p21"/>
            <p:cNvCxnSpPr/>
            <p:nvPr/>
          </p:nvCxnSpPr>
          <p:spPr>
            <a:xfrm flipH="1">
              <a:off x="209668" y="2857423"/>
              <a:ext cx="1" cy="2087795"/>
            </a:xfrm>
            <a:prstGeom prst="straightConnector1">
              <a:avLst/>
            </a:prstGeom>
            <a:noFill/>
            <a:ln cap="flat" cmpd="sng" w="177800">
              <a:solidFill>
                <a:schemeClr val="accent4"/>
              </a:solidFill>
              <a:prstDash val="solid"/>
              <a:miter lim="800000"/>
              <a:headEnd len="sm" w="sm" type="none"/>
              <a:tailEnd len="sm" w="sm" type="none"/>
            </a:ln>
          </p:spPr>
        </p:cxnSp>
      </p:grpSp>
      <p:sp>
        <p:nvSpPr>
          <p:cNvPr id="366" name="Google Shape;366;p21"/>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7" name="Google Shape;367;p21"/>
          <p:cNvSpPr/>
          <p:nvPr/>
        </p:nvSpPr>
        <p:spPr>
          <a:xfrm>
            <a:off x="579528" y="631767"/>
            <a:ext cx="11111729" cy="5752404"/>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368" name="Google Shape;368;p21"/>
          <p:cNvSpPr txBox="1"/>
          <p:nvPr>
            <p:ph type="title"/>
          </p:nvPr>
        </p:nvSpPr>
        <p:spPr>
          <a:xfrm>
            <a:off x="1153627" y="1239925"/>
            <a:ext cx="5351100" cy="4680600"/>
          </a:xfrm>
          <a:prstGeom prst="rect">
            <a:avLst/>
          </a:prstGeom>
          <a:noFill/>
          <a:ln>
            <a:noFill/>
          </a:ln>
        </p:spPr>
        <p:txBody>
          <a:bodyPr anchorCtr="0" anchor="ctr" bIns="45700" lIns="91425" spcFirstLastPara="1" rIns="91425" wrap="square" tIns="45700">
            <a:normAutofit/>
          </a:bodyPr>
          <a:lstStyle/>
          <a:p>
            <a:pPr indent="0" lvl="0" marL="2185670" rtl="0" algn="l">
              <a:lnSpc>
                <a:spcPct val="90000"/>
              </a:lnSpc>
              <a:spcBef>
                <a:spcPts val="0"/>
              </a:spcBef>
              <a:spcAft>
                <a:spcPts val="0"/>
              </a:spcAft>
              <a:buClr>
                <a:schemeClr val="dk1"/>
              </a:buClr>
              <a:buSzPts val="3600"/>
              <a:buFont typeface="Play"/>
              <a:buNone/>
            </a:pPr>
            <a:r>
              <a:rPr lang="en-US" sz="3600">
                <a:solidFill>
                  <a:schemeClr val="dk1"/>
                </a:solidFill>
                <a:latin typeface="Play"/>
                <a:ea typeface="Play"/>
                <a:cs typeface="Play"/>
                <a:sym typeface="Play"/>
              </a:rPr>
              <a:t>Fault Tolerance</a:t>
            </a:r>
            <a:endParaRPr/>
          </a:p>
        </p:txBody>
      </p:sp>
      <p:sp>
        <p:nvSpPr>
          <p:cNvPr id="369" name="Google Shape;369;p21"/>
          <p:cNvSpPr txBox="1"/>
          <p:nvPr/>
        </p:nvSpPr>
        <p:spPr>
          <a:xfrm>
            <a:off x="6291923" y="1239927"/>
            <a:ext cx="4971824" cy="4680583"/>
          </a:xfrm>
          <a:prstGeom prst="rect">
            <a:avLst/>
          </a:prstGeom>
          <a:noFill/>
          <a:ln>
            <a:noFill/>
          </a:ln>
        </p:spPr>
        <p:txBody>
          <a:bodyPr anchorCtr="0" anchor="ctr"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Workers are periodically pinged by master</a:t>
            </a:r>
            <a:endParaRPr sz="2000">
              <a:solidFill>
                <a:schemeClr val="dk1"/>
              </a:solidFill>
              <a:latin typeface="Arial"/>
              <a:ea typeface="Arial"/>
              <a:cs typeface="Arial"/>
              <a:sym typeface="Arial"/>
            </a:endParaRPr>
          </a:p>
          <a:p>
            <a:pPr indent="-228600" lvl="0" marL="494030" marR="0" rtl="0" algn="l">
              <a:lnSpc>
                <a:spcPct val="90000"/>
              </a:lnSpc>
              <a:spcBef>
                <a:spcPts val="935"/>
              </a:spcBef>
              <a:spcAft>
                <a:spcPts val="0"/>
              </a:spcAft>
              <a:buClr>
                <a:schemeClr val="dk1"/>
              </a:buClr>
              <a:buSzPts val="2000"/>
              <a:buFont typeface="Arial"/>
              <a:buChar char="•"/>
            </a:pPr>
            <a:r>
              <a:rPr lang="en-US" sz="2000">
                <a:solidFill>
                  <a:schemeClr val="dk1"/>
                </a:solidFill>
                <a:latin typeface="Arial"/>
                <a:ea typeface="Arial"/>
                <a:cs typeface="Arial"/>
                <a:sym typeface="Arial"/>
              </a:rPr>
              <a:t>∗	No response = failed worker</a:t>
            </a:r>
            <a:endParaRPr sz="2000">
              <a:solidFill>
                <a:schemeClr val="dk1"/>
              </a:solidFill>
              <a:latin typeface="Arial"/>
              <a:ea typeface="Arial"/>
              <a:cs typeface="Arial"/>
              <a:sym typeface="Arial"/>
            </a:endParaRPr>
          </a:p>
          <a:p>
            <a:pPr indent="-12700" lvl="0" marL="12700" marR="0" rtl="0" algn="l">
              <a:lnSpc>
                <a:spcPct val="90000"/>
              </a:lnSpc>
              <a:spcBef>
                <a:spcPts val="830"/>
              </a:spcBef>
              <a:spcAft>
                <a:spcPts val="0"/>
              </a:spcAft>
              <a:buClr>
                <a:schemeClr val="dk1"/>
              </a:buClr>
              <a:buSzPts val="2000"/>
              <a:buFont typeface="Arial"/>
              <a:buChar char="•"/>
            </a:pPr>
            <a:r>
              <a:rPr lang="en-US" sz="2000">
                <a:solidFill>
                  <a:schemeClr val="dk1"/>
                </a:solidFill>
                <a:latin typeface="Arial"/>
                <a:ea typeface="Arial"/>
                <a:cs typeface="Arial"/>
                <a:sym typeface="Arial"/>
              </a:rPr>
              <a:t>∗	Master writes periodic checkpoints</a:t>
            </a:r>
            <a:endParaRPr sz="2000">
              <a:solidFill>
                <a:schemeClr val="dk1"/>
              </a:solidFill>
              <a:latin typeface="Arial"/>
              <a:ea typeface="Arial"/>
              <a:cs typeface="Arial"/>
              <a:sym typeface="Arial"/>
            </a:endParaRPr>
          </a:p>
          <a:p>
            <a:pPr indent="-12700" lvl="0" marL="12700" marR="0" rtl="0" algn="l">
              <a:lnSpc>
                <a:spcPct val="90000"/>
              </a:lnSpc>
              <a:spcBef>
                <a:spcPts val="865"/>
              </a:spcBef>
              <a:spcAft>
                <a:spcPts val="0"/>
              </a:spcAft>
              <a:buClr>
                <a:schemeClr val="dk1"/>
              </a:buClr>
              <a:buSzPts val="2000"/>
              <a:buFont typeface="Arial"/>
              <a:buChar char="•"/>
            </a:pPr>
            <a:r>
              <a:rPr lang="en-US" sz="2000">
                <a:solidFill>
                  <a:schemeClr val="dk1"/>
                </a:solidFill>
                <a:latin typeface="Arial"/>
                <a:ea typeface="Arial"/>
                <a:cs typeface="Arial"/>
                <a:sym typeface="Arial"/>
              </a:rPr>
              <a:t>∗	On errors, workers send “last gasp” UDP packet to master</a:t>
            </a:r>
            <a:endParaRPr sz="2000">
              <a:solidFill>
                <a:schemeClr val="dk1"/>
              </a:solidFill>
              <a:latin typeface="Arial"/>
              <a:ea typeface="Arial"/>
              <a:cs typeface="Arial"/>
              <a:sym typeface="Arial"/>
            </a:endParaRPr>
          </a:p>
          <a:p>
            <a:pPr indent="-228600" lvl="0" marL="494030" marR="0" rtl="0" algn="l">
              <a:lnSpc>
                <a:spcPct val="90000"/>
              </a:lnSpc>
              <a:spcBef>
                <a:spcPts val="925"/>
              </a:spcBef>
              <a:spcAft>
                <a:spcPts val="0"/>
              </a:spcAft>
              <a:buClr>
                <a:schemeClr val="dk1"/>
              </a:buClr>
              <a:buSzPts val="2000"/>
              <a:buFont typeface="Arial"/>
              <a:buChar char="•"/>
            </a:pPr>
            <a:r>
              <a:rPr lang="en-US" sz="2000">
                <a:solidFill>
                  <a:schemeClr val="dk1"/>
                </a:solidFill>
                <a:latin typeface="Arial"/>
                <a:ea typeface="Arial"/>
                <a:cs typeface="Arial"/>
                <a:sym typeface="Arial"/>
              </a:rPr>
              <a:t>∗	Detect records that cause deterministic crashes and skips them</a:t>
            </a:r>
            <a:endParaRPr sz="2000">
              <a:solidFill>
                <a:schemeClr val="dk1"/>
              </a:solidFill>
              <a:latin typeface="Arial"/>
              <a:ea typeface="Arial"/>
              <a:cs typeface="Arial"/>
              <a:sym typeface="Arial"/>
            </a:endParaRPr>
          </a:p>
          <a:p>
            <a:pPr indent="-12700" lvl="0" marL="12700" marR="0" rtl="0" algn="l">
              <a:lnSpc>
                <a:spcPct val="90000"/>
              </a:lnSpc>
              <a:spcBef>
                <a:spcPts val="855"/>
              </a:spcBef>
              <a:spcAft>
                <a:spcPts val="0"/>
              </a:spcAft>
              <a:buClr>
                <a:schemeClr val="dk1"/>
              </a:buClr>
              <a:buSzPts val="2000"/>
              <a:buFont typeface="Arial"/>
              <a:buChar char="•"/>
            </a:pPr>
            <a:r>
              <a:rPr lang="en-US" sz="2000">
                <a:solidFill>
                  <a:schemeClr val="dk1"/>
                </a:solidFill>
                <a:latin typeface="Arial"/>
                <a:ea typeface="Arial"/>
                <a:cs typeface="Arial"/>
                <a:sym typeface="Arial"/>
              </a:rPr>
              <a:t>∗	Input file blocks stored on multiple machines</a:t>
            </a:r>
            <a:endParaRPr sz="2000">
              <a:solidFill>
                <a:schemeClr val="dk1"/>
              </a:solidFill>
              <a:latin typeface="Arial"/>
              <a:ea typeface="Arial"/>
              <a:cs typeface="Arial"/>
              <a:sym typeface="Arial"/>
            </a:endParaRPr>
          </a:p>
          <a:p>
            <a:pPr indent="-12700" lvl="0" marL="12700" marR="0" rtl="0" algn="l">
              <a:lnSpc>
                <a:spcPct val="90000"/>
              </a:lnSpc>
              <a:spcBef>
                <a:spcPts val="865"/>
              </a:spcBef>
              <a:spcAft>
                <a:spcPts val="0"/>
              </a:spcAft>
              <a:buClr>
                <a:schemeClr val="dk1"/>
              </a:buClr>
              <a:buSzPts val="2000"/>
              <a:buFont typeface="Arial"/>
              <a:buChar char="•"/>
            </a:pPr>
            <a:r>
              <a:rPr lang="en-US" sz="2000">
                <a:solidFill>
                  <a:schemeClr val="dk1"/>
                </a:solidFill>
                <a:latin typeface="Arial"/>
                <a:ea typeface="Arial"/>
                <a:cs typeface="Arial"/>
                <a:sym typeface="Arial"/>
              </a:rPr>
              <a:t>∗	When computation almost done, reschedule in-progress tasks</a:t>
            </a:r>
            <a:endParaRPr sz="2000">
              <a:solidFill>
                <a:schemeClr val="dk1"/>
              </a:solidFill>
              <a:latin typeface="Arial"/>
              <a:ea typeface="Arial"/>
              <a:cs typeface="Arial"/>
              <a:sym typeface="Arial"/>
            </a:endParaRPr>
          </a:p>
          <a:p>
            <a:pPr indent="-228600" lvl="0" marL="494030" marR="0" rtl="0" algn="l">
              <a:lnSpc>
                <a:spcPct val="90000"/>
              </a:lnSpc>
              <a:spcBef>
                <a:spcPts val="919"/>
              </a:spcBef>
              <a:spcAft>
                <a:spcPts val="0"/>
              </a:spcAft>
              <a:buClr>
                <a:schemeClr val="dk1"/>
              </a:buClr>
              <a:buSzPts val="2000"/>
              <a:buFont typeface="Arial"/>
              <a:buChar char="•"/>
            </a:pPr>
            <a:r>
              <a:rPr lang="en-US" sz="2000">
                <a:solidFill>
                  <a:schemeClr val="dk1"/>
                </a:solidFill>
                <a:latin typeface="Arial"/>
                <a:ea typeface="Arial"/>
                <a:cs typeface="Arial"/>
                <a:sym typeface="Arial"/>
              </a:rPr>
              <a:t>∗	Avoids “stragglers”</a:t>
            </a:r>
            <a:endParaRPr sz="20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3" name="Shape 373"/>
        <p:cNvGrpSpPr/>
        <p:nvPr/>
      </p:nvGrpSpPr>
      <p:grpSpPr>
        <a:xfrm>
          <a:off x="0" y="0"/>
          <a:ext cx="0" cy="0"/>
          <a:chOff x="0" y="0"/>
          <a:chExt cx="0" cy="0"/>
        </a:xfrm>
      </p:grpSpPr>
      <p:sp>
        <p:nvSpPr>
          <p:cNvPr id="374" name="Google Shape;374;p22"/>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375" name="Google Shape;375;p22"/>
          <p:cNvSpPr txBox="1"/>
          <p:nvPr>
            <p:ph type="title"/>
          </p:nvPr>
        </p:nvSpPr>
        <p:spPr>
          <a:xfrm>
            <a:off x="1113810" y="2960716"/>
            <a:ext cx="4036334" cy="2387600"/>
          </a:xfrm>
          <a:prstGeom prst="rect">
            <a:avLst/>
          </a:prstGeom>
          <a:noFill/>
          <a:ln>
            <a:noFill/>
          </a:ln>
        </p:spPr>
        <p:txBody>
          <a:bodyPr anchorCtr="0" anchor="t" bIns="45700" lIns="91425" spcFirstLastPara="1" rIns="91425" wrap="square" tIns="45700">
            <a:normAutofit/>
          </a:bodyPr>
          <a:lstStyle/>
          <a:p>
            <a:pPr indent="0" lvl="0" marL="12700" rtl="0" algn="l">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Replica</a:t>
            </a:r>
            <a:endParaRPr/>
          </a:p>
        </p:txBody>
      </p:sp>
      <p:grpSp>
        <p:nvGrpSpPr>
          <p:cNvPr id="376" name="Google Shape;376;p22"/>
          <p:cNvGrpSpPr/>
          <p:nvPr/>
        </p:nvGrpSpPr>
        <p:grpSpPr>
          <a:xfrm>
            <a:off x="0" y="2984992"/>
            <a:ext cx="731521" cy="673460"/>
            <a:chOff x="3940602" y="308034"/>
            <a:chExt cx="2116791" cy="3428999"/>
          </a:xfrm>
        </p:grpSpPr>
        <p:sp>
          <p:nvSpPr>
            <p:cNvPr id="377" name="Google Shape;377;p22"/>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8" name="Google Shape;378;p22"/>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9" name="Google Shape;379;p22"/>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80" name="Google Shape;380;p22"/>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1" name="Google Shape;381;p22"/>
          <p:cNvSpPr/>
          <p:nvPr/>
        </p:nvSpPr>
        <p:spPr>
          <a:xfrm>
            <a:off x="5685810" y="391886"/>
            <a:ext cx="6009366" cy="6017078"/>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82" name="Google Shape;382;p22"/>
          <p:cNvPicPr preferRelativeResize="0"/>
          <p:nvPr/>
        </p:nvPicPr>
        <p:blipFill rotWithShape="1">
          <a:blip r:embed="rId3">
            <a:alphaModFix/>
          </a:blip>
          <a:srcRect b="0" l="0" r="0" t="0"/>
          <a:stretch/>
        </p:blipFill>
        <p:spPr>
          <a:xfrm>
            <a:off x="5922492" y="1939606"/>
            <a:ext cx="5536001" cy="292003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6" name="Shape 386"/>
        <p:cNvGrpSpPr/>
        <p:nvPr/>
      </p:nvGrpSpPr>
      <p:grpSpPr>
        <a:xfrm>
          <a:off x="0" y="0"/>
          <a:ext cx="0" cy="0"/>
          <a:chOff x="0" y="0"/>
          <a:chExt cx="0" cy="0"/>
        </a:xfrm>
      </p:grpSpPr>
      <p:sp>
        <p:nvSpPr>
          <p:cNvPr id="387" name="Google Shape;387;p23"/>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388" name="Google Shape;388;p23"/>
          <p:cNvSpPr txBox="1"/>
          <p:nvPr>
            <p:ph type="title"/>
          </p:nvPr>
        </p:nvSpPr>
        <p:spPr>
          <a:xfrm>
            <a:off x="1045028" y="1336329"/>
            <a:ext cx="3892732" cy="4382588"/>
          </a:xfrm>
          <a:prstGeom prst="rect">
            <a:avLst/>
          </a:prstGeom>
          <a:noFill/>
          <a:ln>
            <a:noFill/>
          </a:ln>
        </p:spPr>
        <p:txBody>
          <a:bodyPr anchorCtr="0" anchor="ctr" bIns="45700" lIns="91425" spcFirstLastPara="1" rIns="91425" wrap="square" tIns="45700">
            <a:normAutofit/>
          </a:bodyPr>
          <a:lstStyle/>
          <a:p>
            <a:pPr indent="0" lvl="0" marL="2687320" rtl="0" algn="l">
              <a:lnSpc>
                <a:spcPct val="90000"/>
              </a:lnSpc>
              <a:spcBef>
                <a:spcPts val="0"/>
              </a:spcBef>
              <a:spcAft>
                <a:spcPts val="0"/>
              </a:spcAft>
              <a:buClr>
                <a:schemeClr val="dk1"/>
              </a:buClr>
              <a:buSzPts val="1800"/>
              <a:buFont typeface="Play"/>
              <a:buNone/>
            </a:pPr>
            <a:r>
              <a:rPr lang="en-US" sz="1800">
                <a:solidFill>
                  <a:schemeClr val="dk1"/>
                </a:solidFill>
                <a:latin typeface="Play"/>
                <a:ea typeface="Play"/>
                <a:cs typeface="Play"/>
                <a:sym typeface="Play"/>
              </a:rPr>
              <a:t>Debugging</a:t>
            </a:r>
            <a:endParaRPr/>
          </a:p>
        </p:txBody>
      </p:sp>
      <p:grpSp>
        <p:nvGrpSpPr>
          <p:cNvPr id="389" name="Google Shape;389;p23"/>
          <p:cNvGrpSpPr/>
          <p:nvPr/>
        </p:nvGrpSpPr>
        <p:grpSpPr>
          <a:xfrm>
            <a:off x="0" y="3163461"/>
            <a:ext cx="731521" cy="673460"/>
            <a:chOff x="3940602" y="308034"/>
            <a:chExt cx="2116791" cy="3428999"/>
          </a:xfrm>
        </p:grpSpPr>
        <p:sp>
          <p:nvSpPr>
            <p:cNvPr id="390" name="Google Shape;390;p23"/>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1" name="Google Shape;391;p23"/>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2" name="Google Shape;392;p23"/>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93" name="Google Shape;393;p23"/>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4" name="Google Shape;394;p23"/>
          <p:cNvSpPr/>
          <p:nvPr/>
        </p:nvSpPr>
        <p:spPr>
          <a:xfrm>
            <a:off x="5685810" y="982976"/>
            <a:ext cx="6009366" cy="5120635"/>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5" name="Google Shape;395;p23"/>
          <p:cNvSpPr txBox="1"/>
          <p:nvPr/>
        </p:nvSpPr>
        <p:spPr>
          <a:xfrm>
            <a:off x="6096001" y="1336329"/>
            <a:ext cx="5260848" cy="4382588"/>
          </a:xfrm>
          <a:prstGeom prst="rect">
            <a:avLst/>
          </a:prstGeom>
          <a:noFill/>
          <a:ln>
            <a:noFill/>
          </a:ln>
        </p:spPr>
        <p:txBody>
          <a:bodyPr anchorCtr="0" anchor="ctr"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Offers human readable status info on http server</a:t>
            </a:r>
            <a:endParaRPr sz="2000">
              <a:solidFill>
                <a:schemeClr val="dk1"/>
              </a:solidFill>
              <a:latin typeface="Arial"/>
              <a:ea typeface="Arial"/>
              <a:cs typeface="Arial"/>
              <a:sym typeface="Arial"/>
            </a:endParaRPr>
          </a:p>
          <a:p>
            <a:pPr indent="-228600" lvl="0" marL="494030" marR="0" rtl="0" algn="l">
              <a:lnSpc>
                <a:spcPct val="90000"/>
              </a:lnSpc>
              <a:spcBef>
                <a:spcPts val="1230"/>
              </a:spcBef>
              <a:spcAft>
                <a:spcPts val="0"/>
              </a:spcAft>
              <a:buClr>
                <a:schemeClr val="dk1"/>
              </a:buClr>
              <a:buSzPts val="2000"/>
              <a:buFont typeface="Arial"/>
              <a:buChar char="•"/>
            </a:pPr>
            <a:r>
              <a:rPr lang="en-US" sz="2000">
                <a:solidFill>
                  <a:schemeClr val="dk1"/>
                </a:solidFill>
                <a:latin typeface="Arial"/>
                <a:ea typeface="Arial"/>
                <a:cs typeface="Arial"/>
                <a:sym typeface="Arial"/>
              </a:rPr>
              <a:t>∗	Users can see jobs completed, in-progress, processing rates, etc.</a:t>
            </a:r>
            <a:endParaRPr sz="2000">
              <a:solidFill>
                <a:schemeClr val="dk1"/>
              </a:solidFill>
              <a:latin typeface="Arial"/>
              <a:ea typeface="Arial"/>
              <a:cs typeface="Arial"/>
              <a:sym typeface="Arial"/>
            </a:endParaRPr>
          </a:p>
          <a:p>
            <a:pPr indent="-12700" lvl="0" marL="12700" marR="0" rtl="0" algn="l">
              <a:lnSpc>
                <a:spcPct val="90000"/>
              </a:lnSpc>
              <a:spcBef>
                <a:spcPts val="1170"/>
              </a:spcBef>
              <a:spcAft>
                <a:spcPts val="0"/>
              </a:spcAft>
              <a:buClr>
                <a:schemeClr val="dk1"/>
              </a:buClr>
              <a:buSzPts val="2000"/>
              <a:buFont typeface="Arial"/>
              <a:buChar char="•"/>
            </a:pPr>
            <a:r>
              <a:rPr lang="en-US" sz="2000">
                <a:solidFill>
                  <a:schemeClr val="dk1"/>
                </a:solidFill>
                <a:latin typeface="Arial"/>
                <a:ea typeface="Arial"/>
                <a:cs typeface="Arial"/>
                <a:sym typeface="Arial"/>
              </a:rPr>
              <a:t>∗	Sequential implementation</a:t>
            </a:r>
            <a:endParaRPr sz="2000">
              <a:solidFill>
                <a:schemeClr val="dk1"/>
              </a:solidFill>
              <a:latin typeface="Arial"/>
              <a:ea typeface="Arial"/>
              <a:cs typeface="Arial"/>
              <a:sym typeface="Arial"/>
            </a:endParaRPr>
          </a:p>
          <a:p>
            <a:pPr indent="-228600" lvl="0" marL="494030" marR="0" rtl="0" algn="l">
              <a:lnSpc>
                <a:spcPct val="90000"/>
              </a:lnSpc>
              <a:spcBef>
                <a:spcPts val="1230"/>
              </a:spcBef>
              <a:spcAft>
                <a:spcPts val="0"/>
              </a:spcAft>
              <a:buClr>
                <a:schemeClr val="dk1"/>
              </a:buClr>
              <a:buSzPts val="2000"/>
              <a:buFont typeface="Arial"/>
              <a:buChar char="•"/>
            </a:pPr>
            <a:r>
              <a:rPr lang="en-US" sz="2000">
                <a:solidFill>
                  <a:schemeClr val="dk1"/>
                </a:solidFill>
                <a:latin typeface="Arial"/>
                <a:ea typeface="Arial"/>
                <a:cs typeface="Arial"/>
                <a:sym typeface="Arial"/>
              </a:rPr>
              <a:t>∗	Executed sequentially on a single machine</a:t>
            </a:r>
            <a:endParaRPr sz="2000">
              <a:solidFill>
                <a:schemeClr val="dk1"/>
              </a:solidFill>
              <a:latin typeface="Arial"/>
              <a:ea typeface="Arial"/>
              <a:cs typeface="Arial"/>
              <a:sym typeface="Arial"/>
            </a:endParaRPr>
          </a:p>
          <a:p>
            <a:pPr indent="-228600" lvl="0" marL="494030" marR="0" rtl="0" algn="l">
              <a:lnSpc>
                <a:spcPct val="90000"/>
              </a:lnSpc>
              <a:spcBef>
                <a:spcPts val="1205"/>
              </a:spcBef>
              <a:spcAft>
                <a:spcPts val="0"/>
              </a:spcAft>
              <a:buClr>
                <a:schemeClr val="dk1"/>
              </a:buClr>
              <a:buSzPts val="2000"/>
              <a:buFont typeface="Arial"/>
              <a:buChar char="•"/>
            </a:pPr>
            <a:r>
              <a:rPr lang="en-US" sz="2000">
                <a:solidFill>
                  <a:schemeClr val="dk1"/>
                </a:solidFill>
                <a:latin typeface="Arial"/>
                <a:ea typeface="Arial"/>
                <a:cs typeface="Arial"/>
                <a:sym typeface="Arial"/>
              </a:rPr>
              <a:t>∗	Allows use of gdb and other debugging tools</a:t>
            </a:r>
            <a:endParaRPr sz="20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9" name="Shape 399"/>
        <p:cNvGrpSpPr/>
        <p:nvPr/>
      </p:nvGrpSpPr>
      <p:grpSpPr>
        <a:xfrm>
          <a:off x="0" y="0"/>
          <a:ext cx="0" cy="0"/>
          <a:chOff x="0" y="0"/>
          <a:chExt cx="0" cy="0"/>
        </a:xfrm>
      </p:grpSpPr>
      <p:sp>
        <p:nvSpPr>
          <p:cNvPr id="400" name="Google Shape;400;p24"/>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401" name="Google Shape;401;p24"/>
          <p:cNvGrpSpPr/>
          <p:nvPr/>
        </p:nvGrpSpPr>
        <p:grpSpPr>
          <a:xfrm>
            <a:off x="74300" y="2385102"/>
            <a:ext cx="574091" cy="2087796"/>
            <a:chOff x="209668" y="2857422"/>
            <a:chExt cx="463662" cy="2087796"/>
          </a:xfrm>
        </p:grpSpPr>
        <p:sp>
          <p:nvSpPr>
            <p:cNvPr id="402" name="Google Shape;402;p24"/>
            <p:cNvSpPr/>
            <p:nvPr/>
          </p:nvSpPr>
          <p:spPr>
            <a:xfrm rot="10800000">
              <a:off x="423947" y="2857422"/>
              <a:ext cx="249383" cy="208779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03" name="Google Shape;403;p24"/>
            <p:cNvCxnSpPr/>
            <p:nvPr/>
          </p:nvCxnSpPr>
          <p:spPr>
            <a:xfrm flipH="1">
              <a:off x="209668" y="2857423"/>
              <a:ext cx="1" cy="2087795"/>
            </a:xfrm>
            <a:prstGeom prst="straightConnector1">
              <a:avLst/>
            </a:prstGeom>
            <a:noFill/>
            <a:ln cap="flat" cmpd="sng" w="177800">
              <a:solidFill>
                <a:schemeClr val="accent4"/>
              </a:solidFill>
              <a:prstDash val="solid"/>
              <a:miter lim="800000"/>
              <a:headEnd len="sm" w="sm" type="none"/>
              <a:tailEnd len="sm" w="sm" type="none"/>
            </a:ln>
          </p:spPr>
        </p:cxnSp>
      </p:grpSp>
      <p:sp>
        <p:nvSpPr>
          <p:cNvPr id="404" name="Google Shape;404;p24"/>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5" name="Google Shape;405;p24"/>
          <p:cNvSpPr/>
          <p:nvPr/>
        </p:nvSpPr>
        <p:spPr>
          <a:xfrm>
            <a:off x="579528" y="631767"/>
            <a:ext cx="11111729" cy="5752404"/>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406" name="Google Shape;406;p24"/>
          <p:cNvSpPr txBox="1"/>
          <p:nvPr>
            <p:ph type="title"/>
          </p:nvPr>
        </p:nvSpPr>
        <p:spPr>
          <a:xfrm>
            <a:off x="1153628" y="1239925"/>
            <a:ext cx="5692500" cy="4680600"/>
          </a:xfrm>
          <a:prstGeom prst="rect">
            <a:avLst/>
          </a:prstGeom>
          <a:noFill/>
          <a:ln>
            <a:noFill/>
          </a:ln>
        </p:spPr>
        <p:txBody>
          <a:bodyPr anchorCtr="0" anchor="ctr" bIns="0" lIns="0" spcFirstLastPara="1" rIns="0" wrap="square" tIns="13325">
            <a:normAutofit/>
          </a:bodyPr>
          <a:lstStyle/>
          <a:p>
            <a:pPr indent="0" lvl="0" marL="1146175" rtl="0" algn="l">
              <a:lnSpc>
                <a:spcPct val="90000"/>
              </a:lnSpc>
              <a:spcBef>
                <a:spcPts val="0"/>
              </a:spcBef>
              <a:spcAft>
                <a:spcPts val="0"/>
              </a:spcAft>
              <a:buClr>
                <a:schemeClr val="dk1"/>
              </a:buClr>
              <a:buSzPts val="5200"/>
              <a:buFont typeface="Play"/>
              <a:buNone/>
            </a:pPr>
            <a:r>
              <a:rPr lang="en-US" sz="5200"/>
              <a:t>Map Reduce Motivation</a:t>
            </a:r>
            <a:endParaRPr/>
          </a:p>
        </p:txBody>
      </p:sp>
      <p:sp>
        <p:nvSpPr>
          <p:cNvPr id="407" name="Google Shape;407;p24"/>
          <p:cNvSpPr txBox="1"/>
          <p:nvPr>
            <p:ph idx="1" type="body"/>
          </p:nvPr>
        </p:nvSpPr>
        <p:spPr>
          <a:xfrm>
            <a:off x="6291923" y="1239927"/>
            <a:ext cx="4971824" cy="4680583"/>
          </a:xfrm>
          <a:prstGeom prst="rect">
            <a:avLst/>
          </a:prstGeom>
          <a:noFill/>
          <a:ln>
            <a:noFill/>
          </a:ln>
        </p:spPr>
        <p:txBody>
          <a:bodyPr anchorCtr="0" anchor="ctr" bIns="0" lIns="0" spcFirstLastPara="1" rIns="0" wrap="square" tIns="88900">
            <a:normAutofit/>
          </a:bodyPr>
          <a:lstStyle/>
          <a:p>
            <a:pPr indent="-12700" lvl="0" marL="12700" rtl="0" algn="l">
              <a:lnSpc>
                <a:spcPct val="90000"/>
              </a:lnSpc>
              <a:spcBef>
                <a:spcPts val="0"/>
              </a:spcBef>
              <a:spcAft>
                <a:spcPts val="0"/>
              </a:spcAft>
              <a:buClr>
                <a:schemeClr val="dk1"/>
              </a:buClr>
              <a:buSzPts val="2000"/>
              <a:buChar char="•"/>
            </a:pPr>
            <a:r>
              <a:rPr lang="en-US" sz="2000">
                <a:latin typeface="Arimo"/>
                <a:ea typeface="Arimo"/>
                <a:cs typeface="Arimo"/>
                <a:sym typeface="Arimo"/>
              </a:rPr>
              <a:t>∗ </a:t>
            </a:r>
            <a:r>
              <a:rPr lang="en-US" sz="2000"/>
              <a:t>Large Scale Data Processing</a:t>
            </a:r>
            <a:endParaRPr sz="2000">
              <a:latin typeface="Arimo"/>
              <a:ea typeface="Arimo"/>
              <a:cs typeface="Arimo"/>
              <a:sym typeface="Arimo"/>
            </a:endParaRPr>
          </a:p>
          <a:p>
            <a:pPr indent="-228600" lvl="0" marL="314325" rtl="0" algn="l">
              <a:lnSpc>
                <a:spcPct val="90000"/>
              </a:lnSpc>
              <a:spcBef>
                <a:spcPts val="545"/>
              </a:spcBef>
              <a:spcAft>
                <a:spcPts val="0"/>
              </a:spcAft>
              <a:buClr>
                <a:schemeClr val="dk1"/>
              </a:buClr>
              <a:buSzPts val="2000"/>
              <a:buChar char="•"/>
            </a:pPr>
            <a:r>
              <a:rPr lang="en-US" sz="2000">
                <a:latin typeface="Arimo"/>
                <a:ea typeface="Arimo"/>
                <a:cs typeface="Arimo"/>
                <a:sym typeface="Arimo"/>
              </a:rPr>
              <a:t>∗ </a:t>
            </a:r>
            <a:r>
              <a:rPr lang="en-US" sz="2000"/>
              <a:t>Process lots of data (&gt;1TB)</a:t>
            </a:r>
            <a:endParaRPr/>
          </a:p>
          <a:p>
            <a:pPr indent="-228600" lvl="0" marL="314325" rtl="0" algn="l">
              <a:lnSpc>
                <a:spcPct val="90000"/>
              </a:lnSpc>
              <a:spcBef>
                <a:spcPts val="530"/>
              </a:spcBef>
              <a:spcAft>
                <a:spcPts val="0"/>
              </a:spcAft>
              <a:buClr>
                <a:schemeClr val="dk1"/>
              </a:buClr>
              <a:buSzPts val="2000"/>
              <a:buChar char="•"/>
            </a:pPr>
            <a:r>
              <a:rPr lang="en-US" sz="2000">
                <a:latin typeface="Arimo"/>
                <a:ea typeface="Arimo"/>
                <a:cs typeface="Arimo"/>
                <a:sym typeface="Arimo"/>
              </a:rPr>
              <a:t>∗ </a:t>
            </a:r>
            <a:r>
              <a:rPr lang="en-US" sz="2000"/>
              <a:t>Want to use hundreds of CPUs</a:t>
            </a:r>
            <a:endParaRPr/>
          </a:p>
          <a:p>
            <a:pPr indent="-12700" lvl="0" marL="12700" rtl="0" algn="l">
              <a:lnSpc>
                <a:spcPct val="90000"/>
              </a:lnSpc>
              <a:spcBef>
                <a:spcPts val="555"/>
              </a:spcBef>
              <a:spcAft>
                <a:spcPts val="0"/>
              </a:spcAft>
              <a:buClr>
                <a:schemeClr val="dk1"/>
              </a:buClr>
              <a:buSzPts val="2000"/>
              <a:buChar char="•"/>
            </a:pPr>
            <a:r>
              <a:rPr lang="en-US" sz="2000">
                <a:latin typeface="Arimo"/>
                <a:ea typeface="Arimo"/>
                <a:cs typeface="Arimo"/>
                <a:sym typeface="Arimo"/>
              </a:rPr>
              <a:t>∗ </a:t>
            </a:r>
            <a:r>
              <a:rPr lang="en-US" sz="2000"/>
              <a:t>Challenges</a:t>
            </a:r>
            <a:endParaRPr sz="2000">
              <a:latin typeface="Arimo"/>
              <a:ea typeface="Arimo"/>
              <a:cs typeface="Arimo"/>
              <a:sym typeface="Arimo"/>
            </a:endParaRPr>
          </a:p>
          <a:p>
            <a:pPr indent="-228600" lvl="0" marL="314325" rtl="0" algn="l">
              <a:lnSpc>
                <a:spcPct val="90000"/>
              </a:lnSpc>
              <a:spcBef>
                <a:spcPts val="550"/>
              </a:spcBef>
              <a:spcAft>
                <a:spcPts val="0"/>
              </a:spcAft>
              <a:buClr>
                <a:schemeClr val="dk1"/>
              </a:buClr>
              <a:buSzPts val="2000"/>
              <a:buChar char="•"/>
            </a:pPr>
            <a:r>
              <a:rPr lang="en-US" sz="2000">
                <a:latin typeface="Arimo"/>
                <a:ea typeface="Arimo"/>
                <a:cs typeface="Arimo"/>
                <a:sym typeface="Arimo"/>
              </a:rPr>
              <a:t>∗ </a:t>
            </a:r>
            <a:r>
              <a:rPr lang="en-US" sz="2000"/>
              <a:t>Automatic parallelization and distribution</a:t>
            </a:r>
            <a:endParaRPr/>
          </a:p>
          <a:p>
            <a:pPr indent="-228600" lvl="0" marL="314325" rtl="0" algn="l">
              <a:lnSpc>
                <a:spcPct val="90000"/>
              </a:lnSpc>
              <a:spcBef>
                <a:spcPts val="530"/>
              </a:spcBef>
              <a:spcAft>
                <a:spcPts val="0"/>
              </a:spcAft>
              <a:buClr>
                <a:schemeClr val="dk1"/>
              </a:buClr>
              <a:buSzPts val="2000"/>
              <a:buChar char="•"/>
            </a:pPr>
            <a:r>
              <a:rPr lang="en-US" sz="2000">
                <a:latin typeface="Arimo"/>
                <a:ea typeface="Arimo"/>
                <a:cs typeface="Arimo"/>
                <a:sym typeface="Arimo"/>
              </a:rPr>
              <a:t>∗ </a:t>
            </a:r>
            <a:r>
              <a:rPr lang="en-US" sz="2000"/>
              <a:t>Fault-tolerance</a:t>
            </a:r>
            <a:endParaRPr/>
          </a:p>
          <a:p>
            <a:pPr indent="-228600" lvl="0" marL="314325" rtl="0" algn="l">
              <a:lnSpc>
                <a:spcPct val="90000"/>
              </a:lnSpc>
              <a:spcBef>
                <a:spcPts val="530"/>
              </a:spcBef>
              <a:spcAft>
                <a:spcPts val="0"/>
              </a:spcAft>
              <a:buClr>
                <a:schemeClr val="dk1"/>
              </a:buClr>
              <a:buSzPts val="2000"/>
              <a:buChar char="•"/>
            </a:pPr>
            <a:r>
              <a:rPr lang="en-US" sz="2000">
                <a:latin typeface="Arimo"/>
                <a:ea typeface="Arimo"/>
                <a:cs typeface="Arimo"/>
                <a:sym typeface="Arimo"/>
              </a:rPr>
              <a:t>∗ </a:t>
            </a:r>
            <a:r>
              <a:rPr lang="en-US" sz="2000"/>
              <a:t>I/O scheduling</a:t>
            </a:r>
            <a:endParaRPr/>
          </a:p>
          <a:p>
            <a:pPr indent="-228600" lvl="0" marL="314325" rtl="0" algn="l">
              <a:lnSpc>
                <a:spcPct val="90000"/>
              </a:lnSpc>
              <a:spcBef>
                <a:spcPts val="525"/>
              </a:spcBef>
              <a:spcAft>
                <a:spcPts val="0"/>
              </a:spcAft>
              <a:buClr>
                <a:schemeClr val="dk1"/>
              </a:buClr>
              <a:buSzPts val="2000"/>
              <a:buChar char="•"/>
            </a:pPr>
            <a:r>
              <a:rPr lang="en-US" sz="2000">
                <a:latin typeface="Arimo"/>
                <a:ea typeface="Arimo"/>
                <a:cs typeface="Arimo"/>
                <a:sym typeface="Arimo"/>
              </a:rPr>
              <a:t>∗ </a:t>
            </a:r>
            <a:r>
              <a:rPr lang="en-US" sz="2000"/>
              <a:t>Status and monitoring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1" name="Shape 411"/>
        <p:cNvGrpSpPr/>
        <p:nvPr/>
      </p:nvGrpSpPr>
      <p:grpSpPr>
        <a:xfrm>
          <a:off x="0" y="0"/>
          <a:ext cx="0" cy="0"/>
          <a:chOff x="0" y="0"/>
          <a:chExt cx="0" cy="0"/>
        </a:xfrm>
      </p:grpSpPr>
      <p:sp>
        <p:nvSpPr>
          <p:cNvPr id="412" name="Google Shape;412;p25"/>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413" name="Google Shape;413;p25"/>
          <p:cNvGrpSpPr/>
          <p:nvPr/>
        </p:nvGrpSpPr>
        <p:grpSpPr>
          <a:xfrm rot="5400000">
            <a:off x="-2340441" y="2666183"/>
            <a:ext cx="5860051" cy="527712"/>
            <a:chOff x="6081624" y="1998368"/>
            <a:chExt cx="5613457" cy="782175"/>
          </a:xfrm>
        </p:grpSpPr>
        <p:sp>
          <p:nvSpPr>
            <p:cNvPr id="414" name="Google Shape;414;p25"/>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5" name="Google Shape;415;p25"/>
            <p:cNvSpPr/>
            <p:nvPr/>
          </p:nvSpPr>
          <p:spPr>
            <a:xfrm rot="10800000">
              <a:off x="6081624" y="1998844"/>
              <a:ext cx="5372968"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416" name="Google Shape;416;p25"/>
          <p:cNvSpPr/>
          <p:nvPr/>
        </p:nvSpPr>
        <p:spPr>
          <a:xfrm>
            <a:off x="579528" y="517897"/>
            <a:ext cx="11111729" cy="5857966"/>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417" name="Google Shape;417;p25"/>
          <p:cNvSpPr txBox="1"/>
          <p:nvPr>
            <p:ph type="title"/>
          </p:nvPr>
        </p:nvSpPr>
        <p:spPr>
          <a:xfrm>
            <a:off x="1057025" y="922644"/>
            <a:ext cx="5040285" cy="1169585"/>
          </a:xfrm>
          <a:prstGeom prst="rect">
            <a:avLst/>
          </a:prstGeom>
          <a:noFill/>
          <a:ln>
            <a:noFill/>
          </a:ln>
        </p:spPr>
        <p:txBody>
          <a:bodyPr anchorCtr="0" anchor="b" bIns="45700" lIns="91425" spcFirstLastPara="1" rIns="91425" wrap="square" tIns="45700">
            <a:normAutofit/>
          </a:bodyPr>
          <a:lstStyle/>
          <a:p>
            <a:pPr indent="0" lvl="0" marL="1062355" rtl="0" algn="l">
              <a:lnSpc>
                <a:spcPct val="90000"/>
              </a:lnSpc>
              <a:spcBef>
                <a:spcPts val="0"/>
              </a:spcBef>
              <a:spcAft>
                <a:spcPts val="0"/>
              </a:spcAft>
              <a:buClr>
                <a:schemeClr val="dk1"/>
              </a:buClr>
              <a:buSzPts val="3700"/>
              <a:buFont typeface="Play"/>
              <a:buNone/>
            </a:pPr>
            <a:r>
              <a:rPr lang="en-US" sz="3700"/>
              <a:t>Typical Big Data Problem</a:t>
            </a:r>
            <a:endParaRPr/>
          </a:p>
        </p:txBody>
      </p:sp>
      <p:sp>
        <p:nvSpPr>
          <p:cNvPr id="418" name="Google Shape;418;p25"/>
          <p:cNvSpPr/>
          <p:nvPr/>
        </p:nvSpPr>
        <p:spPr>
          <a:xfrm flipH="1">
            <a:off x="1055714" y="2263365"/>
            <a:ext cx="4937760"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9" name="Google Shape;419;p25"/>
          <p:cNvSpPr txBox="1"/>
          <p:nvPr/>
        </p:nvSpPr>
        <p:spPr>
          <a:xfrm>
            <a:off x="1055715" y="2508105"/>
            <a:ext cx="5040285" cy="3632493"/>
          </a:xfrm>
          <a:prstGeom prst="rect">
            <a:avLst/>
          </a:prstGeom>
          <a:noFill/>
          <a:ln>
            <a:noFill/>
          </a:ln>
        </p:spPr>
        <p:txBody>
          <a:bodyPr anchorCtr="0" anchor="ctr"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Iterate over a  large number of records</a:t>
            </a:r>
            <a:endParaRPr sz="2000">
              <a:solidFill>
                <a:schemeClr val="dk1"/>
              </a:solidFill>
              <a:latin typeface="Arial"/>
              <a:ea typeface="Arial"/>
              <a:cs typeface="Arial"/>
              <a:sym typeface="Arial"/>
            </a:endParaRPr>
          </a:p>
          <a:p>
            <a:pPr indent="-12700" lvl="0" marL="12700" marR="0" rtl="0" algn="l">
              <a:lnSpc>
                <a:spcPct val="90000"/>
              </a:lnSpc>
              <a:spcBef>
                <a:spcPts val="285"/>
              </a:spcBef>
              <a:spcAft>
                <a:spcPts val="0"/>
              </a:spcAft>
              <a:buClr>
                <a:schemeClr val="dk1"/>
              </a:buClr>
              <a:buSzPts val="2000"/>
              <a:buFont typeface="Arial"/>
              <a:buChar char="•"/>
            </a:pPr>
            <a:r>
              <a:rPr lang="en-US" sz="2000">
                <a:solidFill>
                  <a:schemeClr val="dk1"/>
                </a:solidFill>
                <a:latin typeface="Arial"/>
                <a:ea typeface="Arial"/>
                <a:cs typeface="Arial"/>
                <a:sym typeface="Arial"/>
              </a:rPr>
              <a:t>Extract something of interest from each</a:t>
            </a:r>
            <a:endParaRPr sz="2000">
              <a:solidFill>
                <a:schemeClr val="dk1"/>
              </a:solidFill>
              <a:latin typeface="Arial"/>
              <a:ea typeface="Arial"/>
              <a:cs typeface="Arial"/>
              <a:sym typeface="Arial"/>
            </a:endParaRPr>
          </a:p>
          <a:p>
            <a:pPr indent="-12700" lvl="0" marL="12700" marR="0" rtl="0" algn="l">
              <a:lnSpc>
                <a:spcPct val="90000"/>
              </a:lnSpc>
              <a:spcBef>
                <a:spcPts val="290"/>
              </a:spcBef>
              <a:spcAft>
                <a:spcPts val="0"/>
              </a:spcAft>
              <a:buClr>
                <a:schemeClr val="dk1"/>
              </a:buClr>
              <a:buSzPts val="2000"/>
              <a:buFont typeface="Arial"/>
              <a:buChar char="•"/>
            </a:pPr>
            <a:r>
              <a:rPr lang="en-US" sz="2000">
                <a:solidFill>
                  <a:schemeClr val="dk1"/>
                </a:solidFill>
                <a:latin typeface="Arial"/>
                <a:ea typeface="Arial"/>
                <a:cs typeface="Arial"/>
                <a:sym typeface="Arial"/>
              </a:rPr>
              <a:t>Shuffle and sort intermediate results</a:t>
            </a:r>
            <a:endParaRPr sz="2000">
              <a:solidFill>
                <a:schemeClr val="dk1"/>
              </a:solidFill>
              <a:latin typeface="Arial"/>
              <a:ea typeface="Arial"/>
              <a:cs typeface="Arial"/>
              <a:sym typeface="Arial"/>
            </a:endParaRPr>
          </a:p>
          <a:p>
            <a:pPr indent="-12700" lvl="0" marL="12700" marR="0" rtl="0" algn="l">
              <a:lnSpc>
                <a:spcPct val="90000"/>
              </a:lnSpc>
              <a:spcBef>
                <a:spcPts val="290"/>
              </a:spcBef>
              <a:spcAft>
                <a:spcPts val="0"/>
              </a:spcAft>
              <a:buClr>
                <a:schemeClr val="dk1"/>
              </a:buClr>
              <a:buSzPts val="2000"/>
              <a:buFont typeface="Arial"/>
              <a:buChar char="•"/>
            </a:pPr>
            <a:r>
              <a:rPr lang="en-US" sz="2000">
                <a:solidFill>
                  <a:schemeClr val="dk1"/>
                </a:solidFill>
                <a:latin typeface="Arial"/>
                <a:ea typeface="Arial"/>
                <a:cs typeface="Arial"/>
                <a:sym typeface="Arial"/>
              </a:rPr>
              <a:t>Aggregate intermediate results</a:t>
            </a:r>
            <a:endParaRPr sz="2000">
              <a:solidFill>
                <a:schemeClr val="dk1"/>
              </a:solidFill>
              <a:latin typeface="Arial"/>
              <a:ea typeface="Arial"/>
              <a:cs typeface="Arial"/>
              <a:sym typeface="Arial"/>
            </a:endParaRPr>
          </a:p>
          <a:p>
            <a:pPr indent="-12700" lvl="0" marL="12700" marR="0" rtl="0" algn="l">
              <a:lnSpc>
                <a:spcPct val="90000"/>
              </a:lnSpc>
              <a:spcBef>
                <a:spcPts val="290"/>
              </a:spcBef>
              <a:spcAft>
                <a:spcPts val="0"/>
              </a:spcAft>
              <a:buClr>
                <a:schemeClr val="dk1"/>
              </a:buClr>
              <a:buSzPts val="2000"/>
              <a:buFont typeface="Arial"/>
              <a:buChar char="•"/>
            </a:pPr>
            <a:r>
              <a:rPr lang="en-US" sz="2000">
                <a:solidFill>
                  <a:schemeClr val="dk1"/>
                </a:solidFill>
                <a:latin typeface="Arial"/>
                <a:ea typeface="Arial"/>
                <a:cs typeface="Arial"/>
                <a:sym typeface="Arial"/>
              </a:rPr>
              <a:t>Generate final output</a:t>
            </a:r>
            <a:endParaRPr sz="2000">
              <a:solidFill>
                <a:schemeClr val="dk1"/>
              </a:solidFill>
              <a:latin typeface="Arial"/>
              <a:ea typeface="Arial"/>
              <a:cs typeface="Arial"/>
              <a:sym typeface="Arial"/>
            </a:endParaRPr>
          </a:p>
          <a:p>
            <a:pPr indent="127000" lvl="0" marL="0" marR="0" rtl="0" algn="l">
              <a:lnSpc>
                <a:spcPct val="90000"/>
              </a:lnSpc>
              <a:spcBef>
                <a:spcPts val="695"/>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Key Idea:</a:t>
            </a:r>
            <a:endParaRPr sz="2000">
              <a:solidFill>
                <a:schemeClr val="dk1"/>
              </a:solidFill>
              <a:latin typeface="Arial"/>
              <a:ea typeface="Arial"/>
              <a:cs typeface="Arial"/>
              <a:sym typeface="Arial"/>
            </a:endParaRPr>
          </a:p>
          <a:p>
            <a:pPr indent="-228600" lvl="0" marL="314325" marR="0" rtl="0" algn="l">
              <a:lnSpc>
                <a:spcPct val="90000"/>
              </a:lnSpc>
              <a:spcBef>
                <a:spcPts val="285"/>
              </a:spcBef>
              <a:spcAft>
                <a:spcPts val="0"/>
              </a:spcAft>
              <a:buClr>
                <a:schemeClr val="dk1"/>
              </a:buClr>
              <a:buSzPts val="2000"/>
              <a:buFont typeface="Arial"/>
              <a:buChar char="•"/>
            </a:pPr>
            <a:r>
              <a:rPr lang="en-US" sz="2000">
                <a:solidFill>
                  <a:schemeClr val="dk1"/>
                </a:solidFill>
                <a:latin typeface="Arial"/>
                <a:ea typeface="Arial"/>
                <a:cs typeface="Arial"/>
                <a:sym typeface="Arial"/>
              </a:rPr>
              <a:t>Provide a Functional Abstraction for These Two Operations</a:t>
            </a:r>
            <a:endParaRPr sz="2000">
              <a:solidFill>
                <a:schemeClr val="dk1"/>
              </a:solidFill>
              <a:latin typeface="Arial"/>
              <a:ea typeface="Arial"/>
              <a:cs typeface="Arial"/>
              <a:sym typeface="Arial"/>
            </a:endParaRPr>
          </a:p>
        </p:txBody>
      </p:sp>
      <p:pic>
        <p:nvPicPr>
          <p:cNvPr id="420" name="Google Shape;420;p25"/>
          <p:cNvPicPr preferRelativeResize="0"/>
          <p:nvPr/>
        </p:nvPicPr>
        <p:blipFill rotWithShape="1">
          <a:blip r:embed="rId3">
            <a:alphaModFix/>
          </a:blip>
          <a:srcRect b="0" l="0" r="0" t="0"/>
          <a:stretch/>
        </p:blipFill>
        <p:spPr>
          <a:xfrm>
            <a:off x="6946667" y="3635881"/>
            <a:ext cx="4389120" cy="1827188"/>
          </a:xfrm>
          <a:prstGeom prst="rect">
            <a:avLst/>
          </a:prstGeom>
          <a:noFill/>
          <a:ln>
            <a:noFill/>
          </a:ln>
        </p:spPr>
      </p:pic>
      <p:grpSp>
        <p:nvGrpSpPr>
          <p:cNvPr id="421" name="Google Shape;421;p25"/>
          <p:cNvGrpSpPr/>
          <p:nvPr/>
        </p:nvGrpSpPr>
        <p:grpSpPr>
          <a:xfrm>
            <a:off x="6954360" y="1123131"/>
            <a:ext cx="2104569" cy="1309344"/>
            <a:chOff x="7031481" y="2934589"/>
            <a:chExt cx="833881" cy="518794"/>
          </a:xfrm>
        </p:grpSpPr>
        <p:pic>
          <p:nvPicPr>
            <p:cNvPr id="422" name="Google Shape;422;p25"/>
            <p:cNvPicPr preferRelativeResize="0"/>
            <p:nvPr/>
          </p:nvPicPr>
          <p:blipFill rotWithShape="1">
            <a:blip r:embed="rId4">
              <a:alphaModFix/>
            </a:blip>
            <a:srcRect b="0" l="0" r="0" t="0"/>
            <a:stretch/>
          </p:blipFill>
          <p:spPr>
            <a:xfrm>
              <a:off x="7034783" y="2948940"/>
              <a:ext cx="830579" cy="504443"/>
            </a:xfrm>
            <a:prstGeom prst="rect">
              <a:avLst/>
            </a:prstGeom>
            <a:noFill/>
            <a:ln>
              <a:noFill/>
            </a:ln>
          </p:spPr>
        </p:pic>
        <p:sp>
          <p:nvSpPr>
            <p:cNvPr id="423" name="Google Shape;423;p25"/>
            <p:cNvSpPr/>
            <p:nvPr/>
          </p:nvSpPr>
          <p:spPr>
            <a:xfrm>
              <a:off x="7031481" y="2934589"/>
              <a:ext cx="821690" cy="494665"/>
            </a:xfrm>
            <a:custGeom>
              <a:rect b="b" l="l" r="r" t="t"/>
              <a:pathLst>
                <a:path extrusionOk="0" h="494664" w="821690">
                  <a:moveTo>
                    <a:pt x="669035" y="234949"/>
                  </a:moveTo>
                  <a:lnTo>
                    <a:pt x="648065" y="287686"/>
                  </a:lnTo>
                  <a:lnTo>
                    <a:pt x="622127" y="348807"/>
                  </a:lnTo>
                  <a:lnTo>
                    <a:pt x="592423" y="415480"/>
                  </a:lnTo>
                  <a:lnTo>
                    <a:pt x="565657" y="472058"/>
                  </a:lnTo>
                  <a:lnTo>
                    <a:pt x="616838" y="494410"/>
                  </a:lnTo>
                  <a:lnTo>
                    <a:pt x="627602" y="467284"/>
                  </a:lnTo>
                  <a:lnTo>
                    <a:pt x="637412" y="443039"/>
                  </a:lnTo>
                  <a:lnTo>
                    <a:pt x="646271" y="421651"/>
                  </a:lnTo>
                  <a:lnTo>
                    <a:pt x="654176" y="403097"/>
                  </a:lnTo>
                  <a:lnTo>
                    <a:pt x="793737" y="403097"/>
                  </a:lnTo>
                  <a:lnTo>
                    <a:pt x="804104" y="391848"/>
                  </a:lnTo>
                  <a:lnTo>
                    <a:pt x="807220" y="386254"/>
                  </a:lnTo>
                  <a:lnTo>
                    <a:pt x="733282" y="386254"/>
                  </a:lnTo>
                  <a:lnTo>
                    <a:pt x="709054" y="385077"/>
                  </a:lnTo>
                  <a:lnTo>
                    <a:pt x="678814" y="375030"/>
                  </a:lnTo>
                  <a:lnTo>
                    <a:pt x="674877" y="373252"/>
                  </a:lnTo>
                  <a:lnTo>
                    <a:pt x="671321" y="371601"/>
                  </a:lnTo>
                  <a:lnTo>
                    <a:pt x="668400" y="370077"/>
                  </a:lnTo>
                  <a:lnTo>
                    <a:pt x="677463" y="348995"/>
                  </a:lnTo>
                  <a:lnTo>
                    <a:pt x="685926" y="328596"/>
                  </a:lnTo>
                  <a:lnTo>
                    <a:pt x="693546" y="309409"/>
                  </a:lnTo>
                  <a:lnTo>
                    <a:pt x="700404" y="291210"/>
                  </a:lnTo>
                  <a:lnTo>
                    <a:pt x="790523" y="291210"/>
                  </a:lnTo>
                  <a:lnTo>
                    <a:pt x="744854" y="266763"/>
                  </a:lnTo>
                  <a:lnTo>
                    <a:pt x="710596" y="252872"/>
                  </a:lnTo>
                  <a:lnTo>
                    <a:pt x="704853" y="250477"/>
                  </a:lnTo>
                  <a:lnTo>
                    <a:pt x="669035" y="234949"/>
                  </a:lnTo>
                  <a:close/>
                </a:path>
                <a:path extrusionOk="0" h="494664" w="821690">
                  <a:moveTo>
                    <a:pt x="793737" y="403097"/>
                  </a:moveTo>
                  <a:lnTo>
                    <a:pt x="654176" y="403097"/>
                  </a:lnTo>
                  <a:lnTo>
                    <a:pt x="656589" y="404367"/>
                  </a:lnTo>
                  <a:lnTo>
                    <a:pt x="711866" y="422497"/>
                  </a:lnTo>
                  <a:lnTo>
                    <a:pt x="733607" y="424279"/>
                  </a:lnTo>
                  <a:lnTo>
                    <a:pt x="754633" y="422655"/>
                  </a:lnTo>
                  <a:lnTo>
                    <a:pt x="773918" y="416958"/>
                  </a:lnTo>
                  <a:lnTo>
                    <a:pt x="790416" y="406701"/>
                  </a:lnTo>
                  <a:lnTo>
                    <a:pt x="793737" y="403097"/>
                  </a:lnTo>
                  <a:close/>
                </a:path>
                <a:path extrusionOk="0" h="494664" w="821690">
                  <a:moveTo>
                    <a:pt x="790486" y="291210"/>
                  </a:moveTo>
                  <a:lnTo>
                    <a:pt x="700404" y="291210"/>
                  </a:lnTo>
                  <a:lnTo>
                    <a:pt x="708028" y="293139"/>
                  </a:lnTo>
                  <a:lnTo>
                    <a:pt x="715295" y="295306"/>
                  </a:lnTo>
                  <a:lnTo>
                    <a:pt x="750452" y="312693"/>
                  </a:lnTo>
                  <a:lnTo>
                    <a:pt x="767840" y="343467"/>
                  </a:lnTo>
                  <a:lnTo>
                    <a:pt x="763650" y="361949"/>
                  </a:lnTo>
                  <a:lnTo>
                    <a:pt x="751484" y="378549"/>
                  </a:lnTo>
                  <a:lnTo>
                    <a:pt x="733282" y="386254"/>
                  </a:lnTo>
                  <a:lnTo>
                    <a:pt x="807220" y="386254"/>
                  </a:lnTo>
                  <a:lnTo>
                    <a:pt x="814958" y="372363"/>
                  </a:lnTo>
                  <a:lnTo>
                    <a:pt x="819981" y="356814"/>
                  </a:lnTo>
                  <a:lnTo>
                    <a:pt x="821018" y="343467"/>
                  </a:lnTo>
                  <a:lnTo>
                    <a:pt x="821134" y="341979"/>
                  </a:lnTo>
                  <a:lnTo>
                    <a:pt x="818405" y="327858"/>
                  </a:lnTo>
                  <a:lnTo>
                    <a:pt x="811783" y="314451"/>
                  </a:lnTo>
                  <a:lnTo>
                    <a:pt x="802191" y="302093"/>
                  </a:lnTo>
                  <a:lnTo>
                    <a:pt x="790486" y="291210"/>
                  </a:lnTo>
                  <a:close/>
                </a:path>
                <a:path extrusionOk="0" h="494664" w="821690">
                  <a:moveTo>
                    <a:pt x="550841" y="322452"/>
                  </a:moveTo>
                  <a:lnTo>
                    <a:pt x="408431" y="322452"/>
                  </a:lnTo>
                  <a:lnTo>
                    <a:pt x="492796" y="359282"/>
                  </a:lnTo>
                  <a:lnTo>
                    <a:pt x="492489" y="359282"/>
                  </a:lnTo>
                  <a:lnTo>
                    <a:pt x="488765" y="387586"/>
                  </a:lnTo>
                  <a:lnTo>
                    <a:pt x="485346" y="409622"/>
                  </a:lnTo>
                  <a:lnTo>
                    <a:pt x="482236" y="425253"/>
                  </a:lnTo>
                  <a:lnTo>
                    <a:pt x="479424" y="434466"/>
                  </a:lnTo>
                  <a:lnTo>
                    <a:pt x="537717" y="459866"/>
                  </a:lnTo>
                  <a:lnTo>
                    <a:pt x="540170" y="447718"/>
                  </a:lnTo>
                  <a:lnTo>
                    <a:pt x="543147" y="421163"/>
                  </a:lnTo>
                  <a:lnTo>
                    <a:pt x="546647" y="380178"/>
                  </a:lnTo>
                  <a:lnTo>
                    <a:pt x="550841" y="322452"/>
                  </a:lnTo>
                  <a:close/>
                </a:path>
                <a:path extrusionOk="0" h="494664" w="821690">
                  <a:moveTo>
                    <a:pt x="495172" y="159130"/>
                  </a:moveTo>
                  <a:lnTo>
                    <a:pt x="487382" y="169656"/>
                  </a:lnTo>
                  <a:lnTo>
                    <a:pt x="468947" y="190182"/>
                  </a:lnTo>
                  <a:lnTo>
                    <a:pt x="439844" y="220710"/>
                  </a:lnTo>
                  <a:lnTo>
                    <a:pt x="360372" y="301454"/>
                  </a:lnTo>
                  <a:lnTo>
                    <a:pt x="331612" y="331215"/>
                  </a:lnTo>
                  <a:lnTo>
                    <a:pt x="313735" y="350500"/>
                  </a:lnTo>
                  <a:lnTo>
                    <a:pt x="306704" y="359282"/>
                  </a:lnTo>
                  <a:lnTo>
                    <a:pt x="361568" y="383158"/>
                  </a:lnTo>
                  <a:lnTo>
                    <a:pt x="366623" y="374513"/>
                  </a:lnTo>
                  <a:lnTo>
                    <a:pt x="376094" y="361521"/>
                  </a:lnTo>
                  <a:lnTo>
                    <a:pt x="390018" y="344171"/>
                  </a:lnTo>
                  <a:lnTo>
                    <a:pt x="408431" y="322452"/>
                  </a:lnTo>
                  <a:lnTo>
                    <a:pt x="550841" y="322452"/>
                  </a:lnTo>
                  <a:lnTo>
                    <a:pt x="551002" y="320293"/>
                  </a:lnTo>
                  <a:lnTo>
                    <a:pt x="498347" y="320293"/>
                  </a:lnTo>
                  <a:lnTo>
                    <a:pt x="432053" y="291464"/>
                  </a:lnTo>
                  <a:lnTo>
                    <a:pt x="464397" y="255770"/>
                  </a:lnTo>
                  <a:lnTo>
                    <a:pt x="487918" y="229266"/>
                  </a:lnTo>
                  <a:lnTo>
                    <a:pt x="502652" y="211955"/>
                  </a:lnTo>
                  <a:lnTo>
                    <a:pt x="508634" y="203834"/>
                  </a:lnTo>
                  <a:lnTo>
                    <a:pt x="561191" y="203834"/>
                  </a:lnTo>
                  <a:lnTo>
                    <a:pt x="561459" y="201509"/>
                  </a:lnTo>
                  <a:lnTo>
                    <a:pt x="564006" y="189102"/>
                  </a:lnTo>
                  <a:lnTo>
                    <a:pt x="495172" y="159130"/>
                  </a:lnTo>
                  <a:close/>
                </a:path>
                <a:path extrusionOk="0" h="494664" w="821690">
                  <a:moveTo>
                    <a:pt x="359883" y="124586"/>
                  </a:moveTo>
                  <a:lnTo>
                    <a:pt x="303910" y="124586"/>
                  </a:lnTo>
                  <a:lnTo>
                    <a:pt x="306577" y="125856"/>
                  </a:lnTo>
                  <a:lnTo>
                    <a:pt x="301462" y="138551"/>
                  </a:lnTo>
                  <a:lnTo>
                    <a:pt x="293750" y="158353"/>
                  </a:lnTo>
                  <a:lnTo>
                    <a:pt x="283467" y="185275"/>
                  </a:lnTo>
                  <a:lnTo>
                    <a:pt x="267259" y="228250"/>
                  </a:lnTo>
                  <a:lnTo>
                    <a:pt x="257466" y="254115"/>
                  </a:lnTo>
                  <a:lnTo>
                    <a:pt x="246141" y="283400"/>
                  </a:lnTo>
                  <a:lnTo>
                    <a:pt x="236650" y="307161"/>
                  </a:lnTo>
                  <a:lnTo>
                    <a:pt x="228980" y="325373"/>
                  </a:lnTo>
                  <a:lnTo>
                    <a:pt x="281939" y="348487"/>
                  </a:lnTo>
                  <a:lnTo>
                    <a:pt x="285204" y="339629"/>
                  </a:lnTo>
                  <a:lnTo>
                    <a:pt x="292338" y="318960"/>
                  </a:lnTo>
                  <a:lnTo>
                    <a:pt x="303353" y="286480"/>
                  </a:lnTo>
                  <a:lnTo>
                    <a:pt x="318261" y="242188"/>
                  </a:lnTo>
                  <a:lnTo>
                    <a:pt x="334027" y="195826"/>
                  </a:lnTo>
                  <a:lnTo>
                    <a:pt x="347614" y="157321"/>
                  </a:lnTo>
                  <a:lnTo>
                    <a:pt x="359034" y="126674"/>
                  </a:lnTo>
                  <a:lnTo>
                    <a:pt x="359883" y="124586"/>
                  </a:lnTo>
                  <a:close/>
                </a:path>
                <a:path extrusionOk="0" h="494664" w="821690">
                  <a:moveTo>
                    <a:pt x="561191" y="203834"/>
                  </a:moveTo>
                  <a:lnTo>
                    <a:pt x="508634" y="203834"/>
                  </a:lnTo>
                  <a:lnTo>
                    <a:pt x="511555" y="205104"/>
                  </a:lnTo>
                  <a:lnTo>
                    <a:pt x="509456" y="215155"/>
                  </a:lnTo>
                  <a:lnTo>
                    <a:pt x="506571" y="237696"/>
                  </a:lnTo>
                  <a:lnTo>
                    <a:pt x="502876" y="272738"/>
                  </a:lnTo>
                  <a:lnTo>
                    <a:pt x="498474" y="318960"/>
                  </a:lnTo>
                  <a:lnTo>
                    <a:pt x="498347" y="320293"/>
                  </a:lnTo>
                  <a:lnTo>
                    <a:pt x="551002" y="320293"/>
                  </a:lnTo>
                  <a:lnTo>
                    <a:pt x="554791" y="269327"/>
                  </a:lnTo>
                  <a:lnTo>
                    <a:pt x="558082" y="231729"/>
                  </a:lnTo>
                  <a:lnTo>
                    <a:pt x="558201" y="230377"/>
                  </a:lnTo>
                  <a:lnTo>
                    <a:pt x="558298" y="229266"/>
                  </a:lnTo>
                  <a:lnTo>
                    <a:pt x="558387" y="228250"/>
                  </a:lnTo>
                  <a:lnTo>
                    <a:pt x="561191" y="203834"/>
                  </a:lnTo>
                  <a:close/>
                </a:path>
                <a:path extrusionOk="0" h="494664" w="821690">
                  <a:moveTo>
                    <a:pt x="193936" y="54228"/>
                  </a:moveTo>
                  <a:lnTo>
                    <a:pt x="142239" y="54228"/>
                  </a:lnTo>
                  <a:lnTo>
                    <a:pt x="145033" y="55371"/>
                  </a:lnTo>
                  <a:lnTo>
                    <a:pt x="142130" y="67732"/>
                  </a:lnTo>
                  <a:lnTo>
                    <a:pt x="135254" y="105790"/>
                  </a:lnTo>
                  <a:lnTo>
                    <a:pt x="129412" y="165260"/>
                  </a:lnTo>
                  <a:lnTo>
                    <a:pt x="125753" y="215155"/>
                  </a:lnTo>
                  <a:lnTo>
                    <a:pt x="124773" y="228250"/>
                  </a:lnTo>
                  <a:lnTo>
                    <a:pt x="122427" y="251444"/>
                  </a:lnTo>
                  <a:lnTo>
                    <a:pt x="119999" y="267598"/>
                  </a:lnTo>
                  <a:lnTo>
                    <a:pt x="117474" y="276859"/>
                  </a:lnTo>
                  <a:lnTo>
                    <a:pt x="157733" y="294385"/>
                  </a:lnTo>
                  <a:lnTo>
                    <a:pt x="162794" y="286480"/>
                  </a:lnTo>
                  <a:lnTo>
                    <a:pt x="173085" y="273923"/>
                  </a:lnTo>
                  <a:lnTo>
                    <a:pt x="188577" y="256792"/>
                  </a:lnTo>
                  <a:lnTo>
                    <a:pt x="213787" y="230377"/>
                  </a:lnTo>
                  <a:lnTo>
                    <a:pt x="169544" y="230377"/>
                  </a:lnTo>
                  <a:lnTo>
                    <a:pt x="166952" y="229266"/>
                  </a:lnTo>
                  <a:lnTo>
                    <a:pt x="167134" y="228407"/>
                  </a:lnTo>
                  <a:lnTo>
                    <a:pt x="171065" y="215707"/>
                  </a:lnTo>
                  <a:lnTo>
                    <a:pt x="175228" y="194738"/>
                  </a:lnTo>
                  <a:lnTo>
                    <a:pt x="179343" y="166316"/>
                  </a:lnTo>
                  <a:lnTo>
                    <a:pt x="187438" y="94474"/>
                  </a:lnTo>
                  <a:lnTo>
                    <a:pt x="191595" y="65865"/>
                  </a:lnTo>
                  <a:lnTo>
                    <a:pt x="193936" y="54228"/>
                  </a:lnTo>
                  <a:close/>
                </a:path>
                <a:path extrusionOk="0" h="494664" w="821690">
                  <a:moveTo>
                    <a:pt x="129666" y="0"/>
                  </a:moveTo>
                  <a:lnTo>
                    <a:pt x="107362" y="42290"/>
                  </a:lnTo>
                  <a:lnTo>
                    <a:pt x="87179" y="77438"/>
                  </a:lnTo>
                  <a:lnTo>
                    <a:pt x="60959" y="121919"/>
                  </a:lnTo>
                  <a:lnTo>
                    <a:pt x="35165" y="165260"/>
                  </a:lnTo>
                  <a:lnTo>
                    <a:pt x="16430" y="196992"/>
                  </a:lnTo>
                  <a:lnTo>
                    <a:pt x="4720" y="217128"/>
                  </a:lnTo>
                  <a:lnTo>
                    <a:pt x="0" y="225678"/>
                  </a:lnTo>
                  <a:lnTo>
                    <a:pt x="48132" y="246633"/>
                  </a:lnTo>
                  <a:lnTo>
                    <a:pt x="54941" y="231729"/>
                  </a:lnTo>
                  <a:lnTo>
                    <a:pt x="65071" y="210645"/>
                  </a:lnTo>
                  <a:lnTo>
                    <a:pt x="78511" y="183393"/>
                  </a:lnTo>
                  <a:lnTo>
                    <a:pt x="100898" y="138747"/>
                  </a:lnTo>
                  <a:lnTo>
                    <a:pt x="112039" y="116576"/>
                  </a:lnTo>
                  <a:lnTo>
                    <a:pt x="125460" y="89487"/>
                  </a:lnTo>
                  <a:lnTo>
                    <a:pt x="135522" y="68708"/>
                  </a:lnTo>
                  <a:lnTo>
                    <a:pt x="142239" y="54228"/>
                  </a:lnTo>
                  <a:lnTo>
                    <a:pt x="193936" y="54228"/>
                  </a:lnTo>
                  <a:lnTo>
                    <a:pt x="195871" y="44614"/>
                  </a:lnTo>
                  <a:lnTo>
                    <a:pt x="200278" y="30733"/>
                  </a:lnTo>
                  <a:lnTo>
                    <a:pt x="129666" y="0"/>
                  </a:lnTo>
                  <a:close/>
                </a:path>
                <a:path extrusionOk="0" h="494664" w="821690">
                  <a:moveTo>
                    <a:pt x="298449" y="73532"/>
                  </a:moveTo>
                  <a:lnTo>
                    <a:pt x="291066" y="86014"/>
                  </a:lnTo>
                  <a:lnTo>
                    <a:pt x="277860" y="103282"/>
                  </a:lnTo>
                  <a:lnTo>
                    <a:pt x="258820" y="125360"/>
                  </a:lnTo>
                  <a:lnTo>
                    <a:pt x="208978" y="179085"/>
                  </a:lnTo>
                  <a:lnTo>
                    <a:pt x="189928" y="201040"/>
                  </a:lnTo>
                  <a:lnTo>
                    <a:pt x="176783" y="218138"/>
                  </a:lnTo>
                  <a:lnTo>
                    <a:pt x="169544" y="230377"/>
                  </a:lnTo>
                  <a:lnTo>
                    <a:pt x="213787" y="230377"/>
                  </a:lnTo>
                  <a:lnTo>
                    <a:pt x="249427" y="192468"/>
                  </a:lnTo>
                  <a:lnTo>
                    <a:pt x="276605" y="160908"/>
                  </a:lnTo>
                  <a:lnTo>
                    <a:pt x="303910" y="124586"/>
                  </a:lnTo>
                  <a:lnTo>
                    <a:pt x="359883" y="124586"/>
                  </a:lnTo>
                  <a:lnTo>
                    <a:pt x="368299" y="103885"/>
                  </a:lnTo>
                  <a:lnTo>
                    <a:pt x="298449" y="73532"/>
                  </a:lnTo>
                  <a:close/>
                </a:path>
              </a:pathLst>
            </a:custGeom>
            <a:solidFill>
              <a:srgbClr val="FF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424" name="Google Shape;424;p25"/>
            <p:cNvPicPr preferRelativeResize="0"/>
            <p:nvPr/>
          </p:nvPicPr>
          <p:blipFill rotWithShape="1">
            <a:blip r:embed="rId5">
              <a:alphaModFix/>
            </a:blip>
            <a:srcRect b="0" l="0" r="0" t="0"/>
            <a:stretch/>
          </p:blipFill>
          <p:spPr>
            <a:xfrm>
              <a:off x="7696834" y="3222752"/>
              <a:ext cx="105535" cy="101139"/>
            </a:xfrm>
            <a:prstGeom prst="rect">
              <a:avLst/>
            </a:prstGeom>
            <a:noFill/>
            <a:ln>
              <a:noFill/>
            </a:ln>
          </p:spPr>
        </p:pic>
        <p:pic>
          <p:nvPicPr>
            <p:cNvPr id="425" name="Google Shape;425;p25"/>
            <p:cNvPicPr preferRelativeResize="0"/>
            <p:nvPr/>
          </p:nvPicPr>
          <p:blipFill rotWithShape="1">
            <a:blip r:embed="rId6">
              <a:alphaModFix/>
            </a:blip>
            <a:srcRect b="0" l="0" r="0" t="0"/>
            <a:stretch/>
          </p:blipFill>
          <p:spPr>
            <a:xfrm>
              <a:off x="7460487" y="3135376"/>
              <a:ext cx="85598" cy="122555"/>
            </a:xfrm>
            <a:prstGeom prst="rect">
              <a:avLst/>
            </a:prstGeom>
            <a:noFill/>
            <a:ln>
              <a:noFill/>
            </a:ln>
          </p:spPr>
        </p:pic>
        <p:sp>
          <p:nvSpPr>
            <p:cNvPr id="426" name="Google Shape;426;p25"/>
            <p:cNvSpPr/>
            <p:nvPr/>
          </p:nvSpPr>
          <p:spPr>
            <a:xfrm>
              <a:off x="7031481" y="2934589"/>
              <a:ext cx="821690" cy="494665"/>
            </a:xfrm>
            <a:custGeom>
              <a:rect b="b" l="l" r="r" t="t"/>
              <a:pathLst>
                <a:path extrusionOk="0" h="494664" w="821690">
                  <a:moveTo>
                    <a:pt x="495172" y="159130"/>
                  </a:moveTo>
                  <a:lnTo>
                    <a:pt x="564006" y="189102"/>
                  </a:lnTo>
                  <a:lnTo>
                    <a:pt x="561459" y="201509"/>
                  </a:lnTo>
                  <a:lnTo>
                    <a:pt x="558387" y="228250"/>
                  </a:lnTo>
                  <a:lnTo>
                    <a:pt x="554791" y="269327"/>
                  </a:lnTo>
                  <a:lnTo>
                    <a:pt x="550671" y="324738"/>
                  </a:lnTo>
                  <a:lnTo>
                    <a:pt x="546647" y="380178"/>
                  </a:lnTo>
                  <a:lnTo>
                    <a:pt x="543147" y="421163"/>
                  </a:lnTo>
                  <a:lnTo>
                    <a:pt x="540170" y="447718"/>
                  </a:lnTo>
                  <a:lnTo>
                    <a:pt x="537717" y="459866"/>
                  </a:lnTo>
                  <a:lnTo>
                    <a:pt x="479424" y="434466"/>
                  </a:lnTo>
                  <a:lnTo>
                    <a:pt x="482236" y="425253"/>
                  </a:lnTo>
                  <a:lnTo>
                    <a:pt x="485346" y="409622"/>
                  </a:lnTo>
                  <a:lnTo>
                    <a:pt x="488765" y="387586"/>
                  </a:lnTo>
                  <a:lnTo>
                    <a:pt x="492505" y="359155"/>
                  </a:lnTo>
                  <a:lnTo>
                    <a:pt x="408431" y="322452"/>
                  </a:lnTo>
                  <a:lnTo>
                    <a:pt x="390018" y="344171"/>
                  </a:lnTo>
                  <a:lnTo>
                    <a:pt x="376094" y="361521"/>
                  </a:lnTo>
                  <a:lnTo>
                    <a:pt x="366623" y="374513"/>
                  </a:lnTo>
                  <a:lnTo>
                    <a:pt x="361568" y="383158"/>
                  </a:lnTo>
                  <a:lnTo>
                    <a:pt x="306704" y="359282"/>
                  </a:lnTo>
                  <a:lnTo>
                    <a:pt x="313735" y="350500"/>
                  </a:lnTo>
                  <a:lnTo>
                    <a:pt x="331612" y="331215"/>
                  </a:lnTo>
                  <a:lnTo>
                    <a:pt x="360372" y="301454"/>
                  </a:lnTo>
                  <a:lnTo>
                    <a:pt x="400049" y="261238"/>
                  </a:lnTo>
                  <a:lnTo>
                    <a:pt x="439844" y="220710"/>
                  </a:lnTo>
                  <a:lnTo>
                    <a:pt x="468947" y="190182"/>
                  </a:lnTo>
                  <a:lnTo>
                    <a:pt x="487382" y="169656"/>
                  </a:lnTo>
                  <a:lnTo>
                    <a:pt x="495172" y="159130"/>
                  </a:lnTo>
                  <a:close/>
                </a:path>
                <a:path extrusionOk="0" h="494664" w="821690">
                  <a:moveTo>
                    <a:pt x="129666" y="0"/>
                  </a:moveTo>
                  <a:lnTo>
                    <a:pt x="200278" y="30733"/>
                  </a:lnTo>
                  <a:lnTo>
                    <a:pt x="195871" y="44614"/>
                  </a:lnTo>
                  <a:lnTo>
                    <a:pt x="191595" y="65865"/>
                  </a:lnTo>
                  <a:lnTo>
                    <a:pt x="187438" y="94474"/>
                  </a:lnTo>
                  <a:lnTo>
                    <a:pt x="183387" y="130428"/>
                  </a:lnTo>
                  <a:lnTo>
                    <a:pt x="179343" y="166316"/>
                  </a:lnTo>
                  <a:lnTo>
                    <a:pt x="175228" y="194738"/>
                  </a:lnTo>
                  <a:lnTo>
                    <a:pt x="171065" y="215707"/>
                  </a:lnTo>
                  <a:lnTo>
                    <a:pt x="166877" y="229234"/>
                  </a:lnTo>
                  <a:lnTo>
                    <a:pt x="169544" y="230377"/>
                  </a:lnTo>
                  <a:lnTo>
                    <a:pt x="176783" y="218138"/>
                  </a:lnTo>
                  <a:lnTo>
                    <a:pt x="189928" y="201040"/>
                  </a:lnTo>
                  <a:lnTo>
                    <a:pt x="208978" y="179085"/>
                  </a:lnTo>
                  <a:lnTo>
                    <a:pt x="233933" y="152272"/>
                  </a:lnTo>
                  <a:lnTo>
                    <a:pt x="258820" y="125360"/>
                  </a:lnTo>
                  <a:lnTo>
                    <a:pt x="277860" y="103282"/>
                  </a:lnTo>
                  <a:lnTo>
                    <a:pt x="291066" y="86014"/>
                  </a:lnTo>
                  <a:lnTo>
                    <a:pt x="298449" y="73532"/>
                  </a:lnTo>
                  <a:lnTo>
                    <a:pt x="368299" y="103885"/>
                  </a:lnTo>
                  <a:lnTo>
                    <a:pt x="347614" y="157321"/>
                  </a:lnTo>
                  <a:lnTo>
                    <a:pt x="334027" y="195826"/>
                  </a:lnTo>
                  <a:lnTo>
                    <a:pt x="318261" y="242188"/>
                  </a:lnTo>
                  <a:lnTo>
                    <a:pt x="303353" y="286480"/>
                  </a:lnTo>
                  <a:lnTo>
                    <a:pt x="292338" y="318960"/>
                  </a:lnTo>
                  <a:lnTo>
                    <a:pt x="285204" y="339629"/>
                  </a:lnTo>
                  <a:lnTo>
                    <a:pt x="281939" y="348487"/>
                  </a:lnTo>
                  <a:lnTo>
                    <a:pt x="228980" y="325373"/>
                  </a:lnTo>
                  <a:lnTo>
                    <a:pt x="236650" y="307161"/>
                  </a:lnTo>
                  <a:lnTo>
                    <a:pt x="246141" y="283400"/>
                  </a:lnTo>
                  <a:lnTo>
                    <a:pt x="257466" y="254115"/>
                  </a:lnTo>
                  <a:lnTo>
                    <a:pt x="270636" y="219328"/>
                  </a:lnTo>
                  <a:lnTo>
                    <a:pt x="283467" y="185275"/>
                  </a:lnTo>
                  <a:lnTo>
                    <a:pt x="293750" y="158353"/>
                  </a:lnTo>
                  <a:lnTo>
                    <a:pt x="301462" y="138551"/>
                  </a:lnTo>
                  <a:lnTo>
                    <a:pt x="306577" y="125856"/>
                  </a:lnTo>
                  <a:lnTo>
                    <a:pt x="303910" y="124586"/>
                  </a:lnTo>
                  <a:lnTo>
                    <a:pt x="276605" y="160908"/>
                  </a:lnTo>
                  <a:lnTo>
                    <a:pt x="249427" y="192468"/>
                  </a:lnTo>
                  <a:lnTo>
                    <a:pt x="209295" y="235076"/>
                  </a:lnTo>
                  <a:lnTo>
                    <a:pt x="188577" y="256792"/>
                  </a:lnTo>
                  <a:lnTo>
                    <a:pt x="173085" y="273923"/>
                  </a:lnTo>
                  <a:lnTo>
                    <a:pt x="162808" y="286458"/>
                  </a:lnTo>
                  <a:lnTo>
                    <a:pt x="157733" y="294385"/>
                  </a:lnTo>
                  <a:lnTo>
                    <a:pt x="117474" y="276859"/>
                  </a:lnTo>
                  <a:lnTo>
                    <a:pt x="124761" y="228407"/>
                  </a:lnTo>
                  <a:lnTo>
                    <a:pt x="129218" y="167638"/>
                  </a:lnTo>
                  <a:lnTo>
                    <a:pt x="131317" y="141906"/>
                  </a:lnTo>
                  <a:lnTo>
                    <a:pt x="137229" y="92930"/>
                  </a:lnTo>
                  <a:lnTo>
                    <a:pt x="145033" y="55371"/>
                  </a:lnTo>
                  <a:lnTo>
                    <a:pt x="142239" y="54228"/>
                  </a:lnTo>
                  <a:lnTo>
                    <a:pt x="135522" y="68708"/>
                  </a:lnTo>
                  <a:lnTo>
                    <a:pt x="125460" y="89487"/>
                  </a:lnTo>
                  <a:lnTo>
                    <a:pt x="112039" y="116576"/>
                  </a:lnTo>
                  <a:lnTo>
                    <a:pt x="95249" y="149986"/>
                  </a:lnTo>
                  <a:lnTo>
                    <a:pt x="78511" y="183393"/>
                  </a:lnTo>
                  <a:lnTo>
                    <a:pt x="65071" y="210645"/>
                  </a:lnTo>
                  <a:lnTo>
                    <a:pt x="54941" y="231729"/>
                  </a:lnTo>
                  <a:lnTo>
                    <a:pt x="48132" y="246633"/>
                  </a:lnTo>
                  <a:lnTo>
                    <a:pt x="0" y="225678"/>
                  </a:lnTo>
                  <a:lnTo>
                    <a:pt x="4720" y="217128"/>
                  </a:lnTo>
                  <a:lnTo>
                    <a:pt x="16430" y="196992"/>
                  </a:lnTo>
                  <a:lnTo>
                    <a:pt x="35165" y="165260"/>
                  </a:lnTo>
                  <a:lnTo>
                    <a:pt x="60959" y="121919"/>
                  </a:lnTo>
                  <a:lnTo>
                    <a:pt x="87179" y="77438"/>
                  </a:lnTo>
                  <a:lnTo>
                    <a:pt x="107362" y="42290"/>
                  </a:lnTo>
                  <a:lnTo>
                    <a:pt x="121521" y="16478"/>
                  </a:lnTo>
                  <a:lnTo>
                    <a:pt x="129666" y="0"/>
                  </a:lnTo>
                  <a:close/>
                </a:path>
                <a:path extrusionOk="0" h="494664" w="821690">
                  <a:moveTo>
                    <a:pt x="760221" y="273303"/>
                  </a:moveTo>
                  <a:lnTo>
                    <a:pt x="802191" y="302093"/>
                  </a:lnTo>
                  <a:lnTo>
                    <a:pt x="821134" y="341979"/>
                  </a:lnTo>
                  <a:lnTo>
                    <a:pt x="819981" y="356814"/>
                  </a:lnTo>
                  <a:lnTo>
                    <a:pt x="804104" y="391848"/>
                  </a:lnTo>
                  <a:lnTo>
                    <a:pt x="773918" y="416958"/>
                  </a:lnTo>
                  <a:lnTo>
                    <a:pt x="733607" y="424279"/>
                  </a:lnTo>
                  <a:lnTo>
                    <a:pt x="711866" y="422497"/>
                  </a:lnTo>
                  <a:lnTo>
                    <a:pt x="666241" y="408812"/>
                  </a:lnTo>
                  <a:lnTo>
                    <a:pt x="654176" y="403097"/>
                  </a:lnTo>
                  <a:lnTo>
                    <a:pt x="646271" y="421651"/>
                  </a:lnTo>
                  <a:lnTo>
                    <a:pt x="637412" y="443039"/>
                  </a:lnTo>
                  <a:lnTo>
                    <a:pt x="627602" y="467284"/>
                  </a:lnTo>
                  <a:lnTo>
                    <a:pt x="616838" y="494410"/>
                  </a:lnTo>
                  <a:lnTo>
                    <a:pt x="565657" y="472058"/>
                  </a:lnTo>
                  <a:lnTo>
                    <a:pt x="592423" y="415480"/>
                  </a:lnTo>
                  <a:lnTo>
                    <a:pt x="622045" y="348995"/>
                  </a:lnTo>
                  <a:lnTo>
                    <a:pt x="648065" y="287686"/>
                  </a:lnTo>
                  <a:lnTo>
                    <a:pt x="669035" y="234949"/>
                  </a:lnTo>
                  <a:lnTo>
                    <a:pt x="700658" y="248665"/>
                  </a:lnTo>
                  <a:lnTo>
                    <a:pt x="736183" y="263195"/>
                  </a:lnTo>
                  <a:lnTo>
                    <a:pt x="744854" y="266763"/>
                  </a:lnTo>
                  <a:lnTo>
                    <a:pt x="752859" y="270140"/>
                  </a:lnTo>
                  <a:lnTo>
                    <a:pt x="760221" y="273303"/>
                  </a:lnTo>
                  <a:close/>
                </a:path>
              </a:pathLst>
            </a:custGeom>
            <a:noFill/>
            <a:ln cap="flat" cmpd="sng" w="9525">
              <a:solidFill>
                <a:srgbClr val="4584D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nvGrpSpPr>
          <p:cNvPr id="427" name="Google Shape;427;p25"/>
          <p:cNvGrpSpPr/>
          <p:nvPr/>
        </p:nvGrpSpPr>
        <p:grpSpPr>
          <a:xfrm>
            <a:off x="9223522" y="1169998"/>
            <a:ext cx="2111688" cy="1207474"/>
            <a:chOff x="6516878" y="3821810"/>
            <a:chExt cx="1397254" cy="798957"/>
          </a:xfrm>
        </p:grpSpPr>
        <p:pic>
          <p:nvPicPr>
            <p:cNvPr id="428" name="Google Shape;428;p25"/>
            <p:cNvPicPr preferRelativeResize="0"/>
            <p:nvPr/>
          </p:nvPicPr>
          <p:blipFill rotWithShape="1">
            <a:blip r:embed="rId7">
              <a:alphaModFix/>
            </a:blip>
            <a:srcRect b="0" l="0" r="0" t="0"/>
            <a:stretch/>
          </p:blipFill>
          <p:spPr>
            <a:xfrm>
              <a:off x="6534912" y="3828287"/>
              <a:ext cx="1379220" cy="792480"/>
            </a:xfrm>
            <a:prstGeom prst="rect">
              <a:avLst/>
            </a:prstGeom>
            <a:noFill/>
            <a:ln>
              <a:noFill/>
            </a:ln>
          </p:spPr>
        </p:pic>
        <p:pic>
          <p:nvPicPr>
            <p:cNvPr id="429" name="Google Shape;429;p25"/>
            <p:cNvPicPr preferRelativeResize="0"/>
            <p:nvPr/>
          </p:nvPicPr>
          <p:blipFill rotWithShape="1">
            <a:blip r:embed="rId8">
              <a:alphaModFix/>
            </a:blip>
            <a:srcRect b="0" l="0" r="0" t="0"/>
            <a:stretch/>
          </p:blipFill>
          <p:spPr>
            <a:xfrm>
              <a:off x="6516878" y="3821810"/>
              <a:ext cx="1375791" cy="789432"/>
            </a:xfrm>
            <a:prstGeom prst="rect">
              <a:avLst/>
            </a:prstGeom>
            <a:noFill/>
            <a:ln>
              <a:noFill/>
            </a:ln>
          </p:spPr>
        </p:pic>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3" name="Shape 433"/>
        <p:cNvGrpSpPr/>
        <p:nvPr/>
      </p:nvGrpSpPr>
      <p:grpSpPr>
        <a:xfrm>
          <a:off x="0" y="0"/>
          <a:ext cx="0" cy="0"/>
          <a:chOff x="0" y="0"/>
          <a:chExt cx="0" cy="0"/>
        </a:xfrm>
      </p:grpSpPr>
      <p:pic>
        <p:nvPicPr>
          <p:cNvPr id="434" name="Google Shape;434;p26"/>
          <p:cNvPicPr preferRelativeResize="0"/>
          <p:nvPr/>
        </p:nvPicPr>
        <p:blipFill rotWithShape="1">
          <a:blip r:embed="rId3">
            <a:alphaModFix/>
          </a:blip>
          <a:srcRect b="6781" l="0" r="0" t="6010"/>
          <a:stretch/>
        </p:blipFill>
        <p:spPr>
          <a:xfrm>
            <a:off x="20" y="10"/>
            <a:ext cx="12191980" cy="6857990"/>
          </a:xfrm>
          <a:prstGeom prst="rect">
            <a:avLst/>
          </a:prstGeom>
          <a:noFill/>
          <a:ln>
            <a:noFill/>
          </a:ln>
        </p:spPr>
      </p:pic>
      <p:sp>
        <p:nvSpPr>
          <p:cNvPr id="435" name="Google Shape;435;p26"/>
          <p:cNvSpPr/>
          <p:nvPr/>
        </p:nvSpPr>
        <p:spPr>
          <a:xfrm>
            <a:off x="0" y="0"/>
            <a:ext cx="12192000" cy="6858000"/>
          </a:xfrm>
          <a:prstGeom prst="rect">
            <a:avLst/>
          </a:prstGeom>
          <a:gradFill>
            <a:gsLst>
              <a:gs pos="0">
                <a:srgbClr val="E8E8E8">
                  <a:alpha val="67843"/>
                </a:srgbClr>
              </a:gs>
              <a:gs pos="10000">
                <a:srgbClr val="E8E8E8">
                  <a:alpha val="67843"/>
                </a:srgbClr>
              </a:gs>
              <a:gs pos="85000">
                <a:srgbClr val="E8E8E8">
                  <a:alpha val="96862"/>
                </a:srgbClr>
              </a:gs>
              <a:gs pos="100000">
                <a:srgbClr val="E8E8E8">
                  <a:alpha val="9686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436" name="Google Shape;436;p26"/>
          <p:cNvSpPr txBox="1"/>
          <p:nvPr>
            <p:ph type="title"/>
          </p:nvPr>
        </p:nvSpPr>
        <p:spPr>
          <a:xfrm>
            <a:off x="838200" y="365125"/>
            <a:ext cx="10515600" cy="1325563"/>
          </a:xfrm>
          <a:prstGeom prst="rect">
            <a:avLst/>
          </a:prstGeom>
          <a:noFill/>
          <a:ln>
            <a:noFill/>
          </a:ln>
        </p:spPr>
        <p:txBody>
          <a:bodyPr anchorCtr="0" anchor="ctr" bIns="0" lIns="0" spcFirstLastPara="1" rIns="0" wrap="square" tIns="13325">
            <a:normAutofit/>
          </a:bodyPr>
          <a:lstStyle/>
          <a:p>
            <a:pPr indent="0" lvl="0" marL="302260" rtl="0" algn="l">
              <a:lnSpc>
                <a:spcPct val="90000"/>
              </a:lnSpc>
              <a:spcBef>
                <a:spcPts val="0"/>
              </a:spcBef>
              <a:spcAft>
                <a:spcPts val="0"/>
              </a:spcAft>
              <a:buClr>
                <a:schemeClr val="dk1"/>
              </a:buClr>
              <a:buSzPts val="4400"/>
              <a:buFont typeface="Play"/>
              <a:buNone/>
            </a:pPr>
            <a:r>
              <a:rPr lang="en-US"/>
              <a:t>Map Reduce Core Functionality</a:t>
            </a:r>
            <a:endParaRPr/>
          </a:p>
        </p:txBody>
      </p:sp>
      <p:grpSp>
        <p:nvGrpSpPr>
          <p:cNvPr id="437" name="Google Shape;437;p26"/>
          <p:cNvGrpSpPr/>
          <p:nvPr/>
        </p:nvGrpSpPr>
        <p:grpSpPr>
          <a:xfrm>
            <a:off x="840538" y="1826803"/>
            <a:ext cx="10510923" cy="4348981"/>
            <a:chOff x="2338" y="1178"/>
            <a:chExt cx="10510923" cy="4348981"/>
          </a:xfrm>
        </p:grpSpPr>
        <p:sp>
          <p:nvSpPr>
            <p:cNvPr id="438" name="Google Shape;438;p26"/>
            <p:cNvSpPr/>
            <p:nvPr/>
          </p:nvSpPr>
          <p:spPr>
            <a:xfrm rot="-5400000">
              <a:off x="2338" y="1178"/>
              <a:ext cx="4348981" cy="4348981"/>
            </a:xfrm>
            <a:prstGeom prst="downArrow">
              <a:avLst>
                <a:gd fmla="val 50000" name="adj1"/>
                <a:gd fmla="val 35000" name="adj2"/>
              </a:avLst>
            </a:prstGeom>
            <a:gradFill>
              <a:gsLst>
                <a:gs pos="0">
                  <a:srgbClr val="487390"/>
                </a:gs>
                <a:gs pos="50000">
                  <a:srgbClr val="0B6287"/>
                </a:gs>
                <a:gs pos="100000">
                  <a:srgbClr val="04587C"/>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6"/>
            <p:cNvSpPr txBox="1"/>
            <p:nvPr/>
          </p:nvSpPr>
          <p:spPr>
            <a:xfrm>
              <a:off x="2338" y="1088423"/>
              <a:ext cx="3587909" cy="2174491"/>
            </a:xfrm>
            <a:prstGeom prst="rect">
              <a:avLst/>
            </a:prstGeom>
            <a:noFill/>
            <a:ln>
              <a:noFill/>
            </a:ln>
          </p:spPr>
          <p:txBody>
            <a:bodyPr anchorCtr="0" anchor="t" bIns="128000" lIns="128000" spcFirstLastPara="1" rIns="128000" wrap="square" tIns="128000">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Map step</a:t>
              </a:r>
              <a:endParaRPr/>
            </a:p>
            <a:p>
              <a:pPr indent="-114300" lvl="1" marL="114300" marR="0" rtl="0" algn="l">
                <a:lnSpc>
                  <a:spcPct val="90000"/>
                </a:lnSpc>
                <a:spcBef>
                  <a:spcPts val="630"/>
                </a:spcBef>
                <a:spcAft>
                  <a:spcPts val="0"/>
                </a:spcAft>
                <a:buClr>
                  <a:schemeClr val="lt1"/>
                </a:buClr>
                <a:buSzPts val="1400"/>
                <a:buFont typeface="Arial"/>
                <a:buChar char="•"/>
              </a:pPr>
              <a:r>
                <a:rPr b="0" i="0" lang="en-US" sz="1400" u="none" cap="none" strike="noStrike">
                  <a:solidFill>
                    <a:schemeClr val="lt1"/>
                  </a:solidFill>
                  <a:latin typeface="Arial"/>
                  <a:ea typeface="Arial"/>
                  <a:cs typeface="Arial"/>
                  <a:sym typeface="Arial"/>
                </a:rPr>
                <a:t>∗ Master node takes large problem input and slices it into smaller sub problems; distributes these to worker nodes</a:t>
              </a:r>
              <a:endParaRPr/>
            </a:p>
            <a:p>
              <a:pPr indent="-114300" lvl="1" marL="114300" marR="0" rtl="0" algn="l">
                <a:lnSpc>
                  <a:spcPct val="90000"/>
                </a:lnSpc>
                <a:spcBef>
                  <a:spcPts val="210"/>
                </a:spcBef>
                <a:spcAft>
                  <a:spcPts val="0"/>
                </a:spcAft>
                <a:buClr>
                  <a:schemeClr val="lt1"/>
                </a:buClr>
                <a:buSzPts val="1400"/>
                <a:buFont typeface="Arial"/>
                <a:buChar char="•"/>
              </a:pPr>
              <a:r>
                <a:rPr b="0" i="0" lang="en-US" sz="1400" u="none" cap="none" strike="noStrike">
                  <a:solidFill>
                    <a:schemeClr val="lt1"/>
                  </a:solidFill>
                  <a:latin typeface="Arial"/>
                  <a:ea typeface="Arial"/>
                  <a:cs typeface="Arial"/>
                  <a:sym typeface="Arial"/>
                </a:rPr>
                <a:t>∗ Worker node may do this again; leads to a multi-level tree structure</a:t>
              </a:r>
              <a:endParaRPr/>
            </a:p>
            <a:p>
              <a:pPr indent="-114300" lvl="1" marL="114300" marR="0" rtl="0" algn="l">
                <a:lnSpc>
                  <a:spcPct val="90000"/>
                </a:lnSpc>
                <a:spcBef>
                  <a:spcPts val="210"/>
                </a:spcBef>
                <a:spcAft>
                  <a:spcPts val="0"/>
                </a:spcAft>
                <a:buClr>
                  <a:schemeClr val="lt1"/>
                </a:buClr>
                <a:buSzPts val="1400"/>
                <a:buFont typeface="Arial"/>
                <a:buChar char="•"/>
              </a:pPr>
              <a:r>
                <a:rPr b="0" i="0" lang="en-US" sz="1400" u="none" cap="none" strike="noStrike">
                  <a:solidFill>
                    <a:schemeClr val="lt1"/>
                  </a:solidFill>
                  <a:latin typeface="Arial"/>
                  <a:ea typeface="Arial"/>
                  <a:cs typeface="Arial"/>
                  <a:sym typeface="Arial"/>
                </a:rPr>
                <a:t>∗ Worker processes smaller problem and hands back to master</a:t>
              </a:r>
              <a:endParaRPr/>
            </a:p>
          </p:txBody>
        </p:sp>
        <p:sp>
          <p:nvSpPr>
            <p:cNvPr id="440" name="Google Shape;440;p26"/>
            <p:cNvSpPr/>
            <p:nvPr/>
          </p:nvSpPr>
          <p:spPr>
            <a:xfrm rot="5400000">
              <a:off x="6164280" y="1178"/>
              <a:ext cx="4348981" cy="4348981"/>
            </a:xfrm>
            <a:prstGeom prst="downArrow">
              <a:avLst>
                <a:gd fmla="val 50000" name="adj1"/>
                <a:gd fmla="val 35000" name="adj2"/>
              </a:avLst>
            </a:prstGeom>
            <a:gradFill>
              <a:gsLst>
                <a:gs pos="0">
                  <a:srgbClr val="487390"/>
                </a:gs>
                <a:gs pos="50000">
                  <a:srgbClr val="0B6287"/>
                </a:gs>
                <a:gs pos="100000">
                  <a:srgbClr val="04587C"/>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txBox="1"/>
            <p:nvPr/>
          </p:nvSpPr>
          <p:spPr>
            <a:xfrm>
              <a:off x="6925352" y="1088423"/>
              <a:ext cx="3587909" cy="2174491"/>
            </a:xfrm>
            <a:prstGeom prst="rect">
              <a:avLst/>
            </a:prstGeom>
            <a:noFill/>
            <a:ln>
              <a:noFill/>
            </a:ln>
          </p:spPr>
          <p:txBody>
            <a:bodyPr anchorCtr="0" anchor="t" bIns="128000" lIns="128000" spcFirstLastPara="1" rIns="128000" wrap="square" tIns="128000">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Reduce Step</a:t>
              </a:r>
              <a:endParaRPr/>
            </a:p>
            <a:p>
              <a:pPr indent="-114300" lvl="1" marL="114300" marR="0" rtl="0" algn="l">
                <a:lnSpc>
                  <a:spcPct val="90000"/>
                </a:lnSpc>
                <a:spcBef>
                  <a:spcPts val="630"/>
                </a:spcBef>
                <a:spcAft>
                  <a:spcPts val="0"/>
                </a:spcAft>
                <a:buClr>
                  <a:schemeClr val="lt1"/>
                </a:buClr>
                <a:buSzPts val="1400"/>
                <a:buFont typeface="Arial"/>
                <a:buChar char="•"/>
              </a:pPr>
              <a:r>
                <a:rPr b="0" i="0" lang="en-US" sz="1400" u="none" cap="none" strike="noStrike">
                  <a:solidFill>
                    <a:schemeClr val="lt1"/>
                  </a:solidFill>
                  <a:latin typeface="Arial"/>
                  <a:ea typeface="Arial"/>
                  <a:cs typeface="Arial"/>
                  <a:sym typeface="Arial"/>
                </a:rPr>
                <a:t>∗ Master node takes the answers to the sub problems and combines them in a predefined way to get the output/answer to original problem</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5" name="Shape 445"/>
        <p:cNvGrpSpPr/>
        <p:nvPr/>
      </p:nvGrpSpPr>
      <p:grpSpPr>
        <a:xfrm>
          <a:off x="0" y="0"/>
          <a:ext cx="0" cy="0"/>
          <a:chOff x="0" y="0"/>
          <a:chExt cx="0" cy="0"/>
        </a:xfrm>
      </p:grpSpPr>
      <p:sp>
        <p:nvSpPr>
          <p:cNvPr id="446" name="Google Shape;446;p2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447" name="Google Shape;447;p27"/>
          <p:cNvSpPr txBox="1"/>
          <p:nvPr>
            <p:ph type="title"/>
          </p:nvPr>
        </p:nvSpPr>
        <p:spPr>
          <a:xfrm>
            <a:off x="838201" y="3998018"/>
            <a:ext cx="3981854" cy="2216513"/>
          </a:xfrm>
          <a:prstGeom prst="rect">
            <a:avLst/>
          </a:prstGeom>
          <a:noFill/>
          <a:ln>
            <a:noFill/>
          </a:ln>
        </p:spPr>
        <p:txBody>
          <a:bodyPr anchorCtr="0" anchor="ctr" bIns="45700" lIns="91425" spcFirstLastPara="1" rIns="91425" wrap="square" tIns="45700">
            <a:normAutofit/>
          </a:bodyPr>
          <a:lstStyle/>
          <a:p>
            <a:pPr indent="0" lvl="0" marL="1320165" rtl="0" algn="l">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Map Reduce Overview</a:t>
            </a:r>
            <a:endParaRPr/>
          </a:p>
        </p:txBody>
      </p:sp>
      <p:sp>
        <p:nvSpPr>
          <p:cNvPr id="448" name="Google Shape;448;p27"/>
          <p:cNvSpPr/>
          <p:nvPr/>
        </p:nvSpPr>
        <p:spPr>
          <a:xfrm rot="6269068">
            <a:off x="8717845" y="3339275"/>
            <a:ext cx="2987899" cy="2987899"/>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449" name="Google Shape;449;p27"/>
          <p:cNvPicPr preferRelativeResize="0"/>
          <p:nvPr/>
        </p:nvPicPr>
        <p:blipFill rotWithShape="1">
          <a:blip r:embed="rId3">
            <a:alphaModFix/>
          </a:blip>
          <a:srcRect b="0" l="0" r="0" t="0"/>
          <a:stretch/>
        </p:blipFill>
        <p:spPr>
          <a:xfrm>
            <a:off x="659914" y="1429101"/>
            <a:ext cx="10872172" cy="1508278"/>
          </a:xfrm>
          <a:custGeom>
            <a:rect b="b" l="l" r="r" t="t"/>
            <a:pathLst>
              <a:path extrusionOk="0" h="2957472" w="10580201">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ln>
            <a:noFill/>
          </a:ln>
        </p:spPr>
      </p:pic>
      <p:sp>
        <p:nvSpPr>
          <p:cNvPr id="450" name="Google Shape;450;p27"/>
          <p:cNvSpPr txBox="1"/>
          <p:nvPr/>
        </p:nvSpPr>
        <p:spPr>
          <a:xfrm>
            <a:off x="4970835" y="3998019"/>
            <a:ext cx="6382966" cy="2216512"/>
          </a:xfrm>
          <a:prstGeom prst="rect">
            <a:avLst/>
          </a:prstGeom>
          <a:noFill/>
          <a:ln>
            <a:noFill/>
          </a:ln>
        </p:spPr>
        <p:txBody>
          <a:bodyPr anchorCtr="0" anchor="t"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	A Programming Model</a:t>
            </a:r>
            <a:endParaRPr sz="1100">
              <a:solidFill>
                <a:schemeClr val="dk1"/>
              </a:solidFill>
              <a:latin typeface="Arial"/>
              <a:ea typeface="Arial"/>
              <a:cs typeface="Arial"/>
              <a:sym typeface="Arial"/>
            </a:endParaRPr>
          </a:p>
          <a:p>
            <a:pPr indent="-228600" lvl="0" marL="314325" marR="0" rtl="0" algn="l">
              <a:lnSpc>
                <a:spcPct val="90000"/>
              </a:lnSpc>
              <a:spcBef>
                <a:spcPts val="10"/>
              </a:spcBef>
              <a:spcAft>
                <a:spcPts val="0"/>
              </a:spcAft>
              <a:buClr>
                <a:schemeClr val="dk1"/>
              </a:buClr>
              <a:buSzPts val="1100"/>
              <a:buFont typeface="Arial"/>
              <a:buChar char="•"/>
            </a:pPr>
            <a:r>
              <a:rPr lang="en-US" sz="1100">
                <a:solidFill>
                  <a:schemeClr val="dk1"/>
                </a:solidFill>
                <a:latin typeface="Arial"/>
                <a:ea typeface="Arial"/>
                <a:cs typeface="Arial"/>
                <a:sym typeface="Arial"/>
              </a:rPr>
              <a:t>∗	Inspired by functional programming</a:t>
            </a:r>
            <a:endParaRPr sz="11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	Allows expressing distributed computations on massive amounts of data</a:t>
            </a:r>
            <a:endParaRPr sz="11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	An Execution Framework</a:t>
            </a:r>
            <a:endParaRPr sz="1100">
              <a:solidFill>
                <a:schemeClr val="dk1"/>
              </a:solidFill>
              <a:latin typeface="Arial"/>
              <a:ea typeface="Arial"/>
              <a:cs typeface="Arial"/>
              <a:sym typeface="Arial"/>
            </a:endParaRPr>
          </a:p>
          <a:p>
            <a:pPr indent="-228600" lvl="0" marL="314325" marR="0" rtl="0" algn="l">
              <a:lnSpc>
                <a:spcPct val="90000"/>
              </a:lnSpc>
              <a:spcBef>
                <a:spcPts val="5"/>
              </a:spcBef>
              <a:spcAft>
                <a:spcPts val="0"/>
              </a:spcAft>
              <a:buClr>
                <a:schemeClr val="dk1"/>
              </a:buClr>
              <a:buSzPts val="1100"/>
              <a:buFont typeface="Arial"/>
              <a:buChar char="•"/>
            </a:pPr>
            <a:r>
              <a:rPr lang="en-US" sz="1100">
                <a:solidFill>
                  <a:schemeClr val="dk1"/>
                </a:solidFill>
                <a:latin typeface="Arial"/>
                <a:ea typeface="Arial"/>
                <a:cs typeface="Arial"/>
                <a:sym typeface="Arial"/>
              </a:rPr>
              <a:t>∗	Designed for large-scale data processing</a:t>
            </a:r>
            <a:endParaRPr sz="11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	Designed to run on clusters of commodity hardware</a:t>
            </a:r>
            <a:endParaRPr sz="11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	Libraries take care of EVERYTHING else</a:t>
            </a:r>
            <a:endParaRPr sz="1100">
              <a:solidFill>
                <a:schemeClr val="dk1"/>
              </a:solidFill>
              <a:latin typeface="Arial"/>
              <a:ea typeface="Arial"/>
              <a:cs typeface="Arial"/>
              <a:sym typeface="Arial"/>
            </a:endParaRPr>
          </a:p>
          <a:p>
            <a:pPr indent="-228600" lvl="0" marL="640715" marR="0" rtl="0" algn="l">
              <a:lnSpc>
                <a:spcPct val="90000"/>
              </a:lnSpc>
              <a:spcBef>
                <a:spcPts val="5"/>
              </a:spcBef>
              <a:spcAft>
                <a:spcPts val="0"/>
              </a:spcAft>
              <a:buClr>
                <a:schemeClr val="dk1"/>
              </a:buClr>
              <a:buSzPts val="1100"/>
              <a:buFont typeface="Arial"/>
              <a:buChar char="•"/>
            </a:pPr>
            <a:r>
              <a:rPr lang="en-US" sz="1100">
                <a:solidFill>
                  <a:schemeClr val="dk1"/>
                </a:solidFill>
                <a:latin typeface="Arial"/>
                <a:ea typeface="Arial"/>
                <a:cs typeface="Arial"/>
                <a:sym typeface="Arial"/>
              </a:rPr>
              <a:t>∗	Parallelization</a:t>
            </a:r>
            <a:endParaRPr sz="1100">
              <a:solidFill>
                <a:schemeClr val="dk1"/>
              </a:solidFill>
              <a:latin typeface="Arial"/>
              <a:ea typeface="Arial"/>
              <a:cs typeface="Arial"/>
              <a:sym typeface="Arial"/>
            </a:endParaRPr>
          </a:p>
          <a:p>
            <a:pPr indent="-228600" lvl="0" marL="640715" marR="0" rtl="0" algn="l">
              <a:lnSpc>
                <a:spcPct val="90000"/>
              </a:lnSpc>
              <a:spcBef>
                <a:spcPts val="5"/>
              </a:spcBef>
              <a:spcAft>
                <a:spcPts val="0"/>
              </a:spcAft>
              <a:buClr>
                <a:schemeClr val="dk1"/>
              </a:buClr>
              <a:buSzPts val="1100"/>
              <a:buFont typeface="Arial"/>
              <a:buChar char="•"/>
            </a:pPr>
            <a:r>
              <a:rPr lang="en-US" sz="1100">
                <a:solidFill>
                  <a:schemeClr val="dk1"/>
                </a:solidFill>
                <a:latin typeface="Arial"/>
                <a:ea typeface="Arial"/>
                <a:cs typeface="Arial"/>
                <a:sym typeface="Arial"/>
              </a:rPr>
              <a:t>∗	Fault Tolerance</a:t>
            </a:r>
            <a:endParaRPr sz="1100">
              <a:solidFill>
                <a:schemeClr val="dk1"/>
              </a:solidFill>
              <a:latin typeface="Arial"/>
              <a:ea typeface="Arial"/>
              <a:cs typeface="Arial"/>
              <a:sym typeface="Arial"/>
            </a:endParaRPr>
          </a:p>
          <a:p>
            <a:pPr indent="-228600" lvl="0" marL="640715" marR="0" rtl="0" algn="l">
              <a:lnSpc>
                <a:spcPct val="9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	Data Distribution</a:t>
            </a:r>
            <a:endParaRPr sz="1100">
              <a:solidFill>
                <a:schemeClr val="dk1"/>
              </a:solidFill>
              <a:latin typeface="Arial"/>
              <a:ea typeface="Arial"/>
              <a:cs typeface="Arial"/>
              <a:sym typeface="Arial"/>
            </a:endParaRPr>
          </a:p>
          <a:p>
            <a:pPr indent="-228600" lvl="0" marL="640715" marR="0" rtl="0" algn="l">
              <a:lnSpc>
                <a:spcPct val="9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	Load Balancing</a:t>
            </a:r>
            <a:endParaRPr sz="11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	Two basic operations on the input</a:t>
            </a:r>
            <a:endParaRPr sz="1100">
              <a:solidFill>
                <a:schemeClr val="dk1"/>
              </a:solidFill>
              <a:latin typeface="Arial"/>
              <a:ea typeface="Arial"/>
              <a:cs typeface="Arial"/>
              <a:sym typeface="Arial"/>
            </a:endParaRPr>
          </a:p>
          <a:p>
            <a:pPr indent="-228600" lvl="0" marL="314325" marR="0" rtl="0" algn="l">
              <a:lnSpc>
                <a:spcPct val="90000"/>
              </a:lnSpc>
              <a:spcBef>
                <a:spcPts val="5"/>
              </a:spcBef>
              <a:spcAft>
                <a:spcPts val="0"/>
              </a:spcAft>
              <a:buClr>
                <a:schemeClr val="dk1"/>
              </a:buClr>
              <a:buSzPts val="1100"/>
              <a:buFont typeface="Arial"/>
              <a:buChar char="•"/>
            </a:pPr>
            <a:r>
              <a:rPr lang="en-US" sz="1100">
                <a:solidFill>
                  <a:schemeClr val="dk1"/>
                </a:solidFill>
                <a:latin typeface="Arial"/>
                <a:ea typeface="Arial"/>
                <a:cs typeface="Arial"/>
                <a:sym typeface="Arial"/>
              </a:rPr>
              <a:t>∗	Map</a:t>
            </a:r>
            <a:endParaRPr sz="1100">
              <a:solidFill>
                <a:schemeClr val="dk1"/>
              </a:solidFill>
              <a:latin typeface="Arial"/>
              <a:ea typeface="Arial"/>
              <a:cs typeface="Arial"/>
              <a:sym typeface="Arial"/>
            </a:endParaRPr>
          </a:p>
          <a:p>
            <a:pPr indent="-228600" lvl="0" marL="314325" marR="0" rtl="0" algn="l">
              <a:lnSpc>
                <a:spcPct val="90000"/>
              </a:lnSpc>
              <a:spcBef>
                <a:spcPts val="5"/>
              </a:spcBef>
              <a:spcAft>
                <a:spcPts val="0"/>
              </a:spcAft>
              <a:buClr>
                <a:schemeClr val="dk1"/>
              </a:buClr>
              <a:buSzPts val="1100"/>
              <a:buFont typeface="Arial"/>
              <a:buChar char="•"/>
            </a:pPr>
            <a:r>
              <a:rPr lang="en-US" sz="1100">
                <a:solidFill>
                  <a:schemeClr val="dk1"/>
                </a:solidFill>
                <a:latin typeface="Arial"/>
                <a:ea typeface="Arial"/>
                <a:cs typeface="Arial"/>
                <a:sym typeface="Arial"/>
              </a:rPr>
              <a:t>∗	Reduce</a:t>
            </a:r>
            <a:endParaRPr sz="11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4" name="Shape 454"/>
        <p:cNvGrpSpPr/>
        <p:nvPr/>
      </p:nvGrpSpPr>
      <p:grpSpPr>
        <a:xfrm>
          <a:off x="0" y="0"/>
          <a:ext cx="0" cy="0"/>
          <a:chOff x="0" y="0"/>
          <a:chExt cx="0" cy="0"/>
        </a:xfrm>
      </p:grpSpPr>
      <p:sp>
        <p:nvSpPr>
          <p:cNvPr id="455" name="Google Shape;455;p28"/>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456" name="Google Shape;456;p28"/>
          <p:cNvSpPr txBox="1"/>
          <p:nvPr>
            <p:ph type="title"/>
          </p:nvPr>
        </p:nvSpPr>
        <p:spPr>
          <a:xfrm>
            <a:off x="838200" y="5358141"/>
            <a:ext cx="10515600" cy="942664"/>
          </a:xfrm>
          <a:prstGeom prst="rect">
            <a:avLst/>
          </a:prstGeom>
          <a:noFill/>
          <a:ln>
            <a:noFill/>
          </a:ln>
        </p:spPr>
        <p:txBody>
          <a:bodyPr anchorCtr="0" anchor="ctr" bIns="0" lIns="0" spcFirstLastPara="1" rIns="0" wrap="square" tIns="13325">
            <a:normAutofit/>
          </a:bodyPr>
          <a:lstStyle/>
          <a:p>
            <a:pPr indent="0" lvl="0" marL="1485265" rtl="0" algn="ctr">
              <a:lnSpc>
                <a:spcPct val="90000"/>
              </a:lnSpc>
              <a:spcBef>
                <a:spcPts val="0"/>
              </a:spcBef>
              <a:spcAft>
                <a:spcPts val="0"/>
              </a:spcAft>
              <a:buClr>
                <a:schemeClr val="dk1"/>
              </a:buClr>
              <a:buSzPts val="5200"/>
              <a:buFont typeface="Play"/>
              <a:buNone/>
            </a:pPr>
            <a:r>
              <a:rPr lang="en-US" sz="5200"/>
              <a:t>Word Count Example</a:t>
            </a:r>
            <a:endParaRPr/>
          </a:p>
        </p:txBody>
      </p:sp>
      <p:pic>
        <p:nvPicPr>
          <p:cNvPr id="457" name="Google Shape;457;p28"/>
          <p:cNvPicPr preferRelativeResize="0"/>
          <p:nvPr/>
        </p:nvPicPr>
        <p:blipFill rotWithShape="1">
          <a:blip r:embed="rId3">
            <a:alphaModFix/>
          </a:blip>
          <a:srcRect b="0" l="0" r="0" t="0"/>
          <a:stretch/>
        </p:blipFill>
        <p:spPr>
          <a:xfrm>
            <a:off x="643467" y="653827"/>
            <a:ext cx="10905066" cy="443595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1" name="Shape 461"/>
        <p:cNvGrpSpPr/>
        <p:nvPr/>
      </p:nvGrpSpPr>
      <p:grpSpPr>
        <a:xfrm>
          <a:off x="0" y="0"/>
          <a:ext cx="0" cy="0"/>
          <a:chOff x="0" y="0"/>
          <a:chExt cx="0" cy="0"/>
        </a:xfrm>
      </p:grpSpPr>
      <p:sp>
        <p:nvSpPr>
          <p:cNvPr id="462" name="Google Shape;462;p2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463" name="Google Shape;463;p29"/>
          <p:cNvSpPr txBox="1"/>
          <p:nvPr>
            <p:ph type="title"/>
          </p:nvPr>
        </p:nvSpPr>
        <p:spPr>
          <a:xfrm>
            <a:off x="841248" y="256032"/>
            <a:ext cx="10506456" cy="1014984"/>
          </a:xfrm>
          <a:prstGeom prst="rect">
            <a:avLst/>
          </a:prstGeom>
          <a:noFill/>
          <a:ln>
            <a:noFill/>
          </a:ln>
        </p:spPr>
        <p:txBody>
          <a:bodyPr anchorCtr="0" anchor="b" bIns="0" lIns="0" spcFirstLastPara="1" rIns="0" wrap="square" tIns="13325">
            <a:normAutofit/>
          </a:bodyPr>
          <a:lstStyle/>
          <a:p>
            <a:pPr indent="0" lvl="0" marL="12700" rtl="0" algn="l">
              <a:lnSpc>
                <a:spcPct val="90000"/>
              </a:lnSpc>
              <a:spcBef>
                <a:spcPts val="0"/>
              </a:spcBef>
              <a:spcAft>
                <a:spcPts val="0"/>
              </a:spcAft>
              <a:buClr>
                <a:schemeClr val="dk1"/>
              </a:buClr>
              <a:buSzPts val="4400"/>
              <a:buFont typeface="Play"/>
              <a:buNone/>
            </a:pPr>
            <a:r>
              <a:rPr lang="en-US"/>
              <a:t>Where MapReduce Works</a:t>
            </a:r>
            <a:endParaRPr/>
          </a:p>
        </p:txBody>
      </p:sp>
      <p:sp>
        <p:nvSpPr>
          <p:cNvPr id="464" name="Google Shape;464;p29"/>
          <p:cNvSpPr/>
          <p:nvPr/>
        </p:nvSpPr>
        <p:spPr>
          <a:xfrm>
            <a:off x="865953" y="1634502"/>
            <a:ext cx="10451592"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65" name="Google Shape;465;p29"/>
          <p:cNvSpPr/>
          <p:nvPr/>
        </p:nvSpPr>
        <p:spPr>
          <a:xfrm flipH="1" rot="10800000">
            <a:off x="841248" y="1538176"/>
            <a:ext cx="1873457" cy="10981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466" name="Google Shape;466;p29"/>
          <p:cNvGrpSpPr/>
          <p:nvPr/>
        </p:nvGrpSpPr>
        <p:grpSpPr>
          <a:xfrm>
            <a:off x="838200" y="2634363"/>
            <a:ext cx="10515600" cy="2941329"/>
            <a:chOff x="0" y="708097"/>
            <a:chExt cx="10515600" cy="2941329"/>
          </a:xfrm>
        </p:grpSpPr>
        <p:sp>
          <p:nvSpPr>
            <p:cNvPr id="467" name="Google Shape;467;p29"/>
            <p:cNvSpPr/>
            <p:nvPr/>
          </p:nvSpPr>
          <p:spPr>
            <a:xfrm>
              <a:off x="0" y="708097"/>
              <a:ext cx="10515600" cy="1307257"/>
            </a:xfrm>
            <a:prstGeom prst="roundRect">
              <a:avLst>
                <a:gd fmla="val 10000" name="adj"/>
              </a:avLst>
            </a:prstGeom>
            <a:solidFill>
              <a:srgbClr val="E971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9"/>
            <p:cNvSpPr/>
            <p:nvPr/>
          </p:nvSpPr>
          <p:spPr>
            <a:xfrm>
              <a:off x="395445" y="1002230"/>
              <a:ext cx="718991" cy="71899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9"/>
            <p:cNvSpPr/>
            <p:nvPr/>
          </p:nvSpPr>
          <p:spPr>
            <a:xfrm>
              <a:off x="1509882" y="708097"/>
              <a:ext cx="9005717" cy="13072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9"/>
            <p:cNvSpPr txBox="1"/>
            <p:nvPr/>
          </p:nvSpPr>
          <p:spPr>
            <a:xfrm>
              <a:off x="1509882" y="708097"/>
              <a:ext cx="9005717" cy="1307257"/>
            </a:xfrm>
            <a:prstGeom prst="rect">
              <a:avLst/>
            </a:prstGeom>
            <a:noFill/>
            <a:ln>
              <a:noFill/>
            </a:ln>
          </p:spPr>
          <p:txBody>
            <a:bodyPr anchorCtr="0" anchor="ctr" bIns="138350" lIns="138350" spcFirstLastPara="1" rIns="138350" wrap="square" tIns="138350">
              <a:noAutofit/>
            </a:bodyPr>
            <a:lstStyle/>
            <a:p>
              <a:pPr indent="0" lvl="0" marL="0" marR="0" rtl="0" algn="l">
                <a:lnSpc>
                  <a:spcPct val="90000"/>
                </a:lnSpc>
                <a:spcBef>
                  <a:spcPts val="0"/>
                </a:spcBef>
                <a:spcAft>
                  <a:spcPts val="0"/>
                </a:spcAft>
                <a:buClr>
                  <a:schemeClr val="dk1"/>
                </a:buClr>
                <a:buSzPts val="2300"/>
                <a:buFont typeface="Arial"/>
                <a:buNone/>
              </a:pPr>
              <a:r>
                <a:rPr lang="en-US" sz="2300">
                  <a:solidFill>
                    <a:schemeClr val="dk1"/>
                  </a:solidFill>
                  <a:latin typeface="Arial"/>
                  <a:ea typeface="Arial"/>
                  <a:cs typeface="Arial"/>
                  <a:sym typeface="Arial"/>
                </a:rPr>
                <a:t>∗ The calculations should be possible to run the calculation on a subset of data, and merge partial results</a:t>
              </a:r>
              <a:endParaRPr/>
            </a:p>
          </p:txBody>
        </p:sp>
        <p:sp>
          <p:nvSpPr>
            <p:cNvPr id="471" name="Google Shape;471;p29"/>
            <p:cNvSpPr/>
            <p:nvPr/>
          </p:nvSpPr>
          <p:spPr>
            <a:xfrm>
              <a:off x="0" y="2342169"/>
              <a:ext cx="10515600" cy="1307257"/>
            </a:xfrm>
            <a:prstGeom prst="roundRect">
              <a:avLst>
                <a:gd fmla="val 10000" name="adj"/>
              </a:avLst>
            </a:prstGeom>
            <a:solidFill>
              <a:srgbClr val="176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9"/>
            <p:cNvSpPr/>
            <p:nvPr/>
          </p:nvSpPr>
          <p:spPr>
            <a:xfrm>
              <a:off x="395445" y="2636302"/>
              <a:ext cx="718991" cy="71899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9"/>
            <p:cNvSpPr/>
            <p:nvPr/>
          </p:nvSpPr>
          <p:spPr>
            <a:xfrm>
              <a:off x="1509882" y="2342169"/>
              <a:ext cx="9005717" cy="130725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9"/>
            <p:cNvSpPr txBox="1"/>
            <p:nvPr/>
          </p:nvSpPr>
          <p:spPr>
            <a:xfrm>
              <a:off x="1509882" y="2342169"/>
              <a:ext cx="9005717" cy="1307257"/>
            </a:xfrm>
            <a:prstGeom prst="rect">
              <a:avLst/>
            </a:prstGeom>
            <a:noFill/>
            <a:ln>
              <a:noFill/>
            </a:ln>
          </p:spPr>
          <p:txBody>
            <a:bodyPr anchorCtr="0" anchor="ctr" bIns="138350" lIns="138350" spcFirstLastPara="1" rIns="138350" wrap="square" tIns="138350">
              <a:noAutofit/>
            </a:bodyPr>
            <a:lstStyle/>
            <a:p>
              <a:pPr indent="0" lvl="0" marL="0" marR="0" rtl="0" algn="l">
                <a:lnSpc>
                  <a:spcPct val="90000"/>
                </a:lnSpc>
                <a:spcBef>
                  <a:spcPts val="0"/>
                </a:spcBef>
                <a:spcAft>
                  <a:spcPts val="0"/>
                </a:spcAft>
                <a:buClr>
                  <a:schemeClr val="dk1"/>
                </a:buClr>
                <a:buSzPts val="2300"/>
                <a:buFont typeface="Arial"/>
                <a:buNone/>
              </a:pPr>
              <a:r>
                <a:rPr lang="en-US" sz="2300">
                  <a:solidFill>
                    <a:schemeClr val="dk1"/>
                  </a:solidFill>
                  <a:latin typeface="Arial"/>
                  <a:ea typeface="Arial"/>
                  <a:cs typeface="Arial"/>
                  <a:sym typeface="Arial"/>
                </a:rPr>
                <a:t>∗ The dataset size is big enough (or the calculations are long enough) that the infrastructure overhead of splitting it up for independent computations and merging results will not hurt overall performance</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8" name="Shape 478"/>
        <p:cNvGrpSpPr/>
        <p:nvPr/>
      </p:nvGrpSpPr>
      <p:grpSpPr>
        <a:xfrm>
          <a:off x="0" y="0"/>
          <a:ext cx="0" cy="0"/>
          <a:chOff x="0" y="0"/>
          <a:chExt cx="0" cy="0"/>
        </a:xfrm>
      </p:grpSpPr>
      <p:sp>
        <p:nvSpPr>
          <p:cNvPr id="479" name="Google Shape;479;p3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0" name="Google Shape;480;p30"/>
          <p:cNvSpPr/>
          <p:nvPr/>
        </p:nvSpPr>
        <p:spPr>
          <a:xfrm>
            <a:off x="1903615" y="221673"/>
            <a:ext cx="8384770" cy="1332634"/>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C5C5C5">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481" name="Google Shape;481;p30"/>
          <p:cNvSpPr txBox="1"/>
          <p:nvPr>
            <p:ph type="title"/>
          </p:nvPr>
        </p:nvSpPr>
        <p:spPr>
          <a:xfrm>
            <a:off x="2103121" y="310343"/>
            <a:ext cx="7985759" cy="868823"/>
          </a:xfrm>
          <a:prstGeom prst="rect">
            <a:avLst/>
          </a:prstGeom>
          <a:noFill/>
          <a:ln>
            <a:noFill/>
          </a:ln>
        </p:spPr>
        <p:txBody>
          <a:bodyPr anchorCtr="0" anchor="ctr" bIns="45700" lIns="91425" spcFirstLastPara="1" rIns="91425" wrap="square" tIns="45700">
            <a:normAutofit/>
          </a:bodyPr>
          <a:lstStyle/>
          <a:p>
            <a:pPr indent="0" lvl="0" marL="1788160" rtl="0" algn="ctr">
              <a:lnSpc>
                <a:spcPct val="90000"/>
              </a:lnSpc>
              <a:spcBef>
                <a:spcPts val="0"/>
              </a:spcBef>
              <a:spcAft>
                <a:spcPts val="0"/>
              </a:spcAft>
              <a:buClr>
                <a:schemeClr val="dk1"/>
              </a:buClr>
              <a:buSzPts val="4000"/>
              <a:buFont typeface="Play"/>
              <a:buNone/>
            </a:pPr>
            <a:r>
              <a:rPr lang="en-US" sz="4000">
                <a:solidFill>
                  <a:schemeClr val="dk1"/>
                </a:solidFill>
                <a:latin typeface="Play"/>
                <a:ea typeface="Play"/>
                <a:cs typeface="Play"/>
                <a:sym typeface="Play"/>
              </a:rPr>
              <a:t>MapReduce Terms</a:t>
            </a:r>
            <a:endParaRPr/>
          </a:p>
        </p:txBody>
      </p:sp>
      <p:sp>
        <p:nvSpPr>
          <p:cNvPr id="482" name="Google Shape;482;p30"/>
          <p:cNvSpPr/>
          <p:nvPr/>
        </p:nvSpPr>
        <p:spPr>
          <a:xfrm>
            <a:off x="2483110" y="1211407"/>
            <a:ext cx="7225780" cy="685800"/>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aphicFrame>
        <p:nvGraphicFramePr>
          <p:cNvPr id="483" name="Google Shape;483;p30"/>
          <p:cNvGraphicFramePr/>
          <p:nvPr/>
        </p:nvGraphicFramePr>
        <p:xfrm>
          <a:off x="1119527" y="2139484"/>
          <a:ext cx="3000000" cy="3000000"/>
        </p:xfrm>
        <a:graphic>
          <a:graphicData uri="http://schemas.openxmlformats.org/drawingml/2006/table">
            <a:tbl>
              <a:tblPr bandRow="1" firstRow="1">
                <a:noFill/>
                <a:tableStyleId>{7AE5C25F-0834-4540-90C9-EA6330668ED8}</a:tableStyleId>
              </a:tblPr>
              <a:tblGrid>
                <a:gridCol w="1750875"/>
                <a:gridCol w="8202050"/>
              </a:tblGrid>
              <a:tr h="352600">
                <a:tc>
                  <a:txBody>
                    <a:bodyPr/>
                    <a:lstStyle/>
                    <a:p>
                      <a:pPr indent="0" lvl="0" marL="90805" marR="0" rtl="0" algn="l">
                        <a:lnSpc>
                          <a:spcPct val="100000"/>
                        </a:lnSpc>
                        <a:spcBef>
                          <a:spcPts val="0"/>
                        </a:spcBef>
                        <a:spcAft>
                          <a:spcPts val="0"/>
                        </a:spcAft>
                        <a:buNone/>
                      </a:pPr>
                      <a:r>
                        <a:rPr b="1" lang="en-US" sz="1900" u="none" cap="none" strike="noStrike">
                          <a:solidFill>
                            <a:srgbClr val="FFFFFF"/>
                          </a:solidFill>
                          <a:latin typeface="Arial"/>
                          <a:ea typeface="Arial"/>
                          <a:cs typeface="Arial"/>
                          <a:sym typeface="Arial"/>
                        </a:rPr>
                        <a:t>Term</a:t>
                      </a:r>
                      <a:endParaRPr sz="1900" u="none" cap="none" strike="noStrike">
                        <a:latin typeface="Arial"/>
                        <a:ea typeface="Arial"/>
                        <a:cs typeface="Arial"/>
                        <a:sym typeface="Arial"/>
                      </a:endParaRPr>
                    </a:p>
                  </a:txBody>
                  <a:tcPr marT="3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30B6FC"/>
                    </a:solidFill>
                  </a:tcPr>
                </a:tc>
                <a:tc>
                  <a:txBody>
                    <a:bodyPr/>
                    <a:lstStyle/>
                    <a:p>
                      <a:pPr indent="0" lvl="0" marL="90805" marR="0" rtl="0" algn="l">
                        <a:lnSpc>
                          <a:spcPct val="100000"/>
                        </a:lnSpc>
                        <a:spcBef>
                          <a:spcPts val="0"/>
                        </a:spcBef>
                        <a:spcAft>
                          <a:spcPts val="0"/>
                        </a:spcAft>
                        <a:buNone/>
                      </a:pPr>
                      <a:r>
                        <a:rPr b="1" lang="en-US" sz="1900" u="none" cap="none" strike="noStrike">
                          <a:solidFill>
                            <a:srgbClr val="FFFFFF"/>
                          </a:solidFill>
                          <a:latin typeface="Arial"/>
                          <a:ea typeface="Arial"/>
                          <a:cs typeface="Arial"/>
                          <a:sym typeface="Arial"/>
                        </a:rPr>
                        <a:t>Description</a:t>
                      </a:r>
                      <a:endParaRPr sz="1900" u="none" cap="none" strike="noStrike">
                        <a:latin typeface="Arial"/>
                        <a:ea typeface="Arial"/>
                        <a:cs typeface="Arial"/>
                        <a:sym typeface="Arial"/>
                      </a:endParaRPr>
                    </a:p>
                  </a:txBody>
                  <a:tcPr marT="3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30B6FC"/>
                    </a:solidFill>
                  </a:tcPr>
                </a:tc>
              </a:tr>
              <a:tr h="635400">
                <a:tc>
                  <a:txBody>
                    <a:bodyPr/>
                    <a:lstStyle/>
                    <a:p>
                      <a:pPr indent="0" lvl="0" marL="90805" marR="0" rtl="0" algn="l">
                        <a:lnSpc>
                          <a:spcPct val="100000"/>
                        </a:lnSpc>
                        <a:spcBef>
                          <a:spcPts val="0"/>
                        </a:spcBef>
                        <a:spcAft>
                          <a:spcPts val="0"/>
                        </a:spcAft>
                        <a:buNone/>
                      </a:pPr>
                      <a:r>
                        <a:rPr lang="en-US" sz="1900" u="none" cap="none" strike="noStrike">
                          <a:latin typeface="Arial"/>
                          <a:ea typeface="Arial"/>
                          <a:cs typeface="Arial"/>
                          <a:sym typeface="Arial"/>
                        </a:rPr>
                        <a:t>Job</a:t>
                      </a:r>
                      <a:endParaRPr sz="1900" u="none" cap="none" strike="noStrike">
                        <a:latin typeface="Arial"/>
                        <a:ea typeface="Arial"/>
                        <a:cs typeface="Arial"/>
                        <a:sym typeface="Arial"/>
                      </a:endParaRPr>
                    </a:p>
                  </a:txBody>
                  <a:tcPr marT="3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90805" marR="844550" rtl="0" algn="l">
                        <a:lnSpc>
                          <a:spcPct val="100000"/>
                        </a:lnSpc>
                        <a:spcBef>
                          <a:spcPts val="0"/>
                        </a:spcBef>
                        <a:spcAft>
                          <a:spcPts val="0"/>
                        </a:spcAft>
                        <a:buNone/>
                      </a:pPr>
                      <a:r>
                        <a:rPr lang="en-US" sz="1900" u="none" cap="none" strike="noStrike">
                          <a:latin typeface="Arial"/>
                          <a:ea typeface="Arial"/>
                          <a:cs typeface="Arial"/>
                          <a:sym typeface="Arial"/>
                        </a:rPr>
                        <a:t>The whole process to execute: the input data, the mapper and reducers execution and the output data</a:t>
                      </a:r>
                      <a:endParaRPr sz="1900" u="none" cap="none" strike="noStrike">
                        <a:latin typeface="Arial"/>
                        <a:ea typeface="Arial"/>
                        <a:cs typeface="Arial"/>
                        <a:sym typeface="Arial"/>
                      </a:endParaRPr>
                    </a:p>
                  </a:txBody>
                  <a:tcPr marT="3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r>
              <a:tr h="635400">
                <a:tc>
                  <a:txBody>
                    <a:bodyPr/>
                    <a:lstStyle/>
                    <a:p>
                      <a:pPr indent="0" lvl="0" marL="90805" marR="0" rtl="0" algn="l">
                        <a:lnSpc>
                          <a:spcPct val="100000"/>
                        </a:lnSpc>
                        <a:spcBef>
                          <a:spcPts val="0"/>
                        </a:spcBef>
                        <a:spcAft>
                          <a:spcPts val="0"/>
                        </a:spcAft>
                        <a:buNone/>
                      </a:pPr>
                      <a:r>
                        <a:rPr lang="en-US" sz="1900" u="none" cap="none" strike="noStrike">
                          <a:latin typeface="Arial"/>
                          <a:ea typeface="Arial"/>
                          <a:cs typeface="Arial"/>
                          <a:sym typeface="Arial"/>
                        </a:rPr>
                        <a:t>Task</a:t>
                      </a:r>
                      <a:endParaRPr sz="1900" u="none" cap="none" strike="noStrike">
                        <a:latin typeface="Arial"/>
                        <a:ea typeface="Arial"/>
                        <a:cs typeface="Arial"/>
                        <a:sym typeface="Arial"/>
                      </a:endParaRPr>
                    </a:p>
                  </a:txBody>
                  <a:tcPr marT="3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90805" marR="276860" rtl="0" algn="l">
                        <a:lnSpc>
                          <a:spcPct val="100000"/>
                        </a:lnSpc>
                        <a:spcBef>
                          <a:spcPts val="0"/>
                        </a:spcBef>
                        <a:spcAft>
                          <a:spcPts val="0"/>
                        </a:spcAft>
                        <a:buNone/>
                      </a:pPr>
                      <a:r>
                        <a:rPr lang="en-US" sz="1900" u="none" cap="none" strike="noStrike">
                          <a:latin typeface="Arial"/>
                          <a:ea typeface="Arial"/>
                          <a:cs typeface="Arial"/>
                          <a:sym typeface="Arial"/>
                        </a:rPr>
                        <a:t>Every job is divided among the several mappers and reducers; a task is the job portion that goes to every single mapper and reducer</a:t>
                      </a:r>
                      <a:endParaRPr sz="1900" u="none" cap="none" strike="noStrike">
                        <a:latin typeface="Arial"/>
                        <a:ea typeface="Arial"/>
                        <a:cs typeface="Arial"/>
                        <a:sym typeface="Arial"/>
                      </a:endParaRPr>
                    </a:p>
                  </a:txBody>
                  <a:tcPr marT="3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r>
              <a:tr h="635400">
                <a:tc>
                  <a:txBody>
                    <a:bodyPr/>
                    <a:lstStyle/>
                    <a:p>
                      <a:pPr indent="0" lvl="0" marL="90805" marR="0" rtl="0" algn="l">
                        <a:lnSpc>
                          <a:spcPct val="100000"/>
                        </a:lnSpc>
                        <a:spcBef>
                          <a:spcPts val="0"/>
                        </a:spcBef>
                        <a:spcAft>
                          <a:spcPts val="0"/>
                        </a:spcAft>
                        <a:buNone/>
                      </a:pPr>
                      <a:r>
                        <a:rPr lang="en-US" sz="1900" u="none" cap="none" strike="noStrike">
                          <a:latin typeface="Arial"/>
                          <a:ea typeface="Arial"/>
                          <a:cs typeface="Arial"/>
                          <a:sym typeface="Arial"/>
                        </a:rPr>
                        <a:t>Split</a:t>
                      </a:r>
                      <a:endParaRPr sz="1900" u="none" cap="none" strike="noStrike">
                        <a:latin typeface="Arial"/>
                        <a:ea typeface="Arial"/>
                        <a:cs typeface="Arial"/>
                        <a:sym typeface="Arial"/>
                      </a:endParaRPr>
                    </a:p>
                  </a:txBody>
                  <a:tcPr marT="3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90805" marR="0" rtl="0" algn="l">
                        <a:lnSpc>
                          <a:spcPct val="100000"/>
                        </a:lnSpc>
                        <a:spcBef>
                          <a:spcPts val="0"/>
                        </a:spcBef>
                        <a:spcAft>
                          <a:spcPts val="0"/>
                        </a:spcAft>
                        <a:buNone/>
                      </a:pPr>
                      <a:r>
                        <a:rPr lang="en-US" sz="1900" u="none" cap="none" strike="noStrike">
                          <a:latin typeface="Arial"/>
                          <a:ea typeface="Arial"/>
                          <a:cs typeface="Arial"/>
                          <a:sym typeface="Arial"/>
                        </a:rPr>
                        <a:t>The input file is split into several splits (the suggested size is the HDFS block</a:t>
                      </a:r>
                      <a:endParaRPr sz="1900" u="none" cap="none" strike="noStrike">
                        <a:latin typeface="Arial"/>
                        <a:ea typeface="Arial"/>
                        <a:cs typeface="Arial"/>
                        <a:sym typeface="Arial"/>
                      </a:endParaRPr>
                    </a:p>
                    <a:p>
                      <a:pPr indent="0" lvl="0" marL="90805" marR="0" rtl="0" algn="l">
                        <a:lnSpc>
                          <a:spcPct val="100000"/>
                        </a:lnSpc>
                        <a:spcBef>
                          <a:spcPts val="0"/>
                        </a:spcBef>
                        <a:spcAft>
                          <a:spcPts val="0"/>
                        </a:spcAft>
                        <a:buNone/>
                      </a:pPr>
                      <a:r>
                        <a:rPr lang="en-US" sz="1900" u="none" cap="none" strike="noStrike">
                          <a:latin typeface="Arial"/>
                          <a:ea typeface="Arial"/>
                          <a:cs typeface="Arial"/>
                          <a:sym typeface="Arial"/>
                        </a:rPr>
                        <a:t>size, 64Mb / 128Mb)</a:t>
                      </a:r>
                      <a:endParaRPr sz="1900" u="none" cap="none" strike="noStrike">
                        <a:latin typeface="Arial"/>
                        <a:ea typeface="Arial"/>
                        <a:cs typeface="Arial"/>
                        <a:sym typeface="Arial"/>
                      </a:endParaRPr>
                    </a:p>
                  </a:txBody>
                  <a:tcPr marT="320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r>
              <a:tr h="918850">
                <a:tc>
                  <a:txBody>
                    <a:bodyPr/>
                    <a:lstStyle/>
                    <a:p>
                      <a:pPr indent="0" lvl="0" marL="90805" marR="0" rtl="0" algn="l">
                        <a:lnSpc>
                          <a:spcPct val="100000"/>
                        </a:lnSpc>
                        <a:spcBef>
                          <a:spcPts val="0"/>
                        </a:spcBef>
                        <a:spcAft>
                          <a:spcPts val="0"/>
                        </a:spcAft>
                        <a:buNone/>
                      </a:pPr>
                      <a:r>
                        <a:rPr lang="en-US" sz="1900" u="none" cap="none" strike="noStrike">
                          <a:latin typeface="Arial"/>
                          <a:ea typeface="Arial"/>
                          <a:cs typeface="Arial"/>
                          <a:sym typeface="Arial"/>
                        </a:rPr>
                        <a:t>Record</a:t>
                      </a:r>
                      <a:endParaRPr sz="1900" u="none" cap="none" strike="noStrike">
                        <a:latin typeface="Arial"/>
                        <a:ea typeface="Arial"/>
                        <a:cs typeface="Arial"/>
                        <a:sym typeface="Arial"/>
                      </a:endParaRPr>
                    </a:p>
                  </a:txBody>
                  <a:tcPr marT="327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c>
                  <a:txBody>
                    <a:bodyPr/>
                    <a:lstStyle/>
                    <a:p>
                      <a:pPr indent="0" lvl="0" marL="90805" marR="86995" rtl="0" algn="just">
                        <a:lnSpc>
                          <a:spcPct val="100000"/>
                        </a:lnSpc>
                        <a:spcBef>
                          <a:spcPts val="0"/>
                        </a:spcBef>
                        <a:spcAft>
                          <a:spcPts val="0"/>
                        </a:spcAft>
                        <a:buNone/>
                      </a:pPr>
                      <a:r>
                        <a:rPr lang="en-US" sz="1900" u="none" cap="none" strike="noStrike">
                          <a:latin typeface="Arial"/>
                          <a:ea typeface="Arial"/>
                          <a:cs typeface="Arial"/>
                          <a:sym typeface="Arial"/>
                        </a:rPr>
                        <a:t>The splits is read from mapper by default a line at the time: each line is a record. Using a class extending FileInputFormart, the record can be composed by more than one line</a:t>
                      </a:r>
                      <a:endParaRPr sz="1900" u="none" cap="none" strike="noStrike">
                        <a:latin typeface="Arial"/>
                        <a:ea typeface="Arial"/>
                        <a:cs typeface="Arial"/>
                        <a:sym typeface="Arial"/>
                      </a:endParaRPr>
                    </a:p>
                  </a:txBody>
                  <a:tcPr marT="327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8F3FF"/>
                    </a:solidFill>
                  </a:tcPr>
                </a:tc>
              </a:tr>
              <a:tr h="918850">
                <a:tc>
                  <a:txBody>
                    <a:bodyPr/>
                    <a:lstStyle/>
                    <a:p>
                      <a:pPr indent="0" lvl="0" marL="90805" marR="0" rtl="0" algn="l">
                        <a:lnSpc>
                          <a:spcPct val="100000"/>
                        </a:lnSpc>
                        <a:spcBef>
                          <a:spcPts val="0"/>
                        </a:spcBef>
                        <a:spcAft>
                          <a:spcPts val="0"/>
                        </a:spcAft>
                        <a:buNone/>
                      </a:pPr>
                      <a:r>
                        <a:rPr lang="en-US" sz="1900" u="none" cap="none" strike="noStrike">
                          <a:latin typeface="Arial"/>
                          <a:ea typeface="Arial"/>
                          <a:cs typeface="Arial"/>
                          <a:sym typeface="Arial"/>
                        </a:rPr>
                        <a:t>Partition</a:t>
                      </a:r>
                      <a:endParaRPr sz="1900" u="none" cap="none" strike="noStrike">
                        <a:latin typeface="Arial"/>
                        <a:ea typeface="Arial"/>
                        <a:cs typeface="Arial"/>
                        <a:sym typeface="Arial"/>
                      </a:endParaRPr>
                    </a:p>
                  </a:txBody>
                  <a:tcPr marT="327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c>
                  <a:txBody>
                    <a:bodyPr/>
                    <a:lstStyle/>
                    <a:p>
                      <a:pPr indent="0" lvl="0" marL="90805" marR="574040" rtl="0" algn="l">
                        <a:lnSpc>
                          <a:spcPct val="100000"/>
                        </a:lnSpc>
                        <a:spcBef>
                          <a:spcPts val="0"/>
                        </a:spcBef>
                        <a:spcAft>
                          <a:spcPts val="0"/>
                        </a:spcAft>
                        <a:buNone/>
                      </a:pPr>
                      <a:r>
                        <a:rPr lang="en-US" sz="1900" u="none" cap="none" strike="noStrike">
                          <a:latin typeface="Arial"/>
                          <a:ea typeface="Arial"/>
                          <a:cs typeface="Arial"/>
                          <a:sym typeface="Arial"/>
                        </a:rPr>
                        <a:t>The set of all the key-value pairs that will be sent to a single reducer. The default partitioner uses an hash function on the key to determine to which reducer send the data</a:t>
                      </a:r>
                      <a:endParaRPr sz="1900" u="none" cap="none" strike="noStrike">
                        <a:latin typeface="Arial"/>
                        <a:ea typeface="Arial"/>
                        <a:cs typeface="Arial"/>
                        <a:sym typeface="Arial"/>
                      </a:endParaRPr>
                    </a:p>
                  </a:txBody>
                  <a:tcPr marT="327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DE4FD"/>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7" name="Shape 487"/>
        <p:cNvGrpSpPr/>
        <p:nvPr/>
      </p:nvGrpSpPr>
      <p:grpSpPr>
        <a:xfrm>
          <a:off x="0" y="0"/>
          <a:ext cx="0" cy="0"/>
          <a:chOff x="0" y="0"/>
          <a:chExt cx="0" cy="0"/>
        </a:xfrm>
      </p:grpSpPr>
      <p:sp>
        <p:nvSpPr>
          <p:cNvPr id="488" name="Google Shape;488;p31"/>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489" name="Google Shape;489;p31"/>
          <p:cNvSpPr txBox="1"/>
          <p:nvPr>
            <p:ph type="title"/>
          </p:nvPr>
        </p:nvSpPr>
        <p:spPr>
          <a:xfrm>
            <a:off x="793662" y="386930"/>
            <a:ext cx="10066122" cy="1298448"/>
          </a:xfrm>
          <a:prstGeom prst="rect">
            <a:avLst/>
          </a:prstGeom>
          <a:noFill/>
          <a:ln>
            <a:noFill/>
          </a:ln>
        </p:spPr>
        <p:txBody>
          <a:bodyPr anchorCtr="0" anchor="b" bIns="45700" lIns="91425" spcFirstLastPara="1" rIns="91425" wrap="square" tIns="45700">
            <a:normAutofit/>
          </a:bodyPr>
          <a:lstStyle/>
          <a:p>
            <a:pPr indent="0" lvl="0" marL="1091565" rtl="0" algn="l">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Map Reduce Framework</a:t>
            </a:r>
            <a:endParaRPr/>
          </a:p>
        </p:txBody>
      </p:sp>
      <p:sp>
        <p:nvSpPr>
          <p:cNvPr id="490" name="Google Shape;490;p31"/>
          <p:cNvSpPr/>
          <p:nvPr/>
        </p:nvSpPr>
        <p:spPr>
          <a:xfrm rot="10800000">
            <a:off x="-2" y="1998845"/>
            <a:ext cx="1145459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1" name="Google Shape;491;p31"/>
          <p:cNvSpPr/>
          <p:nvPr/>
        </p:nvSpPr>
        <p:spPr>
          <a:xfrm>
            <a:off x="0" y="2203079"/>
            <a:ext cx="11383362" cy="4267991"/>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2" name="Google Shape;492;p31"/>
          <p:cNvSpPr txBox="1"/>
          <p:nvPr/>
        </p:nvSpPr>
        <p:spPr>
          <a:xfrm>
            <a:off x="793661" y="2599509"/>
            <a:ext cx="4530898" cy="3639450"/>
          </a:xfrm>
          <a:prstGeom prst="rect">
            <a:avLst/>
          </a:prstGeom>
          <a:noFill/>
          <a:ln>
            <a:noFill/>
          </a:ln>
        </p:spPr>
        <p:txBody>
          <a:bodyPr anchorCtr="0" anchor="ctr"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Per cluster node</a:t>
            </a:r>
            <a:endParaRPr sz="2000">
              <a:solidFill>
                <a:schemeClr val="dk1"/>
              </a:solidFill>
              <a:latin typeface="Arial"/>
              <a:ea typeface="Arial"/>
              <a:cs typeface="Arial"/>
              <a:sym typeface="Arial"/>
            </a:endParaRPr>
          </a:p>
          <a:p>
            <a:pPr indent="-228600" lvl="0" marL="314325" marR="0" rtl="0" algn="l">
              <a:lnSpc>
                <a:spcPct val="90000"/>
              </a:lnSpc>
              <a:spcBef>
                <a:spcPts val="545"/>
              </a:spcBef>
              <a:spcAft>
                <a:spcPts val="0"/>
              </a:spcAft>
              <a:buClr>
                <a:schemeClr val="dk1"/>
              </a:buClr>
              <a:buSzPts val="2000"/>
              <a:buFont typeface="Arial"/>
              <a:buChar char="•"/>
            </a:pPr>
            <a:r>
              <a:rPr lang="en-US" sz="2000">
                <a:solidFill>
                  <a:schemeClr val="dk1"/>
                </a:solidFill>
                <a:latin typeface="Arial"/>
                <a:ea typeface="Arial"/>
                <a:cs typeface="Arial"/>
                <a:sym typeface="Arial"/>
              </a:rPr>
              <a:t>∗ Single JobTracker per master</a:t>
            </a:r>
            <a:endParaRPr sz="2000">
              <a:solidFill>
                <a:schemeClr val="dk1"/>
              </a:solidFill>
              <a:latin typeface="Arial"/>
              <a:ea typeface="Arial"/>
              <a:cs typeface="Arial"/>
              <a:sym typeface="Arial"/>
            </a:endParaRPr>
          </a:p>
          <a:p>
            <a:pPr indent="-228600" lvl="0" marL="869315" marR="5080" rtl="0" algn="l">
              <a:lnSpc>
                <a:spcPct val="90000"/>
              </a:lnSpc>
              <a:spcBef>
                <a:spcPts val="490"/>
              </a:spcBef>
              <a:spcAft>
                <a:spcPts val="0"/>
              </a:spcAft>
              <a:buClr>
                <a:schemeClr val="dk1"/>
              </a:buClr>
              <a:buSzPts val="2000"/>
              <a:buFont typeface="Arial"/>
              <a:buChar char="•"/>
            </a:pPr>
            <a:r>
              <a:rPr lang="en-US" sz="2000">
                <a:solidFill>
                  <a:schemeClr val="dk1"/>
                </a:solidFill>
                <a:latin typeface="Arial"/>
                <a:ea typeface="Arial"/>
                <a:cs typeface="Arial"/>
                <a:sym typeface="Arial"/>
              </a:rPr>
              <a:t>∗ Responsible for scheduling the jobs’ component tasks on the slaves</a:t>
            </a:r>
            <a:endParaRPr sz="2000">
              <a:solidFill>
                <a:schemeClr val="dk1"/>
              </a:solidFill>
              <a:latin typeface="Arial"/>
              <a:ea typeface="Arial"/>
              <a:cs typeface="Arial"/>
              <a:sym typeface="Arial"/>
            </a:endParaRPr>
          </a:p>
          <a:p>
            <a:pPr indent="-228600" lvl="0" marL="640715" marR="0" rtl="0" algn="l">
              <a:lnSpc>
                <a:spcPct val="90000"/>
              </a:lnSpc>
              <a:spcBef>
                <a:spcPts val="480"/>
              </a:spcBef>
              <a:spcAft>
                <a:spcPts val="0"/>
              </a:spcAft>
              <a:buClr>
                <a:schemeClr val="dk1"/>
              </a:buClr>
              <a:buSzPts val="2000"/>
              <a:buFont typeface="Arial"/>
              <a:buChar char="•"/>
            </a:pPr>
            <a:r>
              <a:rPr lang="en-US" sz="2000">
                <a:solidFill>
                  <a:schemeClr val="dk1"/>
                </a:solidFill>
                <a:latin typeface="Arial"/>
                <a:ea typeface="Arial"/>
                <a:cs typeface="Arial"/>
                <a:sym typeface="Arial"/>
              </a:rPr>
              <a:t>∗ Monitors slave progress</a:t>
            </a:r>
            <a:endParaRPr sz="2000">
              <a:solidFill>
                <a:schemeClr val="dk1"/>
              </a:solidFill>
              <a:latin typeface="Arial"/>
              <a:ea typeface="Arial"/>
              <a:cs typeface="Arial"/>
              <a:sym typeface="Arial"/>
            </a:endParaRPr>
          </a:p>
          <a:p>
            <a:pPr indent="-228600" lvl="0" marL="640715" marR="0" rtl="0" algn="l">
              <a:lnSpc>
                <a:spcPct val="90000"/>
              </a:lnSpc>
              <a:spcBef>
                <a:spcPts val="484"/>
              </a:spcBef>
              <a:spcAft>
                <a:spcPts val="0"/>
              </a:spcAft>
              <a:buClr>
                <a:schemeClr val="dk1"/>
              </a:buClr>
              <a:buSzPts val="2000"/>
              <a:buFont typeface="Arial"/>
              <a:buChar char="•"/>
            </a:pPr>
            <a:r>
              <a:rPr lang="en-US" sz="2000">
                <a:solidFill>
                  <a:schemeClr val="dk1"/>
                </a:solidFill>
                <a:latin typeface="Arial"/>
                <a:ea typeface="Arial"/>
                <a:cs typeface="Arial"/>
                <a:sym typeface="Arial"/>
              </a:rPr>
              <a:t>∗ Re-executing failed tasks</a:t>
            </a:r>
            <a:endParaRPr sz="2000">
              <a:solidFill>
                <a:schemeClr val="dk1"/>
              </a:solidFill>
              <a:latin typeface="Arial"/>
              <a:ea typeface="Arial"/>
              <a:cs typeface="Arial"/>
              <a:sym typeface="Arial"/>
            </a:endParaRPr>
          </a:p>
          <a:p>
            <a:pPr indent="-228600" lvl="0" marL="314325" marR="0" rtl="0" algn="l">
              <a:lnSpc>
                <a:spcPct val="90000"/>
              </a:lnSpc>
              <a:spcBef>
                <a:spcPts val="520"/>
              </a:spcBef>
              <a:spcAft>
                <a:spcPts val="0"/>
              </a:spcAft>
              <a:buClr>
                <a:schemeClr val="dk1"/>
              </a:buClr>
              <a:buSzPts val="2000"/>
              <a:buFont typeface="Arial"/>
              <a:buChar char="•"/>
            </a:pPr>
            <a:r>
              <a:rPr lang="en-US" sz="2000">
                <a:solidFill>
                  <a:schemeClr val="dk1"/>
                </a:solidFill>
                <a:latin typeface="Arial"/>
                <a:ea typeface="Arial"/>
                <a:cs typeface="Arial"/>
                <a:sym typeface="Arial"/>
              </a:rPr>
              <a:t>∗ Single TaskTracker per slave</a:t>
            </a:r>
            <a:endParaRPr sz="2000">
              <a:solidFill>
                <a:schemeClr val="dk1"/>
              </a:solidFill>
              <a:latin typeface="Arial"/>
              <a:ea typeface="Arial"/>
              <a:cs typeface="Arial"/>
              <a:sym typeface="Arial"/>
            </a:endParaRPr>
          </a:p>
          <a:p>
            <a:pPr indent="-228600" lvl="0" marL="640715" marR="0" rtl="0" algn="l">
              <a:lnSpc>
                <a:spcPct val="90000"/>
              </a:lnSpc>
              <a:spcBef>
                <a:spcPts val="484"/>
              </a:spcBef>
              <a:spcAft>
                <a:spcPts val="0"/>
              </a:spcAft>
              <a:buClr>
                <a:schemeClr val="dk1"/>
              </a:buClr>
              <a:buSzPts val="2000"/>
              <a:buFont typeface="Arial"/>
              <a:buChar char="•"/>
            </a:pPr>
            <a:r>
              <a:rPr lang="en-US" sz="2000">
                <a:solidFill>
                  <a:schemeClr val="dk1"/>
                </a:solidFill>
                <a:latin typeface="Arial"/>
                <a:ea typeface="Arial"/>
                <a:cs typeface="Arial"/>
                <a:sym typeface="Arial"/>
              </a:rPr>
              <a:t>∗ Execute the tasks as directed by the</a:t>
            </a:r>
            <a:endParaRPr sz="2000">
              <a:solidFill>
                <a:schemeClr val="dk1"/>
              </a:solidFill>
              <a:latin typeface="Arial"/>
              <a:ea typeface="Arial"/>
              <a:cs typeface="Arial"/>
              <a:sym typeface="Arial"/>
            </a:endParaRPr>
          </a:p>
          <a:p>
            <a:pPr indent="-228600" lvl="0" marL="86931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master</a:t>
            </a:r>
            <a:endParaRPr sz="2000">
              <a:solidFill>
                <a:schemeClr val="dk1"/>
              </a:solidFill>
              <a:latin typeface="Arial"/>
              <a:ea typeface="Arial"/>
              <a:cs typeface="Arial"/>
              <a:sym typeface="Arial"/>
            </a:endParaRPr>
          </a:p>
        </p:txBody>
      </p:sp>
      <p:pic>
        <p:nvPicPr>
          <p:cNvPr id="493" name="Google Shape;493;p31"/>
          <p:cNvPicPr preferRelativeResize="0"/>
          <p:nvPr/>
        </p:nvPicPr>
        <p:blipFill rotWithShape="1">
          <a:blip r:embed="rId3">
            <a:alphaModFix/>
          </a:blip>
          <a:srcRect b="0" l="0" r="0" t="0"/>
          <a:stretch/>
        </p:blipFill>
        <p:spPr>
          <a:xfrm>
            <a:off x="5911532" y="3112467"/>
            <a:ext cx="5150277" cy="2457820"/>
          </a:xfrm>
          <a:prstGeom prst="rect">
            <a:avLst/>
          </a:prstGeom>
          <a:noFill/>
          <a:ln>
            <a:noFill/>
          </a:ln>
        </p:spPr>
      </p:pic>
      <p:sp>
        <p:nvSpPr>
          <p:cNvPr id="494" name="Google Shape;494;p31"/>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8" name="Shape 498"/>
        <p:cNvGrpSpPr/>
        <p:nvPr/>
      </p:nvGrpSpPr>
      <p:grpSpPr>
        <a:xfrm>
          <a:off x="0" y="0"/>
          <a:ext cx="0" cy="0"/>
          <a:chOff x="0" y="0"/>
          <a:chExt cx="0" cy="0"/>
        </a:xfrm>
      </p:grpSpPr>
      <p:sp>
        <p:nvSpPr>
          <p:cNvPr id="499" name="Google Shape;499;p32"/>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500" name="Google Shape;500;p32"/>
          <p:cNvGrpSpPr/>
          <p:nvPr/>
        </p:nvGrpSpPr>
        <p:grpSpPr>
          <a:xfrm>
            <a:off x="4" y="1216597"/>
            <a:ext cx="731521" cy="673460"/>
            <a:chOff x="3940602" y="308034"/>
            <a:chExt cx="2116791" cy="3428999"/>
          </a:xfrm>
        </p:grpSpPr>
        <p:sp>
          <p:nvSpPr>
            <p:cNvPr id="501" name="Google Shape;501;p32"/>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2" name="Google Shape;502;p32"/>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3" name="Google Shape;503;p32"/>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04" name="Google Shape;504;p32"/>
          <p:cNvSpPr/>
          <p:nvPr/>
        </p:nvSpPr>
        <p:spPr>
          <a:xfrm>
            <a:off x="640079" y="613954"/>
            <a:ext cx="10907487" cy="1894116"/>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505" name="Google Shape;505;p32"/>
          <p:cNvSpPr txBox="1"/>
          <p:nvPr>
            <p:ph type="title"/>
          </p:nvPr>
        </p:nvSpPr>
        <p:spPr>
          <a:xfrm>
            <a:off x="1043631" y="809898"/>
            <a:ext cx="9942716" cy="1554480"/>
          </a:xfrm>
          <a:prstGeom prst="rect">
            <a:avLst/>
          </a:prstGeom>
          <a:noFill/>
          <a:ln>
            <a:noFill/>
          </a:ln>
        </p:spPr>
        <p:txBody>
          <a:bodyPr anchorCtr="0" anchor="ctr" bIns="45700" lIns="91425" spcFirstLastPara="1" rIns="91425" wrap="square" tIns="45700">
            <a:normAutofit/>
          </a:bodyPr>
          <a:lstStyle/>
          <a:p>
            <a:pPr indent="0" lvl="0" marL="90170" rtl="0" algn="l">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Map Reduce Core Functionality II</a:t>
            </a:r>
            <a:endParaRPr/>
          </a:p>
        </p:txBody>
      </p:sp>
      <p:sp>
        <p:nvSpPr>
          <p:cNvPr id="506" name="Google Shape;506;p32"/>
          <p:cNvSpPr txBox="1"/>
          <p:nvPr/>
        </p:nvSpPr>
        <p:spPr>
          <a:xfrm>
            <a:off x="1045028" y="3017522"/>
            <a:ext cx="9941319" cy="3124658"/>
          </a:xfrm>
          <a:prstGeom prst="rect">
            <a:avLst/>
          </a:prstGeom>
          <a:noFill/>
          <a:ln>
            <a:noFill/>
          </a:ln>
        </p:spPr>
        <p:txBody>
          <a:bodyPr anchorCtr="0" anchor="ctr"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 Data Flow</a:t>
            </a:r>
            <a:endParaRPr sz="1900">
              <a:solidFill>
                <a:schemeClr val="dk1"/>
              </a:solidFill>
              <a:latin typeface="Arial"/>
              <a:ea typeface="Arial"/>
              <a:cs typeface="Arial"/>
              <a:sym typeface="Arial"/>
            </a:endParaRPr>
          </a:p>
          <a:p>
            <a:pPr indent="-228600" lvl="0" marL="314325" marR="0" rtl="0" algn="l">
              <a:lnSpc>
                <a:spcPct val="90000"/>
              </a:lnSpc>
              <a:spcBef>
                <a:spcPts val="10"/>
              </a:spcBef>
              <a:spcAft>
                <a:spcPts val="0"/>
              </a:spcAft>
              <a:buClr>
                <a:schemeClr val="dk1"/>
              </a:buClr>
              <a:buSzPts val="1900"/>
              <a:buFont typeface="Arial"/>
              <a:buChar char="•"/>
            </a:pPr>
            <a:r>
              <a:rPr lang="en-US" sz="1900">
                <a:solidFill>
                  <a:schemeClr val="dk1"/>
                </a:solidFill>
                <a:latin typeface="Arial"/>
                <a:ea typeface="Arial"/>
                <a:cs typeface="Arial"/>
                <a:sym typeface="Arial"/>
              </a:rPr>
              <a:t>∗	Input reader – divides input into appropriate size splits which get assigned to a Map</a:t>
            </a:r>
            <a:endParaRPr sz="1900">
              <a:solidFill>
                <a:schemeClr val="dk1"/>
              </a:solidFill>
              <a:latin typeface="Arial"/>
              <a:ea typeface="Arial"/>
              <a:cs typeface="Arial"/>
              <a:sym typeface="Arial"/>
            </a:endParaRPr>
          </a:p>
          <a:p>
            <a:pPr indent="-228600" lvl="0" marL="588645" marR="0" rtl="0" algn="l">
              <a:lnSpc>
                <a:spcPct val="90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function</a:t>
            </a:r>
            <a:endParaRPr sz="19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	Map function – maps file data to smaller, intermediate pairs</a:t>
            </a:r>
            <a:endParaRPr sz="1900">
              <a:solidFill>
                <a:schemeClr val="dk1"/>
              </a:solidFill>
              <a:latin typeface="Arial"/>
              <a:ea typeface="Arial"/>
              <a:cs typeface="Arial"/>
              <a:sym typeface="Arial"/>
            </a:endParaRPr>
          </a:p>
          <a:p>
            <a:pPr indent="-228600" lvl="0" marL="588645" marR="5080" rtl="0" algn="l">
              <a:lnSpc>
                <a:spcPct val="90000"/>
              </a:lnSpc>
              <a:spcBef>
                <a:spcPts val="480"/>
              </a:spcBef>
              <a:spcAft>
                <a:spcPts val="0"/>
              </a:spcAft>
              <a:buClr>
                <a:schemeClr val="dk1"/>
              </a:buClr>
              <a:buSzPts val="1900"/>
              <a:buFont typeface="Arial"/>
              <a:buChar char="•"/>
            </a:pPr>
            <a:r>
              <a:rPr lang="en-US" sz="1900">
                <a:solidFill>
                  <a:schemeClr val="dk1"/>
                </a:solidFill>
                <a:latin typeface="Arial"/>
                <a:ea typeface="Arial"/>
                <a:cs typeface="Arial"/>
                <a:sym typeface="Arial"/>
              </a:rPr>
              <a:t>∗	Partition function – finds the correct reducer given the key and number of reducers, returns the desired Reduce node</a:t>
            </a:r>
            <a:endParaRPr sz="19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	Compare function – input for Reduce is pulled from the Map intermediate output</a:t>
            </a:r>
            <a:endParaRPr sz="1900">
              <a:solidFill>
                <a:schemeClr val="dk1"/>
              </a:solidFill>
              <a:latin typeface="Arial"/>
              <a:ea typeface="Arial"/>
              <a:cs typeface="Arial"/>
              <a:sym typeface="Arial"/>
            </a:endParaRPr>
          </a:p>
          <a:p>
            <a:pPr indent="-228600" lvl="0" marL="588645" marR="0" rtl="0" algn="l">
              <a:lnSpc>
                <a:spcPct val="90000"/>
              </a:lnSpc>
              <a:spcBef>
                <a:spcPts val="0"/>
              </a:spcBef>
              <a:spcAft>
                <a:spcPts val="0"/>
              </a:spcAft>
              <a:buClr>
                <a:schemeClr val="dk1"/>
              </a:buClr>
              <a:buSzPts val="1900"/>
              <a:buFont typeface="Arial"/>
              <a:buChar char="•"/>
            </a:pPr>
            <a:r>
              <a:rPr lang="en-US" sz="1900">
                <a:solidFill>
                  <a:schemeClr val="dk1"/>
                </a:solidFill>
                <a:latin typeface="Arial"/>
                <a:ea typeface="Arial"/>
                <a:cs typeface="Arial"/>
                <a:sym typeface="Arial"/>
              </a:rPr>
              <a:t>and sorted according to the compare function</a:t>
            </a:r>
            <a:endParaRPr sz="1900">
              <a:solidFill>
                <a:schemeClr val="dk1"/>
              </a:solidFill>
              <a:latin typeface="Arial"/>
              <a:ea typeface="Arial"/>
              <a:cs typeface="Arial"/>
              <a:sym typeface="Arial"/>
            </a:endParaRPr>
          </a:p>
          <a:p>
            <a:pPr indent="-228600" lvl="0" marL="588645" marR="685800" rtl="0" algn="l">
              <a:lnSpc>
                <a:spcPct val="90000"/>
              </a:lnSpc>
              <a:spcBef>
                <a:spcPts val="465"/>
              </a:spcBef>
              <a:spcAft>
                <a:spcPts val="0"/>
              </a:spcAft>
              <a:buClr>
                <a:schemeClr val="dk1"/>
              </a:buClr>
              <a:buSzPts val="1900"/>
              <a:buFont typeface="Arial"/>
              <a:buChar char="•"/>
            </a:pPr>
            <a:r>
              <a:rPr lang="en-US" sz="1900">
                <a:solidFill>
                  <a:schemeClr val="dk1"/>
                </a:solidFill>
                <a:latin typeface="Arial"/>
                <a:ea typeface="Arial"/>
                <a:cs typeface="Arial"/>
                <a:sym typeface="Arial"/>
              </a:rPr>
              <a:t>∗	Reduce function – takes intermediate values and reduces to a smaller solution handed back to the framework</a:t>
            </a:r>
            <a:endParaRPr sz="1900">
              <a:solidFill>
                <a:schemeClr val="dk1"/>
              </a:solidFill>
              <a:latin typeface="Arial"/>
              <a:ea typeface="Arial"/>
              <a:cs typeface="Arial"/>
              <a:sym typeface="Arial"/>
            </a:endParaRPr>
          </a:p>
          <a:p>
            <a:pPr indent="-228600" lvl="0" marL="314325" marR="0" rtl="0" algn="l">
              <a:lnSpc>
                <a:spcPct val="90000"/>
              </a:lnSpc>
              <a:spcBef>
                <a:spcPts val="15"/>
              </a:spcBef>
              <a:spcAft>
                <a:spcPts val="0"/>
              </a:spcAft>
              <a:buClr>
                <a:schemeClr val="dk1"/>
              </a:buClr>
              <a:buSzPts val="1900"/>
              <a:buFont typeface="Arial"/>
              <a:buChar char="•"/>
            </a:pPr>
            <a:r>
              <a:rPr lang="en-US" sz="1900">
                <a:solidFill>
                  <a:schemeClr val="dk1"/>
                </a:solidFill>
                <a:latin typeface="Arial"/>
                <a:ea typeface="Arial"/>
                <a:cs typeface="Arial"/>
                <a:sym typeface="Arial"/>
              </a:rPr>
              <a:t>∗	Output writer – writes file output</a:t>
            </a:r>
            <a:endParaRPr sz="1900">
              <a:solidFill>
                <a:schemeClr val="dk1"/>
              </a:solidFill>
              <a:latin typeface="Arial"/>
              <a:ea typeface="Arial"/>
              <a:cs typeface="Arial"/>
              <a:sym typeface="Arial"/>
            </a:endParaRPr>
          </a:p>
        </p:txBody>
      </p:sp>
      <p:cxnSp>
        <p:nvCxnSpPr>
          <p:cNvPr id="507" name="Google Shape;507;p32"/>
          <p:cNvCxnSpPr/>
          <p:nvPr/>
        </p:nvCxnSpPr>
        <p:spPr>
          <a:xfrm rot="10800000">
            <a:off x="838200" y="6485313"/>
            <a:ext cx="10515600" cy="0"/>
          </a:xfrm>
          <a:prstGeom prst="straightConnector1">
            <a:avLst/>
          </a:prstGeom>
          <a:noFill/>
          <a:ln cap="flat" cmpd="sng" w="57150">
            <a:solidFill>
              <a:schemeClr val="accent4"/>
            </a:solidFill>
            <a:prstDash val="solid"/>
            <a:miter lim="800000"/>
            <a:headEnd len="sm" w="sm" type="none"/>
            <a:tailEnd len="sm" w="sm"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1" name="Shape 511"/>
        <p:cNvGrpSpPr/>
        <p:nvPr/>
      </p:nvGrpSpPr>
      <p:grpSpPr>
        <a:xfrm>
          <a:off x="0" y="0"/>
          <a:ext cx="0" cy="0"/>
          <a:chOff x="0" y="0"/>
          <a:chExt cx="0" cy="0"/>
        </a:xfrm>
      </p:grpSpPr>
      <p:sp>
        <p:nvSpPr>
          <p:cNvPr id="512" name="Google Shape;512;p3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3" name="Google Shape;513;p33"/>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14" name="Google Shape;514;p33"/>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515" name="Google Shape;515;p33"/>
          <p:cNvSpPr txBox="1"/>
          <p:nvPr>
            <p:ph type="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2059305" rtl="0" algn="l">
              <a:lnSpc>
                <a:spcPct val="90000"/>
              </a:lnSpc>
              <a:spcBef>
                <a:spcPts val="0"/>
              </a:spcBef>
              <a:spcAft>
                <a:spcPts val="0"/>
              </a:spcAft>
              <a:buClr>
                <a:schemeClr val="dk1"/>
              </a:buClr>
              <a:buSzPts val="3400"/>
              <a:buFont typeface="Play"/>
              <a:buNone/>
            </a:pPr>
            <a:r>
              <a:rPr lang="en-US" sz="3400">
                <a:solidFill>
                  <a:schemeClr val="dk1"/>
                </a:solidFill>
                <a:latin typeface="Play"/>
                <a:ea typeface="Play"/>
                <a:cs typeface="Play"/>
                <a:sym typeface="Play"/>
              </a:rPr>
              <a:t>Rack Awareness</a:t>
            </a:r>
            <a:endParaRPr/>
          </a:p>
        </p:txBody>
      </p:sp>
      <p:sp>
        <p:nvSpPr>
          <p:cNvPr id="516" name="Google Shape;516;p33"/>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17" name="Google Shape;517;p33"/>
          <p:cNvSpPr/>
          <p:nvPr/>
        </p:nvSpPr>
        <p:spPr>
          <a:xfrm>
            <a:off x="481029"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518" name="Google Shape;518;p33"/>
          <p:cNvPicPr preferRelativeResize="0"/>
          <p:nvPr/>
        </p:nvPicPr>
        <p:blipFill rotWithShape="1">
          <a:blip r:embed="rId3">
            <a:alphaModFix/>
          </a:blip>
          <a:srcRect b="0" l="0" r="0" t="0"/>
          <a:stretch/>
        </p:blipFill>
        <p:spPr>
          <a:xfrm>
            <a:off x="5414356" y="1344925"/>
            <a:ext cx="6408836" cy="401689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2" name="Shape 522"/>
        <p:cNvGrpSpPr/>
        <p:nvPr/>
      </p:nvGrpSpPr>
      <p:grpSpPr>
        <a:xfrm>
          <a:off x="0" y="0"/>
          <a:ext cx="0" cy="0"/>
          <a:chOff x="0" y="0"/>
          <a:chExt cx="0" cy="0"/>
        </a:xfrm>
      </p:grpSpPr>
      <p:sp>
        <p:nvSpPr>
          <p:cNvPr id="523" name="Google Shape;523;p34"/>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524" name="Google Shape;524;p34"/>
          <p:cNvSpPr txBox="1"/>
          <p:nvPr>
            <p:ph type="title"/>
          </p:nvPr>
        </p:nvSpPr>
        <p:spPr>
          <a:xfrm>
            <a:off x="1113810" y="2825248"/>
            <a:ext cx="4036334" cy="2387600"/>
          </a:xfrm>
          <a:prstGeom prst="rect">
            <a:avLst/>
          </a:prstGeom>
          <a:noFill/>
          <a:ln>
            <a:noFill/>
          </a:ln>
        </p:spPr>
        <p:txBody>
          <a:bodyPr anchorCtr="0" anchor="t" bIns="45700" lIns="91425" spcFirstLastPara="1" rIns="91425" wrap="square" tIns="45700">
            <a:normAutofit/>
          </a:bodyPr>
          <a:lstStyle/>
          <a:p>
            <a:pPr indent="0" lvl="0" marL="1719580" rtl="0" algn="l">
              <a:lnSpc>
                <a:spcPct val="90000"/>
              </a:lnSpc>
              <a:spcBef>
                <a:spcPts val="0"/>
              </a:spcBef>
              <a:spcAft>
                <a:spcPts val="0"/>
              </a:spcAft>
              <a:buClr>
                <a:schemeClr val="dk1"/>
              </a:buClr>
              <a:buSzPts val="4600"/>
              <a:buFont typeface="Play"/>
              <a:buNone/>
            </a:pPr>
            <a:r>
              <a:rPr lang="en-US" sz="4600">
                <a:solidFill>
                  <a:schemeClr val="dk1"/>
                </a:solidFill>
                <a:latin typeface="Play"/>
                <a:ea typeface="Play"/>
                <a:cs typeface="Play"/>
                <a:sym typeface="Play"/>
              </a:rPr>
              <a:t>Input and Output II</a:t>
            </a:r>
            <a:endParaRPr/>
          </a:p>
        </p:txBody>
      </p:sp>
      <p:grpSp>
        <p:nvGrpSpPr>
          <p:cNvPr id="525" name="Google Shape;525;p34"/>
          <p:cNvGrpSpPr/>
          <p:nvPr/>
        </p:nvGrpSpPr>
        <p:grpSpPr>
          <a:xfrm>
            <a:off x="0" y="2849524"/>
            <a:ext cx="731521" cy="673460"/>
            <a:chOff x="3940602" y="308034"/>
            <a:chExt cx="2116791" cy="3428999"/>
          </a:xfrm>
        </p:grpSpPr>
        <p:sp>
          <p:nvSpPr>
            <p:cNvPr id="526" name="Google Shape;526;p34"/>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7" name="Google Shape;527;p34"/>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8" name="Google Shape;528;p34"/>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29" name="Google Shape;529;p34"/>
          <p:cNvSpPr/>
          <p:nvPr/>
        </p:nvSpPr>
        <p:spPr>
          <a:xfrm>
            <a:off x="5685810" y="679732"/>
            <a:ext cx="6009366" cy="5423880"/>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30" name="Google Shape;530;p34"/>
          <p:cNvPicPr preferRelativeResize="0"/>
          <p:nvPr/>
        </p:nvPicPr>
        <p:blipFill rotWithShape="1">
          <a:blip r:embed="rId3">
            <a:alphaModFix/>
          </a:blip>
          <a:srcRect b="0" l="0" r="0" t="0"/>
          <a:stretch/>
        </p:blipFill>
        <p:spPr>
          <a:xfrm>
            <a:off x="5922492" y="1490484"/>
            <a:ext cx="5536001" cy="3802375"/>
          </a:xfrm>
          <a:prstGeom prst="rect">
            <a:avLst/>
          </a:prstGeom>
          <a:noFill/>
          <a:ln>
            <a:noFill/>
          </a:ln>
        </p:spPr>
      </p:pic>
      <p:sp>
        <p:nvSpPr>
          <p:cNvPr id="531" name="Google Shape;531;p34"/>
          <p:cNvSpPr/>
          <p:nvPr/>
        </p:nvSpPr>
        <p:spPr>
          <a:xfrm flipH="1">
            <a:off x="5687568" y="6355073"/>
            <a:ext cx="6007608" cy="4571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5" name="Shape 535"/>
        <p:cNvGrpSpPr/>
        <p:nvPr/>
      </p:nvGrpSpPr>
      <p:grpSpPr>
        <a:xfrm>
          <a:off x="0" y="0"/>
          <a:ext cx="0" cy="0"/>
          <a:chOff x="0" y="0"/>
          <a:chExt cx="0" cy="0"/>
        </a:xfrm>
      </p:grpSpPr>
      <p:sp>
        <p:nvSpPr>
          <p:cNvPr id="536" name="Google Shape;536;p3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7" name="Google Shape;537;p35"/>
          <p:cNvSpPr/>
          <p:nvPr/>
        </p:nvSpPr>
        <p:spPr>
          <a:xfrm>
            <a:off x="-1" y="0"/>
            <a:ext cx="4818889" cy="68580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8" name="Google Shape;538;p35"/>
          <p:cNvSpPr/>
          <p:nvPr/>
        </p:nvSpPr>
        <p:spPr>
          <a:xfrm>
            <a:off x="1" y="0"/>
            <a:ext cx="4811477" cy="68580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539" name="Google Shape;539;p35"/>
          <p:cNvSpPr txBox="1"/>
          <p:nvPr>
            <p:ph type="title"/>
          </p:nvPr>
        </p:nvSpPr>
        <p:spPr>
          <a:xfrm>
            <a:off x="621792" y="1161288"/>
            <a:ext cx="3602736" cy="4526280"/>
          </a:xfrm>
          <a:prstGeom prst="rect">
            <a:avLst/>
          </a:prstGeom>
          <a:noFill/>
          <a:ln>
            <a:noFill/>
          </a:ln>
        </p:spPr>
        <p:txBody>
          <a:bodyPr anchorCtr="0" anchor="ctr" bIns="45700" lIns="91425" spcFirstLastPara="1" rIns="91425" wrap="square" tIns="45700">
            <a:normAutofit/>
          </a:bodyPr>
          <a:lstStyle/>
          <a:p>
            <a:pPr indent="0" lvl="0" marL="2832100" rtl="0" algn="l">
              <a:lnSpc>
                <a:spcPct val="90000"/>
              </a:lnSpc>
              <a:spcBef>
                <a:spcPts val="0"/>
              </a:spcBef>
              <a:spcAft>
                <a:spcPts val="0"/>
              </a:spcAft>
              <a:buClr>
                <a:schemeClr val="dk1"/>
              </a:buClr>
              <a:buSzPts val="2200"/>
              <a:buFont typeface="Play"/>
              <a:buNone/>
            </a:pPr>
            <a:r>
              <a:rPr lang="en-US" sz="2200">
                <a:solidFill>
                  <a:schemeClr val="dk1"/>
                </a:solidFill>
                <a:latin typeface="Play"/>
                <a:ea typeface="Play"/>
                <a:cs typeface="Play"/>
                <a:sym typeface="Play"/>
              </a:rPr>
              <a:t>Bad Input</a:t>
            </a:r>
            <a:endParaRPr/>
          </a:p>
        </p:txBody>
      </p:sp>
      <p:sp>
        <p:nvSpPr>
          <p:cNvPr id="540" name="Google Shape;540;p35"/>
          <p:cNvSpPr/>
          <p:nvPr/>
        </p:nvSpPr>
        <p:spPr>
          <a:xfrm>
            <a:off x="0" y="3081528"/>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41" name="Google Shape;541;p35"/>
          <p:cNvGrpSpPr/>
          <p:nvPr/>
        </p:nvGrpSpPr>
        <p:grpSpPr>
          <a:xfrm>
            <a:off x="5303520" y="718001"/>
            <a:ext cx="6364224" cy="5431141"/>
            <a:chOff x="0" y="41345"/>
            <a:chExt cx="6364224" cy="5431141"/>
          </a:xfrm>
        </p:grpSpPr>
        <p:sp>
          <p:nvSpPr>
            <p:cNvPr id="542" name="Google Shape;542;p35"/>
            <p:cNvSpPr/>
            <p:nvPr/>
          </p:nvSpPr>
          <p:spPr>
            <a:xfrm>
              <a:off x="0" y="41345"/>
              <a:ext cx="6364224" cy="875160"/>
            </a:xfrm>
            <a:prstGeom prst="roundRect">
              <a:avLst>
                <a:gd fmla="val 16667" name="adj"/>
              </a:avLst>
            </a:prstGeom>
            <a:solidFill>
              <a:srgbClr val="E9713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5"/>
            <p:cNvSpPr txBox="1"/>
            <p:nvPr/>
          </p:nvSpPr>
          <p:spPr>
            <a:xfrm>
              <a:off x="42722" y="84067"/>
              <a:ext cx="6278780" cy="789716"/>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Arial"/>
                <a:buNone/>
              </a:pPr>
              <a:r>
                <a:rPr lang="en-US" sz="2200">
                  <a:solidFill>
                    <a:schemeClr val="lt1"/>
                  </a:solidFill>
                  <a:latin typeface="Arial"/>
                  <a:ea typeface="Arial"/>
                  <a:cs typeface="Arial"/>
                  <a:sym typeface="Arial"/>
                </a:rPr>
                <a:t>∗	Hadoop provides an option to skip bad records:</a:t>
              </a:r>
              <a:endParaRPr/>
            </a:p>
          </p:txBody>
        </p:sp>
        <p:sp>
          <p:nvSpPr>
            <p:cNvPr id="544" name="Google Shape;544;p35"/>
            <p:cNvSpPr/>
            <p:nvPr/>
          </p:nvSpPr>
          <p:spPr>
            <a:xfrm>
              <a:off x="0" y="916505"/>
              <a:ext cx="6364224" cy="364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5"/>
            <p:cNvSpPr txBox="1"/>
            <p:nvPr/>
          </p:nvSpPr>
          <p:spPr>
            <a:xfrm>
              <a:off x="0" y="916505"/>
              <a:ext cx="6364224" cy="364320"/>
            </a:xfrm>
            <a:prstGeom prst="rect">
              <a:avLst/>
            </a:prstGeom>
            <a:noFill/>
            <a:ln>
              <a:noFill/>
            </a:ln>
          </p:spPr>
          <p:txBody>
            <a:bodyPr anchorCtr="0" anchor="t" bIns="27925" lIns="202050" spcFirstLastPara="1" rIns="156450" wrap="square" tIns="27925">
              <a:noAutofit/>
            </a:bodyPr>
            <a:lstStyle/>
            <a:p>
              <a:pPr indent="-171450" lvl="1" marL="171450" marR="0" rtl="0" algn="l">
                <a:lnSpc>
                  <a:spcPct val="9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	SkipBadRecords class</a:t>
              </a:r>
              <a:endParaRPr/>
            </a:p>
          </p:txBody>
        </p:sp>
        <p:sp>
          <p:nvSpPr>
            <p:cNvPr id="546" name="Google Shape;546;p35"/>
            <p:cNvSpPr/>
            <p:nvPr/>
          </p:nvSpPr>
          <p:spPr>
            <a:xfrm>
              <a:off x="0" y="1280825"/>
              <a:ext cx="6364224" cy="875160"/>
            </a:xfrm>
            <a:prstGeom prst="roundRect">
              <a:avLst>
                <a:gd fmla="val 16667" name="adj"/>
              </a:avLst>
            </a:prstGeom>
            <a:solidFill>
              <a:srgbClr val="C8BE1E"/>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5"/>
            <p:cNvSpPr txBox="1"/>
            <p:nvPr/>
          </p:nvSpPr>
          <p:spPr>
            <a:xfrm>
              <a:off x="42722" y="1323547"/>
              <a:ext cx="6278780" cy="789716"/>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Arial"/>
                <a:buNone/>
              </a:pPr>
              <a:r>
                <a:rPr lang="en-US" sz="2200">
                  <a:solidFill>
                    <a:schemeClr val="lt1"/>
                  </a:solidFill>
                  <a:latin typeface="Arial"/>
                  <a:ea typeface="Arial"/>
                  <a:cs typeface="Arial"/>
                  <a:sym typeface="Arial"/>
                </a:rPr>
                <a:t>∗	Used when map tasks crash deterministically on certain input</a:t>
              </a:r>
              <a:endParaRPr/>
            </a:p>
          </p:txBody>
        </p:sp>
        <p:sp>
          <p:nvSpPr>
            <p:cNvPr id="548" name="Google Shape;548;p35"/>
            <p:cNvSpPr/>
            <p:nvPr/>
          </p:nvSpPr>
          <p:spPr>
            <a:xfrm>
              <a:off x="0" y="2155986"/>
              <a:ext cx="6364224" cy="1138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5"/>
            <p:cNvSpPr txBox="1"/>
            <p:nvPr/>
          </p:nvSpPr>
          <p:spPr>
            <a:xfrm>
              <a:off x="0" y="2155986"/>
              <a:ext cx="6364224" cy="1138500"/>
            </a:xfrm>
            <a:prstGeom prst="rect">
              <a:avLst/>
            </a:prstGeom>
            <a:noFill/>
            <a:ln>
              <a:noFill/>
            </a:ln>
          </p:spPr>
          <p:txBody>
            <a:bodyPr anchorCtr="0" anchor="t" bIns="27925" lIns="202050" spcFirstLastPara="1" rIns="156450" wrap="square" tIns="27925">
              <a:noAutofit/>
            </a:bodyPr>
            <a:lstStyle/>
            <a:p>
              <a:pPr indent="-171450" lvl="1" marL="171450" marR="0" rtl="0" algn="l">
                <a:lnSpc>
                  <a:spcPct val="9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	Usually, a result of bugs in the map function</a:t>
              </a:r>
              <a:endParaRPr/>
            </a:p>
            <a:p>
              <a:pPr indent="-171450" lvl="1" marL="171450" marR="0" rtl="0" algn="l">
                <a:lnSpc>
                  <a:spcPct val="90000"/>
                </a:lnSpc>
                <a:spcBef>
                  <a:spcPts val="34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	May be in 3rd party libraries</a:t>
              </a:r>
              <a:endParaRPr/>
            </a:p>
            <a:p>
              <a:pPr indent="-171450" lvl="1" marL="171450" marR="0" rtl="0" algn="l">
                <a:lnSpc>
                  <a:spcPct val="90000"/>
                </a:lnSpc>
                <a:spcBef>
                  <a:spcPts val="34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	Tasks never complete successfully even after multiple attempts</a:t>
              </a:r>
              <a:endParaRPr/>
            </a:p>
          </p:txBody>
        </p:sp>
        <p:sp>
          <p:nvSpPr>
            <p:cNvPr id="550" name="Google Shape;550;p35"/>
            <p:cNvSpPr/>
            <p:nvPr/>
          </p:nvSpPr>
          <p:spPr>
            <a:xfrm>
              <a:off x="0" y="3294485"/>
              <a:ext cx="6364224" cy="875160"/>
            </a:xfrm>
            <a:prstGeom prst="roundRect">
              <a:avLst>
                <a:gd fmla="val 16667" name="adj"/>
              </a:avLst>
            </a:prstGeom>
            <a:solidFill>
              <a:srgbClr val="55971D"/>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5"/>
            <p:cNvSpPr txBox="1"/>
            <p:nvPr/>
          </p:nvSpPr>
          <p:spPr>
            <a:xfrm>
              <a:off x="42722" y="3337207"/>
              <a:ext cx="6278780" cy="789716"/>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Arial"/>
                <a:buNone/>
              </a:pPr>
              <a:r>
                <a:rPr lang="en-US" sz="2200">
                  <a:solidFill>
                    <a:schemeClr val="lt1"/>
                  </a:solidFill>
                  <a:latin typeface="Arial"/>
                  <a:ea typeface="Arial"/>
                  <a:cs typeface="Arial"/>
                  <a:sym typeface="Arial"/>
                </a:rPr>
                <a:t>∗	Framework goes into ‘skipping mode’ after a certain number of map failures</a:t>
              </a:r>
              <a:endParaRPr/>
            </a:p>
          </p:txBody>
        </p:sp>
        <p:sp>
          <p:nvSpPr>
            <p:cNvPr id="552" name="Google Shape;552;p35"/>
            <p:cNvSpPr/>
            <p:nvPr/>
          </p:nvSpPr>
          <p:spPr>
            <a:xfrm>
              <a:off x="0" y="4233006"/>
              <a:ext cx="6364224" cy="875160"/>
            </a:xfrm>
            <a:prstGeom prst="roundRect">
              <a:avLst>
                <a:gd fmla="val 16667" name="adj"/>
              </a:avLst>
            </a:prstGeom>
            <a:solidFill>
              <a:srgbClr val="186923"/>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5"/>
            <p:cNvSpPr txBox="1"/>
            <p:nvPr/>
          </p:nvSpPr>
          <p:spPr>
            <a:xfrm>
              <a:off x="42722" y="4275728"/>
              <a:ext cx="6278780" cy="789716"/>
            </a:xfrm>
            <a:prstGeom prst="rect">
              <a:avLst/>
            </a:prstGeom>
            <a:noFill/>
            <a:ln>
              <a:noFill/>
            </a:ln>
          </p:spPr>
          <p:txBody>
            <a:bodyPr anchorCtr="0" anchor="ctr" bIns="83800" lIns="83800" spcFirstLastPara="1" rIns="83800" wrap="square" tIns="83800">
              <a:noAutofit/>
            </a:bodyPr>
            <a:lstStyle/>
            <a:p>
              <a:pPr indent="0" lvl="0" marL="0" marR="0" rtl="0" algn="l">
                <a:lnSpc>
                  <a:spcPct val="90000"/>
                </a:lnSpc>
                <a:spcBef>
                  <a:spcPts val="0"/>
                </a:spcBef>
                <a:spcAft>
                  <a:spcPts val="0"/>
                </a:spcAft>
                <a:buClr>
                  <a:schemeClr val="lt1"/>
                </a:buClr>
                <a:buSzPts val="2200"/>
                <a:buFont typeface="Arial"/>
                <a:buNone/>
              </a:pPr>
              <a:r>
                <a:rPr lang="en-US" sz="2200">
                  <a:solidFill>
                    <a:schemeClr val="lt1"/>
                  </a:solidFill>
                  <a:latin typeface="Arial"/>
                  <a:ea typeface="Arial"/>
                  <a:cs typeface="Arial"/>
                  <a:sym typeface="Arial"/>
                </a:rPr>
                <a:t>∗	Number of records skipped depends on how frequently the processed record</a:t>
              </a:r>
              <a:endParaRPr/>
            </a:p>
          </p:txBody>
        </p:sp>
        <p:sp>
          <p:nvSpPr>
            <p:cNvPr id="554" name="Google Shape;554;p35"/>
            <p:cNvSpPr/>
            <p:nvPr/>
          </p:nvSpPr>
          <p:spPr>
            <a:xfrm>
              <a:off x="0" y="5108166"/>
              <a:ext cx="6364224" cy="364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5"/>
            <p:cNvSpPr txBox="1"/>
            <p:nvPr/>
          </p:nvSpPr>
          <p:spPr>
            <a:xfrm>
              <a:off x="0" y="5108166"/>
              <a:ext cx="6364224" cy="364320"/>
            </a:xfrm>
            <a:prstGeom prst="rect">
              <a:avLst/>
            </a:prstGeom>
            <a:noFill/>
            <a:ln>
              <a:noFill/>
            </a:ln>
          </p:spPr>
          <p:txBody>
            <a:bodyPr anchorCtr="0" anchor="t" bIns="27925" lIns="202050" spcFirstLastPara="1" rIns="156450" wrap="square" tIns="27925">
              <a:noAutofit/>
            </a:bodyPr>
            <a:lstStyle/>
            <a:p>
              <a:pPr indent="-171450" lvl="1" marL="171450" marR="0" rtl="0" algn="l">
                <a:lnSpc>
                  <a:spcPct val="9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counter is incremented by the application</a:t>
              </a: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9" name="Shape 559"/>
        <p:cNvGrpSpPr/>
        <p:nvPr/>
      </p:nvGrpSpPr>
      <p:grpSpPr>
        <a:xfrm>
          <a:off x="0" y="0"/>
          <a:ext cx="0" cy="0"/>
          <a:chOff x="0" y="0"/>
          <a:chExt cx="0" cy="0"/>
        </a:xfrm>
      </p:grpSpPr>
      <p:sp>
        <p:nvSpPr>
          <p:cNvPr id="560" name="Google Shape;560;p3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1" name="Google Shape;561;p36"/>
          <p:cNvSpPr/>
          <p:nvPr/>
        </p:nvSpPr>
        <p:spPr>
          <a:xfrm>
            <a:off x="-1" y="0"/>
            <a:ext cx="4818889" cy="68580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62" name="Google Shape;562;p36"/>
          <p:cNvSpPr/>
          <p:nvPr/>
        </p:nvSpPr>
        <p:spPr>
          <a:xfrm>
            <a:off x="1" y="0"/>
            <a:ext cx="4811477" cy="68580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563" name="Google Shape;563;p36"/>
          <p:cNvSpPr txBox="1"/>
          <p:nvPr>
            <p:ph type="title"/>
          </p:nvPr>
        </p:nvSpPr>
        <p:spPr>
          <a:xfrm>
            <a:off x="621792" y="1161288"/>
            <a:ext cx="3602736" cy="4526280"/>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chemeClr val="dk1"/>
              </a:buClr>
              <a:buSzPts val="4000"/>
              <a:buFont typeface="Play"/>
              <a:buNone/>
            </a:pPr>
            <a:r>
              <a:rPr lang="en-US" sz="4000">
                <a:solidFill>
                  <a:schemeClr val="dk1"/>
                </a:solidFill>
                <a:latin typeface="Play"/>
                <a:ea typeface="Play"/>
                <a:cs typeface="Play"/>
                <a:sym typeface="Play"/>
              </a:rPr>
              <a:t>Map Reduce Core Functionality III</a:t>
            </a:r>
            <a:endParaRPr/>
          </a:p>
        </p:txBody>
      </p:sp>
      <p:sp>
        <p:nvSpPr>
          <p:cNvPr id="564" name="Google Shape;564;p36"/>
          <p:cNvSpPr/>
          <p:nvPr/>
        </p:nvSpPr>
        <p:spPr>
          <a:xfrm>
            <a:off x="0" y="3081528"/>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65" name="Google Shape;565;p36"/>
          <p:cNvGrpSpPr/>
          <p:nvPr/>
        </p:nvGrpSpPr>
        <p:grpSpPr>
          <a:xfrm>
            <a:off x="5514381" y="670790"/>
            <a:ext cx="5942500" cy="5520612"/>
            <a:chOff x="210861" y="-5866"/>
            <a:chExt cx="5942500" cy="5520612"/>
          </a:xfrm>
        </p:grpSpPr>
        <p:sp>
          <p:nvSpPr>
            <p:cNvPr id="566" name="Google Shape;566;p36"/>
            <p:cNvSpPr/>
            <p:nvPr/>
          </p:nvSpPr>
          <p:spPr>
            <a:xfrm>
              <a:off x="421805" y="-5866"/>
              <a:ext cx="5520612" cy="5520612"/>
            </a:xfrm>
            <a:custGeom>
              <a:rect b="b" l="l" r="r" t="t"/>
              <a:pathLst>
                <a:path extrusionOk="0" h="120000" w="120000">
                  <a:moveTo>
                    <a:pt x="74800" y="5377"/>
                  </a:moveTo>
                  <a:cubicBezTo>
                    <a:pt x="100659" y="12384"/>
                    <a:pt x="118061" y="36563"/>
                    <a:pt x="116495" y="63308"/>
                  </a:cubicBezTo>
                  <a:cubicBezTo>
                    <a:pt x="114929" y="90053"/>
                    <a:pt x="94823" y="112036"/>
                    <a:pt x="68324" y="115977"/>
                  </a:cubicBezTo>
                  <a:cubicBezTo>
                    <a:pt x="41824" y="119917"/>
                    <a:pt x="16192" y="104736"/>
                    <a:pt x="6912" y="79603"/>
                  </a:cubicBezTo>
                  <a:cubicBezTo>
                    <a:pt x="-2369" y="54470"/>
                    <a:pt x="7246" y="26274"/>
                    <a:pt x="29947" y="12047"/>
                  </a:cubicBezTo>
                  <a:lnTo>
                    <a:pt x="28398" y="9026"/>
                  </a:lnTo>
                  <a:lnTo>
                    <a:pt x="35614" y="12462"/>
                  </a:lnTo>
                  <a:lnTo>
                    <a:pt x="34397" y="20721"/>
                  </a:lnTo>
                  <a:lnTo>
                    <a:pt x="32848" y="17701"/>
                  </a:lnTo>
                  <a:cubicBezTo>
                    <a:pt x="12867" y="30528"/>
                    <a:pt x="4586" y="55587"/>
                    <a:pt x="12992" y="77794"/>
                  </a:cubicBezTo>
                  <a:cubicBezTo>
                    <a:pt x="21397" y="100000"/>
                    <a:pt x="44196" y="113295"/>
                    <a:pt x="67662" y="109676"/>
                  </a:cubicBezTo>
                  <a:cubicBezTo>
                    <a:pt x="91129" y="106056"/>
                    <a:pt x="108861" y="86509"/>
                    <a:pt x="110185" y="62802"/>
                  </a:cubicBezTo>
                  <a:cubicBezTo>
                    <a:pt x="111509" y="39095"/>
                    <a:pt x="96062" y="17695"/>
                    <a:pt x="73145" y="11486"/>
                  </a:cubicBezTo>
                  <a:close/>
                </a:path>
              </a:pathLst>
            </a:custGeom>
            <a:solidFill>
              <a:srgbClr val="DFCA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6"/>
            <p:cNvSpPr/>
            <p:nvPr/>
          </p:nvSpPr>
          <p:spPr>
            <a:xfrm>
              <a:off x="2150411" y="1466"/>
              <a:ext cx="2063400" cy="1031700"/>
            </a:xfrm>
            <a:prstGeom prst="roundRect">
              <a:avLst>
                <a:gd fmla="val 16667" name="adj"/>
              </a:avLst>
            </a:prstGeom>
            <a:solidFill>
              <a:srgbClr val="A0289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6"/>
            <p:cNvSpPr txBox="1"/>
            <p:nvPr/>
          </p:nvSpPr>
          <p:spPr>
            <a:xfrm>
              <a:off x="2200774" y="51829"/>
              <a:ext cx="1962674" cy="930974"/>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A MapReduce Job controls the execution</a:t>
              </a:r>
              <a:endParaRPr/>
            </a:p>
            <a:p>
              <a:pPr indent="-171450" lvl="1" marL="171450" marR="0" rtl="0" algn="l">
                <a:lnSpc>
                  <a:spcPct val="90000"/>
                </a:lnSpc>
                <a:spcBef>
                  <a:spcPts val="63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Splits the input data-set into independent chunks which are processed by the </a:t>
              </a:r>
              <a:r>
                <a:rPr b="0" i="1" lang="en-US" sz="1800" u="none" cap="none" strike="noStrike">
                  <a:solidFill>
                    <a:schemeClr val="lt1"/>
                  </a:solidFill>
                  <a:latin typeface="Arial"/>
                  <a:ea typeface="Arial"/>
                  <a:cs typeface="Arial"/>
                  <a:sym typeface="Arial"/>
                </a:rPr>
                <a:t>map</a:t>
              </a:r>
              <a:endParaRPr b="0" i="0" sz="1800" u="none" cap="none" strike="noStrike">
                <a:solidFill>
                  <a:schemeClr val="lt1"/>
                </a:solidFill>
                <a:latin typeface="Arial"/>
                <a:ea typeface="Arial"/>
                <a:cs typeface="Arial"/>
                <a:sym typeface="Arial"/>
              </a:endParaRPr>
            </a:p>
            <a:p>
              <a:pPr indent="-171450" lvl="2" marL="342900" marR="0" rtl="0" algn="l">
                <a:lnSpc>
                  <a:spcPct val="90000"/>
                </a:lnSpc>
                <a:spcBef>
                  <a:spcPts val="270"/>
                </a:spcBef>
                <a:spcAft>
                  <a:spcPts val="0"/>
                </a:spcAft>
                <a:buClr>
                  <a:schemeClr val="lt1"/>
                </a:buClr>
                <a:buSzPts val="1800"/>
                <a:buFont typeface="Arial"/>
                <a:buChar char="•"/>
              </a:pPr>
              <a:r>
                <a:rPr b="0" i="1" lang="en-US" sz="1800" u="none" cap="none" strike="noStrike">
                  <a:solidFill>
                    <a:schemeClr val="lt1"/>
                  </a:solidFill>
                  <a:latin typeface="Arial"/>
                  <a:ea typeface="Arial"/>
                  <a:cs typeface="Arial"/>
                  <a:sym typeface="Arial"/>
                </a:rPr>
                <a:t>tasks </a:t>
              </a:r>
              <a:r>
                <a:rPr b="0" i="0" lang="en-US" sz="1800" u="none" cap="none" strike="noStrike">
                  <a:solidFill>
                    <a:schemeClr val="lt1"/>
                  </a:solidFill>
                  <a:latin typeface="Arial"/>
                  <a:ea typeface="Arial"/>
                  <a:cs typeface="Arial"/>
                  <a:sym typeface="Arial"/>
                </a:rPr>
                <a:t>in a completely parallel manner</a:t>
              </a:r>
              <a:endParaRPr/>
            </a:p>
          </p:txBody>
        </p:sp>
        <p:sp>
          <p:nvSpPr>
            <p:cNvPr id="569" name="Google Shape;569;p36"/>
            <p:cNvSpPr/>
            <p:nvPr/>
          </p:nvSpPr>
          <p:spPr>
            <a:xfrm>
              <a:off x="4089961" y="1121266"/>
              <a:ext cx="2063400" cy="1031700"/>
            </a:xfrm>
            <a:prstGeom prst="roundRect">
              <a:avLst>
                <a:gd fmla="val 16667" name="adj"/>
              </a:avLst>
            </a:prstGeom>
            <a:solidFill>
              <a:srgbClr val="5E2AA0"/>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6"/>
            <p:cNvSpPr txBox="1"/>
            <p:nvPr/>
          </p:nvSpPr>
          <p:spPr>
            <a:xfrm>
              <a:off x="4140324" y="1171629"/>
              <a:ext cx="1962674" cy="930974"/>
            </a:xfrm>
            <a:prstGeom prst="rect">
              <a:avLst/>
            </a:prstGeom>
            <a:noFill/>
            <a:ln>
              <a:noFill/>
            </a:ln>
          </p:spPr>
          <p:txBody>
            <a:bodyPr anchorCtr="0" anchor="t"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The framework sorts the outputs of the maps</a:t>
              </a:r>
              <a:endParaRPr/>
            </a:p>
            <a:p>
              <a:pPr indent="-171450" lvl="1" marL="171450" marR="0" rtl="0" algn="l">
                <a:lnSpc>
                  <a:spcPct val="90000"/>
                </a:lnSpc>
                <a:spcBef>
                  <a:spcPts val="63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which are then input to the </a:t>
              </a:r>
              <a:r>
                <a:rPr b="0" i="1" lang="en-US" sz="1800" u="none" cap="none" strike="noStrike">
                  <a:solidFill>
                    <a:schemeClr val="lt1"/>
                  </a:solidFill>
                  <a:latin typeface="Arial"/>
                  <a:ea typeface="Arial"/>
                  <a:cs typeface="Arial"/>
                  <a:sym typeface="Arial"/>
                </a:rPr>
                <a:t>reduce tasks</a:t>
              </a:r>
              <a:endParaRPr b="0" i="0" sz="1800" u="none" cap="none" strike="noStrike">
                <a:solidFill>
                  <a:schemeClr val="lt1"/>
                </a:solidFill>
                <a:latin typeface="Arial"/>
                <a:ea typeface="Arial"/>
                <a:cs typeface="Arial"/>
                <a:sym typeface="Arial"/>
              </a:endParaRPr>
            </a:p>
          </p:txBody>
        </p:sp>
        <p:sp>
          <p:nvSpPr>
            <p:cNvPr id="571" name="Google Shape;571;p36"/>
            <p:cNvSpPr/>
            <p:nvPr/>
          </p:nvSpPr>
          <p:spPr>
            <a:xfrm>
              <a:off x="4089961" y="3360865"/>
              <a:ext cx="2063400" cy="1031700"/>
            </a:xfrm>
            <a:prstGeom prst="roundRect">
              <a:avLst>
                <a:gd fmla="val 16667" name="adj"/>
              </a:avLst>
            </a:prstGeom>
            <a:solidFill>
              <a:srgbClr val="2A47A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6"/>
            <p:cNvSpPr txBox="1"/>
            <p:nvPr/>
          </p:nvSpPr>
          <p:spPr>
            <a:xfrm>
              <a:off x="4140324" y="3411228"/>
              <a:ext cx="1962674" cy="930974"/>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A MapReduce Task is sent the output of the framework to combine and reduce</a:t>
              </a:r>
              <a:endParaRPr/>
            </a:p>
          </p:txBody>
        </p:sp>
        <p:sp>
          <p:nvSpPr>
            <p:cNvPr id="573" name="Google Shape;573;p36"/>
            <p:cNvSpPr/>
            <p:nvPr/>
          </p:nvSpPr>
          <p:spPr>
            <a:xfrm>
              <a:off x="2150411" y="4480665"/>
              <a:ext cx="2063400" cy="1031700"/>
            </a:xfrm>
            <a:prstGeom prst="roundRect">
              <a:avLst>
                <a:gd fmla="val 16667" name="adj"/>
              </a:avLst>
            </a:prstGeom>
            <a:solidFill>
              <a:srgbClr val="2B98A3"/>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6"/>
            <p:cNvSpPr txBox="1"/>
            <p:nvPr/>
          </p:nvSpPr>
          <p:spPr>
            <a:xfrm>
              <a:off x="2200774" y="4531028"/>
              <a:ext cx="1962674" cy="930974"/>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Both the input and the output of the job are stored in a file-system</a:t>
              </a:r>
              <a:endParaRPr/>
            </a:p>
          </p:txBody>
        </p:sp>
        <p:sp>
          <p:nvSpPr>
            <p:cNvPr id="575" name="Google Shape;575;p36"/>
            <p:cNvSpPr/>
            <p:nvPr/>
          </p:nvSpPr>
          <p:spPr>
            <a:xfrm>
              <a:off x="210861" y="3360865"/>
              <a:ext cx="2063400" cy="1031700"/>
            </a:xfrm>
            <a:prstGeom prst="roundRect">
              <a:avLst>
                <a:gd fmla="val 16667" name="adj"/>
              </a:avLst>
            </a:prstGeom>
            <a:solidFill>
              <a:srgbClr val="2BA55E"/>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6"/>
            <p:cNvSpPr txBox="1"/>
            <p:nvPr/>
          </p:nvSpPr>
          <p:spPr>
            <a:xfrm>
              <a:off x="261224" y="3411228"/>
              <a:ext cx="1962674" cy="930974"/>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The framework takes care of scheduling tasks, monitoring them and re-</a:t>
              </a:r>
              <a:endParaRPr/>
            </a:p>
          </p:txBody>
        </p:sp>
        <p:sp>
          <p:nvSpPr>
            <p:cNvPr id="577" name="Google Shape;577;p36"/>
            <p:cNvSpPr/>
            <p:nvPr/>
          </p:nvSpPr>
          <p:spPr>
            <a:xfrm>
              <a:off x="210861" y="1121266"/>
              <a:ext cx="2063400" cy="1031700"/>
            </a:xfrm>
            <a:prstGeom prst="roundRect">
              <a:avLst>
                <a:gd fmla="val 16667" name="adj"/>
              </a:avLst>
            </a:prstGeom>
            <a:solidFill>
              <a:srgbClr val="4CA62C"/>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6"/>
            <p:cNvSpPr txBox="1"/>
            <p:nvPr/>
          </p:nvSpPr>
          <p:spPr>
            <a:xfrm>
              <a:off x="261224" y="1171629"/>
              <a:ext cx="1962674" cy="930974"/>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executes the failed tasks</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descr="$PPTXTitle" id="583" name="Google Shape;583;p37"/>
          <p:cNvSpPr txBox="1"/>
          <p:nvPr>
            <p:ph type="title"/>
          </p:nvPr>
        </p:nvSpPr>
        <p:spPr>
          <a:xfrm>
            <a:off x="4130802" y="580389"/>
            <a:ext cx="3930015" cy="696595"/>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1"/>
              </a:buClr>
              <a:buSzPts val="4400"/>
              <a:buFont typeface="Play"/>
              <a:buNone/>
            </a:pPr>
            <a:r>
              <a:rPr lang="en-US"/>
              <a:t>Distributed Grep</a:t>
            </a:r>
            <a:endParaRPr/>
          </a:p>
        </p:txBody>
      </p:sp>
      <p:sp>
        <p:nvSpPr>
          <p:cNvPr id="584" name="Google Shape;584;p37"/>
          <p:cNvSpPr txBox="1"/>
          <p:nvPr/>
        </p:nvSpPr>
        <p:spPr>
          <a:xfrm>
            <a:off x="1920239" y="3107435"/>
            <a:ext cx="1143000" cy="19050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76525">
            <a:spAutoFit/>
          </a:bodyPr>
          <a:lstStyle/>
          <a:p>
            <a:pPr indent="0" lvl="0" marL="0" marR="0" rtl="0" algn="l">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41275" lvl="0" marL="320040" marR="320040" rtl="0" algn="just">
              <a:lnSpc>
                <a:spcPct val="100000"/>
              </a:lnSpc>
              <a:spcBef>
                <a:spcPts val="0"/>
              </a:spcBef>
              <a:spcAft>
                <a:spcPts val="0"/>
              </a:spcAft>
              <a:buNone/>
            </a:pPr>
            <a:r>
              <a:rPr lang="en-US" sz="2000">
                <a:solidFill>
                  <a:schemeClr val="dk1"/>
                </a:solidFill>
                <a:latin typeface="Arial"/>
                <a:ea typeface="Arial"/>
                <a:cs typeface="Arial"/>
                <a:sym typeface="Arial"/>
              </a:rPr>
              <a:t>Very big data</a:t>
            </a:r>
            <a:endParaRPr sz="2000">
              <a:solidFill>
                <a:schemeClr val="dk1"/>
              </a:solidFill>
              <a:latin typeface="Arial"/>
              <a:ea typeface="Arial"/>
              <a:cs typeface="Arial"/>
              <a:sym typeface="Arial"/>
            </a:endParaRPr>
          </a:p>
        </p:txBody>
      </p:sp>
      <p:sp>
        <p:nvSpPr>
          <p:cNvPr id="585" name="Google Shape;585;p37"/>
          <p:cNvSpPr/>
          <p:nvPr/>
        </p:nvSpPr>
        <p:spPr>
          <a:xfrm>
            <a:off x="4315967" y="4326635"/>
            <a:ext cx="1905" cy="228600"/>
          </a:xfrm>
          <a:custGeom>
            <a:rect b="b" l="l" r="r" t="t"/>
            <a:pathLst>
              <a:path extrusionOk="0" h="228600" w="1904">
                <a:moveTo>
                  <a:pt x="0" y="0"/>
                </a:moveTo>
                <a:lnTo>
                  <a:pt x="1524" y="228600"/>
                </a:lnTo>
              </a:path>
            </a:pathLst>
          </a:custGeom>
          <a:noFill/>
          <a:ln cap="flat" cmpd="sng" w="76200">
            <a:solidFill>
              <a:srgbClr val="000000"/>
            </a:solidFill>
            <a:prstDash val="dot"/>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6" name="Google Shape;586;p37"/>
          <p:cNvSpPr/>
          <p:nvPr/>
        </p:nvSpPr>
        <p:spPr>
          <a:xfrm>
            <a:off x="3186683" y="3908805"/>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7" name="Google Shape;587;p37"/>
          <p:cNvSpPr txBox="1"/>
          <p:nvPr/>
        </p:nvSpPr>
        <p:spPr>
          <a:xfrm>
            <a:off x="3749040" y="3107435"/>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1575">
            <a:spAutoFit/>
          </a:bodyPr>
          <a:lstStyle/>
          <a:p>
            <a:pPr indent="0" lvl="0" marL="90805" marR="0" rtl="0" algn="l">
              <a:lnSpc>
                <a:spcPct val="100000"/>
              </a:lnSpc>
              <a:spcBef>
                <a:spcPts val="0"/>
              </a:spcBef>
              <a:spcAft>
                <a:spcPts val="0"/>
              </a:spcAft>
              <a:buNone/>
            </a:pPr>
            <a:r>
              <a:rPr lang="en-US" sz="1800">
                <a:solidFill>
                  <a:schemeClr val="dk1"/>
                </a:solidFill>
                <a:latin typeface="Arial"/>
                <a:ea typeface="Arial"/>
                <a:cs typeface="Arial"/>
                <a:sym typeface="Arial"/>
              </a:rPr>
              <a:t>Split data</a:t>
            </a:r>
            <a:endParaRPr sz="1800">
              <a:solidFill>
                <a:schemeClr val="dk1"/>
              </a:solidFill>
              <a:latin typeface="Arial"/>
              <a:ea typeface="Arial"/>
              <a:cs typeface="Arial"/>
              <a:sym typeface="Arial"/>
            </a:endParaRPr>
          </a:p>
        </p:txBody>
      </p:sp>
      <p:sp>
        <p:nvSpPr>
          <p:cNvPr id="588" name="Google Shape;588;p37"/>
          <p:cNvSpPr txBox="1"/>
          <p:nvPr/>
        </p:nvSpPr>
        <p:spPr>
          <a:xfrm>
            <a:off x="3749040" y="3488435"/>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1575">
            <a:spAutoFit/>
          </a:bodyPr>
          <a:lstStyle/>
          <a:p>
            <a:pPr indent="0" lvl="0" marL="90805" marR="0" rtl="0" algn="l">
              <a:lnSpc>
                <a:spcPct val="100000"/>
              </a:lnSpc>
              <a:spcBef>
                <a:spcPts val="0"/>
              </a:spcBef>
              <a:spcAft>
                <a:spcPts val="0"/>
              </a:spcAft>
              <a:buNone/>
            </a:pPr>
            <a:r>
              <a:rPr lang="en-US" sz="1800">
                <a:solidFill>
                  <a:schemeClr val="dk1"/>
                </a:solidFill>
                <a:latin typeface="Arial"/>
                <a:ea typeface="Arial"/>
                <a:cs typeface="Arial"/>
                <a:sym typeface="Arial"/>
              </a:rPr>
              <a:t>Split data</a:t>
            </a:r>
            <a:endParaRPr sz="1800">
              <a:solidFill>
                <a:schemeClr val="dk1"/>
              </a:solidFill>
              <a:latin typeface="Arial"/>
              <a:ea typeface="Arial"/>
              <a:cs typeface="Arial"/>
              <a:sym typeface="Arial"/>
            </a:endParaRPr>
          </a:p>
        </p:txBody>
      </p:sp>
      <p:sp>
        <p:nvSpPr>
          <p:cNvPr id="589" name="Google Shape;589;p37"/>
          <p:cNvSpPr txBox="1"/>
          <p:nvPr/>
        </p:nvSpPr>
        <p:spPr>
          <a:xfrm>
            <a:off x="3749040" y="3869435"/>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050">
            <a:spAutoFit/>
          </a:bodyPr>
          <a:lstStyle/>
          <a:p>
            <a:pPr indent="0" lvl="0" marL="97155" marR="0" rtl="0" algn="l">
              <a:lnSpc>
                <a:spcPct val="100000"/>
              </a:lnSpc>
              <a:spcBef>
                <a:spcPts val="0"/>
              </a:spcBef>
              <a:spcAft>
                <a:spcPts val="0"/>
              </a:spcAft>
              <a:buNone/>
            </a:pPr>
            <a:r>
              <a:rPr lang="en-US" sz="1800">
                <a:solidFill>
                  <a:schemeClr val="dk1"/>
                </a:solidFill>
                <a:latin typeface="Arial"/>
                <a:ea typeface="Arial"/>
                <a:cs typeface="Arial"/>
                <a:sym typeface="Arial"/>
              </a:rPr>
              <a:t>Split data</a:t>
            </a:r>
            <a:endParaRPr sz="1800">
              <a:solidFill>
                <a:schemeClr val="dk1"/>
              </a:solidFill>
              <a:latin typeface="Arial"/>
              <a:ea typeface="Arial"/>
              <a:cs typeface="Arial"/>
              <a:sym typeface="Arial"/>
            </a:endParaRPr>
          </a:p>
        </p:txBody>
      </p:sp>
      <p:sp>
        <p:nvSpPr>
          <p:cNvPr id="590" name="Google Shape;590;p37"/>
          <p:cNvSpPr txBox="1"/>
          <p:nvPr/>
        </p:nvSpPr>
        <p:spPr>
          <a:xfrm>
            <a:off x="3749040" y="4707635"/>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7600">
            <a:spAutoFit/>
          </a:bodyPr>
          <a:lstStyle/>
          <a:p>
            <a:pPr indent="0" lvl="0" marL="90805" marR="0" rtl="0" algn="l">
              <a:lnSpc>
                <a:spcPct val="100000"/>
              </a:lnSpc>
              <a:spcBef>
                <a:spcPts val="0"/>
              </a:spcBef>
              <a:spcAft>
                <a:spcPts val="0"/>
              </a:spcAft>
              <a:buNone/>
            </a:pPr>
            <a:r>
              <a:rPr lang="en-US" sz="1800">
                <a:solidFill>
                  <a:schemeClr val="dk1"/>
                </a:solidFill>
                <a:latin typeface="Arial"/>
                <a:ea typeface="Arial"/>
                <a:cs typeface="Arial"/>
                <a:sym typeface="Arial"/>
              </a:rPr>
              <a:t>Split data</a:t>
            </a:r>
            <a:endParaRPr sz="1800">
              <a:solidFill>
                <a:schemeClr val="dk1"/>
              </a:solidFill>
              <a:latin typeface="Arial"/>
              <a:ea typeface="Arial"/>
              <a:cs typeface="Arial"/>
              <a:sym typeface="Arial"/>
            </a:endParaRPr>
          </a:p>
        </p:txBody>
      </p:sp>
      <p:sp>
        <p:nvSpPr>
          <p:cNvPr id="591" name="Google Shape;591;p37"/>
          <p:cNvSpPr txBox="1"/>
          <p:nvPr/>
        </p:nvSpPr>
        <p:spPr>
          <a:xfrm>
            <a:off x="5482209" y="2965852"/>
            <a:ext cx="551180" cy="1169670"/>
          </a:xfrm>
          <a:prstGeom prst="rect">
            <a:avLst/>
          </a:prstGeom>
          <a:noFill/>
          <a:ln>
            <a:noFill/>
          </a:ln>
        </p:spPr>
        <p:txBody>
          <a:bodyPr anchorCtr="0" anchor="t" bIns="0" lIns="0" spcFirstLastPara="1" rIns="0" wrap="square" tIns="12700">
            <a:spAutoFit/>
          </a:bodyPr>
          <a:lstStyle/>
          <a:p>
            <a:pPr indent="-15875" lvl="0" marL="28575" marR="5080" rtl="0" algn="just">
              <a:lnSpc>
                <a:spcPct val="125000"/>
              </a:lnSpc>
              <a:spcBef>
                <a:spcPts val="0"/>
              </a:spcBef>
              <a:spcAft>
                <a:spcPts val="0"/>
              </a:spcAft>
              <a:buNone/>
            </a:pPr>
            <a:r>
              <a:rPr lang="en-US" sz="2000">
                <a:solidFill>
                  <a:schemeClr val="dk1"/>
                </a:solidFill>
                <a:latin typeface="Arial"/>
                <a:ea typeface="Arial"/>
                <a:cs typeface="Arial"/>
                <a:sym typeface="Arial"/>
              </a:rPr>
              <a:t>grep grep grep</a:t>
            </a:r>
            <a:endParaRPr sz="2000">
              <a:solidFill>
                <a:schemeClr val="dk1"/>
              </a:solidFill>
              <a:latin typeface="Arial"/>
              <a:ea typeface="Arial"/>
              <a:cs typeface="Arial"/>
              <a:sym typeface="Arial"/>
            </a:endParaRPr>
          </a:p>
        </p:txBody>
      </p:sp>
      <p:sp>
        <p:nvSpPr>
          <p:cNvPr id="592" name="Google Shape;592;p37"/>
          <p:cNvSpPr txBox="1"/>
          <p:nvPr/>
        </p:nvSpPr>
        <p:spPr>
          <a:xfrm>
            <a:off x="5498084" y="4642865"/>
            <a:ext cx="535305" cy="33083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grep</a:t>
            </a:r>
            <a:endParaRPr sz="2000">
              <a:solidFill>
                <a:schemeClr val="dk1"/>
              </a:solidFill>
              <a:latin typeface="Arial"/>
              <a:ea typeface="Arial"/>
              <a:cs typeface="Arial"/>
              <a:sym typeface="Arial"/>
            </a:endParaRPr>
          </a:p>
        </p:txBody>
      </p:sp>
      <p:sp>
        <p:nvSpPr>
          <p:cNvPr id="593" name="Google Shape;593;p37"/>
          <p:cNvSpPr/>
          <p:nvPr/>
        </p:nvSpPr>
        <p:spPr>
          <a:xfrm>
            <a:off x="7211568" y="4326635"/>
            <a:ext cx="1905" cy="228600"/>
          </a:xfrm>
          <a:custGeom>
            <a:rect b="b" l="l" r="r" t="t"/>
            <a:pathLst>
              <a:path extrusionOk="0" h="228600" w="1904">
                <a:moveTo>
                  <a:pt x="0" y="0"/>
                </a:moveTo>
                <a:lnTo>
                  <a:pt x="1524" y="228600"/>
                </a:lnTo>
              </a:path>
            </a:pathLst>
          </a:custGeom>
          <a:noFill/>
          <a:ln cap="flat" cmpd="sng" w="76200">
            <a:solidFill>
              <a:srgbClr val="000000"/>
            </a:solidFill>
            <a:prstDash val="dot"/>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4" name="Google Shape;594;p37"/>
          <p:cNvSpPr/>
          <p:nvPr/>
        </p:nvSpPr>
        <p:spPr>
          <a:xfrm>
            <a:off x="4968240" y="3223005"/>
            <a:ext cx="457200" cy="76200"/>
          </a:xfrm>
          <a:custGeom>
            <a:rect b="b" l="l" r="r" t="t"/>
            <a:pathLst>
              <a:path extrusionOk="0" h="76200" w="457200">
                <a:moveTo>
                  <a:pt x="381127" y="0"/>
                </a:moveTo>
                <a:lnTo>
                  <a:pt x="381025" y="30479"/>
                </a:lnTo>
                <a:lnTo>
                  <a:pt x="380999" y="38353"/>
                </a:lnTo>
                <a:lnTo>
                  <a:pt x="380873" y="76199"/>
                </a:lnTo>
                <a:lnTo>
                  <a:pt x="444905" y="44449"/>
                </a:lnTo>
                <a:lnTo>
                  <a:pt x="393700" y="44449"/>
                </a:lnTo>
                <a:lnTo>
                  <a:pt x="393700" y="31749"/>
                </a:lnTo>
                <a:lnTo>
                  <a:pt x="444101" y="31749"/>
                </a:lnTo>
                <a:lnTo>
                  <a:pt x="381127" y="0"/>
                </a:lnTo>
                <a:close/>
              </a:path>
              <a:path extrusionOk="0" h="76200" w="457200">
                <a:moveTo>
                  <a:pt x="0" y="30479"/>
                </a:moveTo>
                <a:lnTo>
                  <a:pt x="0" y="43179"/>
                </a:lnTo>
                <a:lnTo>
                  <a:pt x="393699" y="44449"/>
                </a:lnTo>
                <a:lnTo>
                  <a:pt x="380978" y="44449"/>
                </a:lnTo>
                <a:lnTo>
                  <a:pt x="381021" y="31749"/>
                </a:lnTo>
                <a:lnTo>
                  <a:pt x="393699" y="31749"/>
                </a:lnTo>
                <a:lnTo>
                  <a:pt x="0" y="30479"/>
                </a:lnTo>
                <a:close/>
              </a:path>
              <a:path extrusionOk="0" h="76200" w="457200">
                <a:moveTo>
                  <a:pt x="444101" y="31749"/>
                </a:moveTo>
                <a:lnTo>
                  <a:pt x="393700" y="31749"/>
                </a:lnTo>
                <a:lnTo>
                  <a:pt x="393700" y="44449"/>
                </a:lnTo>
                <a:lnTo>
                  <a:pt x="444905" y="44449"/>
                </a:lnTo>
                <a:lnTo>
                  <a:pt x="457200" y="38353"/>
                </a:lnTo>
                <a:lnTo>
                  <a:pt x="444101" y="317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5" name="Google Shape;595;p37"/>
          <p:cNvSpPr/>
          <p:nvPr/>
        </p:nvSpPr>
        <p:spPr>
          <a:xfrm>
            <a:off x="4968240" y="3604005"/>
            <a:ext cx="457200" cy="76200"/>
          </a:xfrm>
          <a:custGeom>
            <a:rect b="b" l="l" r="r" t="t"/>
            <a:pathLst>
              <a:path extrusionOk="0" h="76200" w="457200">
                <a:moveTo>
                  <a:pt x="381127" y="0"/>
                </a:moveTo>
                <a:lnTo>
                  <a:pt x="381025" y="30479"/>
                </a:lnTo>
                <a:lnTo>
                  <a:pt x="380999" y="38353"/>
                </a:lnTo>
                <a:lnTo>
                  <a:pt x="380873" y="76199"/>
                </a:lnTo>
                <a:lnTo>
                  <a:pt x="444905" y="44449"/>
                </a:lnTo>
                <a:lnTo>
                  <a:pt x="393700" y="44449"/>
                </a:lnTo>
                <a:lnTo>
                  <a:pt x="393700" y="31749"/>
                </a:lnTo>
                <a:lnTo>
                  <a:pt x="444101" y="31749"/>
                </a:lnTo>
                <a:lnTo>
                  <a:pt x="381127" y="0"/>
                </a:lnTo>
                <a:close/>
              </a:path>
              <a:path extrusionOk="0" h="76200" w="457200">
                <a:moveTo>
                  <a:pt x="0" y="30479"/>
                </a:moveTo>
                <a:lnTo>
                  <a:pt x="0" y="43179"/>
                </a:lnTo>
                <a:lnTo>
                  <a:pt x="393699" y="44449"/>
                </a:lnTo>
                <a:lnTo>
                  <a:pt x="380978" y="44449"/>
                </a:lnTo>
                <a:lnTo>
                  <a:pt x="381021" y="31749"/>
                </a:lnTo>
                <a:lnTo>
                  <a:pt x="393699" y="31749"/>
                </a:lnTo>
                <a:lnTo>
                  <a:pt x="0" y="30479"/>
                </a:lnTo>
                <a:close/>
              </a:path>
              <a:path extrusionOk="0" h="76200" w="457200">
                <a:moveTo>
                  <a:pt x="444101" y="31749"/>
                </a:moveTo>
                <a:lnTo>
                  <a:pt x="393700" y="31749"/>
                </a:lnTo>
                <a:lnTo>
                  <a:pt x="393700" y="44449"/>
                </a:lnTo>
                <a:lnTo>
                  <a:pt x="444905" y="44449"/>
                </a:lnTo>
                <a:lnTo>
                  <a:pt x="457200" y="38353"/>
                </a:lnTo>
                <a:lnTo>
                  <a:pt x="444101" y="317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6" name="Google Shape;596;p37"/>
          <p:cNvSpPr/>
          <p:nvPr/>
        </p:nvSpPr>
        <p:spPr>
          <a:xfrm>
            <a:off x="4968240" y="3985005"/>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7" name="Google Shape;597;p37"/>
          <p:cNvSpPr/>
          <p:nvPr/>
        </p:nvSpPr>
        <p:spPr>
          <a:xfrm>
            <a:off x="4968240" y="4823205"/>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8" name="Google Shape;598;p37"/>
          <p:cNvSpPr/>
          <p:nvPr/>
        </p:nvSpPr>
        <p:spPr>
          <a:xfrm>
            <a:off x="6111240" y="3218433"/>
            <a:ext cx="457200" cy="76200"/>
          </a:xfrm>
          <a:custGeom>
            <a:rect b="b" l="l" r="r" t="t"/>
            <a:pathLst>
              <a:path extrusionOk="0" h="76200" w="457200">
                <a:moveTo>
                  <a:pt x="381127" y="0"/>
                </a:moveTo>
                <a:lnTo>
                  <a:pt x="381025" y="30479"/>
                </a:lnTo>
                <a:lnTo>
                  <a:pt x="380999" y="38353"/>
                </a:lnTo>
                <a:lnTo>
                  <a:pt x="380873" y="76199"/>
                </a:lnTo>
                <a:lnTo>
                  <a:pt x="444905" y="44449"/>
                </a:lnTo>
                <a:lnTo>
                  <a:pt x="393700" y="44449"/>
                </a:lnTo>
                <a:lnTo>
                  <a:pt x="393700" y="31749"/>
                </a:lnTo>
                <a:lnTo>
                  <a:pt x="444101" y="31749"/>
                </a:lnTo>
                <a:lnTo>
                  <a:pt x="381127" y="0"/>
                </a:lnTo>
                <a:close/>
              </a:path>
              <a:path extrusionOk="0" h="76200" w="457200">
                <a:moveTo>
                  <a:pt x="0" y="30479"/>
                </a:moveTo>
                <a:lnTo>
                  <a:pt x="0" y="43179"/>
                </a:lnTo>
                <a:lnTo>
                  <a:pt x="393699" y="44449"/>
                </a:lnTo>
                <a:lnTo>
                  <a:pt x="380978" y="44449"/>
                </a:lnTo>
                <a:lnTo>
                  <a:pt x="381021" y="31749"/>
                </a:lnTo>
                <a:lnTo>
                  <a:pt x="393699" y="31749"/>
                </a:lnTo>
                <a:lnTo>
                  <a:pt x="0" y="30479"/>
                </a:lnTo>
                <a:close/>
              </a:path>
              <a:path extrusionOk="0" h="76200" w="457200">
                <a:moveTo>
                  <a:pt x="444101" y="31749"/>
                </a:moveTo>
                <a:lnTo>
                  <a:pt x="393700" y="31749"/>
                </a:lnTo>
                <a:lnTo>
                  <a:pt x="393700" y="44449"/>
                </a:lnTo>
                <a:lnTo>
                  <a:pt x="444905" y="44449"/>
                </a:lnTo>
                <a:lnTo>
                  <a:pt x="457200" y="38353"/>
                </a:lnTo>
                <a:lnTo>
                  <a:pt x="444101" y="317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9" name="Google Shape;599;p37"/>
          <p:cNvSpPr/>
          <p:nvPr/>
        </p:nvSpPr>
        <p:spPr>
          <a:xfrm>
            <a:off x="6111240" y="3599434"/>
            <a:ext cx="457200" cy="76200"/>
          </a:xfrm>
          <a:custGeom>
            <a:rect b="b" l="l" r="r" t="t"/>
            <a:pathLst>
              <a:path extrusionOk="0" h="76200" w="457200">
                <a:moveTo>
                  <a:pt x="381127" y="0"/>
                </a:moveTo>
                <a:lnTo>
                  <a:pt x="381025" y="30479"/>
                </a:lnTo>
                <a:lnTo>
                  <a:pt x="380999" y="38353"/>
                </a:lnTo>
                <a:lnTo>
                  <a:pt x="380873" y="76199"/>
                </a:lnTo>
                <a:lnTo>
                  <a:pt x="444905" y="44449"/>
                </a:lnTo>
                <a:lnTo>
                  <a:pt x="393700" y="44449"/>
                </a:lnTo>
                <a:lnTo>
                  <a:pt x="393700" y="31749"/>
                </a:lnTo>
                <a:lnTo>
                  <a:pt x="444101" y="31749"/>
                </a:lnTo>
                <a:lnTo>
                  <a:pt x="381127" y="0"/>
                </a:lnTo>
                <a:close/>
              </a:path>
              <a:path extrusionOk="0" h="76200" w="457200">
                <a:moveTo>
                  <a:pt x="0" y="30479"/>
                </a:moveTo>
                <a:lnTo>
                  <a:pt x="0" y="43179"/>
                </a:lnTo>
                <a:lnTo>
                  <a:pt x="393699" y="44449"/>
                </a:lnTo>
                <a:lnTo>
                  <a:pt x="380978" y="44449"/>
                </a:lnTo>
                <a:lnTo>
                  <a:pt x="381021" y="31749"/>
                </a:lnTo>
                <a:lnTo>
                  <a:pt x="393699" y="31749"/>
                </a:lnTo>
                <a:lnTo>
                  <a:pt x="0" y="30479"/>
                </a:lnTo>
                <a:close/>
              </a:path>
              <a:path extrusionOk="0" h="76200" w="457200">
                <a:moveTo>
                  <a:pt x="444101" y="31749"/>
                </a:moveTo>
                <a:lnTo>
                  <a:pt x="393700" y="31749"/>
                </a:lnTo>
                <a:lnTo>
                  <a:pt x="393700" y="44449"/>
                </a:lnTo>
                <a:lnTo>
                  <a:pt x="444905" y="44449"/>
                </a:lnTo>
                <a:lnTo>
                  <a:pt x="457200" y="38353"/>
                </a:lnTo>
                <a:lnTo>
                  <a:pt x="444101" y="317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0" name="Google Shape;600;p37"/>
          <p:cNvSpPr/>
          <p:nvPr/>
        </p:nvSpPr>
        <p:spPr>
          <a:xfrm>
            <a:off x="6111240" y="3980434"/>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1" name="Google Shape;601;p37"/>
          <p:cNvSpPr/>
          <p:nvPr/>
        </p:nvSpPr>
        <p:spPr>
          <a:xfrm>
            <a:off x="6111240" y="4818634"/>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2" name="Google Shape;602;p37"/>
          <p:cNvSpPr txBox="1"/>
          <p:nvPr/>
        </p:nvSpPr>
        <p:spPr>
          <a:xfrm>
            <a:off x="6644640" y="3107435"/>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050">
            <a:spAutoFit/>
          </a:bodyPr>
          <a:lstStyle/>
          <a:p>
            <a:pPr indent="0" lvl="0" marL="148590" marR="0" rtl="0" algn="l">
              <a:lnSpc>
                <a:spcPct val="100000"/>
              </a:lnSpc>
              <a:spcBef>
                <a:spcPts val="0"/>
              </a:spcBef>
              <a:spcAft>
                <a:spcPts val="0"/>
              </a:spcAft>
              <a:buNone/>
            </a:pPr>
            <a:r>
              <a:rPr lang="en-US" sz="1800">
                <a:solidFill>
                  <a:schemeClr val="dk1"/>
                </a:solidFill>
                <a:latin typeface="Arial"/>
                <a:ea typeface="Arial"/>
                <a:cs typeface="Arial"/>
                <a:sym typeface="Arial"/>
              </a:rPr>
              <a:t>matches</a:t>
            </a:r>
            <a:endParaRPr sz="1800">
              <a:solidFill>
                <a:schemeClr val="dk1"/>
              </a:solidFill>
              <a:latin typeface="Arial"/>
              <a:ea typeface="Arial"/>
              <a:cs typeface="Arial"/>
              <a:sym typeface="Arial"/>
            </a:endParaRPr>
          </a:p>
        </p:txBody>
      </p:sp>
      <p:sp>
        <p:nvSpPr>
          <p:cNvPr id="603" name="Google Shape;603;p37"/>
          <p:cNvSpPr txBox="1"/>
          <p:nvPr/>
        </p:nvSpPr>
        <p:spPr>
          <a:xfrm>
            <a:off x="6644640" y="3488435"/>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6650">
            <a:spAutoFit/>
          </a:bodyPr>
          <a:lstStyle/>
          <a:p>
            <a:pPr indent="0" lvl="0" marL="148590" marR="0" rtl="0" algn="l">
              <a:lnSpc>
                <a:spcPct val="100000"/>
              </a:lnSpc>
              <a:spcBef>
                <a:spcPts val="0"/>
              </a:spcBef>
              <a:spcAft>
                <a:spcPts val="0"/>
              </a:spcAft>
              <a:buNone/>
            </a:pPr>
            <a:r>
              <a:rPr lang="en-US" sz="1800">
                <a:solidFill>
                  <a:schemeClr val="dk1"/>
                </a:solidFill>
                <a:latin typeface="Arial"/>
                <a:ea typeface="Arial"/>
                <a:cs typeface="Arial"/>
                <a:sym typeface="Arial"/>
              </a:rPr>
              <a:t>matches</a:t>
            </a:r>
            <a:endParaRPr sz="1800">
              <a:solidFill>
                <a:schemeClr val="dk1"/>
              </a:solidFill>
              <a:latin typeface="Arial"/>
              <a:ea typeface="Arial"/>
              <a:cs typeface="Arial"/>
              <a:sym typeface="Arial"/>
            </a:endParaRPr>
          </a:p>
        </p:txBody>
      </p:sp>
      <p:sp>
        <p:nvSpPr>
          <p:cNvPr id="604" name="Google Shape;604;p37"/>
          <p:cNvSpPr txBox="1"/>
          <p:nvPr/>
        </p:nvSpPr>
        <p:spPr>
          <a:xfrm>
            <a:off x="6644640" y="3869435"/>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2050">
            <a:spAutoFit/>
          </a:bodyPr>
          <a:lstStyle/>
          <a:p>
            <a:pPr indent="0" lvl="0" marL="158115" marR="0" rtl="0" algn="l">
              <a:lnSpc>
                <a:spcPct val="100000"/>
              </a:lnSpc>
              <a:spcBef>
                <a:spcPts val="0"/>
              </a:spcBef>
              <a:spcAft>
                <a:spcPts val="0"/>
              </a:spcAft>
              <a:buNone/>
            </a:pPr>
            <a:r>
              <a:rPr lang="en-US" sz="1800">
                <a:solidFill>
                  <a:schemeClr val="dk1"/>
                </a:solidFill>
                <a:latin typeface="Arial"/>
                <a:ea typeface="Arial"/>
                <a:cs typeface="Arial"/>
                <a:sym typeface="Arial"/>
              </a:rPr>
              <a:t>matches</a:t>
            </a:r>
            <a:endParaRPr sz="1800">
              <a:solidFill>
                <a:schemeClr val="dk1"/>
              </a:solidFill>
              <a:latin typeface="Arial"/>
              <a:ea typeface="Arial"/>
              <a:cs typeface="Arial"/>
              <a:sym typeface="Arial"/>
            </a:endParaRPr>
          </a:p>
        </p:txBody>
      </p:sp>
      <p:sp>
        <p:nvSpPr>
          <p:cNvPr id="605" name="Google Shape;605;p37"/>
          <p:cNvSpPr txBox="1"/>
          <p:nvPr/>
        </p:nvSpPr>
        <p:spPr>
          <a:xfrm>
            <a:off x="6644640" y="4707635"/>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2225">
            <a:spAutoFit/>
          </a:bodyPr>
          <a:lstStyle/>
          <a:p>
            <a:pPr indent="0" lvl="0" marL="186690" marR="0" rtl="0" algn="l">
              <a:lnSpc>
                <a:spcPct val="100000"/>
              </a:lnSpc>
              <a:spcBef>
                <a:spcPts val="0"/>
              </a:spcBef>
              <a:spcAft>
                <a:spcPts val="0"/>
              </a:spcAft>
              <a:buNone/>
            </a:pPr>
            <a:r>
              <a:rPr lang="en-US" sz="1800">
                <a:solidFill>
                  <a:schemeClr val="dk1"/>
                </a:solidFill>
                <a:latin typeface="Arial"/>
                <a:ea typeface="Arial"/>
                <a:cs typeface="Arial"/>
                <a:sym typeface="Arial"/>
              </a:rPr>
              <a:t>matches</a:t>
            </a:r>
            <a:endParaRPr sz="1800">
              <a:solidFill>
                <a:schemeClr val="dk1"/>
              </a:solidFill>
              <a:latin typeface="Arial"/>
              <a:ea typeface="Arial"/>
              <a:cs typeface="Arial"/>
              <a:sym typeface="Arial"/>
            </a:endParaRPr>
          </a:p>
        </p:txBody>
      </p:sp>
      <p:sp>
        <p:nvSpPr>
          <p:cNvPr id="606" name="Google Shape;606;p37"/>
          <p:cNvSpPr txBox="1"/>
          <p:nvPr/>
        </p:nvSpPr>
        <p:spPr>
          <a:xfrm>
            <a:off x="8258936" y="3804284"/>
            <a:ext cx="365760" cy="33083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i="1" lang="en-US" sz="2000">
                <a:solidFill>
                  <a:schemeClr val="dk1"/>
                </a:solidFill>
                <a:latin typeface="Arial"/>
                <a:ea typeface="Arial"/>
                <a:cs typeface="Arial"/>
                <a:sym typeface="Arial"/>
              </a:rPr>
              <a:t>cat</a:t>
            </a:r>
            <a:endParaRPr sz="2000">
              <a:solidFill>
                <a:schemeClr val="dk1"/>
              </a:solidFill>
              <a:latin typeface="Arial"/>
              <a:ea typeface="Arial"/>
              <a:cs typeface="Arial"/>
              <a:sym typeface="Arial"/>
            </a:endParaRPr>
          </a:p>
        </p:txBody>
      </p:sp>
      <p:sp>
        <p:nvSpPr>
          <p:cNvPr id="607" name="Google Shape;607;p37"/>
          <p:cNvSpPr/>
          <p:nvPr/>
        </p:nvSpPr>
        <p:spPr>
          <a:xfrm>
            <a:off x="7863840" y="3937634"/>
            <a:ext cx="304800" cy="76200"/>
          </a:xfrm>
          <a:custGeom>
            <a:rect b="b" l="l" r="r" t="t"/>
            <a:pathLst>
              <a:path extrusionOk="0" h="76200" w="304800">
                <a:moveTo>
                  <a:pt x="228727" y="0"/>
                </a:moveTo>
                <a:lnTo>
                  <a:pt x="228346" y="76199"/>
                </a:lnTo>
                <a:lnTo>
                  <a:pt x="292701" y="44449"/>
                </a:lnTo>
                <a:lnTo>
                  <a:pt x="241300" y="44449"/>
                </a:lnTo>
                <a:lnTo>
                  <a:pt x="241300" y="31749"/>
                </a:lnTo>
                <a:lnTo>
                  <a:pt x="291493" y="31749"/>
                </a:lnTo>
                <a:lnTo>
                  <a:pt x="228727" y="0"/>
                </a:lnTo>
                <a:close/>
              </a:path>
              <a:path extrusionOk="0" h="76200" w="304800">
                <a:moveTo>
                  <a:pt x="0" y="30606"/>
                </a:moveTo>
                <a:lnTo>
                  <a:pt x="0" y="43306"/>
                </a:lnTo>
                <a:lnTo>
                  <a:pt x="241299" y="44449"/>
                </a:lnTo>
                <a:lnTo>
                  <a:pt x="228504" y="44449"/>
                </a:lnTo>
                <a:lnTo>
                  <a:pt x="228568" y="31749"/>
                </a:lnTo>
                <a:lnTo>
                  <a:pt x="241299" y="31749"/>
                </a:lnTo>
                <a:lnTo>
                  <a:pt x="0" y="30606"/>
                </a:lnTo>
                <a:close/>
              </a:path>
              <a:path extrusionOk="0" h="76200" w="304800">
                <a:moveTo>
                  <a:pt x="291493" y="31749"/>
                </a:moveTo>
                <a:lnTo>
                  <a:pt x="241300" y="31749"/>
                </a:lnTo>
                <a:lnTo>
                  <a:pt x="241300" y="44449"/>
                </a:lnTo>
                <a:lnTo>
                  <a:pt x="292701" y="44449"/>
                </a:lnTo>
                <a:lnTo>
                  <a:pt x="304800" y="38480"/>
                </a:lnTo>
                <a:lnTo>
                  <a:pt x="291493" y="317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8" name="Google Shape;608;p37"/>
          <p:cNvSpPr/>
          <p:nvPr/>
        </p:nvSpPr>
        <p:spPr>
          <a:xfrm>
            <a:off x="8778240" y="3937634"/>
            <a:ext cx="304800" cy="76200"/>
          </a:xfrm>
          <a:custGeom>
            <a:rect b="b" l="l" r="r" t="t"/>
            <a:pathLst>
              <a:path extrusionOk="0" h="76200" w="304800">
                <a:moveTo>
                  <a:pt x="228727" y="0"/>
                </a:moveTo>
                <a:lnTo>
                  <a:pt x="228346" y="76199"/>
                </a:lnTo>
                <a:lnTo>
                  <a:pt x="292701" y="44449"/>
                </a:lnTo>
                <a:lnTo>
                  <a:pt x="241300" y="44449"/>
                </a:lnTo>
                <a:lnTo>
                  <a:pt x="241300" y="31749"/>
                </a:lnTo>
                <a:lnTo>
                  <a:pt x="291493" y="31749"/>
                </a:lnTo>
                <a:lnTo>
                  <a:pt x="228727" y="0"/>
                </a:lnTo>
                <a:close/>
              </a:path>
              <a:path extrusionOk="0" h="76200" w="304800">
                <a:moveTo>
                  <a:pt x="0" y="30606"/>
                </a:moveTo>
                <a:lnTo>
                  <a:pt x="0" y="43306"/>
                </a:lnTo>
                <a:lnTo>
                  <a:pt x="241299" y="44449"/>
                </a:lnTo>
                <a:lnTo>
                  <a:pt x="228504" y="44449"/>
                </a:lnTo>
                <a:lnTo>
                  <a:pt x="228568" y="31749"/>
                </a:lnTo>
                <a:lnTo>
                  <a:pt x="241299" y="31749"/>
                </a:lnTo>
                <a:lnTo>
                  <a:pt x="0" y="30606"/>
                </a:lnTo>
                <a:close/>
              </a:path>
              <a:path extrusionOk="0" h="76200" w="304800">
                <a:moveTo>
                  <a:pt x="291493" y="31749"/>
                </a:moveTo>
                <a:lnTo>
                  <a:pt x="241300" y="31749"/>
                </a:lnTo>
                <a:lnTo>
                  <a:pt x="241300" y="44449"/>
                </a:lnTo>
                <a:lnTo>
                  <a:pt x="292701" y="44449"/>
                </a:lnTo>
                <a:lnTo>
                  <a:pt x="304800" y="38480"/>
                </a:lnTo>
                <a:lnTo>
                  <a:pt x="291493" y="317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9" name="Google Shape;609;p37"/>
          <p:cNvSpPr txBox="1"/>
          <p:nvPr/>
        </p:nvSpPr>
        <p:spPr>
          <a:xfrm>
            <a:off x="9177528" y="3640835"/>
            <a:ext cx="1143000" cy="685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55225">
            <a:spAutoFit/>
          </a:bodyPr>
          <a:lstStyle/>
          <a:p>
            <a:pPr indent="320040" lvl="0" marL="102870" marR="106045" rtl="0" algn="l">
              <a:lnSpc>
                <a:spcPct val="100000"/>
              </a:lnSpc>
              <a:spcBef>
                <a:spcPts val="0"/>
              </a:spcBef>
              <a:spcAft>
                <a:spcPts val="0"/>
              </a:spcAft>
              <a:buNone/>
            </a:pPr>
            <a:r>
              <a:rPr b="1" lang="en-US" sz="1800">
                <a:solidFill>
                  <a:schemeClr val="dk1"/>
                </a:solidFill>
                <a:latin typeface="Arial"/>
                <a:ea typeface="Arial"/>
                <a:cs typeface="Arial"/>
                <a:sym typeface="Arial"/>
              </a:rPr>
              <a:t>All matches</a:t>
            </a:r>
            <a:endParaRPr sz="1800">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descr="$PPTXTitle" id="614" name="Google Shape;614;p38"/>
          <p:cNvSpPr txBox="1"/>
          <p:nvPr>
            <p:ph type="title"/>
          </p:nvPr>
        </p:nvSpPr>
        <p:spPr>
          <a:xfrm>
            <a:off x="3280028" y="580389"/>
            <a:ext cx="5627370" cy="696595"/>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1"/>
              </a:buClr>
              <a:buSzPts val="4400"/>
              <a:buFont typeface="Play"/>
              <a:buNone/>
            </a:pPr>
            <a:r>
              <a:rPr lang="en-US"/>
              <a:t>Distributed Word Count</a:t>
            </a:r>
            <a:endParaRPr/>
          </a:p>
        </p:txBody>
      </p:sp>
      <p:sp>
        <p:nvSpPr>
          <p:cNvPr id="615" name="Google Shape;615;p38"/>
          <p:cNvSpPr txBox="1"/>
          <p:nvPr/>
        </p:nvSpPr>
        <p:spPr>
          <a:xfrm>
            <a:off x="1959864" y="3172967"/>
            <a:ext cx="1143000" cy="19050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75875">
            <a:spAutoFit/>
          </a:bodyPr>
          <a:lstStyle/>
          <a:p>
            <a:pPr indent="0" lvl="0" marL="0" marR="0" rtl="0" algn="l">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41275" lvl="0" marL="320675" marR="318770" rtl="0" algn="just">
              <a:lnSpc>
                <a:spcPct val="100000"/>
              </a:lnSpc>
              <a:spcBef>
                <a:spcPts val="0"/>
              </a:spcBef>
              <a:spcAft>
                <a:spcPts val="0"/>
              </a:spcAft>
              <a:buNone/>
            </a:pPr>
            <a:r>
              <a:rPr lang="en-US" sz="2000">
                <a:solidFill>
                  <a:schemeClr val="dk1"/>
                </a:solidFill>
                <a:latin typeface="Arial"/>
                <a:ea typeface="Arial"/>
                <a:cs typeface="Arial"/>
                <a:sym typeface="Arial"/>
              </a:rPr>
              <a:t>Very big data</a:t>
            </a:r>
            <a:endParaRPr sz="2000">
              <a:solidFill>
                <a:schemeClr val="dk1"/>
              </a:solidFill>
              <a:latin typeface="Arial"/>
              <a:ea typeface="Arial"/>
              <a:cs typeface="Arial"/>
              <a:sym typeface="Arial"/>
            </a:endParaRPr>
          </a:p>
        </p:txBody>
      </p:sp>
      <p:sp>
        <p:nvSpPr>
          <p:cNvPr id="616" name="Google Shape;616;p38"/>
          <p:cNvSpPr/>
          <p:nvPr/>
        </p:nvSpPr>
        <p:spPr>
          <a:xfrm>
            <a:off x="4355591" y="4392167"/>
            <a:ext cx="1905" cy="228600"/>
          </a:xfrm>
          <a:custGeom>
            <a:rect b="b" l="l" r="r" t="t"/>
            <a:pathLst>
              <a:path extrusionOk="0" h="228600" w="1904">
                <a:moveTo>
                  <a:pt x="0" y="0"/>
                </a:moveTo>
                <a:lnTo>
                  <a:pt x="1524" y="228599"/>
                </a:lnTo>
              </a:path>
            </a:pathLst>
          </a:custGeom>
          <a:noFill/>
          <a:ln cap="flat" cmpd="sng" w="76200">
            <a:solidFill>
              <a:srgbClr val="000000"/>
            </a:solidFill>
            <a:prstDash val="dot"/>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7" name="Google Shape;617;p38"/>
          <p:cNvSpPr/>
          <p:nvPr/>
        </p:nvSpPr>
        <p:spPr>
          <a:xfrm>
            <a:off x="3226307" y="3974338"/>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8" name="Google Shape;618;p38"/>
          <p:cNvSpPr txBox="1"/>
          <p:nvPr/>
        </p:nvSpPr>
        <p:spPr>
          <a:xfrm>
            <a:off x="3788664" y="3172967"/>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0950">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Split data</a:t>
            </a:r>
            <a:endParaRPr sz="1800">
              <a:solidFill>
                <a:schemeClr val="dk1"/>
              </a:solidFill>
              <a:latin typeface="Arial"/>
              <a:ea typeface="Arial"/>
              <a:cs typeface="Arial"/>
              <a:sym typeface="Arial"/>
            </a:endParaRPr>
          </a:p>
        </p:txBody>
      </p:sp>
      <p:sp>
        <p:nvSpPr>
          <p:cNvPr id="619" name="Google Shape;619;p38"/>
          <p:cNvSpPr txBox="1"/>
          <p:nvPr/>
        </p:nvSpPr>
        <p:spPr>
          <a:xfrm>
            <a:off x="3788664" y="3553967"/>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0950">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Split data</a:t>
            </a:r>
            <a:endParaRPr sz="1800">
              <a:solidFill>
                <a:schemeClr val="dk1"/>
              </a:solidFill>
              <a:latin typeface="Arial"/>
              <a:ea typeface="Arial"/>
              <a:cs typeface="Arial"/>
              <a:sym typeface="Arial"/>
            </a:endParaRPr>
          </a:p>
        </p:txBody>
      </p:sp>
      <p:sp>
        <p:nvSpPr>
          <p:cNvPr id="620" name="Google Shape;620;p38"/>
          <p:cNvSpPr txBox="1"/>
          <p:nvPr/>
        </p:nvSpPr>
        <p:spPr>
          <a:xfrm>
            <a:off x="3788664" y="3934967"/>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1425">
            <a:spAutoFit/>
          </a:bodyPr>
          <a:lstStyle/>
          <a:p>
            <a:pPr indent="0" lvl="0" marL="98425" marR="0" rtl="0" algn="l">
              <a:lnSpc>
                <a:spcPct val="100000"/>
              </a:lnSpc>
              <a:spcBef>
                <a:spcPts val="0"/>
              </a:spcBef>
              <a:spcAft>
                <a:spcPts val="0"/>
              </a:spcAft>
              <a:buNone/>
            </a:pPr>
            <a:r>
              <a:rPr lang="en-US" sz="1800">
                <a:solidFill>
                  <a:schemeClr val="dk1"/>
                </a:solidFill>
                <a:latin typeface="Arial"/>
                <a:ea typeface="Arial"/>
                <a:cs typeface="Arial"/>
                <a:sym typeface="Arial"/>
              </a:rPr>
              <a:t>Split data</a:t>
            </a:r>
            <a:endParaRPr sz="1800">
              <a:solidFill>
                <a:schemeClr val="dk1"/>
              </a:solidFill>
              <a:latin typeface="Arial"/>
              <a:ea typeface="Arial"/>
              <a:cs typeface="Arial"/>
              <a:sym typeface="Arial"/>
            </a:endParaRPr>
          </a:p>
        </p:txBody>
      </p:sp>
      <p:sp>
        <p:nvSpPr>
          <p:cNvPr id="621" name="Google Shape;621;p38"/>
          <p:cNvSpPr txBox="1"/>
          <p:nvPr/>
        </p:nvSpPr>
        <p:spPr>
          <a:xfrm>
            <a:off x="3788664" y="4773167"/>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6975">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Split data</a:t>
            </a:r>
            <a:endParaRPr sz="1800">
              <a:solidFill>
                <a:schemeClr val="dk1"/>
              </a:solidFill>
              <a:latin typeface="Arial"/>
              <a:ea typeface="Arial"/>
              <a:cs typeface="Arial"/>
              <a:sym typeface="Arial"/>
            </a:endParaRPr>
          </a:p>
        </p:txBody>
      </p:sp>
      <p:sp>
        <p:nvSpPr>
          <p:cNvPr id="622" name="Google Shape;622;p38"/>
          <p:cNvSpPr txBox="1"/>
          <p:nvPr/>
        </p:nvSpPr>
        <p:spPr>
          <a:xfrm>
            <a:off x="5522467" y="3031337"/>
            <a:ext cx="665480" cy="1169035"/>
          </a:xfrm>
          <a:prstGeom prst="rect">
            <a:avLst/>
          </a:prstGeom>
          <a:noFill/>
          <a:ln>
            <a:noFill/>
          </a:ln>
        </p:spPr>
        <p:txBody>
          <a:bodyPr anchorCtr="0" anchor="t" bIns="0" lIns="0" spcFirstLastPara="1" rIns="0" wrap="square" tIns="12700">
            <a:spAutoFit/>
          </a:bodyPr>
          <a:lstStyle/>
          <a:p>
            <a:pPr indent="-15875" lvl="0" marL="28575" marR="5080" rtl="0" algn="just">
              <a:lnSpc>
                <a:spcPct val="125000"/>
              </a:lnSpc>
              <a:spcBef>
                <a:spcPts val="0"/>
              </a:spcBef>
              <a:spcAft>
                <a:spcPts val="0"/>
              </a:spcAft>
              <a:buNone/>
            </a:pPr>
            <a:r>
              <a:rPr lang="en-US" sz="2000">
                <a:solidFill>
                  <a:schemeClr val="dk1"/>
                </a:solidFill>
                <a:latin typeface="Arial"/>
                <a:ea typeface="Arial"/>
                <a:cs typeface="Arial"/>
                <a:sym typeface="Arial"/>
              </a:rPr>
              <a:t>count count count</a:t>
            </a:r>
            <a:endParaRPr sz="2000">
              <a:solidFill>
                <a:schemeClr val="dk1"/>
              </a:solidFill>
              <a:latin typeface="Arial"/>
              <a:ea typeface="Arial"/>
              <a:cs typeface="Arial"/>
              <a:sym typeface="Arial"/>
            </a:endParaRPr>
          </a:p>
        </p:txBody>
      </p:sp>
      <p:sp>
        <p:nvSpPr>
          <p:cNvPr id="623" name="Google Shape;623;p38"/>
          <p:cNvSpPr txBox="1"/>
          <p:nvPr/>
        </p:nvSpPr>
        <p:spPr>
          <a:xfrm>
            <a:off x="5538342" y="4707382"/>
            <a:ext cx="648970" cy="33083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count</a:t>
            </a:r>
            <a:endParaRPr sz="2000">
              <a:solidFill>
                <a:schemeClr val="dk1"/>
              </a:solidFill>
              <a:latin typeface="Arial"/>
              <a:ea typeface="Arial"/>
              <a:cs typeface="Arial"/>
              <a:sym typeface="Arial"/>
            </a:endParaRPr>
          </a:p>
        </p:txBody>
      </p:sp>
      <p:sp>
        <p:nvSpPr>
          <p:cNvPr id="624" name="Google Shape;624;p38"/>
          <p:cNvSpPr/>
          <p:nvPr/>
        </p:nvSpPr>
        <p:spPr>
          <a:xfrm>
            <a:off x="7251192" y="4392167"/>
            <a:ext cx="1905" cy="228600"/>
          </a:xfrm>
          <a:custGeom>
            <a:rect b="b" l="l" r="r" t="t"/>
            <a:pathLst>
              <a:path extrusionOk="0" h="228600" w="1904">
                <a:moveTo>
                  <a:pt x="0" y="0"/>
                </a:moveTo>
                <a:lnTo>
                  <a:pt x="1524" y="228599"/>
                </a:lnTo>
              </a:path>
            </a:pathLst>
          </a:custGeom>
          <a:noFill/>
          <a:ln cap="flat" cmpd="sng" w="76200">
            <a:solidFill>
              <a:srgbClr val="000000"/>
            </a:solidFill>
            <a:prstDash val="dot"/>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5" name="Google Shape;625;p38"/>
          <p:cNvSpPr/>
          <p:nvPr/>
        </p:nvSpPr>
        <p:spPr>
          <a:xfrm>
            <a:off x="5007864" y="3288538"/>
            <a:ext cx="457200" cy="76200"/>
          </a:xfrm>
          <a:custGeom>
            <a:rect b="b" l="l" r="r" t="t"/>
            <a:pathLst>
              <a:path extrusionOk="0" h="76200" w="457200">
                <a:moveTo>
                  <a:pt x="381127" y="0"/>
                </a:moveTo>
                <a:lnTo>
                  <a:pt x="381025" y="30479"/>
                </a:lnTo>
                <a:lnTo>
                  <a:pt x="380999" y="38353"/>
                </a:lnTo>
                <a:lnTo>
                  <a:pt x="380873" y="76199"/>
                </a:lnTo>
                <a:lnTo>
                  <a:pt x="444905" y="44449"/>
                </a:lnTo>
                <a:lnTo>
                  <a:pt x="393700" y="44449"/>
                </a:lnTo>
                <a:lnTo>
                  <a:pt x="393700" y="31749"/>
                </a:lnTo>
                <a:lnTo>
                  <a:pt x="444101" y="31749"/>
                </a:lnTo>
                <a:lnTo>
                  <a:pt x="381127" y="0"/>
                </a:lnTo>
                <a:close/>
              </a:path>
              <a:path extrusionOk="0" h="76200" w="457200">
                <a:moveTo>
                  <a:pt x="0" y="30479"/>
                </a:moveTo>
                <a:lnTo>
                  <a:pt x="0" y="43179"/>
                </a:lnTo>
                <a:lnTo>
                  <a:pt x="393699" y="44449"/>
                </a:lnTo>
                <a:lnTo>
                  <a:pt x="380978" y="44449"/>
                </a:lnTo>
                <a:lnTo>
                  <a:pt x="381021" y="31749"/>
                </a:lnTo>
                <a:lnTo>
                  <a:pt x="393699" y="31749"/>
                </a:lnTo>
                <a:lnTo>
                  <a:pt x="0" y="30479"/>
                </a:lnTo>
                <a:close/>
              </a:path>
              <a:path extrusionOk="0" h="76200" w="457200">
                <a:moveTo>
                  <a:pt x="444101" y="31749"/>
                </a:moveTo>
                <a:lnTo>
                  <a:pt x="393700" y="31749"/>
                </a:lnTo>
                <a:lnTo>
                  <a:pt x="393700" y="44449"/>
                </a:lnTo>
                <a:lnTo>
                  <a:pt x="444905" y="44449"/>
                </a:lnTo>
                <a:lnTo>
                  <a:pt x="457200" y="38353"/>
                </a:lnTo>
                <a:lnTo>
                  <a:pt x="444101" y="317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6" name="Google Shape;626;p38"/>
          <p:cNvSpPr/>
          <p:nvPr/>
        </p:nvSpPr>
        <p:spPr>
          <a:xfrm>
            <a:off x="5007864" y="3669538"/>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7" name="Google Shape;627;p38"/>
          <p:cNvSpPr/>
          <p:nvPr/>
        </p:nvSpPr>
        <p:spPr>
          <a:xfrm>
            <a:off x="5007864" y="4050538"/>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8" name="Google Shape;628;p38"/>
          <p:cNvSpPr/>
          <p:nvPr/>
        </p:nvSpPr>
        <p:spPr>
          <a:xfrm>
            <a:off x="5007864" y="4888738"/>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9" name="Google Shape;629;p38"/>
          <p:cNvSpPr/>
          <p:nvPr/>
        </p:nvSpPr>
        <p:spPr>
          <a:xfrm>
            <a:off x="6150864" y="3283965"/>
            <a:ext cx="457200" cy="76200"/>
          </a:xfrm>
          <a:custGeom>
            <a:rect b="b" l="l" r="r" t="t"/>
            <a:pathLst>
              <a:path extrusionOk="0" h="76200" w="457200">
                <a:moveTo>
                  <a:pt x="381127" y="0"/>
                </a:moveTo>
                <a:lnTo>
                  <a:pt x="381025" y="30479"/>
                </a:lnTo>
                <a:lnTo>
                  <a:pt x="380999" y="38353"/>
                </a:lnTo>
                <a:lnTo>
                  <a:pt x="380873" y="76199"/>
                </a:lnTo>
                <a:lnTo>
                  <a:pt x="444905" y="44449"/>
                </a:lnTo>
                <a:lnTo>
                  <a:pt x="393700" y="44449"/>
                </a:lnTo>
                <a:lnTo>
                  <a:pt x="393700" y="31749"/>
                </a:lnTo>
                <a:lnTo>
                  <a:pt x="444101" y="31749"/>
                </a:lnTo>
                <a:lnTo>
                  <a:pt x="381127" y="0"/>
                </a:lnTo>
                <a:close/>
              </a:path>
              <a:path extrusionOk="0" h="76200" w="457200">
                <a:moveTo>
                  <a:pt x="0" y="30479"/>
                </a:moveTo>
                <a:lnTo>
                  <a:pt x="0" y="43179"/>
                </a:lnTo>
                <a:lnTo>
                  <a:pt x="393699" y="44449"/>
                </a:lnTo>
                <a:lnTo>
                  <a:pt x="380978" y="44449"/>
                </a:lnTo>
                <a:lnTo>
                  <a:pt x="381021" y="31749"/>
                </a:lnTo>
                <a:lnTo>
                  <a:pt x="393699" y="31749"/>
                </a:lnTo>
                <a:lnTo>
                  <a:pt x="0" y="30479"/>
                </a:lnTo>
                <a:close/>
              </a:path>
              <a:path extrusionOk="0" h="76200" w="457200">
                <a:moveTo>
                  <a:pt x="444101" y="31749"/>
                </a:moveTo>
                <a:lnTo>
                  <a:pt x="393700" y="31749"/>
                </a:lnTo>
                <a:lnTo>
                  <a:pt x="393700" y="44449"/>
                </a:lnTo>
                <a:lnTo>
                  <a:pt x="444905" y="44449"/>
                </a:lnTo>
                <a:lnTo>
                  <a:pt x="457200" y="38353"/>
                </a:lnTo>
                <a:lnTo>
                  <a:pt x="444101" y="3174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0" name="Google Shape;630;p38"/>
          <p:cNvSpPr/>
          <p:nvPr/>
        </p:nvSpPr>
        <p:spPr>
          <a:xfrm>
            <a:off x="6150864" y="3664965"/>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1" name="Google Shape;631;p38"/>
          <p:cNvSpPr/>
          <p:nvPr/>
        </p:nvSpPr>
        <p:spPr>
          <a:xfrm>
            <a:off x="6150864" y="4045965"/>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2" name="Google Shape;632;p38"/>
          <p:cNvSpPr/>
          <p:nvPr/>
        </p:nvSpPr>
        <p:spPr>
          <a:xfrm>
            <a:off x="6150864" y="4884165"/>
            <a:ext cx="457200" cy="76200"/>
          </a:xfrm>
          <a:custGeom>
            <a:rect b="b" l="l" r="r" t="t"/>
            <a:pathLst>
              <a:path extrusionOk="0" h="76200" w="457200">
                <a:moveTo>
                  <a:pt x="381127" y="0"/>
                </a:moveTo>
                <a:lnTo>
                  <a:pt x="381025" y="30480"/>
                </a:lnTo>
                <a:lnTo>
                  <a:pt x="380999" y="38354"/>
                </a:lnTo>
                <a:lnTo>
                  <a:pt x="380873" y="76200"/>
                </a:lnTo>
                <a:lnTo>
                  <a:pt x="444905" y="44450"/>
                </a:lnTo>
                <a:lnTo>
                  <a:pt x="393700" y="44450"/>
                </a:lnTo>
                <a:lnTo>
                  <a:pt x="393700" y="31750"/>
                </a:lnTo>
                <a:lnTo>
                  <a:pt x="444101" y="31750"/>
                </a:lnTo>
                <a:lnTo>
                  <a:pt x="381127" y="0"/>
                </a:lnTo>
                <a:close/>
              </a:path>
              <a:path extrusionOk="0" h="76200" w="457200">
                <a:moveTo>
                  <a:pt x="0" y="30480"/>
                </a:moveTo>
                <a:lnTo>
                  <a:pt x="0" y="43180"/>
                </a:lnTo>
                <a:lnTo>
                  <a:pt x="393699" y="44450"/>
                </a:lnTo>
                <a:lnTo>
                  <a:pt x="380978" y="44450"/>
                </a:lnTo>
                <a:lnTo>
                  <a:pt x="381021" y="31750"/>
                </a:lnTo>
                <a:lnTo>
                  <a:pt x="393699" y="31750"/>
                </a:lnTo>
                <a:lnTo>
                  <a:pt x="0" y="30480"/>
                </a:lnTo>
                <a:close/>
              </a:path>
              <a:path extrusionOk="0" h="76200" w="457200">
                <a:moveTo>
                  <a:pt x="444101" y="31750"/>
                </a:moveTo>
                <a:lnTo>
                  <a:pt x="393700" y="31750"/>
                </a:lnTo>
                <a:lnTo>
                  <a:pt x="393700" y="44450"/>
                </a:lnTo>
                <a:lnTo>
                  <a:pt x="444905" y="44450"/>
                </a:lnTo>
                <a:lnTo>
                  <a:pt x="457200" y="38354"/>
                </a:lnTo>
                <a:lnTo>
                  <a:pt x="444101" y="3175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3" name="Google Shape;633;p38"/>
          <p:cNvSpPr txBox="1"/>
          <p:nvPr/>
        </p:nvSpPr>
        <p:spPr>
          <a:xfrm>
            <a:off x="6684264" y="3172967"/>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1425">
            <a:spAutoFit/>
          </a:bodyPr>
          <a:lstStyle/>
          <a:p>
            <a:pPr indent="0" lvl="0" marL="244475" marR="0" rtl="0" algn="l">
              <a:lnSpc>
                <a:spcPct val="100000"/>
              </a:lnSpc>
              <a:spcBef>
                <a:spcPts val="0"/>
              </a:spcBef>
              <a:spcAft>
                <a:spcPts val="0"/>
              </a:spcAft>
              <a:buNone/>
            </a:pPr>
            <a:r>
              <a:rPr lang="en-US" sz="1800">
                <a:solidFill>
                  <a:schemeClr val="dk1"/>
                </a:solidFill>
                <a:latin typeface="Arial"/>
                <a:ea typeface="Arial"/>
                <a:cs typeface="Arial"/>
                <a:sym typeface="Arial"/>
              </a:rPr>
              <a:t>count</a:t>
            </a:r>
            <a:endParaRPr sz="1800">
              <a:solidFill>
                <a:schemeClr val="dk1"/>
              </a:solidFill>
              <a:latin typeface="Arial"/>
              <a:ea typeface="Arial"/>
              <a:cs typeface="Arial"/>
              <a:sym typeface="Arial"/>
            </a:endParaRPr>
          </a:p>
        </p:txBody>
      </p:sp>
      <p:sp>
        <p:nvSpPr>
          <p:cNvPr id="634" name="Google Shape;634;p38"/>
          <p:cNvSpPr txBox="1"/>
          <p:nvPr/>
        </p:nvSpPr>
        <p:spPr>
          <a:xfrm>
            <a:off x="6684264" y="3553967"/>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6025">
            <a:spAutoFit/>
          </a:bodyPr>
          <a:lstStyle/>
          <a:p>
            <a:pPr indent="0" lvl="0" marL="244475" marR="0" rtl="0" algn="l">
              <a:lnSpc>
                <a:spcPct val="100000"/>
              </a:lnSpc>
              <a:spcBef>
                <a:spcPts val="0"/>
              </a:spcBef>
              <a:spcAft>
                <a:spcPts val="0"/>
              </a:spcAft>
              <a:buNone/>
            </a:pPr>
            <a:r>
              <a:rPr lang="en-US" sz="1800">
                <a:solidFill>
                  <a:schemeClr val="dk1"/>
                </a:solidFill>
                <a:latin typeface="Arial"/>
                <a:ea typeface="Arial"/>
                <a:cs typeface="Arial"/>
                <a:sym typeface="Arial"/>
              </a:rPr>
              <a:t>count</a:t>
            </a:r>
            <a:endParaRPr sz="1800">
              <a:solidFill>
                <a:schemeClr val="dk1"/>
              </a:solidFill>
              <a:latin typeface="Arial"/>
              <a:ea typeface="Arial"/>
              <a:cs typeface="Arial"/>
              <a:sym typeface="Arial"/>
            </a:endParaRPr>
          </a:p>
        </p:txBody>
      </p:sp>
      <p:sp>
        <p:nvSpPr>
          <p:cNvPr id="635" name="Google Shape;635;p38"/>
          <p:cNvSpPr txBox="1"/>
          <p:nvPr/>
        </p:nvSpPr>
        <p:spPr>
          <a:xfrm>
            <a:off x="6684264" y="3934967"/>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1425">
            <a:spAutoFit/>
          </a:bodyPr>
          <a:lstStyle/>
          <a:p>
            <a:pPr indent="0" lvl="0" marL="254000" marR="0" rtl="0" algn="l">
              <a:lnSpc>
                <a:spcPct val="100000"/>
              </a:lnSpc>
              <a:spcBef>
                <a:spcPts val="0"/>
              </a:spcBef>
              <a:spcAft>
                <a:spcPts val="0"/>
              </a:spcAft>
              <a:buNone/>
            </a:pPr>
            <a:r>
              <a:rPr lang="en-US" sz="1800">
                <a:solidFill>
                  <a:schemeClr val="dk1"/>
                </a:solidFill>
                <a:latin typeface="Arial"/>
                <a:ea typeface="Arial"/>
                <a:cs typeface="Arial"/>
                <a:sym typeface="Arial"/>
              </a:rPr>
              <a:t>count</a:t>
            </a:r>
            <a:endParaRPr sz="1800">
              <a:solidFill>
                <a:schemeClr val="dk1"/>
              </a:solidFill>
              <a:latin typeface="Arial"/>
              <a:ea typeface="Arial"/>
              <a:cs typeface="Arial"/>
              <a:sym typeface="Arial"/>
            </a:endParaRPr>
          </a:p>
        </p:txBody>
      </p:sp>
      <p:sp>
        <p:nvSpPr>
          <p:cNvPr id="636" name="Google Shape;636;p38"/>
          <p:cNvSpPr txBox="1"/>
          <p:nvPr/>
        </p:nvSpPr>
        <p:spPr>
          <a:xfrm>
            <a:off x="6684264" y="4773167"/>
            <a:ext cx="1143000" cy="304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21575">
            <a:spAutoFit/>
          </a:bodyPr>
          <a:lstStyle/>
          <a:p>
            <a:pPr indent="0" lvl="0" marL="282575" marR="0" rtl="0" algn="l">
              <a:lnSpc>
                <a:spcPct val="100000"/>
              </a:lnSpc>
              <a:spcBef>
                <a:spcPts val="0"/>
              </a:spcBef>
              <a:spcAft>
                <a:spcPts val="0"/>
              </a:spcAft>
              <a:buNone/>
            </a:pPr>
            <a:r>
              <a:rPr lang="en-US" sz="1800">
                <a:solidFill>
                  <a:schemeClr val="dk1"/>
                </a:solidFill>
                <a:latin typeface="Arial"/>
                <a:ea typeface="Arial"/>
                <a:cs typeface="Arial"/>
                <a:sym typeface="Arial"/>
              </a:rPr>
              <a:t>count</a:t>
            </a:r>
            <a:endParaRPr sz="1800">
              <a:solidFill>
                <a:schemeClr val="dk1"/>
              </a:solidFill>
              <a:latin typeface="Arial"/>
              <a:ea typeface="Arial"/>
              <a:cs typeface="Arial"/>
              <a:sym typeface="Arial"/>
            </a:endParaRPr>
          </a:p>
        </p:txBody>
      </p:sp>
      <p:sp>
        <p:nvSpPr>
          <p:cNvPr id="637" name="Google Shape;637;p38"/>
          <p:cNvSpPr txBox="1"/>
          <p:nvPr/>
        </p:nvSpPr>
        <p:spPr>
          <a:xfrm>
            <a:off x="8135873" y="3868623"/>
            <a:ext cx="748030" cy="33147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chemeClr val="dk1"/>
                </a:solidFill>
                <a:latin typeface="Arial"/>
                <a:ea typeface="Arial"/>
                <a:cs typeface="Arial"/>
                <a:sym typeface="Arial"/>
              </a:rPr>
              <a:t>merge</a:t>
            </a:r>
            <a:endParaRPr sz="2000">
              <a:solidFill>
                <a:schemeClr val="dk1"/>
              </a:solidFill>
              <a:latin typeface="Arial"/>
              <a:ea typeface="Arial"/>
              <a:cs typeface="Arial"/>
              <a:sym typeface="Arial"/>
            </a:endParaRPr>
          </a:p>
        </p:txBody>
      </p:sp>
      <p:pic>
        <p:nvPicPr>
          <p:cNvPr id="638" name="Google Shape;638;p38"/>
          <p:cNvPicPr preferRelativeResize="0"/>
          <p:nvPr/>
        </p:nvPicPr>
        <p:blipFill rotWithShape="1">
          <a:blip r:embed="rId3">
            <a:alphaModFix/>
          </a:blip>
          <a:srcRect b="0" l="0" r="0" t="0"/>
          <a:stretch/>
        </p:blipFill>
        <p:spPr>
          <a:xfrm>
            <a:off x="7903464" y="4003040"/>
            <a:ext cx="228600" cy="76200"/>
          </a:xfrm>
          <a:prstGeom prst="rect">
            <a:avLst/>
          </a:prstGeom>
          <a:noFill/>
          <a:ln>
            <a:noFill/>
          </a:ln>
        </p:spPr>
      </p:pic>
      <p:pic>
        <p:nvPicPr>
          <p:cNvPr id="639" name="Google Shape;639;p38"/>
          <p:cNvPicPr preferRelativeResize="0"/>
          <p:nvPr/>
        </p:nvPicPr>
        <p:blipFill rotWithShape="1">
          <a:blip r:embed="rId3">
            <a:alphaModFix/>
          </a:blip>
          <a:srcRect b="0" l="0" r="0" t="0"/>
          <a:stretch/>
        </p:blipFill>
        <p:spPr>
          <a:xfrm>
            <a:off x="8894064" y="4003040"/>
            <a:ext cx="228600" cy="76200"/>
          </a:xfrm>
          <a:prstGeom prst="rect">
            <a:avLst/>
          </a:prstGeom>
          <a:noFill/>
          <a:ln>
            <a:noFill/>
          </a:ln>
        </p:spPr>
      </p:pic>
      <p:sp>
        <p:nvSpPr>
          <p:cNvPr id="640" name="Google Shape;640;p38"/>
          <p:cNvSpPr txBox="1"/>
          <p:nvPr/>
        </p:nvSpPr>
        <p:spPr>
          <a:xfrm>
            <a:off x="9218676" y="3706367"/>
            <a:ext cx="1143000" cy="685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54600">
            <a:spAutoFit/>
          </a:bodyPr>
          <a:lstStyle/>
          <a:p>
            <a:pPr indent="0" lvl="0" marL="152400" marR="0" rtl="0" algn="l">
              <a:lnSpc>
                <a:spcPct val="100000"/>
              </a:lnSpc>
              <a:spcBef>
                <a:spcPts val="0"/>
              </a:spcBef>
              <a:spcAft>
                <a:spcPts val="0"/>
              </a:spcAft>
              <a:buNone/>
            </a:pPr>
            <a:r>
              <a:rPr b="1" lang="en-US" sz="1800">
                <a:solidFill>
                  <a:schemeClr val="dk1"/>
                </a:solidFill>
                <a:latin typeface="Arial"/>
                <a:ea typeface="Arial"/>
                <a:cs typeface="Arial"/>
                <a:sym typeface="Arial"/>
              </a:rPr>
              <a:t>merged</a:t>
            </a:r>
            <a:endParaRPr sz="1800">
              <a:solidFill>
                <a:schemeClr val="dk1"/>
              </a:solidFill>
              <a:latin typeface="Arial"/>
              <a:ea typeface="Arial"/>
              <a:cs typeface="Arial"/>
              <a:sym typeface="Arial"/>
            </a:endParaRPr>
          </a:p>
          <a:p>
            <a:pPr indent="0" lvl="0" marL="253365" marR="0" rtl="0" algn="l">
              <a:lnSpc>
                <a:spcPct val="100000"/>
              </a:lnSpc>
              <a:spcBef>
                <a:spcPts val="0"/>
              </a:spcBef>
              <a:spcAft>
                <a:spcPts val="0"/>
              </a:spcAft>
              <a:buNone/>
            </a:pPr>
            <a:r>
              <a:rPr b="1" lang="en-US" sz="1800">
                <a:solidFill>
                  <a:schemeClr val="dk1"/>
                </a:solidFill>
                <a:latin typeface="Arial"/>
                <a:ea typeface="Arial"/>
                <a:cs typeface="Arial"/>
                <a:sym typeface="Arial"/>
              </a:rPr>
              <a:t>count</a:t>
            </a:r>
            <a:endParaRPr sz="1800">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39"/>
          <p:cNvSpPr txBox="1"/>
          <p:nvPr/>
        </p:nvSpPr>
        <p:spPr>
          <a:xfrm>
            <a:off x="688340" y="4266144"/>
            <a:ext cx="4843780" cy="1232535"/>
          </a:xfrm>
          <a:prstGeom prst="rect">
            <a:avLst/>
          </a:prstGeom>
          <a:noFill/>
          <a:ln>
            <a:noFill/>
          </a:ln>
        </p:spPr>
        <p:txBody>
          <a:bodyPr anchorCtr="0" anchor="t" bIns="0" lIns="0" spcFirstLastPara="1" rIns="0" wrap="square" tIns="48875">
            <a:spAutoFit/>
          </a:bodyPr>
          <a:lstStyle/>
          <a:p>
            <a:pPr indent="0" lvl="0" marL="12700" marR="0" rtl="0" algn="l">
              <a:lnSpc>
                <a:spcPct val="100000"/>
              </a:lnSpc>
              <a:spcBef>
                <a:spcPts val="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Map</a:t>
            </a:r>
            <a:endParaRPr sz="2400">
              <a:solidFill>
                <a:schemeClr val="dk1"/>
              </a:solidFill>
              <a:latin typeface="Arial"/>
              <a:ea typeface="Arial"/>
              <a:cs typeface="Arial"/>
              <a:sym typeface="Arial"/>
            </a:endParaRPr>
          </a:p>
          <a:p>
            <a:pPr indent="0" lvl="0" marL="314325" marR="0" rtl="0" algn="l">
              <a:lnSpc>
                <a:spcPct val="100000"/>
              </a:lnSpc>
              <a:spcBef>
                <a:spcPts val="285"/>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Accepts </a:t>
            </a:r>
            <a:r>
              <a:rPr i="1" lang="en-US" sz="2400">
                <a:solidFill>
                  <a:srgbClr val="063D86"/>
                </a:solidFill>
                <a:latin typeface="Arial"/>
                <a:ea typeface="Arial"/>
                <a:cs typeface="Arial"/>
                <a:sym typeface="Arial"/>
              </a:rPr>
              <a:t>input </a:t>
            </a:r>
            <a:r>
              <a:rPr lang="en-US" sz="2400">
                <a:solidFill>
                  <a:srgbClr val="063D86"/>
                </a:solidFill>
                <a:latin typeface="Arial"/>
                <a:ea typeface="Arial"/>
                <a:cs typeface="Arial"/>
                <a:sym typeface="Arial"/>
              </a:rPr>
              <a:t>key/value pair</a:t>
            </a:r>
            <a:endParaRPr sz="2400">
              <a:solidFill>
                <a:schemeClr val="dk1"/>
              </a:solidFill>
              <a:latin typeface="Arial"/>
              <a:ea typeface="Arial"/>
              <a:cs typeface="Arial"/>
              <a:sym typeface="Arial"/>
            </a:endParaRPr>
          </a:p>
          <a:p>
            <a:pPr indent="0" lvl="0" marL="314325" marR="0" rtl="0" algn="l">
              <a:lnSpc>
                <a:spcPct val="100000"/>
              </a:lnSpc>
              <a:spcBef>
                <a:spcPts val="29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Emits </a:t>
            </a:r>
            <a:r>
              <a:rPr i="1" lang="en-US" sz="2400">
                <a:solidFill>
                  <a:srgbClr val="063D86"/>
                </a:solidFill>
                <a:latin typeface="Arial"/>
                <a:ea typeface="Arial"/>
                <a:cs typeface="Arial"/>
                <a:sym typeface="Arial"/>
              </a:rPr>
              <a:t>intermediate </a:t>
            </a:r>
            <a:r>
              <a:rPr lang="en-US" sz="2400">
                <a:solidFill>
                  <a:srgbClr val="063D86"/>
                </a:solidFill>
                <a:latin typeface="Arial"/>
                <a:ea typeface="Arial"/>
                <a:cs typeface="Arial"/>
                <a:sym typeface="Arial"/>
              </a:rPr>
              <a:t>key/value pair</a:t>
            </a:r>
            <a:endParaRPr sz="2400">
              <a:solidFill>
                <a:schemeClr val="dk1"/>
              </a:solidFill>
              <a:latin typeface="Arial"/>
              <a:ea typeface="Arial"/>
              <a:cs typeface="Arial"/>
              <a:sym typeface="Arial"/>
            </a:endParaRPr>
          </a:p>
        </p:txBody>
      </p:sp>
      <p:sp>
        <p:nvSpPr>
          <p:cNvPr descr="$PPTXTitle" id="646" name="Google Shape;646;p39"/>
          <p:cNvSpPr txBox="1"/>
          <p:nvPr>
            <p:ph type="title"/>
          </p:nvPr>
        </p:nvSpPr>
        <p:spPr>
          <a:xfrm>
            <a:off x="4403597" y="580389"/>
            <a:ext cx="3383279" cy="696595"/>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1"/>
              </a:buClr>
              <a:buSzPts val="4400"/>
              <a:buFont typeface="Play"/>
              <a:buNone/>
            </a:pPr>
            <a:r>
              <a:rPr lang="en-US"/>
              <a:t>Map + Reduce</a:t>
            </a:r>
            <a:endParaRPr/>
          </a:p>
        </p:txBody>
      </p:sp>
      <p:sp>
        <p:nvSpPr>
          <p:cNvPr id="647" name="Google Shape;647;p39"/>
          <p:cNvSpPr/>
          <p:nvPr/>
        </p:nvSpPr>
        <p:spPr>
          <a:xfrm>
            <a:off x="1740407" y="1801367"/>
            <a:ext cx="1143000" cy="1905000"/>
          </a:xfrm>
          <a:custGeom>
            <a:rect b="b" l="l" r="r" t="t"/>
            <a:pathLst>
              <a:path extrusionOk="0" h="1905000" w="1143000">
                <a:moveTo>
                  <a:pt x="1143000" y="0"/>
                </a:moveTo>
                <a:lnTo>
                  <a:pt x="0" y="0"/>
                </a:lnTo>
                <a:lnTo>
                  <a:pt x="0" y="1904999"/>
                </a:lnTo>
                <a:lnTo>
                  <a:pt x="1143000" y="1904999"/>
                </a:lnTo>
                <a:lnTo>
                  <a:pt x="1143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8" name="Google Shape;648;p39"/>
          <p:cNvSpPr/>
          <p:nvPr/>
        </p:nvSpPr>
        <p:spPr>
          <a:xfrm>
            <a:off x="8979407" y="1801367"/>
            <a:ext cx="1143000" cy="1905000"/>
          </a:xfrm>
          <a:custGeom>
            <a:rect b="b" l="l" r="r" t="t"/>
            <a:pathLst>
              <a:path extrusionOk="0" h="1905000" w="1143000">
                <a:moveTo>
                  <a:pt x="1143000" y="0"/>
                </a:moveTo>
                <a:lnTo>
                  <a:pt x="0" y="0"/>
                </a:lnTo>
                <a:lnTo>
                  <a:pt x="0" y="1904999"/>
                </a:lnTo>
                <a:lnTo>
                  <a:pt x="1143000" y="1904999"/>
                </a:lnTo>
                <a:lnTo>
                  <a:pt x="1143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649" name="Google Shape;649;p39"/>
          <p:cNvGrpSpPr/>
          <p:nvPr/>
        </p:nvGrpSpPr>
        <p:grpSpPr>
          <a:xfrm>
            <a:off x="3006852" y="1572767"/>
            <a:ext cx="5925820" cy="2438400"/>
            <a:chOff x="3006852" y="1572767"/>
            <a:chExt cx="5925820" cy="2438400"/>
          </a:xfrm>
        </p:grpSpPr>
        <p:sp>
          <p:nvSpPr>
            <p:cNvPr id="650" name="Google Shape;650;p39"/>
            <p:cNvSpPr/>
            <p:nvPr/>
          </p:nvSpPr>
          <p:spPr>
            <a:xfrm>
              <a:off x="3569207" y="1801367"/>
              <a:ext cx="1143000" cy="304800"/>
            </a:xfrm>
            <a:custGeom>
              <a:rect b="b" l="l" r="r" t="t"/>
              <a:pathLst>
                <a:path extrusionOk="0" h="304800" w="1143000">
                  <a:moveTo>
                    <a:pt x="1143000" y="0"/>
                  </a:moveTo>
                  <a:lnTo>
                    <a:pt x="0" y="0"/>
                  </a:lnTo>
                  <a:lnTo>
                    <a:pt x="0" y="304800"/>
                  </a:lnTo>
                  <a:lnTo>
                    <a:pt x="1143000" y="304800"/>
                  </a:lnTo>
                  <a:lnTo>
                    <a:pt x="1143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1" name="Google Shape;651;p39"/>
            <p:cNvSpPr/>
            <p:nvPr/>
          </p:nvSpPr>
          <p:spPr>
            <a:xfrm>
              <a:off x="3569207" y="1801367"/>
              <a:ext cx="1143000" cy="304800"/>
            </a:xfrm>
            <a:custGeom>
              <a:rect b="b" l="l" r="r" t="t"/>
              <a:pathLst>
                <a:path extrusionOk="0" h="304800" w="1143000">
                  <a:moveTo>
                    <a:pt x="0" y="304800"/>
                  </a:moveTo>
                  <a:lnTo>
                    <a:pt x="1143000" y="304800"/>
                  </a:lnTo>
                  <a:lnTo>
                    <a:pt x="1143000" y="0"/>
                  </a:lnTo>
                  <a:lnTo>
                    <a:pt x="0" y="0"/>
                  </a:lnTo>
                  <a:lnTo>
                    <a:pt x="0" y="304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2" name="Google Shape;652;p39"/>
            <p:cNvSpPr/>
            <p:nvPr/>
          </p:nvSpPr>
          <p:spPr>
            <a:xfrm>
              <a:off x="3569207" y="2182367"/>
              <a:ext cx="1143000" cy="304800"/>
            </a:xfrm>
            <a:custGeom>
              <a:rect b="b" l="l" r="r" t="t"/>
              <a:pathLst>
                <a:path extrusionOk="0" h="304800" w="1143000">
                  <a:moveTo>
                    <a:pt x="1143000" y="0"/>
                  </a:moveTo>
                  <a:lnTo>
                    <a:pt x="0" y="0"/>
                  </a:lnTo>
                  <a:lnTo>
                    <a:pt x="0" y="304800"/>
                  </a:lnTo>
                  <a:lnTo>
                    <a:pt x="1143000" y="304800"/>
                  </a:lnTo>
                  <a:lnTo>
                    <a:pt x="1143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3" name="Google Shape;653;p39"/>
            <p:cNvSpPr/>
            <p:nvPr/>
          </p:nvSpPr>
          <p:spPr>
            <a:xfrm>
              <a:off x="3569207" y="2182367"/>
              <a:ext cx="1143000" cy="304800"/>
            </a:xfrm>
            <a:custGeom>
              <a:rect b="b" l="l" r="r" t="t"/>
              <a:pathLst>
                <a:path extrusionOk="0" h="304800" w="1143000">
                  <a:moveTo>
                    <a:pt x="0" y="304800"/>
                  </a:moveTo>
                  <a:lnTo>
                    <a:pt x="1143000" y="304800"/>
                  </a:lnTo>
                  <a:lnTo>
                    <a:pt x="1143000" y="0"/>
                  </a:lnTo>
                  <a:lnTo>
                    <a:pt x="0" y="0"/>
                  </a:lnTo>
                  <a:lnTo>
                    <a:pt x="0" y="304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4" name="Google Shape;654;p39"/>
            <p:cNvSpPr/>
            <p:nvPr/>
          </p:nvSpPr>
          <p:spPr>
            <a:xfrm>
              <a:off x="3569207" y="2563367"/>
              <a:ext cx="1143000" cy="304800"/>
            </a:xfrm>
            <a:custGeom>
              <a:rect b="b" l="l" r="r" t="t"/>
              <a:pathLst>
                <a:path extrusionOk="0" h="304800" w="1143000">
                  <a:moveTo>
                    <a:pt x="1143000" y="0"/>
                  </a:moveTo>
                  <a:lnTo>
                    <a:pt x="0" y="0"/>
                  </a:lnTo>
                  <a:lnTo>
                    <a:pt x="0" y="304800"/>
                  </a:lnTo>
                  <a:lnTo>
                    <a:pt x="1143000" y="304800"/>
                  </a:lnTo>
                  <a:lnTo>
                    <a:pt x="114300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5" name="Google Shape;655;p39"/>
            <p:cNvSpPr/>
            <p:nvPr/>
          </p:nvSpPr>
          <p:spPr>
            <a:xfrm>
              <a:off x="3569207" y="2563367"/>
              <a:ext cx="1143000" cy="1143000"/>
            </a:xfrm>
            <a:custGeom>
              <a:rect b="b" l="l" r="r" t="t"/>
              <a:pathLst>
                <a:path extrusionOk="0" h="1143000" w="1143000">
                  <a:moveTo>
                    <a:pt x="0" y="304800"/>
                  </a:moveTo>
                  <a:lnTo>
                    <a:pt x="1143000" y="304800"/>
                  </a:lnTo>
                  <a:lnTo>
                    <a:pt x="1143000" y="0"/>
                  </a:lnTo>
                  <a:lnTo>
                    <a:pt x="0" y="0"/>
                  </a:lnTo>
                  <a:lnTo>
                    <a:pt x="0" y="304800"/>
                  </a:lnTo>
                  <a:close/>
                </a:path>
                <a:path extrusionOk="0" h="1143000" w="1143000">
                  <a:moveTo>
                    <a:pt x="0" y="1143000"/>
                  </a:moveTo>
                  <a:lnTo>
                    <a:pt x="1143000" y="1143000"/>
                  </a:lnTo>
                  <a:lnTo>
                    <a:pt x="1143000" y="838200"/>
                  </a:lnTo>
                  <a:lnTo>
                    <a:pt x="0" y="838200"/>
                  </a:lnTo>
                  <a:lnTo>
                    <a:pt x="0" y="11430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6" name="Google Shape;656;p39"/>
            <p:cNvSpPr/>
            <p:nvPr/>
          </p:nvSpPr>
          <p:spPr>
            <a:xfrm>
              <a:off x="4136135" y="3020567"/>
              <a:ext cx="1905" cy="228600"/>
            </a:xfrm>
            <a:custGeom>
              <a:rect b="b" l="l" r="r" t="t"/>
              <a:pathLst>
                <a:path extrusionOk="0" h="228600" w="1904">
                  <a:moveTo>
                    <a:pt x="0" y="0"/>
                  </a:moveTo>
                  <a:lnTo>
                    <a:pt x="1524" y="228600"/>
                  </a:lnTo>
                </a:path>
              </a:pathLst>
            </a:custGeom>
            <a:noFill/>
            <a:ln cap="flat" cmpd="sng" w="76200">
              <a:solidFill>
                <a:srgbClr val="000000"/>
              </a:solidFill>
              <a:prstDash val="dot"/>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7" name="Google Shape;657;p39"/>
            <p:cNvSpPr/>
            <p:nvPr/>
          </p:nvSpPr>
          <p:spPr>
            <a:xfrm>
              <a:off x="6464807" y="1801367"/>
              <a:ext cx="1143000" cy="304800"/>
            </a:xfrm>
            <a:custGeom>
              <a:rect b="b" l="l" r="r" t="t"/>
              <a:pathLst>
                <a:path extrusionOk="0" h="304800" w="1143000">
                  <a:moveTo>
                    <a:pt x="1142999" y="0"/>
                  </a:moveTo>
                  <a:lnTo>
                    <a:pt x="0" y="0"/>
                  </a:lnTo>
                  <a:lnTo>
                    <a:pt x="0" y="304800"/>
                  </a:lnTo>
                  <a:lnTo>
                    <a:pt x="1142999" y="304800"/>
                  </a:lnTo>
                  <a:lnTo>
                    <a:pt x="11429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8" name="Google Shape;658;p39"/>
            <p:cNvSpPr/>
            <p:nvPr/>
          </p:nvSpPr>
          <p:spPr>
            <a:xfrm>
              <a:off x="6464807" y="1801367"/>
              <a:ext cx="1143000" cy="304800"/>
            </a:xfrm>
            <a:custGeom>
              <a:rect b="b" l="l" r="r" t="t"/>
              <a:pathLst>
                <a:path extrusionOk="0" h="304800" w="1143000">
                  <a:moveTo>
                    <a:pt x="0" y="304800"/>
                  </a:moveTo>
                  <a:lnTo>
                    <a:pt x="1142999" y="304800"/>
                  </a:lnTo>
                  <a:lnTo>
                    <a:pt x="1142999" y="0"/>
                  </a:lnTo>
                  <a:lnTo>
                    <a:pt x="0" y="0"/>
                  </a:lnTo>
                  <a:lnTo>
                    <a:pt x="0" y="304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9" name="Google Shape;659;p39"/>
            <p:cNvSpPr/>
            <p:nvPr/>
          </p:nvSpPr>
          <p:spPr>
            <a:xfrm>
              <a:off x="6464807" y="2182367"/>
              <a:ext cx="1143000" cy="304800"/>
            </a:xfrm>
            <a:custGeom>
              <a:rect b="b" l="l" r="r" t="t"/>
              <a:pathLst>
                <a:path extrusionOk="0" h="304800" w="1143000">
                  <a:moveTo>
                    <a:pt x="1142999" y="0"/>
                  </a:moveTo>
                  <a:lnTo>
                    <a:pt x="0" y="0"/>
                  </a:lnTo>
                  <a:lnTo>
                    <a:pt x="0" y="304800"/>
                  </a:lnTo>
                  <a:lnTo>
                    <a:pt x="1142999" y="304800"/>
                  </a:lnTo>
                  <a:lnTo>
                    <a:pt x="11429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0" name="Google Shape;660;p39"/>
            <p:cNvSpPr/>
            <p:nvPr/>
          </p:nvSpPr>
          <p:spPr>
            <a:xfrm>
              <a:off x="6464807" y="2182367"/>
              <a:ext cx="1143000" cy="304800"/>
            </a:xfrm>
            <a:custGeom>
              <a:rect b="b" l="l" r="r" t="t"/>
              <a:pathLst>
                <a:path extrusionOk="0" h="304800" w="1143000">
                  <a:moveTo>
                    <a:pt x="0" y="304800"/>
                  </a:moveTo>
                  <a:lnTo>
                    <a:pt x="1142999" y="304800"/>
                  </a:lnTo>
                  <a:lnTo>
                    <a:pt x="1142999" y="0"/>
                  </a:lnTo>
                  <a:lnTo>
                    <a:pt x="0" y="0"/>
                  </a:lnTo>
                  <a:lnTo>
                    <a:pt x="0" y="3048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1" name="Google Shape;661;p39"/>
            <p:cNvSpPr/>
            <p:nvPr/>
          </p:nvSpPr>
          <p:spPr>
            <a:xfrm>
              <a:off x="6464807" y="2563367"/>
              <a:ext cx="1143000" cy="304800"/>
            </a:xfrm>
            <a:custGeom>
              <a:rect b="b" l="l" r="r" t="t"/>
              <a:pathLst>
                <a:path extrusionOk="0" h="304800" w="1143000">
                  <a:moveTo>
                    <a:pt x="1142999" y="0"/>
                  </a:moveTo>
                  <a:lnTo>
                    <a:pt x="0" y="0"/>
                  </a:lnTo>
                  <a:lnTo>
                    <a:pt x="0" y="304800"/>
                  </a:lnTo>
                  <a:lnTo>
                    <a:pt x="1142999" y="304800"/>
                  </a:lnTo>
                  <a:lnTo>
                    <a:pt x="11429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2" name="Google Shape;662;p39"/>
            <p:cNvSpPr/>
            <p:nvPr/>
          </p:nvSpPr>
          <p:spPr>
            <a:xfrm>
              <a:off x="6464807" y="2563367"/>
              <a:ext cx="1143000" cy="1143000"/>
            </a:xfrm>
            <a:custGeom>
              <a:rect b="b" l="l" r="r" t="t"/>
              <a:pathLst>
                <a:path extrusionOk="0" h="1143000" w="1143000">
                  <a:moveTo>
                    <a:pt x="0" y="304800"/>
                  </a:moveTo>
                  <a:lnTo>
                    <a:pt x="1142999" y="304800"/>
                  </a:lnTo>
                  <a:lnTo>
                    <a:pt x="1142999" y="0"/>
                  </a:lnTo>
                  <a:lnTo>
                    <a:pt x="0" y="0"/>
                  </a:lnTo>
                  <a:lnTo>
                    <a:pt x="0" y="304800"/>
                  </a:lnTo>
                  <a:close/>
                </a:path>
                <a:path extrusionOk="0" h="1143000" w="1143000">
                  <a:moveTo>
                    <a:pt x="0" y="1143000"/>
                  </a:moveTo>
                  <a:lnTo>
                    <a:pt x="1142999" y="1143000"/>
                  </a:lnTo>
                  <a:lnTo>
                    <a:pt x="1142999" y="838200"/>
                  </a:lnTo>
                  <a:lnTo>
                    <a:pt x="0" y="838200"/>
                  </a:lnTo>
                  <a:lnTo>
                    <a:pt x="0" y="114300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3" name="Google Shape;663;p39"/>
            <p:cNvSpPr/>
            <p:nvPr/>
          </p:nvSpPr>
          <p:spPr>
            <a:xfrm>
              <a:off x="7031736" y="3020567"/>
              <a:ext cx="1905" cy="228600"/>
            </a:xfrm>
            <a:custGeom>
              <a:rect b="b" l="l" r="r" t="t"/>
              <a:pathLst>
                <a:path extrusionOk="0" h="228600" w="1904">
                  <a:moveTo>
                    <a:pt x="0" y="0"/>
                  </a:moveTo>
                  <a:lnTo>
                    <a:pt x="1524" y="228600"/>
                  </a:lnTo>
                </a:path>
              </a:pathLst>
            </a:custGeom>
            <a:noFill/>
            <a:ln cap="flat" cmpd="sng" w="76200">
              <a:solidFill>
                <a:srgbClr val="000000"/>
              </a:solidFill>
              <a:prstDash val="dot"/>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4" name="Google Shape;664;p39"/>
            <p:cNvSpPr/>
            <p:nvPr/>
          </p:nvSpPr>
          <p:spPr>
            <a:xfrm>
              <a:off x="3006852" y="1912365"/>
              <a:ext cx="5925820" cy="1681480"/>
            </a:xfrm>
            <a:custGeom>
              <a:rect b="b" l="l" r="r" t="t"/>
              <a:pathLst>
                <a:path extrusionOk="0" h="1681479" w="5925820">
                  <a:moveTo>
                    <a:pt x="457200" y="728726"/>
                  </a:moveTo>
                  <a:lnTo>
                    <a:pt x="444093" y="722122"/>
                  </a:lnTo>
                  <a:lnTo>
                    <a:pt x="393700" y="696722"/>
                  </a:lnTo>
                  <a:lnTo>
                    <a:pt x="393700" y="734822"/>
                  </a:lnTo>
                  <a:lnTo>
                    <a:pt x="380974" y="734822"/>
                  </a:lnTo>
                  <a:lnTo>
                    <a:pt x="393700" y="734822"/>
                  </a:lnTo>
                  <a:lnTo>
                    <a:pt x="393700" y="696722"/>
                  </a:lnTo>
                  <a:lnTo>
                    <a:pt x="381127" y="690372"/>
                  </a:lnTo>
                  <a:lnTo>
                    <a:pt x="381025" y="720852"/>
                  </a:lnTo>
                  <a:lnTo>
                    <a:pt x="381012" y="722083"/>
                  </a:lnTo>
                  <a:lnTo>
                    <a:pt x="0" y="720852"/>
                  </a:lnTo>
                  <a:lnTo>
                    <a:pt x="0" y="733552"/>
                  </a:lnTo>
                  <a:lnTo>
                    <a:pt x="380961" y="734783"/>
                  </a:lnTo>
                  <a:lnTo>
                    <a:pt x="380873" y="766572"/>
                  </a:lnTo>
                  <a:lnTo>
                    <a:pt x="444893" y="734822"/>
                  </a:lnTo>
                  <a:lnTo>
                    <a:pt x="457200" y="728726"/>
                  </a:lnTo>
                  <a:close/>
                </a:path>
                <a:path extrusionOk="0" h="1681479" w="5925820">
                  <a:moveTo>
                    <a:pt x="2238756" y="1643126"/>
                  </a:moveTo>
                  <a:lnTo>
                    <a:pt x="2225649" y="1636522"/>
                  </a:lnTo>
                  <a:lnTo>
                    <a:pt x="2175256" y="1611122"/>
                  </a:lnTo>
                  <a:lnTo>
                    <a:pt x="2175256" y="1649222"/>
                  </a:lnTo>
                  <a:lnTo>
                    <a:pt x="2162530" y="1649222"/>
                  </a:lnTo>
                  <a:lnTo>
                    <a:pt x="2175256" y="1649222"/>
                  </a:lnTo>
                  <a:lnTo>
                    <a:pt x="2175256" y="1611122"/>
                  </a:lnTo>
                  <a:lnTo>
                    <a:pt x="2162683" y="1604772"/>
                  </a:lnTo>
                  <a:lnTo>
                    <a:pt x="2162581" y="1635252"/>
                  </a:lnTo>
                  <a:lnTo>
                    <a:pt x="2162568" y="1636483"/>
                  </a:lnTo>
                  <a:lnTo>
                    <a:pt x="1781556" y="1635252"/>
                  </a:lnTo>
                  <a:lnTo>
                    <a:pt x="1781556" y="1647952"/>
                  </a:lnTo>
                  <a:lnTo>
                    <a:pt x="2162518" y="1649183"/>
                  </a:lnTo>
                  <a:lnTo>
                    <a:pt x="2162429" y="1680972"/>
                  </a:lnTo>
                  <a:lnTo>
                    <a:pt x="2226449" y="1649222"/>
                  </a:lnTo>
                  <a:lnTo>
                    <a:pt x="2238756" y="1643126"/>
                  </a:lnTo>
                  <a:close/>
                </a:path>
                <a:path extrusionOk="0" h="1681479" w="5925820">
                  <a:moveTo>
                    <a:pt x="2238756" y="804926"/>
                  </a:moveTo>
                  <a:lnTo>
                    <a:pt x="2225649" y="798322"/>
                  </a:lnTo>
                  <a:lnTo>
                    <a:pt x="2175256" y="772922"/>
                  </a:lnTo>
                  <a:lnTo>
                    <a:pt x="2175256" y="811022"/>
                  </a:lnTo>
                  <a:lnTo>
                    <a:pt x="2162530" y="811022"/>
                  </a:lnTo>
                  <a:lnTo>
                    <a:pt x="2175256" y="811022"/>
                  </a:lnTo>
                  <a:lnTo>
                    <a:pt x="2175256" y="772922"/>
                  </a:lnTo>
                  <a:lnTo>
                    <a:pt x="2162683" y="766572"/>
                  </a:lnTo>
                  <a:lnTo>
                    <a:pt x="2162581" y="797052"/>
                  </a:lnTo>
                  <a:lnTo>
                    <a:pt x="2162568" y="798283"/>
                  </a:lnTo>
                  <a:lnTo>
                    <a:pt x="1781556" y="797052"/>
                  </a:lnTo>
                  <a:lnTo>
                    <a:pt x="1781556" y="809752"/>
                  </a:lnTo>
                  <a:lnTo>
                    <a:pt x="2162518" y="810983"/>
                  </a:lnTo>
                  <a:lnTo>
                    <a:pt x="2162429" y="842772"/>
                  </a:lnTo>
                  <a:lnTo>
                    <a:pt x="2226449" y="811022"/>
                  </a:lnTo>
                  <a:lnTo>
                    <a:pt x="2238756" y="804926"/>
                  </a:lnTo>
                  <a:close/>
                </a:path>
                <a:path extrusionOk="0" h="1681479" w="5925820">
                  <a:moveTo>
                    <a:pt x="2238756" y="423926"/>
                  </a:moveTo>
                  <a:lnTo>
                    <a:pt x="2225649" y="417322"/>
                  </a:lnTo>
                  <a:lnTo>
                    <a:pt x="2175256" y="391922"/>
                  </a:lnTo>
                  <a:lnTo>
                    <a:pt x="2175256" y="430022"/>
                  </a:lnTo>
                  <a:lnTo>
                    <a:pt x="2162530" y="430022"/>
                  </a:lnTo>
                  <a:lnTo>
                    <a:pt x="2175256" y="430022"/>
                  </a:lnTo>
                  <a:lnTo>
                    <a:pt x="2175256" y="391922"/>
                  </a:lnTo>
                  <a:lnTo>
                    <a:pt x="2162683" y="385572"/>
                  </a:lnTo>
                  <a:lnTo>
                    <a:pt x="2162581" y="416052"/>
                  </a:lnTo>
                  <a:lnTo>
                    <a:pt x="2162568" y="417283"/>
                  </a:lnTo>
                  <a:lnTo>
                    <a:pt x="1781556" y="416052"/>
                  </a:lnTo>
                  <a:lnTo>
                    <a:pt x="1781556" y="428752"/>
                  </a:lnTo>
                  <a:lnTo>
                    <a:pt x="2162518" y="429983"/>
                  </a:lnTo>
                  <a:lnTo>
                    <a:pt x="2162429" y="461772"/>
                  </a:lnTo>
                  <a:lnTo>
                    <a:pt x="2226449" y="430022"/>
                  </a:lnTo>
                  <a:lnTo>
                    <a:pt x="2238756" y="423926"/>
                  </a:lnTo>
                  <a:close/>
                </a:path>
                <a:path extrusionOk="0" h="1681479" w="5925820">
                  <a:moveTo>
                    <a:pt x="2238756" y="42926"/>
                  </a:moveTo>
                  <a:lnTo>
                    <a:pt x="2225649" y="36322"/>
                  </a:lnTo>
                  <a:lnTo>
                    <a:pt x="2175256" y="10922"/>
                  </a:lnTo>
                  <a:lnTo>
                    <a:pt x="2175256" y="49022"/>
                  </a:lnTo>
                  <a:lnTo>
                    <a:pt x="2162530" y="49022"/>
                  </a:lnTo>
                  <a:lnTo>
                    <a:pt x="2175256" y="49022"/>
                  </a:lnTo>
                  <a:lnTo>
                    <a:pt x="2175256" y="10922"/>
                  </a:lnTo>
                  <a:lnTo>
                    <a:pt x="2162683" y="4572"/>
                  </a:lnTo>
                  <a:lnTo>
                    <a:pt x="2162581" y="35052"/>
                  </a:lnTo>
                  <a:lnTo>
                    <a:pt x="2162568" y="36283"/>
                  </a:lnTo>
                  <a:lnTo>
                    <a:pt x="1781556" y="35052"/>
                  </a:lnTo>
                  <a:lnTo>
                    <a:pt x="1781556" y="47752"/>
                  </a:lnTo>
                  <a:lnTo>
                    <a:pt x="2162518" y="48983"/>
                  </a:lnTo>
                  <a:lnTo>
                    <a:pt x="2162429" y="80772"/>
                  </a:lnTo>
                  <a:lnTo>
                    <a:pt x="2226449" y="49022"/>
                  </a:lnTo>
                  <a:lnTo>
                    <a:pt x="2238756" y="42926"/>
                  </a:lnTo>
                  <a:close/>
                </a:path>
                <a:path extrusionOk="0" h="1681479" w="5925820">
                  <a:moveTo>
                    <a:pt x="3381756" y="1638566"/>
                  </a:moveTo>
                  <a:lnTo>
                    <a:pt x="3368649" y="1631962"/>
                  </a:lnTo>
                  <a:lnTo>
                    <a:pt x="3318256" y="1606550"/>
                  </a:lnTo>
                  <a:lnTo>
                    <a:pt x="3318256" y="1644662"/>
                  </a:lnTo>
                  <a:lnTo>
                    <a:pt x="3305530" y="1644662"/>
                  </a:lnTo>
                  <a:lnTo>
                    <a:pt x="3318256" y="1644662"/>
                  </a:lnTo>
                  <a:lnTo>
                    <a:pt x="3318256" y="1606550"/>
                  </a:lnTo>
                  <a:lnTo>
                    <a:pt x="3305683" y="1600200"/>
                  </a:lnTo>
                  <a:lnTo>
                    <a:pt x="3305581" y="1630692"/>
                  </a:lnTo>
                  <a:lnTo>
                    <a:pt x="3305568" y="1631924"/>
                  </a:lnTo>
                  <a:lnTo>
                    <a:pt x="2924556" y="1630692"/>
                  </a:lnTo>
                  <a:lnTo>
                    <a:pt x="2924556" y="1643392"/>
                  </a:lnTo>
                  <a:lnTo>
                    <a:pt x="3305518" y="1644624"/>
                  </a:lnTo>
                  <a:lnTo>
                    <a:pt x="3305429" y="1676412"/>
                  </a:lnTo>
                  <a:lnTo>
                    <a:pt x="3369449" y="1644662"/>
                  </a:lnTo>
                  <a:lnTo>
                    <a:pt x="3381756" y="1638566"/>
                  </a:lnTo>
                  <a:close/>
                </a:path>
                <a:path extrusionOk="0" h="1681479" w="5925820">
                  <a:moveTo>
                    <a:pt x="3381756" y="800354"/>
                  </a:moveTo>
                  <a:lnTo>
                    <a:pt x="3368649" y="793750"/>
                  </a:lnTo>
                  <a:lnTo>
                    <a:pt x="3318256" y="768350"/>
                  </a:lnTo>
                  <a:lnTo>
                    <a:pt x="3318256" y="806450"/>
                  </a:lnTo>
                  <a:lnTo>
                    <a:pt x="3305530" y="806450"/>
                  </a:lnTo>
                  <a:lnTo>
                    <a:pt x="3318256" y="806450"/>
                  </a:lnTo>
                  <a:lnTo>
                    <a:pt x="3318256" y="768350"/>
                  </a:lnTo>
                  <a:lnTo>
                    <a:pt x="3305683" y="762000"/>
                  </a:lnTo>
                  <a:lnTo>
                    <a:pt x="3305581" y="792480"/>
                  </a:lnTo>
                  <a:lnTo>
                    <a:pt x="3305568" y="793711"/>
                  </a:lnTo>
                  <a:lnTo>
                    <a:pt x="2924556" y="792480"/>
                  </a:lnTo>
                  <a:lnTo>
                    <a:pt x="2924556" y="805180"/>
                  </a:lnTo>
                  <a:lnTo>
                    <a:pt x="3305518" y="806411"/>
                  </a:lnTo>
                  <a:lnTo>
                    <a:pt x="3305429" y="838200"/>
                  </a:lnTo>
                  <a:lnTo>
                    <a:pt x="3369449" y="806450"/>
                  </a:lnTo>
                  <a:lnTo>
                    <a:pt x="3381756" y="800354"/>
                  </a:lnTo>
                  <a:close/>
                </a:path>
                <a:path extrusionOk="0" h="1681479" w="5925820">
                  <a:moveTo>
                    <a:pt x="3381756" y="419354"/>
                  </a:moveTo>
                  <a:lnTo>
                    <a:pt x="3368649" y="412750"/>
                  </a:lnTo>
                  <a:lnTo>
                    <a:pt x="3318256" y="387350"/>
                  </a:lnTo>
                  <a:lnTo>
                    <a:pt x="3318256" y="425450"/>
                  </a:lnTo>
                  <a:lnTo>
                    <a:pt x="3305530" y="425450"/>
                  </a:lnTo>
                  <a:lnTo>
                    <a:pt x="3318256" y="425450"/>
                  </a:lnTo>
                  <a:lnTo>
                    <a:pt x="3318256" y="387350"/>
                  </a:lnTo>
                  <a:lnTo>
                    <a:pt x="3305683" y="381000"/>
                  </a:lnTo>
                  <a:lnTo>
                    <a:pt x="3305581" y="411480"/>
                  </a:lnTo>
                  <a:lnTo>
                    <a:pt x="3305568" y="412711"/>
                  </a:lnTo>
                  <a:lnTo>
                    <a:pt x="2924556" y="411480"/>
                  </a:lnTo>
                  <a:lnTo>
                    <a:pt x="2924556" y="424180"/>
                  </a:lnTo>
                  <a:lnTo>
                    <a:pt x="3305518" y="425411"/>
                  </a:lnTo>
                  <a:lnTo>
                    <a:pt x="3305429" y="457200"/>
                  </a:lnTo>
                  <a:lnTo>
                    <a:pt x="3369449" y="425450"/>
                  </a:lnTo>
                  <a:lnTo>
                    <a:pt x="3381756" y="419354"/>
                  </a:lnTo>
                  <a:close/>
                </a:path>
                <a:path extrusionOk="0" h="1681479" w="5925820">
                  <a:moveTo>
                    <a:pt x="3381756" y="38354"/>
                  </a:moveTo>
                  <a:lnTo>
                    <a:pt x="3368649" y="31750"/>
                  </a:lnTo>
                  <a:lnTo>
                    <a:pt x="3318256" y="6350"/>
                  </a:lnTo>
                  <a:lnTo>
                    <a:pt x="3318256" y="44450"/>
                  </a:lnTo>
                  <a:lnTo>
                    <a:pt x="3305530" y="44450"/>
                  </a:lnTo>
                  <a:lnTo>
                    <a:pt x="3318256" y="44450"/>
                  </a:lnTo>
                  <a:lnTo>
                    <a:pt x="3318256" y="6350"/>
                  </a:lnTo>
                  <a:lnTo>
                    <a:pt x="3305683" y="0"/>
                  </a:lnTo>
                  <a:lnTo>
                    <a:pt x="3305581" y="30480"/>
                  </a:lnTo>
                  <a:lnTo>
                    <a:pt x="3305568" y="31711"/>
                  </a:lnTo>
                  <a:lnTo>
                    <a:pt x="2924556" y="30480"/>
                  </a:lnTo>
                  <a:lnTo>
                    <a:pt x="2924556" y="43180"/>
                  </a:lnTo>
                  <a:lnTo>
                    <a:pt x="3305518" y="44411"/>
                  </a:lnTo>
                  <a:lnTo>
                    <a:pt x="3305429" y="76200"/>
                  </a:lnTo>
                  <a:lnTo>
                    <a:pt x="3369449" y="44450"/>
                  </a:lnTo>
                  <a:lnTo>
                    <a:pt x="3381756" y="38354"/>
                  </a:lnTo>
                  <a:close/>
                </a:path>
                <a:path extrusionOk="0" h="1681479" w="5925820">
                  <a:moveTo>
                    <a:pt x="4981956" y="757682"/>
                  </a:moveTo>
                  <a:lnTo>
                    <a:pt x="4968646" y="750951"/>
                  </a:lnTo>
                  <a:lnTo>
                    <a:pt x="4905883" y="719201"/>
                  </a:lnTo>
                  <a:lnTo>
                    <a:pt x="4905718" y="750900"/>
                  </a:lnTo>
                  <a:lnTo>
                    <a:pt x="4677156" y="749808"/>
                  </a:lnTo>
                  <a:lnTo>
                    <a:pt x="4677156" y="762508"/>
                  </a:lnTo>
                  <a:lnTo>
                    <a:pt x="4905654" y="763600"/>
                  </a:lnTo>
                  <a:lnTo>
                    <a:pt x="4918456" y="763651"/>
                  </a:lnTo>
                  <a:lnTo>
                    <a:pt x="4905654" y="763651"/>
                  </a:lnTo>
                  <a:lnTo>
                    <a:pt x="4905502" y="795401"/>
                  </a:lnTo>
                  <a:lnTo>
                    <a:pt x="4969853" y="763651"/>
                  </a:lnTo>
                  <a:lnTo>
                    <a:pt x="4981956" y="757682"/>
                  </a:lnTo>
                  <a:close/>
                </a:path>
                <a:path extrusionOk="0" h="1681479" w="5925820">
                  <a:moveTo>
                    <a:pt x="5925312" y="757682"/>
                  </a:moveTo>
                  <a:lnTo>
                    <a:pt x="5912002" y="750951"/>
                  </a:lnTo>
                  <a:lnTo>
                    <a:pt x="5849239" y="719201"/>
                  </a:lnTo>
                  <a:lnTo>
                    <a:pt x="5849074" y="750900"/>
                  </a:lnTo>
                  <a:lnTo>
                    <a:pt x="5620512" y="749808"/>
                  </a:lnTo>
                  <a:lnTo>
                    <a:pt x="5620512" y="762508"/>
                  </a:lnTo>
                  <a:lnTo>
                    <a:pt x="5849010" y="763600"/>
                  </a:lnTo>
                  <a:lnTo>
                    <a:pt x="5861812" y="763651"/>
                  </a:lnTo>
                  <a:lnTo>
                    <a:pt x="5849010" y="763651"/>
                  </a:lnTo>
                  <a:lnTo>
                    <a:pt x="5848858" y="795401"/>
                  </a:lnTo>
                  <a:lnTo>
                    <a:pt x="5913209" y="763651"/>
                  </a:lnTo>
                  <a:lnTo>
                    <a:pt x="5925312" y="75768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5" name="Google Shape;665;p39"/>
            <p:cNvSpPr/>
            <p:nvPr/>
          </p:nvSpPr>
          <p:spPr>
            <a:xfrm>
              <a:off x="3340607" y="1572767"/>
              <a:ext cx="5410200" cy="2438400"/>
            </a:xfrm>
            <a:custGeom>
              <a:rect b="b" l="l" r="r" t="t"/>
              <a:pathLst>
                <a:path extrusionOk="0" h="2438400" w="5410200">
                  <a:moveTo>
                    <a:pt x="5410199" y="0"/>
                  </a:moveTo>
                  <a:lnTo>
                    <a:pt x="0" y="0"/>
                  </a:lnTo>
                  <a:lnTo>
                    <a:pt x="0" y="2438399"/>
                  </a:lnTo>
                  <a:lnTo>
                    <a:pt x="5410199" y="2438399"/>
                  </a:lnTo>
                  <a:lnTo>
                    <a:pt x="5410199" y="0"/>
                  </a:lnTo>
                  <a:close/>
                </a:path>
              </a:pathLst>
            </a:custGeom>
            <a:solidFill>
              <a:srgbClr val="30B6FC">
                <a:alpha val="67058"/>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6" name="Google Shape;666;p39"/>
            <p:cNvSpPr/>
            <p:nvPr/>
          </p:nvSpPr>
          <p:spPr>
            <a:xfrm>
              <a:off x="3340607" y="1572767"/>
              <a:ext cx="5410200" cy="2438400"/>
            </a:xfrm>
            <a:custGeom>
              <a:rect b="b" l="l" r="r" t="t"/>
              <a:pathLst>
                <a:path extrusionOk="0" h="2438400" w="5410200">
                  <a:moveTo>
                    <a:pt x="0" y="2438399"/>
                  </a:moveTo>
                  <a:lnTo>
                    <a:pt x="5410199" y="2438399"/>
                  </a:lnTo>
                  <a:lnTo>
                    <a:pt x="5410199" y="0"/>
                  </a:lnTo>
                  <a:lnTo>
                    <a:pt x="0" y="0"/>
                  </a:lnTo>
                  <a:lnTo>
                    <a:pt x="0" y="2438399"/>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667" name="Google Shape;667;p39"/>
          <p:cNvSpPr txBox="1"/>
          <p:nvPr/>
        </p:nvSpPr>
        <p:spPr>
          <a:xfrm>
            <a:off x="1740407" y="1801367"/>
            <a:ext cx="1143000" cy="19050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166350">
            <a:spAutoFit/>
          </a:bodyPr>
          <a:lstStyle/>
          <a:p>
            <a:pPr indent="0" lvl="0" marL="0" marR="0" rtl="0" algn="l">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22860" lvl="0" marL="326390" marR="327025" rtl="0" algn="just">
              <a:lnSpc>
                <a:spcPct val="100000"/>
              </a:lnSpc>
              <a:spcBef>
                <a:spcPts val="0"/>
              </a:spcBef>
              <a:spcAft>
                <a:spcPts val="0"/>
              </a:spcAft>
              <a:buNone/>
            </a:pPr>
            <a:r>
              <a:rPr lang="en-US" sz="2000">
                <a:solidFill>
                  <a:schemeClr val="dk1"/>
                </a:solidFill>
                <a:latin typeface="Arial"/>
                <a:ea typeface="Arial"/>
                <a:cs typeface="Arial"/>
                <a:sym typeface="Arial"/>
              </a:rPr>
              <a:t>Very big data</a:t>
            </a:r>
            <a:endParaRPr sz="2000">
              <a:solidFill>
                <a:schemeClr val="dk1"/>
              </a:solidFill>
              <a:latin typeface="Arial"/>
              <a:ea typeface="Arial"/>
              <a:cs typeface="Arial"/>
              <a:sym typeface="Arial"/>
            </a:endParaRPr>
          </a:p>
        </p:txBody>
      </p:sp>
      <p:sp>
        <p:nvSpPr>
          <p:cNvPr id="668" name="Google Shape;668;p39"/>
          <p:cNvSpPr txBox="1"/>
          <p:nvPr/>
        </p:nvSpPr>
        <p:spPr>
          <a:xfrm>
            <a:off x="8979407" y="1801367"/>
            <a:ext cx="1143000" cy="19050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910"/>
              </a:spcBef>
              <a:spcAft>
                <a:spcPts val="0"/>
              </a:spcAft>
              <a:buNone/>
            </a:pPr>
            <a:r>
              <a:t/>
            </a:r>
            <a:endParaRPr sz="2000">
              <a:solidFill>
                <a:schemeClr val="dk1"/>
              </a:solidFill>
              <a:latin typeface="Times New Roman"/>
              <a:ea typeface="Times New Roman"/>
              <a:cs typeface="Times New Roman"/>
              <a:sym typeface="Times New Roman"/>
            </a:endParaRPr>
          </a:p>
          <a:p>
            <a:pPr indent="0" lvl="0" marL="203200" marR="0" rtl="0" algn="l">
              <a:lnSpc>
                <a:spcPct val="100000"/>
              </a:lnSpc>
              <a:spcBef>
                <a:spcPts val="0"/>
              </a:spcBef>
              <a:spcAft>
                <a:spcPts val="0"/>
              </a:spcAft>
              <a:buNone/>
            </a:pPr>
            <a:r>
              <a:rPr lang="en-US" sz="2000">
                <a:solidFill>
                  <a:schemeClr val="dk1"/>
                </a:solidFill>
                <a:latin typeface="Arial"/>
                <a:ea typeface="Arial"/>
                <a:cs typeface="Arial"/>
                <a:sym typeface="Arial"/>
              </a:rPr>
              <a:t>Result</a:t>
            </a:r>
            <a:endParaRPr sz="2000">
              <a:solidFill>
                <a:schemeClr val="dk1"/>
              </a:solidFill>
              <a:latin typeface="Arial"/>
              <a:ea typeface="Arial"/>
              <a:cs typeface="Arial"/>
              <a:sym typeface="Arial"/>
            </a:endParaRPr>
          </a:p>
        </p:txBody>
      </p:sp>
      <p:sp>
        <p:nvSpPr>
          <p:cNvPr id="669" name="Google Shape;669;p39"/>
          <p:cNvSpPr txBox="1"/>
          <p:nvPr/>
        </p:nvSpPr>
        <p:spPr>
          <a:xfrm>
            <a:off x="5274564" y="1801367"/>
            <a:ext cx="609600" cy="1905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0" lIns="0" spcFirstLastPara="1" rIns="0" wrap="square" tIns="118100">
            <a:spAutoFit/>
          </a:bodyPr>
          <a:lstStyle/>
          <a:p>
            <a:pPr indent="0" lvl="0" marL="0" marR="0" rtl="0" algn="l">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30480" lvl="0" marL="205104" marR="209550" rtl="0" algn="just">
              <a:lnSpc>
                <a:spcPct val="100000"/>
              </a:lnSpc>
              <a:spcBef>
                <a:spcPts val="5"/>
              </a:spcBef>
              <a:spcAft>
                <a:spcPts val="0"/>
              </a:spcAft>
              <a:buNone/>
            </a:pPr>
            <a:r>
              <a:rPr lang="en-US" sz="2000">
                <a:solidFill>
                  <a:schemeClr val="dk1"/>
                </a:solidFill>
                <a:latin typeface="Arial"/>
                <a:ea typeface="Arial"/>
                <a:cs typeface="Arial"/>
                <a:sym typeface="Arial"/>
              </a:rPr>
              <a:t>M A P</a:t>
            </a:r>
            <a:endParaRPr sz="2000">
              <a:solidFill>
                <a:schemeClr val="dk1"/>
              </a:solidFill>
              <a:latin typeface="Arial"/>
              <a:ea typeface="Arial"/>
              <a:cs typeface="Arial"/>
              <a:sym typeface="Arial"/>
            </a:endParaRPr>
          </a:p>
        </p:txBody>
      </p:sp>
      <p:sp>
        <p:nvSpPr>
          <p:cNvPr id="670" name="Google Shape;670;p39"/>
          <p:cNvSpPr txBox="1"/>
          <p:nvPr/>
        </p:nvSpPr>
        <p:spPr>
          <a:xfrm>
            <a:off x="7988807" y="1801367"/>
            <a:ext cx="609600" cy="19050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0" lIns="0" spcFirstLastPara="1" rIns="0" wrap="square" tIns="13950">
            <a:spAutoFit/>
          </a:bodyPr>
          <a:lstStyle/>
          <a:p>
            <a:pPr indent="10160" lvl="0" marL="210185" marR="217804" rtl="0" algn="just">
              <a:lnSpc>
                <a:spcPct val="100000"/>
              </a:lnSpc>
              <a:spcBef>
                <a:spcPts val="0"/>
              </a:spcBef>
              <a:spcAft>
                <a:spcPts val="0"/>
              </a:spcAft>
              <a:buNone/>
            </a:pPr>
            <a:r>
              <a:rPr lang="en-US" sz="2000">
                <a:solidFill>
                  <a:schemeClr val="dk1"/>
                </a:solidFill>
                <a:latin typeface="Arial"/>
                <a:ea typeface="Arial"/>
                <a:cs typeface="Arial"/>
                <a:sym typeface="Arial"/>
              </a:rPr>
              <a:t>R E D U C E</a:t>
            </a:r>
            <a:endParaRPr sz="2000">
              <a:solidFill>
                <a:schemeClr val="dk1"/>
              </a:solidFill>
              <a:latin typeface="Arial"/>
              <a:ea typeface="Arial"/>
              <a:cs typeface="Arial"/>
              <a:sym typeface="Arial"/>
            </a:endParaRPr>
          </a:p>
        </p:txBody>
      </p:sp>
      <p:sp>
        <p:nvSpPr>
          <p:cNvPr id="671" name="Google Shape;671;p39"/>
          <p:cNvSpPr/>
          <p:nvPr/>
        </p:nvSpPr>
        <p:spPr>
          <a:xfrm>
            <a:off x="6236208" y="2029967"/>
            <a:ext cx="1524000" cy="1447800"/>
          </a:xfrm>
          <a:custGeom>
            <a:rect b="b" l="l" r="r" t="t"/>
            <a:pathLst>
              <a:path extrusionOk="0" h="1447800" w="1524000">
                <a:moveTo>
                  <a:pt x="1523999" y="0"/>
                </a:moveTo>
                <a:lnTo>
                  <a:pt x="0" y="0"/>
                </a:lnTo>
                <a:lnTo>
                  <a:pt x="0" y="1447800"/>
                </a:lnTo>
                <a:lnTo>
                  <a:pt x="1523999" y="1447800"/>
                </a:lnTo>
                <a:lnTo>
                  <a:pt x="15239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2" name="Google Shape;672;p39"/>
          <p:cNvSpPr txBox="1"/>
          <p:nvPr/>
        </p:nvSpPr>
        <p:spPr>
          <a:xfrm>
            <a:off x="6236208" y="2029967"/>
            <a:ext cx="1524000" cy="1447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41900">
            <a:spAutoFit/>
          </a:bodyPr>
          <a:lstStyle/>
          <a:p>
            <a:pPr indent="0" lvl="0" marL="0" marR="0" rtl="0" algn="l">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69850" marR="0" rtl="0" algn="ctr">
              <a:lnSpc>
                <a:spcPct val="100000"/>
              </a:lnSpc>
              <a:spcBef>
                <a:spcPts val="5"/>
              </a:spcBef>
              <a:spcAft>
                <a:spcPts val="0"/>
              </a:spcAft>
              <a:buNone/>
            </a:pPr>
            <a:r>
              <a:rPr lang="en-US" sz="2000">
                <a:solidFill>
                  <a:schemeClr val="dk1"/>
                </a:solidFill>
                <a:latin typeface="Arial"/>
                <a:ea typeface="Arial"/>
                <a:cs typeface="Arial"/>
                <a:sym typeface="Arial"/>
              </a:rPr>
              <a:t>Partitioning</a:t>
            </a:r>
            <a:endParaRPr sz="2000">
              <a:solidFill>
                <a:schemeClr val="dk1"/>
              </a:solidFill>
              <a:latin typeface="Arial"/>
              <a:ea typeface="Arial"/>
              <a:cs typeface="Arial"/>
              <a:sym typeface="Arial"/>
            </a:endParaRPr>
          </a:p>
          <a:p>
            <a:pPr indent="0" lvl="0" marL="69215" marR="0" rtl="0" algn="ctr">
              <a:lnSpc>
                <a:spcPct val="100000"/>
              </a:lnSpc>
              <a:spcBef>
                <a:spcPts val="0"/>
              </a:spcBef>
              <a:spcAft>
                <a:spcPts val="0"/>
              </a:spcAft>
              <a:buNone/>
            </a:pPr>
            <a:r>
              <a:rPr lang="en-US" sz="2000">
                <a:solidFill>
                  <a:schemeClr val="dk1"/>
                </a:solidFill>
                <a:latin typeface="Arial"/>
                <a:ea typeface="Arial"/>
                <a:cs typeface="Arial"/>
                <a:sym typeface="Arial"/>
              </a:rPr>
              <a:t>Function</a:t>
            </a:r>
            <a:endParaRPr sz="2000">
              <a:solidFill>
                <a:schemeClr val="dk1"/>
              </a:solidFill>
              <a:latin typeface="Arial"/>
              <a:ea typeface="Arial"/>
              <a:cs typeface="Arial"/>
              <a:sym typeface="Arial"/>
            </a:endParaRPr>
          </a:p>
        </p:txBody>
      </p:sp>
      <p:sp>
        <p:nvSpPr>
          <p:cNvPr id="673" name="Google Shape;673;p39"/>
          <p:cNvSpPr txBox="1"/>
          <p:nvPr/>
        </p:nvSpPr>
        <p:spPr>
          <a:xfrm>
            <a:off x="5976620" y="4266144"/>
            <a:ext cx="4793615" cy="1562100"/>
          </a:xfrm>
          <a:prstGeom prst="rect">
            <a:avLst/>
          </a:prstGeom>
          <a:noFill/>
          <a:ln>
            <a:noFill/>
          </a:ln>
        </p:spPr>
        <p:txBody>
          <a:bodyPr anchorCtr="0" anchor="t" bIns="0" lIns="0" spcFirstLastPara="1" rIns="0" wrap="square" tIns="48875">
            <a:spAutoFit/>
          </a:bodyPr>
          <a:lstStyle/>
          <a:p>
            <a:pPr indent="0" lvl="0" marL="12700" marR="0" rtl="0" algn="l">
              <a:lnSpc>
                <a:spcPct val="100000"/>
              </a:lnSpc>
              <a:spcBef>
                <a:spcPts val="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Reduce</a:t>
            </a:r>
            <a:endParaRPr sz="2400">
              <a:solidFill>
                <a:schemeClr val="dk1"/>
              </a:solidFill>
              <a:latin typeface="Arial"/>
              <a:ea typeface="Arial"/>
              <a:cs typeface="Arial"/>
              <a:sym typeface="Arial"/>
            </a:endParaRPr>
          </a:p>
          <a:p>
            <a:pPr indent="0" lvl="0" marL="314325" marR="0" rtl="0" algn="l">
              <a:lnSpc>
                <a:spcPct val="113958"/>
              </a:lnSpc>
              <a:spcBef>
                <a:spcPts val="285"/>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Accepts intermediate key/value*</a:t>
            </a:r>
            <a:endParaRPr sz="2400">
              <a:solidFill>
                <a:schemeClr val="dk1"/>
              </a:solidFill>
              <a:latin typeface="Arial"/>
              <a:ea typeface="Arial"/>
              <a:cs typeface="Arial"/>
              <a:sym typeface="Arial"/>
            </a:endParaRPr>
          </a:p>
          <a:p>
            <a:pPr indent="0" lvl="0" marL="588645" marR="0" rtl="0" algn="l">
              <a:lnSpc>
                <a:spcPct val="113958"/>
              </a:lnSpc>
              <a:spcBef>
                <a:spcPts val="0"/>
              </a:spcBef>
              <a:spcAft>
                <a:spcPts val="0"/>
              </a:spcAft>
              <a:buNone/>
            </a:pPr>
            <a:r>
              <a:rPr lang="en-US" sz="2400">
                <a:solidFill>
                  <a:srgbClr val="063D86"/>
                </a:solidFill>
                <a:latin typeface="Arial"/>
                <a:ea typeface="Arial"/>
                <a:cs typeface="Arial"/>
                <a:sym typeface="Arial"/>
              </a:rPr>
              <a:t>pair</a:t>
            </a:r>
            <a:endParaRPr sz="2400">
              <a:solidFill>
                <a:schemeClr val="dk1"/>
              </a:solidFill>
              <a:latin typeface="Arial"/>
              <a:ea typeface="Arial"/>
              <a:cs typeface="Arial"/>
              <a:sym typeface="Arial"/>
            </a:endParaRPr>
          </a:p>
          <a:p>
            <a:pPr indent="0" lvl="0" marL="314325" marR="0" rtl="0" algn="l">
              <a:lnSpc>
                <a:spcPct val="100000"/>
              </a:lnSpc>
              <a:spcBef>
                <a:spcPts val="29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Emits output key/value pair</a:t>
            </a:r>
            <a:endParaRPr sz="240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7" name="Shape 677"/>
        <p:cNvGrpSpPr/>
        <p:nvPr/>
      </p:nvGrpSpPr>
      <p:grpSpPr>
        <a:xfrm>
          <a:off x="0" y="0"/>
          <a:ext cx="0" cy="0"/>
          <a:chOff x="0" y="0"/>
          <a:chExt cx="0" cy="0"/>
        </a:xfrm>
      </p:grpSpPr>
      <p:sp>
        <p:nvSpPr>
          <p:cNvPr id="678" name="Google Shape;678;p40"/>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79" name="Google Shape;679;p40"/>
          <p:cNvGrpSpPr/>
          <p:nvPr/>
        </p:nvGrpSpPr>
        <p:grpSpPr>
          <a:xfrm>
            <a:off x="74300" y="2385102"/>
            <a:ext cx="574091" cy="2087796"/>
            <a:chOff x="209668" y="2857422"/>
            <a:chExt cx="463662" cy="2087796"/>
          </a:xfrm>
        </p:grpSpPr>
        <p:sp>
          <p:nvSpPr>
            <p:cNvPr id="680" name="Google Shape;680;p40"/>
            <p:cNvSpPr/>
            <p:nvPr/>
          </p:nvSpPr>
          <p:spPr>
            <a:xfrm rot="10800000">
              <a:off x="423947" y="2857422"/>
              <a:ext cx="249383" cy="208779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81" name="Google Shape;681;p40"/>
            <p:cNvCxnSpPr/>
            <p:nvPr/>
          </p:nvCxnSpPr>
          <p:spPr>
            <a:xfrm flipH="1">
              <a:off x="209668" y="2857423"/>
              <a:ext cx="1" cy="2087795"/>
            </a:xfrm>
            <a:prstGeom prst="straightConnector1">
              <a:avLst/>
            </a:prstGeom>
            <a:noFill/>
            <a:ln cap="flat" cmpd="sng" w="177800">
              <a:solidFill>
                <a:schemeClr val="accent4"/>
              </a:solidFill>
              <a:prstDash val="solid"/>
              <a:miter lim="800000"/>
              <a:headEnd len="sm" w="sm" type="none"/>
              <a:tailEnd len="sm" w="sm" type="none"/>
            </a:ln>
          </p:spPr>
        </p:cxnSp>
      </p:grpSp>
      <p:sp>
        <p:nvSpPr>
          <p:cNvPr id="682" name="Google Shape;682;p40"/>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3" name="Google Shape;683;p40"/>
          <p:cNvSpPr/>
          <p:nvPr/>
        </p:nvSpPr>
        <p:spPr>
          <a:xfrm>
            <a:off x="579528" y="631767"/>
            <a:ext cx="11111729" cy="5752404"/>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684" name="Google Shape;684;p40"/>
          <p:cNvSpPr txBox="1"/>
          <p:nvPr>
            <p:ph type="title"/>
          </p:nvPr>
        </p:nvSpPr>
        <p:spPr>
          <a:xfrm>
            <a:off x="1153618" y="1239927"/>
            <a:ext cx="4008586" cy="4680583"/>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chemeClr val="dk1"/>
              </a:buClr>
              <a:buSzPts val="5200"/>
              <a:buFont typeface="Play"/>
              <a:buNone/>
            </a:pPr>
            <a:r>
              <a:rPr lang="en-US" sz="5200">
                <a:solidFill>
                  <a:schemeClr val="dk1"/>
                </a:solidFill>
                <a:latin typeface="Play"/>
                <a:ea typeface="Play"/>
                <a:cs typeface="Play"/>
                <a:sym typeface="Play"/>
              </a:rPr>
              <a:t>Example: Counting Word</a:t>
            </a:r>
            <a:endParaRPr/>
          </a:p>
        </p:txBody>
      </p:sp>
      <p:sp>
        <p:nvSpPr>
          <p:cNvPr id="685" name="Google Shape;685;p40"/>
          <p:cNvSpPr txBox="1"/>
          <p:nvPr/>
        </p:nvSpPr>
        <p:spPr>
          <a:xfrm>
            <a:off x="6291923" y="1239927"/>
            <a:ext cx="4971824" cy="4680583"/>
          </a:xfrm>
          <a:prstGeom prst="rect">
            <a:avLst/>
          </a:prstGeom>
          <a:noFill/>
          <a:ln>
            <a:noFill/>
          </a:ln>
        </p:spPr>
        <p:txBody>
          <a:bodyPr anchorCtr="0" anchor="ctr"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Two input files</a:t>
            </a:r>
            <a:endParaRPr sz="2000">
              <a:solidFill>
                <a:schemeClr val="dk1"/>
              </a:solidFill>
              <a:latin typeface="Arial"/>
              <a:ea typeface="Arial"/>
              <a:cs typeface="Arial"/>
              <a:sym typeface="Arial"/>
            </a:endParaRPr>
          </a:p>
          <a:p>
            <a:pPr indent="-228600" lvl="0" marL="314325" marR="0" rtl="0" algn="l">
              <a:lnSpc>
                <a:spcPct val="90000"/>
              </a:lnSpc>
              <a:spcBef>
                <a:spcPts val="285"/>
              </a:spcBef>
              <a:spcAft>
                <a:spcPts val="0"/>
              </a:spcAft>
              <a:buClr>
                <a:schemeClr val="dk1"/>
              </a:buClr>
              <a:buSzPts val="2000"/>
              <a:buFont typeface="Arial"/>
              <a:buChar char="•"/>
            </a:pPr>
            <a:r>
              <a:rPr lang="en-US" sz="2000">
                <a:solidFill>
                  <a:schemeClr val="dk1"/>
                </a:solidFill>
                <a:latin typeface="Arial"/>
                <a:ea typeface="Arial"/>
                <a:cs typeface="Arial"/>
                <a:sym typeface="Arial"/>
              </a:rPr>
              <a:t>∗ Input &lt;filename, file text&gt;</a:t>
            </a:r>
            <a:endParaRPr sz="2000">
              <a:solidFill>
                <a:schemeClr val="dk1"/>
              </a:solidFill>
              <a:latin typeface="Arial"/>
              <a:ea typeface="Arial"/>
              <a:cs typeface="Arial"/>
              <a:sym typeface="Arial"/>
            </a:endParaRPr>
          </a:p>
          <a:p>
            <a:pPr indent="-228600" lvl="0" marL="314325" marR="0" rtl="0" algn="l">
              <a:lnSpc>
                <a:spcPct val="90000"/>
              </a:lnSpc>
              <a:spcBef>
                <a:spcPts val="265"/>
              </a:spcBef>
              <a:spcAft>
                <a:spcPts val="0"/>
              </a:spcAft>
              <a:buClr>
                <a:schemeClr val="dk1"/>
              </a:buClr>
              <a:buSzPts val="2000"/>
              <a:buFont typeface="Arial"/>
              <a:buChar char="•"/>
            </a:pPr>
            <a:r>
              <a:rPr lang="en-US" sz="2000">
                <a:solidFill>
                  <a:schemeClr val="dk1"/>
                </a:solidFill>
                <a:latin typeface="Arial"/>
                <a:ea typeface="Arial"/>
                <a:cs typeface="Arial"/>
                <a:sym typeface="Arial"/>
              </a:rPr>
              <a:t>∗ Parses file and emits &lt;word, count&gt; pairs</a:t>
            </a:r>
            <a:endParaRPr sz="2000">
              <a:solidFill>
                <a:schemeClr val="dk1"/>
              </a:solidFill>
              <a:latin typeface="Arial"/>
              <a:ea typeface="Arial"/>
              <a:cs typeface="Arial"/>
              <a:sym typeface="Arial"/>
            </a:endParaRPr>
          </a:p>
          <a:p>
            <a:pPr indent="-228600" lvl="0" marL="640715" marR="0" rtl="0" algn="l">
              <a:lnSpc>
                <a:spcPct val="90000"/>
              </a:lnSpc>
              <a:spcBef>
                <a:spcPts val="250"/>
              </a:spcBef>
              <a:spcAft>
                <a:spcPts val="0"/>
              </a:spcAft>
              <a:buClr>
                <a:schemeClr val="dk1"/>
              </a:buClr>
              <a:buSzPts val="2000"/>
              <a:buFont typeface="Arial"/>
              <a:buChar char="•"/>
            </a:pPr>
            <a:r>
              <a:rPr lang="en-US" sz="2000">
                <a:solidFill>
                  <a:schemeClr val="dk1"/>
                </a:solidFill>
                <a:latin typeface="Arial"/>
                <a:ea typeface="Arial"/>
                <a:cs typeface="Arial"/>
                <a:sym typeface="Arial"/>
              </a:rPr>
              <a:t>∗ file1: “hello world hello moon”</a:t>
            </a:r>
            <a:endParaRPr sz="2000">
              <a:solidFill>
                <a:schemeClr val="dk1"/>
              </a:solidFill>
              <a:latin typeface="Arial"/>
              <a:ea typeface="Arial"/>
              <a:cs typeface="Arial"/>
              <a:sym typeface="Arial"/>
            </a:endParaRPr>
          </a:p>
          <a:p>
            <a:pPr indent="-228600" lvl="0" marL="640715" marR="0" rtl="0" algn="l">
              <a:lnSpc>
                <a:spcPct val="90000"/>
              </a:lnSpc>
              <a:spcBef>
                <a:spcPts val="240"/>
              </a:spcBef>
              <a:spcAft>
                <a:spcPts val="0"/>
              </a:spcAft>
              <a:buClr>
                <a:schemeClr val="dk1"/>
              </a:buClr>
              <a:buSzPts val="2000"/>
              <a:buFont typeface="Arial"/>
              <a:buChar char="•"/>
            </a:pPr>
            <a:r>
              <a:rPr lang="en-US" sz="2000">
                <a:solidFill>
                  <a:schemeClr val="dk1"/>
                </a:solidFill>
                <a:latin typeface="Arial"/>
                <a:ea typeface="Arial"/>
                <a:cs typeface="Arial"/>
                <a:sym typeface="Arial"/>
              </a:rPr>
              <a:t>∗ file2: “goodbye world goodnight moon”</a:t>
            </a:r>
            <a:endParaRPr sz="2000">
              <a:solidFill>
                <a:schemeClr val="dk1"/>
              </a:solidFill>
              <a:latin typeface="Arial"/>
              <a:ea typeface="Arial"/>
              <a:cs typeface="Arial"/>
              <a:sym typeface="Arial"/>
            </a:endParaRPr>
          </a:p>
          <a:p>
            <a:pPr indent="-12700" lvl="0" marL="12700" marR="0" rtl="0" algn="l">
              <a:lnSpc>
                <a:spcPct val="90000"/>
              </a:lnSpc>
              <a:spcBef>
                <a:spcPts val="260"/>
              </a:spcBef>
              <a:spcAft>
                <a:spcPts val="0"/>
              </a:spcAft>
              <a:buClr>
                <a:schemeClr val="dk1"/>
              </a:buClr>
              <a:buSzPts val="2000"/>
              <a:buFont typeface="Arial"/>
              <a:buChar char="•"/>
            </a:pPr>
            <a:r>
              <a:rPr lang="en-US" sz="2000">
                <a:solidFill>
                  <a:schemeClr val="dk1"/>
                </a:solidFill>
                <a:latin typeface="Arial"/>
                <a:ea typeface="Arial"/>
                <a:cs typeface="Arial"/>
                <a:sym typeface="Arial"/>
              </a:rPr>
              <a:t>∗ Three operations</a:t>
            </a:r>
            <a:endParaRPr sz="2000">
              <a:solidFill>
                <a:schemeClr val="dk1"/>
              </a:solidFill>
              <a:latin typeface="Arial"/>
              <a:ea typeface="Arial"/>
              <a:cs typeface="Arial"/>
              <a:sym typeface="Arial"/>
            </a:endParaRPr>
          </a:p>
          <a:p>
            <a:pPr indent="-228600" lvl="0" marL="314325" marR="0" rtl="0" algn="l">
              <a:lnSpc>
                <a:spcPct val="90000"/>
              </a:lnSpc>
              <a:spcBef>
                <a:spcPts val="285"/>
              </a:spcBef>
              <a:spcAft>
                <a:spcPts val="0"/>
              </a:spcAft>
              <a:buClr>
                <a:schemeClr val="dk1"/>
              </a:buClr>
              <a:buSzPts val="2000"/>
              <a:buFont typeface="Arial"/>
              <a:buChar char="•"/>
            </a:pPr>
            <a:r>
              <a:rPr lang="en-US" sz="2000">
                <a:solidFill>
                  <a:schemeClr val="dk1"/>
                </a:solidFill>
                <a:latin typeface="Arial"/>
                <a:ea typeface="Arial"/>
                <a:cs typeface="Arial"/>
                <a:sym typeface="Arial"/>
              </a:rPr>
              <a:t>∗ Map</a:t>
            </a:r>
            <a:endParaRPr sz="2000">
              <a:solidFill>
                <a:schemeClr val="dk1"/>
              </a:solidFill>
              <a:latin typeface="Arial"/>
              <a:ea typeface="Arial"/>
              <a:cs typeface="Arial"/>
              <a:sym typeface="Arial"/>
            </a:endParaRPr>
          </a:p>
          <a:p>
            <a:pPr indent="-228600" lvl="0" marL="314325" marR="0" rtl="0" algn="l">
              <a:lnSpc>
                <a:spcPct val="90000"/>
              </a:lnSpc>
              <a:spcBef>
                <a:spcPts val="265"/>
              </a:spcBef>
              <a:spcAft>
                <a:spcPts val="0"/>
              </a:spcAft>
              <a:buClr>
                <a:schemeClr val="dk1"/>
              </a:buClr>
              <a:buSzPts val="2000"/>
              <a:buFont typeface="Arial"/>
              <a:buChar char="•"/>
            </a:pPr>
            <a:r>
              <a:rPr lang="en-US" sz="2000">
                <a:solidFill>
                  <a:schemeClr val="dk1"/>
                </a:solidFill>
                <a:latin typeface="Arial"/>
                <a:ea typeface="Arial"/>
                <a:cs typeface="Arial"/>
                <a:sym typeface="Arial"/>
              </a:rPr>
              <a:t>∗ Combine</a:t>
            </a:r>
            <a:endParaRPr sz="2000">
              <a:solidFill>
                <a:schemeClr val="dk1"/>
              </a:solidFill>
              <a:latin typeface="Arial"/>
              <a:ea typeface="Arial"/>
              <a:cs typeface="Arial"/>
              <a:sym typeface="Arial"/>
            </a:endParaRPr>
          </a:p>
          <a:p>
            <a:pPr indent="-228600" lvl="0" marL="314325" marR="0" rtl="0" algn="l">
              <a:lnSpc>
                <a:spcPct val="90000"/>
              </a:lnSpc>
              <a:spcBef>
                <a:spcPts val="265"/>
              </a:spcBef>
              <a:spcAft>
                <a:spcPts val="0"/>
              </a:spcAft>
              <a:buClr>
                <a:schemeClr val="dk1"/>
              </a:buClr>
              <a:buSzPts val="2000"/>
              <a:buFont typeface="Arial"/>
              <a:buChar char="•"/>
            </a:pPr>
            <a:r>
              <a:rPr lang="en-US" sz="2000">
                <a:solidFill>
                  <a:schemeClr val="dk1"/>
                </a:solidFill>
                <a:latin typeface="Arial"/>
                <a:ea typeface="Arial"/>
                <a:cs typeface="Arial"/>
                <a:sym typeface="Arial"/>
              </a:rPr>
              <a:t>∗ Reduce</a:t>
            </a:r>
            <a:endParaRPr sz="2000">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9" name="Shape 689"/>
        <p:cNvGrpSpPr/>
        <p:nvPr/>
      </p:nvGrpSpPr>
      <p:grpSpPr>
        <a:xfrm>
          <a:off x="0" y="0"/>
          <a:ext cx="0" cy="0"/>
          <a:chOff x="0" y="0"/>
          <a:chExt cx="0" cy="0"/>
        </a:xfrm>
      </p:grpSpPr>
      <p:sp>
        <p:nvSpPr>
          <p:cNvPr descr="$PPTXTitle" id="690" name="Google Shape;690;p41"/>
          <p:cNvSpPr txBox="1"/>
          <p:nvPr>
            <p:ph type="title"/>
          </p:nvPr>
        </p:nvSpPr>
        <p:spPr>
          <a:xfrm>
            <a:off x="762001" y="5074024"/>
            <a:ext cx="10109199" cy="598032"/>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chemeClr val="dk1"/>
              </a:buClr>
              <a:buSzPts val="3600"/>
              <a:buFont typeface="Play"/>
              <a:buNone/>
            </a:pPr>
            <a:r>
              <a:rPr lang="en-US" sz="3600">
                <a:solidFill>
                  <a:schemeClr val="dk1"/>
                </a:solidFill>
                <a:latin typeface="Play"/>
                <a:ea typeface="Play"/>
                <a:cs typeface="Play"/>
                <a:sym typeface="Play"/>
              </a:rPr>
              <a:t>Output per Step</a:t>
            </a:r>
            <a:endParaRPr/>
          </a:p>
        </p:txBody>
      </p:sp>
      <p:sp>
        <p:nvSpPr>
          <p:cNvPr id="691" name="Google Shape;691;p41"/>
          <p:cNvSpPr txBox="1"/>
          <p:nvPr/>
        </p:nvSpPr>
        <p:spPr>
          <a:xfrm>
            <a:off x="762001" y="5672059"/>
            <a:ext cx="10109199" cy="547765"/>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lnSpc>
                <a:spcPct val="90000"/>
              </a:lnSpc>
              <a:spcBef>
                <a:spcPts val="0"/>
              </a:spcBef>
              <a:spcAft>
                <a:spcPts val="0"/>
              </a:spcAft>
              <a:buNone/>
            </a:pPr>
            <a:r>
              <a:rPr lang="en-US" sz="500">
                <a:solidFill>
                  <a:schemeClr val="dk1"/>
                </a:solidFill>
                <a:latin typeface="Arial"/>
                <a:ea typeface="Arial"/>
                <a:cs typeface="Arial"/>
                <a:sym typeface="Arial"/>
              </a:rPr>
              <a:t>Second Map:</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&lt; goodbye, 1 &gt;</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&lt; world, 1 &gt;</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&lt; goodnight, 1 &gt;</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&lt; moon, 1 &gt;</a:t>
            </a:r>
            <a:endParaRPr sz="500">
              <a:solidFill>
                <a:schemeClr val="dk1"/>
              </a:solidFill>
              <a:latin typeface="Arial"/>
              <a:ea typeface="Arial"/>
              <a:cs typeface="Arial"/>
              <a:sym typeface="Arial"/>
            </a:endParaRPr>
          </a:p>
        </p:txBody>
      </p:sp>
      <p:pic>
        <p:nvPicPr>
          <p:cNvPr descr="World map with flight paths" id="692" name="Google Shape;692;p41"/>
          <p:cNvPicPr preferRelativeResize="0"/>
          <p:nvPr/>
        </p:nvPicPr>
        <p:blipFill rotWithShape="1">
          <a:blip r:embed="rId3">
            <a:alphaModFix/>
          </a:blip>
          <a:srcRect b="0" l="13053" r="20499" t="0"/>
          <a:stretch/>
        </p:blipFill>
        <p:spPr>
          <a:xfrm>
            <a:off x="20" y="3"/>
            <a:ext cx="4062634" cy="4172786"/>
          </a:xfrm>
          <a:prstGeom prst="rect">
            <a:avLst/>
          </a:prstGeom>
          <a:noFill/>
          <a:ln>
            <a:noFill/>
          </a:ln>
        </p:spPr>
      </p:pic>
      <p:cxnSp>
        <p:nvCxnSpPr>
          <p:cNvPr id="693" name="Google Shape;693;p41"/>
          <p:cNvCxnSpPr/>
          <p:nvPr/>
        </p:nvCxnSpPr>
        <p:spPr>
          <a:xfrm>
            <a:off x="865141" y="4811517"/>
            <a:ext cx="736939" cy="0"/>
          </a:xfrm>
          <a:prstGeom prst="straightConnector1">
            <a:avLst/>
          </a:prstGeom>
          <a:noFill/>
          <a:ln cap="flat" cmpd="sng" w="57150">
            <a:solidFill>
              <a:schemeClr val="accent4"/>
            </a:solidFill>
            <a:prstDash val="solid"/>
            <a:miter lim="800000"/>
            <a:headEnd len="sm" w="sm" type="none"/>
            <a:tailEnd len="sm" w="sm" type="none"/>
          </a:ln>
        </p:spPr>
      </p:cxnSp>
      <p:sp>
        <p:nvSpPr>
          <p:cNvPr id="694" name="Google Shape;694;p41"/>
          <p:cNvSpPr txBox="1"/>
          <p:nvPr/>
        </p:nvSpPr>
        <p:spPr>
          <a:xfrm>
            <a:off x="4572000" y="152400"/>
            <a:ext cx="3048000" cy="6839693"/>
          </a:xfrm>
          <a:prstGeom prst="rect">
            <a:avLst/>
          </a:prstGeom>
          <a:noFill/>
          <a:ln>
            <a:noFill/>
          </a:ln>
        </p:spPr>
        <p:txBody>
          <a:bodyPr anchorCtr="0" anchor="t" bIns="0" lIns="0" spcFirstLastPara="1" rIns="0" wrap="square" tIns="12050">
            <a:spAutoFit/>
          </a:bodyPr>
          <a:lstStyle/>
          <a:p>
            <a:pPr indent="0" lvl="0" marL="12700" marR="0" rtl="0" algn="l">
              <a:spcBef>
                <a:spcPts val="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Map</a:t>
            </a:r>
            <a:endParaRPr sz="2400">
              <a:solidFill>
                <a:schemeClr val="dk1"/>
              </a:solidFill>
              <a:latin typeface="Arial"/>
              <a:ea typeface="Arial"/>
              <a:cs typeface="Arial"/>
              <a:sym typeface="Arial"/>
            </a:endParaRPr>
          </a:p>
          <a:p>
            <a:pPr indent="0" lvl="0" marL="314325" marR="0" rtl="0" algn="l">
              <a:spcBef>
                <a:spcPts val="15"/>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First Map:</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hello, 1 &gt;</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world, 1 &gt;</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hello, 1 &gt;</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moon, 1 &gt;</a:t>
            </a:r>
            <a:endParaRPr sz="2400">
              <a:solidFill>
                <a:schemeClr val="dk1"/>
              </a:solidFill>
              <a:latin typeface="Arial"/>
              <a:ea typeface="Arial"/>
              <a:cs typeface="Arial"/>
              <a:sym typeface="Arial"/>
            </a:endParaRPr>
          </a:p>
          <a:p>
            <a:pPr indent="0" lvl="0" marL="12700" marR="0" rtl="0" algn="l">
              <a:spcBef>
                <a:spcPts val="73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Combine</a:t>
            </a:r>
            <a:endParaRPr sz="2400">
              <a:solidFill>
                <a:schemeClr val="dk1"/>
              </a:solidFill>
              <a:latin typeface="Arial"/>
              <a:ea typeface="Arial"/>
              <a:cs typeface="Arial"/>
              <a:sym typeface="Arial"/>
            </a:endParaRPr>
          </a:p>
          <a:p>
            <a:pPr indent="0" lvl="0" marL="314325" marR="0" rtl="0" algn="l">
              <a:spcBef>
                <a:spcPts val="1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First Map:</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moon, 1 &gt;</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world, 1 &gt;</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hello, 2 &gt;</a:t>
            </a:r>
            <a:endParaRPr sz="2400">
              <a:solidFill>
                <a:schemeClr val="dk1"/>
              </a:solidFill>
              <a:latin typeface="Arial"/>
              <a:ea typeface="Arial"/>
              <a:cs typeface="Arial"/>
              <a:sym typeface="Arial"/>
            </a:endParaRPr>
          </a:p>
          <a:p>
            <a:pPr indent="0" lvl="0" marL="12700" marR="0" rtl="0" algn="l">
              <a:spcBef>
                <a:spcPts val="73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Reduce</a:t>
            </a:r>
            <a:endParaRPr sz="2400">
              <a:solidFill>
                <a:schemeClr val="dk1"/>
              </a:solidFill>
              <a:latin typeface="Arial"/>
              <a:ea typeface="Arial"/>
              <a:cs typeface="Arial"/>
              <a:sym typeface="Arial"/>
            </a:endParaRPr>
          </a:p>
          <a:p>
            <a:pPr indent="0" lvl="0" marL="314325" marR="0" rtl="0" algn="l">
              <a:spcBef>
                <a:spcPts val="15"/>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First Map:</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goodbye, 1 &gt;</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goodnight, 1 &gt;</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moon, 2 &gt;</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world, 2 &gt;</a:t>
            </a:r>
            <a:endParaRPr sz="2400">
              <a:solidFill>
                <a:schemeClr val="dk1"/>
              </a:solidFill>
              <a:latin typeface="Arial"/>
              <a:ea typeface="Arial"/>
              <a:cs typeface="Arial"/>
              <a:sym typeface="Arial"/>
            </a:endParaRPr>
          </a:p>
          <a:p>
            <a:pPr indent="0" lvl="0" marL="588645" marR="0" rtl="0" algn="l">
              <a:spcBef>
                <a:spcPts val="0"/>
              </a:spcBef>
              <a:spcAft>
                <a:spcPts val="0"/>
              </a:spcAft>
              <a:buNone/>
            </a:pPr>
            <a:r>
              <a:rPr lang="en-US" sz="2400">
                <a:solidFill>
                  <a:srgbClr val="063D86"/>
                </a:solidFill>
                <a:latin typeface="Arial"/>
                <a:ea typeface="Arial"/>
                <a:cs typeface="Arial"/>
                <a:sym typeface="Arial"/>
              </a:rPr>
              <a:t>&lt; hello, 2 &gt;</a:t>
            </a:r>
            <a:endParaRPr sz="2400">
              <a:solidFill>
                <a:schemeClr val="dk1"/>
              </a:solidFill>
              <a:latin typeface="Arial"/>
              <a:ea typeface="Arial"/>
              <a:cs typeface="Arial"/>
              <a:sym typeface="Arial"/>
            </a:endParaRPr>
          </a:p>
        </p:txBody>
      </p:sp>
      <p:sp>
        <p:nvSpPr>
          <p:cNvPr id="695" name="Google Shape;695;p41"/>
          <p:cNvSpPr txBox="1"/>
          <p:nvPr/>
        </p:nvSpPr>
        <p:spPr>
          <a:xfrm>
            <a:off x="7772400" y="2086396"/>
            <a:ext cx="3657600" cy="1858842"/>
          </a:xfrm>
          <a:prstGeom prst="rect">
            <a:avLst/>
          </a:prstGeom>
          <a:noFill/>
          <a:ln>
            <a:noFill/>
          </a:ln>
        </p:spPr>
        <p:txBody>
          <a:bodyPr anchorCtr="0" anchor="t" bIns="0" lIns="0" spcFirstLastPara="1" rIns="0" wrap="square" tIns="12050">
            <a:spAutoFit/>
          </a:bodyPr>
          <a:lstStyle/>
          <a:p>
            <a:pPr indent="-273685" lvl="0" marL="286385" marR="0" rtl="0" algn="l">
              <a:spcBef>
                <a:spcPts val="0"/>
              </a:spcBef>
              <a:spcAft>
                <a:spcPts val="0"/>
              </a:spcAft>
              <a:buClr>
                <a:srgbClr val="30B6FC"/>
              </a:buClr>
              <a:buSzPts val="2175"/>
              <a:buFont typeface="Noto Sans Symbols"/>
              <a:buChar char="⚫"/>
            </a:pPr>
            <a:r>
              <a:rPr lang="en-US" sz="2400">
                <a:solidFill>
                  <a:srgbClr val="063D86"/>
                </a:solidFill>
                <a:latin typeface="Arial"/>
                <a:ea typeface="Arial"/>
                <a:cs typeface="Arial"/>
                <a:sym typeface="Arial"/>
              </a:rPr>
              <a:t>Second Map:</a:t>
            </a:r>
            <a:endParaRPr sz="2400">
              <a:solidFill>
                <a:schemeClr val="dk1"/>
              </a:solidFill>
              <a:latin typeface="Arial"/>
              <a:ea typeface="Arial"/>
              <a:cs typeface="Arial"/>
              <a:sym typeface="Arial"/>
            </a:endParaRPr>
          </a:p>
          <a:p>
            <a:pPr indent="0" lvl="0" marL="287020" marR="0" rtl="0" algn="l">
              <a:spcBef>
                <a:spcPts val="0"/>
              </a:spcBef>
              <a:spcAft>
                <a:spcPts val="0"/>
              </a:spcAft>
              <a:buNone/>
            </a:pPr>
            <a:r>
              <a:rPr lang="en-US" sz="2400">
                <a:solidFill>
                  <a:srgbClr val="063D86"/>
                </a:solidFill>
                <a:latin typeface="Arial"/>
                <a:ea typeface="Arial"/>
                <a:cs typeface="Arial"/>
                <a:sym typeface="Arial"/>
              </a:rPr>
              <a:t>&lt; goodbye, 1 &gt;</a:t>
            </a:r>
            <a:endParaRPr sz="2400">
              <a:solidFill>
                <a:schemeClr val="dk1"/>
              </a:solidFill>
              <a:latin typeface="Arial"/>
              <a:ea typeface="Arial"/>
              <a:cs typeface="Arial"/>
              <a:sym typeface="Arial"/>
            </a:endParaRPr>
          </a:p>
          <a:p>
            <a:pPr indent="0" lvl="0" marL="287020" marR="0" rtl="0" algn="l">
              <a:spcBef>
                <a:spcPts val="0"/>
              </a:spcBef>
              <a:spcAft>
                <a:spcPts val="0"/>
              </a:spcAft>
              <a:buNone/>
            </a:pPr>
            <a:r>
              <a:rPr lang="en-US" sz="2400">
                <a:solidFill>
                  <a:srgbClr val="063D86"/>
                </a:solidFill>
                <a:latin typeface="Arial"/>
                <a:ea typeface="Arial"/>
                <a:cs typeface="Arial"/>
                <a:sym typeface="Arial"/>
              </a:rPr>
              <a:t>&lt; world, 1 &gt;</a:t>
            </a:r>
            <a:endParaRPr sz="2400">
              <a:solidFill>
                <a:schemeClr val="dk1"/>
              </a:solidFill>
              <a:latin typeface="Arial"/>
              <a:ea typeface="Arial"/>
              <a:cs typeface="Arial"/>
              <a:sym typeface="Arial"/>
            </a:endParaRPr>
          </a:p>
          <a:p>
            <a:pPr indent="0" lvl="0" marL="287020" marR="0" rtl="0" algn="l">
              <a:spcBef>
                <a:spcPts val="0"/>
              </a:spcBef>
              <a:spcAft>
                <a:spcPts val="0"/>
              </a:spcAft>
              <a:buNone/>
            </a:pPr>
            <a:r>
              <a:rPr lang="en-US" sz="2400">
                <a:solidFill>
                  <a:srgbClr val="063D86"/>
                </a:solidFill>
                <a:latin typeface="Arial"/>
                <a:ea typeface="Arial"/>
                <a:cs typeface="Arial"/>
                <a:sym typeface="Arial"/>
              </a:rPr>
              <a:t>&lt; goodnight, 1 &gt;</a:t>
            </a:r>
            <a:endParaRPr sz="2400">
              <a:solidFill>
                <a:schemeClr val="dk1"/>
              </a:solidFill>
              <a:latin typeface="Arial"/>
              <a:ea typeface="Arial"/>
              <a:cs typeface="Arial"/>
              <a:sym typeface="Arial"/>
            </a:endParaRPr>
          </a:p>
          <a:p>
            <a:pPr indent="0" lvl="0" marL="287020" marR="0" rtl="0" algn="l">
              <a:spcBef>
                <a:spcPts val="0"/>
              </a:spcBef>
              <a:spcAft>
                <a:spcPts val="0"/>
              </a:spcAft>
              <a:buNone/>
            </a:pPr>
            <a:r>
              <a:rPr lang="en-US" sz="2400">
                <a:solidFill>
                  <a:srgbClr val="063D86"/>
                </a:solidFill>
                <a:latin typeface="Arial"/>
                <a:ea typeface="Arial"/>
                <a:cs typeface="Arial"/>
                <a:sym typeface="Arial"/>
              </a:rPr>
              <a:t>&lt; moon, 1 &gt;</a:t>
            </a:r>
            <a:endParaRPr sz="2400">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9" name="Shape 699"/>
        <p:cNvGrpSpPr/>
        <p:nvPr/>
      </p:nvGrpSpPr>
      <p:grpSpPr>
        <a:xfrm>
          <a:off x="0" y="0"/>
          <a:ext cx="0" cy="0"/>
          <a:chOff x="0" y="0"/>
          <a:chExt cx="0" cy="0"/>
        </a:xfrm>
      </p:grpSpPr>
      <p:sp>
        <p:nvSpPr>
          <p:cNvPr id="700" name="Google Shape;700;p42"/>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701" name="Google Shape;701;p42"/>
          <p:cNvSpPr txBox="1"/>
          <p:nvPr>
            <p:ph type="title"/>
          </p:nvPr>
        </p:nvSpPr>
        <p:spPr>
          <a:xfrm>
            <a:off x="838200" y="5358141"/>
            <a:ext cx="10515600" cy="942664"/>
          </a:xfrm>
          <a:prstGeom prst="rect">
            <a:avLst/>
          </a:prstGeom>
          <a:noFill/>
          <a:ln>
            <a:noFill/>
          </a:ln>
        </p:spPr>
        <p:txBody>
          <a:bodyPr anchorCtr="0" anchor="ctr" bIns="0" lIns="0" spcFirstLastPara="1" rIns="0" wrap="square" tIns="13325">
            <a:normAutofit/>
          </a:bodyPr>
          <a:lstStyle/>
          <a:p>
            <a:pPr indent="0" lvl="0" marL="2832100" rtl="0" algn="ctr">
              <a:lnSpc>
                <a:spcPct val="90000"/>
              </a:lnSpc>
              <a:spcBef>
                <a:spcPts val="0"/>
              </a:spcBef>
              <a:spcAft>
                <a:spcPts val="0"/>
              </a:spcAft>
              <a:buClr>
                <a:schemeClr val="dk1"/>
              </a:buClr>
              <a:buSzPts val="5200"/>
              <a:buFont typeface="Play"/>
              <a:buNone/>
            </a:pPr>
            <a:r>
              <a:rPr lang="en-US" sz="5200"/>
              <a:t>Combiner</a:t>
            </a:r>
            <a:endParaRPr/>
          </a:p>
        </p:txBody>
      </p:sp>
      <p:pic>
        <p:nvPicPr>
          <p:cNvPr descr="https://farm3.static.flickr.com/2374/3529959828_0b689d1d5c_o.png" id="702" name="Google Shape;702;p42"/>
          <p:cNvPicPr preferRelativeResize="0"/>
          <p:nvPr/>
        </p:nvPicPr>
        <p:blipFill rotWithShape="1">
          <a:blip r:embed="rId3">
            <a:alphaModFix/>
          </a:blip>
          <a:srcRect b="0" l="0" r="0" t="0"/>
          <a:stretch/>
        </p:blipFill>
        <p:spPr>
          <a:xfrm>
            <a:off x="2222161" y="557189"/>
            <a:ext cx="7747677" cy="462923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6" name="Shape 706"/>
        <p:cNvGrpSpPr/>
        <p:nvPr/>
      </p:nvGrpSpPr>
      <p:grpSpPr>
        <a:xfrm>
          <a:off x="0" y="0"/>
          <a:ext cx="0" cy="0"/>
          <a:chOff x="0" y="0"/>
          <a:chExt cx="0" cy="0"/>
        </a:xfrm>
      </p:grpSpPr>
      <p:sp>
        <p:nvSpPr>
          <p:cNvPr id="707" name="Google Shape;707;p4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8" name="Google Shape;708;p43"/>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09" name="Google Shape;709;p43"/>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710" name="Google Shape;710;p43"/>
          <p:cNvSpPr txBox="1"/>
          <p:nvPr>
            <p:ph type="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12700" rtl="0" algn="l">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Partitioner and Sort</a:t>
            </a:r>
            <a:endParaRPr/>
          </a:p>
        </p:txBody>
      </p:sp>
      <p:sp>
        <p:nvSpPr>
          <p:cNvPr id="711" name="Google Shape;711;p43"/>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12" name="Google Shape;712;p43"/>
          <p:cNvSpPr/>
          <p:nvPr/>
        </p:nvSpPr>
        <p:spPr>
          <a:xfrm>
            <a:off x="481029"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https://farm3.static.flickr.com/2275/3529146683_c8247ff6db_o.png" id="713" name="Google Shape;713;p43"/>
          <p:cNvPicPr preferRelativeResize="0"/>
          <p:nvPr/>
        </p:nvPicPr>
        <p:blipFill rotWithShape="1">
          <a:blip r:embed="rId3">
            <a:alphaModFix/>
          </a:blip>
          <a:srcRect b="0" l="0" r="0" t="0"/>
          <a:stretch/>
        </p:blipFill>
        <p:spPr>
          <a:xfrm>
            <a:off x="5465375" y="625684"/>
            <a:ext cx="6306798" cy="545538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7" name="Shape 717"/>
        <p:cNvGrpSpPr/>
        <p:nvPr/>
      </p:nvGrpSpPr>
      <p:grpSpPr>
        <a:xfrm>
          <a:off x="0" y="0"/>
          <a:ext cx="0" cy="0"/>
          <a:chOff x="0" y="0"/>
          <a:chExt cx="0" cy="0"/>
        </a:xfrm>
      </p:grpSpPr>
      <p:sp>
        <p:nvSpPr>
          <p:cNvPr id="718" name="Google Shape;718;p4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9" name="Google Shape;719;p44"/>
          <p:cNvSpPr/>
          <p:nvPr/>
        </p:nvSpPr>
        <p:spPr>
          <a:xfrm>
            <a:off x="558209" y="0"/>
            <a:ext cx="11167447" cy="2018806"/>
          </a:xfrm>
          <a:prstGeom prst="rect">
            <a:avLst/>
          </a:prstGeom>
          <a:solidFill>
            <a:schemeClr val="lt1"/>
          </a:solidFill>
          <a:ln cap="flat" cmpd="sng" w="12700">
            <a:solidFill>
              <a:srgbClr val="E1E1E1"/>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20" name="Google Shape;720;p44"/>
          <p:cNvSpPr/>
          <p:nvPr/>
        </p:nvSpPr>
        <p:spPr>
          <a:xfrm>
            <a:off x="566928" y="0"/>
            <a:ext cx="1115568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721" name="Google Shape;721;p44"/>
          <p:cNvSpPr txBox="1"/>
          <p:nvPr>
            <p:ph type="ctr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chemeClr val="dk1"/>
              </a:buClr>
              <a:buSzPts val="4000"/>
              <a:buFont typeface="Play"/>
              <a:buNone/>
            </a:pPr>
            <a:r>
              <a:rPr lang="en-US" sz="4000">
                <a:solidFill>
                  <a:schemeClr val="dk1"/>
                </a:solidFill>
                <a:latin typeface="Play"/>
                <a:ea typeface="Play"/>
                <a:cs typeface="Play"/>
                <a:sym typeface="Play"/>
              </a:rPr>
              <a:t>Main Run Method: Pseudocode</a:t>
            </a:r>
            <a:endParaRPr/>
          </a:p>
        </p:txBody>
      </p:sp>
      <p:sp>
        <p:nvSpPr>
          <p:cNvPr id="722" name="Google Shape;722;p44"/>
          <p:cNvSpPr/>
          <p:nvPr/>
        </p:nvSpPr>
        <p:spPr>
          <a:xfrm>
            <a:off x="498834" y="770799"/>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723" name="Google Shape;723;p44"/>
          <p:cNvPicPr preferRelativeResize="0"/>
          <p:nvPr/>
        </p:nvPicPr>
        <p:blipFill rotWithShape="1">
          <a:blip r:embed="rId3">
            <a:alphaModFix/>
          </a:blip>
          <a:srcRect b="3238" l="0" r="-6" t="0"/>
          <a:stretch/>
        </p:blipFill>
        <p:spPr>
          <a:xfrm>
            <a:off x="908304" y="2478024"/>
            <a:ext cx="6009855" cy="3694176"/>
          </a:xfrm>
          <a:prstGeom prst="rect">
            <a:avLst/>
          </a:prstGeom>
          <a:noFill/>
          <a:ln>
            <a:noFill/>
          </a:ln>
        </p:spPr>
      </p:pic>
      <p:sp>
        <p:nvSpPr>
          <p:cNvPr id="724" name="Google Shape;724;p44"/>
          <p:cNvSpPr txBox="1"/>
          <p:nvPr/>
        </p:nvSpPr>
        <p:spPr>
          <a:xfrm>
            <a:off x="7411453" y="2478024"/>
            <a:ext cx="3872243" cy="3694176"/>
          </a:xfrm>
          <a:prstGeom prst="rect">
            <a:avLst/>
          </a:prstGeom>
          <a:noFill/>
          <a:ln>
            <a:noFill/>
          </a:ln>
        </p:spPr>
        <p:txBody>
          <a:bodyPr anchorCtr="0" anchor="ctr" bIns="45700" lIns="91425" spcFirstLastPara="1" rIns="91425" wrap="square" tIns="45700">
            <a:normAutofit/>
          </a:bodyPr>
          <a:lstStyle/>
          <a:p>
            <a:pPr indent="-12700" lvl="0" marL="12700" marR="5080" rtl="0" algn="l">
              <a:lnSpc>
                <a:spcPct val="9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For the Hadoop Code of RDD on Spark please see below </a:t>
            </a:r>
            <a:r>
              <a:rPr lang="en-US" sz="1800" u="sng">
                <a:solidFill>
                  <a:schemeClr val="dk1"/>
                </a:solidFill>
                <a:latin typeface="Arial"/>
                <a:ea typeface="Arial"/>
                <a:cs typeface="Arial"/>
                <a:sym typeface="Arial"/>
                <a:hlinkClick r:id="rId4">
                  <a:extLst>
                    <a:ext uri="{A12FA001-AC4F-418D-AE19-62706E023703}">
                      <ahyp:hlinkClr val="tx"/>
                    </a:ext>
                  </a:extLst>
                </a:hlinkClick>
              </a:rPr>
              <a:t>https://drive.google.com/drive/folders/1nGsrNeJwtDa7C2hAEmcbB_VdPQk3QgCJ</a:t>
            </a:r>
            <a:endParaRPr sz="1800">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8" name="Shape 728"/>
        <p:cNvGrpSpPr/>
        <p:nvPr/>
      </p:nvGrpSpPr>
      <p:grpSpPr>
        <a:xfrm>
          <a:off x="0" y="0"/>
          <a:ext cx="0" cy="0"/>
          <a:chOff x="0" y="0"/>
          <a:chExt cx="0" cy="0"/>
        </a:xfrm>
      </p:grpSpPr>
      <p:sp>
        <p:nvSpPr>
          <p:cNvPr id="729" name="Google Shape;729;p45"/>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0" name="Google Shape;730;p45"/>
          <p:cNvSpPr/>
          <p:nvPr/>
        </p:nvSpPr>
        <p:spPr>
          <a:xfrm>
            <a:off x="0" y="0"/>
            <a:ext cx="2013557" cy="6858000"/>
          </a:xfrm>
          <a:prstGeom prst="rect">
            <a:avLst/>
          </a:prstGeom>
          <a:solidFill>
            <a:srgbClr val="3638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731" name="Google Shape;731;p45"/>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0" lIns="0" spcFirstLastPara="1" rIns="0" wrap="square" tIns="13325">
            <a:normAutofit/>
          </a:bodyPr>
          <a:lstStyle/>
          <a:p>
            <a:pPr indent="0" lvl="0" marL="425450" rtl="0" algn="ctr">
              <a:lnSpc>
                <a:spcPct val="90000"/>
              </a:lnSpc>
              <a:spcBef>
                <a:spcPts val="0"/>
              </a:spcBef>
              <a:spcAft>
                <a:spcPts val="0"/>
              </a:spcAft>
              <a:buClr>
                <a:srgbClr val="FFFFFF"/>
              </a:buClr>
              <a:buSzPts val="2600"/>
              <a:buFont typeface="Play"/>
              <a:buNone/>
            </a:pPr>
            <a:r>
              <a:rPr lang="en-US" sz="2600">
                <a:solidFill>
                  <a:srgbClr val="FFFFFF"/>
                </a:solidFill>
              </a:rPr>
              <a:t>Main Run Method: The Engine</a:t>
            </a:r>
            <a:endParaRPr/>
          </a:p>
        </p:txBody>
      </p:sp>
      <p:pic>
        <p:nvPicPr>
          <p:cNvPr id="732" name="Google Shape;732;p45"/>
          <p:cNvPicPr preferRelativeResize="0"/>
          <p:nvPr/>
        </p:nvPicPr>
        <p:blipFill rotWithShape="1">
          <a:blip r:embed="rId3">
            <a:alphaModFix/>
          </a:blip>
          <a:srcRect b="0" l="0" r="0" t="0"/>
          <a:stretch/>
        </p:blipFill>
        <p:spPr>
          <a:xfrm>
            <a:off x="4367700" y="961812"/>
            <a:ext cx="6529999" cy="493098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6" name="Shape 736"/>
        <p:cNvGrpSpPr/>
        <p:nvPr/>
      </p:nvGrpSpPr>
      <p:grpSpPr>
        <a:xfrm>
          <a:off x="0" y="0"/>
          <a:ext cx="0" cy="0"/>
          <a:chOff x="0" y="0"/>
          <a:chExt cx="0" cy="0"/>
        </a:xfrm>
      </p:grpSpPr>
      <p:sp>
        <p:nvSpPr>
          <p:cNvPr id="737" name="Google Shape;737;p4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8" name="Google Shape;738;p46"/>
          <p:cNvSpPr/>
          <p:nvPr/>
        </p:nvSpPr>
        <p:spPr>
          <a:xfrm>
            <a:off x="558209" y="0"/>
            <a:ext cx="11167447" cy="2018806"/>
          </a:xfrm>
          <a:prstGeom prst="rect">
            <a:avLst/>
          </a:prstGeom>
          <a:solidFill>
            <a:schemeClr val="lt1"/>
          </a:solidFill>
          <a:ln cap="flat" cmpd="sng" w="9525">
            <a:solidFill>
              <a:srgbClr val="E1E1E1"/>
            </a:solidFill>
            <a:prstDash val="solid"/>
            <a:miter lim="800000"/>
            <a:headEnd len="sm" w="sm" type="none"/>
            <a:tailEnd len="sm" w="sm" type="none"/>
          </a:ln>
          <a:effectLst>
            <a:outerShdw blurRad="50800" rotWithShape="0" algn="tl" dir="2700000"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39" name="Google Shape;739;p46"/>
          <p:cNvSpPr/>
          <p:nvPr/>
        </p:nvSpPr>
        <p:spPr>
          <a:xfrm>
            <a:off x="566928" y="0"/>
            <a:ext cx="11155680" cy="20116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740" name="Google Shape;740;p46"/>
          <p:cNvSpPr txBox="1"/>
          <p:nvPr>
            <p:ph type="title"/>
          </p:nvPr>
        </p:nvSpPr>
        <p:spPr>
          <a:xfrm>
            <a:off x="1115568" y="548640"/>
            <a:ext cx="10168128" cy="1179576"/>
          </a:xfrm>
          <a:prstGeom prst="rect">
            <a:avLst/>
          </a:prstGeom>
          <a:noFill/>
          <a:ln>
            <a:noFill/>
          </a:ln>
        </p:spPr>
        <p:txBody>
          <a:bodyPr anchorCtr="0" anchor="ctr" bIns="45700" lIns="91425" spcFirstLastPara="1" rIns="91425" wrap="square" tIns="45700">
            <a:normAutofit/>
          </a:bodyPr>
          <a:lstStyle/>
          <a:p>
            <a:pPr indent="0" lvl="0" marL="2690495" rtl="0" algn="l">
              <a:lnSpc>
                <a:spcPct val="90000"/>
              </a:lnSpc>
              <a:spcBef>
                <a:spcPts val="0"/>
              </a:spcBef>
              <a:spcAft>
                <a:spcPts val="0"/>
              </a:spcAft>
              <a:buClr>
                <a:schemeClr val="dk1"/>
              </a:buClr>
              <a:buSzPts val="4000"/>
              <a:buFont typeface="Play"/>
              <a:buNone/>
            </a:pPr>
            <a:r>
              <a:rPr lang="en-US" sz="4000">
                <a:solidFill>
                  <a:schemeClr val="dk1"/>
                </a:solidFill>
                <a:latin typeface="Play"/>
                <a:ea typeface="Play"/>
                <a:cs typeface="Play"/>
                <a:sym typeface="Play"/>
              </a:rPr>
              <a:t>Job Details</a:t>
            </a:r>
            <a:endParaRPr/>
          </a:p>
        </p:txBody>
      </p:sp>
      <p:sp>
        <p:nvSpPr>
          <p:cNvPr id="741" name="Google Shape;741;p46"/>
          <p:cNvSpPr/>
          <p:nvPr/>
        </p:nvSpPr>
        <p:spPr>
          <a:xfrm>
            <a:off x="498834" y="758952"/>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42" name="Google Shape;742;p46"/>
          <p:cNvSpPr txBox="1"/>
          <p:nvPr/>
        </p:nvSpPr>
        <p:spPr>
          <a:xfrm>
            <a:off x="1115568" y="2481943"/>
            <a:ext cx="10168128" cy="3695020"/>
          </a:xfrm>
          <a:prstGeom prst="rect">
            <a:avLst/>
          </a:prstGeom>
          <a:noFill/>
          <a:ln>
            <a:noFill/>
          </a:ln>
        </p:spPr>
        <p:txBody>
          <a:bodyPr anchorCtr="0" anchor="t"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Job sets the overall MapReduce job configuration</a:t>
            </a:r>
            <a:endParaRPr sz="20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Job is specified client-side</a:t>
            </a:r>
            <a:endParaRPr sz="20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Primary interface for a user to describe a MapReduce job to the Hadoop framework for</a:t>
            </a:r>
            <a:endParaRPr sz="2000">
              <a:solidFill>
                <a:schemeClr val="dk1"/>
              </a:solidFill>
              <a:latin typeface="Arial"/>
              <a:ea typeface="Arial"/>
              <a:cs typeface="Arial"/>
              <a:sym typeface="Arial"/>
            </a:endParaRPr>
          </a:p>
          <a:p>
            <a:pPr indent="-228600" lvl="0" marL="28638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execution</a:t>
            </a:r>
            <a:endParaRPr sz="2000">
              <a:solidFill>
                <a:schemeClr val="dk1"/>
              </a:solidFill>
              <a:latin typeface="Arial"/>
              <a:ea typeface="Arial"/>
              <a:cs typeface="Arial"/>
              <a:sym typeface="Arial"/>
            </a:endParaRPr>
          </a:p>
          <a:p>
            <a:pPr indent="-12700" lvl="0" marL="12700"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Used to specify</a:t>
            </a:r>
            <a:endParaRPr sz="2000">
              <a:solidFill>
                <a:schemeClr val="dk1"/>
              </a:solidFill>
              <a:latin typeface="Arial"/>
              <a:ea typeface="Arial"/>
              <a:cs typeface="Arial"/>
              <a:sym typeface="Arial"/>
            </a:endParaRPr>
          </a:p>
          <a:p>
            <a:pPr indent="-228600" lvl="0" marL="314325" marR="0" rtl="0" algn="l">
              <a:lnSpc>
                <a:spcPct val="90000"/>
              </a:lnSpc>
              <a:spcBef>
                <a:spcPts val="5"/>
              </a:spcBef>
              <a:spcAft>
                <a:spcPts val="0"/>
              </a:spcAft>
              <a:buClr>
                <a:schemeClr val="dk1"/>
              </a:buClr>
              <a:buSzPts val="2000"/>
              <a:buFont typeface="Arial"/>
              <a:buChar char="•"/>
            </a:pPr>
            <a:r>
              <a:rPr lang="en-US" sz="2000">
                <a:solidFill>
                  <a:schemeClr val="dk1"/>
                </a:solidFill>
                <a:latin typeface="Arial"/>
                <a:ea typeface="Arial"/>
                <a:cs typeface="Arial"/>
                <a:sym typeface="Arial"/>
              </a:rPr>
              <a:t>∗	Mapper</a:t>
            </a:r>
            <a:endParaRPr sz="2000">
              <a:solidFill>
                <a:schemeClr val="dk1"/>
              </a:solidFill>
              <a:latin typeface="Arial"/>
              <a:ea typeface="Arial"/>
              <a:cs typeface="Arial"/>
              <a:sym typeface="Arial"/>
            </a:endParaRPr>
          </a:p>
          <a:p>
            <a:pPr indent="-228600" lvl="0" marL="314325" marR="0" rtl="0" algn="l">
              <a:lnSpc>
                <a:spcPct val="90000"/>
              </a:lnSpc>
              <a:spcBef>
                <a:spcPts val="5"/>
              </a:spcBef>
              <a:spcAft>
                <a:spcPts val="0"/>
              </a:spcAft>
              <a:buClr>
                <a:schemeClr val="dk1"/>
              </a:buClr>
              <a:buSzPts val="2000"/>
              <a:buFont typeface="Arial"/>
              <a:buChar char="•"/>
            </a:pPr>
            <a:r>
              <a:rPr lang="en-US" sz="2000">
                <a:solidFill>
                  <a:schemeClr val="dk1"/>
                </a:solidFill>
                <a:latin typeface="Arial"/>
                <a:ea typeface="Arial"/>
                <a:cs typeface="Arial"/>
                <a:sym typeface="Arial"/>
              </a:rPr>
              <a:t>∗	Combiner (if any)</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Partitioner (to partition key space)</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Reducer</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InputFormat</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OutputFormat</a:t>
            </a:r>
            <a:endParaRPr sz="2000">
              <a:solidFill>
                <a:schemeClr val="dk1"/>
              </a:solidFill>
              <a:latin typeface="Arial"/>
              <a:ea typeface="Arial"/>
              <a:cs typeface="Arial"/>
              <a:sym typeface="Arial"/>
            </a:endParaRPr>
          </a:p>
          <a:p>
            <a:pPr indent="-228600" lvl="0" marL="314325" marR="0" rtl="0" algn="l">
              <a:lnSpc>
                <a:spcPct val="9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Many user options; high customizability</a:t>
            </a:r>
            <a:endParaRPr sz="2000">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6" name="Shape 746"/>
        <p:cNvGrpSpPr/>
        <p:nvPr/>
      </p:nvGrpSpPr>
      <p:grpSpPr>
        <a:xfrm>
          <a:off x="0" y="0"/>
          <a:ext cx="0" cy="0"/>
          <a:chOff x="0" y="0"/>
          <a:chExt cx="0" cy="0"/>
        </a:xfrm>
      </p:grpSpPr>
      <p:sp>
        <p:nvSpPr>
          <p:cNvPr id="747" name="Google Shape;747;p47"/>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748" name="Google Shape;748;p47"/>
          <p:cNvSpPr txBox="1"/>
          <p:nvPr>
            <p:ph type="title"/>
          </p:nvPr>
        </p:nvSpPr>
        <p:spPr>
          <a:xfrm>
            <a:off x="808638" y="386930"/>
            <a:ext cx="9236700" cy="1188950"/>
          </a:xfrm>
          <a:prstGeom prst="rect">
            <a:avLst/>
          </a:prstGeom>
          <a:noFill/>
          <a:ln>
            <a:noFill/>
          </a:ln>
        </p:spPr>
        <p:txBody>
          <a:bodyPr anchorCtr="0" anchor="b" bIns="0" lIns="0" spcFirstLastPara="1" rIns="0" wrap="square" tIns="13325">
            <a:normAutofit/>
          </a:bodyPr>
          <a:lstStyle/>
          <a:p>
            <a:pPr indent="0" lvl="0" marL="2477135" rtl="0" algn="l">
              <a:lnSpc>
                <a:spcPct val="90000"/>
              </a:lnSpc>
              <a:spcBef>
                <a:spcPts val="0"/>
              </a:spcBef>
              <a:spcAft>
                <a:spcPts val="0"/>
              </a:spcAft>
              <a:buClr>
                <a:schemeClr val="dk1"/>
              </a:buClr>
              <a:buSzPts val="5400"/>
              <a:buFont typeface="Play"/>
              <a:buNone/>
            </a:pPr>
            <a:r>
              <a:rPr lang="en-US" sz="5400"/>
              <a:t>Job Details II</a:t>
            </a:r>
            <a:endParaRPr/>
          </a:p>
        </p:txBody>
      </p:sp>
      <p:grpSp>
        <p:nvGrpSpPr>
          <p:cNvPr id="749" name="Google Shape;749;p47"/>
          <p:cNvGrpSpPr/>
          <p:nvPr/>
        </p:nvGrpSpPr>
        <p:grpSpPr>
          <a:xfrm>
            <a:off x="-2" y="1998368"/>
            <a:ext cx="11695083" cy="782176"/>
            <a:chOff x="-2" y="1998368"/>
            <a:chExt cx="11695083" cy="782176"/>
          </a:xfrm>
        </p:grpSpPr>
        <p:sp>
          <p:nvSpPr>
            <p:cNvPr id="750" name="Google Shape;750;p47"/>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1" name="Google Shape;751;p47"/>
            <p:cNvSpPr/>
            <p:nvPr/>
          </p:nvSpPr>
          <p:spPr>
            <a:xfrm rot="10800000">
              <a:off x="-2" y="1998845"/>
              <a:ext cx="1145459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752" name="Google Shape;752;p47"/>
          <p:cNvSpPr/>
          <p:nvPr/>
        </p:nvSpPr>
        <p:spPr>
          <a:xfrm>
            <a:off x="0" y="2203079"/>
            <a:ext cx="11383362" cy="4147845"/>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3" name="Google Shape;753;p47"/>
          <p:cNvSpPr txBox="1"/>
          <p:nvPr>
            <p:ph idx="1" type="body"/>
          </p:nvPr>
        </p:nvSpPr>
        <p:spPr>
          <a:xfrm>
            <a:off x="793660" y="2599509"/>
            <a:ext cx="10143668" cy="3435531"/>
          </a:xfrm>
          <a:prstGeom prst="rect">
            <a:avLst/>
          </a:prstGeom>
          <a:noFill/>
          <a:ln>
            <a:noFill/>
          </a:ln>
        </p:spPr>
        <p:txBody>
          <a:bodyPr anchorCtr="0" anchor="ctr" bIns="0" lIns="0" spcFirstLastPara="1" rIns="0" wrap="square" tIns="85075">
            <a:normAutofit/>
          </a:bodyPr>
          <a:lstStyle/>
          <a:p>
            <a:pPr indent="-12700" lvl="0" marL="12700" rtl="0" algn="l">
              <a:lnSpc>
                <a:spcPct val="90000"/>
              </a:lnSpc>
              <a:spcBef>
                <a:spcPts val="0"/>
              </a:spcBef>
              <a:spcAft>
                <a:spcPts val="0"/>
              </a:spcAft>
              <a:buClr>
                <a:schemeClr val="dk1"/>
              </a:buClr>
              <a:buSzPts val="2400"/>
              <a:buChar char="•"/>
            </a:pPr>
            <a:r>
              <a:rPr lang="en-US" sz="2400">
                <a:latin typeface="Arimo"/>
                <a:ea typeface="Arimo"/>
                <a:cs typeface="Arimo"/>
                <a:sym typeface="Arimo"/>
              </a:rPr>
              <a:t>∗ </a:t>
            </a:r>
            <a:r>
              <a:rPr lang="en-US" sz="2400"/>
              <a:t>Jobs can be monitored by users</a:t>
            </a:r>
            <a:endParaRPr sz="2400">
              <a:latin typeface="Arimo"/>
              <a:ea typeface="Arimo"/>
              <a:cs typeface="Arimo"/>
              <a:sym typeface="Arimo"/>
            </a:endParaRPr>
          </a:p>
          <a:p>
            <a:pPr indent="-12700" lvl="0" marL="12700" rtl="0" algn="l">
              <a:lnSpc>
                <a:spcPct val="90000"/>
              </a:lnSpc>
              <a:spcBef>
                <a:spcPts val="580"/>
              </a:spcBef>
              <a:spcAft>
                <a:spcPts val="0"/>
              </a:spcAft>
              <a:buClr>
                <a:schemeClr val="dk1"/>
              </a:buClr>
              <a:buSzPts val="2400"/>
              <a:buChar char="•"/>
            </a:pPr>
            <a:r>
              <a:rPr lang="en-US" sz="2400">
                <a:latin typeface="Arimo"/>
                <a:ea typeface="Arimo"/>
                <a:cs typeface="Arimo"/>
                <a:sym typeface="Arimo"/>
              </a:rPr>
              <a:t>∗ </a:t>
            </a:r>
            <a:r>
              <a:rPr lang="en-US" sz="2400"/>
              <a:t>Users can chain MapReduce jobs together to accomplish complex tasks</a:t>
            </a:r>
            <a:endParaRPr sz="2400">
              <a:latin typeface="Arimo"/>
              <a:ea typeface="Arimo"/>
              <a:cs typeface="Arimo"/>
              <a:sym typeface="Arimo"/>
            </a:endParaRPr>
          </a:p>
          <a:p>
            <a:pPr indent="-228600" lvl="0" marL="286385" rtl="0" algn="l">
              <a:lnSpc>
                <a:spcPct val="90000"/>
              </a:lnSpc>
              <a:spcBef>
                <a:spcPts val="1000"/>
              </a:spcBef>
              <a:spcAft>
                <a:spcPts val="0"/>
              </a:spcAft>
              <a:buClr>
                <a:schemeClr val="dk1"/>
              </a:buClr>
              <a:buSzPts val="2400"/>
              <a:buChar char="•"/>
            </a:pPr>
            <a:r>
              <a:rPr lang="en-US" sz="2400"/>
              <a:t>which cannot be done with a single MapReduce job</a:t>
            </a:r>
            <a:endParaRPr sz="2400"/>
          </a:p>
          <a:p>
            <a:pPr indent="-228600" lvl="0" marL="314325" rtl="0" algn="l">
              <a:lnSpc>
                <a:spcPct val="90000"/>
              </a:lnSpc>
              <a:spcBef>
                <a:spcPts val="550"/>
              </a:spcBef>
              <a:spcAft>
                <a:spcPts val="0"/>
              </a:spcAft>
              <a:buClr>
                <a:schemeClr val="dk1"/>
              </a:buClr>
              <a:buSzPts val="2400"/>
              <a:buChar char="•"/>
            </a:pPr>
            <a:r>
              <a:rPr lang="en-US" sz="2400">
                <a:latin typeface="Arimo"/>
                <a:ea typeface="Arimo"/>
                <a:cs typeface="Arimo"/>
                <a:sym typeface="Arimo"/>
              </a:rPr>
              <a:t>∗ </a:t>
            </a:r>
            <a:r>
              <a:rPr lang="en-US" sz="2400"/>
              <a:t>make use of Job.waitForCompletion()</a:t>
            </a:r>
            <a:endParaRPr/>
          </a:p>
          <a:p>
            <a:pPr indent="-228600" lvl="0" marL="314325" rtl="0" algn="l">
              <a:lnSpc>
                <a:spcPct val="90000"/>
              </a:lnSpc>
              <a:spcBef>
                <a:spcPts val="525"/>
              </a:spcBef>
              <a:spcAft>
                <a:spcPts val="0"/>
              </a:spcAft>
              <a:buClr>
                <a:schemeClr val="dk1"/>
              </a:buClr>
              <a:buSzPts val="2400"/>
              <a:buChar char="•"/>
            </a:pPr>
            <a:r>
              <a:rPr lang="en-US" sz="2400">
                <a:latin typeface="Arimo"/>
                <a:ea typeface="Arimo"/>
                <a:cs typeface="Arimo"/>
                <a:sym typeface="Arimo"/>
              </a:rPr>
              <a:t>∗ </a:t>
            </a:r>
            <a:r>
              <a:rPr lang="en-US" sz="2400"/>
              <a:t>and Job.submit()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7" name="Shape 757"/>
        <p:cNvGrpSpPr/>
        <p:nvPr/>
      </p:nvGrpSpPr>
      <p:grpSpPr>
        <a:xfrm>
          <a:off x="0" y="0"/>
          <a:ext cx="0" cy="0"/>
          <a:chOff x="0" y="0"/>
          <a:chExt cx="0" cy="0"/>
        </a:xfrm>
      </p:grpSpPr>
      <p:sp>
        <p:nvSpPr>
          <p:cNvPr id="758" name="Google Shape;758;p4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759" name="Google Shape;759;p48"/>
          <p:cNvSpPr txBox="1"/>
          <p:nvPr>
            <p:ph type="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1050925" rtl="0" algn="l">
              <a:lnSpc>
                <a:spcPct val="90000"/>
              </a:lnSpc>
              <a:spcBef>
                <a:spcPts val="0"/>
              </a:spcBef>
              <a:spcAft>
                <a:spcPts val="0"/>
              </a:spcAft>
              <a:buClr>
                <a:schemeClr val="dk1"/>
              </a:buClr>
              <a:buSzPts val="3400"/>
              <a:buFont typeface="Play"/>
              <a:buNone/>
            </a:pPr>
            <a:r>
              <a:rPr lang="en-US" sz="3400">
                <a:solidFill>
                  <a:schemeClr val="dk1"/>
                </a:solidFill>
                <a:latin typeface="Play"/>
                <a:ea typeface="Play"/>
                <a:cs typeface="Play"/>
                <a:sym typeface="Play"/>
              </a:rPr>
              <a:t>Map class for WordCount</a:t>
            </a:r>
            <a:endParaRPr/>
          </a:p>
          <a:p>
            <a:pPr indent="0" lvl="0" marL="12700" rtl="0" algn="l">
              <a:lnSpc>
                <a:spcPct val="90000"/>
              </a:lnSpc>
              <a:spcBef>
                <a:spcPts val="0"/>
              </a:spcBef>
              <a:spcAft>
                <a:spcPts val="0"/>
              </a:spcAft>
              <a:buClr>
                <a:schemeClr val="dk1"/>
              </a:buClr>
              <a:buSzPts val="3400"/>
              <a:buFont typeface="Play"/>
              <a:buNone/>
            </a:pPr>
            <a:r>
              <a:rPr lang="en-US" sz="3400" u="sng">
                <a:solidFill>
                  <a:schemeClr val="dk1"/>
                </a:solidFill>
                <a:latin typeface="Play"/>
                <a:ea typeface="Play"/>
                <a:cs typeface="Play"/>
                <a:sym typeface="Play"/>
                <a:hlinkClick r:id="rId3">
                  <a:extLst>
                    <a:ext uri="{A12FA001-AC4F-418D-AE19-62706E023703}">
                      <ahyp:hlinkClr val="tx"/>
                    </a:ext>
                  </a:extLst>
                </a:hlinkClick>
              </a:rPr>
              <a:t>https://colab.research.google.com/drive/17ExNzsO_R_YSy5V-bZDhvNdQqieZJPv6</a:t>
            </a:r>
            <a:endParaRPr sz="3400">
              <a:solidFill>
                <a:schemeClr val="dk1"/>
              </a:solidFill>
              <a:latin typeface="Play"/>
              <a:ea typeface="Play"/>
              <a:cs typeface="Play"/>
              <a:sym typeface="Play"/>
            </a:endParaRPr>
          </a:p>
        </p:txBody>
      </p:sp>
      <p:sp>
        <p:nvSpPr>
          <p:cNvPr id="760" name="Google Shape;760;p48"/>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761" name="Google Shape;761;p48"/>
          <p:cNvSpPr/>
          <p:nvPr/>
        </p:nvSpPr>
        <p:spPr>
          <a:xfrm>
            <a:off x="481029"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id="762" name="Google Shape;762;p48"/>
          <p:cNvPicPr preferRelativeResize="0"/>
          <p:nvPr/>
        </p:nvPicPr>
        <p:blipFill rotWithShape="1">
          <a:blip r:embed="rId4">
            <a:alphaModFix/>
          </a:blip>
          <a:srcRect b="0" l="0" r="0" t="0"/>
          <a:stretch/>
        </p:blipFill>
        <p:spPr>
          <a:xfrm>
            <a:off x="4864608" y="1268072"/>
            <a:ext cx="6846363" cy="41706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descr="$PPTXTitle" id="767" name="Google Shape;767;p49"/>
          <p:cNvSpPr txBox="1"/>
          <p:nvPr>
            <p:ph type="title"/>
          </p:nvPr>
        </p:nvSpPr>
        <p:spPr>
          <a:xfrm>
            <a:off x="2486016" y="495025"/>
            <a:ext cx="6167100" cy="690600"/>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chemeClr val="dk1"/>
              </a:buClr>
              <a:buSzPts val="4400"/>
              <a:buFont typeface="Play"/>
              <a:buNone/>
            </a:pPr>
            <a:r>
              <a:rPr lang="en-US"/>
              <a:t>Mapper</a:t>
            </a:r>
            <a:endParaRPr/>
          </a:p>
        </p:txBody>
      </p:sp>
      <p:grpSp>
        <p:nvGrpSpPr>
          <p:cNvPr id="768" name="Google Shape;768;p49"/>
          <p:cNvGrpSpPr/>
          <p:nvPr/>
        </p:nvGrpSpPr>
        <p:grpSpPr>
          <a:xfrm>
            <a:off x="1154816" y="2260902"/>
            <a:ext cx="9398496" cy="3884349"/>
            <a:chOff x="11816" y="127302"/>
            <a:chExt cx="9398496" cy="3884349"/>
          </a:xfrm>
        </p:grpSpPr>
        <p:sp>
          <p:nvSpPr>
            <p:cNvPr id="769" name="Google Shape;769;p49"/>
            <p:cNvSpPr/>
            <p:nvPr/>
          </p:nvSpPr>
          <p:spPr>
            <a:xfrm>
              <a:off x="2726345" y="896480"/>
              <a:ext cx="594155"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9"/>
            <p:cNvSpPr txBox="1"/>
            <p:nvPr/>
          </p:nvSpPr>
          <p:spPr>
            <a:xfrm>
              <a:off x="3007804" y="939073"/>
              <a:ext cx="31237" cy="625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71" name="Google Shape;771;p49"/>
            <p:cNvSpPr/>
            <p:nvPr/>
          </p:nvSpPr>
          <p:spPr>
            <a:xfrm>
              <a:off x="11816" y="127302"/>
              <a:ext cx="2716328" cy="1629797"/>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9"/>
            <p:cNvSpPr txBox="1"/>
            <p:nvPr/>
          </p:nvSpPr>
          <p:spPr>
            <a:xfrm>
              <a:off x="11816" y="127302"/>
              <a:ext cx="2716328" cy="1629797"/>
            </a:xfrm>
            <a:prstGeom prst="rect">
              <a:avLst/>
            </a:prstGeom>
            <a:noFill/>
            <a:ln>
              <a:noFill/>
            </a:ln>
          </p:spPr>
          <p:txBody>
            <a:bodyPr anchorCtr="0" anchor="ctr" bIns="139700" lIns="133100" spcFirstLastPara="1" rIns="133100" wrap="square" tIns="139700">
              <a:noAutofit/>
            </a:bodyPr>
            <a:lstStyle/>
            <a:p>
              <a:pPr indent="0" lvl="0" marL="0" marR="0" rtl="0" algn="ctr">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Mapper maps input key/value pairs to a set of intermediate key/value pairs</a:t>
              </a:r>
              <a:endParaRPr/>
            </a:p>
          </p:txBody>
        </p:sp>
        <p:sp>
          <p:nvSpPr>
            <p:cNvPr id="773" name="Google Shape;773;p49"/>
            <p:cNvSpPr/>
            <p:nvPr/>
          </p:nvSpPr>
          <p:spPr>
            <a:xfrm>
              <a:off x="6067429" y="896480"/>
              <a:ext cx="594155"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9"/>
            <p:cNvSpPr txBox="1"/>
            <p:nvPr/>
          </p:nvSpPr>
          <p:spPr>
            <a:xfrm>
              <a:off x="6348888" y="939073"/>
              <a:ext cx="31237" cy="625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75" name="Google Shape;775;p49"/>
            <p:cNvSpPr/>
            <p:nvPr/>
          </p:nvSpPr>
          <p:spPr>
            <a:xfrm>
              <a:off x="3352900" y="127302"/>
              <a:ext cx="2716328" cy="1629797"/>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9"/>
            <p:cNvSpPr txBox="1"/>
            <p:nvPr/>
          </p:nvSpPr>
          <p:spPr>
            <a:xfrm>
              <a:off x="3352900" y="127302"/>
              <a:ext cx="2716328" cy="1629797"/>
            </a:xfrm>
            <a:prstGeom prst="rect">
              <a:avLst/>
            </a:prstGeom>
            <a:noFill/>
            <a:ln>
              <a:noFill/>
            </a:ln>
          </p:spPr>
          <p:txBody>
            <a:bodyPr anchorCtr="0" anchor="t" bIns="139700" lIns="133100" spcFirstLastPara="1" rIns="133100" wrap="square" tIns="139700">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Implementing classes extend Mapper and override map()</a:t>
              </a:r>
              <a:endParaRPr/>
            </a:p>
            <a:p>
              <a:pPr indent="-171450" lvl="1" marL="171450" marR="0" rtl="0" algn="l">
                <a:lnSpc>
                  <a:spcPct val="90000"/>
                </a:lnSpc>
                <a:spcBef>
                  <a:spcPts val="63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Main Mapper engine: Mapper.run()</a:t>
              </a:r>
              <a:endParaRPr/>
            </a:p>
            <a:p>
              <a:pPr indent="-171450" lvl="2" marL="342900" marR="0" rtl="0" algn="l">
                <a:lnSpc>
                  <a:spcPct val="90000"/>
                </a:lnSpc>
                <a:spcBef>
                  <a:spcPts val="27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setup()</a:t>
              </a:r>
              <a:endParaRPr/>
            </a:p>
            <a:p>
              <a:pPr indent="-171450" lvl="2" marL="342900" marR="0" rtl="0" algn="l">
                <a:lnSpc>
                  <a:spcPct val="90000"/>
                </a:lnSpc>
                <a:spcBef>
                  <a:spcPts val="27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map() for each input record</a:t>
              </a:r>
              <a:endParaRPr/>
            </a:p>
            <a:p>
              <a:pPr indent="-171450" lvl="2" marL="342900" marR="0" rtl="0" algn="l">
                <a:lnSpc>
                  <a:spcPct val="90000"/>
                </a:lnSpc>
                <a:spcBef>
                  <a:spcPts val="27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cleanup()</a:t>
              </a:r>
              <a:endParaRPr/>
            </a:p>
          </p:txBody>
        </p:sp>
        <p:sp>
          <p:nvSpPr>
            <p:cNvPr id="777" name="Google Shape;777;p49"/>
            <p:cNvSpPr/>
            <p:nvPr/>
          </p:nvSpPr>
          <p:spPr>
            <a:xfrm>
              <a:off x="1369980" y="1755299"/>
              <a:ext cx="6682168" cy="594155"/>
            </a:xfrm>
            <a:custGeom>
              <a:rect b="b" l="l" r="r" t="t"/>
              <a:pathLst>
                <a:path extrusionOk="0" h="120000" w="120000">
                  <a:moveTo>
                    <a:pt x="120000" y="0"/>
                  </a:moveTo>
                  <a:lnTo>
                    <a:pt x="120000" y="63454"/>
                  </a:lnTo>
                  <a:lnTo>
                    <a:pt x="0" y="63454"/>
                  </a:lnTo>
                  <a:lnTo>
                    <a:pt x="0" y="12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9"/>
            <p:cNvSpPr txBox="1"/>
            <p:nvPr/>
          </p:nvSpPr>
          <p:spPr>
            <a:xfrm>
              <a:off x="4543282" y="2049250"/>
              <a:ext cx="335565" cy="625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79" name="Google Shape;779;p49"/>
            <p:cNvSpPr/>
            <p:nvPr/>
          </p:nvSpPr>
          <p:spPr>
            <a:xfrm>
              <a:off x="6693984" y="127302"/>
              <a:ext cx="2716328" cy="1629797"/>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9"/>
            <p:cNvSpPr txBox="1"/>
            <p:nvPr/>
          </p:nvSpPr>
          <p:spPr>
            <a:xfrm>
              <a:off x="6693984" y="127302"/>
              <a:ext cx="2716328" cy="1629797"/>
            </a:xfrm>
            <a:prstGeom prst="rect">
              <a:avLst/>
            </a:prstGeom>
            <a:noFill/>
            <a:ln>
              <a:noFill/>
            </a:ln>
          </p:spPr>
          <p:txBody>
            <a:bodyPr anchorCtr="0" anchor="ctr" bIns="139700" lIns="133100" spcFirstLastPara="1" rIns="133100" wrap="square" tIns="139700">
              <a:noAutofit/>
            </a:bodyPr>
            <a:lstStyle/>
            <a:p>
              <a:pPr indent="0" lvl="0" marL="0" marR="0" rtl="0" algn="ctr">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Mapper implementations are specified in the Job</a:t>
              </a:r>
              <a:endParaRPr/>
            </a:p>
          </p:txBody>
        </p:sp>
        <p:sp>
          <p:nvSpPr>
            <p:cNvPr id="781" name="Google Shape;781;p49"/>
            <p:cNvSpPr/>
            <p:nvPr/>
          </p:nvSpPr>
          <p:spPr>
            <a:xfrm>
              <a:off x="2726345" y="3151033"/>
              <a:ext cx="594155"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9"/>
            <p:cNvSpPr txBox="1"/>
            <p:nvPr/>
          </p:nvSpPr>
          <p:spPr>
            <a:xfrm>
              <a:off x="3007804" y="3193626"/>
              <a:ext cx="31237" cy="625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83" name="Google Shape;783;p49"/>
            <p:cNvSpPr/>
            <p:nvPr/>
          </p:nvSpPr>
          <p:spPr>
            <a:xfrm>
              <a:off x="11816" y="2381854"/>
              <a:ext cx="2716328" cy="1629797"/>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9"/>
            <p:cNvSpPr txBox="1"/>
            <p:nvPr/>
          </p:nvSpPr>
          <p:spPr>
            <a:xfrm>
              <a:off x="11816" y="2381854"/>
              <a:ext cx="2716328" cy="1629797"/>
            </a:xfrm>
            <a:prstGeom prst="rect">
              <a:avLst/>
            </a:prstGeom>
            <a:noFill/>
            <a:ln>
              <a:noFill/>
            </a:ln>
          </p:spPr>
          <p:txBody>
            <a:bodyPr anchorCtr="0" anchor="ctr" bIns="139700" lIns="133100" spcFirstLastPara="1" rIns="133100" wrap="square" tIns="139700">
              <a:noAutofit/>
            </a:bodyPr>
            <a:lstStyle/>
            <a:p>
              <a:pPr indent="0" lvl="0" marL="0" marR="0" rtl="0" algn="ctr">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Mapper instantiated in the Job</a:t>
              </a:r>
              <a:endParaRPr/>
            </a:p>
          </p:txBody>
        </p:sp>
        <p:sp>
          <p:nvSpPr>
            <p:cNvPr id="785" name="Google Shape;785;p49"/>
            <p:cNvSpPr/>
            <p:nvPr/>
          </p:nvSpPr>
          <p:spPr>
            <a:xfrm>
              <a:off x="6067429" y="3151033"/>
              <a:ext cx="594155"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9"/>
            <p:cNvSpPr txBox="1"/>
            <p:nvPr/>
          </p:nvSpPr>
          <p:spPr>
            <a:xfrm>
              <a:off x="6348888" y="3193626"/>
              <a:ext cx="31237" cy="625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87" name="Google Shape;787;p49"/>
            <p:cNvSpPr/>
            <p:nvPr/>
          </p:nvSpPr>
          <p:spPr>
            <a:xfrm>
              <a:off x="3352900" y="2381854"/>
              <a:ext cx="2716328" cy="1629797"/>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9"/>
            <p:cNvSpPr txBox="1"/>
            <p:nvPr/>
          </p:nvSpPr>
          <p:spPr>
            <a:xfrm>
              <a:off x="3352900" y="2381854"/>
              <a:ext cx="2716328" cy="1629797"/>
            </a:xfrm>
            <a:prstGeom prst="rect">
              <a:avLst/>
            </a:prstGeom>
            <a:noFill/>
            <a:ln>
              <a:noFill/>
            </a:ln>
          </p:spPr>
          <p:txBody>
            <a:bodyPr anchorCtr="0" anchor="ctr" bIns="139700" lIns="133100" spcFirstLastPara="1" rIns="133100" wrap="square" tIns="139700">
              <a:noAutofit/>
            </a:bodyPr>
            <a:lstStyle/>
            <a:p>
              <a:pPr indent="0" lvl="0" marL="0" marR="0" rtl="0" algn="ctr">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Output data is emitted from Mapper via the Context object</a:t>
              </a:r>
              <a:endParaRPr/>
            </a:p>
          </p:txBody>
        </p:sp>
        <p:sp>
          <p:nvSpPr>
            <p:cNvPr id="789" name="Google Shape;789;p49"/>
            <p:cNvSpPr/>
            <p:nvPr/>
          </p:nvSpPr>
          <p:spPr>
            <a:xfrm>
              <a:off x="6693984" y="2381854"/>
              <a:ext cx="2716328" cy="1629797"/>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9"/>
            <p:cNvSpPr txBox="1"/>
            <p:nvPr/>
          </p:nvSpPr>
          <p:spPr>
            <a:xfrm>
              <a:off x="6693984" y="2381854"/>
              <a:ext cx="2716328" cy="1629797"/>
            </a:xfrm>
            <a:prstGeom prst="rect">
              <a:avLst/>
            </a:prstGeom>
            <a:noFill/>
            <a:ln>
              <a:noFill/>
            </a:ln>
          </p:spPr>
          <p:txBody>
            <a:bodyPr anchorCtr="0" anchor="t" bIns="139700" lIns="133100" spcFirstLastPara="1" rIns="133100" wrap="square" tIns="139700">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Hadoop MapReduce framework spawns one map task for each logical representation of a unit of input work for a map task</a:t>
              </a:r>
              <a:endParaRPr/>
            </a:p>
            <a:p>
              <a:pPr indent="-171450" lvl="1" marL="171450" marR="0" rtl="0" algn="l">
                <a:lnSpc>
                  <a:spcPct val="90000"/>
                </a:lnSpc>
                <a:spcBef>
                  <a:spcPts val="63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e.g. a filename and a byte range within that file</a:t>
              </a:r>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4" name="Shape 794"/>
        <p:cNvGrpSpPr/>
        <p:nvPr/>
      </p:nvGrpSpPr>
      <p:grpSpPr>
        <a:xfrm>
          <a:off x="0" y="0"/>
          <a:ext cx="0" cy="0"/>
          <a:chOff x="0" y="0"/>
          <a:chExt cx="0" cy="0"/>
        </a:xfrm>
      </p:grpSpPr>
      <p:sp>
        <p:nvSpPr>
          <p:cNvPr id="795" name="Google Shape;795;p50"/>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796" name="Google Shape;796;p50"/>
          <p:cNvSpPr txBox="1"/>
          <p:nvPr>
            <p:ph type="title"/>
          </p:nvPr>
        </p:nvSpPr>
        <p:spPr>
          <a:xfrm>
            <a:off x="1113810" y="2960716"/>
            <a:ext cx="4036334" cy="2387600"/>
          </a:xfrm>
          <a:prstGeom prst="rect">
            <a:avLst/>
          </a:prstGeom>
          <a:noFill/>
          <a:ln>
            <a:noFill/>
          </a:ln>
        </p:spPr>
        <p:txBody>
          <a:bodyPr anchorCtr="0" anchor="t" bIns="45700" lIns="91425" spcFirstLastPara="1" rIns="91425" wrap="square" tIns="45700">
            <a:normAutofit/>
          </a:bodyPr>
          <a:lstStyle/>
          <a:p>
            <a:pPr indent="0" lvl="0" marL="12700" rtl="0" algn="l">
              <a:lnSpc>
                <a:spcPct val="90000"/>
              </a:lnSpc>
              <a:spcBef>
                <a:spcPts val="0"/>
              </a:spcBef>
              <a:spcAft>
                <a:spcPts val="0"/>
              </a:spcAft>
              <a:buClr>
                <a:schemeClr val="dk1"/>
              </a:buClr>
              <a:buSzPts val="5400"/>
              <a:buFont typeface="Play"/>
              <a:buNone/>
            </a:pPr>
            <a:r>
              <a:rPr lang="en-US" sz="5400">
                <a:solidFill>
                  <a:schemeClr val="dk1"/>
                </a:solidFill>
                <a:latin typeface="Play"/>
                <a:ea typeface="Play"/>
                <a:cs typeface="Play"/>
                <a:sym typeface="Play"/>
              </a:rPr>
              <a:t>HDFS Command</a:t>
            </a:r>
            <a:endParaRPr/>
          </a:p>
        </p:txBody>
      </p:sp>
      <p:grpSp>
        <p:nvGrpSpPr>
          <p:cNvPr id="797" name="Google Shape;797;p50"/>
          <p:cNvGrpSpPr/>
          <p:nvPr/>
        </p:nvGrpSpPr>
        <p:grpSpPr>
          <a:xfrm>
            <a:off x="0" y="2984992"/>
            <a:ext cx="731521" cy="673460"/>
            <a:chOff x="3940602" y="308034"/>
            <a:chExt cx="2116791" cy="3428999"/>
          </a:xfrm>
        </p:grpSpPr>
        <p:sp>
          <p:nvSpPr>
            <p:cNvPr id="798" name="Google Shape;798;p50"/>
            <p:cNvSpPr/>
            <p:nvPr/>
          </p:nvSpPr>
          <p:spPr>
            <a:xfrm>
              <a:off x="3940602"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9" name="Google Shape;799;p50"/>
            <p:cNvSpPr/>
            <p:nvPr/>
          </p:nvSpPr>
          <p:spPr>
            <a:xfrm>
              <a:off x="4715626"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0" name="Google Shape;800;p50"/>
            <p:cNvSpPr/>
            <p:nvPr/>
          </p:nvSpPr>
          <p:spPr>
            <a:xfrm>
              <a:off x="5490650" y="308034"/>
              <a:ext cx="566743" cy="34289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801" name="Google Shape;801;p50"/>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2" name="Google Shape;802;p50"/>
          <p:cNvSpPr/>
          <p:nvPr/>
        </p:nvSpPr>
        <p:spPr>
          <a:xfrm>
            <a:off x="5685810" y="391886"/>
            <a:ext cx="6009366" cy="6017078"/>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03" name="Google Shape;803;p50"/>
          <p:cNvPicPr preferRelativeResize="0"/>
          <p:nvPr/>
        </p:nvPicPr>
        <p:blipFill rotWithShape="1">
          <a:blip r:embed="rId3">
            <a:alphaModFix/>
          </a:blip>
          <a:srcRect b="0" l="0" r="0" t="0"/>
          <a:stretch/>
        </p:blipFill>
        <p:spPr>
          <a:xfrm>
            <a:off x="5922492" y="1295504"/>
            <a:ext cx="5536001" cy="420823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7" name="Shape 807"/>
        <p:cNvGrpSpPr/>
        <p:nvPr/>
      </p:nvGrpSpPr>
      <p:grpSpPr>
        <a:xfrm>
          <a:off x="0" y="0"/>
          <a:ext cx="0" cy="0"/>
          <a:chOff x="0" y="0"/>
          <a:chExt cx="0" cy="0"/>
        </a:xfrm>
      </p:grpSpPr>
      <p:pic>
        <p:nvPicPr>
          <p:cNvPr id="808" name="Google Shape;808;p51"/>
          <p:cNvPicPr preferRelativeResize="0"/>
          <p:nvPr/>
        </p:nvPicPr>
        <p:blipFill rotWithShape="1">
          <a:blip r:embed="rId3">
            <a:alphaModFix/>
          </a:blip>
          <a:srcRect b="0" l="0" r="0" t="0"/>
          <a:stretch/>
        </p:blipFill>
        <p:spPr>
          <a:xfrm>
            <a:off x="20" y="10"/>
            <a:ext cx="12191980" cy="6857990"/>
          </a:xfrm>
          <a:prstGeom prst="rect">
            <a:avLst/>
          </a:prstGeom>
          <a:noFill/>
          <a:ln>
            <a:noFill/>
          </a:ln>
        </p:spPr>
      </p:pic>
      <p:sp>
        <p:nvSpPr>
          <p:cNvPr id="809" name="Google Shape;809;p51"/>
          <p:cNvSpPr/>
          <p:nvPr/>
        </p:nvSpPr>
        <p:spPr>
          <a:xfrm>
            <a:off x="0" y="0"/>
            <a:ext cx="12192000" cy="6858000"/>
          </a:xfrm>
          <a:prstGeom prst="rect">
            <a:avLst/>
          </a:prstGeom>
          <a:gradFill>
            <a:gsLst>
              <a:gs pos="0">
                <a:srgbClr val="E8E8E8">
                  <a:alpha val="67843"/>
                </a:srgbClr>
              </a:gs>
              <a:gs pos="10000">
                <a:srgbClr val="E8E8E8">
                  <a:alpha val="67843"/>
                </a:srgbClr>
              </a:gs>
              <a:gs pos="85000">
                <a:srgbClr val="E8E8E8">
                  <a:alpha val="96862"/>
                </a:srgbClr>
              </a:gs>
              <a:gs pos="100000">
                <a:srgbClr val="E8E8E8">
                  <a:alpha val="9686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810" name="Google Shape;810;p51"/>
          <p:cNvSpPr txBox="1"/>
          <p:nvPr>
            <p:ph type="title"/>
          </p:nvPr>
        </p:nvSpPr>
        <p:spPr>
          <a:xfrm>
            <a:off x="838200" y="365125"/>
            <a:ext cx="10515600" cy="1325563"/>
          </a:xfrm>
          <a:prstGeom prst="rect">
            <a:avLst/>
          </a:prstGeom>
          <a:noFill/>
          <a:ln>
            <a:noFill/>
          </a:ln>
        </p:spPr>
        <p:txBody>
          <a:bodyPr anchorCtr="0" anchor="ctr" bIns="0" lIns="0" spcFirstLastPara="1" rIns="0" wrap="square" tIns="13325">
            <a:normAutofit/>
          </a:bodyPr>
          <a:lstStyle/>
          <a:p>
            <a:pPr indent="0" lvl="0" marL="1904364" rtl="0" algn="l">
              <a:lnSpc>
                <a:spcPct val="90000"/>
              </a:lnSpc>
              <a:spcBef>
                <a:spcPts val="0"/>
              </a:spcBef>
              <a:spcAft>
                <a:spcPts val="0"/>
              </a:spcAft>
              <a:buClr>
                <a:schemeClr val="dk1"/>
              </a:buClr>
              <a:buSzPts val="4400"/>
              <a:buFont typeface="Play"/>
              <a:buNone/>
            </a:pPr>
            <a:r>
              <a:rPr lang="en-US"/>
              <a:t>How Many Maps?</a:t>
            </a:r>
            <a:endParaRPr/>
          </a:p>
        </p:txBody>
      </p:sp>
      <p:grpSp>
        <p:nvGrpSpPr>
          <p:cNvPr id="811" name="Google Shape;811;p51"/>
          <p:cNvGrpSpPr/>
          <p:nvPr/>
        </p:nvGrpSpPr>
        <p:grpSpPr>
          <a:xfrm>
            <a:off x="840538" y="1826803"/>
            <a:ext cx="10510923" cy="4348981"/>
            <a:chOff x="2338" y="1178"/>
            <a:chExt cx="10510923" cy="4348981"/>
          </a:xfrm>
        </p:grpSpPr>
        <p:sp>
          <p:nvSpPr>
            <p:cNvPr id="812" name="Google Shape;812;p51"/>
            <p:cNvSpPr/>
            <p:nvPr/>
          </p:nvSpPr>
          <p:spPr>
            <a:xfrm rot="-5400000">
              <a:off x="2338" y="1178"/>
              <a:ext cx="4348981" cy="4348981"/>
            </a:xfrm>
            <a:prstGeom prst="downArrow">
              <a:avLst>
                <a:gd fmla="val 50000" name="adj1"/>
                <a:gd fmla="val 35000" name="adj2"/>
              </a:avLst>
            </a:prstGeom>
            <a:gradFill>
              <a:gsLst>
                <a:gs pos="0">
                  <a:srgbClr val="487390"/>
                </a:gs>
                <a:gs pos="50000">
                  <a:srgbClr val="0B6287"/>
                </a:gs>
                <a:gs pos="100000">
                  <a:srgbClr val="04587C"/>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51"/>
            <p:cNvSpPr txBox="1"/>
            <p:nvPr/>
          </p:nvSpPr>
          <p:spPr>
            <a:xfrm>
              <a:off x="2338" y="1088423"/>
              <a:ext cx="3587909" cy="2174491"/>
            </a:xfrm>
            <a:prstGeom prst="rect">
              <a:avLst/>
            </a:prstGeom>
            <a:noFill/>
            <a:ln>
              <a:noFill/>
            </a:ln>
          </p:spPr>
          <p:txBody>
            <a:bodyPr anchorCtr="0" anchor="ctr" bIns="113775" lIns="113775" spcFirstLastPara="1" rIns="113775" wrap="square" tIns="113775">
              <a:noAutofit/>
            </a:bodyPr>
            <a:lstStyle/>
            <a:p>
              <a:pPr indent="0" lvl="0" marL="0" marR="0" rtl="0" algn="ctr">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The number of maps is driven by the total size of the inputs</a:t>
              </a:r>
              <a:endParaRPr/>
            </a:p>
          </p:txBody>
        </p:sp>
        <p:sp>
          <p:nvSpPr>
            <p:cNvPr id="814" name="Google Shape;814;p51"/>
            <p:cNvSpPr/>
            <p:nvPr/>
          </p:nvSpPr>
          <p:spPr>
            <a:xfrm rot="5400000">
              <a:off x="6164280" y="1178"/>
              <a:ext cx="4348981" cy="4348981"/>
            </a:xfrm>
            <a:prstGeom prst="downArrow">
              <a:avLst>
                <a:gd fmla="val 50000" name="adj1"/>
                <a:gd fmla="val 35000" name="adj2"/>
              </a:avLst>
            </a:prstGeom>
            <a:gradFill>
              <a:gsLst>
                <a:gs pos="0">
                  <a:srgbClr val="487390"/>
                </a:gs>
                <a:gs pos="50000">
                  <a:srgbClr val="0B6287"/>
                </a:gs>
                <a:gs pos="100000">
                  <a:srgbClr val="04587C"/>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1"/>
            <p:cNvSpPr txBox="1"/>
            <p:nvPr/>
          </p:nvSpPr>
          <p:spPr>
            <a:xfrm>
              <a:off x="6925352" y="1088423"/>
              <a:ext cx="3587909" cy="2174491"/>
            </a:xfrm>
            <a:prstGeom prst="rect">
              <a:avLst/>
            </a:prstGeom>
            <a:noFill/>
            <a:ln>
              <a:noFill/>
            </a:ln>
          </p:spPr>
          <p:txBody>
            <a:bodyPr anchorCtr="0" anchor="t" bIns="113775" lIns="113775" spcFirstLastPara="1" rIns="113775" wrap="square" tIns="113775">
              <a:noAutofit/>
            </a:bodyPr>
            <a:lstStyle/>
            <a:p>
              <a:pPr indent="0" lvl="0" marL="0" marR="0" rtl="0" algn="l">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Hadoop has found the right level of parallelism for maps is between 10-</a:t>
              </a:r>
              <a:endParaRPr/>
            </a:p>
            <a:p>
              <a:pPr indent="-114300" lvl="1" marL="114300" marR="0" rtl="0" algn="l">
                <a:lnSpc>
                  <a:spcPct val="90000"/>
                </a:lnSpc>
                <a:spcBef>
                  <a:spcPts val="560"/>
                </a:spcBef>
                <a:spcAft>
                  <a:spcPts val="0"/>
                </a:spcAft>
                <a:buClr>
                  <a:schemeClr val="lt1"/>
                </a:buClr>
                <a:buSzPts val="1200"/>
                <a:buFont typeface="Arial"/>
                <a:buChar char="•"/>
              </a:pPr>
              <a:r>
                <a:rPr b="0" i="0" lang="en-US" sz="1200" u="none" cap="none" strike="noStrike">
                  <a:solidFill>
                    <a:schemeClr val="lt1"/>
                  </a:solidFill>
                  <a:latin typeface="Arial"/>
                  <a:ea typeface="Arial"/>
                  <a:cs typeface="Arial"/>
                  <a:sym typeface="Arial"/>
                </a:rPr>
                <a:t>100 maps/node</a:t>
              </a:r>
              <a:endParaRPr/>
            </a:p>
            <a:p>
              <a:pPr indent="-114300" lvl="1" marL="114300" marR="0" rtl="0" algn="l">
                <a:lnSpc>
                  <a:spcPct val="90000"/>
                </a:lnSpc>
                <a:spcBef>
                  <a:spcPts val="180"/>
                </a:spcBef>
                <a:spcAft>
                  <a:spcPts val="0"/>
                </a:spcAft>
                <a:buClr>
                  <a:schemeClr val="lt1"/>
                </a:buClr>
                <a:buSzPts val="1200"/>
                <a:buFont typeface="Arial"/>
                <a:buChar char="•"/>
              </a:pPr>
              <a:r>
                <a:rPr b="0" i="0" lang="en-US" sz="1200" u="none" cap="none" strike="noStrike">
                  <a:solidFill>
                    <a:schemeClr val="lt1"/>
                  </a:solidFill>
                  <a:latin typeface="Arial"/>
                  <a:ea typeface="Arial"/>
                  <a:cs typeface="Arial"/>
                  <a:sym typeface="Arial"/>
                </a:rPr>
                <a:t>∗ If you expect 10TB of input data and have a block size of 128MB, you will have 82,000 maps</a:t>
              </a:r>
              <a:endParaRPr/>
            </a:p>
            <a:p>
              <a:pPr indent="-114300" lvl="1" marL="114300" marR="0" rtl="0" algn="l">
                <a:lnSpc>
                  <a:spcPct val="90000"/>
                </a:lnSpc>
                <a:spcBef>
                  <a:spcPts val="180"/>
                </a:spcBef>
                <a:spcAft>
                  <a:spcPts val="0"/>
                </a:spcAft>
                <a:buClr>
                  <a:schemeClr val="lt1"/>
                </a:buClr>
                <a:buSzPts val="1200"/>
                <a:buFont typeface="Arial"/>
                <a:buChar char="•"/>
              </a:pPr>
              <a:r>
                <a:rPr b="0" i="0" lang="en-US" sz="1200" u="none" cap="none" strike="noStrike">
                  <a:solidFill>
                    <a:schemeClr val="lt1"/>
                  </a:solidFill>
                  <a:latin typeface="Arial"/>
                  <a:ea typeface="Arial"/>
                  <a:cs typeface="Arial"/>
                  <a:sym typeface="Arial"/>
                </a:rPr>
                <a:t>∗ Number of tasks controlled by number of splits returned and can be user overridden</a:t>
              </a:r>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9" name="Shape 819"/>
        <p:cNvGrpSpPr/>
        <p:nvPr/>
      </p:nvGrpSpPr>
      <p:grpSpPr>
        <a:xfrm>
          <a:off x="0" y="0"/>
          <a:ext cx="0" cy="0"/>
          <a:chOff x="0" y="0"/>
          <a:chExt cx="0" cy="0"/>
        </a:xfrm>
      </p:grpSpPr>
      <p:sp>
        <p:nvSpPr>
          <p:cNvPr descr="$PPTXTitle" id="820" name="Google Shape;820;p52"/>
          <p:cNvSpPr txBox="1"/>
          <p:nvPr>
            <p:ph type="title"/>
          </p:nvPr>
        </p:nvSpPr>
        <p:spPr>
          <a:xfrm>
            <a:off x="762001" y="5074024"/>
            <a:ext cx="10109199" cy="598032"/>
          </a:xfrm>
          <a:prstGeom prst="rect">
            <a:avLst/>
          </a:prstGeom>
          <a:noFill/>
          <a:ln>
            <a:noFill/>
          </a:ln>
        </p:spPr>
        <p:txBody>
          <a:bodyPr anchorCtr="0" anchor="ctr" bIns="45700" lIns="91425" spcFirstLastPara="1" rIns="91425" wrap="square" tIns="45700">
            <a:normAutofit/>
          </a:bodyPr>
          <a:lstStyle/>
          <a:p>
            <a:pPr indent="0" lvl="0" marL="2282190" rtl="0" algn="l">
              <a:lnSpc>
                <a:spcPct val="90000"/>
              </a:lnSpc>
              <a:spcBef>
                <a:spcPts val="0"/>
              </a:spcBef>
              <a:spcAft>
                <a:spcPts val="0"/>
              </a:spcAft>
              <a:buClr>
                <a:schemeClr val="dk1"/>
              </a:buClr>
              <a:buSzPts val="3600"/>
              <a:buFont typeface="Play"/>
              <a:buNone/>
            </a:pPr>
            <a:r>
              <a:rPr lang="en-US" sz="3600">
                <a:solidFill>
                  <a:schemeClr val="dk1"/>
                </a:solidFill>
                <a:latin typeface="Play"/>
                <a:ea typeface="Play"/>
                <a:cs typeface="Play"/>
                <a:sym typeface="Play"/>
              </a:rPr>
              <a:t>Combine Class</a:t>
            </a:r>
            <a:endParaRPr/>
          </a:p>
        </p:txBody>
      </p:sp>
      <p:sp>
        <p:nvSpPr>
          <p:cNvPr id="821" name="Google Shape;821;p52"/>
          <p:cNvSpPr txBox="1"/>
          <p:nvPr/>
        </p:nvSpPr>
        <p:spPr>
          <a:xfrm>
            <a:off x="762001" y="5672059"/>
            <a:ext cx="10109199" cy="547765"/>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lnSpc>
                <a:spcPct val="90000"/>
              </a:lnSpc>
              <a:spcBef>
                <a:spcPts val="0"/>
              </a:spcBef>
              <a:spcAft>
                <a:spcPts val="0"/>
              </a:spcAft>
              <a:buNone/>
            </a:pPr>
            <a:r>
              <a:rPr lang="en-US" sz="500">
                <a:solidFill>
                  <a:schemeClr val="dk1"/>
                </a:solidFill>
                <a:latin typeface="Arial"/>
                <a:ea typeface="Arial"/>
                <a:cs typeface="Arial"/>
                <a:sym typeface="Arial"/>
              </a:rPr>
              <a:t>∗ First Map:</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&lt; moon, 1 &gt;</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&lt; world, 1 &gt;</a:t>
            </a:r>
            <a:endParaRPr sz="500">
              <a:solidFill>
                <a:schemeClr val="dk1"/>
              </a:solidFill>
              <a:latin typeface="Arial"/>
              <a:ea typeface="Arial"/>
              <a:cs typeface="Arial"/>
              <a:sym typeface="Arial"/>
            </a:endParaRPr>
          </a:p>
          <a:p>
            <a:pPr indent="0" lvl="0" marL="0" marR="0" rtl="0" algn="l">
              <a:lnSpc>
                <a:spcPct val="90000"/>
              </a:lnSpc>
              <a:spcBef>
                <a:spcPts val="1000"/>
              </a:spcBef>
              <a:spcAft>
                <a:spcPts val="0"/>
              </a:spcAft>
              <a:buNone/>
            </a:pPr>
            <a:r>
              <a:rPr lang="en-US" sz="500">
                <a:solidFill>
                  <a:schemeClr val="dk1"/>
                </a:solidFill>
                <a:latin typeface="Arial"/>
                <a:ea typeface="Arial"/>
                <a:cs typeface="Arial"/>
                <a:sym typeface="Arial"/>
              </a:rPr>
              <a:t>&lt; hello, 2 &gt;</a:t>
            </a:r>
            <a:endParaRPr sz="500">
              <a:solidFill>
                <a:schemeClr val="dk1"/>
              </a:solidFill>
              <a:latin typeface="Arial"/>
              <a:ea typeface="Arial"/>
              <a:cs typeface="Arial"/>
              <a:sym typeface="Arial"/>
            </a:endParaRPr>
          </a:p>
        </p:txBody>
      </p:sp>
      <p:pic>
        <p:nvPicPr>
          <p:cNvPr descr="World map with flight paths" id="822" name="Google Shape;822;p52"/>
          <p:cNvPicPr preferRelativeResize="0"/>
          <p:nvPr/>
        </p:nvPicPr>
        <p:blipFill rotWithShape="1">
          <a:blip r:embed="rId3">
            <a:alphaModFix/>
          </a:blip>
          <a:srcRect b="0" l="13053" r="20499" t="0"/>
          <a:stretch/>
        </p:blipFill>
        <p:spPr>
          <a:xfrm>
            <a:off x="20" y="3"/>
            <a:ext cx="4062634" cy="4172786"/>
          </a:xfrm>
          <a:prstGeom prst="rect">
            <a:avLst/>
          </a:prstGeom>
          <a:noFill/>
          <a:ln>
            <a:noFill/>
          </a:ln>
        </p:spPr>
      </p:pic>
      <p:cxnSp>
        <p:nvCxnSpPr>
          <p:cNvPr id="823" name="Google Shape;823;p52"/>
          <p:cNvCxnSpPr/>
          <p:nvPr/>
        </p:nvCxnSpPr>
        <p:spPr>
          <a:xfrm>
            <a:off x="865141" y="4811517"/>
            <a:ext cx="736939" cy="0"/>
          </a:xfrm>
          <a:prstGeom prst="straightConnector1">
            <a:avLst/>
          </a:prstGeom>
          <a:noFill/>
          <a:ln cap="flat" cmpd="sng" w="57150">
            <a:solidFill>
              <a:schemeClr val="accent4"/>
            </a:solidFill>
            <a:prstDash val="solid"/>
            <a:miter lim="800000"/>
            <a:headEnd len="sm" w="sm" type="none"/>
            <a:tailEnd len="sm" w="sm" type="none"/>
          </a:ln>
        </p:spPr>
      </p:cxnSp>
      <p:sp>
        <p:nvSpPr>
          <p:cNvPr id="824" name="Google Shape;824;p52"/>
          <p:cNvSpPr txBox="1"/>
          <p:nvPr/>
        </p:nvSpPr>
        <p:spPr>
          <a:xfrm>
            <a:off x="4323793" y="514749"/>
            <a:ext cx="7611109" cy="1342390"/>
          </a:xfrm>
          <a:prstGeom prst="rect">
            <a:avLst/>
          </a:prstGeom>
          <a:noFill/>
          <a:ln>
            <a:noFill/>
          </a:ln>
        </p:spPr>
        <p:txBody>
          <a:bodyPr anchorCtr="0" anchor="t" bIns="0" lIns="0" spcFirstLastPara="1" rIns="0" wrap="square" tIns="85075">
            <a:spAutoFit/>
          </a:bodyPr>
          <a:lstStyle/>
          <a:p>
            <a:pPr indent="0" lvl="0" marL="12700" marR="0" rtl="0" algn="l">
              <a:spcBef>
                <a:spcPts val="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Specifies how to combine the maps for local aggregation</a:t>
            </a:r>
            <a:endParaRPr sz="2400">
              <a:solidFill>
                <a:schemeClr val="dk1"/>
              </a:solidFill>
              <a:latin typeface="Arial"/>
              <a:ea typeface="Arial"/>
              <a:cs typeface="Arial"/>
              <a:sym typeface="Arial"/>
            </a:endParaRPr>
          </a:p>
          <a:p>
            <a:pPr indent="0" lvl="0" marL="12700" marR="0" rtl="0" algn="l">
              <a:spcBef>
                <a:spcPts val="58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In this example, it is the same as the Reduce class</a:t>
            </a:r>
            <a:endParaRPr sz="2400">
              <a:solidFill>
                <a:schemeClr val="dk1"/>
              </a:solidFill>
              <a:latin typeface="Arial"/>
              <a:ea typeface="Arial"/>
              <a:cs typeface="Arial"/>
              <a:sym typeface="Arial"/>
            </a:endParaRPr>
          </a:p>
          <a:p>
            <a:pPr indent="0" lvl="0" marL="12700" marR="0" rtl="0" algn="l">
              <a:spcBef>
                <a:spcPts val="575"/>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Output after running combiner:</a:t>
            </a:r>
            <a:endParaRPr sz="2400">
              <a:solidFill>
                <a:schemeClr val="dk1"/>
              </a:solidFill>
              <a:latin typeface="Arial"/>
              <a:ea typeface="Arial"/>
              <a:cs typeface="Arial"/>
              <a:sym typeface="Arial"/>
            </a:endParaRPr>
          </a:p>
        </p:txBody>
      </p:sp>
      <p:sp>
        <p:nvSpPr>
          <p:cNvPr id="825" name="Google Shape;825;p52"/>
          <p:cNvSpPr txBox="1"/>
          <p:nvPr/>
        </p:nvSpPr>
        <p:spPr>
          <a:xfrm>
            <a:off x="5988276" y="2466507"/>
            <a:ext cx="3536724" cy="1858842"/>
          </a:xfrm>
          <a:prstGeom prst="rect">
            <a:avLst/>
          </a:prstGeom>
          <a:noFill/>
          <a:ln>
            <a:noFill/>
          </a:ln>
        </p:spPr>
        <p:txBody>
          <a:bodyPr anchorCtr="0" anchor="t" bIns="0" lIns="0" spcFirstLastPara="1" rIns="0" wrap="square" tIns="12050">
            <a:spAutoFit/>
          </a:bodyPr>
          <a:lstStyle/>
          <a:p>
            <a:pPr indent="0" lvl="0" marL="12700" marR="0" rtl="0" algn="l">
              <a:spcBef>
                <a:spcPts val="0"/>
              </a:spcBef>
              <a:spcAft>
                <a:spcPts val="0"/>
              </a:spcAft>
              <a:buNone/>
            </a:pPr>
            <a:r>
              <a:rPr lang="en-US" sz="2400">
                <a:solidFill>
                  <a:srgbClr val="30B6FC"/>
                </a:solidFill>
                <a:latin typeface="Arimo"/>
                <a:ea typeface="Arimo"/>
                <a:cs typeface="Arimo"/>
                <a:sym typeface="Arimo"/>
              </a:rPr>
              <a:t>∗ </a:t>
            </a:r>
            <a:r>
              <a:rPr lang="en-US" sz="2400">
                <a:solidFill>
                  <a:srgbClr val="063D86"/>
                </a:solidFill>
                <a:latin typeface="Arial"/>
                <a:ea typeface="Arial"/>
                <a:cs typeface="Arial"/>
                <a:sym typeface="Arial"/>
              </a:rPr>
              <a:t>Second Map:</a:t>
            </a:r>
            <a:endParaRPr sz="2400">
              <a:solidFill>
                <a:schemeClr val="dk1"/>
              </a:solidFill>
              <a:latin typeface="Arial"/>
              <a:ea typeface="Arial"/>
              <a:cs typeface="Arial"/>
              <a:sym typeface="Arial"/>
            </a:endParaRPr>
          </a:p>
          <a:p>
            <a:pPr indent="0" lvl="0" marL="287020" marR="0" rtl="0" algn="l">
              <a:spcBef>
                <a:spcPts val="0"/>
              </a:spcBef>
              <a:spcAft>
                <a:spcPts val="0"/>
              </a:spcAft>
              <a:buNone/>
            </a:pPr>
            <a:r>
              <a:rPr lang="en-US" sz="2400">
                <a:solidFill>
                  <a:srgbClr val="063D86"/>
                </a:solidFill>
                <a:latin typeface="Arial"/>
                <a:ea typeface="Arial"/>
                <a:cs typeface="Arial"/>
                <a:sym typeface="Arial"/>
              </a:rPr>
              <a:t>&lt; goodbye, 1 &gt;</a:t>
            </a:r>
            <a:endParaRPr sz="2400">
              <a:solidFill>
                <a:schemeClr val="dk1"/>
              </a:solidFill>
              <a:latin typeface="Arial"/>
              <a:ea typeface="Arial"/>
              <a:cs typeface="Arial"/>
              <a:sym typeface="Arial"/>
            </a:endParaRPr>
          </a:p>
          <a:p>
            <a:pPr indent="0" lvl="0" marL="287020" marR="0" rtl="0" algn="l">
              <a:spcBef>
                <a:spcPts val="0"/>
              </a:spcBef>
              <a:spcAft>
                <a:spcPts val="0"/>
              </a:spcAft>
              <a:buNone/>
            </a:pPr>
            <a:r>
              <a:rPr lang="en-US" sz="2400">
                <a:solidFill>
                  <a:srgbClr val="063D86"/>
                </a:solidFill>
                <a:latin typeface="Arial"/>
                <a:ea typeface="Arial"/>
                <a:cs typeface="Arial"/>
                <a:sym typeface="Arial"/>
              </a:rPr>
              <a:t>&lt; world, 1 &gt;</a:t>
            </a:r>
            <a:endParaRPr sz="2400">
              <a:solidFill>
                <a:schemeClr val="dk1"/>
              </a:solidFill>
              <a:latin typeface="Arial"/>
              <a:ea typeface="Arial"/>
              <a:cs typeface="Arial"/>
              <a:sym typeface="Arial"/>
            </a:endParaRPr>
          </a:p>
          <a:p>
            <a:pPr indent="0" lvl="0" marL="287020" marR="0" rtl="0" algn="l">
              <a:spcBef>
                <a:spcPts val="0"/>
              </a:spcBef>
              <a:spcAft>
                <a:spcPts val="0"/>
              </a:spcAft>
              <a:buNone/>
            </a:pPr>
            <a:r>
              <a:rPr lang="en-US" sz="2400">
                <a:solidFill>
                  <a:srgbClr val="063D86"/>
                </a:solidFill>
                <a:latin typeface="Arial"/>
                <a:ea typeface="Arial"/>
                <a:cs typeface="Arial"/>
                <a:sym typeface="Arial"/>
              </a:rPr>
              <a:t>&lt; goodnight, 1 &gt;</a:t>
            </a:r>
            <a:endParaRPr sz="2400">
              <a:solidFill>
                <a:schemeClr val="dk1"/>
              </a:solidFill>
              <a:latin typeface="Arial"/>
              <a:ea typeface="Arial"/>
              <a:cs typeface="Arial"/>
              <a:sym typeface="Arial"/>
            </a:endParaRPr>
          </a:p>
          <a:p>
            <a:pPr indent="0" lvl="0" marL="287020" marR="0" rtl="0" algn="l">
              <a:spcBef>
                <a:spcPts val="0"/>
              </a:spcBef>
              <a:spcAft>
                <a:spcPts val="0"/>
              </a:spcAft>
              <a:buNone/>
            </a:pPr>
            <a:r>
              <a:rPr lang="en-US" sz="2400">
                <a:solidFill>
                  <a:srgbClr val="063D86"/>
                </a:solidFill>
                <a:latin typeface="Arial"/>
                <a:ea typeface="Arial"/>
                <a:cs typeface="Arial"/>
                <a:sym typeface="Arial"/>
              </a:rPr>
              <a:t>&lt; moon, 1 &gt;</a:t>
            </a:r>
            <a:endParaRPr sz="2400">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9" name="Shape 829"/>
        <p:cNvGrpSpPr/>
        <p:nvPr/>
      </p:nvGrpSpPr>
      <p:grpSpPr>
        <a:xfrm>
          <a:off x="0" y="0"/>
          <a:ext cx="0" cy="0"/>
          <a:chOff x="0" y="0"/>
          <a:chExt cx="0" cy="0"/>
        </a:xfrm>
      </p:grpSpPr>
      <p:sp>
        <p:nvSpPr>
          <p:cNvPr id="830" name="Google Shape;830;p53"/>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1" name="Google Shape;831;p53"/>
          <p:cNvSpPr/>
          <p:nvPr/>
        </p:nvSpPr>
        <p:spPr>
          <a:xfrm>
            <a:off x="0" y="0"/>
            <a:ext cx="2013557" cy="6858000"/>
          </a:xfrm>
          <a:prstGeom prst="rect">
            <a:avLst/>
          </a:prstGeom>
          <a:solidFill>
            <a:srgbClr val="5C3F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832" name="Google Shape;832;p53"/>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0" lIns="0" spcFirstLastPara="1" rIns="0" wrap="square" tIns="13325">
            <a:normAutofit/>
          </a:bodyPr>
          <a:lstStyle/>
          <a:p>
            <a:pPr indent="0" lvl="0" marL="614045" rtl="0" algn="ctr">
              <a:lnSpc>
                <a:spcPct val="90000"/>
              </a:lnSpc>
              <a:spcBef>
                <a:spcPts val="0"/>
              </a:spcBef>
              <a:spcAft>
                <a:spcPts val="0"/>
              </a:spcAft>
              <a:buClr>
                <a:srgbClr val="FFFFFF"/>
              </a:buClr>
              <a:buSzPts val="2200"/>
              <a:buFont typeface="Play"/>
              <a:buNone/>
            </a:pPr>
            <a:r>
              <a:rPr lang="en-US" sz="2200">
                <a:solidFill>
                  <a:srgbClr val="FFFFFF"/>
                </a:solidFill>
              </a:rPr>
              <a:t>Reduce Class for WordCount</a:t>
            </a:r>
            <a:endParaRPr/>
          </a:p>
        </p:txBody>
      </p:sp>
      <p:pic>
        <p:nvPicPr>
          <p:cNvPr id="833" name="Google Shape;833;p53"/>
          <p:cNvPicPr preferRelativeResize="0"/>
          <p:nvPr/>
        </p:nvPicPr>
        <p:blipFill rotWithShape="1">
          <a:blip r:embed="rId3">
            <a:alphaModFix/>
          </a:blip>
          <a:srcRect b="0" l="0" r="0" t="0"/>
          <a:stretch/>
        </p:blipFill>
        <p:spPr>
          <a:xfrm>
            <a:off x="4038600" y="1288735"/>
            <a:ext cx="7188199" cy="427714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descr="$PPTXTitle" id="838" name="Google Shape;838;p54"/>
          <p:cNvSpPr txBox="1"/>
          <p:nvPr>
            <p:ph type="title"/>
          </p:nvPr>
        </p:nvSpPr>
        <p:spPr>
          <a:xfrm>
            <a:off x="838200" y="365125"/>
            <a:ext cx="10515600" cy="1325563"/>
          </a:xfrm>
          <a:prstGeom prst="rect">
            <a:avLst/>
          </a:prstGeom>
          <a:noFill/>
          <a:ln>
            <a:noFill/>
          </a:ln>
        </p:spPr>
        <p:txBody>
          <a:bodyPr anchorCtr="0" anchor="ctr" bIns="0" lIns="0" spcFirstLastPara="1" rIns="0" wrap="square" tIns="13325">
            <a:spAutoFit/>
          </a:bodyPr>
          <a:lstStyle/>
          <a:p>
            <a:pPr indent="0" lvl="0" marL="2996565" rtl="0" algn="l">
              <a:lnSpc>
                <a:spcPct val="100000"/>
              </a:lnSpc>
              <a:spcBef>
                <a:spcPts val="0"/>
              </a:spcBef>
              <a:spcAft>
                <a:spcPts val="0"/>
              </a:spcAft>
              <a:buClr>
                <a:schemeClr val="dk1"/>
              </a:buClr>
              <a:buSzPts val="4400"/>
              <a:buFont typeface="Play"/>
              <a:buNone/>
            </a:pPr>
            <a:r>
              <a:rPr lang="en-US"/>
              <a:t>Reducer</a:t>
            </a:r>
            <a:endParaRPr/>
          </a:p>
        </p:txBody>
      </p:sp>
      <p:grpSp>
        <p:nvGrpSpPr>
          <p:cNvPr id="839" name="Google Shape;839;p54"/>
          <p:cNvGrpSpPr/>
          <p:nvPr/>
        </p:nvGrpSpPr>
        <p:grpSpPr>
          <a:xfrm>
            <a:off x="2721640" y="1986180"/>
            <a:ext cx="6443918" cy="4132198"/>
            <a:chOff x="1731040" y="4980"/>
            <a:chExt cx="6443918" cy="4132198"/>
          </a:xfrm>
        </p:grpSpPr>
        <p:sp>
          <p:nvSpPr>
            <p:cNvPr id="840" name="Google Shape;840;p54"/>
            <p:cNvSpPr/>
            <p:nvPr/>
          </p:nvSpPr>
          <p:spPr>
            <a:xfrm>
              <a:off x="4618890" y="826155"/>
              <a:ext cx="634019"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4"/>
            <p:cNvSpPr txBox="1"/>
            <p:nvPr/>
          </p:nvSpPr>
          <p:spPr>
            <a:xfrm>
              <a:off x="4919284" y="868548"/>
              <a:ext cx="33230" cy="6652"/>
            </a:xfrm>
            <a:prstGeom prst="rect">
              <a:avLst/>
            </a:prstGeom>
            <a:noFill/>
            <a:ln>
              <a:noFill/>
            </a:ln>
          </p:spPr>
          <p:txBody>
            <a:bodyPr anchorCtr="0" anchor="ctr" bIns="0" lIns="12700" spcFirstLastPara="1" rIns="12700" wrap="square" tIns="0">
              <a:noAutofit/>
            </a:bodyPr>
            <a:lstStyle/>
            <a:p>
              <a:pPr indent="0" lvl="0" marL="0" marR="0" rtl="0" algn="ctr">
                <a:lnSpc>
                  <a:spcPct val="10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42" name="Google Shape;842;p54"/>
            <p:cNvSpPr/>
            <p:nvPr/>
          </p:nvSpPr>
          <p:spPr>
            <a:xfrm>
              <a:off x="1731040" y="4980"/>
              <a:ext cx="2889649" cy="173378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54"/>
            <p:cNvSpPr txBox="1"/>
            <p:nvPr/>
          </p:nvSpPr>
          <p:spPr>
            <a:xfrm>
              <a:off x="1731040" y="4980"/>
              <a:ext cx="2889649" cy="1733789"/>
            </a:xfrm>
            <a:prstGeom prst="rect">
              <a:avLst/>
            </a:prstGeom>
            <a:noFill/>
            <a:ln>
              <a:noFill/>
            </a:ln>
          </p:spPr>
          <p:txBody>
            <a:bodyPr anchorCtr="0" anchor="ctr" bIns="148625" lIns="141575" spcFirstLastPara="1" rIns="141575" wrap="square" tIns="148625">
              <a:noAutofit/>
            </a:bodyPr>
            <a:lstStyle/>
            <a:p>
              <a:pPr indent="0" lvl="0" marL="0" marR="0" rtl="0" algn="ctr">
                <a:lnSpc>
                  <a:spcPct val="10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Reduces a set of intermediate values which share a key to a (usually smaller) set of values</a:t>
              </a:r>
              <a:endParaRPr/>
            </a:p>
          </p:txBody>
        </p:sp>
        <p:sp>
          <p:nvSpPr>
            <p:cNvPr id="844" name="Google Shape;844;p54"/>
            <p:cNvSpPr/>
            <p:nvPr/>
          </p:nvSpPr>
          <p:spPr>
            <a:xfrm>
              <a:off x="3175865" y="1736970"/>
              <a:ext cx="3554269" cy="634019"/>
            </a:xfrm>
            <a:custGeom>
              <a:rect b="b" l="l" r="r" t="t"/>
              <a:pathLst>
                <a:path extrusionOk="0" h="120000" w="120000">
                  <a:moveTo>
                    <a:pt x="120000" y="0"/>
                  </a:moveTo>
                  <a:lnTo>
                    <a:pt x="120000" y="63236"/>
                  </a:lnTo>
                  <a:lnTo>
                    <a:pt x="0" y="63236"/>
                  </a:lnTo>
                  <a:lnTo>
                    <a:pt x="0" y="12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4"/>
            <p:cNvSpPr txBox="1"/>
            <p:nvPr/>
          </p:nvSpPr>
          <p:spPr>
            <a:xfrm>
              <a:off x="4862603" y="2050653"/>
              <a:ext cx="180793" cy="6652"/>
            </a:xfrm>
            <a:prstGeom prst="rect">
              <a:avLst/>
            </a:prstGeom>
            <a:noFill/>
            <a:ln>
              <a:noFill/>
            </a:ln>
          </p:spPr>
          <p:txBody>
            <a:bodyPr anchorCtr="0" anchor="ctr" bIns="0" lIns="12700" spcFirstLastPara="1" rIns="12700" wrap="square" tIns="0">
              <a:noAutofit/>
            </a:bodyPr>
            <a:lstStyle/>
            <a:p>
              <a:pPr indent="0" lvl="0" marL="0" marR="0" rtl="0" algn="ctr">
                <a:lnSpc>
                  <a:spcPct val="10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46" name="Google Shape;846;p54"/>
            <p:cNvSpPr/>
            <p:nvPr/>
          </p:nvSpPr>
          <p:spPr>
            <a:xfrm>
              <a:off x="5285309" y="4980"/>
              <a:ext cx="2889649" cy="173378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54"/>
            <p:cNvSpPr txBox="1"/>
            <p:nvPr/>
          </p:nvSpPr>
          <p:spPr>
            <a:xfrm>
              <a:off x="5285309" y="4980"/>
              <a:ext cx="2889649" cy="1733789"/>
            </a:xfrm>
            <a:prstGeom prst="rect">
              <a:avLst/>
            </a:prstGeom>
            <a:noFill/>
            <a:ln>
              <a:noFill/>
            </a:ln>
          </p:spPr>
          <p:txBody>
            <a:bodyPr anchorCtr="0" anchor="ctr" bIns="148625" lIns="141575" spcFirstLastPara="1" rIns="141575" wrap="square" tIns="148625">
              <a:noAutofit/>
            </a:bodyPr>
            <a:lstStyle/>
            <a:p>
              <a:pPr indent="0" lvl="0" marL="0" marR="0" rtl="0" algn="ctr">
                <a:lnSpc>
                  <a:spcPct val="10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Sorts and partitions Mapper outputs</a:t>
              </a:r>
              <a:endParaRPr/>
            </a:p>
          </p:txBody>
        </p:sp>
        <p:sp>
          <p:nvSpPr>
            <p:cNvPr id="848" name="Google Shape;848;p54"/>
            <p:cNvSpPr/>
            <p:nvPr/>
          </p:nvSpPr>
          <p:spPr>
            <a:xfrm>
              <a:off x="4618890" y="3224564"/>
              <a:ext cx="634019" cy="91440"/>
            </a:xfrm>
            <a:custGeom>
              <a:rect b="b" l="l" r="r" t="t"/>
              <a:pathLst>
                <a:path extrusionOk="0" h="120000" w="120000">
                  <a:moveTo>
                    <a:pt x="0" y="60000"/>
                  </a:moveTo>
                  <a:lnTo>
                    <a:pt x="120000" y="60000"/>
                  </a:lnTo>
                </a:path>
              </a:pathLst>
            </a:custGeom>
            <a:noFill/>
            <a:ln cap="flat" cmpd="sng" w="12700">
              <a:solidFill>
                <a:srgbClr val="12608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54"/>
            <p:cNvSpPr txBox="1"/>
            <p:nvPr/>
          </p:nvSpPr>
          <p:spPr>
            <a:xfrm>
              <a:off x="4919284" y="3266958"/>
              <a:ext cx="33230" cy="6652"/>
            </a:xfrm>
            <a:prstGeom prst="rect">
              <a:avLst/>
            </a:prstGeom>
            <a:noFill/>
            <a:ln>
              <a:noFill/>
            </a:ln>
          </p:spPr>
          <p:txBody>
            <a:bodyPr anchorCtr="0" anchor="ctr" bIns="0" lIns="12700" spcFirstLastPara="1" rIns="12700" wrap="square" tIns="0">
              <a:noAutofit/>
            </a:bodyPr>
            <a:lstStyle/>
            <a:p>
              <a:pPr indent="0" lvl="0" marL="0" marR="0" rtl="0" algn="ctr">
                <a:lnSpc>
                  <a:spcPct val="10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850" name="Google Shape;850;p54"/>
            <p:cNvSpPr/>
            <p:nvPr/>
          </p:nvSpPr>
          <p:spPr>
            <a:xfrm>
              <a:off x="1731040" y="2403389"/>
              <a:ext cx="2889649" cy="173378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54"/>
            <p:cNvSpPr txBox="1"/>
            <p:nvPr/>
          </p:nvSpPr>
          <p:spPr>
            <a:xfrm>
              <a:off x="1731040" y="2403389"/>
              <a:ext cx="2889649" cy="1733789"/>
            </a:xfrm>
            <a:prstGeom prst="rect">
              <a:avLst/>
            </a:prstGeom>
            <a:noFill/>
            <a:ln>
              <a:noFill/>
            </a:ln>
          </p:spPr>
          <p:txBody>
            <a:bodyPr anchorCtr="0" anchor="ctr" bIns="148625" lIns="141575" spcFirstLastPara="1" rIns="141575" wrap="square" tIns="148625">
              <a:noAutofit/>
            </a:bodyPr>
            <a:lstStyle/>
            <a:p>
              <a:pPr indent="0" lvl="0" marL="0" marR="0" rtl="0" algn="ctr">
                <a:lnSpc>
                  <a:spcPct val="10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Number of reduces for the job set by user via Job.setNumReduceTasks(int)</a:t>
              </a:r>
              <a:endParaRPr/>
            </a:p>
          </p:txBody>
        </p:sp>
        <p:sp>
          <p:nvSpPr>
            <p:cNvPr id="852" name="Google Shape;852;p54"/>
            <p:cNvSpPr/>
            <p:nvPr/>
          </p:nvSpPr>
          <p:spPr>
            <a:xfrm>
              <a:off x="5285309" y="2403389"/>
              <a:ext cx="2889649" cy="1733789"/>
            </a:xfrm>
            <a:prstGeom prst="rect">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54"/>
            <p:cNvSpPr txBox="1"/>
            <p:nvPr/>
          </p:nvSpPr>
          <p:spPr>
            <a:xfrm>
              <a:off x="5285309" y="2403389"/>
              <a:ext cx="2889649" cy="1733789"/>
            </a:xfrm>
            <a:prstGeom prst="rect">
              <a:avLst/>
            </a:prstGeom>
            <a:noFill/>
            <a:ln>
              <a:noFill/>
            </a:ln>
          </p:spPr>
          <p:txBody>
            <a:bodyPr anchorCtr="0" anchor="t" bIns="148625" lIns="141575" spcFirstLastPara="1" rIns="141575" wrap="square" tIns="148625">
              <a:noAutofit/>
            </a:bodyPr>
            <a:lstStyle/>
            <a:p>
              <a:pPr indent="0" lvl="0" marL="0" marR="0" rtl="0" algn="l">
                <a:lnSpc>
                  <a:spcPct val="10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Reduce engine</a:t>
              </a:r>
              <a:endParaRPr/>
            </a:p>
            <a:p>
              <a:pPr indent="-171450" lvl="1" marL="171450" marR="0" rtl="0" algn="l">
                <a:lnSpc>
                  <a:spcPct val="100000"/>
                </a:lnSpc>
                <a:spcBef>
                  <a:spcPts val="63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receives a Context containing job’s configuration as well as interfacing methods that</a:t>
              </a:r>
              <a:endParaRPr/>
            </a:p>
            <a:p>
              <a:pPr indent="-171450" lvl="2" marL="342900" marR="0" rtl="0" algn="l">
                <a:lnSpc>
                  <a:spcPct val="100000"/>
                </a:lnSpc>
                <a:spcBef>
                  <a:spcPts val="27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return data back to the framework</a:t>
              </a:r>
              <a:endParaRPr/>
            </a:p>
            <a:p>
              <a:pPr indent="-171450" lvl="1" marL="171450" marR="0" rtl="0" algn="l">
                <a:lnSpc>
                  <a:spcPct val="100000"/>
                </a:lnSpc>
                <a:spcBef>
                  <a:spcPts val="27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Reducer.run()</a:t>
              </a:r>
              <a:endParaRPr/>
            </a:p>
            <a:p>
              <a:pPr indent="-171450" lvl="2" marL="342900" marR="0" rtl="0" algn="l">
                <a:lnSpc>
                  <a:spcPct val="100000"/>
                </a:lnSpc>
                <a:spcBef>
                  <a:spcPts val="27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setup()</a:t>
              </a:r>
              <a:endParaRPr/>
            </a:p>
            <a:p>
              <a:pPr indent="-171450" lvl="2" marL="342900" marR="0" rtl="0" algn="l">
                <a:lnSpc>
                  <a:spcPct val="100000"/>
                </a:lnSpc>
                <a:spcBef>
                  <a:spcPts val="27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reduce() per key associated with reduce task</a:t>
              </a:r>
              <a:endParaRPr/>
            </a:p>
            <a:p>
              <a:pPr indent="-171450" lvl="2" marL="342900" marR="0" rtl="0" algn="l">
                <a:lnSpc>
                  <a:spcPct val="100000"/>
                </a:lnSpc>
                <a:spcBef>
                  <a:spcPts val="27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 cleanup()</a:t>
              </a:r>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7" name="Shape 857"/>
        <p:cNvGrpSpPr/>
        <p:nvPr/>
      </p:nvGrpSpPr>
      <p:grpSpPr>
        <a:xfrm>
          <a:off x="0" y="0"/>
          <a:ext cx="0" cy="0"/>
          <a:chOff x="0" y="0"/>
          <a:chExt cx="0" cy="0"/>
        </a:xfrm>
      </p:grpSpPr>
      <p:sp>
        <p:nvSpPr>
          <p:cNvPr id="858" name="Google Shape;858;p5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59" name="Google Shape;859;p55"/>
          <p:cNvPicPr preferRelativeResize="0"/>
          <p:nvPr/>
        </p:nvPicPr>
        <p:blipFill rotWithShape="1">
          <a:blip r:embed="rId3">
            <a:alphaModFix/>
          </a:blip>
          <a:srcRect b="-3" l="2068" r="-3" t="0"/>
          <a:stretch/>
        </p:blipFill>
        <p:spPr>
          <a:xfrm>
            <a:off x="858284" y="1165109"/>
            <a:ext cx="4261337" cy="4351338"/>
          </a:xfrm>
          <a:custGeom>
            <a:rect b="b" l="l" r="r" t="t"/>
            <a:pathLst>
              <a:path extrusionOk="0" h="5712488" w="4114800">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noFill/>
          <a:ln>
            <a:noFill/>
          </a:ln>
        </p:spPr>
      </p:pic>
      <p:sp>
        <p:nvSpPr>
          <p:cNvPr id="860" name="Google Shape;860;p55"/>
          <p:cNvSpPr/>
          <p:nvPr/>
        </p:nvSpPr>
        <p:spPr>
          <a:xfrm>
            <a:off x="8673531" y="407987"/>
            <a:ext cx="2987899" cy="2987899"/>
          </a:xfrm>
          <a:prstGeom prst="arc">
            <a:avLst>
              <a:gd fmla="val 16200000" name="adj1"/>
              <a:gd fmla="val 256372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descr="$PPTXTitle" id="861" name="Google Shape;861;p55"/>
          <p:cNvSpPr txBox="1"/>
          <p:nvPr>
            <p:ph type="title"/>
          </p:nvPr>
        </p:nvSpPr>
        <p:spPr>
          <a:xfrm>
            <a:off x="5827048" y="444272"/>
            <a:ext cx="5721484" cy="1325563"/>
          </a:xfrm>
          <a:prstGeom prst="rect">
            <a:avLst/>
          </a:prstGeom>
          <a:noFill/>
          <a:ln>
            <a:noFill/>
          </a:ln>
        </p:spPr>
        <p:txBody>
          <a:bodyPr anchorCtr="0" anchor="ctr" bIns="45700" lIns="91425" spcFirstLastPara="1" rIns="91425" wrap="square" tIns="45700">
            <a:normAutofit/>
          </a:bodyPr>
          <a:lstStyle/>
          <a:p>
            <a:pPr indent="0" lvl="0" marL="2414270" rtl="0" algn="l">
              <a:lnSpc>
                <a:spcPct val="90000"/>
              </a:lnSpc>
              <a:spcBef>
                <a:spcPts val="0"/>
              </a:spcBef>
              <a:spcAft>
                <a:spcPts val="0"/>
              </a:spcAft>
              <a:buClr>
                <a:schemeClr val="dk1"/>
              </a:buClr>
              <a:buSzPts val="4400"/>
              <a:buFont typeface="Play"/>
              <a:buNone/>
            </a:pPr>
            <a:r>
              <a:rPr lang="en-US"/>
              <a:t>Observations</a:t>
            </a:r>
            <a:endParaRPr/>
          </a:p>
        </p:txBody>
      </p:sp>
      <p:grpSp>
        <p:nvGrpSpPr>
          <p:cNvPr id="862" name="Google Shape;862;p55"/>
          <p:cNvGrpSpPr/>
          <p:nvPr/>
        </p:nvGrpSpPr>
        <p:grpSpPr>
          <a:xfrm>
            <a:off x="6543672" y="1907479"/>
            <a:ext cx="4288234" cy="4345922"/>
            <a:chOff x="716624" y="2707"/>
            <a:chExt cx="4288234" cy="4345922"/>
          </a:xfrm>
        </p:grpSpPr>
        <p:sp>
          <p:nvSpPr>
            <p:cNvPr id="863" name="Google Shape;863;p55"/>
            <p:cNvSpPr/>
            <p:nvPr/>
          </p:nvSpPr>
          <p:spPr>
            <a:xfrm>
              <a:off x="2637799" y="533879"/>
              <a:ext cx="411684" cy="91440"/>
            </a:xfrm>
            <a:custGeom>
              <a:rect b="b" l="l" r="r" t="t"/>
              <a:pathLst>
                <a:path extrusionOk="0" h="120000" w="120000">
                  <a:moveTo>
                    <a:pt x="0" y="60000"/>
                  </a:moveTo>
                  <a:lnTo>
                    <a:pt x="120000" y="60000"/>
                  </a:lnTo>
                </a:path>
              </a:pathLst>
            </a:custGeom>
            <a:noFill/>
            <a:ln cap="flat" cmpd="sng" w="12700">
              <a:solidFill>
                <a:srgbClr val="A02891"/>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5"/>
            <p:cNvSpPr txBox="1"/>
            <p:nvPr/>
          </p:nvSpPr>
          <p:spPr>
            <a:xfrm>
              <a:off x="2832584" y="577386"/>
              <a:ext cx="22114" cy="4427"/>
            </a:xfrm>
            <a:prstGeom prst="rect">
              <a:avLst/>
            </a:prstGeom>
            <a:noFill/>
            <a:ln>
              <a:noFill/>
            </a:ln>
          </p:spPr>
          <p:txBody>
            <a:bodyPr anchorCtr="0" anchor="ctr" bIns="0" lIns="12700" spcFirstLastPara="1" rIns="12700" wrap="square" tIns="0">
              <a:noAutofit/>
            </a:bodyPr>
            <a:lstStyle/>
            <a:p>
              <a:pPr indent="0" lvl="0" marL="0" marR="0" rtl="0" algn="ctr">
                <a:lnSpc>
                  <a:spcPct val="100000"/>
                </a:lnSpc>
                <a:spcBef>
                  <a:spcPts val="0"/>
                </a:spcBef>
                <a:spcAft>
                  <a:spcPts val="0"/>
                </a:spcAft>
                <a:buClr>
                  <a:schemeClr val="dk1"/>
                </a:buClr>
                <a:buSzPts val="1600"/>
                <a:buFont typeface="Arial"/>
                <a:buNone/>
              </a:pPr>
              <a:r>
                <a:t/>
              </a:r>
              <a:endParaRPr sz="1600">
                <a:solidFill>
                  <a:schemeClr val="lt1"/>
                </a:solidFill>
                <a:latin typeface="Arial"/>
                <a:ea typeface="Arial"/>
                <a:cs typeface="Arial"/>
                <a:sym typeface="Arial"/>
              </a:endParaRPr>
            </a:p>
          </p:txBody>
        </p:sp>
        <p:sp>
          <p:nvSpPr>
            <p:cNvPr id="865" name="Google Shape;865;p55"/>
            <p:cNvSpPr/>
            <p:nvPr/>
          </p:nvSpPr>
          <p:spPr>
            <a:xfrm>
              <a:off x="716624" y="2707"/>
              <a:ext cx="1922974" cy="1153784"/>
            </a:xfrm>
            <a:prstGeom prst="rect">
              <a:avLst/>
            </a:prstGeom>
            <a:solidFill>
              <a:srgbClr val="A0289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55"/>
            <p:cNvSpPr txBox="1"/>
            <p:nvPr/>
          </p:nvSpPr>
          <p:spPr>
            <a:xfrm>
              <a:off x="716624" y="2707"/>
              <a:ext cx="1922974" cy="1153784"/>
            </a:xfrm>
            <a:prstGeom prst="rect">
              <a:avLst/>
            </a:prstGeom>
            <a:noFill/>
            <a:ln>
              <a:noFill/>
            </a:ln>
          </p:spPr>
          <p:txBody>
            <a:bodyPr anchorCtr="0" anchor="ctr" bIns="98900" lIns="94225" spcFirstLastPara="1" rIns="94225" wrap="square" tIns="98900">
              <a:noAutofit/>
            </a:bodyPr>
            <a:lstStyle/>
            <a:p>
              <a:pPr indent="0" lvl="0" marL="0" marR="0" rtl="0" algn="ctr">
                <a:lnSpc>
                  <a:spcPct val="10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No </a:t>
              </a:r>
              <a:r>
                <a:rPr i="1" lang="en-US" sz="1600">
                  <a:solidFill>
                    <a:schemeClr val="lt1"/>
                  </a:solidFill>
                  <a:latin typeface="Arial"/>
                  <a:ea typeface="Arial"/>
                  <a:cs typeface="Arial"/>
                  <a:sym typeface="Arial"/>
                </a:rPr>
                <a:t>reduce </a:t>
              </a:r>
              <a:r>
                <a:rPr lang="en-US" sz="1600">
                  <a:solidFill>
                    <a:schemeClr val="lt1"/>
                  </a:solidFill>
                  <a:latin typeface="Arial"/>
                  <a:ea typeface="Arial"/>
                  <a:cs typeface="Arial"/>
                  <a:sym typeface="Arial"/>
                </a:rPr>
                <a:t>can begin until </a:t>
              </a:r>
              <a:r>
                <a:rPr i="1" lang="en-US" sz="1600">
                  <a:solidFill>
                    <a:schemeClr val="lt1"/>
                  </a:solidFill>
                  <a:latin typeface="Arial"/>
                  <a:ea typeface="Arial"/>
                  <a:cs typeface="Arial"/>
                  <a:sym typeface="Arial"/>
                </a:rPr>
                <a:t>map </a:t>
              </a:r>
              <a:r>
                <a:rPr lang="en-US" sz="1600">
                  <a:solidFill>
                    <a:schemeClr val="lt1"/>
                  </a:solidFill>
                  <a:latin typeface="Arial"/>
                  <a:ea typeface="Arial"/>
                  <a:cs typeface="Arial"/>
                  <a:sym typeface="Arial"/>
                </a:rPr>
                <a:t>is complete</a:t>
              </a:r>
              <a:endParaRPr/>
            </a:p>
          </p:txBody>
        </p:sp>
        <p:sp>
          <p:nvSpPr>
            <p:cNvPr id="867" name="Google Shape;867;p55"/>
            <p:cNvSpPr/>
            <p:nvPr/>
          </p:nvSpPr>
          <p:spPr>
            <a:xfrm>
              <a:off x="1678112" y="1154692"/>
              <a:ext cx="2365259" cy="411684"/>
            </a:xfrm>
            <a:custGeom>
              <a:rect b="b" l="l" r="r" t="t"/>
              <a:pathLst>
                <a:path extrusionOk="0" h="120000" w="120000">
                  <a:moveTo>
                    <a:pt x="120000" y="0"/>
                  </a:moveTo>
                  <a:lnTo>
                    <a:pt x="120000" y="64984"/>
                  </a:lnTo>
                  <a:lnTo>
                    <a:pt x="0" y="64984"/>
                  </a:lnTo>
                  <a:lnTo>
                    <a:pt x="0" y="120000"/>
                  </a:lnTo>
                </a:path>
              </a:pathLst>
            </a:custGeom>
            <a:noFill/>
            <a:ln cap="flat" cmpd="sng" w="12700">
              <a:solidFill>
                <a:srgbClr val="2A2CA1"/>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5"/>
            <p:cNvSpPr txBox="1"/>
            <p:nvPr/>
          </p:nvSpPr>
          <p:spPr>
            <a:xfrm>
              <a:off x="2800585" y="1358320"/>
              <a:ext cx="120312" cy="4427"/>
            </a:xfrm>
            <a:prstGeom prst="rect">
              <a:avLst/>
            </a:prstGeom>
            <a:noFill/>
            <a:ln>
              <a:noFill/>
            </a:ln>
          </p:spPr>
          <p:txBody>
            <a:bodyPr anchorCtr="0" anchor="ctr" bIns="0" lIns="12700" spcFirstLastPara="1" rIns="12700" wrap="square" tIns="0">
              <a:noAutofit/>
            </a:bodyPr>
            <a:lstStyle/>
            <a:p>
              <a:pPr indent="0" lvl="0" marL="0" marR="0" rtl="0" algn="ctr">
                <a:lnSpc>
                  <a:spcPct val="100000"/>
                </a:lnSpc>
                <a:spcBef>
                  <a:spcPts val="0"/>
                </a:spcBef>
                <a:spcAft>
                  <a:spcPts val="0"/>
                </a:spcAft>
                <a:buClr>
                  <a:schemeClr val="dk1"/>
                </a:buClr>
                <a:buSzPts val="1600"/>
                <a:buFont typeface="Arial"/>
                <a:buNone/>
              </a:pPr>
              <a:r>
                <a:t/>
              </a:r>
              <a:endParaRPr sz="1600">
                <a:solidFill>
                  <a:schemeClr val="lt1"/>
                </a:solidFill>
                <a:latin typeface="Arial"/>
                <a:ea typeface="Arial"/>
                <a:cs typeface="Arial"/>
                <a:sym typeface="Arial"/>
              </a:endParaRPr>
            </a:p>
          </p:txBody>
        </p:sp>
        <p:sp>
          <p:nvSpPr>
            <p:cNvPr id="869" name="Google Shape;869;p55"/>
            <p:cNvSpPr/>
            <p:nvPr/>
          </p:nvSpPr>
          <p:spPr>
            <a:xfrm>
              <a:off x="3081884" y="2707"/>
              <a:ext cx="1922974" cy="1153784"/>
            </a:xfrm>
            <a:prstGeom prst="rect">
              <a:avLst/>
            </a:prstGeom>
            <a:solidFill>
              <a:srgbClr val="4A2AA0"/>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55"/>
            <p:cNvSpPr txBox="1"/>
            <p:nvPr/>
          </p:nvSpPr>
          <p:spPr>
            <a:xfrm>
              <a:off x="3081884" y="2707"/>
              <a:ext cx="1922974" cy="1153784"/>
            </a:xfrm>
            <a:prstGeom prst="rect">
              <a:avLst/>
            </a:prstGeom>
            <a:noFill/>
            <a:ln>
              <a:noFill/>
            </a:ln>
          </p:spPr>
          <p:txBody>
            <a:bodyPr anchorCtr="0" anchor="t" bIns="98900" lIns="94225" spcFirstLastPara="1" rIns="94225" wrap="square" tIns="98900">
              <a:noAutofit/>
            </a:bodyPr>
            <a:lstStyle/>
            <a:p>
              <a:pPr indent="0" lvl="0" marL="0" marR="0" rtl="0" algn="l">
                <a:lnSpc>
                  <a:spcPct val="10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Specify the Job configuration</a:t>
              </a:r>
              <a:endParaRPr/>
            </a:p>
            <a:p>
              <a:pPr indent="-171450" lvl="1" marL="171450" marR="0" rtl="0" algn="l">
                <a:lnSpc>
                  <a:spcPct val="100000"/>
                </a:lnSpc>
                <a:spcBef>
                  <a:spcPts val="560"/>
                </a:spcBef>
                <a:spcAft>
                  <a:spcPts val="0"/>
                </a:spcAft>
                <a:buClr>
                  <a:schemeClr val="lt1"/>
                </a:buClr>
                <a:buSzPts val="1600"/>
                <a:buFont typeface="Arial"/>
                <a:buChar char="•"/>
              </a:pPr>
              <a:r>
                <a:rPr b="0" i="0" lang="en-US" sz="1600" u="none" cap="none" strike="noStrike">
                  <a:solidFill>
                    <a:schemeClr val="lt1"/>
                  </a:solidFill>
                  <a:latin typeface="Arial"/>
                  <a:ea typeface="Arial"/>
                  <a:cs typeface="Arial"/>
                  <a:sym typeface="Arial"/>
                </a:rPr>
                <a:t>∗	Specify input/output locations</a:t>
              </a:r>
              <a:endParaRPr/>
            </a:p>
            <a:p>
              <a:pPr indent="-171450" lvl="2" marL="342900" marR="0" rtl="0" algn="l">
                <a:lnSpc>
                  <a:spcPct val="100000"/>
                </a:lnSpc>
                <a:spcBef>
                  <a:spcPts val="240"/>
                </a:spcBef>
                <a:spcAft>
                  <a:spcPts val="0"/>
                </a:spcAft>
                <a:buClr>
                  <a:schemeClr val="lt1"/>
                </a:buClr>
                <a:buSzPts val="1600"/>
                <a:buFont typeface="Arial"/>
                <a:buChar char="•"/>
              </a:pPr>
              <a:r>
                <a:rPr b="0" i="0" lang="en-US" sz="1600" u="none" cap="none" strike="noStrike">
                  <a:solidFill>
                    <a:schemeClr val="lt1"/>
                  </a:solidFill>
                  <a:latin typeface="Arial"/>
                  <a:ea typeface="Arial"/>
                  <a:cs typeface="Arial"/>
                  <a:sym typeface="Arial"/>
                </a:rPr>
                <a:t>∗	Supply map and reduce functions via implementations of appropriate interfaces and/or abstract classes</a:t>
              </a:r>
              <a:endParaRPr/>
            </a:p>
          </p:txBody>
        </p:sp>
        <p:sp>
          <p:nvSpPr>
            <p:cNvPr id="871" name="Google Shape;871;p55"/>
            <p:cNvSpPr/>
            <p:nvPr/>
          </p:nvSpPr>
          <p:spPr>
            <a:xfrm>
              <a:off x="2637799" y="2129948"/>
              <a:ext cx="411684" cy="91440"/>
            </a:xfrm>
            <a:custGeom>
              <a:rect b="b" l="l" r="r" t="t"/>
              <a:pathLst>
                <a:path extrusionOk="0" h="120000" w="120000">
                  <a:moveTo>
                    <a:pt x="0" y="60000"/>
                  </a:moveTo>
                  <a:lnTo>
                    <a:pt x="120000" y="60000"/>
                  </a:lnTo>
                </a:path>
              </a:pathLst>
            </a:custGeom>
            <a:noFill/>
            <a:ln cap="flat" cmpd="sng" w="12700">
              <a:solidFill>
                <a:srgbClr val="2BA492"/>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55"/>
            <p:cNvSpPr txBox="1"/>
            <p:nvPr/>
          </p:nvSpPr>
          <p:spPr>
            <a:xfrm>
              <a:off x="2832584" y="2173455"/>
              <a:ext cx="22114" cy="4427"/>
            </a:xfrm>
            <a:prstGeom prst="rect">
              <a:avLst/>
            </a:prstGeom>
            <a:noFill/>
            <a:ln>
              <a:noFill/>
            </a:ln>
          </p:spPr>
          <p:txBody>
            <a:bodyPr anchorCtr="0" anchor="ctr" bIns="0" lIns="12700" spcFirstLastPara="1" rIns="12700" wrap="square" tIns="0">
              <a:noAutofit/>
            </a:bodyPr>
            <a:lstStyle/>
            <a:p>
              <a:pPr indent="0" lvl="0" marL="0" marR="0" rtl="0" algn="ctr">
                <a:lnSpc>
                  <a:spcPct val="100000"/>
                </a:lnSpc>
                <a:spcBef>
                  <a:spcPts val="0"/>
                </a:spcBef>
                <a:spcAft>
                  <a:spcPts val="0"/>
                </a:spcAft>
                <a:buClr>
                  <a:schemeClr val="dk1"/>
                </a:buClr>
                <a:buSzPts val="1600"/>
                <a:buFont typeface="Arial"/>
                <a:buNone/>
              </a:pPr>
              <a:r>
                <a:t/>
              </a:r>
              <a:endParaRPr sz="1600">
                <a:solidFill>
                  <a:schemeClr val="lt1"/>
                </a:solidFill>
                <a:latin typeface="Arial"/>
                <a:ea typeface="Arial"/>
                <a:cs typeface="Arial"/>
                <a:sym typeface="Arial"/>
              </a:endParaRPr>
            </a:p>
          </p:txBody>
        </p:sp>
        <p:sp>
          <p:nvSpPr>
            <p:cNvPr id="873" name="Google Shape;873;p55"/>
            <p:cNvSpPr/>
            <p:nvPr/>
          </p:nvSpPr>
          <p:spPr>
            <a:xfrm>
              <a:off x="716624" y="1598776"/>
              <a:ext cx="1922974" cy="1153784"/>
            </a:xfrm>
            <a:prstGeom prst="rect">
              <a:avLst/>
            </a:prstGeom>
            <a:solidFill>
              <a:srgbClr val="2B6FA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55"/>
            <p:cNvSpPr txBox="1"/>
            <p:nvPr/>
          </p:nvSpPr>
          <p:spPr>
            <a:xfrm>
              <a:off x="716624" y="1598776"/>
              <a:ext cx="1922974" cy="1153784"/>
            </a:xfrm>
            <a:prstGeom prst="rect">
              <a:avLst/>
            </a:prstGeom>
            <a:noFill/>
            <a:ln>
              <a:noFill/>
            </a:ln>
          </p:spPr>
          <p:txBody>
            <a:bodyPr anchorCtr="0" anchor="t" bIns="98900" lIns="94225" spcFirstLastPara="1" rIns="94225" wrap="square" tIns="98900">
              <a:noAutofit/>
            </a:bodyPr>
            <a:lstStyle/>
            <a:p>
              <a:pPr indent="0" lvl="0" marL="0" marR="0" rtl="0" algn="l">
                <a:lnSpc>
                  <a:spcPct val="10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If </a:t>
              </a:r>
              <a:r>
                <a:rPr i="1" lang="en-US" sz="1600">
                  <a:solidFill>
                    <a:schemeClr val="lt1"/>
                  </a:solidFill>
                  <a:latin typeface="Arial"/>
                  <a:ea typeface="Arial"/>
                  <a:cs typeface="Arial"/>
                  <a:sym typeface="Arial"/>
                </a:rPr>
                <a:t>map </a:t>
              </a:r>
              <a:r>
                <a:rPr lang="en-US" sz="1600">
                  <a:solidFill>
                    <a:schemeClr val="lt1"/>
                  </a:solidFill>
                  <a:latin typeface="Arial"/>
                  <a:ea typeface="Arial"/>
                  <a:cs typeface="Arial"/>
                  <a:sym typeface="Arial"/>
                </a:rPr>
                <a:t>worker fails any time before </a:t>
              </a:r>
              <a:r>
                <a:rPr i="1" lang="en-US" sz="1600">
                  <a:solidFill>
                    <a:schemeClr val="lt1"/>
                  </a:solidFill>
                  <a:latin typeface="Arial"/>
                  <a:ea typeface="Arial"/>
                  <a:cs typeface="Arial"/>
                  <a:sym typeface="Arial"/>
                </a:rPr>
                <a:t>reduce </a:t>
              </a:r>
              <a:r>
                <a:rPr lang="en-US" sz="1600">
                  <a:solidFill>
                    <a:schemeClr val="lt1"/>
                  </a:solidFill>
                  <a:latin typeface="Arial"/>
                  <a:ea typeface="Arial"/>
                  <a:cs typeface="Arial"/>
                  <a:sym typeface="Arial"/>
                </a:rPr>
                <a:t>finishes, task must be</a:t>
              </a:r>
              <a:endParaRPr/>
            </a:p>
            <a:p>
              <a:pPr indent="-171450" lvl="1" marL="171450" marR="0" rtl="0" algn="l">
                <a:lnSpc>
                  <a:spcPct val="100000"/>
                </a:lnSpc>
                <a:spcBef>
                  <a:spcPts val="560"/>
                </a:spcBef>
                <a:spcAft>
                  <a:spcPts val="0"/>
                </a:spcAft>
                <a:buClr>
                  <a:schemeClr val="lt1"/>
                </a:buClr>
                <a:buSzPts val="1600"/>
                <a:buFont typeface="Arial"/>
                <a:buChar char="•"/>
              </a:pPr>
              <a:r>
                <a:rPr b="0" i="0" lang="en-US" sz="1600" u="none" cap="none" strike="noStrike">
                  <a:solidFill>
                    <a:schemeClr val="lt1"/>
                  </a:solidFill>
                  <a:latin typeface="Arial"/>
                  <a:ea typeface="Arial"/>
                  <a:cs typeface="Arial"/>
                  <a:sym typeface="Arial"/>
                </a:rPr>
                <a:t>completely rerun</a:t>
              </a:r>
              <a:endParaRPr/>
            </a:p>
          </p:txBody>
        </p:sp>
        <p:sp>
          <p:nvSpPr>
            <p:cNvPr id="875" name="Google Shape;875;p55"/>
            <p:cNvSpPr/>
            <p:nvPr/>
          </p:nvSpPr>
          <p:spPr>
            <a:xfrm>
              <a:off x="1678112" y="2750761"/>
              <a:ext cx="2365259" cy="411684"/>
            </a:xfrm>
            <a:custGeom>
              <a:rect b="b" l="l" r="r" t="t"/>
              <a:pathLst>
                <a:path extrusionOk="0" h="120000" w="120000">
                  <a:moveTo>
                    <a:pt x="120000" y="0"/>
                  </a:moveTo>
                  <a:lnTo>
                    <a:pt x="120000" y="64984"/>
                  </a:lnTo>
                  <a:lnTo>
                    <a:pt x="0" y="64984"/>
                  </a:lnTo>
                  <a:lnTo>
                    <a:pt x="0" y="120000"/>
                  </a:lnTo>
                </a:path>
              </a:pathLst>
            </a:custGeom>
            <a:noFill/>
            <a:ln cap="flat" cmpd="sng" w="12700">
              <a:solidFill>
                <a:srgbClr val="4CA62C"/>
              </a:solidFill>
              <a:prstDash val="solid"/>
              <a:miter lim="800000"/>
              <a:headEnd len="sm" w="sm" type="none"/>
              <a:tailEnd len="med" w="med" type="stealth"/>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5"/>
            <p:cNvSpPr txBox="1"/>
            <p:nvPr/>
          </p:nvSpPr>
          <p:spPr>
            <a:xfrm>
              <a:off x="2800585" y="2954390"/>
              <a:ext cx="120312" cy="4427"/>
            </a:xfrm>
            <a:prstGeom prst="rect">
              <a:avLst/>
            </a:prstGeom>
            <a:noFill/>
            <a:ln>
              <a:noFill/>
            </a:ln>
          </p:spPr>
          <p:txBody>
            <a:bodyPr anchorCtr="0" anchor="ctr" bIns="0" lIns="12700" spcFirstLastPara="1" rIns="12700" wrap="square" tIns="0">
              <a:noAutofit/>
            </a:bodyPr>
            <a:lstStyle/>
            <a:p>
              <a:pPr indent="0" lvl="0" marL="0" marR="0" rtl="0" algn="ctr">
                <a:lnSpc>
                  <a:spcPct val="100000"/>
                </a:lnSpc>
                <a:spcBef>
                  <a:spcPts val="0"/>
                </a:spcBef>
                <a:spcAft>
                  <a:spcPts val="0"/>
                </a:spcAft>
                <a:buClr>
                  <a:schemeClr val="dk1"/>
                </a:buClr>
                <a:buSzPts val="1600"/>
                <a:buFont typeface="Arial"/>
                <a:buNone/>
              </a:pPr>
              <a:r>
                <a:t/>
              </a:r>
              <a:endParaRPr sz="1600">
                <a:solidFill>
                  <a:schemeClr val="lt1"/>
                </a:solidFill>
                <a:latin typeface="Arial"/>
                <a:ea typeface="Arial"/>
                <a:cs typeface="Arial"/>
                <a:sym typeface="Arial"/>
              </a:endParaRPr>
            </a:p>
          </p:txBody>
        </p:sp>
        <p:sp>
          <p:nvSpPr>
            <p:cNvPr id="877" name="Google Shape;877;p55"/>
            <p:cNvSpPr/>
            <p:nvPr/>
          </p:nvSpPr>
          <p:spPr>
            <a:xfrm>
              <a:off x="3081884" y="1598776"/>
              <a:ext cx="1922974" cy="1153784"/>
            </a:xfrm>
            <a:prstGeom prst="rect">
              <a:avLst/>
            </a:prstGeom>
            <a:solidFill>
              <a:srgbClr val="2BA47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5"/>
            <p:cNvSpPr txBox="1"/>
            <p:nvPr/>
          </p:nvSpPr>
          <p:spPr>
            <a:xfrm>
              <a:off x="3081884" y="1598776"/>
              <a:ext cx="1922974" cy="1153784"/>
            </a:xfrm>
            <a:prstGeom prst="rect">
              <a:avLst/>
            </a:prstGeom>
            <a:noFill/>
            <a:ln>
              <a:noFill/>
            </a:ln>
          </p:spPr>
          <p:txBody>
            <a:bodyPr anchorCtr="0" anchor="ctr" bIns="98900" lIns="94225" spcFirstLastPara="1" rIns="94225" wrap="square" tIns="98900">
              <a:noAutofit/>
            </a:bodyPr>
            <a:lstStyle/>
            <a:p>
              <a:pPr indent="0" lvl="0" marL="0" marR="0" rtl="0" algn="ctr">
                <a:lnSpc>
                  <a:spcPct val="10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Master must communicate locations of intermediate files</a:t>
              </a:r>
              <a:endParaRPr/>
            </a:p>
          </p:txBody>
        </p:sp>
        <p:sp>
          <p:nvSpPr>
            <p:cNvPr id="879" name="Google Shape;879;p55"/>
            <p:cNvSpPr/>
            <p:nvPr/>
          </p:nvSpPr>
          <p:spPr>
            <a:xfrm>
              <a:off x="716624" y="3194845"/>
              <a:ext cx="1922974" cy="1153784"/>
            </a:xfrm>
            <a:prstGeom prst="rect">
              <a:avLst/>
            </a:prstGeom>
            <a:solidFill>
              <a:srgbClr val="4CA62C"/>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55"/>
            <p:cNvSpPr txBox="1"/>
            <p:nvPr/>
          </p:nvSpPr>
          <p:spPr>
            <a:xfrm>
              <a:off x="716624" y="3194845"/>
              <a:ext cx="1922974" cy="1153784"/>
            </a:xfrm>
            <a:prstGeom prst="rect">
              <a:avLst/>
            </a:prstGeom>
            <a:noFill/>
            <a:ln>
              <a:noFill/>
            </a:ln>
          </p:spPr>
          <p:txBody>
            <a:bodyPr anchorCtr="0" anchor="ctr" bIns="98900" lIns="94225" spcFirstLastPara="1" rIns="94225" wrap="square" tIns="98900">
              <a:noAutofit/>
            </a:bodyPr>
            <a:lstStyle/>
            <a:p>
              <a:pPr indent="0" lvl="0" marL="0" marR="0" rtl="0" algn="ctr">
                <a:lnSpc>
                  <a:spcPct val="10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	MapReduce library does most of the hard work for us!</a:t>
              </a:r>
              <a:endParaRPr/>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4" name="Shape 884"/>
        <p:cNvGrpSpPr/>
        <p:nvPr/>
      </p:nvGrpSpPr>
      <p:grpSpPr>
        <a:xfrm>
          <a:off x="0" y="0"/>
          <a:ext cx="0" cy="0"/>
          <a:chOff x="0" y="0"/>
          <a:chExt cx="0" cy="0"/>
        </a:xfrm>
      </p:grpSpPr>
      <p:sp>
        <p:nvSpPr>
          <p:cNvPr id="885" name="Google Shape;885;p5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86" name="Google Shape;886;p56"/>
          <p:cNvPicPr preferRelativeResize="0"/>
          <p:nvPr/>
        </p:nvPicPr>
        <p:blipFill rotWithShape="1">
          <a:blip r:embed="rId3">
            <a:alphaModFix/>
          </a:blip>
          <a:srcRect b="1" l="33870" r="21327" t="0"/>
          <a:stretch/>
        </p:blipFill>
        <p:spPr>
          <a:xfrm>
            <a:off x="858284" y="1165109"/>
            <a:ext cx="4261337" cy="4351338"/>
          </a:xfrm>
          <a:custGeom>
            <a:rect b="b" l="l" r="r" t="t"/>
            <a:pathLst>
              <a:path extrusionOk="0" h="5712488" w="4114800">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a:noFill/>
          <a:ln>
            <a:noFill/>
          </a:ln>
        </p:spPr>
      </p:pic>
      <p:sp>
        <p:nvSpPr>
          <p:cNvPr id="887" name="Google Shape;887;p56"/>
          <p:cNvSpPr/>
          <p:nvPr/>
        </p:nvSpPr>
        <p:spPr>
          <a:xfrm>
            <a:off x="8673531" y="407987"/>
            <a:ext cx="2987899" cy="2987899"/>
          </a:xfrm>
          <a:prstGeom prst="arc">
            <a:avLst>
              <a:gd fmla="val 16200000" name="adj1"/>
              <a:gd fmla="val 256372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descr="$PPTXTitle" id="888" name="Google Shape;888;p56"/>
          <p:cNvSpPr txBox="1"/>
          <p:nvPr>
            <p:ph type="title"/>
          </p:nvPr>
        </p:nvSpPr>
        <p:spPr>
          <a:xfrm>
            <a:off x="4213998" y="444275"/>
            <a:ext cx="7334400" cy="1325700"/>
          </a:xfrm>
          <a:prstGeom prst="rect">
            <a:avLst/>
          </a:prstGeom>
          <a:noFill/>
          <a:ln>
            <a:noFill/>
          </a:ln>
        </p:spPr>
        <p:txBody>
          <a:bodyPr anchorCtr="0" anchor="ctr" bIns="45700" lIns="91425" spcFirstLastPara="1" rIns="91425" wrap="square" tIns="45700">
            <a:normAutofit/>
          </a:bodyPr>
          <a:lstStyle/>
          <a:p>
            <a:pPr indent="0" lvl="0" marL="2576195" rtl="0" algn="l">
              <a:lnSpc>
                <a:spcPct val="90000"/>
              </a:lnSpc>
              <a:spcBef>
                <a:spcPts val="0"/>
              </a:spcBef>
              <a:spcAft>
                <a:spcPts val="0"/>
              </a:spcAft>
              <a:buClr>
                <a:schemeClr val="dk1"/>
              </a:buClr>
              <a:buSzPts val="4400"/>
              <a:buFont typeface="Play"/>
              <a:buNone/>
            </a:pPr>
            <a:r>
              <a:rPr lang="en-US"/>
              <a:t>Conclusions</a:t>
            </a:r>
            <a:endParaRPr/>
          </a:p>
        </p:txBody>
      </p:sp>
      <p:grpSp>
        <p:nvGrpSpPr>
          <p:cNvPr id="889" name="Google Shape;889;p56"/>
          <p:cNvGrpSpPr/>
          <p:nvPr/>
        </p:nvGrpSpPr>
        <p:grpSpPr>
          <a:xfrm>
            <a:off x="5334000" y="1450961"/>
            <a:ext cx="6214532" cy="4801987"/>
            <a:chOff x="0" y="3161"/>
            <a:chExt cx="6214532" cy="4801987"/>
          </a:xfrm>
        </p:grpSpPr>
        <p:sp>
          <p:nvSpPr>
            <p:cNvPr id="890" name="Google Shape;890;p56"/>
            <p:cNvSpPr/>
            <p:nvPr/>
          </p:nvSpPr>
          <p:spPr>
            <a:xfrm>
              <a:off x="0" y="3161"/>
              <a:ext cx="6214532" cy="919350"/>
            </a:xfrm>
            <a:prstGeom prst="roundRect">
              <a:avLst>
                <a:gd fmla="val 16667" name="adj"/>
              </a:avLst>
            </a:prstGeom>
            <a:solidFill>
              <a:srgbClr val="A0289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56"/>
            <p:cNvSpPr txBox="1"/>
            <p:nvPr/>
          </p:nvSpPr>
          <p:spPr>
            <a:xfrm>
              <a:off x="44879" y="48040"/>
              <a:ext cx="6124774" cy="829592"/>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Simplifies large-scale computations that fit this model</a:t>
              </a:r>
              <a:endParaRPr/>
            </a:p>
          </p:txBody>
        </p:sp>
        <p:sp>
          <p:nvSpPr>
            <p:cNvPr id="892" name="Google Shape;892;p56"/>
            <p:cNvSpPr/>
            <p:nvPr/>
          </p:nvSpPr>
          <p:spPr>
            <a:xfrm>
              <a:off x="0" y="930991"/>
              <a:ext cx="6214532" cy="919350"/>
            </a:xfrm>
            <a:prstGeom prst="roundRect">
              <a:avLst>
                <a:gd fmla="val 16667" name="adj"/>
              </a:avLst>
            </a:prstGeom>
            <a:solidFill>
              <a:srgbClr val="4A2AA0"/>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56"/>
            <p:cNvSpPr txBox="1"/>
            <p:nvPr/>
          </p:nvSpPr>
          <p:spPr>
            <a:xfrm>
              <a:off x="44879" y="975870"/>
              <a:ext cx="6124774" cy="829592"/>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Allows user to focus on the problem without worrying about details</a:t>
              </a:r>
              <a:endParaRPr/>
            </a:p>
          </p:txBody>
        </p:sp>
        <p:sp>
          <p:nvSpPr>
            <p:cNvPr id="894" name="Google Shape;894;p56"/>
            <p:cNvSpPr/>
            <p:nvPr/>
          </p:nvSpPr>
          <p:spPr>
            <a:xfrm>
              <a:off x="0" y="1858821"/>
              <a:ext cx="6214532" cy="919350"/>
            </a:xfrm>
            <a:prstGeom prst="roundRect">
              <a:avLst>
                <a:gd fmla="val 16667" name="adj"/>
              </a:avLst>
            </a:prstGeom>
            <a:solidFill>
              <a:srgbClr val="2B6FA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56"/>
            <p:cNvSpPr txBox="1"/>
            <p:nvPr/>
          </p:nvSpPr>
          <p:spPr>
            <a:xfrm>
              <a:off x="44879" y="1903700"/>
              <a:ext cx="6124774" cy="829592"/>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Computer architecture not very important</a:t>
              </a:r>
              <a:endParaRPr/>
            </a:p>
          </p:txBody>
        </p:sp>
        <p:sp>
          <p:nvSpPr>
            <p:cNvPr id="896" name="Google Shape;896;p56"/>
            <p:cNvSpPr/>
            <p:nvPr/>
          </p:nvSpPr>
          <p:spPr>
            <a:xfrm>
              <a:off x="0" y="2778172"/>
              <a:ext cx="6214532" cy="17979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56"/>
            <p:cNvSpPr txBox="1"/>
            <p:nvPr/>
          </p:nvSpPr>
          <p:spPr>
            <a:xfrm>
              <a:off x="0" y="2778172"/>
              <a:ext cx="6214532" cy="179795"/>
            </a:xfrm>
            <a:prstGeom prst="rect">
              <a:avLst/>
            </a:prstGeom>
            <a:noFill/>
            <a:ln>
              <a:noFill/>
            </a:ln>
          </p:spPr>
          <p:txBody>
            <a:bodyPr anchorCtr="0" anchor="t" bIns="22850" lIns="197300" spcFirstLastPara="1" rIns="128000" wrap="square" tIns="22850">
              <a:noAutofit/>
            </a:bodyPr>
            <a:lstStyle/>
            <a:p>
              <a:pPr indent="-171450" lvl="1" marL="171450" marR="0" rtl="0" algn="l">
                <a:lnSpc>
                  <a:spcPct val="9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Portable model</a:t>
              </a:r>
              <a:endParaRPr/>
            </a:p>
          </p:txBody>
        </p:sp>
        <p:sp>
          <p:nvSpPr>
            <p:cNvPr id="898" name="Google Shape;898;p56"/>
            <p:cNvSpPr/>
            <p:nvPr/>
          </p:nvSpPr>
          <p:spPr>
            <a:xfrm>
              <a:off x="0" y="2957968"/>
              <a:ext cx="6214532" cy="919350"/>
            </a:xfrm>
            <a:prstGeom prst="roundRect">
              <a:avLst>
                <a:gd fmla="val 16667" name="adj"/>
              </a:avLst>
            </a:prstGeom>
            <a:solidFill>
              <a:srgbClr val="2BA47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6"/>
            <p:cNvSpPr txBox="1"/>
            <p:nvPr/>
          </p:nvSpPr>
          <p:spPr>
            <a:xfrm>
              <a:off x="44879" y="3002847"/>
              <a:ext cx="6124774" cy="829592"/>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Fault tolerant, reliable, and supports thousands of nodes and petabytes of data</a:t>
              </a:r>
              <a:endParaRPr/>
            </a:p>
          </p:txBody>
        </p:sp>
        <p:sp>
          <p:nvSpPr>
            <p:cNvPr id="900" name="Google Shape;900;p56"/>
            <p:cNvSpPr/>
            <p:nvPr/>
          </p:nvSpPr>
          <p:spPr>
            <a:xfrm>
              <a:off x="0" y="3885798"/>
              <a:ext cx="6214532" cy="919350"/>
            </a:xfrm>
            <a:prstGeom prst="roundRect">
              <a:avLst>
                <a:gd fmla="val 16667" name="adj"/>
              </a:avLst>
            </a:prstGeom>
            <a:solidFill>
              <a:srgbClr val="4CA62C"/>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56"/>
            <p:cNvSpPr txBox="1"/>
            <p:nvPr/>
          </p:nvSpPr>
          <p:spPr>
            <a:xfrm>
              <a:off x="44879" y="3930677"/>
              <a:ext cx="6124774" cy="829592"/>
            </a:xfrm>
            <a:prstGeom prst="rect">
              <a:avLst/>
            </a:prstGeom>
            <a:noFill/>
            <a:ln>
              <a:noFill/>
            </a:ln>
          </p:spPr>
          <p:txBody>
            <a:bodyPr anchorCtr="0" anchor="ctr" bIns="68575" lIns="68575" spcFirstLastPara="1" rIns="68575" wrap="square" tIns="68575">
              <a:noAutofit/>
            </a:bodyPr>
            <a:lstStyle/>
            <a:p>
              <a:pPr indent="0" lvl="0" marL="0" marR="0" rtl="0" algn="l">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	If you can rewrite algorithms into Maps and Reduces, and your problem can be broken up into small pieces solvable in parallel, then Hadoop’s MapReduce is the way to go for a distributed problem-solving approach to large datasets</a:t>
              </a:r>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5" name="Shape 905"/>
        <p:cNvGrpSpPr/>
        <p:nvPr/>
      </p:nvGrpSpPr>
      <p:grpSpPr>
        <a:xfrm>
          <a:off x="0" y="0"/>
          <a:ext cx="0" cy="0"/>
          <a:chOff x="0" y="0"/>
          <a:chExt cx="0" cy="0"/>
        </a:xfrm>
      </p:grpSpPr>
      <p:sp>
        <p:nvSpPr>
          <p:cNvPr id="906" name="Google Shape;906;p5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descr="$PPTXTitle" id="907" name="Google Shape;907;p57"/>
          <p:cNvSpPr txBox="1"/>
          <p:nvPr>
            <p:ph type="title"/>
          </p:nvPr>
        </p:nvSpPr>
        <p:spPr>
          <a:xfrm>
            <a:off x="838200" y="365125"/>
            <a:ext cx="6762000" cy="1325700"/>
          </a:xfrm>
          <a:prstGeom prst="rect">
            <a:avLst/>
          </a:prstGeom>
          <a:noFill/>
          <a:ln>
            <a:noFill/>
          </a:ln>
        </p:spPr>
        <p:txBody>
          <a:bodyPr anchorCtr="0" anchor="ctr" bIns="45700" lIns="91425" spcFirstLastPara="1" rIns="91425" wrap="square" tIns="45700">
            <a:normAutofit/>
          </a:bodyPr>
          <a:lstStyle/>
          <a:p>
            <a:pPr indent="0" lvl="0" marL="2668905" rtl="0" algn="l">
              <a:lnSpc>
                <a:spcPct val="90000"/>
              </a:lnSpc>
              <a:spcBef>
                <a:spcPts val="0"/>
              </a:spcBef>
              <a:spcAft>
                <a:spcPts val="0"/>
              </a:spcAft>
              <a:buClr>
                <a:schemeClr val="dk1"/>
              </a:buClr>
              <a:buSzPts val="4400"/>
              <a:buFont typeface="Play"/>
              <a:buNone/>
            </a:pPr>
            <a:r>
              <a:rPr lang="en-US"/>
              <a:t>Limitations</a:t>
            </a:r>
            <a:endParaRPr/>
          </a:p>
        </p:txBody>
      </p:sp>
      <p:pic>
        <p:nvPicPr>
          <p:cNvPr id="908" name="Google Shape;908;p57"/>
          <p:cNvPicPr preferRelativeResize="0"/>
          <p:nvPr/>
        </p:nvPicPr>
        <p:blipFill rotWithShape="1">
          <a:blip r:embed="rId3">
            <a:alphaModFix/>
          </a:blip>
          <a:srcRect b="-2" l="16603" r="16646" t="0"/>
          <a:stretch/>
        </p:blipFill>
        <p:spPr>
          <a:xfrm>
            <a:off x="6374920" y="758514"/>
            <a:ext cx="5122238" cy="5122238"/>
          </a:xfrm>
          <a:custGeom>
            <a:rect b="b" l="l" r="r" t="t"/>
            <a:pathLst>
              <a:path extrusionOk="0" h="2663168" w="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a:noFill/>
          <a:ln>
            <a:noFill/>
          </a:ln>
        </p:spPr>
      </p:pic>
      <p:sp>
        <p:nvSpPr>
          <p:cNvPr id="909" name="Google Shape;909;p57"/>
          <p:cNvSpPr/>
          <p:nvPr/>
        </p:nvSpPr>
        <p:spPr>
          <a:xfrm flipH="1" rot="10389197">
            <a:off x="6261882" y="687822"/>
            <a:ext cx="5471147" cy="5471147"/>
          </a:xfrm>
          <a:prstGeom prst="arc">
            <a:avLst>
              <a:gd fmla="val 16200000" name="adj1"/>
              <a:gd fmla="val 20093138" name="adj2"/>
            </a:avLst>
          </a:prstGeom>
          <a:noFill/>
          <a:ln cap="rnd" cmpd="sng" w="127000">
            <a:solidFill>
              <a:schemeClr val="accent4">
                <a:alpha val="94901"/>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0" name="Google Shape;910;p57"/>
          <p:cNvSpPr/>
          <p:nvPr/>
        </p:nvSpPr>
        <p:spPr>
          <a:xfrm>
            <a:off x="10248561" y="921125"/>
            <a:ext cx="791021" cy="769563"/>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911" name="Google Shape;911;p57"/>
          <p:cNvGrpSpPr/>
          <p:nvPr/>
        </p:nvGrpSpPr>
        <p:grpSpPr>
          <a:xfrm>
            <a:off x="838200" y="1991201"/>
            <a:ext cx="5943600" cy="3566160"/>
            <a:chOff x="0" y="619601"/>
            <a:chExt cx="5943600" cy="3566160"/>
          </a:xfrm>
        </p:grpSpPr>
        <p:sp>
          <p:nvSpPr>
            <p:cNvPr id="912" name="Google Shape;912;p57"/>
            <p:cNvSpPr/>
            <p:nvPr/>
          </p:nvSpPr>
          <p:spPr>
            <a:xfrm>
              <a:off x="0" y="619601"/>
              <a:ext cx="5943600" cy="3566160"/>
            </a:xfrm>
            <a:prstGeom prst="roundRect">
              <a:avLst>
                <a:gd fmla="val 10000" name="adj"/>
              </a:avLst>
            </a:prstGeom>
            <a:gradFill>
              <a:gsLst>
                <a:gs pos="0">
                  <a:srgbClr val="EC8154"/>
                </a:gs>
                <a:gs pos="50000">
                  <a:srgbClr val="F16E27"/>
                </a:gs>
                <a:gs pos="100000">
                  <a:srgbClr val="DF5D1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7"/>
            <p:cNvSpPr txBox="1"/>
            <p:nvPr/>
          </p:nvSpPr>
          <p:spPr>
            <a:xfrm>
              <a:off x="104449" y="724050"/>
              <a:ext cx="5734702" cy="3357262"/>
            </a:xfrm>
            <a:prstGeom prst="rect">
              <a:avLst/>
            </a:prstGeom>
            <a:noFill/>
            <a:ln>
              <a:noFill/>
            </a:ln>
          </p:spPr>
          <p:txBody>
            <a:bodyPr anchorCtr="0" anchor="t"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Arial"/>
                <a:buNone/>
              </a:pPr>
              <a:r>
                <a:rPr lang="en-US" sz="2000">
                  <a:solidFill>
                    <a:schemeClr val="lt1"/>
                  </a:solidFill>
                  <a:latin typeface="Arial"/>
                  <a:ea typeface="Arial"/>
                  <a:cs typeface="Arial"/>
                  <a:sym typeface="Arial"/>
                </a:rPr>
                <a:t>∗	Cannot control the order in which the maps or reductions are run</a:t>
              </a:r>
              <a:endParaRPr/>
            </a:p>
            <a:p>
              <a:pPr indent="-228600" lvl="1" marL="228600" marR="0" rtl="0" algn="l">
                <a:lnSpc>
                  <a:spcPct val="90000"/>
                </a:lnSpc>
                <a:spcBef>
                  <a:spcPts val="700"/>
                </a:spcBef>
                <a:spcAft>
                  <a:spcPts val="0"/>
                </a:spcAft>
                <a:buClr>
                  <a:schemeClr val="lt1"/>
                </a:buClr>
                <a:buSzPts val="2000"/>
                <a:buFont typeface="Arial"/>
                <a:buChar char="•"/>
              </a:pPr>
              <a:r>
                <a:rPr b="0" i="0" lang="en-US" sz="2000" u="none" cap="none" strike="noStrike">
                  <a:solidFill>
                    <a:schemeClr val="lt1"/>
                  </a:solidFill>
                  <a:latin typeface="Arial"/>
                  <a:ea typeface="Arial"/>
                  <a:cs typeface="Arial"/>
                  <a:sym typeface="Arial"/>
                </a:rPr>
                <a:t>∗	A database with an index will always be faster than a MapReduce job on unindexed data</a:t>
              </a:r>
              <a:endParaRPr/>
            </a:p>
            <a:p>
              <a:pPr indent="-228600" lvl="1" marL="228600" marR="0" rtl="0" algn="l">
                <a:lnSpc>
                  <a:spcPct val="90000"/>
                </a:lnSpc>
                <a:spcBef>
                  <a:spcPts val="300"/>
                </a:spcBef>
                <a:spcAft>
                  <a:spcPts val="0"/>
                </a:spcAft>
                <a:buClr>
                  <a:schemeClr val="lt1"/>
                </a:buClr>
                <a:buSzPts val="2000"/>
                <a:buFont typeface="Arial"/>
                <a:buChar char="•"/>
              </a:pPr>
              <a:r>
                <a:rPr b="0" i="0" lang="en-US" sz="2000" u="none" cap="none" strike="noStrike">
                  <a:solidFill>
                    <a:schemeClr val="lt1"/>
                  </a:solidFill>
                  <a:latin typeface="Arial"/>
                  <a:ea typeface="Arial"/>
                  <a:cs typeface="Arial"/>
                  <a:sym typeface="Arial"/>
                </a:rPr>
                <a:t>∗	Reduce operations do not take place until all Maps are complete (or have failed then been skipped)</a:t>
              </a:r>
              <a:endParaRPr/>
            </a:p>
            <a:p>
              <a:pPr indent="-228600" lvl="1" marL="228600" marR="0" rtl="0" algn="l">
                <a:lnSpc>
                  <a:spcPct val="90000"/>
                </a:lnSpc>
                <a:spcBef>
                  <a:spcPts val="300"/>
                </a:spcBef>
                <a:spcAft>
                  <a:spcPts val="0"/>
                </a:spcAft>
                <a:buClr>
                  <a:schemeClr val="lt1"/>
                </a:buClr>
                <a:buSzPts val="2000"/>
                <a:buFont typeface="Arial"/>
                <a:buChar char="•"/>
              </a:pPr>
              <a:r>
                <a:rPr b="0" i="0" lang="en-US" sz="2000" u="none" cap="none" strike="noStrike">
                  <a:solidFill>
                    <a:schemeClr val="lt1"/>
                  </a:solidFill>
                  <a:latin typeface="Arial"/>
                  <a:ea typeface="Arial"/>
                  <a:cs typeface="Arial"/>
                  <a:sym typeface="Arial"/>
                </a:rPr>
                <a:t>∗	General assumption that the output of Reduce is smaller than the input to Map; large data source used to generate smaller final values</a:t>
              </a:r>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7" name="Shape 917"/>
        <p:cNvGrpSpPr/>
        <p:nvPr/>
      </p:nvGrpSpPr>
      <p:grpSpPr>
        <a:xfrm>
          <a:off x="0" y="0"/>
          <a:ext cx="0" cy="0"/>
          <a:chOff x="0" y="0"/>
          <a:chExt cx="0" cy="0"/>
        </a:xfrm>
      </p:grpSpPr>
      <p:sp>
        <p:nvSpPr>
          <p:cNvPr id="918" name="Google Shape;918;p5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9" name="Google Shape;919;p58"/>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5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20" name="Google Shape;920;p58"/>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descr="$PPTXTitle" id="921" name="Google Shape;921;p58"/>
          <p:cNvSpPr txBox="1"/>
          <p:nvPr>
            <p:ph type="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12700" rtl="0" algn="l">
              <a:lnSpc>
                <a:spcPct val="90000"/>
              </a:lnSpc>
              <a:spcBef>
                <a:spcPts val="0"/>
              </a:spcBef>
              <a:spcAft>
                <a:spcPts val="0"/>
              </a:spcAft>
              <a:buClr>
                <a:schemeClr val="dk1"/>
              </a:buClr>
              <a:buSzPts val="4800"/>
              <a:buFont typeface="Play"/>
              <a:buNone/>
            </a:pPr>
            <a:r>
              <a:rPr lang="en-US" sz="4800">
                <a:solidFill>
                  <a:schemeClr val="dk1"/>
                </a:solidFill>
                <a:latin typeface="Play"/>
                <a:ea typeface="Play"/>
                <a:cs typeface="Play"/>
                <a:sym typeface="Play"/>
              </a:rPr>
              <a:t>HDFS Command</a:t>
            </a:r>
            <a:endParaRPr/>
          </a:p>
        </p:txBody>
      </p:sp>
      <p:sp>
        <p:nvSpPr>
          <p:cNvPr id="922" name="Google Shape;922;p58"/>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923" name="Google Shape;923;p58"/>
          <p:cNvSpPr/>
          <p:nvPr/>
        </p:nvSpPr>
        <p:spPr>
          <a:xfrm>
            <a:off x="481029"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924" name="Google Shape;924;p58"/>
          <p:cNvPicPr preferRelativeResize="0"/>
          <p:nvPr/>
        </p:nvPicPr>
        <p:blipFill rotWithShape="1">
          <a:blip r:embed="rId3">
            <a:alphaModFix/>
          </a:blip>
          <a:srcRect b="0" l="0" r="0" t="0"/>
          <a:stretch/>
        </p:blipFill>
        <p:spPr>
          <a:xfrm>
            <a:off x="5257800" y="304800"/>
            <a:ext cx="6453171" cy="60198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descr="$PPTXTitle" id="929" name="Google Shape;929;p59"/>
          <p:cNvSpPr txBox="1"/>
          <p:nvPr>
            <p:ph type="title"/>
          </p:nvPr>
        </p:nvSpPr>
        <p:spPr>
          <a:xfrm>
            <a:off x="746950" y="4482"/>
            <a:ext cx="10515600" cy="1325563"/>
          </a:xfrm>
          <a:prstGeom prst="rect">
            <a:avLst/>
          </a:prstGeom>
          <a:noFill/>
          <a:ln>
            <a:noFill/>
          </a:ln>
        </p:spPr>
        <p:txBody>
          <a:bodyPr anchorCtr="0" anchor="ctr" bIns="0" lIns="0" spcFirstLastPara="1" rIns="0" wrap="square" tIns="13325">
            <a:spAutoFit/>
          </a:bodyPr>
          <a:lstStyle/>
          <a:p>
            <a:pPr indent="0" lvl="0" marL="1308100" rtl="0" algn="l">
              <a:lnSpc>
                <a:spcPct val="100000"/>
              </a:lnSpc>
              <a:spcBef>
                <a:spcPts val="0"/>
              </a:spcBef>
              <a:spcAft>
                <a:spcPts val="0"/>
              </a:spcAft>
              <a:buClr>
                <a:schemeClr val="dk1"/>
              </a:buClr>
              <a:buSzPts val="4400"/>
              <a:buFont typeface="Play"/>
              <a:buNone/>
            </a:pPr>
            <a:r>
              <a:rPr lang="en-US"/>
              <a:t>Hadoop 1 vs. Hadoop 2</a:t>
            </a:r>
            <a:endParaRPr/>
          </a:p>
        </p:txBody>
      </p:sp>
      <p:sp>
        <p:nvSpPr>
          <p:cNvPr id="930" name="Google Shape;930;p59"/>
          <p:cNvSpPr/>
          <p:nvPr/>
        </p:nvSpPr>
        <p:spPr>
          <a:xfrm>
            <a:off x="1650733" y="2728416"/>
            <a:ext cx="9298305" cy="523240"/>
          </a:xfrm>
          <a:custGeom>
            <a:rect b="b" l="l" r="r" t="t"/>
            <a:pathLst>
              <a:path extrusionOk="0" h="523239" w="9298305">
                <a:moveTo>
                  <a:pt x="9297797" y="0"/>
                </a:moveTo>
                <a:lnTo>
                  <a:pt x="4458728" y="0"/>
                </a:lnTo>
                <a:lnTo>
                  <a:pt x="454444" y="0"/>
                </a:lnTo>
                <a:lnTo>
                  <a:pt x="0" y="0"/>
                </a:lnTo>
                <a:lnTo>
                  <a:pt x="0" y="522909"/>
                </a:lnTo>
                <a:lnTo>
                  <a:pt x="454418" y="522909"/>
                </a:lnTo>
                <a:lnTo>
                  <a:pt x="4458728" y="522909"/>
                </a:lnTo>
                <a:lnTo>
                  <a:pt x="9297797" y="522909"/>
                </a:lnTo>
                <a:lnTo>
                  <a:pt x="9297797"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931" name="Google Shape;931;p59"/>
          <p:cNvGraphicFramePr/>
          <p:nvPr/>
        </p:nvGraphicFramePr>
        <p:xfrm>
          <a:off x="1158050" y="914400"/>
          <a:ext cx="3000000" cy="3000000"/>
        </p:xfrm>
        <a:graphic>
          <a:graphicData uri="http://schemas.openxmlformats.org/drawingml/2006/table">
            <a:tbl>
              <a:tblPr bandRow="1" firstRow="1">
                <a:noFill/>
                <a:tableStyleId>{7AE5C25F-0834-4540-90C9-EA6330668ED8}</a:tableStyleId>
              </a:tblPr>
              <a:tblGrid>
                <a:gridCol w="482900"/>
                <a:gridCol w="4253050"/>
                <a:gridCol w="5139950"/>
              </a:tblGrid>
              <a:tr h="231900">
                <a:tc>
                  <a:txBody>
                    <a:bodyPr/>
                    <a:lstStyle/>
                    <a:p>
                      <a:pPr indent="0" lvl="0" marL="1270" marR="0" rtl="0" algn="ctr">
                        <a:lnSpc>
                          <a:spcPct val="100000"/>
                        </a:lnSpc>
                        <a:spcBef>
                          <a:spcPts val="0"/>
                        </a:spcBef>
                        <a:spcAft>
                          <a:spcPts val="0"/>
                        </a:spcAft>
                        <a:buNone/>
                      </a:pPr>
                      <a:r>
                        <a:rPr b="1" lang="en-US" sz="1400" u="none" cap="none" strike="noStrike">
                          <a:solidFill>
                            <a:srgbClr val="FFFFFF"/>
                          </a:solidFill>
                          <a:latin typeface="Arial"/>
                          <a:ea typeface="Arial"/>
                          <a:cs typeface="Arial"/>
                          <a:sym typeface="Arial"/>
                        </a:rPr>
                        <a:t>No</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solidFill>
                      <a:srgbClr val="4F81BC"/>
                    </a:solidFill>
                  </a:tcPr>
                </a:tc>
                <a:tc>
                  <a:txBody>
                    <a:bodyPr/>
                    <a:lstStyle/>
                    <a:p>
                      <a:pPr indent="0" lvl="0" marL="1270" marR="0" rtl="0" algn="ctr">
                        <a:lnSpc>
                          <a:spcPct val="100000"/>
                        </a:lnSpc>
                        <a:spcBef>
                          <a:spcPts val="0"/>
                        </a:spcBef>
                        <a:spcAft>
                          <a:spcPts val="0"/>
                        </a:spcAft>
                        <a:buNone/>
                      </a:pPr>
                      <a:r>
                        <a:rPr b="1" lang="en-US" sz="1400" u="none" cap="none" strike="noStrike">
                          <a:solidFill>
                            <a:srgbClr val="FFFFFF"/>
                          </a:solidFill>
                          <a:latin typeface="Arial"/>
                          <a:ea typeface="Arial"/>
                          <a:cs typeface="Arial"/>
                          <a:sym typeface="Arial"/>
                        </a:rPr>
                        <a:t>Hadoop1</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solidFill>
                      <a:srgbClr val="4F81BC"/>
                    </a:solidFill>
                  </a:tcPr>
                </a:tc>
                <a:tc>
                  <a:txBody>
                    <a:bodyPr/>
                    <a:lstStyle/>
                    <a:p>
                      <a:pPr indent="0" lvl="0" marL="2540" marR="0" rtl="0" algn="ctr">
                        <a:lnSpc>
                          <a:spcPct val="100000"/>
                        </a:lnSpc>
                        <a:spcBef>
                          <a:spcPts val="0"/>
                        </a:spcBef>
                        <a:spcAft>
                          <a:spcPts val="0"/>
                        </a:spcAft>
                        <a:buNone/>
                      </a:pPr>
                      <a:r>
                        <a:rPr b="1" lang="en-US" sz="1400" u="none" cap="none" strike="noStrike">
                          <a:solidFill>
                            <a:srgbClr val="FFFFFF"/>
                          </a:solidFill>
                          <a:latin typeface="Arial"/>
                          <a:ea typeface="Arial"/>
                          <a:cs typeface="Arial"/>
                          <a:sym typeface="Arial"/>
                        </a:rPr>
                        <a:t>Hadoop2</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solidFill>
                      <a:srgbClr val="4F81BC"/>
                    </a:solidFill>
                  </a:tcPr>
                </a:tc>
              </a:tr>
              <a:tr h="318675">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1</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B cap="flat" cmpd="sng" w="12700">
                      <a:solidFill>
                        <a:srgbClr val="4F81BC"/>
                      </a:solidFill>
                      <a:prstDash val="solid"/>
                      <a:round/>
                      <a:headEnd len="sm" w="sm" type="none"/>
                      <a:tailEnd len="sm" w="sm" type="none"/>
                    </a:lnB>
                    <a:solidFill>
                      <a:srgbClr val="D2DFED"/>
                    </a:solidFill>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Supports MapReduce (MR) processing model only. Does not</a:t>
                      </a:r>
                      <a:endParaRPr sz="1400" u="none" cap="none" strike="noStrike">
                        <a:latin typeface="Arial"/>
                        <a:ea typeface="Arial"/>
                        <a:cs typeface="Arial"/>
                        <a:sym typeface="Arial"/>
                      </a:endParaRPr>
                    </a:p>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support non-MR tools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B cap="flat" cmpd="sng" w="12700">
                      <a:solidFill>
                        <a:srgbClr val="4F81BC"/>
                      </a:solidFill>
                      <a:prstDash val="solid"/>
                      <a:round/>
                      <a:headEnd len="sm" w="sm" type="none"/>
                      <a:tailEnd len="sm" w="sm" type="none"/>
                    </a:lnB>
                    <a:solidFill>
                      <a:srgbClr val="D2DFED"/>
                    </a:solidFill>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Allows to work in MR as well as other distributed computing models like</a:t>
                      </a:r>
                      <a:endParaRPr sz="1400" u="none" cap="none" strike="noStrike">
                        <a:latin typeface="Arial"/>
                        <a:ea typeface="Arial"/>
                        <a:cs typeface="Arial"/>
                        <a:sym typeface="Arial"/>
                      </a:endParaRPr>
                    </a:p>
                    <a:p>
                      <a:pPr indent="0" lvl="0" marL="40640" marR="3175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Spark,	Hama,	Giraph,	Message	Passing	Interface)	MPI	&amp;	HBase coprocessors.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B cap="flat" cmpd="sng" w="12700">
                      <a:solidFill>
                        <a:srgbClr val="4F81BC"/>
                      </a:solidFill>
                      <a:prstDash val="solid"/>
                      <a:round/>
                      <a:headEnd len="sm" w="sm" type="none"/>
                      <a:tailEnd len="sm" w="sm" type="none"/>
                    </a:lnB>
                    <a:solidFill>
                      <a:srgbClr val="D2DFED"/>
                    </a:solidFill>
                  </a:tcPr>
                </a:tc>
              </a:tr>
              <a:tr h="553225">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2</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FFFFFF"/>
                    </a:solidFill>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MR does both processing and cluster-resource management.</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FFFFFF"/>
                    </a:solidFill>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YARN (Yet Another Resource Negotiator) does cluster resource</a:t>
                      </a:r>
                      <a:endParaRPr sz="1400" u="none" cap="none" strike="noStrike">
                        <a:latin typeface="Arial"/>
                        <a:ea typeface="Arial"/>
                        <a:cs typeface="Arial"/>
                        <a:sym typeface="Arial"/>
                      </a:endParaRPr>
                    </a:p>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management and processing is done using different processing models.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FFFFFF"/>
                    </a:solidFill>
                  </a:tcPr>
                </a:tc>
              </a:tr>
              <a:tr h="387200">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3</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Has limited scaling of nodes. Limited to 4000 nodes per</a:t>
                      </a:r>
                      <a:endParaRPr sz="1400" u="none" cap="none" strike="noStrike">
                        <a:latin typeface="Arial"/>
                        <a:ea typeface="Arial"/>
                        <a:cs typeface="Arial"/>
                        <a:sym typeface="Arial"/>
                      </a:endParaRPr>
                    </a:p>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cluster</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Has better scalability. Scalable up to 10000 nodes per cluster</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r>
              <a:tr h="414750">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4</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Works on concepts of slots – slots can run either a Map task</a:t>
                      </a:r>
                      <a:endParaRPr sz="1400" u="none" cap="none" strike="noStrike">
                        <a:latin typeface="Arial"/>
                        <a:ea typeface="Arial"/>
                        <a:cs typeface="Arial"/>
                        <a:sym typeface="Arial"/>
                      </a:endParaRPr>
                    </a:p>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or a Reduce task only.</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Works on concepts of containers. Using containers can run generic tasks.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r>
              <a:tr h="287700">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5</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A single Namenode to manage the entire namespace.</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Multiple Namenode servers manage multiple namespaces.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r>
              <a:tr h="580800">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6</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Has Single-Point-of-Failure (SPOF) – because of single</a:t>
                      </a:r>
                      <a:endParaRPr sz="1400" u="none" cap="none" strike="noStrike">
                        <a:latin typeface="Arial"/>
                        <a:ea typeface="Arial"/>
                        <a:cs typeface="Arial"/>
                        <a:sym typeface="Arial"/>
                      </a:endParaRPr>
                    </a:p>
                    <a:p>
                      <a:pPr indent="0" lvl="0" marL="40005" marR="3175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Namenode- and in the case of Namenode failure, needs manual intervention to overcome.</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Has to feature to overcome SPOF with a standby Namenode and in the</a:t>
                      </a:r>
                      <a:endParaRPr sz="1400" u="none" cap="none" strike="noStrike">
                        <a:latin typeface="Arial"/>
                        <a:ea typeface="Arial"/>
                        <a:cs typeface="Arial"/>
                        <a:sym typeface="Arial"/>
                      </a:endParaRPr>
                    </a:p>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case of Namenode failure, it is configured for automatic recovery.</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r>
              <a:tr h="553225">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7</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MR API is compatible with Hadoop1x. A program written in</a:t>
                      </a:r>
                      <a:endParaRPr sz="1400" u="none" cap="none" strike="noStrike">
                        <a:latin typeface="Arial"/>
                        <a:ea typeface="Arial"/>
                        <a:cs typeface="Arial"/>
                        <a:sym typeface="Arial"/>
                      </a:endParaRPr>
                    </a:p>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Hadoop1 executes in Hadoop1x without any additional files.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MR API requires additional files for a program written in Hadoop1x to</a:t>
                      </a:r>
                      <a:endParaRPr sz="1400" u="none" cap="none" strike="noStrike">
                        <a:latin typeface="Arial"/>
                        <a:ea typeface="Arial"/>
                        <a:cs typeface="Arial"/>
                        <a:sym typeface="Arial"/>
                      </a:endParaRPr>
                    </a:p>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execute in Hadoop2x.</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r>
              <a:tr h="553225">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8</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Has a limitation to serve as a platform for event processing,</a:t>
                      </a:r>
                      <a:endParaRPr sz="1400" u="none" cap="none" strike="noStrike">
                        <a:latin typeface="Arial"/>
                        <a:ea typeface="Arial"/>
                        <a:cs typeface="Arial"/>
                        <a:sym typeface="Arial"/>
                      </a:endParaRPr>
                    </a:p>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streaming and real-time operations.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Can serve as a platform for a wide variety of data analytics-possible to</a:t>
                      </a:r>
                      <a:endParaRPr sz="1400" u="none" cap="none" strike="noStrike">
                        <a:latin typeface="Arial"/>
                        <a:ea typeface="Arial"/>
                        <a:cs typeface="Arial"/>
                        <a:sym typeface="Arial"/>
                      </a:endParaRPr>
                    </a:p>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run event processing, streaming and real-time operations.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r>
              <a:tr h="414750">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9</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A Namenode failure affects the stack.</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The Hadoop stack – Hive, Pig, HBase etc. are all equipped to handle</a:t>
                      </a:r>
                      <a:endParaRPr sz="1400" u="none" cap="none" strike="noStrike">
                        <a:latin typeface="Arial"/>
                        <a:ea typeface="Arial"/>
                        <a:cs typeface="Arial"/>
                        <a:sym typeface="Arial"/>
                      </a:endParaRPr>
                    </a:p>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Namenode failure.</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solidFill>
                      <a:srgbClr val="D2DFED"/>
                    </a:solidFill>
                  </a:tcPr>
                </a:tc>
              </a:tr>
              <a:tr h="193600">
                <a:tc>
                  <a:txBody>
                    <a:bodyPr/>
                    <a:lstStyle/>
                    <a:p>
                      <a:pPr indent="0" lvl="0" marL="0" marR="0" rtl="0" algn="ctr">
                        <a:lnSpc>
                          <a:spcPct val="100000"/>
                        </a:lnSpc>
                        <a:spcBef>
                          <a:spcPts val="0"/>
                        </a:spcBef>
                        <a:spcAft>
                          <a:spcPts val="0"/>
                        </a:spcAft>
                        <a:buNone/>
                      </a:pPr>
                      <a:r>
                        <a:rPr b="1" lang="en-US" sz="1400" u="none" cap="none" strike="noStrike">
                          <a:solidFill>
                            <a:srgbClr val="333333"/>
                          </a:solidFill>
                          <a:latin typeface="Arial"/>
                          <a:ea typeface="Arial"/>
                          <a:cs typeface="Arial"/>
                          <a:sym typeface="Arial"/>
                        </a:rPr>
                        <a:t>10</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c>
                  <a:txBody>
                    <a:bodyPr/>
                    <a:lstStyle/>
                    <a:p>
                      <a:pPr indent="0" lvl="0" marL="40005"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Does not support Microsoft Windows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c>
                  <a:txBody>
                    <a:bodyPr/>
                    <a:lstStyle/>
                    <a:p>
                      <a:pPr indent="0" lvl="0" marL="40640" marR="0" rtl="0" algn="l">
                        <a:lnSpc>
                          <a:spcPct val="100000"/>
                        </a:lnSpc>
                        <a:spcBef>
                          <a:spcPts val="0"/>
                        </a:spcBef>
                        <a:spcAft>
                          <a:spcPts val="0"/>
                        </a:spcAft>
                        <a:buNone/>
                      </a:pPr>
                      <a:r>
                        <a:rPr lang="en-US" sz="1400" u="none" cap="none" strike="noStrike">
                          <a:solidFill>
                            <a:srgbClr val="333333"/>
                          </a:solidFill>
                          <a:latin typeface="Arial"/>
                          <a:ea typeface="Arial"/>
                          <a:cs typeface="Arial"/>
                          <a:sym typeface="Arial"/>
                        </a:rPr>
                        <a:t>Added support for Microsoft windows</a:t>
                      </a:r>
                      <a:endParaRPr sz="1400" u="none" cap="none" strike="noStrike">
                        <a:latin typeface="Arial"/>
                        <a:ea typeface="Arial"/>
                        <a:cs typeface="Arial"/>
                        <a:sym typeface="Arial"/>
                      </a:endParaRPr>
                    </a:p>
                  </a:txBody>
                  <a:tcPr marT="0" marB="0" marR="0" marL="0">
                    <a:lnL cap="flat" cmpd="sng" w="12700">
                      <a:solidFill>
                        <a:srgbClr val="4F81BC"/>
                      </a:solidFill>
                      <a:prstDash val="solid"/>
                      <a:round/>
                      <a:headEnd len="sm" w="sm" type="none"/>
                      <a:tailEnd len="sm" w="sm" type="none"/>
                    </a:lnL>
                    <a:lnR cap="flat" cmpd="sng" w="12700">
                      <a:solidFill>
                        <a:srgbClr val="4F81BC"/>
                      </a:solidFill>
                      <a:prstDash val="solid"/>
                      <a:round/>
                      <a:headEnd len="sm" w="sm" type="none"/>
                      <a:tailEnd len="sm" w="sm" type="none"/>
                    </a:lnR>
                    <a:lnT cap="flat" cmpd="sng" w="12700">
                      <a:solidFill>
                        <a:srgbClr val="4F81BC"/>
                      </a:solidFill>
                      <a:prstDash val="solid"/>
                      <a:round/>
                      <a:headEnd len="sm" w="sm" type="none"/>
                      <a:tailEnd len="sm" w="sm" type="none"/>
                    </a:lnT>
                    <a:lnB cap="flat" cmpd="sng" w="12700">
                      <a:solidFill>
                        <a:srgbClr val="4F81BC"/>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2025-11-14T22:20:52Z</dcterms:created>
  <dc:creator>Dong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2021-01-08T00:00:00Z</vt:filetime>
  </property>
  <property fmtid="{D5CDD505-2E9C-101B-9397-08002B2CF9AE}" pid="3" name="Creator">
    <vt:lpwstr>Microsoft® PowerPoint® 2013</vt:lpwstr>
  </property>
  <property fmtid="{D5CDD505-2E9C-101B-9397-08002B2CF9AE}" pid="4" name="LastSaved">
    <vt:filetime>2025-11-14T00:00:00Z</vt:filetime>
  </property>
  <property fmtid="{D5CDD505-2E9C-101B-9397-08002B2CF9AE}" pid="5" name="Producer">
    <vt:lpwstr>Microsoft® PowerPoint® 2013</vt:lpwstr>
  </property>
</Properties>
</file>