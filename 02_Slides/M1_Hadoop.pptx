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12192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41"/>
    <p:restoredTop sz="94777"/>
  </p:normalViewPr>
  <p:slideViewPr>
    <p:cSldViewPr>
      <p:cViewPr varScale="1">
        <p:scale>
          <a:sx n="95" d="100"/>
          <a:sy n="95" d="100"/>
        </p:scale>
        <p:origin x="640" y="16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image" Target="../media/image12.svg"/></Relationships>
</file>

<file path=ppt/diagrams/_rels/data5.xml.rels><?xml version="1.0" encoding="UTF-8" standalone="yes"?>
<Relationships xmlns="http://schemas.openxmlformats.org/package/2006/relationships"><Relationship Id="rId2" Type="http://schemas.openxmlformats.org/officeDocument/2006/relationships/image" Target="../media/image34.svg"/><Relationship Id="rId1" Type="http://schemas.openxmlformats.org/officeDocument/2006/relationships/image" Target="../media/image3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image" Target="../media/image12.svg"/></Relationships>
</file>

<file path=ppt/diagrams/_rels/drawing5.xml.rels><?xml version="1.0" encoding="UTF-8" standalone="yes"?>
<Relationships xmlns="http://schemas.openxmlformats.org/package/2006/relationships"><Relationship Id="rId2" Type="http://schemas.openxmlformats.org/officeDocument/2006/relationships/image" Target="../media/image34.svg"/><Relationship Id="rId1" Type="http://schemas.openxmlformats.org/officeDocument/2006/relationships/image" Target="../media/image33.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0F42249-D3A4-4D65-B776-E8D237863F36}" type="doc">
      <dgm:prSet loTypeId="urn:microsoft.com/office/officeart/2018/5/layout/IconCircleLabelList" loCatId="icon" qsTypeId="urn:microsoft.com/office/officeart/2005/8/quickstyle/simple1" qsCatId="simple" csTypeId="urn:microsoft.com/office/officeart/2018/5/colors/Iconchunking_neutralbg_colorful5" csCatId="colorful" phldr="1"/>
      <dgm:spPr/>
      <dgm:t>
        <a:bodyPr/>
        <a:lstStyle/>
        <a:p>
          <a:endParaRPr lang="en-US"/>
        </a:p>
      </dgm:t>
    </dgm:pt>
    <dgm:pt modelId="{508E81CF-9B2E-4178-B865-5B67D1613FBA}">
      <dgm:prSet/>
      <dgm:spPr/>
      <dgm:t>
        <a:bodyPr/>
        <a:lstStyle/>
        <a:p>
          <a:pPr>
            <a:defRPr cap="all"/>
          </a:pPr>
          <a:r>
            <a:rPr lang="en-US"/>
            <a:t>∗ </a:t>
          </a:r>
          <a:r>
            <a:rPr lang="en-US" b="1"/>
            <a:t>Creative Problem-Solving</a:t>
          </a:r>
          <a:r>
            <a:rPr lang="en-US"/>
            <a:t>: Approaching data organization challenges with a clear eye on what is important; employing the right approach/methods to make the maximum use of time and human resources.</a:t>
          </a:r>
        </a:p>
      </dgm:t>
    </dgm:pt>
    <dgm:pt modelId="{D7219910-A439-4696-9315-8A12F35FE424}" type="parTrans" cxnId="{BCEF6085-3BEA-411F-B848-26497C88BE4F}">
      <dgm:prSet/>
      <dgm:spPr/>
      <dgm:t>
        <a:bodyPr/>
        <a:lstStyle/>
        <a:p>
          <a:endParaRPr lang="en-US"/>
        </a:p>
      </dgm:t>
    </dgm:pt>
    <dgm:pt modelId="{C3507FE6-6EDA-44D8-B4B3-BE15CAF2CEF3}" type="sibTrans" cxnId="{BCEF6085-3BEA-411F-B848-26497C88BE4F}">
      <dgm:prSet/>
      <dgm:spPr/>
      <dgm:t>
        <a:bodyPr/>
        <a:lstStyle/>
        <a:p>
          <a:endParaRPr lang="en-US"/>
        </a:p>
      </dgm:t>
    </dgm:pt>
    <dgm:pt modelId="{ABE8E5ED-061D-4026-91F8-574079E66B28}">
      <dgm:prSet/>
      <dgm:spPr/>
      <dgm:t>
        <a:bodyPr/>
        <a:lstStyle/>
        <a:p>
          <a:pPr>
            <a:defRPr cap="all"/>
          </a:pPr>
          <a:r>
            <a:rPr lang="en-US"/>
            <a:t>∗ </a:t>
          </a:r>
          <a:r>
            <a:rPr lang="en-US" b="1"/>
            <a:t>Effective Collaboration</a:t>
          </a:r>
          <a:r>
            <a:rPr lang="en-US"/>
            <a:t>: Carefully listening to management, data scientists and data architects to establish their needs.</a:t>
          </a:r>
        </a:p>
      </dgm:t>
    </dgm:pt>
    <dgm:pt modelId="{EE66481F-D9B3-4C20-B7CA-613A7BD28785}" type="parTrans" cxnId="{6498555C-2786-411D-9073-3308792572A6}">
      <dgm:prSet/>
      <dgm:spPr/>
      <dgm:t>
        <a:bodyPr/>
        <a:lstStyle/>
        <a:p>
          <a:endParaRPr lang="en-US"/>
        </a:p>
      </dgm:t>
    </dgm:pt>
    <dgm:pt modelId="{23F6B3BF-5BB1-4034-9B7D-7279F5B8F835}" type="sibTrans" cxnId="{6498555C-2786-411D-9073-3308792572A6}">
      <dgm:prSet/>
      <dgm:spPr/>
      <dgm:t>
        <a:bodyPr/>
        <a:lstStyle/>
        <a:p>
          <a:endParaRPr lang="en-US"/>
        </a:p>
      </dgm:t>
    </dgm:pt>
    <dgm:pt modelId="{509977B7-5FAA-46AC-8E97-19A2C736C977}">
      <dgm:prSet/>
      <dgm:spPr/>
      <dgm:t>
        <a:bodyPr/>
        <a:lstStyle/>
        <a:p>
          <a:pPr>
            <a:defRPr cap="all"/>
          </a:pPr>
          <a:r>
            <a:rPr lang="en-US"/>
            <a:t>∗ </a:t>
          </a:r>
          <a:r>
            <a:rPr lang="en-US" b="1"/>
            <a:t>Intellectual Curiosity</a:t>
          </a:r>
          <a:r>
            <a:rPr lang="en-US"/>
            <a:t>: Exploring new territories and finding creative and unusual</a:t>
          </a:r>
        </a:p>
      </dgm:t>
    </dgm:pt>
    <dgm:pt modelId="{E1179C9E-9E47-48F3-A49E-A037517A3CE4}" type="parTrans" cxnId="{C1E8FC0D-953F-4678-92A7-4A061714C8B4}">
      <dgm:prSet/>
      <dgm:spPr/>
      <dgm:t>
        <a:bodyPr/>
        <a:lstStyle/>
        <a:p>
          <a:endParaRPr lang="en-US"/>
        </a:p>
      </dgm:t>
    </dgm:pt>
    <dgm:pt modelId="{3144D8C6-5F15-4D91-A830-61F2734F367D}" type="sibTrans" cxnId="{C1E8FC0D-953F-4678-92A7-4A061714C8B4}">
      <dgm:prSet/>
      <dgm:spPr/>
      <dgm:t>
        <a:bodyPr/>
        <a:lstStyle/>
        <a:p>
          <a:endParaRPr lang="en-US"/>
        </a:p>
      </dgm:t>
    </dgm:pt>
    <dgm:pt modelId="{B952DCC3-44E8-449A-9434-2CE24A5AF916}">
      <dgm:prSet/>
      <dgm:spPr/>
    </dgm:pt>
    <dgm:pt modelId="{992C47A0-5BF2-4DDA-AF32-8C52A22133E3}" type="parTrans" cxnId="{15483A03-46EF-41DB-8B81-1097B9C4FA09}">
      <dgm:prSet/>
      <dgm:spPr/>
      <dgm:t>
        <a:bodyPr/>
        <a:lstStyle/>
        <a:p>
          <a:endParaRPr lang="en-US"/>
        </a:p>
      </dgm:t>
    </dgm:pt>
    <dgm:pt modelId="{A6007461-7E49-476A-B9EB-BF61939F7B00}" type="sibTrans" cxnId="{15483A03-46EF-41DB-8B81-1097B9C4FA09}">
      <dgm:prSet/>
      <dgm:spPr/>
      <dgm:t>
        <a:bodyPr/>
        <a:lstStyle/>
        <a:p>
          <a:endParaRPr lang="en-US"/>
        </a:p>
      </dgm:t>
    </dgm:pt>
    <dgm:pt modelId="{E6A837A7-696C-4CC9-9B72-030568EDB547}">
      <dgm:prSet/>
      <dgm:spPr/>
    </dgm:pt>
    <dgm:pt modelId="{4A70FFE2-EDFA-4E63-A349-A67FEB081F75}" type="parTrans" cxnId="{97DFAC73-6B24-4E2C-9B52-86D87341E519}">
      <dgm:prSet/>
      <dgm:spPr/>
      <dgm:t>
        <a:bodyPr/>
        <a:lstStyle/>
        <a:p>
          <a:endParaRPr lang="en-US"/>
        </a:p>
      </dgm:t>
    </dgm:pt>
    <dgm:pt modelId="{740CF372-B807-4B7A-BF3E-3306A8CDCE02}" type="sibTrans" cxnId="{97DFAC73-6B24-4E2C-9B52-86D87341E519}">
      <dgm:prSet/>
      <dgm:spPr/>
      <dgm:t>
        <a:bodyPr/>
        <a:lstStyle/>
        <a:p>
          <a:endParaRPr lang="en-US"/>
        </a:p>
      </dgm:t>
    </dgm:pt>
    <dgm:pt modelId="{5BAC9C77-3A30-4CF0-A402-7DE529DF4581}" type="pres">
      <dgm:prSet presAssocID="{B0F42249-D3A4-4D65-B776-E8D237863F36}" presName="root" presStyleCnt="0">
        <dgm:presLayoutVars>
          <dgm:dir/>
          <dgm:resizeHandles val="exact"/>
        </dgm:presLayoutVars>
      </dgm:prSet>
      <dgm:spPr/>
    </dgm:pt>
    <dgm:pt modelId="{0FD0783F-9C8C-4E04-8D83-BA07B91098A2}" type="pres">
      <dgm:prSet presAssocID="{508E81CF-9B2E-4178-B865-5B67D1613FBA}" presName="compNode" presStyleCnt="0"/>
      <dgm:spPr/>
    </dgm:pt>
    <dgm:pt modelId="{A09157AE-C9DE-49CF-857D-A5BCFB563AAB}" type="pres">
      <dgm:prSet presAssocID="{508E81CF-9B2E-4178-B865-5B67D1613FBA}" presName="iconBgRect" presStyleLbl="bgShp" presStyleIdx="0" presStyleCnt="3"/>
      <dgm:spPr/>
    </dgm:pt>
    <dgm:pt modelId="{0F99BE72-F683-4D9F-84F9-B28490E45C9D}" type="pres">
      <dgm:prSet presAssocID="{508E81CF-9B2E-4178-B865-5B67D1613FBA}"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Workflow"/>
        </a:ext>
      </dgm:extLst>
    </dgm:pt>
    <dgm:pt modelId="{DF731BF2-334F-4253-9802-6E989110359A}" type="pres">
      <dgm:prSet presAssocID="{508E81CF-9B2E-4178-B865-5B67D1613FBA}" presName="spaceRect" presStyleCnt="0"/>
      <dgm:spPr/>
    </dgm:pt>
    <dgm:pt modelId="{769F7F4B-9307-49FE-BAEC-C1D85C248FCE}" type="pres">
      <dgm:prSet presAssocID="{508E81CF-9B2E-4178-B865-5B67D1613FBA}" presName="textRect" presStyleLbl="revTx" presStyleIdx="0" presStyleCnt="3">
        <dgm:presLayoutVars>
          <dgm:chMax val="1"/>
          <dgm:chPref val="1"/>
        </dgm:presLayoutVars>
      </dgm:prSet>
      <dgm:spPr/>
    </dgm:pt>
    <dgm:pt modelId="{1BC8636A-0EBE-4A49-B854-3AD4022A1AA1}" type="pres">
      <dgm:prSet presAssocID="{C3507FE6-6EDA-44D8-B4B3-BE15CAF2CEF3}" presName="sibTrans" presStyleCnt="0"/>
      <dgm:spPr/>
    </dgm:pt>
    <dgm:pt modelId="{7ABAE411-099F-4040-8A4F-AAC3C734C126}" type="pres">
      <dgm:prSet presAssocID="{ABE8E5ED-061D-4026-91F8-574079E66B28}" presName="compNode" presStyleCnt="0"/>
      <dgm:spPr/>
    </dgm:pt>
    <dgm:pt modelId="{1ABFE4E1-30B3-4529-961D-661F44B8081B}" type="pres">
      <dgm:prSet presAssocID="{ABE8E5ED-061D-4026-91F8-574079E66B28}" presName="iconBgRect" presStyleLbl="bgShp" presStyleIdx="1" presStyleCnt="3"/>
      <dgm:spPr/>
    </dgm:pt>
    <dgm:pt modelId="{76CB9C9A-9580-4976-BF8C-0B9086BC571E}" type="pres">
      <dgm:prSet presAssocID="{ABE8E5ED-061D-4026-91F8-574079E66B2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oard Room"/>
        </a:ext>
      </dgm:extLst>
    </dgm:pt>
    <dgm:pt modelId="{5C74F6F8-F733-41A4-8710-CBD232ED028F}" type="pres">
      <dgm:prSet presAssocID="{ABE8E5ED-061D-4026-91F8-574079E66B28}" presName="spaceRect" presStyleCnt="0"/>
      <dgm:spPr/>
    </dgm:pt>
    <dgm:pt modelId="{BC363A03-BCA2-41CC-BBAD-B55E287B498E}" type="pres">
      <dgm:prSet presAssocID="{ABE8E5ED-061D-4026-91F8-574079E66B28}" presName="textRect" presStyleLbl="revTx" presStyleIdx="1" presStyleCnt="3">
        <dgm:presLayoutVars>
          <dgm:chMax val="1"/>
          <dgm:chPref val="1"/>
        </dgm:presLayoutVars>
      </dgm:prSet>
      <dgm:spPr/>
    </dgm:pt>
    <dgm:pt modelId="{704CBCC0-29FA-4D5D-B1D6-F0B4DC104EB4}" type="pres">
      <dgm:prSet presAssocID="{23F6B3BF-5BB1-4034-9B7D-7279F5B8F835}" presName="sibTrans" presStyleCnt="0"/>
      <dgm:spPr/>
    </dgm:pt>
    <dgm:pt modelId="{BB9E89E4-6495-4343-AF97-F575EA6D7F3A}" type="pres">
      <dgm:prSet presAssocID="{509977B7-5FAA-46AC-8E97-19A2C736C977}" presName="compNode" presStyleCnt="0"/>
      <dgm:spPr/>
    </dgm:pt>
    <dgm:pt modelId="{76902ED7-5A7C-4134-8082-789F1653BD15}" type="pres">
      <dgm:prSet presAssocID="{509977B7-5FAA-46AC-8E97-19A2C736C977}" presName="iconBgRect" presStyleLbl="bgShp" presStyleIdx="2" presStyleCnt="3"/>
      <dgm:spPr/>
    </dgm:pt>
    <dgm:pt modelId="{1D056AE0-0DE7-4107-920C-9F3A55583F54}" type="pres">
      <dgm:prSet presAssocID="{509977B7-5FAA-46AC-8E97-19A2C736C97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Earth Globe Americas"/>
        </a:ext>
      </dgm:extLst>
    </dgm:pt>
    <dgm:pt modelId="{DE89DACA-15C5-4620-A826-942C82C2CAE9}" type="pres">
      <dgm:prSet presAssocID="{509977B7-5FAA-46AC-8E97-19A2C736C977}" presName="spaceRect" presStyleCnt="0"/>
      <dgm:spPr/>
    </dgm:pt>
    <dgm:pt modelId="{93C76872-998F-4609-8E47-6AAF783EAF35}" type="pres">
      <dgm:prSet presAssocID="{509977B7-5FAA-46AC-8E97-19A2C736C977}" presName="textRect" presStyleLbl="revTx" presStyleIdx="2" presStyleCnt="3">
        <dgm:presLayoutVars>
          <dgm:chMax val="1"/>
          <dgm:chPref val="1"/>
        </dgm:presLayoutVars>
      </dgm:prSet>
      <dgm:spPr/>
    </dgm:pt>
  </dgm:ptLst>
  <dgm:cxnLst>
    <dgm:cxn modelId="{15483A03-46EF-41DB-8B81-1097B9C4FA09}" srcId="{509977B7-5FAA-46AC-8E97-19A2C736C977}" destId="{B952DCC3-44E8-449A-9434-2CE24A5AF916}" srcOrd="0" destOrd="0" parTransId="{992C47A0-5BF2-4DDA-AF32-8C52A22133E3}" sibTransId="{A6007461-7E49-476A-B9EB-BF61939F7B00}"/>
    <dgm:cxn modelId="{96D5B807-3237-42FA-A7BC-B936739E19BD}" type="presOf" srcId="{508E81CF-9B2E-4178-B865-5B67D1613FBA}" destId="{769F7F4B-9307-49FE-BAEC-C1D85C248FCE}" srcOrd="0" destOrd="0" presId="urn:microsoft.com/office/officeart/2018/5/layout/IconCircleLabelList"/>
    <dgm:cxn modelId="{C1E8FC0D-953F-4678-92A7-4A061714C8B4}" srcId="{B0F42249-D3A4-4D65-B776-E8D237863F36}" destId="{509977B7-5FAA-46AC-8E97-19A2C736C977}" srcOrd="2" destOrd="0" parTransId="{E1179C9E-9E47-48F3-A49E-A037517A3CE4}" sibTransId="{3144D8C6-5F15-4D91-A830-61F2734F367D}"/>
    <dgm:cxn modelId="{47263E23-1CD5-45B1-98BE-2BBD85F6CE91}" type="presOf" srcId="{B0F42249-D3A4-4D65-B776-E8D237863F36}" destId="{5BAC9C77-3A30-4CF0-A402-7DE529DF4581}" srcOrd="0" destOrd="0" presId="urn:microsoft.com/office/officeart/2018/5/layout/IconCircleLabelList"/>
    <dgm:cxn modelId="{6498555C-2786-411D-9073-3308792572A6}" srcId="{B0F42249-D3A4-4D65-B776-E8D237863F36}" destId="{ABE8E5ED-061D-4026-91F8-574079E66B28}" srcOrd="1" destOrd="0" parTransId="{EE66481F-D9B3-4C20-B7CA-613A7BD28785}" sibTransId="{23F6B3BF-5BB1-4034-9B7D-7279F5B8F835}"/>
    <dgm:cxn modelId="{97DFAC73-6B24-4E2C-9B52-86D87341E519}" srcId="{509977B7-5FAA-46AC-8E97-19A2C736C977}" destId="{E6A837A7-696C-4CC9-9B72-030568EDB547}" srcOrd="1" destOrd="0" parTransId="{4A70FFE2-EDFA-4E63-A349-A67FEB081F75}" sibTransId="{740CF372-B807-4B7A-BF3E-3306A8CDCE02}"/>
    <dgm:cxn modelId="{BCEF6085-3BEA-411F-B848-26497C88BE4F}" srcId="{B0F42249-D3A4-4D65-B776-E8D237863F36}" destId="{508E81CF-9B2E-4178-B865-5B67D1613FBA}" srcOrd="0" destOrd="0" parTransId="{D7219910-A439-4696-9315-8A12F35FE424}" sibTransId="{C3507FE6-6EDA-44D8-B4B3-BE15CAF2CEF3}"/>
    <dgm:cxn modelId="{BD795FED-A031-4F93-AA3D-DCA8D3C9F386}" type="presOf" srcId="{509977B7-5FAA-46AC-8E97-19A2C736C977}" destId="{93C76872-998F-4609-8E47-6AAF783EAF35}" srcOrd="0" destOrd="0" presId="urn:microsoft.com/office/officeart/2018/5/layout/IconCircleLabelList"/>
    <dgm:cxn modelId="{EF9C79EE-7678-4589-9A79-37676C4A2BB6}" type="presOf" srcId="{ABE8E5ED-061D-4026-91F8-574079E66B28}" destId="{BC363A03-BCA2-41CC-BBAD-B55E287B498E}" srcOrd="0" destOrd="0" presId="urn:microsoft.com/office/officeart/2018/5/layout/IconCircleLabelList"/>
    <dgm:cxn modelId="{A6E9538D-826E-4A78-B533-3D016E7E2214}" type="presParOf" srcId="{5BAC9C77-3A30-4CF0-A402-7DE529DF4581}" destId="{0FD0783F-9C8C-4E04-8D83-BA07B91098A2}" srcOrd="0" destOrd="0" presId="urn:microsoft.com/office/officeart/2018/5/layout/IconCircleLabelList"/>
    <dgm:cxn modelId="{ED8C8631-F0BB-4E0C-8E2B-3475D867A215}" type="presParOf" srcId="{0FD0783F-9C8C-4E04-8D83-BA07B91098A2}" destId="{A09157AE-C9DE-49CF-857D-A5BCFB563AAB}" srcOrd="0" destOrd="0" presId="urn:microsoft.com/office/officeart/2018/5/layout/IconCircleLabelList"/>
    <dgm:cxn modelId="{56D14518-408C-4C0D-98F9-9102FD1A41AC}" type="presParOf" srcId="{0FD0783F-9C8C-4E04-8D83-BA07B91098A2}" destId="{0F99BE72-F683-4D9F-84F9-B28490E45C9D}" srcOrd="1" destOrd="0" presId="urn:microsoft.com/office/officeart/2018/5/layout/IconCircleLabelList"/>
    <dgm:cxn modelId="{E8992638-245B-441D-B7E7-AC429E8561DC}" type="presParOf" srcId="{0FD0783F-9C8C-4E04-8D83-BA07B91098A2}" destId="{DF731BF2-334F-4253-9802-6E989110359A}" srcOrd="2" destOrd="0" presId="urn:microsoft.com/office/officeart/2018/5/layout/IconCircleLabelList"/>
    <dgm:cxn modelId="{1C50820F-AC72-445E-858C-FFA2039CE6AB}" type="presParOf" srcId="{0FD0783F-9C8C-4E04-8D83-BA07B91098A2}" destId="{769F7F4B-9307-49FE-BAEC-C1D85C248FCE}" srcOrd="3" destOrd="0" presId="urn:microsoft.com/office/officeart/2018/5/layout/IconCircleLabelList"/>
    <dgm:cxn modelId="{C8EED0FA-C2A8-4D07-ABA9-40C69F368CE0}" type="presParOf" srcId="{5BAC9C77-3A30-4CF0-A402-7DE529DF4581}" destId="{1BC8636A-0EBE-4A49-B854-3AD4022A1AA1}" srcOrd="1" destOrd="0" presId="urn:microsoft.com/office/officeart/2018/5/layout/IconCircleLabelList"/>
    <dgm:cxn modelId="{2B3BFFF9-9E87-4047-8B6C-A6712CEB1756}" type="presParOf" srcId="{5BAC9C77-3A30-4CF0-A402-7DE529DF4581}" destId="{7ABAE411-099F-4040-8A4F-AAC3C734C126}" srcOrd="2" destOrd="0" presId="urn:microsoft.com/office/officeart/2018/5/layout/IconCircleLabelList"/>
    <dgm:cxn modelId="{897126EB-CDB9-4F32-AAD8-6FB6EDB0F209}" type="presParOf" srcId="{7ABAE411-099F-4040-8A4F-AAC3C734C126}" destId="{1ABFE4E1-30B3-4529-961D-661F44B8081B}" srcOrd="0" destOrd="0" presId="urn:microsoft.com/office/officeart/2018/5/layout/IconCircleLabelList"/>
    <dgm:cxn modelId="{96CF0DD7-CB17-4C05-8799-334C4132B8B5}" type="presParOf" srcId="{7ABAE411-099F-4040-8A4F-AAC3C734C126}" destId="{76CB9C9A-9580-4976-BF8C-0B9086BC571E}" srcOrd="1" destOrd="0" presId="urn:microsoft.com/office/officeart/2018/5/layout/IconCircleLabelList"/>
    <dgm:cxn modelId="{94CBC8E0-2E01-480C-A316-21E28325B2E6}" type="presParOf" srcId="{7ABAE411-099F-4040-8A4F-AAC3C734C126}" destId="{5C74F6F8-F733-41A4-8710-CBD232ED028F}" srcOrd="2" destOrd="0" presId="urn:microsoft.com/office/officeart/2018/5/layout/IconCircleLabelList"/>
    <dgm:cxn modelId="{51D7D655-0972-41F0-A8AC-0ED8FA98E8D3}" type="presParOf" srcId="{7ABAE411-099F-4040-8A4F-AAC3C734C126}" destId="{BC363A03-BCA2-41CC-BBAD-B55E287B498E}" srcOrd="3" destOrd="0" presId="urn:microsoft.com/office/officeart/2018/5/layout/IconCircleLabelList"/>
    <dgm:cxn modelId="{2AB15A82-DEAE-4367-A6B5-0F7DEACF9BBD}" type="presParOf" srcId="{5BAC9C77-3A30-4CF0-A402-7DE529DF4581}" destId="{704CBCC0-29FA-4D5D-B1D6-F0B4DC104EB4}" srcOrd="3" destOrd="0" presId="urn:microsoft.com/office/officeart/2018/5/layout/IconCircleLabelList"/>
    <dgm:cxn modelId="{62B8C30D-E2C7-4901-83FF-43CD5A0361E2}" type="presParOf" srcId="{5BAC9C77-3A30-4CF0-A402-7DE529DF4581}" destId="{BB9E89E4-6495-4343-AF97-F575EA6D7F3A}" srcOrd="4" destOrd="0" presId="urn:microsoft.com/office/officeart/2018/5/layout/IconCircleLabelList"/>
    <dgm:cxn modelId="{5E40E8FE-98EF-4CAF-A606-1B012C145DA9}" type="presParOf" srcId="{BB9E89E4-6495-4343-AF97-F575EA6D7F3A}" destId="{76902ED7-5A7C-4134-8082-789F1653BD15}" srcOrd="0" destOrd="0" presId="urn:microsoft.com/office/officeart/2018/5/layout/IconCircleLabelList"/>
    <dgm:cxn modelId="{A04915CD-275A-49A8-A6BA-D262C9B456AC}" type="presParOf" srcId="{BB9E89E4-6495-4343-AF97-F575EA6D7F3A}" destId="{1D056AE0-0DE7-4107-920C-9F3A55583F54}" srcOrd="1" destOrd="0" presId="urn:microsoft.com/office/officeart/2018/5/layout/IconCircleLabelList"/>
    <dgm:cxn modelId="{E9430E05-DE1C-4A0D-AF45-44691E6137F9}" type="presParOf" srcId="{BB9E89E4-6495-4343-AF97-F575EA6D7F3A}" destId="{DE89DACA-15C5-4620-A826-942C82C2CAE9}" srcOrd="2" destOrd="0" presId="urn:microsoft.com/office/officeart/2018/5/layout/IconCircleLabelList"/>
    <dgm:cxn modelId="{6F19141B-B53C-41E4-9ED8-E23B197C6EF8}" type="presParOf" srcId="{BB9E89E4-6495-4343-AF97-F575EA6D7F3A}" destId="{93C76872-998F-4609-8E47-6AAF783EAF35}"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E05C8EC-BEE6-4F47-8F5B-2C18BB1F0F16}"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92532AA0-B357-45A8-BD24-3549E79B0AEE}">
      <dgm:prSet/>
      <dgm:spPr/>
      <dgm:t>
        <a:bodyPr/>
        <a:lstStyle/>
        <a:p>
          <a:r>
            <a:rPr lang="en-US"/>
            <a:t>∗	</a:t>
          </a:r>
          <a:r>
            <a:rPr lang="en-US" b="1" i="1"/>
            <a:t>“</a:t>
          </a:r>
          <a:r>
            <a:rPr lang="en-US"/>
            <a:t>of more normal evolution, as use of these technologies now spreads through industries.”</a:t>
          </a:r>
        </a:p>
      </dgm:t>
    </dgm:pt>
    <dgm:pt modelId="{DCFE52AB-B450-40EF-B92B-30680A4D7151}" type="parTrans" cxnId="{1F407E5C-507A-448E-AFA5-DB0C90ACC966}">
      <dgm:prSet/>
      <dgm:spPr/>
      <dgm:t>
        <a:bodyPr/>
        <a:lstStyle/>
        <a:p>
          <a:endParaRPr lang="en-US"/>
        </a:p>
      </dgm:t>
    </dgm:pt>
    <dgm:pt modelId="{E3CD0045-1964-4E08-ACB0-D4296CC4B9C5}" type="sibTrans" cxnId="{1F407E5C-507A-448E-AFA5-DB0C90ACC966}">
      <dgm:prSet/>
      <dgm:spPr/>
      <dgm:t>
        <a:bodyPr/>
        <a:lstStyle/>
        <a:p>
          <a:endParaRPr lang="en-US"/>
        </a:p>
      </dgm:t>
    </dgm:pt>
    <dgm:pt modelId="{0324786A-5AB6-4E02-B1EF-A37FF4EA838E}">
      <dgm:prSet/>
      <dgm:spPr/>
      <dgm:t>
        <a:bodyPr/>
        <a:lstStyle/>
        <a:p>
          <a:r>
            <a:rPr lang="en-US"/>
            <a:t>∗	2007, Facebook, Twitter, LinkedIn and many others started doing serious work with Hadoop</a:t>
          </a:r>
        </a:p>
      </dgm:t>
    </dgm:pt>
    <dgm:pt modelId="{0813CBA9-2792-4058-903E-E765A969A97E}" type="parTrans" cxnId="{704B4910-7F8B-4B91-BAB1-64E83752827B}">
      <dgm:prSet/>
      <dgm:spPr/>
      <dgm:t>
        <a:bodyPr/>
        <a:lstStyle/>
        <a:p>
          <a:endParaRPr lang="en-US"/>
        </a:p>
      </dgm:t>
    </dgm:pt>
    <dgm:pt modelId="{2F274409-44AA-4FF0-8F66-DA9F7BB2543C}" type="sibTrans" cxnId="{704B4910-7F8B-4B91-BAB1-64E83752827B}">
      <dgm:prSet/>
      <dgm:spPr/>
      <dgm:t>
        <a:bodyPr/>
        <a:lstStyle/>
        <a:p>
          <a:endParaRPr lang="en-US"/>
        </a:p>
      </dgm:t>
    </dgm:pt>
    <dgm:pt modelId="{2E73AB65-590C-4271-B9C7-0DD805878FDB}">
      <dgm:prSet/>
      <dgm:spPr/>
      <dgm:t>
        <a:bodyPr/>
        <a:lstStyle/>
        <a:p>
          <a:r>
            <a:rPr lang="en-US"/>
            <a:t>∗	In February, Yahoo! reported that their production Hadoop cluster is running on 1000 nodes</a:t>
          </a:r>
        </a:p>
      </dgm:t>
    </dgm:pt>
    <dgm:pt modelId="{7835883F-A05F-4BDA-B458-5E6744BF7DC0}" type="parTrans" cxnId="{7D0FE30D-822C-470F-85A1-69B716655B90}">
      <dgm:prSet/>
      <dgm:spPr/>
      <dgm:t>
        <a:bodyPr/>
        <a:lstStyle/>
        <a:p>
          <a:endParaRPr lang="en-US"/>
        </a:p>
      </dgm:t>
    </dgm:pt>
    <dgm:pt modelId="{A86AA82D-1A07-4E56-A343-3CC1C1FD46A5}" type="sibTrans" cxnId="{7D0FE30D-822C-470F-85A1-69B716655B90}">
      <dgm:prSet/>
      <dgm:spPr/>
      <dgm:t>
        <a:bodyPr/>
        <a:lstStyle/>
        <a:p>
          <a:endParaRPr lang="en-US"/>
        </a:p>
      </dgm:t>
    </dgm:pt>
    <dgm:pt modelId="{36FB0BCC-BEE2-41C7-BFFA-FAC58D58C53F}">
      <dgm:prSet/>
      <dgm:spPr/>
      <dgm:t>
        <a:bodyPr/>
        <a:lstStyle/>
        <a:p>
          <a:r>
            <a:rPr lang="en-US"/>
            <a:t>∗	2008, HBase, Pig, Hive</a:t>
          </a:r>
        </a:p>
      </dgm:t>
    </dgm:pt>
    <dgm:pt modelId="{F3C3A342-2B89-4F6B-9E4C-128287C7CD79}" type="parTrans" cxnId="{914A8121-758C-49C6-8C25-A6BAC0890C0A}">
      <dgm:prSet/>
      <dgm:spPr/>
      <dgm:t>
        <a:bodyPr/>
        <a:lstStyle/>
        <a:p>
          <a:endParaRPr lang="en-US"/>
        </a:p>
      </dgm:t>
    </dgm:pt>
    <dgm:pt modelId="{1699E644-BC50-4CA6-B33E-AA2144652D37}" type="sibTrans" cxnId="{914A8121-758C-49C6-8C25-A6BAC0890C0A}">
      <dgm:prSet/>
      <dgm:spPr/>
      <dgm:t>
        <a:bodyPr/>
        <a:lstStyle/>
        <a:p>
          <a:endParaRPr lang="en-US"/>
        </a:p>
      </dgm:t>
    </dgm:pt>
    <dgm:pt modelId="{394C29FC-9612-407F-B20E-BBDBE0A935FA}">
      <dgm:prSet/>
      <dgm:spPr/>
      <dgm:t>
        <a:bodyPr/>
        <a:lstStyle/>
        <a:p>
          <a:r>
            <a:rPr lang="en-US"/>
            <a:t>∗	First professional system integrator dedicated to Hadoop was born: Cloudera</a:t>
          </a:r>
        </a:p>
      </dgm:t>
    </dgm:pt>
    <dgm:pt modelId="{699FA814-F5AF-4497-8215-285AEBDB0361}" type="parTrans" cxnId="{CFD46615-11D1-4216-BD9F-70456A80CEB3}">
      <dgm:prSet/>
      <dgm:spPr/>
      <dgm:t>
        <a:bodyPr/>
        <a:lstStyle/>
        <a:p>
          <a:endParaRPr lang="en-US"/>
        </a:p>
      </dgm:t>
    </dgm:pt>
    <dgm:pt modelId="{18962303-5EAD-4695-96E8-343D6724AD40}" type="sibTrans" cxnId="{CFD46615-11D1-4216-BD9F-70456A80CEB3}">
      <dgm:prSet/>
      <dgm:spPr/>
      <dgm:t>
        <a:bodyPr/>
        <a:lstStyle/>
        <a:p>
          <a:endParaRPr lang="en-US"/>
        </a:p>
      </dgm:t>
    </dgm:pt>
    <dgm:pt modelId="{C9EB1035-12DB-41D0-957A-A153609350F1}">
      <dgm:prSet/>
      <dgm:spPr/>
      <dgm:t>
        <a:bodyPr/>
        <a:lstStyle/>
        <a:p>
          <a:r>
            <a:rPr lang="en-US"/>
            <a:t>∗	2009, Amazon started providing MapReduce hosting service</a:t>
          </a:r>
        </a:p>
      </dgm:t>
    </dgm:pt>
    <dgm:pt modelId="{9DCA62DA-020A-4985-A9ED-CD0B67345A82}" type="parTrans" cxnId="{AF5F0147-426C-4549-A7A0-C5FE0E37B7EE}">
      <dgm:prSet/>
      <dgm:spPr/>
      <dgm:t>
        <a:bodyPr/>
        <a:lstStyle/>
        <a:p>
          <a:endParaRPr lang="en-US"/>
        </a:p>
      </dgm:t>
    </dgm:pt>
    <dgm:pt modelId="{56F884AF-33A5-4854-9853-D551A003719D}" type="sibTrans" cxnId="{AF5F0147-426C-4549-A7A0-C5FE0E37B7EE}">
      <dgm:prSet/>
      <dgm:spPr/>
      <dgm:t>
        <a:bodyPr/>
        <a:lstStyle/>
        <a:p>
          <a:endParaRPr lang="en-US"/>
        </a:p>
      </dgm:t>
    </dgm:pt>
    <dgm:pt modelId="{4A006DE8-1EED-4448-8BEA-2DCEE2673B67}">
      <dgm:prSet/>
      <dgm:spPr/>
      <dgm:t>
        <a:bodyPr/>
        <a:lstStyle/>
        <a:p>
          <a:r>
            <a:rPr lang="en-US"/>
            <a:t>∗	2010, Yahoo went down</a:t>
          </a:r>
        </a:p>
      </dgm:t>
    </dgm:pt>
    <dgm:pt modelId="{F10D9967-A3B7-4C83-8536-B5914240FFA7}" type="parTrans" cxnId="{7E923DC6-FAAC-40BA-9F6A-551B4693EA9E}">
      <dgm:prSet/>
      <dgm:spPr/>
      <dgm:t>
        <a:bodyPr/>
        <a:lstStyle/>
        <a:p>
          <a:endParaRPr lang="en-US"/>
        </a:p>
      </dgm:t>
    </dgm:pt>
    <dgm:pt modelId="{71B62D9C-31BE-49C0-B437-AD1706325B11}" type="sibTrans" cxnId="{7E923DC6-FAAC-40BA-9F6A-551B4693EA9E}">
      <dgm:prSet/>
      <dgm:spPr/>
      <dgm:t>
        <a:bodyPr/>
        <a:lstStyle/>
        <a:p>
          <a:endParaRPr lang="en-US"/>
        </a:p>
      </dgm:t>
    </dgm:pt>
    <dgm:pt modelId="{39C9833B-66FB-4329-87DF-9E05356FB63F}">
      <dgm:prSet/>
      <dgm:spPr/>
      <dgm:t>
        <a:bodyPr/>
        <a:lstStyle/>
        <a:p>
          <a:r>
            <a:rPr lang="en-US"/>
            <a:t>∗	2011, Hortonworks</a:t>
          </a:r>
        </a:p>
      </dgm:t>
    </dgm:pt>
    <dgm:pt modelId="{95EBD4DD-EE52-4E79-88CF-B004B654CC15}" type="parTrans" cxnId="{BCB82904-4753-46A1-8CD7-CCC6806A5B03}">
      <dgm:prSet/>
      <dgm:spPr/>
      <dgm:t>
        <a:bodyPr/>
        <a:lstStyle/>
        <a:p>
          <a:endParaRPr lang="en-US"/>
        </a:p>
      </dgm:t>
    </dgm:pt>
    <dgm:pt modelId="{29949B1D-A90F-4793-BC36-C803566BA676}" type="sibTrans" cxnId="{BCB82904-4753-46A1-8CD7-CCC6806A5B03}">
      <dgm:prSet/>
      <dgm:spPr/>
      <dgm:t>
        <a:bodyPr/>
        <a:lstStyle/>
        <a:p>
          <a:endParaRPr lang="en-US"/>
        </a:p>
      </dgm:t>
    </dgm:pt>
    <dgm:pt modelId="{13CF0767-0DA9-41F4-B771-AF1E35B180D1}">
      <dgm:prSet/>
      <dgm:spPr/>
      <dgm:t>
        <a:bodyPr/>
        <a:lstStyle/>
        <a:p>
          <a:r>
            <a:rPr lang="en-US"/>
            <a:t>∗	2012, Yahoo!’s Hadoop cluster counts 42 000 nodes; Number of Hadoop contributors reaches 1200</a:t>
          </a:r>
        </a:p>
      </dgm:t>
    </dgm:pt>
    <dgm:pt modelId="{F696B720-FF2A-4830-8A3A-BBA0991EF199}" type="parTrans" cxnId="{9F2C9021-877F-458E-847A-7F636367CC26}">
      <dgm:prSet/>
      <dgm:spPr/>
      <dgm:t>
        <a:bodyPr/>
        <a:lstStyle/>
        <a:p>
          <a:endParaRPr lang="en-US"/>
        </a:p>
      </dgm:t>
    </dgm:pt>
    <dgm:pt modelId="{5AADD1DD-DF32-4D73-93A7-AEBB92CD74B2}" type="sibTrans" cxnId="{9F2C9021-877F-458E-847A-7F636367CC26}">
      <dgm:prSet/>
      <dgm:spPr/>
      <dgm:t>
        <a:bodyPr/>
        <a:lstStyle/>
        <a:p>
          <a:endParaRPr lang="en-US"/>
        </a:p>
      </dgm:t>
    </dgm:pt>
    <dgm:pt modelId="{83F516AA-276C-8B48-B79C-A85D1AA1EBDB}" type="pres">
      <dgm:prSet presAssocID="{DE05C8EC-BEE6-4F47-8F5B-2C18BB1F0F16}" presName="diagram" presStyleCnt="0">
        <dgm:presLayoutVars>
          <dgm:dir/>
          <dgm:resizeHandles val="exact"/>
        </dgm:presLayoutVars>
      </dgm:prSet>
      <dgm:spPr/>
    </dgm:pt>
    <dgm:pt modelId="{BA30BAA3-1B0C-B34C-82BC-1F5038CE0011}" type="pres">
      <dgm:prSet presAssocID="{92532AA0-B357-45A8-BD24-3549E79B0AEE}" presName="node" presStyleLbl="node1" presStyleIdx="0" presStyleCnt="8">
        <dgm:presLayoutVars>
          <dgm:bulletEnabled val="1"/>
        </dgm:presLayoutVars>
      </dgm:prSet>
      <dgm:spPr/>
    </dgm:pt>
    <dgm:pt modelId="{992DCB6D-F3BA-2F4A-A002-031060306E95}" type="pres">
      <dgm:prSet presAssocID="{E3CD0045-1964-4E08-ACB0-D4296CC4B9C5}" presName="sibTrans" presStyleCnt="0"/>
      <dgm:spPr/>
    </dgm:pt>
    <dgm:pt modelId="{EA93B0B9-F8D2-7642-B4EC-305DF47EFD4B}" type="pres">
      <dgm:prSet presAssocID="{0324786A-5AB6-4E02-B1EF-A37FF4EA838E}" presName="node" presStyleLbl="node1" presStyleIdx="1" presStyleCnt="8">
        <dgm:presLayoutVars>
          <dgm:bulletEnabled val="1"/>
        </dgm:presLayoutVars>
      </dgm:prSet>
      <dgm:spPr/>
    </dgm:pt>
    <dgm:pt modelId="{CD400BFF-7054-E743-B703-98D9FA302329}" type="pres">
      <dgm:prSet presAssocID="{2F274409-44AA-4FF0-8F66-DA9F7BB2543C}" presName="sibTrans" presStyleCnt="0"/>
      <dgm:spPr/>
    </dgm:pt>
    <dgm:pt modelId="{DA5509F9-CB8C-2340-B91F-47712134973D}" type="pres">
      <dgm:prSet presAssocID="{2E73AB65-590C-4271-B9C7-0DD805878FDB}" presName="node" presStyleLbl="node1" presStyleIdx="2" presStyleCnt="8">
        <dgm:presLayoutVars>
          <dgm:bulletEnabled val="1"/>
        </dgm:presLayoutVars>
      </dgm:prSet>
      <dgm:spPr/>
    </dgm:pt>
    <dgm:pt modelId="{E89E08BE-7189-4646-9F83-AE7487C3CF2C}" type="pres">
      <dgm:prSet presAssocID="{A86AA82D-1A07-4E56-A343-3CC1C1FD46A5}" presName="sibTrans" presStyleCnt="0"/>
      <dgm:spPr/>
    </dgm:pt>
    <dgm:pt modelId="{9EB236D1-BBFD-D444-AE6C-0D3B5E069C7D}" type="pres">
      <dgm:prSet presAssocID="{36FB0BCC-BEE2-41C7-BFFA-FAC58D58C53F}" presName="node" presStyleLbl="node1" presStyleIdx="3" presStyleCnt="8">
        <dgm:presLayoutVars>
          <dgm:bulletEnabled val="1"/>
        </dgm:presLayoutVars>
      </dgm:prSet>
      <dgm:spPr/>
    </dgm:pt>
    <dgm:pt modelId="{279CFAFE-05E5-5842-8173-85EBB607DA42}" type="pres">
      <dgm:prSet presAssocID="{1699E644-BC50-4CA6-B33E-AA2144652D37}" presName="sibTrans" presStyleCnt="0"/>
      <dgm:spPr/>
    </dgm:pt>
    <dgm:pt modelId="{48E47D0B-CF33-7645-8356-56D414BF6280}" type="pres">
      <dgm:prSet presAssocID="{394C29FC-9612-407F-B20E-BBDBE0A935FA}" presName="node" presStyleLbl="node1" presStyleIdx="4" presStyleCnt="8">
        <dgm:presLayoutVars>
          <dgm:bulletEnabled val="1"/>
        </dgm:presLayoutVars>
      </dgm:prSet>
      <dgm:spPr/>
    </dgm:pt>
    <dgm:pt modelId="{341802D2-AAAC-1741-BCFB-3B34F7C5CD13}" type="pres">
      <dgm:prSet presAssocID="{18962303-5EAD-4695-96E8-343D6724AD40}" presName="sibTrans" presStyleCnt="0"/>
      <dgm:spPr/>
    </dgm:pt>
    <dgm:pt modelId="{3A52004E-FCC9-354D-8BA3-C9F4843766C4}" type="pres">
      <dgm:prSet presAssocID="{C9EB1035-12DB-41D0-957A-A153609350F1}" presName="node" presStyleLbl="node1" presStyleIdx="5" presStyleCnt="8">
        <dgm:presLayoutVars>
          <dgm:bulletEnabled val="1"/>
        </dgm:presLayoutVars>
      </dgm:prSet>
      <dgm:spPr/>
    </dgm:pt>
    <dgm:pt modelId="{B6914873-4D7C-CB42-94B9-57453E1C902A}" type="pres">
      <dgm:prSet presAssocID="{56F884AF-33A5-4854-9853-D551A003719D}" presName="sibTrans" presStyleCnt="0"/>
      <dgm:spPr/>
    </dgm:pt>
    <dgm:pt modelId="{A4365A4F-9ADD-6147-9598-8710359998DA}" type="pres">
      <dgm:prSet presAssocID="{4A006DE8-1EED-4448-8BEA-2DCEE2673B67}" presName="node" presStyleLbl="node1" presStyleIdx="6" presStyleCnt="8">
        <dgm:presLayoutVars>
          <dgm:bulletEnabled val="1"/>
        </dgm:presLayoutVars>
      </dgm:prSet>
      <dgm:spPr/>
    </dgm:pt>
    <dgm:pt modelId="{5918C765-B0BE-8345-B2FD-0D17309DE52F}" type="pres">
      <dgm:prSet presAssocID="{71B62D9C-31BE-49C0-B437-AD1706325B11}" presName="sibTrans" presStyleCnt="0"/>
      <dgm:spPr/>
    </dgm:pt>
    <dgm:pt modelId="{E6920147-4452-3A4D-84DB-E30D94E428F1}" type="pres">
      <dgm:prSet presAssocID="{39C9833B-66FB-4329-87DF-9E05356FB63F}" presName="node" presStyleLbl="node1" presStyleIdx="7" presStyleCnt="8">
        <dgm:presLayoutVars>
          <dgm:bulletEnabled val="1"/>
        </dgm:presLayoutVars>
      </dgm:prSet>
      <dgm:spPr/>
    </dgm:pt>
  </dgm:ptLst>
  <dgm:cxnLst>
    <dgm:cxn modelId="{BCB82904-4753-46A1-8CD7-CCC6806A5B03}" srcId="{DE05C8EC-BEE6-4F47-8F5B-2C18BB1F0F16}" destId="{39C9833B-66FB-4329-87DF-9E05356FB63F}" srcOrd="7" destOrd="0" parTransId="{95EBD4DD-EE52-4E79-88CF-B004B654CC15}" sibTransId="{29949B1D-A90F-4793-BC36-C803566BA676}"/>
    <dgm:cxn modelId="{7D0FE30D-822C-470F-85A1-69B716655B90}" srcId="{DE05C8EC-BEE6-4F47-8F5B-2C18BB1F0F16}" destId="{2E73AB65-590C-4271-B9C7-0DD805878FDB}" srcOrd="2" destOrd="0" parTransId="{7835883F-A05F-4BDA-B458-5E6744BF7DC0}" sibTransId="{A86AA82D-1A07-4E56-A343-3CC1C1FD46A5}"/>
    <dgm:cxn modelId="{704B4910-7F8B-4B91-BAB1-64E83752827B}" srcId="{DE05C8EC-BEE6-4F47-8F5B-2C18BB1F0F16}" destId="{0324786A-5AB6-4E02-B1EF-A37FF4EA838E}" srcOrd="1" destOrd="0" parTransId="{0813CBA9-2792-4058-903E-E765A969A97E}" sibTransId="{2F274409-44AA-4FF0-8F66-DA9F7BB2543C}"/>
    <dgm:cxn modelId="{56B16A10-74B3-734C-9F3C-CB26DB124D76}" type="presOf" srcId="{92532AA0-B357-45A8-BD24-3549E79B0AEE}" destId="{BA30BAA3-1B0C-B34C-82BC-1F5038CE0011}" srcOrd="0" destOrd="0" presId="urn:microsoft.com/office/officeart/2005/8/layout/default"/>
    <dgm:cxn modelId="{CFD46615-11D1-4216-BD9F-70456A80CEB3}" srcId="{DE05C8EC-BEE6-4F47-8F5B-2C18BB1F0F16}" destId="{394C29FC-9612-407F-B20E-BBDBE0A935FA}" srcOrd="4" destOrd="0" parTransId="{699FA814-F5AF-4497-8215-285AEBDB0361}" sibTransId="{18962303-5EAD-4695-96E8-343D6724AD40}"/>
    <dgm:cxn modelId="{914A8121-758C-49C6-8C25-A6BAC0890C0A}" srcId="{DE05C8EC-BEE6-4F47-8F5B-2C18BB1F0F16}" destId="{36FB0BCC-BEE2-41C7-BFFA-FAC58D58C53F}" srcOrd="3" destOrd="0" parTransId="{F3C3A342-2B89-4F6B-9E4C-128287C7CD79}" sibTransId="{1699E644-BC50-4CA6-B33E-AA2144652D37}"/>
    <dgm:cxn modelId="{9F2C9021-877F-458E-847A-7F636367CC26}" srcId="{39C9833B-66FB-4329-87DF-9E05356FB63F}" destId="{13CF0767-0DA9-41F4-B771-AF1E35B180D1}" srcOrd="0" destOrd="0" parTransId="{F696B720-FF2A-4830-8A3A-BBA0991EF199}" sibTransId="{5AADD1DD-DF32-4D73-93A7-AEBB92CD74B2}"/>
    <dgm:cxn modelId="{43CFBF22-BF06-264C-8140-4BA6083A880E}" type="presOf" srcId="{DE05C8EC-BEE6-4F47-8F5B-2C18BB1F0F16}" destId="{83F516AA-276C-8B48-B79C-A85D1AA1EBDB}" srcOrd="0" destOrd="0" presId="urn:microsoft.com/office/officeart/2005/8/layout/default"/>
    <dgm:cxn modelId="{3604E823-17F0-CB4E-85B0-64213E1CC5E9}" type="presOf" srcId="{C9EB1035-12DB-41D0-957A-A153609350F1}" destId="{3A52004E-FCC9-354D-8BA3-C9F4843766C4}" srcOrd="0" destOrd="0" presId="urn:microsoft.com/office/officeart/2005/8/layout/default"/>
    <dgm:cxn modelId="{AF5F0147-426C-4549-A7A0-C5FE0E37B7EE}" srcId="{DE05C8EC-BEE6-4F47-8F5B-2C18BB1F0F16}" destId="{C9EB1035-12DB-41D0-957A-A153609350F1}" srcOrd="5" destOrd="0" parTransId="{9DCA62DA-020A-4985-A9ED-CD0B67345A82}" sibTransId="{56F884AF-33A5-4854-9853-D551A003719D}"/>
    <dgm:cxn modelId="{4F827D4E-5972-BE45-BB90-3A709CA7F415}" type="presOf" srcId="{36FB0BCC-BEE2-41C7-BFFA-FAC58D58C53F}" destId="{9EB236D1-BBFD-D444-AE6C-0D3B5E069C7D}" srcOrd="0" destOrd="0" presId="urn:microsoft.com/office/officeart/2005/8/layout/default"/>
    <dgm:cxn modelId="{1F407E5C-507A-448E-AFA5-DB0C90ACC966}" srcId="{DE05C8EC-BEE6-4F47-8F5B-2C18BB1F0F16}" destId="{92532AA0-B357-45A8-BD24-3549E79B0AEE}" srcOrd="0" destOrd="0" parTransId="{DCFE52AB-B450-40EF-B92B-30680A4D7151}" sibTransId="{E3CD0045-1964-4E08-ACB0-D4296CC4B9C5}"/>
    <dgm:cxn modelId="{72065F80-5C12-F746-B0E7-85EB65282877}" type="presOf" srcId="{394C29FC-9612-407F-B20E-BBDBE0A935FA}" destId="{48E47D0B-CF33-7645-8356-56D414BF6280}" srcOrd="0" destOrd="0" presId="urn:microsoft.com/office/officeart/2005/8/layout/default"/>
    <dgm:cxn modelId="{63D89493-4CD1-8448-8279-42A222406B1C}" type="presOf" srcId="{4A006DE8-1EED-4448-8BEA-2DCEE2673B67}" destId="{A4365A4F-9ADD-6147-9598-8710359998DA}" srcOrd="0" destOrd="0" presId="urn:microsoft.com/office/officeart/2005/8/layout/default"/>
    <dgm:cxn modelId="{BB56E5A4-11F2-7E4D-BEB6-CE82A49F02FA}" type="presOf" srcId="{2E73AB65-590C-4271-B9C7-0DD805878FDB}" destId="{DA5509F9-CB8C-2340-B91F-47712134973D}" srcOrd="0" destOrd="0" presId="urn:microsoft.com/office/officeart/2005/8/layout/default"/>
    <dgm:cxn modelId="{7E923DC6-FAAC-40BA-9F6A-551B4693EA9E}" srcId="{DE05C8EC-BEE6-4F47-8F5B-2C18BB1F0F16}" destId="{4A006DE8-1EED-4448-8BEA-2DCEE2673B67}" srcOrd="6" destOrd="0" parTransId="{F10D9967-A3B7-4C83-8536-B5914240FFA7}" sibTransId="{71B62D9C-31BE-49C0-B437-AD1706325B11}"/>
    <dgm:cxn modelId="{BA9C95D9-9DFD-054D-9EA6-855E98E90C35}" type="presOf" srcId="{39C9833B-66FB-4329-87DF-9E05356FB63F}" destId="{E6920147-4452-3A4D-84DB-E30D94E428F1}" srcOrd="0" destOrd="0" presId="urn:microsoft.com/office/officeart/2005/8/layout/default"/>
    <dgm:cxn modelId="{09F497DA-0B98-8542-AFFF-97514C23AA02}" type="presOf" srcId="{13CF0767-0DA9-41F4-B771-AF1E35B180D1}" destId="{E6920147-4452-3A4D-84DB-E30D94E428F1}" srcOrd="0" destOrd="1" presId="urn:microsoft.com/office/officeart/2005/8/layout/default"/>
    <dgm:cxn modelId="{3B6DC2E4-21EA-F442-B434-A0F712AC4B05}" type="presOf" srcId="{0324786A-5AB6-4E02-B1EF-A37FF4EA838E}" destId="{EA93B0B9-F8D2-7642-B4EC-305DF47EFD4B}" srcOrd="0" destOrd="0" presId="urn:microsoft.com/office/officeart/2005/8/layout/default"/>
    <dgm:cxn modelId="{C2215C2F-B564-FD4F-9DA4-CC7A567C6A02}" type="presParOf" srcId="{83F516AA-276C-8B48-B79C-A85D1AA1EBDB}" destId="{BA30BAA3-1B0C-B34C-82BC-1F5038CE0011}" srcOrd="0" destOrd="0" presId="urn:microsoft.com/office/officeart/2005/8/layout/default"/>
    <dgm:cxn modelId="{4A2A17E3-66AD-B84F-B8C5-776F2F70B870}" type="presParOf" srcId="{83F516AA-276C-8B48-B79C-A85D1AA1EBDB}" destId="{992DCB6D-F3BA-2F4A-A002-031060306E95}" srcOrd="1" destOrd="0" presId="urn:microsoft.com/office/officeart/2005/8/layout/default"/>
    <dgm:cxn modelId="{DC19F2DF-FC50-9C4A-83A5-FA405EEFA7E0}" type="presParOf" srcId="{83F516AA-276C-8B48-B79C-A85D1AA1EBDB}" destId="{EA93B0B9-F8D2-7642-B4EC-305DF47EFD4B}" srcOrd="2" destOrd="0" presId="urn:microsoft.com/office/officeart/2005/8/layout/default"/>
    <dgm:cxn modelId="{5EFD5B4B-3671-B848-95E4-ADF31596AF96}" type="presParOf" srcId="{83F516AA-276C-8B48-B79C-A85D1AA1EBDB}" destId="{CD400BFF-7054-E743-B703-98D9FA302329}" srcOrd="3" destOrd="0" presId="urn:microsoft.com/office/officeart/2005/8/layout/default"/>
    <dgm:cxn modelId="{2553E773-EDBF-DD4A-8F1B-AE98C80F7E70}" type="presParOf" srcId="{83F516AA-276C-8B48-B79C-A85D1AA1EBDB}" destId="{DA5509F9-CB8C-2340-B91F-47712134973D}" srcOrd="4" destOrd="0" presId="urn:microsoft.com/office/officeart/2005/8/layout/default"/>
    <dgm:cxn modelId="{2EB5DD05-A9BB-1440-81BF-60C34B240544}" type="presParOf" srcId="{83F516AA-276C-8B48-B79C-A85D1AA1EBDB}" destId="{E89E08BE-7189-4646-9F83-AE7487C3CF2C}" srcOrd="5" destOrd="0" presId="urn:microsoft.com/office/officeart/2005/8/layout/default"/>
    <dgm:cxn modelId="{0188AFF6-5D6C-F540-990B-B1150EF98922}" type="presParOf" srcId="{83F516AA-276C-8B48-B79C-A85D1AA1EBDB}" destId="{9EB236D1-BBFD-D444-AE6C-0D3B5E069C7D}" srcOrd="6" destOrd="0" presId="urn:microsoft.com/office/officeart/2005/8/layout/default"/>
    <dgm:cxn modelId="{926F6FFD-8D89-8349-BB20-C5AC386442A9}" type="presParOf" srcId="{83F516AA-276C-8B48-B79C-A85D1AA1EBDB}" destId="{279CFAFE-05E5-5842-8173-85EBB607DA42}" srcOrd="7" destOrd="0" presId="urn:microsoft.com/office/officeart/2005/8/layout/default"/>
    <dgm:cxn modelId="{B95AA6CF-A58E-784C-80C0-F8BF7B896260}" type="presParOf" srcId="{83F516AA-276C-8B48-B79C-A85D1AA1EBDB}" destId="{48E47D0B-CF33-7645-8356-56D414BF6280}" srcOrd="8" destOrd="0" presId="urn:microsoft.com/office/officeart/2005/8/layout/default"/>
    <dgm:cxn modelId="{28068102-FB23-4F40-BA41-1819EC05E1BE}" type="presParOf" srcId="{83F516AA-276C-8B48-B79C-A85D1AA1EBDB}" destId="{341802D2-AAAC-1741-BCFB-3B34F7C5CD13}" srcOrd="9" destOrd="0" presId="urn:microsoft.com/office/officeart/2005/8/layout/default"/>
    <dgm:cxn modelId="{B6F8CB9A-F8B8-0C46-AED2-BFB560CB99F2}" type="presParOf" srcId="{83F516AA-276C-8B48-B79C-A85D1AA1EBDB}" destId="{3A52004E-FCC9-354D-8BA3-C9F4843766C4}" srcOrd="10" destOrd="0" presId="urn:microsoft.com/office/officeart/2005/8/layout/default"/>
    <dgm:cxn modelId="{16C1FA41-FB7C-5246-85E8-C8B88E0DFF18}" type="presParOf" srcId="{83F516AA-276C-8B48-B79C-A85D1AA1EBDB}" destId="{B6914873-4D7C-CB42-94B9-57453E1C902A}" srcOrd="11" destOrd="0" presId="urn:microsoft.com/office/officeart/2005/8/layout/default"/>
    <dgm:cxn modelId="{530D2AD0-E5DC-E044-BAA0-FBF4EF053F85}" type="presParOf" srcId="{83F516AA-276C-8B48-B79C-A85D1AA1EBDB}" destId="{A4365A4F-9ADD-6147-9598-8710359998DA}" srcOrd="12" destOrd="0" presId="urn:microsoft.com/office/officeart/2005/8/layout/default"/>
    <dgm:cxn modelId="{CF872086-34C0-2948-B0F4-F13767706ED5}" type="presParOf" srcId="{83F516AA-276C-8B48-B79C-A85D1AA1EBDB}" destId="{5918C765-B0BE-8345-B2FD-0D17309DE52F}" srcOrd="13" destOrd="0" presId="urn:microsoft.com/office/officeart/2005/8/layout/default"/>
    <dgm:cxn modelId="{0AFF05BE-C643-3343-9916-BEE80B7F9818}" type="presParOf" srcId="{83F516AA-276C-8B48-B79C-A85D1AA1EBDB}" destId="{E6920147-4452-3A4D-84DB-E30D94E428F1}" srcOrd="14"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74CCAC-9162-4597-ADEB-908B4BF409C8}"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6AA3ECDB-B1F4-422E-B84D-40C0699329EA}">
      <dgm:prSet/>
      <dgm:spPr/>
      <dgm:t>
        <a:bodyPr/>
        <a:lstStyle/>
        <a:p>
          <a:r>
            <a:rPr lang="en-US"/>
            <a:t>∗ Recover from hardware failure</a:t>
          </a:r>
        </a:p>
      </dgm:t>
    </dgm:pt>
    <dgm:pt modelId="{D64B619E-0A61-4342-82E5-6028B9B4DF19}" type="parTrans" cxnId="{8F73C63C-4CD8-4630-A3A8-72645EA489E9}">
      <dgm:prSet/>
      <dgm:spPr/>
      <dgm:t>
        <a:bodyPr/>
        <a:lstStyle/>
        <a:p>
          <a:endParaRPr lang="en-US"/>
        </a:p>
      </dgm:t>
    </dgm:pt>
    <dgm:pt modelId="{009FDE5A-B944-477C-BB72-CE90F965ECF9}" type="sibTrans" cxnId="{8F73C63C-4CD8-4630-A3A8-72645EA489E9}">
      <dgm:prSet/>
      <dgm:spPr/>
      <dgm:t>
        <a:bodyPr/>
        <a:lstStyle/>
        <a:p>
          <a:endParaRPr lang="en-US"/>
        </a:p>
      </dgm:t>
    </dgm:pt>
    <dgm:pt modelId="{752DDDA2-D6DA-4FAB-BC24-9E711D4B2724}">
      <dgm:prSet/>
      <dgm:spPr/>
      <dgm:t>
        <a:bodyPr/>
        <a:lstStyle/>
        <a:p>
          <a:r>
            <a:rPr lang="en-US"/>
            <a:t>∗ Streaming data access</a:t>
          </a:r>
        </a:p>
      </dgm:t>
    </dgm:pt>
    <dgm:pt modelId="{8CE34E08-677A-483B-B0DD-6568BC5588C3}" type="parTrans" cxnId="{A23DF90A-21AE-4C7B-BF11-DFA2EF018CCC}">
      <dgm:prSet/>
      <dgm:spPr/>
      <dgm:t>
        <a:bodyPr/>
        <a:lstStyle/>
        <a:p>
          <a:endParaRPr lang="en-US"/>
        </a:p>
      </dgm:t>
    </dgm:pt>
    <dgm:pt modelId="{1674DA09-09EF-4A9A-8641-964F19FC92D5}" type="sibTrans" cxnId="{A23DF90A-21AE-4C7B-BF11-DFA2EF018CCC}">
      <dgm:prSet/>
      <dgm:spPr/>
      <dgm:t>
        <a:bodyPr/>
        <a:lstStyle/>
        <a:p>
          <a:endParaRPr lang="en-US"/>
        </a:p>
      </dgm:t>
    </dgm:pt>
    <dgm:pt modelId="{3E174191-5C97-4320-8AA3-B7B2B13BF7F0}">
      <dgm:prSet/>
      <dgm:spPr/>
      <dgm:t>
        <a:bodyPr/>
        <a:lstStyle/>
        <a:p>
          <a:r>
            <a:rPr lang="en-US"/>
            <a:t>∗ Large data file / dataset</a:t>
          </a:r>
        </a:p>
      </dgm:t>
    </dgm:pt>
    <dgm:pt modelId="{B47FCA3F-9FC6-46B4-AE6B-9CA00D07DCBA}" type="parTrans" cxnId="{C8B03A1C-0C54-422E-AC35-B8A1F04F7D2C}">
      <dgm:prSet/>
      <dgm:spPr/>
      <dgm:t>
        <a:bodyPr/>
        <a:lstStyle/>
        <a:p>
          <a:endParaRPr lang="en-US"/>
        </a:p>
      </dgm:t>
    </dgm:pt>
    <dgm:pt modelId="{75EB2254-6B7C-4ECA-ABED-5F569B88A450}" type="sibTrans" cxnId="{C8B03A1C-0C54-422E-AC35-B8A1F04F7D2C}">
      <dgm:prSet/>
      <dgm:spPr/>
      <dgm:t>
        <a:bodyPr/>
        <a:lstStyle/>
        <a:p>
          <a:endParaRPr lang="en-US"/>
        </a:p>
      </dgm:t>
    </dgm:pt>
    <dgm:pt modelId="{16FC36AC-1CA3-4C30-B880-211052195A8A}">
      <dgm:prSet/>
      <dgm:spPr/>
      <dgm:t>
        <a:bodyPr/>
        <a:lstStyle/>
        <a:p>
          <a:r>
            <a:rPr lang="en-US"/>
            <a:t>∗ Write-once-read-many IO model</a:t>
          </a:r>
        </a:p>
      </dgm:t>
    </dgm:pt>
    <dgm:pt modelId="{7E77798B-128C-4869-BB60-3CC0662DD9A3}" type="parTrans" cxnId="{19CB558C-F4F5-4492-AF23-D75191E30FA8}">
      <dgm:prSet/>
      <dgm:spPr/>
      <dgm:t>
        <a:bodyPr/>
        <a:lstStyle/>
        <a:p>
          <a:endParaRPr lang="en-US"/>
        </a:p>
      </dgm:t>
    </dgm:pt>
    <dgm:pt modelId="{360F4BA6-6371-4EAA-A514-79AE55A696EE}" type="sibTrans" cxnId="{19CB558C-F4F5-4492-AF23-D75191E30FA8}">
      <dgm:prSet/>
      <dgm:spPr/>
      <dgm:t>
        <a:bodyPr/>
        <a:lstStyle/>
        <a:p>
          <a:endParaRPr lang="en-US"/>
        </a:p>
      </dgm:t>
    </dgm:pt>
    <dgm:pt modelId="{FEFF2018-7E46-4B47-81D2-CC2F1D33D691}">
      <dgm:prSet/>
      <dgm:spPr/>
      <dgm:t>
        <a:bodyPr/>
        <a:lstStyle/>
        <a:p>
          <a:r>
            <a:rPr lang="en-US"/>
            <a:t>∗ Move computation to data</a:t>
          </a:r>
        </a:p>
      </dgm:t>
    </dgm:pt>
    <dgm:pt modelId="{ED8A03E0-340C-464D-A42C-4E5F27A1F977}" type="parTrans" cxnId="{218E0535-75D9-40D8-B6BF-BE1E07DCEDA5}">
      <dgm:prSet/>
      <dgm:spPr/>
      <dgm:t>
        <a:bodyPr/>
        <a:lstStyle/>
        <a:p>
          <a:endParaRPr lang="en-US"/>
        </a:p>
      </dgm:t>
    </dgm:pt>
    <dgm:pt modelId="{F8F6136E-876F-40EB-9B46-829ABE408D78}" type="sibTrans" cxnId="{218E0535-75D9-40D8-B6BF-BE1E07DCEDA5}">
      <dgm:prSet/>
      <dgm:spPr/>
      <dgm:t>
        <a:bodyPr/>
        <a:lstStyle/>
        <a:p>
          <a:endParaRPr lang="en-US"/>
        </a:p>
      </dgm:t>
    </dgm:pt>
    <dgm:pt modelId="{FC5F2FE3-1358-4B55-9AB8-BA9BB41D7C3B}">
      <dgm:prSet/>
      <dgm:spPr/>
      <dgm:t>
        <a:bodyPr/>
        <a:lstStyle/>
        <a:p>
          <a:r>
            <a:rPr lang="en-US"/>
            <a:t>∗ Commodity hardware</a:t>
          </a:r>
        </a:p>
      </dgm:t>
    </dgm:pt>
    <dgm:pt modelId="{201A0FC3-F4F5-438D-A8BE-F4F643C9E7FD}" type="parTrans" cxnId="{F4EEBA1C-6D9F-4240-862D-983BD1CC1955}">
      <dgm:prSet/>
      <dgm:spPr/>
      <dgm:t>
        <a:bodyPr/>
        <a:lstStyle/>
        <a:p>
          <a:endParaRPr lang="en-US"/>
        </a:p>
      </dgm:t>
    </dgm:pt>
    <dgm:pt modelId="{5DA5FE1E-410D-4F12-955D-181931F6ADD5}" type="sibTrans" cxnId="{F4EEBA1C-6D9F-4240-862D-983BD1CC1955}">
      <dgm:prSet/>
      <dgm:spPr/>
      <dgm:t>
        <a:bodyPr/>
        <a:lstStyle/>
        <a:p>
          <a:endParaRPr lang="en-US"/>
        </a:p>
      </dgm:t>
    </dgm:pt>
    <dgm:pt modelId="{FC4AD86A-777D-461A-9CDC-233648DDE6E1}">
      <dgm:prSet/>
      <dgm:spPr/>
      <dgm:t>
        <a:bodyPr/>
        <a:lstStyle/>
        <a:p>
          <a:r>
            <a:rPr lang="en-US"/>
            <a:t>∗ Do not conflict with OS file system</a:t>
          </a:r>
        </a:p>
      </dgm:t>
    </dgm:pt>
    <dgm:pt modelId="{B9066A9B-C3EF-471A-B61E-570D87A298D2}" type="parTrans" cxnId="{8994D9C3-8DAA-4B98-AA12-148BBA4DA5D4}">
      <dgm:prSet/>
      <dgm:spPr/>
      <dgm:t>
        <a:bodyPr/>
        <a:lstStyle/>
        <a:p>
          <a:endParaRPr lang="en-US"/>
        </a:p>
      </dgm:t>
    </dgm:pt>
    <dgm:pt modelId="{A6768109-5002-498E-A225-7187C1006044}" type="sibTrans" cxnId="{8994D9C3-8DAA-4B98-AA12-148BBA4DA5D4}">
      <dgm:prSet/>
      <dgm:spPr/>
      <dgm:t>
        <a:bodyPr/>
        <a:lstStyle/>
        <a:p>
          <a:endParaRPr lang="en-US"/>
        </a:p>
      </dgm:t>
    </dgm:pt>
    <dgm:pt modelId="{6F75003A-193F-4D40-A6DF-D7133BF48312}">
      <dgm:prSet/>
      <dgm:spPr/>
      <dgm:t>
        <a:bodyPr/>
        <a:lstStyle/>
        <a:p>
          <a:r>
            <a:rPr lang="en-US"/>
            <a:t>∗ Not good – low-latency and many small files</a:t>
          </a:r>
        </a:p>
      </dgm:t>
    </dgm:pt>
    <dgm:pt modelId="{6FD9A0FF-049C-4E4A-B867-1EE848936930}" type="parTrans" cxnId="{BC677A07-98D6-4202-AFA1-90E41C55B987}">
      <dgm:prSet/>
      <dgm:spPr/>
      <dgm:t>
        <a:bodyPr/>
        <a:lstStyle/>
        <a:p>
          <a:endParaRPr lang="en-US"/>
        </a:p>
      </dgm:t>
    </dgm:pt>
    <dgm:pt modelId="{E6A32564-83FD-4F0D-B994-5778748BA8E5}" type="sibTrans" cxnId="{BC677A07-98D6-4202-AFA1-90E41C55B987}">
      <dgm:prSet/>
      <dgm:spPr/>
      <dgm:t>
        <a:bodyPr/>
        <a:lstStyle/>
        <a:p>
          <a:endParaRPr lang="en-US"/>
        </a:p>
      </dgm:t>
    </dgm:pt>
    <dgm:pt modelId="{8E2E7A8F-FF9B-0145-AFEF-C30EE740210F}" type="pres">
      <dgm:prSet presAssocID="{FE74CCAC-9162-4597-ADEB-908B4BF409C8}" presName="vert0" presStyleCnt="0">
        <dgm:presLayoutVars>
          <dgm:dir/>
          <dgm:animOne val="branch"/>
          <dgm:animLvl val="lvl"/>
        </dgm:presLayoutVars>
      </dgm:prSet>
      <dgm:spPr/>
    </dgm:pt>
    <dgm:pt modelId="{7EDC0742-7542-7B4A-AEE6-08AD85BF323E}" type="pres">
      <dgm:prSet presAssocID="{6AA3ECDB-B1F4-422E-B84D-40C0699329EA}" presName="thickLine" presStyleLbl="alignNode1" presStyleIdx="0" presStyleCnt="8"/>
      <dgm:spPr/>
    </dgm:pt>
    <dgm:pt modelId="{85E9FA76-7236-8445-8AE2-8712730A3236}" type="pres">
      <dgm:prSet presAssocID="{6AA3ECDB-B1F4-422E-B84D-40C0699329EA}" presName="horz1" presStyleCnt="0"/>
      <dgm:spPr/>
    </dgm:pt>
    <dgm:pt modelId="{1DD6EFE7-7D2E-6A4D-8B76-A54275C0914B}" type="pres">
      <dgm:prSet presAssocID="{6AA3ECDB-B1F4-422E-B84D-40C0699329EA}" presName="tx1" presStyleLbl="revTx" presStyleIdx="0" presStyleCnt="8"/>
      <dgm:spPr/>
    </dgm:pt>
    <dgm:pt modelId="{9EFE166F-17DF-904F-AB10-1FBBCBC8DC2F}" type="pres">
      <dgm:prSet presAssocID="{6AA3ECDB-B1F4-422E-B84D-40C0699329EA}" presName="vert1" presStyleCnt="0"/>
      <dgm:spPr/>
    </dgm:pt>
    <dgm:pt modelId="{AFEF0E8D-710E-7C41-ACAD-31EEA6919D41}" type="pres">
      <dgm:prSet presAssocID="{752DDDA2-D6DA-4FAB-BC24-9E711D4B2724}" presName="thickLine" presStyleLbl="alignNode1" presStyleIdx="1" presStyleCnt="8"/>
      <dgm:spPr/>
    </dgm:pt>
    <dgm:pt modelId="{0391EE20-A8A4-BB42-9910-DC8BDD9556CA}" type="pres">
      <dgm:prSet presAssocID="{752DDDA2-D6DA-4FAB-BC24-9E711D4B2724}" presName="horz1" presStyleCnt="0"/>
      <dgm:spPr/>
    </dgm:pt>
    <dgm:pt modelId="{463BA5BA-9B92-FC47-B49E-A0A826E5631C}" type="pres">
      <dgm:prSet presAssocID="{752DDDA2-D6DA-4FAB-BC24-9E711D4B2724}" presName="tx1" presStyleLbl="revTx" presStyleIdx="1" presStyleCnt="8"/>
      <dgm:spPr/>
    </dgm:pt>
    <dgm:pt modelId="{AE5B67AF-ACF8-8748-934B-E1402FEA9117}" type="pres">
      <dgm:prSet presAssocID="{752DDDA2-D6DA-4FAB-BC24-9E711D4B2724}" presName="vert1" presStyleCnt="0"/>
      <dgm:spPr/>
    </dgm:pt>
    <dgm:pt modelId="{7780FE99-21DB-1F4B-AED7-D2F1B3CF13AA}" type="pres">
      <dgm:prSet presAssocID="{3E174191-5C97-4320-8AA3-B7B2B13BF7F0}" presName="thickLine" presStyleLbl="alignNode1" presStyleIdx="2" presStyleCnt="8"/>
      <dgm:spPr/>
    </dgm:pt>
    <dgm:pt modelId="{D5C9AE3A-D795-CD42-9322-54412C1C36A6}" type="pres">
      <dgm:prSet presAssocID="{3E174191-5C97-4320-8AA3-B7B2B13BF7F0}" presName="horz1" presStyleCnt="0"/>
      <dgm:spPr/>
    </dgm:pt>
    <dgm:pt modelId="{F2FD1C4A-B721-4D49-A959-26E3DA804A3D}" type="pres">
      <dgm:prSet presAssocID="{3E174191-5C97-4320-8AA3-B7B2B13BF7F0}" presName="tx1" presStyleLbl="revTx" presStyleIdx="2" presStyleCnt="8"/>
      <dgm:spPr/>
    </dgm:pt>
    <dgm:pt modelId="{90780515-53FF-3741-A3AF-096F65202952}" type="pres">
      <dgm:prSet presAssocID="{3E174191-5C97-4320-8AA3-B7B2B13BF7F0}" presName="vert1" presStyleCnt="0"/>
      <dgm:spPr/>
    </dgm:pt>
    <dgm:pt modelId="{0765DB43-950E-F240-9FCC-835F47131B03}" type="pres">
      <dgm:prSet presAssocID="{16FC36AC-1CA3-4C30-B880-211052195A8A}" presName="thickLine" presStyleLbl="alignNode1" presStyleIdx="3" presStyleCnt="8"/>
      <dgm:spPr/>
    </dgm:pt>
    <dgm:pt modelId="{75A07517-34F3-E944-A5A0-2DE84FBE56D0}" type="pres">
      <dgm:prSet presAssocID="{16FC36AC-1CA3-4C30-B880-211052195A8A}" presName="horz1" presStyleCnt="0"/>
      <dgm:spPr/>
    </dgm:pt>
    <dgm:pt modelId="{E3C5DC3C-78E6-1046-8992-769FD8488E4E}" type="pres">
      <dgm:prSet presAssocID="{16FC36AC-1CA3-4C30-B880-211052195A8A}" presName="tx1" presStyleLbl="revTx" presStyleIdx="3" presStyleCnt="8"/>
      <dgm:spPr/>
    </dgm:pt>
    <dgm:pt modelId="{D462BEC0-E207-6F40-BACF-717BB73A9F83}" type="pres">
      <dgm:prSet presAssocID="{16FC36AC-1CA3-4C30-B880-211052195A8A}" presName="vert1" presStyleCnt="0"/>
      <dgm:spPr/>
    </dgm:pt>
    <dgm:pt modelId="{DAF3D76B-F6A4-EF49-8485-43553A686482}" type="pres">
      <dgm:prSet presAssocID="{FEFF2018-7E46-4B47-81D2-CC2F1D33D691}" presName="thickLine" presStyleLbl="alignNode1" presStyleIdx="4" presStyleCnt="8"/>
      <dgm:spPr/>
    </dgm:pt>
    <dgm:pt modelId="{FDD1D19C-1B3E-A14F-B3FB-AF55A42DCA97}" type="pres">
      <dgm:prSet presAssocID="{FEFF2018-7E46-4B47-81D2-CC2F1D33D691}" presName="horz1" presStyleCnt="0"/>
      <dgm:spPr/>
    </dgm:pt>
    <dgm:pt modelId="{FF13ABE8-BD75-9F4F-B0DC-AF47F76C24B5}" type="pres">
      <dgm:prSet presAssocID="{FEFF2018-7E46-4B47-81D2-CC2F1D33D691}" presName="tx1" presStyleLbl="revTx" presStyleIdx="4" presStyleCnt="8"/>
      <dgm:spPr/>
    </dgm:pt>
    <dgm:pt modelId="{DC78568D-1B1F-3941-A3EC-2CD94077E5F9}" type="pres">
      <dgm:prSet presAssocID="{FEFF2018-7E46-4B47-81D2-CC2F1D33D691}" presName="vert1" presStyleCnt="0"/>
      <dgm:spPr/>
    </dgm:pt>
    <dgm:pt modelId="{41AF9D53-51AA-024A-B5C7-E7CE90000277}" type="pres">
      <dgm:prSet presAssocID="{FC5F2FE3-1358-4B55-9AB8-BA9BB41D7C3B}" presName="thickLine" presStyleLbl="alignNode1" presStyleIdx="5" presStyleCnt="8"/>
      <dgm:spPr/>
    </dgm:pt>
    <dgm:pt modelId="{314F3510-214A-C44A-A8E1-0ADF71165391}" type="pres">
      <dgm:prSet presAssocID="{FC5F2FE3-1358-4B55-9AB8-BA9BB41D7C3B}" presName="horz1" presStyleCnt="0"/>
      <dgm:spPr/>
    </dgm:pt>
    <dgm:pt modelId="{84C39837-622A-7549-BE51-D2D41A9F808A}" type="pres">
      <dgm:prSet presAssocID="{FC5F2FE3-1358-4B55-9AB8-BA9BB41D7C3B}" presName="tx1" presStyleLbl="revTx" presStyleIdx="5" presStyleCnt="8"/>
      <dgm:spPr/>
    </dgm:pt>
    <dgm:pt modelId="{6309942B-433F-874E-BA85-1F7C856429C7}" type="pres">
      <dgm:prSet presAssocID="{FC5F2FE3-1358-4B55-9AB8-BA9BB41D7C3B}" presName="vert1" presStyleCnt="0"/>
      <dgm:spPr/>
    </dgm:pt>
    <dgm:pt modelId="{95315169-6D2C-8D44-AA00-AEB6B7244855}" type="pres">
      <dgm:prSet presAssocID="{FC4AD86A-777D-461A-9CDC-233648DDE6E1}" presName="thickLine" presStyleLbl="alignNode1" presStyleIdx="6" presStyleCnt="8"/>
      <dgm:spPr/>
    </dgm:pt>
    <dgm:pt modelId="{AC236A14-3206-9E4D-A535-C0D03C7898E8}" type="pres">
      <dgm:prSet presAssocID="{FC4AD86A-777D-461A-9CDC-233648DDE6E1}" presName="horz1" presStyleCnt="0"/>
      <dgm:spPr/>
    </dgm:pt>
    <dgm:pt modelId="{6E35C984-F953-B543-BAE9-8F905E4CAA81}" type="pres">
      <dgm:prSet presAssocID="{FC4AD86A-777D-461A-9CDC-233648DDE6E1}" presName="tx1" presStyleLbl="revTx" presStyleIdx="6" presStyleCnt="8"/>
      <dgm:spPr/>
    </dgm:pt>
    <dgm:pt modelId="{9642E87D-BD53-9A41-B17C-0058A1CF0002}" type="pres">
      <dgm:prSet presAssocID="{FC4AD86A-777D-461A-9CDC-233648DDE6E1}" presName="vert1" presStyleCnt="0"/>
      <dgm:spPr/>
    </dgm:pt>
    <dgm:pt modelId="{722AC991-E8BA-DB43-8552-4C068D19A193}" type="pres">
      <dgm:prSet presAssocID="{6F75003A-193F-4D40-A6DF-D7133BF48312}" presName="thickLine" presStyleLbl="alignNode1" presStyleIdx="7" presStyleCnt="8"/>
      <dgm:spPr/>
    </dgm:pt>
    <dgm:pt modelId="{69EBD2B0-A500-234E-BADF-58786589EF5A}" type="pres">
      <dgm:prSet presAssocID="{6F75003A-193F-4D40-A6DF-D7133BF48312}" presName="horz1" presStyleCnt="0"/>
      <dgm:spPr/>
    </dgm:pt>
    <dgm:pt modelId="{7412B6AF-CEB1-2E47-AD56-98E4FF45B0E4}" type="pres">
      <dgm:prSet presAssocID="{6F75003A-193F-4D40-A6DF-D7133BF48312}" presName="tx1" presStyleLbl="revTx" presStyleIdx="7" presStyleCnt="8"/>
      <dgm:spPr/>
    </dgm:pt>
    <dgm:pt modelId="{38505AEF-D735-8E41-AF92-BDDDE1AB0A1A}" type="pres">
      <dgm:prSet presAssocID="{6F75003A-193F-4D40-A6DF-D7133BF48312}" presName="vert1" presStyleCnt="0"/>
      <dgm:spPr/>
    </dgm:pt>
  </dgm:ptLst>
  <dgm:cxnLst>
    <dgm:cxn modelId="{BC677A07-98D6-4202-AFA1-90E41C55B987}" srcId="{FE74CCAC-9162-4597-ADEB-908B4BF409C8}" destId="{6F75003A-193F-4D40-A6DF-D7133BF48312}" srcOrd="7" destOrd="0" parTransId="{6FD9A0FF-049C-4E4A-B867-1EE848936930}" sibTransId="{E6A32564-83FD-4F0D-B994-5778748BA8E5}"/>
    <dgm:cxn modelId="{A23DF90A-21AE-4C7B-BF11-DFA2EF018CCC}" srcId="{FE74CCAC-9162-4597-ADEB-908B4BF409C8}" destId="{752DDDA2-D6DA-4FAB-BC24-9E711D4B2724}" srcOrd="1" destOrd="0" parTransId="{8CE34E08-677A-483B-B0DD-6568BC5588C3}" sibTransId="{1674DA09-09EF-4A9A-8641-964F19FC92D5}"/>
    <dgm:cxn modelId="{7FA9E40F-6BB8-CD40-A693-7406409F5A4E}" type="presOf" srcId="{6F75003A-193F-4D40-A6DF-D7133BF48312}" destId="{7412B6AF-CEB1-2E47-AD56-98E4FF45B0E4}" srcOrd="0" destOrd="0" presId="urn:microsoft.com/office/officeart/2008/layout/LinedList"/>
    <dgm:cxn modelId="{C8B03A1C-0C54-422E-AC35-B8A1F04F7D2C}" srcId="{FE74CCAC-9162-4597-ADEB-908B4BF409C8}" destId="{3E174191-5C97-4320-8AA3-B7B2B13BF7F0}" srcOrd="2" destOrd="0" parTransId="{B47FCA3F-9FC6-46B4-AE6B-9CA00D07DCBA}" sibTransId="{75EB2254-6B7C-4ECA-ABED-5F569B88A450}"/>
    <dgm:cxn modelId="{F4EEBA1C-6D9F-4240-862D-983BD1CC1955}" srcId="{FE74CCAC-9162-4597-ADEB-908B4BF409C8}" destId="{FC5F2FE3-1358-4B55-9AB8-BA9BB41D7C3B}" srcOrd="5" destOrd="0" parTransId="{201A0FC3-F4F5-438D-A8BE-F4F643C9E7FD}" sibTransId="{5DA5FE1E-410D-4F12-955D-181931F6ADD5}"/>
    <dgm:cxn modelId="{218E0535-75D9-40D8-B6BF-BE1E07DCEDA5}" srcId="{FE74CCAC-9162-4597-ADEB-908B4BF409C8}" destId="{FEFF2018-7E46-4B47-81D2-CC2F1D33D691}" srcOrd="4" destOrd="0" parTransId="{ED8A03E0-340C-464D-A42C-4E5F27A1F977}" sibTransId="{F8F6136E-876F-40EB-9B46-829ABE408D78}"/>
    <dgm:cxn modelId="{8F73C63C-4CD8-4630-A3A8-72645EA489E9}" srcId="{FE74CCAC-9162-4597-ADEB-908B4BF409C8}" destId="{6AA3ECDB-B1F4-422E-B84D-40C0699329EA}" srcOrd="0" destOrd="0" parTransId="{D64B619E-0A61-4342-82E5-6028B9B4DF19}" sibTransId="{009FDE5A-B944-477C-BB72-CE90F965ECF9}"/>
    <dgm:cxn modelId="{468C618B-E19E-7C41-B116-6D917BBD78D4}" type="presOf" srcId="{FC4AD86A-777D-461A-9CDC-233648DDE6E1}" destId="{6E35C984-F953-B543-BAE9-8F905E4CAA81}" srcOrd="0" destOrd="0" presId="urn:microsoft.com/office/officeart/2008/layout/LinedList"/>
    <dgm:cxn modelId="{19CB558C-F4F5-4492-AF23-D75191E30FA8}" srcId="{FE74CCAC-9162-4597-ADEB-908B4BF409C8}" destId="{16FC36AC-1CA3-4C30-B880-211052195A8A}" srcOrd="3" destOrd="0" parTransId="{7E77798B-128C-4869-BB60-3CC0662DD9A3}" sibTransId="{360F4BA6-6371-4EAA-A514-79AE55A696EE}"/>
    <dgm:cxn modelId="{4F36688F-E977-AD49-8FC4-92B66797A9B5}" type="presOf" srcId="{752DDDA2-D6DA-4FAB-BC24-9E711D4B2724}" destId="{463BA5BA-9B92-FC47-B49E-A0A826E5631C}" srcOrd="0" destOrd="0" presId="urn:microsoft.com/office/officeart/2008/layout/LinedList"/>
    <dgm:cxn modelId="{5BB57893-6EFB-844E-9FF4-93029FD5C33D}" type="presOf" srcId="{6AA3ECDB-B1F4-422E-B84D-40C0699329EA}" destId="{1DD6EFE7-7D2E-6A4D-8B76-A54275C0914B}" srcOrd="0" destOrd="0" presId="urn:microsoft.com/office/officeart/2008/layout/LinedList"/>
    <dgm:cxn modelId="{AE729AA0-F1C1-314C-B4DF-C6027FB97D16}" type="presOf" srcId="{FC5F2FE3-1358-4B55-9AB8-BA9BB41D7C3B}" destId="{84C39837-622A-7549-BE51-D2D41A9F808A}" srcOrd="0" destOrd="0" presId="urn:microsoft.com/office/officeart/2008/layout/LinedList"/>
    <dgm:cxn modelId="{43270AB5-AB12-DC4B-A5AE-B3ACFA2BBC9E}" type="presOf" srcId="{3E174191-5C97-4320-8AA3-B7B2B13BF7F0}" destId="{F2FD1C4A-B721-4D49-A959-26E3DA804A3D}" srcOrd="0" destOrd="0" presId="urn:microsoft.com/office/officeart/2008/layout/LinedList"/>
    <dgm:cxn modelId="{8994D9C3-8DAA-4B98-AA12-148BBA4DA5D4}" srcId="{FE74CCAC-9162-4597-ADEB-908B4BF409C8}" destId="{FC4AD86A-777D-461A-9CDC-233648DDE6E1}" srcOrd="6" destOrd="0" parTransId="{B9066A9B-C3EF-471A-B61E-570D87A298D2}" sibTransId="{A6768109-5002-498E-A225-7187C1006044}"/>
    <dgm:cxn modelId="{3EA513CA-F829-A44A-B7C1-F547BA2E30E3}" type="presOf" srcId="{16FC36AC-1CA3-4C30-B880-211052195A8A}" destId="{E3C5DC3C-78E6-1046-8992-769FD8488E4E}" srcOrd="0" destOrd="0" presId="urn:microsoft.com/office/officeart/2008/layout/LinedList"/>
    <dgm:cxn modelId="{DEBA58F7-2DEB-0349-B497-34C9327EA130}" type="presOf" srcId="{FE74CCAC-9162-4597-ADEB-908B4BF409C8}" destId="{8E2E7A8F-FF9B-0145-AFEF-C30EE740210F}" srcOrd="0" destOrd="0" presId="urn:microsoft.com/office/officeart/2008/layout/LinedList"/>
    <dgm:cxn modelId="{8180D1FC-A4CC-374E-9E00-9FB6F2E03ABC}" type="presOf" srcId="{FEFF2018-7E46-4B47-81D2-CC2F1D33D691}" destId="{FF13ABE8-BD75-9F4F-B0DC-AF47F76C24B5}" srcOrd="0" destOrd="0" presId="urn:microsoft.com/office/officeart/2008/layout/LinedList"/>
    <dgm:cxn modelId="{F9C8D0C6-43A7-7847-89C1-8FB50E285373}" type="presParOf" srcId="{8E2E7A8F-FF9B-0145-AFEF-C30EE740210F}" destId="{7EDC0742-7542-7B4A-AEE6-08AD85BF323E}" srcOrd="0" destOrd="0" presId="urn:microsoft.com/office/officeart/2008/layout/LinedList"/>
    <dgm:cxn modelId="{BCD17355-9B99-5641-9578-FE3C3FEFCAF8}" type="presParOf" srcId="{8E2E7A8F-FF9B-0145-AFEF-C30EE740210F}" destId="{85E9FA76-7236-8445-8AE2-8712730A3236}" srcOrd="1" destOrd="0" presId="urn:microsoft.com/office/officeart/2008/layout/LinedList"/>
    <dgm:cxn modelId="{F45E7501-3418-924D-9290-BFD6FBCBAF22}" type="presParOf" srcId="{85E9FA76-7236-8445-8AE2-8712730A3236}" destId="{1DD6EFE7-7D2E-6A4D-8B76-A54275C0914B}" srcOrd="0" destOrd="0" presId="urn:microsoft.com/office/officeart/2008/layout/LinedList"/>
    <dgm:cxn modelId="{F2B607EF-2936-A440-88A0-5A92BFBA9EC7}" type="presParOf" srcId="{85E9FA76-7236-8445-8AE2-8712730A3236}" destId="{9EFE166F-17DF-904F-AB10-1FBBCBC8DC2F}" srcOrd="1" destOrd="0" presId="urn:microsoft.com/office/officeart/2008/layout/LinedList"/>
    <dgm:cxn modelId="{F40FCE6B-018A-1D40-94EB-663A66CC4BA5}" type="presParOf" srcId="{8E2E7A8F-FF9B-0145-AFEF-C30EE740210F}" destId="{AFEF0E8D-710E-7C41-ACAD-31EEA6919D41}" srcOrd="2" destOrd="0" presId="urn:microsoft.com/office/officeart/2008/layout/LinedList"/>
    <dgm:cxn modelId="{881ECC68-92F9-9D4A-A934-F3E8BCE060DA}" type="presParOf" srcId="{8E2E7A8F-FF9B-0145-AFEF-C30EE740210F}" destId="{0391EE20-A8A4-BB42-9910-DC8BDD9556CA}" srcOrd="3" destOrd="0" presId="urn:microsoft.com/office/officeart/2008/layout/LinedList"/>
    <dgm:cxn modelId="{4B89F39D-BE43-D544-B95D-C6EC622D7A35}" type="presParOf" srcId="{0391EE20-A8A4-BB42-9910-DC8BDD9556CA}" destId="{463BA5BA-9B92-FC47-B49E-A0A826E5631C}" srcOrd="0" destOrd="0" presId="urn:microsoft.com/office/officeart/2008/layout/LinedList"/>
    <dgm:cxn modelId="{B45BC6CA-818A-964D-90F2-9EE8F40D44E3}" type="presParOf" srcId="{0391EE20-A8A4-BB42-9910-DC8BDD9556CA}" destId="{AE5B67AF-ACF8-8748-934B-E1402FEA9117}" srcOrd="1" destOrd="0" presId="urn:microsoft.com/office/officeart/2008/layout/LinedList"/>
    <dgm:cxn modelId="{C0CEE4E3-56BB-C041-9936-D40F57ED8A53}" type="presParOf" srcId="{8E2E7A8F-FF9B-0145-AFEF-C30EE740210F}" destId="{7780FE99-21DB-1F4B-AED7-D2F1B3CF13AA}" srcOrd="4" destOrd="0" presId="urn:microsoft.com/office/officeart/2008/layout/LinedList"/>
    <dgm:cxn modelId="{AB7916E9-51FA-FA45-BC8C-20170236A2E5}" type="presParOf" srcId="{8E2E7A8F-FF9B-0145-AFEF-C30EE740210F}" destId="{D5C9AE3A-D795-CD42-9322-54412C1C36A6}" srcOrd="5" destOrd="0" presId="urn:microsoft.com/office/officeart/2008/layout/LinedList"/>
    <dgm:cxn modelId="{80804F5F-2B82-D145-BBAF-45F01E60D756}" type="presParOf" srcId="{D5C9AE3A-D795-CD42-9322-54412C1C36A6}" destId="{F2FD1C4A-B721-4D49-A959-26E3DA804A3D}" srcOrd="0" destOrd="0" presId="urn:microsoft.com/office/officeart/2008/layout/LinedList"/>
    <dgm:cxn modelId="{D19C5086-3569-704E-A5EA-1729E747D769}" type="presParOf" srcId="{D5C9AE3A-D795-CD42-9322-54412C1C36A6}" destId="{90780515-53FF-3741-A3AF-096F65202952}" srcOrd="1" destOrd="0" presId="urn:microsoft.com/office/officeart/2008/layout/LinedList"/>
    <dgm:cxn modelId="{3B3ABD4E-60C1-C647-BE70-AC6E48986BD2}" type="presParOf" srcId="{8E2E7A8F-FF9B-0145-AFEF-C30EE740210F}" destId="{0765DB43-950E-F240-9FCC-835F47131B03}" srcOrd="6" destOrd="0" presId="urn:microsoft.com/office/officeart/2008/layout/LinedList"/>
    <dgm:cxn modelId="{51ADA20C-B57C-024F-8B5F-755DC4A488A0}" type="presParOf" srcId="{8E2E7A8F-FF9B-0145-AFEF-C30EE740210F}" destId="{75A07517-34F3-E944-A5A0-2DE84FBE56D0}" srcOrd="7" destOrd="0" presId="urn:microsoft.com/office/officeart/2008/layout/LinedList"/>
    <dgm:cxn modelId="{19A4BF4C-7939-7A4A-A203-D2E8C0F5EA35}" type="presParOf" srcId="{75A07517-34F3-E944-A5A0-2DE84FBE56D0}" destId="{E3C5DC3C-78E6-1046-8992-769FD8488E4E}" srcOrd="0" destOrd="0" presId="urn:microsoft.com/office/officeart/2008/layout/LinedList"/>
    <dgm:cxn modelId="{CE93F0AF-6C00-7346-B0BC-0C55DA00F399}" type="presParOf" srcId="{75A07517-34F3-E944-A5A0-2DE84FBE56D0}" destId="{D462BEC0-E207-6F40-BACF-717BB73A9F83}" srcOrd="1" destOrd="0" presId="urn:microsoft.com/office/officeart/2008/layout/LinedList"/>
    <dgm:cxn modelId="{2059BDEC-E808-8945-A78E-B1B39873E9FF}" type="presParOf" srcId="{8E2E7A8F-FF9B-0145-AFEF-C30EE740210F}" destId="{DAF3D76B-F6A4-EF49-8485-43553A686482}" srcOrd="8" destOrd="0" presId="urn:microsoft.com/office/officeart/2008/layout/LinedList"/>
    <dgm:cxn modelId="{B8BB253F-1621-604F-99B0-3E7386681980}" type="presParOf" srcId="{8E2E7A8F-FF9B-0145-AFEF-C30EE740210F}" destId="{FDD1D19C-1B3E-A14F-B3FB-AF55A42DCA97}" srcOrd="9" destOrd="0" presId="urn:microsoft.com/office/officeart/2008/layout/LinedList"/>
    <dgm:cxn modelId="{FA22E95B-B961-B74A-BD27-DBABCCA678EC}" type="presParOf" srcId="{FDD1D19C-1B3E-A14F-B3FB-AF55A42DCA97}" destId="{FF13ABE8-BD75-9F4F-B0DC-AF47F76C24B5}" srcOrd="0" destOrd="0" presId="urn:microsoft.com/office/officeart/2008/layout/LinedList"/>
    <dgm:cxn modelId="{88F0A9EE-A9A4-5B43-9C3E-504EE9386D8C}" type="presParOf" srcId="{FDD1D19C-1B3E-A14F-B3FB-AF55A42DCA97}" destId="{DC78568D-1B1F-3941-A3EC-2CD94077E5F9}" srcOrd="1" destOrd="0" presId="urn:microsoft.com/office/officeart/2008/layout/LinedList"/>
    <dgm:cxn modelId="{0CF37A63-6BE3-8F42-A2CE-9D7633CE0D5F}" type="presParOf" srcId="{8E2E7A8F-FF9B-0145-AFEF-C30EE740210F}" destId="{41AF9D53-51AA-024A-B5C7-E7CE90000277}" srcOrd="10" destOrd="0" presId="urn:microsoft.com/office/officeart/2008/layout/LinedList"/>
    <dgm:cxn modelId="{A4758CDC-2936-9F47-AF3B-4FCDC074F800}" type="presParOf" srcId="{8E2E7A8F-FF9B-0145-AFEF-C30EE740210F}" destId="{314F3510-214A-C44A-A8E1-0ADF71165391}" srcOrd="11" destOrd="0" presId="urn:microsoft.com/office/officeart/2008/layout/LinedList"/>
    <dgm:cxn modelId="{75D1A65B-13E5-B148-8E85-8741B7EEC11D}" type="presParOf" srcId="{314F3510-214A-C44A-A8E1-0ADF71165391}" destId="{84C39837-622A-7549-BE51-D2D41A9F808A}" srcOrd="0" destOrd="0" presId="urn:microsoft.com/office/officeart/2008/layout/LinedList"/>
    <dgm:cxn modelId="{E40FC63C-7F44-AA43-8B90-9E1BF0CEB6E8}" type="presParOf" srcId="{314F3510-214A-C44A-A8E1-0ADF71165391}" destId="{6309942B-433F-874E-BA85-1F7C856429C7}" srcOrd="1" destOrd="0" presId="urn:microsoft.com/office/officeart/2008/layout/LinedList"/>
    <dgm:cxn modelId="{F814EEE0-15F6-944A-BE7C-825B2075B068}" type="presParOf" srcId="{8E2E7A8F-FF9B-0145-AFEF-C30EE740210F}" destId="{95315169-6D2C-8D44-AA00-AEB6B7244855}" srcOrd="12" destOrd="0" presId="urn:microsoft.com/office/officeart/2008/layout/LinedList"/>
    <dgm:cxn modelId="{CB5509EF-06E7-6341-B7E8-B63986D4710E}" type="presParOf" srcId="{8E2E7A8F-FF9B-0145-AFEF-C30EE740210F}" destId="{AC236A14-3206-9E4D-A535-C0D03C7898E8}" srcOrd="13" destOrd="0" presId="urn:microsoft.com/office/officeart/2008/layout/LinedList"/>
    <dgm:cxn modelId="{F56E7170-5FA9-0C49-A54F-75F31E32B16D}" type="presParOf" srcId="{AC236A14-3206-9E4D-A535-C0D03C7898E8}" destId="{6E35C984-F953-B543-BAE9-8F905E4CAA81}" srcOrd="0" destOrd="0" presId="urn:microsoft.com/office/officeart/2008/layout/LinedList"/>
    <dgm:cxn modelId="{A03B9887-BBE3-3646-8FA1-92BCB3F648E5}" type="presParOf" srcId="{AC236A14-3206-9E4D-A535-C0D03C7898E8}" destId="{9642E87D-BD53-9A41-B17C-0058A1CF0002}" srcOrd="1" destOrd="0" presId="urn:microsoft.com/office/officeart/2008/layout/LinedList"/>
    <dgm:cxn modelId="{0010C0D4-E2D1-4E4D-9FCB-0F7436C1BCD2}" type="presParOf" srcId="{8E2E7A8F-FF9B-0145-AFEF-C30EE740210F}" destId="{722AC991-E8BA-DB43-8552-4C068D19A193}" srcOrd="14" destOrd="0" presId="urn:microsoft.com/office/officeart/2008/layout/LinedList"/>
    <dgm:cxn modelId="{19DCF1AD-C1A9-CC41-BACB-7DD4DC5429A0}" type="presParOf" srcId="{8E2E7A8F-FF9B-0145-AFEF-C30EE740210F}" destId="{69EBD2B0-A500-234E-BADF-58786589EF5A}" srcOrd="15" destOrd="0" presId="urn:microsoft.com/office/officeart/2008/layout/LinedList"/>
    <dgm:cxn modelId="{6168D7FD-D290-3940-B5C8-4A5A4034F9A1}" type="presParOf" srcId="{69EBD2B0-A500-234E-BADF-58786589EF5A}" destId="{7412B6AF-CEB1-2E47-AD56-98E4FF45B0E4}" srcOrd="0" destOrd="0" presId="urn:microsoft.com/office/officeart/2008/layout/LinedList"/>
    <dgm:cxn modelId="{BF2C453D-9C5B-984F-83E6-10DAFE2F8902}" type="presParOf" srcId="{69EBD2B0-A500-234E-BADF-58786589EF5A}" destId="{38505AEF-D735-8E41-AF92-BDDDE1AB0A1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7788F06-80AA-42EF-A29B-1CF35BEBDC7B}" type="doc">
      <dgm:prSet loTypeId="urn:microsoft.com/office/officeart/2005/8/layout/arrow5" loCatId="relationship" qsTypeId="urn:microsoft.com/office/officeart/2005/8/quickstyle/simple5" qsCatId="simple" csTypeId="urn:microsoft.com/office/officeart/2005/8/colors/accent1_2" csCatId="accent1" phldr="1"/>
      <dgm:spPr/>
      <dgm:t>
        <a:bodyPr/>
        <a:lstStyle/>
        <a:p>
          <a:endParaRPr lang="en-US"/>
        </a:p>
      </dgm:t>
    </dgm:pt>
    <dgm:pt modelId="{99A016D3-6EDD-416F-BF76-2B17956DC6B6}">
      <dgm:prSet/>
      <dgm:spPr/>
      <dgm:t>
        <a:bodyPr/>
        <a:lstStyle/>
        <a:p>
          <a:r>
            <a:rPr lang="en-US"/>
            <a:t>∗ Map step</a:t>
          </a:r>
        </a:p>
      </dgm:t>
    </dgm:pt>
    <dgm:pt modelId="{9D3067D4-6C87-43FC-BEB6-5E601EEA3BEF}" type="parTrans" cxnId="{55BD39E3-2A4F-4F0A-9351-66A02349A9DD}">
      <dgm:prSet/>
      <dgm:spPr/>
      <dgm:t>
        <a:bodyPr/>
        <a:lstStyle/>
        <a:p>
          <a:endParaRPr lang="en-US"/>
        </a:p>
      </dgm:t>
    </dgm:pt>
    <dgm:pt modelId="{7851651E-954C-49AC-B01C-3DD97760B61D}" type="sibTrans" cxnId="{55BD39E3-2A4F-4F0A-9351-66A02349A9DD}">
      <dgm:prSet/>
      <dgm:spPr/>
      <dgm:t>
        <a:bodyPr/>
        <a:lstStyle/>
        <a:p>
          <a:endParaRPr lang="en-US"/>
        </a:p>
      </dgm:t>
    </dgm:pt>
    <dgm:pt modelId="{E43B3FC4-5BB9-4B63-B599-DA0D327179AD}">
      <dgm:prSet/>
      <dgm:spPr/>
      <dgm:t>
        <a:bodyPr/>
        <a:lstStyle/>
        <a:p>
          <a:r>
            <a:rPr lang="en-US" dirty="0"/>
            <a:t>∗ Master node takes large problem input and slices it into smaller sub problems; distributes these to worker nodes</a:t>
          </a:r>
        </a:p>
      </dgm:t>
    </dgm:pt>
    <dgm:pt modelId="{31E5A0D1-D0CC-4339-9774-B402AD837501}" type="parTrans" cxnId="{2A3FDBB1-2D79-4C84-988C-6DE07C26F780}">
      <dgm:prSet/>
      <dgm:spPr/>
      <dgm:t>
        <a:bodyPr/>
        <a:lstStyle/>
        <a:p>
          <a:endParaRPr lang="en-US"/>
        </a:p>
      </dgm:t>
    </dgm:pt>
    <dgm:pt modelId="{37FDB5E6-CCA5-4640-8010-40EEA6B1FF32}" type="sibTrans" cxnId="{2A3FDBB1-2D79-4C84-988C-6DE07C26F780}">
      <dgm:prSet/>
      <dgm:spPr/>
      <dgm:t>
        <a:bodyPr/>
        <a:lstStyle/>
        <a:p>
          <a:endParaRPr lang="en-US"/>
        </a:p>
      </dgm:t>
    </dgm:pt>
    <dgm:pt modelId="{F03B85C0-980F-4C49-A154-7B4FF9054ED5}">
      <dgm:prSet/>
      <dgm:spPr/>
      <dgm:t>
        <a:bodyPr/>
        <a:lstStyle/>
        <a:p>
          <a:r>
            <a:rPr lang="en-US"/>
            <a:t>∗ Worker node may do this again; leads to a multi-level tree structure</a:t>
          </a:r>
        </a:p>
      </dgm:t>
    </dgm:pt>
    <dgm:pt modelId="{A10447CB-BD0A-47FC-AA7F-2321B0564679}" type="parTrans" cxnId="{ADFFE6B1-174D-4FAB-B291-234B4CCAE640}">
      <dgm:prSet/>
      <dgm:spPr/>
      <dgm:t>
        <a:bodyPr/>
        <a:lstStyle/>
        <a:p>
          <a:endParaRPr lang="en-US"/>
        </a:p>
      </dgm:t>
    </dgm:pt>
    <dgm:pt modelId="{AA3B2B03-1AF9-4C95-ADD7-55EFD8EE7459}" type="sibTrans" cxnId="{ADFFE6B1-174D-4FAB-B291-234B4CCAE640}">
      <dgm:prSet/>
      <dgm:spPr/>
      <dgm:t>
        <a:bodyPr/>
        <a:lstStyle/>
        <a:p>
          <a:endParaRPr lang="en-US"/>
        </a:p>
      </dgm:t>
    </dgm:pt>
    <dgm:pt modelId="{F12AC717-3662-4CC7-8CCD-08B68235FFB7}">
      <dgm:prSet/>
      <dgm:spPr/>
      <dgm:t>
        <a:bodyPr/>
        <a:lstStyle/>
        <a:p>
          <a:r>
            <a:rPr lang="en-US"/>
            <a:t>∗ Worker processes smaller problem and hands back to master</a:t>
          </a:r>
        </a:p>
      </dgm:t>
    </dgm:pt>
    <dgm:pt modelId="{C2842657-644F-4189-8409-FB1712E49E46}" type="parTrans" cxnId="{4DE78AF6-9F0D-41D0-92B7-10FE2F0A4725}">
      <dgm:prSet/>
      <dgm:spPr/>
      <dgm:t>
        <a:bodyPr/>
        <a:lstStyle/>
        <a:p>
          <a:endParaRPr lang="en-US"/>
        </a:p>
      </dgm:t>
    </dgm:pt>
    <dgm:pt modelId="{5CDAC8E3-4F21-4174-9AA0-336BADD16EE3}" type="sibTrans" cxnId="{4DE78AF6-9F0D-41D0-92B7-10FE2F0A4725}">
      <dgm:prSet/>
      <dgm:spPr/>
      <dgm:t>
        <a:bodyPr/>
        <a:lstStyle/>
        <a:p>
          <a:endParaRPr lang="en-US"/>
        </a:p>
      </dgm:t>
    </dgm:pt>
    <dgm:pt modelId="{296BD8AB-2AFD-4C95-8F06-C5B10A1FE358}">
      <dgm:prSet/>
      <dgm:spPr/>
      <dgm:t>
        <a:bodyPr/>
        <a:lstStyle/>
        <a:p>
          <a:r>
            <a:rPr lang="en-US"/>
            <a:t>∗ Reduce Step</a:t>
          </a:r>
        </a:p>
      </dgm:t>
    </dgm:pt>
    <dgm:pt modelId="{7541997C-1142-4C94-A4C3-D9A4BC265BF1}" type="parTrans" cxnId="{48E9DE2D-01A2-445F-AA9C-56D2043E3EFB}">
      <dgm:prSet/>
      <dgm:spPr/>
      <dgm:t>
        <a:bodyPr/>
        <a:lstStyle/>
        <a:p>
          <a:endParaRPr lang="en-US"/>
        </a:p>
      </dgm:t>
    </dgm:pt>
    <dgm:pt modelId="{D3E11E3B-AC12-4A7B-B65A-2530AECDEDB5}" type="sibTrans" cxnId="{48E9DE2D-01A2-445F-AA9C-56D2043E3EFB}">
      <dgm:prSet/>
      <dgm:spPr/>
      <dgm:t>
        <a:bodyPr/>
        <a:lstStyle/>
        <a:p>
          <a:endParaRPr lang="en-US"/>
        </a:p>
      </dgm:t>
    </dgm:pt>
    <dgm:pt modelId="{1580193F-3729-4D53-B223-0F73E669D274}">
      <dgm:prSet/>
      <dgm:spPr/>
      <dgm:t>
        <a:bodyPr/>
        <a:lstStyle/>
        <a:p>
          <a:r>
            <a:rPr lang="en-US"/>
            <a:t>∗ Master node takes the answers to the sub problems and combines them in a predefined way to get the output/answer to original problem</a:t>
          </a:r>
        </a:p>
      </dgm:t>
    </dgm:pt>
    <dgm:pt modelId="{221543B4-CE43-4D40-BA15-6F2723C3F73F}" type="parTrans" cxnId="{E8087F0B-8EFF-4CE4-9315-53EF5727867D}">
      <dgm:prSet/>
      <dgm:spPr/>
      <dgm:t>
        <a:bodyPr/>
        <a:lstStyle/>
        <a:p>
          <a:endParaRPr lang="en-US"/>
        </a:p>
      </dgm:t>
    </dgm:pt>
    <dgm:pt modelId="{DE4474B0-E417-4457-A928-5EBF62BD8225}" type="sibTrans" cxnId="{E8087F0B-8EFF-4CE4-9315-53EF5727867D}">
      <dgm:prSet/>
      <dgm:spPr/>
      <dgm:t>
        <a:bodyPr/>
        <a:lstStyle/>
        <a:p>
          <a:endParaRPr lang="en-US"/>
        </a:p>
      </dgm:t>
    </dgm:pt>
    <dgm:pt modelId="{C1B1C14E-E990-494B-9E00-BE08B9659967}" type="pres">
      <dgm:prSet presAssocID="{47788F06-80AA-42EF-A29B-1CF35BEBDC7B}" presName="diagram" presStyleCnt="0">
        <dgm:presLayoutVars>
          <dgm:dir/>
          <dgm:resizeHandles val="exact"/>
        </dgm:presLayoutVars>
      </dgm:prSet>
      <dgm:spPr/>
    </dgm:pt>
    <dgm:pt modelId="{46146259-DCE0-2444-A15B-951209FE322A}" type="pres">
      <dgm:prSet presAssocID="{99A016D3-6EDD-416F-BF76-2B17956DC6B6}" presName="arrow" presStyleLbl="node1" presStyleIdx="0" presStyleCnt="2">
        <dgm:presLayoutVars>
          <dgm:bulletEnabled val="1"/>
        </dgm:presLayoutVars>
      </dgm:prSet>
      <dgm:spPr/>
    </dgm:pt>
    <dgm:pt modelId="{0AA2D8D0-5B6A-2547-9DBD-419C0FFABA1B}" type="pres">
      <dgm:prSet presAssocID="{296BD8AB-2AFD-4C95-8F06-C5B10A1FE358}" presName="arrow" presStyleLbl="node1" presStyleIdx="1" presStyleCnt="2">
        <dgm:presLayoutVars>
          <dgm:bulletEnabled val="1"/>
        </dgm:presLayoutVars>
      </dgm:prSet>
      <dgm:spPr/>
    </dgm:pt>
  </dgm:ptLst>
  <dgm:cxnLst>
    <dgm:cxn modelId="{E8087F0B-8EFF-4CE4-9315-53EF5727867D}" srcId="{296BD8AB-2AFD-4C95-8F06-C5B10A1FE358}" destId="{1580193F-3729-4D53-B223-0F73E669D274}" srcOrd="0" destOrd="0" parTransId="{221543B4-CE43-4D40-BA15-6F2723C3F73F}" sibTransId="{DE4474B0-E417-4457-A928-5EBF62BD8225}"/>
    <dgm:cxn modelId="{48E9DE2D-01A2-445F-AA9C-56D2043E3EFB}" srcId="{47788F06-80AA-42EF-A29B-1CF35BEBDC7B}" destId="{296BD8AB-2AFD-4C95-8F06-C5B10A1FE358}" srcOrd="1" destOrd="0" parTransId="{7541997C-1142-4C94-A4C3-D9A4BC265BF1}" sibTransId="{D3E11E3B-AC12-4A7B-B65A-2530AECDEDB5}"/>
    <dgm:cxn modelId="{E24CB82F-401C-2B45-B799-775C1A36DA0D}" type="presOf" srcId="{E43B3FC4-5BB9-4B63-B599-DA0D327179AD}" destId="{46146259-DCE0-2444-A15B-951209FE322A}" srcOrd="0" destOrd="1" presId="urn:microsoft.com/office/officeart/2005/8/layout/arrow5"/>
    <dgm:cxn modelId="{42B7A857-A10D-0340-BD69-BE0F8D72C00E}" type="presOf" srcId="{F12AC717-3662-4CC7-8CCD-08B68235FFB7}" destId="{46146259-DCE0-2444-A15B-951209FE322A}" srcOrd="0" destOrd="3" presId="urn:microsoft.com/office/officeart/2005/8/layout/arrow5"/>
    <dgm:cxn modelId="{23812058-F77B-AF49-80B4-28B86D2849A6}" type="presOf" srcId="{1580193F-3729-4D53-B223-0F73E669D274}" destId="{0AA2D8D0-5B6A-2547-9DBD-419C0FFABA1B}" srcOrd="0" destOrd="1" presId="urn:microsoft.com/office/officeart/2005/8/layout/arrow5"/>
    <dgm:cxn modelId="{95FED574-E74F-904D-AA5E-3B984596E4D6}" type="presOf" srcId="{47788F06-80AA-42EF-A29B-1CF35BEBDC7B}" destId="{C1B1C14E-E990-494B-9E00-BE08B9659967}" srcOrd="0" destOrd="0" presId="urn:microsoft.com/office/officeart/2005/8/layout/arrow5"/>
    <dgm:cxn modelId="{421BFFA4-0F37-CD44-BEC2-D6FEA627B203}" type="presOf" srcId="{296BD8AB-2AFD-4C95-8F06-C5B10A1FE358}" destId="{0AA2D8D0-5B6A-2547-9DBD-419C0FFABA1B}" srcOrd="0" destOrd="0" presId="urn:microsoft.com/office/officeart/2005/8/layout/arrow5"/>
    <dgm:cxn modelId="{2A3FDBB1-2D79-4C84-988C-6DE07C26F780}" srcId="{99A016D3-6EDD-416F-BF76-2B17956DC6B6}" destId="{E43B3FC4-5BB9-4B63-B599-DA0D327179AD}" srcOrd="0" destOrd="0" parTransId="{31E5A0D1-D0CC-4339-9774-B402AD837501}" sibTransId="{37FDB5E6-CCA5-4640-8010-40EEA6B1FF32}"/>
    <dgm:cxn modelId="{ADFFE6B1-174D-4FAB-B291-234B4CCAE640}" srcId="{99A016D3-6EDD-416F-BF76-2B17956DC6B6}" destId="{F03B85C0-980F-4C49-A154-7B4FF9054ED5}" srcOrd="1" destOrd="0" parTransId="{A10447CB-BD0A-47FC-AA7F-2321B0564679}" sibTransId="{AA3B2B03-1AF9-4C95-ADD7-55EFD8EE7459}"/>
    <dgm:cxn modelId="{55BD39E3-2A4F-4F0A-9351-66A02349A9DD}" srcId="{47788F06-80AA-42EF-A29B-1CF35BEBDC7B}" destId="{99A016D3-6EDD-416F-BF76-2B17956DC6B6}" srcOrd="0" destOrd="0" parTransId="{9D3067D4-6C87-43FC-BEB6-5E601EEA3BEF}" sibTransId="{7851651E-954C-49AC-B01C-3DD97760B61D}"/>
    <dgm:cxn modelId="{1E1FA1F4-1898-904D-8AB8-DFC07E736DC4}" type="presOf" srcId="{F03B85C0-980F-4C49-A154-7B4FF9054ED5}" destId="{46146259-DCE0-2444-A15B-951209FE322A}" srcOrd="0" destOrd="2" presId="urn:microsoft.com/office/officeart/2005/8/layout/arrow5"/>
    <dgm:cxn modelId="{284289F6-9A57-D648-9BF9-17052634EE5E}" type="presOf" srcId="{99A016D3-6EDD-416F-BF76-2B17956DC6B6}" destId="{46146259-DCE0-2444-A15B-951209FE322A}" srcOrd="0" destOrd="0" presId="urn:microsoft.com/office/officeart/2005/8/layout/arrow5"/>
    <dgm:cxn modelId="{4DE78AF6-9F0D-41D0-92B7-10FE2F0A4725}" srcId="{99A016D3-6EDD-416F-BF76-2B17956DC6B6}" destId="{F12AC717-3662-4CC7-8CCD-08B68235FFB7}" srcOrd="2" destOrd="0" parTransId="{C2842657-644F-4189-8409-FB1712E49E46}" sibTransId="{5CDAC8E3-4F21-4174-9AA0-336BADD16EE3}"/>
    <dgm:cxn modelId="{F0EC7144-837B-8244-8BEE-095B486B9B90}" type="presParOf" srcId="{C1B1C14E-E990-494B-9E00-BE08B9659967}" destId="{46146259-DCE0-2444-A15B-951209FE322A}" srcOrd="0" destOrd="0" presId="urn:microsoft.com/office/officeart/2005/8/layout/arrow5"/>
    <dgm:cxn modelId="{DDC6BE32-7B51-EA4E-AB23-D16FD0777D3B}" type="presParOf" srcId="{C1B1C14E-E990-494B-9E00-BE08B9659967}" destId="{0AA2D8D0-5B6A-2547-9DBD-419C0FFABA1B}" srcOrd="1" destOrd="0" presId="urn:microsoft.com/office/officeart/2005/8/layout/arrow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04191F9-C79B-4B33-BB79-44DF9C751AC7}"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883E203-D3C1-49B9-8688-860AB1D50FC5}">
      <dgm:prSet/>
      <dgm:spPr/>
      <dgm:t>
        <a:bodyPr/>
        <a:lstStyle/>
        <a:p>
          <a:r>
            <a:rPr lang="en-US"/>
            <a:t>∗ The calculations should be possible to run the calculation on a subset of data, and merge partial results</a:t>
          </a:r>
        </a:p>
      </dgm:t>
    </dgm:pt>
    <dgm:pt modelId="{3BC25674-52CD-491E-8121-B74A48C0F72E}" type="parTrans" cxnId="{350AB4B7-D24E-4FDF-BBD7-2E2C14231C93}">
      <dgm:prSet/>
      <dgm:spPr/>
      <dgm:t>
        <a:bodyPr/>
        <a:lstStyle/>
        <a:p>
          <a:endParaRPr lang="en-US"/>
        </a:p>
      </dgm:t>
    </dgm:pt>
    <dgm:pt modelId="{8693DF59-D385-41DD-9934-1D272210E240}" type="sibTrans" cxnId="{350AB4B7-D24E-4FDF-BBD7-2E2C14231C93}">
      <dgm:prSet/>
      <dgm:spPr/>
      <dgm:t>
        <a:bodyPr/>
        <a:lstStyle/>
        <a:p>
          <a:endParaRPr lang="en-US"/>
        </a:p>
      </dgm:t>
    </dgm:pt>
    <dgm:pt modelId="{D30288E7-373D-465B-A831-F931A1C2E144}">
      <dgm:prSet/>
      <dgm:spPr/>
      <dgm:t>
        <a:bodyPr/>
        <a:lstStyle/>
        <a:p>
          <a:r>
            <a:rPr lang="en-US"/>
            <a:t>∗ The dataset size is big enough (or the calculations are long enough) that the infrastructure overhead of splitting it up for independent computations and merging results will not hurt overall performance</a:t>
          </a:r>
        </a:p>
      </dgm:t>
    </dgm:pt>
    <dgm:pt modelId="{107D2F67-EE56-47AD-BBB6-43EAE2B2C514}" type="parTrans" cxnId="{E9881339-E8F2-4B02-A399-BAC5E7416DFC}">
      <dgm:prSet/>
      <dgm:spPr/>
      <dgm:t>
        <a:bodyPr/>
        <a:lstStyle/>
        <a:p>
          <a:endParaRPr lang="en-US"/>
        </a:p>
      </dgm:t>
    </dgm:pt>
    <dgm:pt modelId="{6F022C23-B4B1-490E-A38A-3FDAFDE28CE8}" type="sibTrans" cxnId="{E9881339-E8F2-4B02-A399-BAC5E7416DFC}">
      <dgm:prSet/>
      <dgm:spPr/>
      <dgm:t>
        <a:bodyPr/>
        <a:lstStyle/>
        <a:p>
          <a:endParaRPr lang="en-US"/>
        </a:p>
      </dgm:t>
    </dgm:pt>
    <dgm:pt modelId="{9401B092-6994-484F-AEB3-DAAE3C96E96F}" type="pres">
      <dgm:prSet presAssocID="{104191F9-C79B-4B33-BB79-44DF9C751AC7}" presName="root" presStyleCnt="0">
        <dgm:presLayoutVars>
          <dgm:dir/>
          <dgm:resizeHandles val="exact"/>
        </dgm:presLayoutVars>
      </dgm:prSet>
      <dgm:spPr/>
    </dgm:pt>
    <dgm:pt modelId="{1198E651-7D26-4675-90BF-03FCB33078D0}" type="pres">
      <dgm:prSet presAssocID="{C883E203-D3C1-49B9-8688-860AB1D50FC5}" presName="compNode" presStyleCnt="0"/>
      <dgm:spPr/>
    </dgm:pt>
    <dgm:pt modelId="{5107FADD-BC93-4B5E-BF12-3721C5F76E9E}" type="pres">
      <dgm:prSet presAssocID="{C883E203-D3C1-49B9-8688-860AB1D50FC5}" presName="bgRect" presStyleLbl="bgShp" presStyleIdx="0" presStyleCnt="2"/>
      <dgm:spPr/>
    </dgm:pt>
    <dgm:pt modelId="{CDC370A7-7B06-4677-844E-E0C56BBAB2DA}" type="pres">
      <dgm:prSet presAssocID="{C883E203-D3C1-49B9-8688-860AB1D50FC5}"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Table"/>
        </a:ext>
      </dgm:extLst>
    </dgm:pt>
    <dgm:pt modelId="{BC46C3B8-418B-42F8-B39E-7A5BADA96140}" type="pres">
      <dgm:prSet presAssocID="{C883E203-D3C1-49B9-8688-860AB1D50FC5}" presName="spaceRect" presStyleCnt="0"/>
      <dgm:spPr/>
    </dgm:pt>
    <dgm:pt modelId="{3D498D8A-61DA-4E7A-9292-722C3E55D9D6}" type="pres">
      <dgm:prSet presAssocID="{C883E203-D3C1-49B9-8688-860AB1D50FC5}" presName="parTx" presStyleLbl="revTx" presStyleIdx="0" presStyleCnt="2">
        <dgm:presLayoutVars>
          <dgm:chMax val="0"/>
          <dgm:chPref val="0"/>
        </dgm:presLayoutVars>
      </dgm:prSet>
      <dgm:spPr/>
    </dgm:pt>
    <dgm:pt modelId="{4390ECD6-5DA0-4E41-BCF8-301EB4D088D0}" type="pres">
      <dgm:prSet presAssocID="{8693DF59-D385-41DD-9934-1D272210E240}" presName="sibTrans" presStyleCnt="0"/>
      <dgm:spPr/>
    </dgm:pt>
    <dgm:pt modelId="{23F6E435-10DB-4F63-BF6D-035B1A05B0E4}" type="pres">
      <dgm:prSet presAssocID="{D30288E7-373D-465B-A831-F931A1C2E144}" presName="compNode" presStyleCnt="0"/>
      <dgm:spPr/>
    </dgm:pt>
    <dgm:pt modelId="{2048EF5C-2115-4C63-8E06-6E1C41A88ADF}" type="pres">
      <dgm:prSet presAssocID="{D30288E7-373D-465B-A831-F931A1C2E144}" presName="bgRect" presStyleLbl="bgShp" presStyleIdx="1" presStyleCnt="2"/>
      <dgm:spPr/>
    </dgm:pt>
    <dgm:pt modelId="{3F915A2D-24CD-4711-9747-A8E837E227B4}" type="pres">
      <dgm:prSet presAssocID="{D30288E7-373D-465B-A831-F931A1C2E144}"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7AA5DCDC-F46F-4EBA-A94B-3FCF91760990}" type="pres">
      <dgm:prSet presAssocID="{D30288E7-373D-465B-A831-F931A1C2E144}" presName="spaceRect" presStyleCnt="0"/>
      <dgm:spPr/>
    </dgm:pt>
    <dgm:pt modelId="{A22236A0-FAA2-4966-8F75-574199A5470F}" type="pres">
      <dgm:prSet presAssocID="{D30288E7-373D-465B-A831-F931A1C2E144}" presName="parTx" presStyleLbl="revTx" presStyleIdx="1" presStyleCnt="2">
        <dgm:presLayoutVars>
          <dgm:chMax val="0"/>
          <dgm:chPref val="0"/>
        </dgm:presLayoutVars>
      </dgm:prSet>
      <dgm:spPr/>
    </dgm:pt>
  </dgm:ptLst>
  <dgm:cxnLst>
    <dgm:cxn modelId="{E9881339-E8F2-4B02-A399-BAC5E7416DFC}" srcId="{104191F9-C79B-4B33-BB79-44DF9C751AC7}" destId="{D30288E7-373D-465B-A831-F931A1C2E144}" srcOrd="1" destOrd="0" parTransId="{107D2F67-EE56-47AD-BBB6-43EAE2B2C514}" sibTransId="{6F022C23-B4B1-490E-A38A-3FDAFDE28CE8}"/>
    <dgm:cxn modelId="{1072F24A-E059-4205-B099-2D43CD99EEE6}" type="presOf" srcId="{104191F9-C79B-4B33-BB79-44DF9C751AC7}" destId="{9401B092-6994-484F-AEB3-DAAE3C96E96F}" srcOrd="0" destOrd="0" presId="urn:microsoft.com/office/officeart/2018/2/layout/IconVerticalSolidList"/>
    <dgm:cxn modelId="{350AB4B7-D24E-4FDF-BBD7-2E2C14231C93}" srcId="{104191F9-C79B-4B33-BB79-44DF9C751AC7}" destId="{C883E203-D3C1-49B9-8688-860AB1D50FC5}" srcOrd="0" destOrd="0" parTransId="{3BC25674-52CD-491E-8121-B74A48C0F72E}" sibTransId="{8693DF59-D385-41DD-9934-1D272210E240}"/>
    <dgm:cxn modelId="{B700FBE5-4B95-409E-9C92-3BCDF1950114}" type="presOf" srcId="{C883E203-D3C1-49B9-8688-860AB1D50FC5}" destId="{3D498D8A-61DA-4E7A-9292-722C3E55D9D6}" srcOrd="0" destOrd="0" presId="urn:microsoft.com/office/officeart/2018/2/layout/IconVerticalSolidList"/>
    <dgm:cxn modelId="{B8C1F7F8-2AD8-4664-A0BC-D9DEE6CC3B99}" type="presOf" srcId="{D30288E7-373D-465B-A831-F931A1C2E144}" destId="{A22236A0-FAA2-4966-8F75-574199A5470F}" srcOrd="0" destOrd="0" presId="urn:microsoft.com/office/officeart/2018/2/layout/IconVerticalSolidList"/>
    <dgm:cxn modelId="{17D32D99-AE39-4383-A99F-18F5E6B07599}" type="presParOf" srcId="{9401B092-6994-484F-AEB3-DAAE3C96E96F}" destId="{1198E651-7D26-4675-90BF-03FCB33078D0}" srcOrd="0" destOrd="0" presId="urn:microsoft.com/office/officeart/2018/2/layout/IconVerticalSolidList"/>
    <dgm:cxn modelId="{A74A9306-0CC4-4388-9499-F336BC0058C5}" type="presParOf" srcId="{1198E651-7D26-4675-90BF-03FCB33078D0}" destId="{5107FADD-BC93-4B5E-BF12-3721C5F76E9E}" srcOrd="0" destOrd="0" presId="urn:microsoft.com/office/officeart/2018/2/layout/IconVerticalSolidList"/>
    <dgm:cxn modelId="{A4DB3CFC-8F27-4A84-BB0C-EEF4C99F2DB8}" type="presParOf" srcId="{1198E651-7D26-4675-90BF-03FCB33078D0}" destId="{CDC370A7-7B06-4677-844E-E0C56BBAB2DA}" srcOrd="1" destOrd="0" presId="urn:microsoft.com/office/officeart/2018/2/layout/IconVerticalSolidList"/>
    <dgm:cxn modelId="{EC83B29B-7386-4E62-8BE1-148C26925F07}" type="presParOf" srcId="{1198E651-7D26-4675-90BF-03FCB33078D0}" destId="{BC46C3B8-418B-42F8-B39E-7A5BADA96140}" srcOrd="2" destOrd="0" presId="urn:microsoft.com/office/officeart/2018/2/layout/IconVerticalSolidList"/>
    <dgm:cxn modelId="{ACA5BC30-1890-43E5-9266-C365A6AAFC89}" type="presParOf" srcId="{1198E651-7D26-4675-90BF-03FCB33078D0}" destId="{3D498D8A-61DA-4E7A-9292-722C3E55D9D6}" srcOrd="3" destOrd="0" presId="urn:microsoft.com/office/officeart/2018/2/layout/IconVerticalSolidList"/>
    <dgm:cxn modelId="{0429F964-E6F0-4D5E-B4FF-CF17F61D7AF6}" type="presParOf" srcId="{9401B092-6994-484F-AEB3-DAAE3C96E96F}" destId="{4390ECD6-5DA0-4E41-BCF8-301EB4D088D0}" srcOrd="1" destOrd="0" presId="urn:microsoft.com/office/officeart/2018/2/layout/IconVerticalSolidList"/>
    <dgm:cxn modelId="{2D2CBCE1-D680-4D64-A89A-7C8FADFC2F5B}" type="presParOf" srcId="{9401B092-6994-484F-AEB3-DAAE3C96E96F}" destId="{23F6E435-10DB-4F63-BF6D-035B1A05B0E4}" srcOrd="2" destOrd="0" presId="urn:microsoft.com/office/officeart/2018/2/layout/IconVerticalSolidList"/>
    <dgm:cxn modelId="{3BA29419-8DF5-4BC8-87B9-3F83BB84607C}" type="presParOf" srcId="{23F6E435-10DB-4F63-BF6D-035B1A05B0E4}" destId="{2048EF5C-2115-4C63-8E06-6E1C41A88ADF}" srcOrd="0" destOrd="0" presId="urn:microsoft.com/office/officeart/2018/2/layout/IconVerticalSolidList"/>
    <dgm:cxn modelId="{6D980CAF-B0EA-4DC7-A4CA-0C0FC5ECD80C}" type="presParOf" srcId="{23F6E435-10DB-4F63-BF6D-035B1A05B0E4}" destId="{3F915A2D-24CD-4711-9747-A8E837E227B4}" srcOrd="1" destOrd="0" presId="urn:microsoft.com/office/officeart/2018/2/layout/IconVerticalSolidList"/>
    <dgm:cxn modelId="{BAFD1828-03E2-427E-A775-1C562D60BF05}" type="presParOf" srcId="{23F6E435-10DB-4F63-BF6D-035B1A05B0E4}" destId="{7AA5DCDC-F46F-4EBA-A94B-3FCF91760990}" srcOrd="2" destOrd="0" presId="urn:microsoft.com/office/officeart/2018/2/layout/IconVerticalSolidList"/>
    <dgm:cxn modelId="{6A21C2F2-5FFE-4FF2-933C-225367478583}" type="presParOf" srcId="{23F6E435-10DB-4F63-BF6D-035B1A05B0E4}" destId="{A22236A0-FAA2-4966-8F75-574199A5470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563A14C-710B-4510-A05E-1A500EE97C65}"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603AB512-7CE8-44AE-A622-855031E61CA6}">
      <dgm:prSet/>
      <dgm:spPr/>
      <dgm:t>
        <a:bodyPr/>
        <a:lstStyle/>
        <a:p>
          <a:r>
            <a:rPr lang="en-US"/>
            <a:t>∗	Hadoop provides an option to skip bad records:</a:t>
          </a:r>
        </a:p>
      </dgm:t>
    </dgm:pt>
    <dgm:pt modelId="{A3DB65EB-C93B-4C16-A6B3-BF59A8EFF990}" type="parTrans" cxnId="{C10F8AC1-9237-4E78-A91C-0E0F4F63B6C7}">
      <dgm:prSet/>
      <dgm:spPr/>
      <dgm:t>
        <a:bodyPr/>
        <a:lstStyle/>
        <a:p>
          <a:endParaRPr lang="en-US"/>
        </a:p>
      </dgm:t>
    </dgm:pt>
    <dgm:pt modelId="{5424DD6C-EA27-438B-83B9-94CA4A592368}" type="sibTrans" cxnId="{C10F8AC1-9237-4E78-A91C-0E0F4F63B6C7}">
      <dgm:prSet/>
      <dgm:spPr/>
      <dgm:t>
        <a:bodyPr/>
        <a:lstStyle/>
        <a:p>
          <a:endParaRPr lang="en-US"/>
        </a:p>
      </dgm:t>
    </dgm:pt>
    <dgm:pt modelId="{7669BD2A-D77E-4417-9121-C9D5711199E5}">
      <dgm:prSet/>
      <dgm:spPr/>
      <dgm:t>
        <a:bodyPr/>
        <a:lstStyle/>
        <a:p>
          <a:r>
            <a:rPr lang="en-US"/>
            <a:t>∗	SkipBadRecords class</a:t>
          </a:r>
        </a:p>
      </dgm:t>
    </dgm:pt>
    <dgm:pt modelId="{3FC22ECE-021F-441E-BF3E-86248C1FF8BA}" type="parTrans" cxnId="{9200956A-6518-4858-8207-11940F85D90C}">
      <dgm:prSet/>
      <dgm:spPr/>
      <dgm:t>
        <a:bodyPr/>
        <a:lstStyle/>
        <a:p>
          <a:endParaRPr lang="en-US"/>
        </a:p>
      </dgm:t>
    </dgm:pt>
    <dgm:pt modelId="{C6443172-C129-48A2-A8DD-031A236EE3EB}" type="sibTrans" cxnId="{9200956A-6518-4858-8207-11940F85D90C}">
      <dgm:prSet/>
      <dgm:spPr/>
      <dgm:t>
        <a:bodyPr/>
        <a:lstStyle/>
        <a:p>
          <a:endParaRPr lang="en-US"/>
        </a:p>
      </dgm:t>
    </dgm:pt>
    <dgm:pt modelId="{F8571804-889C-4019-AB9E-A71A4F4D79B7}">
      <dgm:prSet/>
      <dgm:spPr/>
      <dgm:t>
        <a:bodyPr/>
        <a:lstStyle/>
        <a:p>
          <a:r>
            <a:rPr lang="en-US"/>
            <a:t>∗	Used when map tasks crash deterministically on certain input</a:t>
          </a:r>
        </a:p>
      </dgm:t>
    </dgm:pt>
    <dgm:pt modelId="{5CBEF5CF-F0C3-4003-9664-F2F9F60DCAA2}" type="parTrans" cxnId="{7B9F239C-1DBC-4410-BF7C-8138BB048348}">
      <dgm:prSet/>
      <dgm:spPr/>
      <dgm:t>
        <a:bodyPr/>
        <a:lstStyle/>
        <a:p>
          <a:endParaRPr lang="en-US"/>
        </a:p>
      </dgm:t>
    </dgm:pt>
    <dgm:pt modelId="{9CFD3A29-8D0B-477B-954E-E7F22FBFFA5F}" type="sibTrans" cxnId="{7B9F239C-1DBC-4410-BF7C-8138BB048348}">
      <dgm:prSet/>
      <dgm:spPr/>
      <dgm:t>
        <a:bodyPr/>
        <a:lstStyle/>
        <a:p>
          <a:endParaRPr lang="en-US"/>
        </a:p>
      </dgm:t>
    </dgm:pt>
    <dgm:pt modelId="{DCDAA796-E185-406E-BCB9-DC45CAB6FBDA}">
      <dgm:prSet/>
      <dgm:spPr/>
      <dgm:t>
        <a:bodyPr/>
        <a:lstStyle/>
        <a:p>
          <a:r>
            <a:rPr lang="en-US"/>
            <a:t>∗	Usually, a result of bugs in the map function</a:t>
          </a:r>
        </a:p>
      </dgm:t>
    </dgm:pt>
    <dgm:pt modelId="{DFD0813F-C454-43CE-97D7-916EA426765F}" type="parTrans" cxnId="{3180C289-BB15-4884-BFCB-739269CDDA43}">
      <dgm:prSet/>
      <dgm:spPr/>
      <dgm:t>
        <a:bodyPr/>
        <a:lstStyle/>
        <a:p>
          <a:endParaRPr lang="en-US"/>
        </a:p>
      </dgm:t>
    </dgm:pt>
    <dgm:pt modelId="{810F1A26-2DDF-4DB0-BC6A-A51516151BD2}" type="sibTrans" cxnId="{3180C289-BB15-4884-BFCB-739269CDDA43}">
      <dgm:prSet/>
      <dgm:spPr/>
      <dgm:t>
        <a:bodyPr/>
        <a:lstStyle/>
        <a:p>
          <a:endParaRPr lang="en-US"/>
        </a:p>
      </dgm:t>
    </dgm:pt>
    <dgm:pt modelId="{E3D39F8F-E39E-46FF-9DB6-C8671609D257}">
      <dgm:prSet/>
      <dgm:spPr/>
      <dgm:t>
        <a:bodyPr/>
        <a:lstStyle/>
        <a:p>
          <a:r>
            <a:rPr lang="en-US"/>
            <a:t>∗	May be in 3rd party libraries</a:t>
          </a:r>
        </a:p>
      </dgm:t>
    </dgm:pt>
    <dgm:pt modelId="{49EE2438-6BE5-437D-8B46-1324A118636F}" type="parTrans" cxnId="{275A7473-E14F-45FB-8463-533268ACAC13}">
      <dgm:prSet/>
      <dgm:spPr/>
      <dgm:t>
        <a:bodyPr/>
        <a:lstStyle/>
        <a:p>
          <a:endParaRPr lang="en-US"/>
        </a:p>
      </dgm:t>
    </dgm:pt>
    <dgm:pt modelId="{0DAB9A35-5DB4-4C90-ACA5-497DC28F7558}" type="sibTrans" cxnId="{275A7473-E14F-45FB-8463-533268ACAC13}">
      <dgm:prSet/>
      <dgm:spPr/>
      <dgm:t>
        <a:bodyPr/>
        <a:lstStyle/>
        <a:p>
          <a:endParaRPr lang="en-US"/>
        </a:p>
      </dgm:t>
    </dgm:pt>
    <dgm:pt modelId="{EC560300-AB94-4CC8-93C0-CF41C45A748E}">
      <dgm:prSet/>
      <dgm:spPr/>
      <dgm:t>
        <a:bodyPr/>
        <a:lstStyle/>
        <a:p>
          <a:r>
            <a:rPr lang="en-US"/>
            <a:t>∗	Tasks never complete successfully even after multiple attempts</a:t>
          </a:r>
        </a:p>
      </dgm:t>
    </dgm:pt>
    <dgm:pt modelId="{8BE4DE35-1D1C-42D2-BA70-C2259063DD85}" type="parTrans" cxnId="{900F7DFA-F0EA-4CB8-AD2D-2C87A8647E7A}">
      <dgm:prSet/>
      <dgm:spPr/>
      <dgm:t>
        <a:bodyPr/>
        <a:lstStyle/>
        <a:p>
          <a:endParaRPr lang="en-US"/>
        </a:p>
      </dgm:t>
    </dgm:pt>
    <dgm:pt modelId="{65C0C645-A47A-4F57-BE8B-7F5A4C3E8063}" type="sibTrans" cxnId="{900F7DFA-F0EA-4CB8-AD2D-2C87A8647E7A}">
      <dgm:prSet/>
      <dgm:spPr/>
      <dgm:t>
        <a:bodyPr/>
        <a:lstStyle/>
        <a:p>
          <a:endParaRPr lang="en-US"/>
        </a:p>
      </dgm:t>
    </dgm:pt>
    <dgm:pt modelId="{1BD39717-73C2-4DE1-BFCC-ADFAC70145E8}">
      <dgm:prSet/>
      <dgm:spPr/>
      <dgm:t>
        <a:bodyPr/>
        <a:lstStyle/>
        <a:p>
          <a:r>
            <a:rPr lang="en-US"/>
            <a:t>∗	Framework goes into ‘skipping mode’ after a certain number of map failures</a:t>
          </a:r>
        </a:p>
      </dgm:t>
    </dgm:pt>
    <dgm:pt modelId="{EEE6DBB7-95FB-412E-ADE5-7FBEF780B59D}" type="parTrans" cxnId="{87A51835-996B-4457-9B64-508E62BE81F6}">
      <dgm:prSet/>
      <dgm:spPr/>
      <dgm:t>
        <a:bodyPr/>
        <a:lstStyle/>
        <a:p>
          <a:endParaRPr lang="en-US"/>
        </a:p>
      </dgm:t>
    </dgm:pt>
    <dgm:pt modelId="{4856EF23-A497-48F8-BC90-A4E1A9BE7768}" type="sibTrans" cxnId="{87A51835-996B-4457-9B64-508E62BE81F6}">
      <dgm:prSet/>
      <dgm:spPr/>
      <dgm:t>
        <a:bodyPr/>
        <a:lstStyle/>
        <a:p>
          <a:endParaRPr lang="en-US"/>
        </a:p>
      </dgm:t>
    </dgm:pt>
    <dgm:pt modelId="{58AB5320-3A5A-4E43-98C4-7A5E866E18CB}">
      <dgm:prSet/>
      <dgm:spPr/>
      <dgm:t>
        <a:bodyPr/>
        <a:lstStyle/>
        <a:p>
          <a:r>
            <a:rPr lang="en-US"/>
            <a:t>∗	Number of records skipped depends on how frequently the processed record</a:t>
          </a:r>
        </a:p>
      </dgm:t>
    </dgm:pt>
    <dgm:pt modelId="{0DC6BEB2-CD98-434B-8250-4D37298F5728}" type="parTrans" cxnId="{EC9F01D5-9143-478B-B8D9-2122F32B13BB}">
      <dgm:prSet/>
      <dgm:spPr/>
      <dgm:t>
        <a:bodyPr/>
        <a:lstStyle/>
        <a:p>
          <a:endParaRPr lang="en-US"/>
        </a:p>
      </dgm:t>
    </dgm:pt>
    <dgm:pt modelId="{5929A1DD-02B8-48BA-9E19-9C4874393528}" type="sibTrans" cxnId="{EC9F01D5-9143-478B-B8D9-2122F32B13BB}">
      <dgm:prSet/>
      <dgm:spPr/>
      <dgm:t>
        <a:bodyPr/>
        <a:lstStyle/>
        <a:p>
          <a:endParaRPr lang="en-US"/>
        </a:p>
      </dgm:t>
    </dgm:pt>
    <dgm:pt modelId="{D9A0F996-7E68-4EAD-865C-BC263DF76B2A}">
      <dgm:prSet/>
      <dgm:spPr/>
      <dgm:t>
        <a:bodyPr/>
        <a:lstStyle/>
        <a:p>
          <a:r>
            <a:rPr lang="en-US"/>
            <a:t>counter is incremented by the application</a:t>
          </a:r>
        </a:p>
      </dgm:t>
    </dgm:pt>
    <dgm:pt modelId="{81E39776-02A2-4D87-909E-704F05B33A2D}" type="parTrans" cxnId="{B587022D-555D-4E69-A8A1-B85CFB2B3E67}">
      <dgm:prSet/>
      <dgm:spPr/>
      <dgm:t>
        <a:bodyPr/>
        <a:lstStyle/>
        <a:p>
          <a:endParaRPr lang="en-US"/>
        </a:p>
      </dgm:t>
    </dgm:pt>
    <dgm:pt modelId="{5C33E2B4-C2E2-4D0B-8DE7-23509C09609F}" type="sibTrans" cxnId="{B587022D-555D-4E69-A8A1-B85CFB2B3E67}">
      <dgm:prSet/>
      <dgm:spPr/>
      <dgm:t>
        <a:bodyPr/>
        <a:lstStyle/>
        <a:p>
          <a:endParaRPr lang="en-US"/>
        </a:p>
      </dgm:t>
    </dgm:pt>
    <dgm:pt modelId="{3D91AB24-CA17-7841-BE45-CACB79800A19}" type="pres">
      <dgm:prSet presAssocID="{F563A14C-710B-4510-A05E-1A500EE97C65}" presName="linear" presStyleCnt="0">
        <dgm:presLayoutVars>
          <dgm:animLvl val="lvl"/>
          <dgm:resizeHandles val="exact"/>
        </dgm:presLayoutVars>
      </dgm:prSet>
      <dgm:spPr/>
    </dgm:pt>
    <dgm:pt modelId="{E468B59E-6D42-444C-BF11-6C1592134916}" type="pres">
      <dgm:prSet presAssocID="{603AB512-7CE8-44AE-A622-855031E61CA6}" presName="parentText" presStyleLbl="node1" presStyleIdx="0" presStyleCnt="4">
        <dgm:presLayoutVars>
          <dgm:chMax val="0"/>
          <dgm:bulletEnabled val="1"/>
        </dgm:presLayoutVars>
      </dgm:prSet>
      <dgm:spPr/>
    </dgm:pt>
    <dgm:pt modelId="{73E017A4-488B-7F4D-8A12-627AF7F93E4A}" type="pres">
      <dgm:prSet presAssocID="{603AB512-7CE8-44AE-A622-855031E61CA6}" presName="childText" presStyleLbl="revTx" presStyleIdx="0" presStyleCnt="3">
        <dgm:presLayoutVars>
          <dgm:bulletEnabled val="1"/>
        </dgm:presLayoutVars>
      </dgm:prSet>
      <dgm:spPr/>
    </dgm:pt>
    <dgm:pt modelId="{337CEEA5-BD82-2543-A852-FE4CB2571924}" type="pres">
      <dgm:prSet presAssocID="{F8571804-889C-4019-AB9E-A71A4F4D79B7}" presName="parentText" presStyleLbl="node1" presStyleIdx="1" presStyleCnt="4">
        <dgm:presLayoutVars>
          <dgm:chMax val="0"/>
          <dgm:bulletEnabled val="1"/>
        </dgm:presLayoutVars>
      </dgm:prSet>
      <dgm:spPr/>
    </dgm:pt>
    <dgm:pt modelId="{A0B5EE32-8F3C-4049-81C3-D55D581ECB60}" type="pres">
      <dgm:prSet presAssocID="{F8571804-889C-4019-AB9E-A71A4F4D79B7}" presName="childText" presStyleLbl="revTx" presStyleIdx="1" presStyleCnt="3">
        <dgm:presLayoutVars>
          <dgm:bulletEnabled val="1"/>
        </dgm:presLayoutVars>
      </dgm:prSet>
      <dgm:spPr/>
    </dgm:pt>
    <dgm:pt modelId="{3BE47A2B-96B8-1F42-B71E-E709C91CB164}" type="pres">
      <dgm:prSet presAssocID="{1BD39717-73C2-4DE1-BFCC-ADFAC70145E8}" presName="parentText" presStyleLbl="node1" presStyleIdx="2" presStyleCnt="4">
        <dgm:presLayoutVars>
          <dgm:chMax val="0"/>
          <dgm:bulletEnabled val="1"/>
        </dgm:presLayoutVars>
      </dgm:prSet>
      <dgm:spPr/>
    </dgm:pt>
    <dgm:pt modelId="{ED8D9B25-4D5B-2443-A2F8-844727574BE2}" type="pres">
      <dgm:prSet presAssocID="{4856EF23-A497-48F8-BC90-A4E1A9BE7768}" presName="spacer" presStyleCnt="0"/>
      <dgm:spPr/>
    </dgm:pt>
    <dgm:pt modelId="{945FCE91-385F-204F-BE52-889C632A6920}" type="pres">
      <dgm:prSet presAssocID="{58AB5320-3A5A-4E43-98C4-7A5E866E18CB}" presName="parentText" presStyleLbl="node1" presStyleIdx="3" presStyleCnt="4">
        <dgm:presLayoutVars>
          <dgm:chMax val="0"/>
          <dgm:bulletEnabled val="1"/>
        </dgm:presLayoutVars>
      </dgm:prSet>
      <dgm:spPr/>
    </dgm:pt>
    <dgm:pt modelId="{718B51E8-CCA2-5F48-87E8-5DE741A675C6}" type="pres">
      <dgm:prSet presAssocID="{58AB5320-3A5A-4E43-98C4-7A5E866E18CB}" presName="childText" presStyleLbl="revTx" presStyleIdx="2" presStyleCnt="3">
        <dgm:presLayoutVars>
          <dgm:bulletEnabled val="1"/>
        </dgm:presLayoutVars>
      </dgm:prSet>
      <dgm:spPr/>
    </dgm:pt>
  </dgm:ptLst>
  <dgm:cxnLst>
    <dgm:cxn modelId="{CCE93801-790B-F64A-95A9-33EEA1746E42}" type="presOf" srcId="{7669BD2A-D77E-4417-9121-C9D5711199E5}" destId="{73E017A4-488B-7F4D-8A12-627AF7F93E4A}" srcOrd="0" destOrd="0" presId="urn:microsoft.com/office/officeart/2005/8/layout/vList2"/>
    <dgm:cxn modelId="{BEF14B04-8FBA-6442-A2FE-D6E3B048749B}" type="presOf" srcId="{603AB512-7CE8-44AE-A622-855031E61CA6}" destId="{E468B59E-6D42-444C-BF11-6C1592134916}" srcOrd="0" destOrd="0" presId="urn:microsoft.com/office/officeart/2005/8/layout/vList2"/>
    <dgm:cxn modelId="{5F2BAB0F-3273-8D45-85C4-FFA0A50FE176}" type="presOf" srcId="{E3D39F8F-E39E-46FF-9DB6-C8671609D257}" destId="{A0B5EE32-8F3C-4049-81C3-D55D581ECB60}" srcOrd="0" destOrd="1" presId="urn:microsoft.com/office/officeart/2005/8/layout/vList2"/>
    <dgm:cxn modelId="{B587022D-555D-4E69-A8A1-B85CFB2B3E67}" srcId="{58AB5320-3A5A-4E43-98C4-7A5E866E18CB}" destId="{D9A0F996-7E68-4EAD-865C-BC263DF76B2A}" srcOrd="0" destOrd="0" parTransId="{81E39776-02A2-4D87-909E-704F05B33A2D}" sibTransId="{5C33E2B4-C2E2-4D0B-8DE7-23509C09609F}"/>
    <dgm:cxn modelId="{C41D8434-6681-764F-93EF-E519C4A5E2AC}" type="presOf" srcId="{58AB5320-3A5A-4E43-98C4-7A5E866E18CB}" destId="{945FCE91-385F-204F-BE52-889C632A6920}" srcOrd="0" destOrd="0" presId="urn:microsoft.com/office/officeart/2005/8/layout/vList2"/>
    <dgm:cxn modelId="{87A51835-996B-4457-9B64-508E62BE81F6}" srcId="{F563A14C-710B-4510-A05E-1A500EE97C65}" destId="{1BD39717-73C2-4DE1-BFCC-ADFAC70145E8}" srcOrd="2" destOrd="0" parTransId="{EEE6DBB7-95FB-412E-ADE5-7FBEF780B59D}" sibTransId="{4856EF23-A497-48F8-BC90-A4E1A9BE7768}"/>
    <dgm:cxn modelId="{9200956A-6518-4858-8207-11940F85D90C}" srcId="{603AB512-7CE8-44AE-A622-855031E61CA6}" destId="{7669BD2A-D77E-4417-9121-C9D5711199E5}" srcOrd="0" destOrd="0" parTransId="{3FC22ECE-021F-441E-BF3E-86248C1FF8BA}" sibTransId="{C6443172-C129-48A2-A8DD-031A236EE3EB}"/>
    <dgm:cxn modelId="{8AB5466D-676D-CE48-AD07-87DB97E3CF4A}" type="presOf" srcId="{DCDAA796-E185-406E-BCB9-DC45CAB6FBDA}" destId="{A0B5EE32-8F3C-4049-81C3-D55D581ECB60}" srcOrd="0" destOrd="0" presId="urn:microsoft.com/office/officeart/2005/8/layout/vList2"/>
    <dgm:cxn modelId="{275A7473-E14F-45FB-8463-533268ACAC13}" srcId="{F8571804-889C-4019-AB9E-A71A4F4D79B7}" destId="{E3D39F8F-E39E-46FF-9DB6-C8671609D257}" srcOrd="1" destOrd="0" parTransId="{49EE2438-6BE5-437D-8B46-1324A118636F}" sibTransId="{0DAB9A35-5DB4-4C90-ACA5-497DC28F7558}"/>
    <dgm:cxn modelId="{3180C289-BB15-4884-BFCB-739269CDDA43}" srcId="{F8571804-889C-4019-AB9E-A71A4F4D79B7}" destId="{DCDAA796-E185-406E-BCB9-DC45CAB6FBDA}" srcOrd="0" destOrd="0" parTransId="{DFD0813F-C454-43CE-97D7-916EA426765F}" sibTransId="{810F1A26-2DDF-4DB0-BC6A-A51516151BD2}"/>
    <dgm:cxn modelId="{B11C1E8C-A3EB-7F4F-8DF8-3B933FF33BF5}" type="presOf" srcId="{F563A14C-710B-4510-A05E-1A500EE97C65}" destId="{3D91AB24-CA17-7841-BE45-CACB79800A19}" srcOrd="0" destOrd="0" presId="urn:microsoft.com/office/officeart/2005/8/layout/vList2"/>
    <dgm:cxn modelId="{7B9F239C-1DBC-4410-BF7C-8138BB048348}" srcId="{F563A14C-710B-4510-A05E-1A500EE97C65}" destId="{F8571804-889C-4019-AB9E-A71A4F4D79B7}" srcOrd="1" destOrd="0" parTransId="{5CBEF5CF-F0C3-4003-9664-F2F9F60DCAA2}" sibTransId="{9CFD3A29-8D0B-477B-954E-E7F22FBFFA5F}"/>
    <dgm:cxn modelId="{3587A5BA-2B7B-F24B-81BB-3931B9814C36}" type="presOf" srcId="{EC560300-AB94-4CC8-93C0-CF41C45A748E}" destId="{A0B5EE32-8F3C-4049-81C3-D55D581ECB60}" srcOrd="0" destOrd="2" presId="urn:microsoft.com/office/officeart/2005/8/layout/vList2"/>
    <dgm:cxn modelId="{C10F8AC1-9237-4E78-A91C-0E0F4F63B6C7}" srcId="{F563A14C-710B-4510-A05E-1A500EE97C65}" destId="{603AB512-7CE8-44AE-A622-855031E61CA6}" srcOrd="0" destOrd="0" parTransId="{A3DB65EB-C93B-4C16-A6B3-BF59A8EFF990}" sibTransId="{5424DD6C-EA27-438B-83B9-94CA4A592368}"/>
    <dgm:cxn modelId="{8BBFF8CB-EED1-2C4F-B51E-89C28F60B8E2}" type="presOf" srcId="{F8571804-889C-4019-AB9E-A71A4F4D79B7}" destId="{337CEEA5-BD82-2543-A852-FE4CB2571924}" srcOrd="0" destOrd="0" presId="urn:microsoft.com/office/officeart/2005/8/layout/vList2"/>
    <dgm:cxn modelId="{EC9F01D5-9143-478B-B8D9-2122F32B13BB}" srcId="{F563A14C-710B-4510-A05E-1A500EE97C65}" destId="{58AB5320-3A5A-4E43-98C4-7A5E866E18CB}" srcOrd="3" destOrd="0" parTransId="{0DC6BEB2-CD98-434B-8250-4D37298F5728}" sibTransId="{5929A1DD-02B8-48BA-9E19-9C4874393528}"/>
    <dgm:cxn modelId="{9A0217EC-FBF0-A345-B61B-94A2D531D902}" type="presOf" srcId="{D9A0F996-7E68-4EAD-865C-BC263DF76B2A}" destId="{718B51E8-CCA2-5F48-87E8-5DE741A675C6}" srcOrd="0" destOrd="0" presId="urn:microsoft.com/office/officeart/2005/8/layout/vList2"/>
    <dgm:cxn modelId="{35884CF3-D37F-A34C-A4C8-120B4A38A385}" type="presOf" srcId="{1BD39717-73C2-4DE1-BFCC-ADFAC70145E8}" destId="{3BE47A2B-96B8-1F42-B71E-E709C91CB164}" srcOrd="0" destOrd="0" presId="urn:microsoft.com/office/officeart/2005/8/layout/vList2"/>
    <dgm:cxn modelId="{900F7DFA-F0EA-4CB8-AD2D-2C87A8647E7A}" srcId="{F8571804-889C-4019-AB9E-A71A4F4D79B7}" destId="{EC560300-AB94-4CC8-93C0-CF41C45A748E}" srcOrd="2" destOrd="0" parTransId="{8BE4DE35-1D1C-42D2-BA70-C2259063DD85}" sibTransId="{65C0C645-A47A-4F57-BE8B-7F5A4C3E8063}"/>
    <dgm:cxn modelId="{8BA79C67-E394-1945-A37F-D3F624206333}" type="presParOf" srcId="{3D91AB24-CA17-7841-BE45-CACB79800A19}" destId="{E468B59E-6D42-444C-BF11-6C1592134916}" srcOrd="0" destOrd="0" presId="urn:microsoft.com/office/officeart/2005/8/layout/vList2"/>
    <dgm:cxn modelId="{BA019DDE-80B3-4549-A8E8-1E631E2CDE47}" type="presParOf" srcId="{3D91AB24-CA17-7841-BE45-CACB79800A19}" destId="{73E017A4-488B-7F4D-8A12-627AF7F93E4A}" srcOrd="1" destOrd="0" presId="urn:microsoft.com/office/officeart/2005/8/layout/vList2"/>
    <dgm:cxn modelId="{9EC1F5E8-FD0E-F14B-BDE2-46609F527E9A}" type="presParOf" srcId="{3D91AB24-CA17-7841-BE45-CACB79800A19}" destId="{337CEEA5-BD82-2543-A852-FE4CB2571924}" srcOrd="2" destOrd="0" presId="urn:microsoft.com/office/officeart/2005/8/layout/vList2"/>
    <dgm:cxn modelId="{89F63383-24CA-774D-B242-DF7CF57E6068}" type="presParOf" srcId="{3D91AB24-CA17-7841-BE45-CACB79800A19}" destId="{A0B5EE32-8F3C-4049-81C3-D55D581ECB60}" srcOrd="3" destOrd="0" presId="urn:microsoft.com/office/officeart/2005/8/layout/vList2"/>
    <dgm:cxn modelId="{73E98C5C-ECF1-3C47-819D-60B9CCDD15FE}" type="presParOf" srcId="{3D91AB24-CA17-7841-BE45-CACB79800A19}" destId="{3BE47A2B-96B8-1F42-B71E-E709C91CB164}" srcOrd="4" destOrd="0" presId="urn:microsoft.com/office/officeart/2005/8/layout/vList2"/>
    <dgm:cxn modelId="{46BDA500-1D64-204C-8CC8-07D5FB7C2067}" type="presParOf" srcId="{3D91AB24-CA17-7841-BE45-CACB79800A19}" destId="{ED8D9B25-4D5B-2443-A2F8-844727574BE2}" srcOrd="5" destOrd="0" presId="urn:microsoft.com/office/officeart/2005/8/layout/vList2"/>
    <dgm:cxn modelId="{D57988FF-C79C-524B-88F8-9B2E1CFE27B1}" type="presParOf" srcId="{3D91AB24-CA17-7841-BE45-CACB79800A19}" destId="{945FCE91-385F-204F-BE52-889C632A6920}" srcOrd="6" destOrd="0" presId="urn:microsoft.com/office/officeart/2005/8/layout/vList2"/>
    <dgm:cxn modelId="{2F8C7671-AF13-0443-A34D-A75035EB8A83}" type="presParOf" srcId="{3D91AB24-CA17-7841-BE45-CACB79800A19}" destId="{718B51E8-CCA2-5F48-87E8-5DE741A675C6}"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881A96D4-0139-490A-B634-EA0D9E6DB640}" type="doc">
      <dgm:prSet loTypeId="urn:microsoft.com/office/officeart/2005/8/layout/cycle3" loCatId="cycle" qsTypeId="urn:microsoft.com/office/officeart/2005/8/quickstyle/simple1" qsCatId="simple" csTypeId="urn:microsoft.com/office/officeart/2005/8/colors/colorful5" csCatId="colorful"/>
      <dgm:spPr/>
      <dgm:t>
        <a:bodyPr/>
        <a:lstStyle/>
        <a:p>
          <a:endParaRPr lang="en-US"/>
        </a:p>
      </dgm:t>
    </dgm:pt>
    <dgm:pt modelId="{833D6B43-8D51-4BC7-9D0E-CE8A2D4656FD}">
      <dgm:prSet custT="1"/>
      <dgm:spPr/>
      <dgm:t>
        <a:bodyPr/>
        <a:lstStyle/>
        <a:p>
          <a:r>
            <a:rPr lang="en-US" sz="1800"/>
            <a:t>∗ A MapReduce Job controls the execution</a:t>
          </a:r>
        </a:p>
      </dgm:t>
    </dgm:pt>
    <dgm:pt modelId="{6FF1EED4-11B3-46A6-B25F-E5462C25B84B}" type="parTrans" cxnId="{463F4CED-261E-439A-81DA-06F7D0AED387}">
      <dgm:prSet/>
      <dgm:spPr/>
      <dgm:t>
        <a:bodyPr/>
        <a:lstStyle/>
        <a:p>
          <a:endParaRPr lang="en-US" sz="1800"/>
        </a:p>
      </dgm:t>
    </dgm:pt>
    <dgm:pt modelId="{AEC5C59F-C381-4E5E-B330-F9AC9AE2FE48}" type="sibTrans" cxnId="{463F4CED-261E-439A-81DA-06F7D0AED387}">
      <dgm:prSet/>
      <dgm:spPr/>
      <dgm:t>
        <a:bodyPr/>
        <a:lstStyle/>
        <a:p>
          <a:endParaRPr lang="en-US" sz="1800"/>
        </a:p>
      </dgm:t>
    </dgm:pt>
    <dgm:pt modelId="{18B2937C-478D-429E-9F0B-8F0AB7B22663}">
      <dgm:prSet custT="1"/>
      <dgm:spPr/>
      <dgm:t>
        <a:bodyPr/>
        <a:lstStyle/>
        <a:p>
          <a:r>
            <a:rPr lang="en-US" sz="1800"/>
            <a:t>∗	Splits the input data-set into independent chunks which are processed by the </a:t>
          </a:r>
          <a:r>
            <a:rPr lang="en-US" sz="1800" i="1"/>
            <a:t>map</a:t>
          </a:r>
          <a:endParaRPr lang="en-US" sz="1800"/>
        </a:p>
      </dgm:t>
    </dgm:pt>
    <dgm:pt modelId="{D55E7AC6-296D-495A-A686-4CF29BDC6C4A}" type="parTrans" cxnId="{8E66BB2B-4670-4F22-8E88-E569D8632425}">
      <dgm:prSet/>
      <dgm:spPr/>
      <dgm:t>
        <a:bodyPr/>
        <a:lstStyle/>
        <a:p>
          <a:endParaRPr lang="en-US" sz="1800"/>
        </a:p>
      </dgm:t>
    </dgm:pt>
    <dgm:pt modelId="{AFE394F4-19E8-435C-B60E-84267F1C3307}" type="sibTrans" cxnId="{8E66BB2B-4670-4F22-8E88-E569D8632425}">
      <dgm:prSet/>
      <dgm:spPr/>
      <dgm:t>
        <a:bodyPr/>
        <a:lstStyle/>
        <a:p>
          <a:endParaRPr lang="en-US" sz="1800"/>
        </a:p>
      </dgm:t>
    </dgm:pt>
    <dgm:pt modelId="{9DFD2383-0E62-4008-AE50-75C48DAE7384}">
      <dgm:prSet custT="1"/>
      <dgm:spPr/>
      <dgm:t>
        <a:bodyPr/>
        <a:lstStyle/>
        <a:p>
          <a:r>
            <a:rPr lang="en-US" sz="1800" i="1"/>
            <a:t>tasks </a:t>
          </a:r>
          <a:r>
            <a:rPr lang="en-US" sz="1800"/>
            <a:t>in a completely parallel manner</a:t>
          </a:r>
        </a:p>
      </dgm:t>
    </dgm:pt>
    <dgm:pt modelId="{67633635-F1A2-4B54-8973-6F87AB8DEEA6}" type="parTrans" cxnId="{A5E5C5EB-E5E3-4AB0-99C1-71233581D8C6}">
      <dgm:prSet/>
      <dgm:spPr/>
      <dgm:t>
        <a:bodyPr/>
        <a:lstStyle/>
        <a:p>
          <a:endParaRPr lang="en-US" sz="1800"/>
        </a:p>
      </dgm:t>
    </dgm:pt>
    <dgm:pt modelId="{BC38DF10-D0BA-4A22-93AF-ED3B9BEAC21D}" type="sibTrans" cxnId="{A5E5C5EB-E5E3-4AB0-99C1-71233581D8C6}">
      <dgm:prSet/>
      <dgm:spPr/>
      <dgm:t>
        <a:bodyPr/>
        <a:lstStyle/>
        <a:p>
          <a:endParaRPr lang="en-US" sz="1800"/>
        </a:p>
      </dgm:t>
    </dgm:pt>
    <dgm:pt modelId="{A1B70CC9-A36B-40F6-962F-C8479A5E07A4}">
      <dgm:prSet custT="1"/>
      <dgm:spPr/>
      <dgm:t>
        <a:bodyPr/>
        <a:lstStyle/>
        <a:p>
          <a:r>
            <a:rPr lang="en-US" sz="1800"/>
            <a:t>∗ The framework sorts the outputs of the maps</a:t>
          </a:r>
        </a:p>
      </dgm:t>
    </dgm:pt>
    <dgm:pt modelId="{86D1C130-FD20-4710-98EC-14C5C794F2CA}" type="parTrans" cxnId="{952AF301-BBF4-4DD1-AB15-41FD8719BF41}">
      <dgm:prSet/>
      <dgm:spPr/>
      <dgm:t>
        <a:bodyPr/>
        <a:lstStyle/>
        <a:p>
          <a:endParaRPr lang="en-US" sz="1800"/>
        </a:p>
      </dgm:t>
    </dgm:pt>
    <dgm:pt modelId="{594CF836-B1DE-428F-AB2F-CA86DD1451A5}" type="sibTrans" cxnId="{952AF301-BBF4-4DD1-AB15-41FD8719BF41}">
      <dgm:prSet/>
      <dgm:spPr/>
      <dgm:t>
        <a:bodyPr/>
        <a:lstStyle/>
        <a:p>
          <a:endParaRPr lang="en-US" sz="1800"/>
        </a:p>
      </dgm:t>
    </dgm:pt>
    <dgm:pt modelId="{73C7AD42-0F37-44F1-BD77-54959FC7BA27}">
      <dgm:prSet custT="1"/>
      <dgm:spPr/>
      <dgm:t>
        <a:bodyPr/>
        <a:lstStyle/>
        <a:p>
          <a:r>
            <a:rPr lang="en-US" sz="1800"/>
            <a:t>∗	which are then input to the </a:t>
          </a:r>
          <a:r>
            <a:rPr lang="en-US" sz="1800" i="1"/>
            <a:t>reduce tasks</a:t>
          </a:r>
          <a:endParaRPr lang="en-US" sz="1800"/>
        </a:p>
      </dgm:t>
    </dgm:pt>
    <dgm:pt modelId="{8E2E53CB-41EC-4277-937D-7E14D7E4D3E9}" type="parTrans" cxnId="{3A8CD797-5D1B-4888-B7D4-136A716A3F86}">
      <dgm:prSet/>
      <dgm:spPr/>
      <dgm:t>
        <a:bodyPr/>
        <a:lstStyle/>
        <a:p>
          <a:endParaRPr lang="en-US" sz="1800"/>
        </a:p>
      </dgm:t>
    </dgm:pt>
    <dgm:pt modelId="{E263FF8F-20AE-4C25-83D0-DDEFD60CB80F}" type="sibTrans" cxnId="{3A8CD797-5D1B-4888-B7D4-136A716A3F86}">
      <dgm:prSet/>
      <dgm:spPr/>
      <dgm:t>
        <a:bodyPr/>
        <a:lstStyle/>
        <a:p>
          <a:endParaRPr lang="en-US" sz="1800"/>
        </a:p>
      </dgm:t>
    </dgm:pt>
    <dgm:pt modelId="{DDB3655D-757D-45CA-A122-8F1F0700F573}">
      <dgm:prSet custT="1"/>
      <dgm:spPr/>
      <dgm:t>
        <a:bodyPr/>
        <a:lstStyle/>
        <a:p>
          <a:r>
            <a:rPr lang="en-US" sz="1800"/>
            <a:t>∗ A MapReduce Task is sent the output of the framework to combine and reduce</a:t>
          </a:r>
        </a:p>
      </dgm:t>
    </dgm:pt>
    <dgm:pt modelId="{6C6CFBF3-A974-4A0F-968D-93551AA99F1A}" type="parTrans" cxnId="{31D6052B-AC5F-4387-B75D-818B24EA0708}">
      <dgm:prSet/>
      <dgm:spPr/>
      <dgm:t>
        <a:bodyPr/>
        <a:lstStyle/>
        <a:p>
          <a:endParaRPr lang="en-US" sz="1800"/>
        </a:p>
      </dgm:t>
    </dgm:pt>
    <dgm:pt modelId="{63BEA600-1BAA-4196-A72D-6A076BB6B7E7}" type="sibTrans" cxnId="{31D6052B-AC5F-4387-B75D-818B24EA0708}">
      <dgm:prSet/>
      <dgm:spPr/>
      <dgm:t>
        <a:bodyPr/>
        <a:lstStyle/>
        <a:p>
          <a:endParaRPr lang="en-US" sz="1800"/>
        </a:p>
      </dgm:t>
    </dgm:pt>
    <dgm:pt modelId="{8E5F990F-7FAB-4268-87CD-D26DB9CE8441}">
      <dgm:prSet custT="1"/>
      <dgm:spPr/>
      <dgm:t>
        <a:bodyPr/>
        <a:lstStyle/>
        <a:p>
          <a:r>
            <a:rPr lang="en-US" sz="1800"/>
            <a:t>∗ Both the input and the output of the job are stored in a file-system</a:t>
          </a:r>
        </a:p>
      </dgm:t>
    </dgm:pt>
    <dgm:pt modelId="{6CAE344A-1208-4FA9-BD1D-B2DE35073217}" type="parTrans" cxnId="{7458E767-7638-4F7F-94CD-A1DCBAF74AB3}">
      <dgm:prSet/>
      <dgm:spPr/>
      <dgm:t>
        <a:bodyPr/>
        <a:lstStyle/>
        <a:p>
          <a:endParaRPr lang="en-US" sz="1800"/>
        </a:p>
      </dgm:t>
    </dgm:pt>
    <dgm:pt modelId="{F0B42BAA-673F-4DE9-9D2B-161598E50F0A}" type="sibTrans" cxnId="{7458E767-7638-4F7F-94CD-A1DCBAF74AB3}">
      <dgm:prSet/>
      <dgm:spPr/>
      <dgm:t>
        <a:bodyPr/>
        <a:lstStyle/>
        <a:p>
          <a:endParaRPr lang="en-US" sz="1800"/>
        </a:p>
      </dgm:t>
    </dgm:pt>
    <dgm:pt modelId="{A0D9E8D4-767C-4CCC-99B7-8A48638908B9}">
      <dgm:prSet custT="1"/>
      <dgm:spPr/>
      <dgm:t>
        <a:bodyPr/>
        <a:lstStyle/>
        <a:p>
          <a:r>
            <a:rPr lang="en-US" sz="1800"/>
            <a:t>∗ The framework takes care of scheduling tasks, monitoring them and re-</a:t>
          </a:r>
        </a:p>
      </dgm:t>
    </dgm:pt>
    <dgm:pt modelId="{A6A25CA7-820D-44A6-BACD-6000DDFB0CB5}" type="parTrans" cxnId="{5E9AAB97-68B5-44FB-BA26-A8CBF28725D8}">
      <dgm:prSet/>
      <dgm:spPr/>
      <dgm:t>
        <a:bodyPr/>
        <a:lstStyle/>
        <a:p>
          <a:endParaRPr lang="en-US" sz="1800"/>
        </a:p>
      </dgm:t>
    </dgm:pt>
    <dgm:pt modelId="{BF82FE29-44B2-4CC0-AECF-AD935489E897}" type="sibTrans" cxnId="{5E9AAB97-68B5-44FB-BA26-A8CBF28725D8}">
      <dgm:prSet/>
      <dgm:spPr/>
      <dgm:t>
        <a:bodyPr/>
        <a:lstStyle/>
        <a:p>
          <a:endParaRPr lang="en-US" sz="1800"/>
        </a:p>
      </dgm:t>
    </dgm:pt>
    <dgm:pt modelId="{55F98D72-CDA3-48AE-9C72-94CFF5025D66}">
      <dgm:prSet custT="1"/>
      <dgm:spPr/>
      <dgm:t>
        <a:bodyPr/>
        <a:lstStyle/>
        <a:p>
          <a:r>
            <a:rPr lang="en-US" sz="1800"/>
            <a:t>executes the failed tasks</a:t>
          </a:r>
        </a:p>
      </dgm:t>
    </dgm:pt>
    <dgm:pt modelId="{B096DCB3-2BDB-4D57-A2A9-B2FE40786161}" type="parTrans" cxnId="{25059F76-09BA-44AE-8ABA-71641CDBDAF4}">
      <dgm:prSet/>
      <dgm:spPr/>
      <dgm:t>
        <a:bodyPr/>
        <a:lstStyle/>
        <a:p>
          <a:endParaRPr lang="en-US" sz="1800"/>
        </a:p>
      </dgm:t>
    </dgm:pt>
    <dgm:pt modelId="{6C3F83AC-86AF-45CC-9420-3067AE7CCDD2}" type="sibTrans" cxnId="{25059F76-09BA-44AE-8ABA-71641CDBDAF4}">
      <dgm:prSet/>
      <dgm:spPr/>
      <dgm:t>
        <a:bodyPr/>
        <a:lstStyle/>
        <a:p>
          <a:endParaRPr lang="en-US" sz="1800"/>
        </a:p>
      </dgm:t>
    </dgm:pt>
    <dgm:pt modelId="{69018DE7-CEE5-7643-889E-27B44FCCE8ED}" type="pres">
      <dgm:prSet presAssocID="{881A96D4-0139-490A-B634-EA0D9E6DB640}" presName="Name0" presStyleCnt="0">
        <dgm:presLayoutVars>
          <dgm:dir/>
          <dgm:resizeHandles val="exact"/>
        </dgm:presLayoutVars>
      </dgm:prSet>
      <dgm:spPr/>
    </dgm:pt>
    <dgm:pt modelId="{355427E1-D0BA-C643-9DAE-3F15EE36F882}" type="pres">
      <dgm:prSet presAssocID="{881A96D4-0139-490A-B634-EA0D9E6DB640}" presName="cycle" presStyleCnt="0"/>
      <dgm:spPr/>
    </dgm:pt>
    <dgm:pt modelId="{F137427D-FDA1-D246-96FB-05878A29304C}" type="pres">
      <dgm:prSet presAssocID="{833D6B43-8D51-4BC7-9D0E-CE8A2D4656FD}" presName="nodeFirstNode" presStyleLbl="node1" presStyleIdx="0" presStyleCnt="6">
        <dgm:presLayoutVars>
          <dgm:bulletEnabled val="1"/>
        </dgm:presLayoutVars>
      </dgm:prSet>
      <dgm:spPr/>
    </dgm:pt>
    <dgm:pt modelId="{50E79991-6237-F34F-AB6F-08BCA04CBED1}" type="pres">
      <dgm:prSet presAssocID="{AEC5C59F-C381-4E5E-B330-F9AC9AE2FE48}" presName="sibTransFirstNode" presStyleLbl="bgShp" presStyleIdx="0" presStyleCnt="1"/>
      <dgm:spPr/>
    </dgm:pt>
    <dgm:pt modelId="{9B91435D-15EE-E140-8EF5-890E734DDD6A}" type="pres">
      <dgm:prSet presAssocID="{A1B70CC9-A36B-40F6-962F-C8479A5E07A4}" presName="nodeFollowingNodes" presStyleLbl="node1" presStyleIdx="1" presStyleCnt="6">
        <dgm:presLayoutVars>
          <dgm:bulletEnabled val="1"/>
        </dgm:presLayoutVars>
      </dgm:prSet>
      <dgm:spPr/>
    </dgm:pt>
    <dgm:pt modelId="{1FA6BDD8-45F1-8249-BFE6-FFD9779ACAF3}" type="pres">
      <dgm:prSet presAssocID="{DDB3655D-757D-45CA-A122-8F1F0700F573}" presName="nodeFollowingNodes" presStyleLbl="node1" presStyleIdx="2" presStyleCnt="6">
        <dgm:presLayoutVars>
          <dgm:bulletEnabled val="1"/>
        </dgm:presLayoutVars>
      </dgm:prSet>
      <dgm:spPr/>
    </dgm:pt>
    <dgm:pt modelId="{5BFDC0D0-5215-A249-8037-12B93AE2DE34}" type="pres">
      <dgm:prSet presAssocID="{8E5F990F-7FAB-4268-87CD-D26DB9CE8441}" presName="nodeFollowingNodes" presStyleLbl="node1" presStyleIdx="3" presStyleCnt="6">
        <dgm:presLayoutVars>
          <dgm:bulletEnabled val="1"/>
        </dgm:presLayoutVars>
      </dgm:prSet>
      <dgm:spPr/>
    </dgm:pt>
    <dgm:pt modelId="{0C39824B-ABA4-754D-B388-A94EC8448CD6}" type="pres">
      <dgm:prSet presAssocID="{A0D9E8D4-767C-4CCC-99B7-8A48638908B9}" presName="nodeFollowingNodes" presStyleLbl="node1" presStyleIdx="4" presStyleCnt="6">
        <dgm:presLayoutVars>
          <dgm:bulletEnabled val="1"/>
        </dgm:presLayoutVars>
      </dgm:prSet>
      <dgm:spPr/>
    </dgm:pt>
    <dgm:pt modelId="{8825FA8A-1767-F346-9BD7-E256CE013FA7}" type="pres">
      <dgm:prSet presAssocID="{55F98D72-CDA3-48AE-9C72-94CFF5025D66}" presName="nodeFollowingNodes" presStyleLbl="node1" presStyleIdx="5" presStyleCnt="6">
        <dgm:presLayoutVars>
          <dgm:bulletEnabled val="1"/>
        </dgm:presLayoutVars>
      </dgm:prSet>
      <dgm:spPr/>
    </dgm:pt>
  </dgm:ptLst>
  <dgm:cxnLst>
    <dgm:cxn modelId="{952AF301-BBF4-4DD1-AB15-41FD8719BF41}" srcId="{881A96D4-0139-490A-B634-EA0D9E6DB640}" destId="{A1B70CC9-A36B-40F6-962F-C8479A5E07A4}" srcOrd="1" destOrd="0" parTransId="{86D1C130-FD20-4710-98EC-14C5C794F2CA}" sibTransId="{594CF836-B1DE-428F-AB2F-CA86DD1451A5}"/>
    <dgm:cxn modelId="{31D6052B-AC5F-4387-B75D-818B24EA0708}" srcId="{881A96D4-0139-490A-B634-EA0D9E6DB640}" destId="{DDB3655D-757D-45CA-A122-8F1F0700F573}" srcOrd="2" destOrd="0" parTransId="{6C6CFBF3-A974-4A0F-968D-93551AA99F1A}" sibTransId="{63BEA600-1BAA-4196-A72D-6A076BB6B7E7}"/>
    <dgm:cxn modelId="{8E66BB2B-4670-4F22-8E88-E569D8632425}" srcId="{833D6B43-8D51-4BC7-9D0E-CE8A2D4656FD}" destId="{18B2937C-478D-429E-9F0B-8F0AB7B22663}" srcOrd="0" destOrd="0" parTransId="{D55E7AC6-296D-495A-A686-4CF29BDC6C4A}" sibTransId="{AFE394F4-19E8-435C-B60E-84267F1C3307}"/>
    <dgm:cxn modelId="{7C4A4E50-43B0-0246-ACC9-B641E697FC92}" type="presOf" srcId="{73C7AD42-0F37-44F1-BD77-54959FC7BA27}" destId="{9B91435D-15EE-E140-8EF5-890E734DDD6A}" srcOrd="0" destOrd="1" presId="urn:microsoft.com/office/officeart/2005/8/layout/cycle3"/>
    <dgm:cxn modelId="{7458E767-7638-4F7F-94CD-A1DCBAF74AB3}" srcId="{881A96D4-0139-490A-B634-EA0D9E6DB640}" destId="{8E5F990F-7FAB-4268-87CD-D26DB9CE8441}" srcOrd="3" destOrd="0" parTransId="{6CAE344A-1208-4FA9-BD1D-B2DE35073217}" sibTransId="{F0B42BAA-673F-4DE9-9D2B-161598E50F0A}"/>
    <dgm:cxn modelId="{A4C5A56A-B981-6F4C-8D2C-865F8D09576E}" type="presOf" srcId="{833D6B43-8D51-4BC7-9D0E-CE8A2D4656FD}" destId="{F137427D-FDA1-D246-96FB-05878A29304C}" srcOrd="0" destOrd="0" presId="urn:microsoft.com/office/officeart/2005/8/layout/cycle3"/>
    <dgm:cxn modelId="{25059F76-09BA-44AE-8ABA-71641CDBDAF4}" srcId="{881A96D4-0139-490A-B634-EA0D9E6DB640}" destId="{55F98D72-CDA3-48AE-9C72-94CFF5025D66}" srcOrd="5" destOrd="0" parTransId="{B096DCB3-2BDB-4D57-A2A9-B2FE40786161}" sibTransId="{6C3F83AC-86AF-45CC-9420-3067AE7CCDD2}"/>
    <dgm:cxn modelId="{0420987A-B117-4248-8B41-B5D88655439F}" type="presOf" srcId="{AEC5C59F-C381-4E5E-B330-F9AC9AE2FE48}" destId="{50E79991-6237-F34F-AB6F-08BCA04CBED1}" srcOrd="0" destOrd="0" presId="urn:microsoft.com/office/officeart/2005/8/layout/cycle3"/>
    <dgm:cxn modelId="{56494588-526D-9547-97F7-9D6A448C3295}" type="presOf" srcId="{A0D9E8D4-767C-4CCC-99B7-8A48638908B9}" destId="{0C39824B-ABA4-754D-B388-A94EC8448CD6}" srcOrd="0" destOrd="0" presId="urn:microsoft.com/office/officeart/2005/8/layout/cycle3"/>
    <dgm:cxn modelId="{4A4A4D90-A820-3D42-BD18-AD5036D1D076}" type="presOf" srcId="{9DFD2383-0E62-4008-AE50-75C48DAE7384}" destId="{F137427D-FDA1-D246-96FB-05878A29304C}" srcOrd="0" destOrd="2" presId="urn:microsoft.com/office/officeart/2005/8/layout/cycle3"/>
    <dgm:cxn modelId="{5E9AAB97-68B5-44FB-BA26-A8CBF28725D8}" srcId="{881A96D4-0139-490A-B634-EA0D9E6DB640}" destId="{A0D9E8D4-767C-4CCC-99B7-8A48638908B9}" srcOrd="4" destOrd="0" parTransId="{A6A25CA7-820D-44A6-BACD-6000DDFB0CB5}" sibTransId="{BF82FE29-44B2-4CC0-AECF-AD935489E897}"/>
    <dgm:cxn modelId="{3A8CD797-5D1B-4888-B7D4-136A716A3F86}" srcId="{A1B70CC9-A36B-40F6-962F-C8479A5E07A4}" destId="{73C7AD42-0F37-44F1-BD77-54959FC7BA27}" srcOrd="0" destOrd="0" parTransId="{8E2E53CB-41EC-4277-937D-7E14D7E4D3E9}" sibTransId="{E263FF8F-20AE-4C25-83D0-DDEFD60CB80F}"/>
    <dgm:cxn modelId="{E993CABB-F88C-3A41-8FA3-4D2089C8DC96}" type="presOf" srcId="{DDB3655D-757D-45CA-A122-8F1F0700F573}" destId="{1FA6BDD8-45F1-8249-BFE6-FFD9779ACAF3}" srcOrd="0" destOrd="0" presId="urn:microsoft.com/office/officeart/2005/8/layout/cycle3"/>
    <dgm:cxn modelId="{E95B56CC-11D7-7442-9BD3-4444986B0D99}" type="presOf" srcId="{55F98D72-CDA3-48AE-9C72-94CFF5025D66}" destId="{8825FA8A-1767-F346-9BD7-E256CE013FA7}" srcOrd="0" destOrd="0" presId="urn:microsoft.com/office/officeart/2005/8/layout/cycle3"/>
    <dgm:cxn modelId="{33630CCE-E30C-6149-B75A-DA9858661B45}" type="presOf" srcId="{881A96D4-0139-490A-B634-EA0D9E6DB640}" destId="{69018DE7-CEE5-7643-889E-27B44FCCE8ED}" srcOrd="0" destOrd="0" presId="urn:microsoft.com/office/officeart/2005/8/layout/cycle3"/>
    <dgm:cxn modelId="{0B313AD3-81DE-634A-9B8D-B0C581B98D65}" type="presOf" srcId="{18B2937C-478D-429E-9F0B-8F0AB7B22663}" destId="{F137427D-FDA1-D246-96FB-05878A29304C}" srcOrd="0" destOrd="1" presId="urn:microsoft.com/office/officeart/2005/8/layout/cycle3"/>
    <dgm:cxn modelId="{3D7FECD5-9F16-704D-9E0A-DCDC92C3F152}" type="presOf" srcId="{8E5F990F-7FAB-4268-87CD-D26DB9CE8441}" destId="{5BFDC0D0-5215-A249-8037-12B93AE2DE34}" srcOrd="0" destOrd="0" presId="urn:microsoft.com/office/officeart/2005/8/layout/cycle3"/>
    <dgm:cxn modelId="{CCEA16EB-85AC-1E41-B92F-C93DD58190B9}" type="presOf" srcId="{A1B70CC9-A36B-40F6-962F-C8479A5E07A4}" destId="{9B91435D-15EE-E140-8EF5-890E734DDD6A}" srcOrd="0" destOrd="0" presId="urn:microsoft.com/office/officeart/2005/8/layout/cycle3"/>
    <dgm:cxn modelId="{A5E5C5EB-E5E3-4AB0-99C1-71233581D8C6}" srcId="{18B2937C-478D-429E-9F0B-8F0AB7B22663}" destId="{9DFD2383-0E62-4008-AE50-75C48DAE7384}" srcOrd="0" destOrd="0" parTransId="{67633635-F1A2-4B54-8973-6F87AB8DEEA6}" sibTransId="{BC38DF10-D0BA-4A22-93AF-ED3B9BEAC21D}"/>
    <dgm:cxn modelId="{463F4CED-261E-439A-81DA-06F7D0AED387}" srcId="{881A96D4-0139-490A-B634-EA0D9E6DB640}" destId="{833D6B43-8D51-4BC7-9D0E-CE8A2D4656FD}" srcOrd="0" destOrd="0" parTransId="{6FF1EED4-11B3-46A6-B25F-E5462C25B84B}" sibTransId="{AEC5C59F-C381-4E5E-B330-F9AC9AE2FE48}"/>
    <dgm:cxn modelId="{9FCF26D3-FE43-0340-84B3-564B4B8215FD}" type="presParOf" srcId="{69018DE7-CEE5-7643-889E-27B44FCCE8ED}" destId="{355427E1-D0BA-C643-9DAE-3F15EE36F882}" srcOrd="0" destOrd="0" presId="urn:microsoft.com/office/officeart/2005/8/layout/cycle3"/>
    <dgm:cxn modelId="{6A02D50A-4186-BF40-8B15-A2E0B8889879}" type="presParOf" srcId="{355427E1-D0BA-C643-9DAE-3F15EE36F882}" destId="{F137427D-FDA1-D246-96FB-05878A29304C}" srcOrd="0" destOrd="0" presId="urn:microsoft.com/office/officeart/2005/8/layout/cycle3"/>
    <dgm:cxn modelId="{31E4109B-1E45-FA4A-8F20-C7410CE49769}" type="presParOf" srcId="{355427E1-D0BA-C643-9DAE-3F15EE36F882}" destId="{50E79991-6237-F34F-AB6F-08BCA04CBED1}" srcOrd="1" destOrd="0" presId="urn:microsoft.com/office/officeart/2005/8/layout/cycle3"/>
    <dgm:cxn modelId="{A9561D51-0FAE-6848-90AF-B68E5C233C4C}" type="presParOf" srcId="{355427E1-D0BA-C643-9DAE-3F15EE36F882}" destId="{9B91435D-15EE-E140-8EF5-890E734DDD6A}" srcOrd="2" destOrd="0" presId="urn:microsoft.com/office/officeart/2005/8/layout/cycle3"/>
    <dgm:cxn modelId="{B1E7BA7E-6FEA-A744-A5B2-EE09257C614C}" type="presParOf" srcId="{355427E1-D0BA-C643-9DAE-3F15EE36F882}" destId="{1FA6BDD8-45F1-8249-BFE6-FFD9779ACAF3}" srcOrd="3" destOrd="0" presId="urn:microsoft.com/office/officeart/2005/8/layout/cycle3"/>
    <dgm:cxn modelId="{C7CDBEBD-9843-FF44-B09A-39ABA4473156}" type="presParOf" srcId="{355427E1-D0BA-C643-9DAE-3F15EE36F882}" destId="{5BFDC0D0-5215-A249-8037-12B93AE2DE34}" srcOrd="4" destOrd="0" presId="urn:microsoft.com/office/officeart/2005/8/layout/cycle3"/>
    <dgm:cxn modelId="{E434D87A-3FBE-0A42-B9BF-B05FA969FB48}" type="presParOf" srcId="{355427E1-D0BA-C643-9DAE-3F15EE36F882}" destId="{0C39824B-ABA4-754D-B388-A94EC8448CD6}" srcOrd="5" destOrd="0" presId="urn:microsoft.com/office/officeart/2005/8/layout/cycle3"/>
    <dgm:cxn modelId="{1B7A1F43-0D8A-5E4E-A4BC-355BA092A7A8}" type="presParOf" srcId="{355427E1-D0BA-C643-9DAE-3F15EE36F882}" destId="{8825FA8A-1767-F346-9BD7-E256CE013FA7}" srcOrd="6" destOrd="0" presId="urn:microsoft.com/office/officeart/2005/8/layout/cycle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10924FC-58DE-4430-8724-D2A98CBACC7B}" type="doc">
      <dgm:prSet loTypeId="urn:microsoft.com/office/officeart/2016/7/layout/RepeatingBendingProcessNew" loCatId="process" qsTypeId="urn:microsoft.com/office/officeart/2005/8/quickstyle/simple1" qsCatId="simple" csTypeId="urn:microsoft.com/office/officeart/2005/8/colors/accent1_2" csCatId="accent1"/>
      <dgm:spPr/>
      <dgm:t>
        <a:bodyPr/>
        <a:lstStyle/>
        <a:p>
          <a:endParaRPr lang="en-US"/>
        </a:p>
      </dgm:t>
    </dgm:pt>
    <dgm:pt modelId="{29A0592E-2B43-4E65-9B72-4336E8AE3D45}">
      <dgm:prSet custT="1"/>
      <dgm:spPr/>
      <dgm:t>
        <a:bodyPr/>
        <a:lstStyle/>
        <a:p>
          <a:r>
            <a:rPr lang="en-US" sz="1800"/>
            <a:t>∗	Mapper maps input key/value pairs to a set of intermediate key/value pairs</a:t>
          </a:r>
        </a:p>
      </dgm:t>
    </dgm:pt>
    <dgm:pt modelId="{81E0EBBC-F747-4F49-B84D-9A306AF36952}" type="parTrans" cxnId="{788372C9-DBD5-4413-B7EE-94261DCA9A39}">
      <dgm:prSet/>
      <dgm:spPr/>
      <dgm:t>
        <a:bodyPr/>
        <a:lstStyle/>
        <a:p>
          <a:endParaRPr lang="en-US" sz="1800"/>
        </a:p>
      </dgm:t>
    </dgm:pt>
    <dgm:pt modelId="{96F2D5C8-CF66-4127-A22B-E17661948AED}" type="sibTrans" cxnId="{788372C9-DBD5-4413-B7EE-94261DCA9A39}">
      <dgm:prSet custT="1"/>
      <dgm:spPr/>
      <dgm:t>
        <a:bodyPr/>
        <a:lstStyle/>
        <a:p>
          <a:endParaRPr lang="en-US" sz="1800"/>
        </a:p>
      </dgm:t>
    </dgm:pt>
    <dgm:pt modelId="{DF858AC4-69C2-46E8-B0A0-DCBFA05F86C0}">
      <dgm:prSet custT="1"/>
      <dgm:spPr/>
      <dgm:t>
        <a:bodyPr/>
        <a:lstStyle/>
        <a:p>
          <a:r>
            <a:rPr lang="en-US" sz="1800" dirty="0"/>
            <a:t>∗	Implementing classes extend Mapper and override map()</a:t>
          </a:r>
        </a:p>
      </dgm:t>
    </dgm:pt>
    <dgm:pt modelId="{0702655F-43FD-4A2D-8F18-6B3D7FEA4D40}" type="parTrans" cxnId="{74614185-71BB-496A-9E33-68B32F699A32}">
      <dgm:prSet/>
      <dgm:spPr/>
      <dgm:t>
        <a:bodyPr/>
        <a:lstStyle/>
        <a:p>
          <a:endParaRPr lang="en-US" sz="1800"/>
        </a:p>
      </dgm:t>
    </dgm:pt>
    <dgm:pt modelId="{0AB7C5C2-1346-4440-99F6-BCE52FD64F30}" type="sibTrans" cxnId="{74614185-71BB-496A-9E33-68B32F699A32}">
      <dgm:prSet custT="1"/>
      <dgm:spPr/>
      <dgm:t>
        <a:bodyPr/>
        <a:lstStyle/>
        <a:p>
          <a:endParaRPr lang="en-US" sz="1800"/>
        </a:p>
      </dgm:t>
    </dgm:pt>
    <dgm:pt modelId="{F670C03F-C711-43D9-AED8-10A84FD7189B}">
      <dgm:prSet custT="1"/>
      <dgm:spPr/>
      <dgm:t>
        <a:bodyPr/>
        <a:lstStyle/>
        <a:p>
          <a:r>
            <a:rPr lang="en-US" sz="1800" dirty="0"/>
            <a:t>∗	Main Mapper engine: </a:t>
          </a:r>
          <a:r>
            <a:rPr lang="en-US" sz="1800" dirty="0" err="1"/>
            <a:t>Mapper.run</a:t>
          </a:r>
          <a:r>
            <a:rPr lang="en-US" sz="1800" dirty="0"/>
            <a:t>()</a:t>
          </a:r>
        </a:p>
      </dgm:t>
    </dgm:pt>
    <dgm:pt modelId="{C539F23E-52E9-492C-B7BE-24E12419642A}" type="parTrans" cxnId="{DC0D0FE0-98E1-466F-9490-D3DBF1781E99}">
      <dgm:prSet/>
      <dgm:spPr/>
      <dgm:t>
        <a:bodyPr/>
        <a:lstStyle/>
        <a:p>
          <a:endParaRPr lang="en-US" sz="1800"/>
        </a:p>
      </dgm:t>
    </dgm:pt>
    <dgm:pt modelId="{5FE08DFE-8EB0-480B-9F91-75D744A3B698}" type="sibTrans" cxnId="{DC0D0FE0-98E1-466F-9490-D3DBF1781E99}">
      <dgm:prSet/>
      <dgm:spPr/>
      <dgm:t>
        <a:bodyPr/>
        <a:lstStyle/>
        <a:p>
          <a:endParaRPr lang="en-US" sz="1800"/>
        </a:p>
      </dgm:t>
    </dgm:pt>
    <dgm:pt modelId="{CB3813E5-7A73-415A-8D3B-1B8B3469E684}">
      <dgm:prSet custT="1"/>
      <dgm:spPr/>
      <dgm:t>
        <a:bodyPr/>
        <a:lstStyle/>
        <a:p>
          <a:r>
            <a:rPr lang="en-US" sz="1800"/>
            <a:t>∗	setup()</a:t>
          </a:r>
        </a:p>
      </dgm:t>
    </dgm:pt>
    <dgm:pt modelId="{861A34C1-70BA-4B4B-B8D8-0D4F71E6198B}" type="parTrans" cxnId="{BC0307C6-C7F4-40BB-8EB3-09A48C4D844A}">
      <dgm:prSet/>
      <dgm:spPr/>
      <dgm:t>
        <a:bodyPr/>
        <a:lstStyle/>
        <a:p>
          <a:endParaRPr lang="en-US" sz="1800"/>
        </a:p>
      </dgm:t>
    </dgm:pt>
    <dgm:pt modelId="{812CD536-0B65-44BF-9F37-83F314D7A8C4}" type="sibTrans" cxnId="{BC0307C6-C7F4-40BB-8EB3-09A48C4D844A}">
      <dgm:prSet/>
      <dgm:spPr/>
      <dgm:t>
        <a:bodyPr/>
        <a:lstStyle/>
        <a:p>
          <a:endParaRPr lang="en-US" sz="1800"/>
        </a:p>
      </dgm:t>
    </dgm:pt>
    <dgm:pt modelId="{7969C872-99C6-4244-B3A5-6B8E16D1C1AA}">
      <dgm:prSet custT="1"/>
      <dgm:spPr/>
      <dgm:t>
        <a:bodyPr/>
        <a:lstStyle/>
        <a:p>
          <a:r>
            <a:rPr lang="en-US" sz="1800"/>
            <a:t>∗	map() for each input record</a:t>
          </a:r>
        </a:p>
      </dgm:t>
    </dgm:pt>
    <dgm:pt modelId="{1CA4B987-1A8F-4058-91BC-8FD5CD658FA2}" type="parTrans" cxnId="{3D86B9A1-15AB-47EA-B091-0BCD76783F47}">
      <dgm:prSet/>
      <dgm:spPr/>
      <dgm:t>
        <a:bodyPr/>
        <a:lstStyle/>
        <a:p>
          <a:endParaRPr lang="en-US" sz="1800"/>
        </a:p>
      </dgm:t>
    </dgm:pt>
    <dgm:pt modelId="{56DCA2EA-9A3A-44D2-B796-85B86313553F}" type="sibTrans" cxnId="{3D86B9A1-15AB-47EA-B091-0BCD76783F47}">
      <dgm:prSet/>
      <dgm:spPr/>
      <dgm:t>
        <a:bodyPr/>
        <a:lstStyle/>
        <a:p>
          <a:endParaRPr lang="en-US" sz="1800"/>
        </a:p>
      </dgm:t>
    </dgm:pt>
    <dgm:pt modelId="{0FAE7C9D-2B9E-415B-BB18-59219C3367F5}">
      <dgm:prSet custT="1"/>
      <dgm:spPr/>
      <dgm:t>
        <a:bodyPr/>
        <a:lstStyle/>
        <a:p>
          <a:r>
            <a:rPr lang="en-US" sz="1800"/>
            <a:t>∗	cleanup()</a:t>
          </a:r>
        </a:p>
      </dgm:t>
    </dgm:pt>
    <dgm:pt modelId="{863F24B6-B437-4B88-9C7C-DC6C25FB0808}" type="parTrans" cxnId="{4717B3EE-D2A6-4F9F-B5D8-5C6DF8606FA0}">
      <dgm:prSet/>
      <dgm:spPr/>
      <dgm:t>
        <a:bodyPr/>
        <a:lstStyle/>
        <a:p>
          <a:endParaRPr lang="en-US" sz="1800"/>
        </a:p>
      </dgm:t>
    </dgm:pt>
    <dgm:pt modelId="{44AD7BBC-7202-455F-81BF-507E85BF0D36}" type="sibTrans" cxnId="{4717B3EE-D2A6-4F9F-B5D8-5C6DF8606FA0}">
      <dgm:prSet/>
      <dgm:spPr/>
      <dgm:t>
        <a:bodyPr/>
        <a:lstStyle/>
        <a:p>
          <a:endParaRPr lang="en-US" sz="1800"/>
        </a:p>
      </dgm:t>
    </dgm:pt>
    <dgm:pt modelId="{86CDD22C-210B-4BA4-9285-69CA337E9364}">
      <dgm:prSet custT="1"/>
      <dgm:spPr/>
      <dgm:t>
        <a:bodyPr/>
        <a:lstStyle/>
        <a:p>
          <a:r>
            <a:rPr lang="en-US" sz="1800"/>
            <a:t>∗	Mapper implementations are specified in the Job</a:t>
          </a:r>
        </a:p>
      </dgm:t>
    </dgm:pt>
    <dgm:pt modelId="{19ACEDFD-C43D-439D-AC67-00598118B262}" type="parTrans" cxnId="{31CD1518-50DC-4FA8-A7AC-DBE235C69BC9}">
      <dgm:prSet/>
      <dgm:spPr/>
      <dgm:t>
        <a:bodyPr/>
        <a:lstStyle/>
        <a:p>
          <a:endParaRPr lang="en-US" sz="1800"/>
        </a:p>
      </dgm:t>
    </dgm:pt>
    <dgm:pt modelId="{7F968098-212D-4F22-824E-D0A93E124F05}" type="sibTrans" cxnId="{31CD1518-50DC-4FA8-A7AC-DBE235C69BC9}">
      <dgm:prSet custT="1"/>
      <dgm:spPr/>
      <dgm:t>
        <a:bodyPr/>
        <a:lstStyle/>
        <a:p>
          <a:endParaRPr lang="en-US" sz="1800"/>
        </a:p>
      </dgm:t>
    </dgm:pt>
    <dgm:pt modelId="{77436B8F-5B64-40B6-AAEC-BCBDE364550A}">
      <dgm:prSet custT="1"/>
      <dgm:spPr/>
      <dgm:t>
        <a:bodyPr/>
        <a:lstStyle/>
        <a:p>
          <a:r>
            <a:rPr lang="en-US" sz="1800"/>
            <a:t>∗	Mapper instantiated in the Job</a:t>
          </a:r>
        </a:p>
      </dgm:t>
    </dgm:pt>
    <dgm:pt modelId="{AE924544-FDA1-4820-AE41-D7C062D79FEE}" type="parTrans" cxnId="{17E40D7C-3C59-4C73-BA28-5C2587D923CF}">
      <dgm:prSet/>
      <dgm:spPr/>
      <dgm:t>
        <a:bodyPr/>
        <a:lstStyle/>
        <a:p>
          <a:endParaRPr lang="en-US" sz="1800"/>
        </a:p>
      </dgm:t>
    </dgm:pt>
    <dgm:pt modelId="{331D4D5D-D7B1-4E9B-ABBB-C60E858E10B1}" type="sibTrans" cxnId="{17E40D7C-3C59-4C73-BA28-5C2587D923CF}">
      <dgm:prSet custT="1"/>
      <dgm:spPr/>
      <dgm:t>
        <a:bodyPr/>
        <a:lstStyle/>
        <a:p>
          <a:endParaRPr lang="en-US" sz="1800"/>
        </a:p>
      </dgm:t>
    </dgm:pt>
    <dgm:pt modelId="{3C91CC74-5F9A-41B8-87E4-14EF1A710DDD}">
      <dgm:prSet custT="1"/>
      <dgm:spPr/>
      <dgm:t>
        <a:bodyPr/>
        <a:lstStyle/>
        <a:p>
          <a:r>
            <a:rPr lang="en-US" sz="1800"/>
            <a:t>∗	Output data is emitted from Mapper via the Context object</a:t>
          </a:r>
        </a:p>
      </dgm:t>
    </dgm:pt>
    <dgm:pt modelId="{77ED76DC-8348-4614-B543-70CF69D64141}" type="parTrans" cxnId="{62A1893D-8840-4AE3-8D86-357BD73108C9}">
      <dgm:prSet/>
      <dgm:spPr/>
      <dgm:t>
        <a:bodyPr/>
        <a:lstStyle/>
        <a:p>
          <a:endParaRPr lang="en-US" sz="1800"/>
        </a:p>
      </dgm:t>
    </dgm:pt>
    <dgm:pt modelId="{9F7C07C3-D44D-4A45-9F3F-BD9C87B6CE64}" type="sibTrans" cxnId="{62A1893D-8840-4AE3-8D86-357BD73108C9}">
      <dgm:prSet custT="1"/>
      <dgm:spPr/>
      <dgm:t>
        <a:bodyPr/>
        <a:lstStyle/>
        <a:p>
          <a:endParaRPr lang="en-US" sz="1800"/>
        </a:p>
      </dgm:t>
    </dgm:pt>
    <dgm:pt modelId="{06D8D772-EEF3-499B-BCC3-326259959781}">
      <dgm:prSet custT="1"/>
      <dgm:spPr/>
      <dgm:t>
        <a:bodyPr/>
        <a:lstStyle/>
        <a:p>
          <a:r>
            <a:rPr lang="en-US" sz="1800"/>
            <a:t>∗	Hadoop MapReduce framework spawns one map task for each logical representation of a unit of input work for a map task</a:t>
          </a:r>
        </a:p>
      </dgm:t>
    </dgm:pt>
    <dgm:pt modelId="{50AA0C64-824B-406E-A94A-F56F282FA654}" type="parTrans" cxnId="{39D04976-1793-4F5B-8D63-6FA8CD4DAA58}">
      <dgm:prSet/>
      <dgm:spPr/>
      <dgm:t>
        <a:bodyPr/>
        <a:lstStyle/>
        <a:p>
          <a:endParaRPr lang="en-US" sz="1800"/>
        </a:p>
      </dgm:t>
    </dgm:pt>
    <dgm:pt modelId="{55B6DA4C-24FE-4C4F-A0C2-98FAC6BB8853}" type="sibTrans" cxnId="{39D04976-1793-4F5B-8D63-6FA8CD4DAA58}">
      <dgm:prSet/>
      <dgm:spPr/>
      <dgm:t>
        <a:bodyPr/>
        <a:lstStyle/>
        <a:p>
          <a:endParaRPr lang="en-US" sz="1800"/>
        </a:p>
      </dgm:t>
    </dgm:pt>
    <dgm:pt modelId="{F4D2EB58-AF1D-4EE3-86AA-764617035067}">
      <dgm:prSet custT="1"/>
      <dgm:spPr/>
      <dgm:t>
        <a:bodyPr/>
        <a:lstStyle/>
        <a:p>
          <a:r>
            <a:rPr lang="en-US" sz="1800"/>
            <a:t>∗	e.g. a filename and a byte range within that file</a:t>
          </a:r>
        </a:p>
      </dgm:t>
    </dgm:pt>
    <dgm:pt modelId="{B6576AFF-2DD7-48A6-AFD9-9970F4056575}" type="parTrans" cxnId="{7A87A95E-6017-455B-A190-8D81403AD934}">
      <dgm:prSet/>
      <dgm:spPr/>
      <dgm:t>
        <a:bodyPr/>
        <a:lstStyle/>
        <a:p>
          <a:endParaRPr lang="en-US" sz="1800"/>
        </a:p>
      </dgm:t>
    </dgm:pt>
    <dgm:pt modelId="{B0B13E4A-C850-4DA8-BAEC-002E1EAE095E}" type="sibTrans" cxnId="{7A87A95E-6017-455B-A190-8D81403AD934}">
      <dgm:prSet/>
      <dgm:spPr/>
      <dgm:t>
        <a:bodyPr/>
        <a:lstStyle/>
        <a:p>
          <a:endParaRPr lang="en-US" sz="1800"/>
        </a:p>
      </dgm:t>
    </dgm:pt>
    <dgm:pt modelId="{A7F4DBC4-C96F-0F4E-989C-ECA1F78CE125}" type="pres">
      <dgm:prSet presAssocID="{310924FC-58DE-4430-8724-D2A98CBACC7B}" presName="Name0" presStyleCnt="0">
        <dgm:presLayoutVars>
          <dgm:dir/>
          <dgm:resizeHandles val="exact"/>
        </dgm:presLayoutVars>
      </dgm:prSet>
      <dgm:spPr/>
    </dgm:pt>
    <dgm:pt modelId="{B4F87717-9E8A-2F42-B68E-F45B98591A61}" type="pres">
      <dgm:prSet presAssocID="{29A0592E-2B43-4E65-9B72-4336E8AE3D45}" presName="node" presStyleLbl="node1" presStyleIdx="0" presStyleCnt="6">
        <dgm:presLayoutVars>
          <dgm:bulletEnabled val="1"/>
        </dgm:presLayoutVars>
      </dgm:prSet>
      <dgm:spPr/>
    </dgm:pt>
    <dgm:pt modelId="{C9891089-086A-2641-9091-64BA7569A024}" type="pres">
      <dgm:prSet presAssocID="{96F2D5C8-CF66-4127-A22B-E17661948AED}" presName="sibTrans" presStyleLbl="sibTrans1D1" presStyleIdx="0" presStyleCnt="5"/>
      <dgm:spPr/>
    </dgm:pt>
    <dgm:pt modelId="{7CA48500-012B-474A-8CEC-F2D8DC155349}" type="pres">
      <dgm:prSet presAssocID="{96F2D5C8-CF66-4127-A22B-E17661948AED}" presName="connectorText" presStyleLbl="sibTrans1D1" presStyleIdx="0" presStyleCnt="5"/>
      <dgm:spPr/>
    </dgm:pt>
    <dgm:pt modelId="{3DF5A580-2173-B146-804C-69B24C1AFAF3}" type="pres">
      <dgm:prSet presAssocID="{DF858AC4-69C2-46E8-B0A0-DCBFA05F86C0}" presName="node" presStyleLbl="node1" presStyleIdx="1" presStyleCnt="6">
        <dgm:presLayoutVars>
          <dgm:bulletEnabled val="1"/>
        </dgm:presLayoutVars>
      </dgm:prSet>
      <dgm:spPr/>
    </dgm:pt>
    <dgm:pt modelId="{AAADBC48-FCEB-EE48-A2D9-55564760D031}" type="pres">
      <dgm:prSet presAssocID="{0AB7C5C2-1346-4440-99F6-BCE52FD64F30}" presName="sibTrans" presStyleLbl="sibTrans1D1" presStyleIdx="1" presStyleCnt="5"/>
      <dgm:spPr/>
    </dgm:pt>
    <dgm:pt modelId="{B6A5A100-2101-7C43-8067-BF248A66056C}" type="pres">
      <dgm:prSet presAssocID="{0AB7C5C2-1346-4440-99F6-BCE52FD64F30}" presName="connectorText" presStyleLbl="sibTrans1D1" presStyleIdx="1" presStyleCnt="5"/>
      <dgm:spPr/>
    </dgm:pt>
    <dgm:pt modelId="{020CAF99-9584-354D-BBFC-4F7D14357A74}" type="pres">
      <dgm:prSet presAssocID="{86CDD22C-210B-4BA4-9285-69CA337E9364}" presName="node" presStyleLbl="node1" presStyleIdx="2" presStyleCnt="6">
        <dgm:presLayoutVars>
          <dgm:bulletEnabled val="1"/>
        </dgm:presLayoutVars>
      </dgm:prSet>
      <dgm:spPr/>
    </dgm:pt>
    <dgm:pt modelId="{F99B21E7-BD4B-E54A-A597-A6946AAE5C5B}" type="pres">
      <dgm:prSet presAssocID="{7F968098-212D-4F22-824E-D0A93E124F05}" presName="sibTrans" presStyleLbl="sibTrans1D1" presStyleIdx="2" presStyleCnt="5"/>
      <dgm:spPr/>
    </dgm:pt>
    <dgm:pt modelId="{5A485B23-DE5A-0B43-9C6E-EB66FDA58387}" type="pres">
      <dgm:prSet presAssocID="{7F968098-212D-4F22-824E-D0A93E124F05}" presName="connectorText" presStyleLbl="sibTrans1D1" presStyleIdx="2" presStyleCnt="5"/>
      <dgm:spPr/>
    </dgm:pt>
    <dgm:pt modelId="{079D08D0-F05A-6748-BB45-EB8EAD73375E}" type="pres">
      <dgm:prSet presAssocID="{77436B8F-5B64-40B6-AAEC-BCBDE364550A}" presName="node" presStyleLbl="node1" presStyleIdx="3" presStyleCnt="6">
        <dgm:presLayoutVars>
          <dgm:bulletEnabled val="1"/>
        </dgm:presLayoutVars>
      </dgm:prSet>
      <dgm:spPr/>
    </dgm:pt>
    <dgm:pt modelId="{577945B3-F410-E643-94F1-2D328D852923}" type="pres">
      <dgm:prSet presAssocID="{331D4D5D-D7B1-4E9B-ABBB-C60E858E10B1}" presName="sibTrans" presStyleLbl="sibTrans1D1" presStyleIdx="3" presStyleCnt="5"/>
      <dgm:spPr/>
    </dgm:pt>
    <dgm:pt modelId="{1EB6718C-A2B0-5F41-BEA7-DDF2AC03C872}" type="pres">
      <dgm:prSet presAssocID="{331D4D5D-D7B1-4E9B-ABBB-C60E858E10B1}" presName="connectorText" presStyleLbl="sibTrans1D1" presStyleIdx="3" presStyleCnt="5"/>
      <dgm:spPr/>
    </dgm:pt>
    <dgm:pt modelId="{6DC8146E-E057-104D-9CB6-5DD6B13380A7}" type="pres">
      <dgm:prSet presAssocID="{3C91CC74-5F9A-41B8-87E4-14EF1A710DDD}" presName="node" presStyleLbl="node1" presStyleIdx="4" presStyleCnt="6">
        <dgm:presLayoutVars>
          <dgm:bulletEnabled val="1"/>
        </dgm:presLayoutVars>
      </dgm:prSet>
      <dgm:spPr/>
    </dgm:pt>
    <dgm:pt modelId="{DDFCA31C-AF85-DD4C-9221-F901DE1F2EA9}" type="pres">
      <dgm:prSet presAssocID="{9F7C07C3-D44D-4A45-9F3F-BD9C87B6CE64}" presName="sibTrans" presStyleLbl="sibTrans1D1" presStyleIdx="4" presStyleCnt="5"/>
      <dgm:spPr/>
    </dgm:pt>
    <dgm:pt modelId="{35BD97F1-7800-6145-9707-3847B6F03FA3}" type="pres">
      <dgm:prSet presAssocID="{9F7C07C3-D44D-4A45-9F3F-BD9C87B6CE64}" presName="connectorText" presStyleLbl="sibTrans1D1" presStyleIdx="4" presStyleCnt="5"/>
      <dgm:spPr/>
    </dgm:pt>
    <dgm:pt modelId="{5FBDE334-9B7A-E249-B8CA-740DFA1332D2}" type="pres">
      <dgm:prSet presAssocID="{06D8D772-EEF3-499B-BCC3-326259959781}" presName="node" presStyleLbl="node1" presStyleIdx="5" presStyleCnt="6">
        <dgm:presLayoutVars>
          <dgm:bulletEnabled val="1"/>
        </dgm:presLayoutVars>
      </dgm:prSet>
      <dgm:spPr/>
    </dgm:pt>
  </dgm:ptLst>
  <dgm:cxnLst>
    <dgm:cxn modelId="{86EC9B0A-19BC-F242-93B2-8787F7439103}" type="presOf" srcId="{77436B8F-5B64-40B6-AAEC-BCBDE364550A}" destId="{079D08D0-F05A-6748-BB45-EB8EAD73375E}" srcOrd="0" destOrd="0" presId="urn:microsoft.com/office/officeart/2016/7/layout/RepeatingBendingProcessNew"/>
    <dgm:cxn modelId="{8420DC10-ECCC-0041-A26A-0E41AC48B078}" type="presOf" srcId="{F4D2EB58-AF1D-4EE3-86AA-764617035067}" destId="{5FBDE334-9B7A-E249-B8CA-740DFA1332D2}" srcOrd="0" destOrd="1" presId="urn:microsoft.com/office/officeart/2016/7/layout/RepeatingBendingProcessNew"/>
    <dgm:cxn modelId="{31CD1518-50DC-4FA8-A7AC-DBE235C69BC9}" srcId="{310924FC-58DE-4430-8724-D2A98CBACC7B}" destId="{86CDD22C-210B-4BA4-9285-69CA337E9364}" srcOrd="2" destOrd="0" parTransId="{19ACEDFD-C43D-439D-AC67-00598118B262}" sibTransId="{7F968098-212D-4F22-824E-D0A93E124F05}"/>
    <dgm:cxn modelId="{F4B50919-B9D7-294D-BA4F-4C18ECD84F43}" type="presOf" srcId="{96F2D5C8-CF66-4127-A22B-E17661948AED}" destId="{7CA48500-012B-474A-8CEC-F2D8DC155349}" srcOrd="1" destOrd="0" presId="urn:microsoft.com/office/officeart/2016/7/layout/RepeatingBendingProcessNew"/>
    <dgm:cxn modelId="{CC98B719-920E-984C-8ED5-47F056A7EE66}" type="presOf" srcId="{310924FC-58DE-4430-8724-D2A98CBACC7B}" destId="{A7F4DBC4-C96F-0F4E-989C-ECA1F78CE125}" srcOrd="0" destOrd="0" presId="urn:microsoft.com/office/officeart/2016/7/layout/RepeatingBendingProcessNew"/>
    <dgm:cxn modelId="{859BF51A-2F91-8F40-8000-C68820B28176}" type="presOf" srcId="{331D4D5D-D7B1-4E9B-ABBB-C60E858E10B1}" destId="{1EB6718C-A2B0-5F41-BEA7-DDF2AC03C872}" srcOrd="1" destOrd="0" presId="urn:microsoft.com/office/officeart/2016/7/layout/RepeatingBendingProcessNew"/>
    <dgm:cxn modelId="{6489EF20-98E6-1D4B-A521-9683AB986703}" type="presOf" srcId="{7969C872-99C6-4244-B3A5-6B8E16D1C1AA}" destId="{3DF5A580-2173-B146-804C-69B24C1AFAF3}" srcOrd="0" destOrd="3" presId="urn:microsoft.com/office/officeart/2016/7/layout/RepeatingBendingProcessNew"/>
    <dgm:cxn modelId="{8C33FF25-A505-EE45-ACD7-23B1A06BEF3A}" type="presOf" srcId="{96F2D5C8-CF66-4127-A22B-E17661948AED}" destId="{C9891089-086A-2641-9091-64BA7569A024}" srcOrd="0" destOrd="0" presId="urn:microsoft.com/office/officeart/2016/7/layout/RepeatingBendingProcessNew"/>
    <dgm:cxn modelId="{62A1893D-8840-4AE3-8D86-357BD73108C9}" srcId="{310924FC-58DE-4430-8724-D2A98CBACC7B}" destId="{3C91CC74-5F9A-41B8-87E4-14EF1A710DDD}" srcOrd="4" destOrd="0" parTransId="{77ED76DC-8348-4614-B543-70CF69D64141}" sibTransId="{9F7C07C3-D44D-4A45-9F3F-BD9C87B6CE64}"/>
    <dgm:cxn modelId="{AD645B58-5BF8-0547-9EAB-F04DD520C063}" type="presOf" srcId="{9F7C07C3-D44D-4A45-9F3F-BD9C87B6CE64}" destId="{DDFCA31C-AF85-DD4C-9221-F901DE1F2EA9}" srcOrd="0" destOrd="0" presId="urn:microsoft.com/office/officeart/2016/7/layout/RepeatingBendingProcessNew"/>
    <dgm:cxn modelId="{7A87A95E-6017-455B-A190-8D81403AD934}" srcId="{06D8D772-EEF3-499B-BCC3-326259959781}" destId="{F4D2EB58-AF1D-4EE3-86AA-764617035067}" srcOrd="0" destOrd="0" parTransId="{B6576AFF-2DD7-48A6-AFD9-9970F4056575}" sibTransId="{B0B13E4A-C850-4DA8-BAEC-002E1EAE095E}"/>
    <dgm:cxn modelId="{6C096960-7436-F846-B366-3B8CC98C5563}" type="presOf" srcId="{86CDD22C-210B-4BA4-9285-69CA337E9364}" destId="{020CAF99-9584-354D-BBFC-4F7D14357A74}" srcOrd="0" destOrd="0" presId="urn:microsoft.com/office/officeart/2016/7/layout/RepeatingBendingProcessNew"/>
    <dgm:cxn modelId="{009D4964-7346-1644-9DBB-8C765D812E9A}" type="presOf" srcId="{29A0592E-2B43-4E65-9B72-4336E8AE3D45}" destId="{B4F87717-9E8A-2F42-B68E-F45B98591A61}" srcOrd="0" destOrd="0" presId="urn:microsoft.com/office/officeart/2016/7/layout/RepeatingBendingProcessNew"/>
    <dgm:cxn modelId="{C8730169-E02A-6842-8042-4ED3EFA2DA5B}" type="presOf" srcId="{7F968098-212D-4F22-824E-D0A93E124F05}" destId="{5A485B23-DE5A-0B43-9C6E-EB66FDA58387}" srcOrd="1" destOrd="0" presId="urn:microsoft.com/office/officeart/2016/7/layout/RepeatingBendingProcessNew"/>
    <dgm:cxn modelId="{0AADF769-1CCC-AB4B-BA4F-5B4375B3CB0A}" type="presOf" srcId="{0FAE7C9D-2B9E-415B-BB18-59219C3367F5}" destId="{3DF5A580-2173-B146-804C-69B24C1AFAF3}" srcOrd="0" destOrd="4" presId="urn:microsoft.com/office/officeart/2016/7/layout/RepeatingBendingProcessNew"/>
    <dgm:cxn modelId="{2431BF75-86EA-C84A-8A43-F13066A5D79D}" type="presOf" srcId="{F670C03F-C711-43D9-AED8-10A84FD7189B}" destId="{3DF5A580-2173-B146-804C-69B24C1AFAF3}" srcOrd="0" destOrd="1" presId="urn:microsoft.com/office/officeart/2016/7/layout/RepeatingBendingProcessNew"/>
    <dgm:cxn modelId="{39D04976-1793-4F5B-8D63-6FA8CD4DAA58}" srcId="{310924FC-58DE-4430-8724-D2A98CBACC7B}" destId="{06D8D772-EEF3-499B-BCC3-326259959781}" srcOrd="5" destOrd="0" parTransId="{50AA0C64-824B-406E-A94A-F56F282FA654}" sibTransId="{55B6DA4C-24FE-4C4F-A0C2-98FAC6BB8853}"/>
    <dgm:cxn modelId="{17E40D7C-3C59-4C73-BA28-5C2587D923CF}" srcId="{310924FC-58DE-4430-8724-D2A98CBACC7B}" destId="{77436B8F-5B64-40B6-AAEC-BCBDE364550A}" srcOrd="3" destOrd="0" parTransId="{AE924544-FDA1-4820-AE41-D7C062D79FEE}" sibTransId="{331D4D5D-D7B1-4E9B-ABBB-C60E858E10B1}"/>
    <dgm:cxn modelId="{74614185-71BB-496A-9E33-68B32F699A32}" srcId="{310924FC-58DE-4430-8724-D2A98CBACC7B}" destId="{DF858AC4-69C2-46E8-B0A0-DCBFA05F86C0}" srcOrd="1" destOrd="0" parTransId="{0702655F-43FD-4A2D-8F18-6B3D7FEA4D40}" sibTransId="{0AB7C5C2-1346-4440-99F6-BCE52FD64F30}"/>
    <dgm:cxn modelId="{AD588794-D3D7-2E40-B258-C06CC3363EDB}" type="presOf" srcId="{9F7C07C3-D44D-4A45-9F3F-BD9C87B6CE64}" destId="{35BD97F1-7800-6145-9707-3847B6F03FA3}" srcOrd="1" destOrd="0" presId="urn:microsoft.com/office/officeart/2016/7/layout/RepeatingBendingProcessNew"/>
    <dgm:cxn modelId="{BBAD0C98-CB36-9546-8456-442EAC743BE7}" type="presOf" srcId="{0AB7C5C2-1346-4440-99F6-BCE52FD64F30}" destId="{B6A5A100-2101-7C43-8067-BF248A66056C}" srcOrd="1" destOrd="0" presId="urn:microsoft.com/office/officeart/2016/7/layout/RepeatingBendingProcessNew"/>
    <dgm:cxn modelId="{3D86B9A1-15AB-47EA-B091-0BCD76783F47}" srcId="{F670C03F-C711-43D9-AED8-10A84FD7189B}" destId="{7969C872-99C6-4244-B3A5-6B8E16D1C1AA}" srcOrd="1" destOrd="0" parTransId="{1CA4B987-1A8F-4058-91BC-8FD5CD658FA2}" sibTransId="{56DCA2EA-9A3A-44D2-B796-85B86313553F}"/>
    <dgm:cxn modelId="{18519BA8-072E-B349-A158-76D595E2A110}" type="presOf" srcId="{7F968098-212D-4F22-824E-D0A93E124F05}" destId="{F99B21E7-BD4B-E54A-A597-A6946AAE5C5B}" srcOrd="0" destOrd="0" presId="urn:microsoft.com/office/officeart/2016/7/layout/RepeatingBendingProcessNew"/>
    <dgm:cxn modelId="{5BD564B4-021C-A141-9A0D-0A7CFF120CD0}" type="presOf" srcId="{3C91CC74-5F9A-41B8-87E4-14EF1A710DDD}" destId="{6DC8146E-E057-104D-9CB6-5DD6B13380A7}" srcOrd="0" destOrd="0" presId="urn:microsoft.com/office/officeart/2016/7/layout/RepeatingBendingProcessNew"/>
    <dgm:cxn modelId="{ADCE21BE-0752-7648-ABBB-656C43D1F946}" type="presOf" srcId="{DF858AC4-69C2-46E8-B0A0-DCBFA05F86C0}" destId="{3DF5A580-2173-B146-804C-69B24C1AFAF3}" srcOrd="0" destOrd="0" presId="urn:microsoft.com/office/officeart/2016/7/layout/RepeatingBendingProcessNew"/>
    <dgm:cxn modelId="{FA0818C0-3FC1-1345-8C8E-BEF6B8E4780C}" type="presOf" srcId="{06D8D772-EEF3-499B-BCC3-326259959781}" destId="{5FBDE334-9B7A-E249-B8CA-740DFA1332D2}" srcOrd="0" destOrd="0" presId="urn:microsoft.com/office/officeart/2016/7/layout/RepeatingBendingProcessNew"/>
    <dgm:cxn modelId="{BC0307C6-C7F4-40BB-8EB3-09A48C4D844A}" srcId="{F670C03F-C711-43D9-AED8-10A84FD7189B}" destId="{CB3813E5-7A73-415A-8D3B-1B8B3469E684}" srcOrd="0" destOrd="0" parTransId="{861A34C1-70BA-4B4B-B8D8-0D4F71E6198B}" sibTransId="{812CD536-0B65-44BF-9F37-83F314D7A8C4}"/>
    <dgm:cxn modelId="{788372C9-DBD5-4413-B7EE-94261DCA9A39}" srcId="{310924FC-58DE-4430-8724-D2A98CBACC7B}" destId="{29A0592E-2B43-4E65-9B72-4336E8AE3D45}" srcOrd="0" destOrd="0" parTransId="{81E0EBBC-F747-4F49-B84D-9A306AF36952}" sibTransId="{96F2D5C8-CF66-4127-A22B-E17661948AED}"/>
    <dgm:cxn modelId="{8C41EDCB-D109-A44D-93B5-CCA1229AC085}" type="presOf" srcId="{331D4D5D-D7B1-4E9B-ABBB-C60E858E10B1}" destId="{577945B3-F410-E643-94F1-2D328D852923}" srcOrd="0" destOrd="0" presId="urn:microsoft.com/office/officeart/2016/7/layout/RepeatingBendingProcessNew"/>
    <dgm:cxn modelId="{A77C19DC-B908-B940-87B0-832BA67A8AD6}" type="presOf" srcId="{0AB7C5C2-1346-4440-99F6-BCE52FD64F30}" destId="{AAADBC48-FCEB-EE48-A2D9-55564760D031}" srcOrd="0" destOrd="0" presId="urn:microsoft.com/office/officeart/2016/7/layout/RepeatingBendingProcessNew"/>
    <dgm:cxn modelId="{DC0D0FE0-98E1-466F-9490-D3DBF1781E99}" srcId="{DF858AC4-69C2-46E8-B0A0-DCBFA05F86C0}" destId="{F670C03F-C711-43D9-AED8-10A84FD7189B}" srcOrd="0" destOrd="0" parTransId="{C539F23E-52E9-492C-B7BE-24E12419642A}" sibTransId="{5FE08DFE-8EB0-480B-9F91-75D744A3B698}"/>
    <dgm:cxn modelId="{39AC85E9-4966-C346-BFC3-27C0095EDA04}" type="presOf" srcId="{CB3813E5-7A73-415A-8D3B-1B8B3469E684}" destId="{3DF5A580-2173-B146-804C-69B24C1AFAF3}" srcOrd="0" destOrd="2" presId="urn:microsoft.com/office/officeart/2016/7/layout/RepeatingBendingProcessNew"/>
    <dgm:cxn modelId="{4717B3EE-D2A6-4F9F-B5D8-5C6DF8606FA0}" srcId="{F670C03F-C711-43D9-AED8-10A84FD7189B}" destId="{0FAE7C9D-2B9E-415B-BB18-59219C3367F5}" srcOrd="2" destOrd="0" parTransId="{863F24B6-B437-4B88-9C7C-DC6C25FB0808}" sibTransId="{44AD7BBC-7202-455F-81BF-507E85BF0D36}"/>
    <dgm:cxn modelId="{AC4D61A8-7075-764E-9E55-46E61632497E}" type="presParOf" srcId="{A7F4DBC4-C96F-0F4E-989C-ECA1F78CE125}" destId="{B4F87717-9E8A-2F42-B68E-F45B98591A61}" srcOrd="0" destOrd="0" presId="urn:microsoft.com/office/officeart/2016/7/layout/RepeatingBendingProcessNew"/>
    <dgm:cxn modelId="{1E92EED2-1119-FD48-A608-3F81398DBB1D}" type="presParOf" srcId="{A7F4DBC4-C96F-0F4E-989C-ECA1F78CE125}" destId="{C9891089-086A-2641-9091-64BA7569A024}" srcOrd="1" destOrd="0" presId="urn:microsoft.com/office/officeart/2016/7/layout/RepeatingBendingProcessNew"/>
    <dgm:cxn modelId="{C1595BC8-F1B5-254B-A478-B7C0CCA71C47}" type="presParOf" srcId="{C9891089-086A-2641-9091-64BA7569A024}" destId="{7CA48500-012B-474A-8CEC-F2D8DC155349}" srcOrd="0" destOrd="0" presId="urn:microsoft.com/office/officeart/2016/7/layout/RepeatingBendingProcessNew"/>
    <dgm:cxn modelId="{A3C16DB3-71CB-9C47-93EA-E98BFBBCB2EA}" type="presParOf" srcId="{A7F4DBC4-C96F-0F4E-989C-ECA1F78CE125}" destId="{3DF5A580-2173-B146-804C-69B24C1AFAF3}" srcOrd="2" destOrd="0" presId="urn:microsoft.com/office/officeart/2016/7/layout/RepeatingBendingProcessNew"/>
    <dgm:cxn modelId="{E376E497-ABF6-804F-B40D-F90296B8C928}" type="presParOf" srcId="{A7F4DBC4-C96F-0F4E-989C-ECA1F78CE125}" destId="{AAADBC48-FCEB-EE48-A2D9-55564760D031}" srcOrd="3" destOrd="0" presId="urn:microsoft.com/office/officeart/2016/7/layout/RepeatingBendingProcessNew"/>
    <dgm:cxn modelId="{66800F95-DE0F-7941-B091-CED212728F62}" type="presParOf" srcId="{AAADBC48-FCEB-EE48-A2D9-55564760D031}" destId="{B6A5A100-2101-7C43-8067-BF248A66056C}" srcOrd="0" destOrd="0" presId="urn:microsoft.com/office/officeart/2016/7/layout/RepeatingBendingProcessNew"/>
    <dgm:cxn modelId="{DFE6A97C-9D13-6043-AB22-B0E35786D50D}" type="presParOf" srcId="{A7F4DBC4-C96F-0F4E-989C-ECA1F78CE125}" destId="{020CAF99-9584-354D-BBFC-4F7D14357A74}" srcOrd="4" destOrd="0" presId="urn:microsoft.com/office/officeart/2016/7/layout/RepeatingBendingProcessNew"/>
    <dgm:cxn modelId="{A6971630-6C49-2141-82E0-5A4442D49EB7}" type="presParOf" srcId="{A7F4DBC4-C96F-0F4E-989C-ECA1F78CE125}" destId="{F99B21E7-BD4B-E54A-A597-A6946AAE5C5B}" srcOrd="5" destOrd="0" presId="urn:microsoft.com/office/officeart/2016/7/layout/RepeatingBendingProcessNew"/>
    <dgm:cxn modelId="{A24636A3-08D8-514B-BE33-6B2D1CDDBD8D}" type="presParOf" srcId="{F99B21E7-BD4B-E54A-A597-A6946AAE5C5B}" destId="{5A485B23-DE5A-0B43-9C6E-EB66FDA58387}" srcOrd="0" destOrd="0" presId="urn:microsoft.com/office/officeart/2016/7/layout/RepeatingBendingProcessNew"/>
    <dgm:cxn modelId="{CA2B12BB-DA60-0B4A-8E6F-20CFA1E09D9F}" type="presParOf" srcId="{A7F4DBC4-C96F-0F4E-989C-ECA1F78CE125}" destId="{079D08D0-F05A-6748-BB45-EB8EAD73375E}" srcOrd="6" destOrd="0" presId="urn:microsoft.com/office/officeart/2016/7/layout/RepeatingBendingProcessNew"/>
    <dgm:cxn modelId="{76B3E1C2-B6AF-3649-94ED-FA7978C0493B}" type="presParOf" srcId="{A7F4DBC4-C96F-0F4E-989C-ECA1F78CE125}" destId="{577945B3-F410-E643-94F1-2D328D852923}" srcOrd="7" destOrd="0" presId="urn:microsoft.com/office/officeart/2016/7/layout/RepeatingBendingProcessNew"/>
    <dgm:cxn modelId="{78AC49E0-2E4E-CD41-818B-3FABCE3A24FF}" type="presParOf" srcId="{577945B3-F410-E643-94F1-2D328D852923}" destId="{1EB6718C-A2B0-5F41-BEA7-DDF2AC03C872}" srcOrd="0" destOrd="0" presId="urn:microsoft.com/office/officeart/2016/7/layout/RepeatingBendingProcessNew"/>
    <dgm:cxn modelId="{D829D476-74A4-6D44-971B-CD10A90A261E}" type="presParOf" srcId="{A7F4DBC4-C96F-0F4E-989C-ECA1F78CE125}" destId="{6DC8146E-E057-104D-9CB6-5DD6B13380A7}" srcOrd="8" destOrd="0" presId="urn:microsoft.com/office/officeart/2016/7/layout/RepeatingBendingProcessNew"/>
    <dgm:cxn modelId="{A8F501C8-EDE5-6243-9FC4-821CE5332897}" type="presParOf" srcId="{A7F4DBC4-C96F-0F4E-989C-ECA1F78CE125}" destId="{DDFCA31C-AF85-DD4C-9221-F901DE1F2EA9}" srcOrd="9" destOrd="0" presId="urn:microsoft.com/office/officeart/2016/7/layout/RepeatingBendingProcessNew"/>
    <dgm:cxn modelId="{8A34CEEF-92ED-A647-A132-4AE2BC0929EB}" type="presParOf" srcId="{DDFCA31C-AF85-DD4C-9221-F901DE1F2EA9}" destId="{35BD97F1-7800-6145-9707-3847B6F03FA3}" srcOrd="0" destOrd="0" presId="urn:microsoft.com/office/officeart/2016/7/layout/RepeatingBendingProcessNew"/>
    <dgm:cxn modelId="{6292B31E-4562-EF4C-A1F1-9710BDFEA783}" type="presParOf" srcId="{A7F4DBC4-C96F-0F4E-989C-ECA1F78CE125}" destId="{5FBDE334-9B7A-E249-B8CA-740DFA1332D2}"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21B111-AB6D-4872-AC47-B13269FECF38}" type="doc">
      <dgm:prSet loTypeId="urn:microsoft.com/office/officeart/2005/8/layout/arrow5" loCatId="relationship" qsTypeId="urn:microsoft.com/office/officeart/2005/8/quickstyle/simple5" qsCatId="simple" csTypeId="urn:microsoft.com/office/officeart/2005/8/colors/accent1_2" csCatId="accent1"/>
      <dgm:spPr/>
      <dgm:t>
        <a:bodyPr/>
        <a:lstStyle/>
        <a:p>
          <a:endParaRPr lang="en-US"/>
        </a:p>
      </dgm:t>
    </dgm:pt>
    <dgm:pt modelId="{1C640926-1098-4736-875F-1213C704BD0C}">
      <dgm:prSet/>
      <dgm:spPr/>
      <dgm:t>
        <a:bodyPr/>
        <a:lstStyle/>
        <a:p>
          <a:r>
            <a:rPr lang="en-US"/>
            <a:t>∗ The number of maps is driven by the total size of the inputs</a:t>
          </a:r>
        </a:p>
      </dgm:t>
    </dgm:pt>
    <dgm:pt modelId="{ACB9C728-F508-4B12-BC9F-FFAA0B9E4E45}" type="parTrans" cxnId="{B414BE92-B398-4782-A972-EEE2BBC001A5}">
      <dgm:prSet/>
      <dgm:spPr/>
      <dgm:t>
        <a:bodyPr/>
        <a:lstStyle/>
        <a:p>
          <a:endParaRPr lang="en-US"/>
        </a:p>
      </dgm:t>
    </dgm:pt>
    <dgm:pt modelId="{69BAD560-AFBE-4197-9D0D-4C5E732AD6F0}" type="sibTrans" cxnId="{B414BE92-B398-4782-A972-EEE2BBC001A5}">
      <dgm:prSet/>
      <dgm:spPr/>
      <dgm:t>
        <a:bodyPr/>
        <a:lstStyle/>
        <a:p>
          <a:endParaRPr lang="en-US"/>
        </a:p>
      </dgm:t>
    </dgm:pt>
    <dgm:pt modelId="{E09288E1-E4C2-4AAD-B048-E95B2B8C5D3F}">
      <dgm:prSet/>
      <dgm:spPr/>
      <dgm:t>
        <a:bodyPr/>
        <a:lstStyle/>
        <a:p>
          <a:r>
            <a:rPr lang="en-US"/>
            <a:t>∗ Hadoop has found the right level of parallelism for maps is between 10-</a:t>
          </a:r>
        </a:p>
      </dgm:t>
    </dgm:pt>
    <dgm:pt modelId="{865C7F39-8D4F-4C7E-A709-201E0089F269}" type="parTrans" cxnId="{A47845A7-F788-4907-835F-FE9414464610}">
      <dgm:prSet/>
      <dgm:spPr/>
      <dgm:t>
        <a:bodyPr/>
        <a:lstStyle/>
        <a:p>
          <a:endParaRPr lang="en-US"/>
        </a:p>
      </dgm:t>
    </dgm:pt>
    <dgm:pt modelId="{AA721AB0-CDFA-4EC7-BCF9-E25E314A54E4}" type="sibTrans" cxnId="{A47845A7-F788-4907-835F-FE9414464610}">
      <dgm:prSet/>
      <dgm:spPr/>
      <dgm:t>
        <a:bodyPr/>
        <a:lstStyle/>
        <a:p>
          <a:endParaRPr lang="en-US"/>
        </a:p>
      </dgm:t>
    </dgm:pt>
    <dgm:pt modelId="{B58245A1-2015-4F53-929D-D866E66310B6}">
      <dgm:prSet/>
      <dgm:spPr/>
      <dgm:t>
        <a:bodyPr/>
        <a:lstStyle/>
        <a:p>
          <a:r>
            <a:rPr lang="en-US"/>
            <a:t>100 maps/node</a:t>
          </a:r>
        </a:p>
      </dgm:t>
    </dgm:pt>
    <dgm:pt modelId="{2AFC69AA-0734-419B-8C17-44BD7B6ABC59}" type="parTrans" cxnId="{8C828E1F-EE7A-4074-8614-C8E7ED145D48}">
      <dgm:prSet/>
      <dgm:spPr/>
      <dgm:t>
        <a:bodyPr/>
        <a:lstStyle/>
        <a:p>
          <a:endParaRPr lang="en-US"/>
        </a:p>
      </dgm:t>
    </dgm:pt>
    <dgm:pt modelId="{CEBEF69B-6D99-4A9B-9715-5325C6DA6849}" type="sibTrans" cxnId="{8C828E1F-EE7A-4074-8614-C8E7ED145D48}">
      <dgm:prSet/>
      <dgm:spPr/>
      <dgm:t>
        <a:bodyPr/>
        <a:lstStyle/>
        <a:p>
          <a:endParaRPr lang="en-US"/>
        </a:p>
      </dgm:t>
    </dgm:pt>
    <dgm:pt modelId="{FE5EFC1E-D420-4414-B22F-4CC74FE6DE1E}">
      <dgm:prSet/>
      <dgm:spPr/>
      <dgm:t>
        <a:bodyPr/>
        <a:lstStyle/>
        <a:p>
          <a:r>
            <a:rPr lang="en-US"/>
            <a:t>∗ If you expect 10TB of input data and have a block size of 128MB, you will have 82,000 maps</a:t>
          </a:r>
        </a:p>
      </dgm:t>
    </dgm:pt>
    <dgm:pt modelId="{D61FA5E1-2501-4929-B0BC-88CD784D6D14}" type="parTrans" cxnId="{CA2B670D-4111-4740-8DE8-10E298633A5A}">
      <dgm:prSet/>
      <dgm:spPr/>
      <dgm:t>
        <a:bodyPr/>
        <a:lstStyle/>
        <a:p>
          <a:endParaRPr lang="en-US"/>
        </a:p>
      </dgm:t>
    </dgm:pt>
    <dgm:pt modelId="{5FDA0D03-AFB3-491C-A88A-A94BB6E8571D}" type="sibTrans" cxnId="{CA2B670D-4111-4740-8DE8-10E298633A5A}">
      <dgm:prSet/>
      <dgm:spPr/>
      <dgm:t>
        <a:bodyPr/>
        <a:lstStyle/>
        <a:p>
          <a:endParaRPr lang="en-US"/>
        </a:p>
      </dgm:t>
    </dgm:pt>
    <dgm:pt modelId="{656060E3-2FBE-412A-BC69-BB3366B00685}">
      <dgm:prSet/>
      <dgm:spPr/>
      <dgm:t>
        <a:bodyPr/>
        <a:lstStyle/>
        <a:p>
          <a:r>
            <a:rPr lang="en-US"/>
            <a:t>∗ Number of tasks controlled by number of splits returned and can be user overridden</a:t>
          </a:r>
        </a:p>
      </dgm:t>
    </dgm:pt>
    <dgm:pt modelId="{58DECF51-4E2E-4C72-BEC7-38B40AFFA180}" type="parTrans" cxnId="{E12AD3D1-46C4-4A2C-B18E-851D799DAF87}">
      <dgm:prSet/>
      <dgm:spPr/>
      <dgm:t>
        <a:bodyPr/>
        <a:lstStyle/>
        <a:p>
          <a:endParaRPr lang="en-US"/>
        </a:p>
      </dgm:t>
    </dgm:pt>
    <dgm:pt modelId="{963F517D-F435-48E7-B928-C595F14A881D}" type="sibTrans" cxnId="{E12AD3D1-46C4-4A2C-B18E-851D799DAF87}">
      <dgm:prSet/>
      <dgm:spPr/>
      <dgm:t>
        <a:bodyPr/>
        <a:lstStyle/>
        <a:p>
          <a:endParaRPr lang="en-US"/>
        </a:p>
      </dgm:t>
    </dgm:pt>
    <dgm:pt modelId="{8ED6A900-0273-D547-BE6D-EC6B0DE90D3E}" type="pres">
      <dgm:prSet presAssocID="{6321B111-AB6D-4872-AC47-B13269FECF38}" presName="diagram" presStyleCnt="0">
        <dgm:presLayoutVars>
          <dgm:dir/>
          <dgm:resizeHandles val="exact"/>
        </dgm:presLayoutVars>
      </dgm:prSet>
      <dgm:spPr/>
    </dgm:pt>
    <dgm:pt modelId="{79E356C0-E9DF-544C-96F9-6AA0F88816F9}" type="pres">
      <dgm:prSet presAssocID="{1C640926-1098-4736-875F-1213C704BD0C}" presName="arrow" presStyleLbl="node1" presStyleIdx="0" presStyleCnt="2">
        <dgm:presLayoutVars>
          <dgm:bulletEnabled val="1"/>
        </dgm:presLayoutVars>
      </dgm:prSet>
      <dgm:spPr/>
    </dgm:pt>
    <dgm:pt modelId="{92111294-2801-484E-9EB5-BD016C59371A}" type="pres">
      <dgm:prSet presAssocID="{E09288E1-E4C2-4AAD-B048-E95B2B8C5D3F}" presName="arrow" presStyleLbl="node1" presStyleIdx="1" presStyleCnt="2">
        <dgm:presLayoutVars>
          <dgm:bulletEnabled val="1"/>
        </dgm:presLayoutVars>
      </dgm:prSet>
      <dgm:spPr/>
    </dgm:pt>
  </dgm:ptLst>
  <dgm:cxnLst>
    <dgm:cxn modelId="{65EE7E0A-8948-FA42-B08D-B142AAFC8430}" type="presOf" srcId="{FE5EFC1E-D420-4414-B22F-4CC74FE6DE1E}" destId="{92111294-2801-484E-9EB5-BD016C59371A}" srcOrd="0" destOrd="2" presId="urn:microsoft.com/office/officeart/2005/8/layout/arrow5"/>
    <dgm:cxn modelId="{CA2B670D-4111-4740-8DE8-10E298633A5A}" srcId="{E09288E1-E4C2-4AAD-B048-E95B2B8C5D3F}" destId="{FE5EFC1E-D420-4414-B22F-4CC74FE6DE1E}" srcOrd="1" destOrd="0" parTransId="{D61FA5E1-2501-4929-B0BC-88CD784D6D14}" sibTransId="{5FDA0D03-AFB3-491C-A88A-A94BB6E8571D}"/>
    <dgm:cxn modelId="{8C828E1F-EE7A-4074-8614-C8E7ED145D48}" srcId="{E09288E1-E4C2-4AAD-B048-E95B2B8C5D3F}" destId="{B58245A1-2015-4F53-929D-D866E66310B6}" srcOrd="0" destOrd="0" parTransId="{2AFC69AA-0734-419B-8C17-44BD7B6ABC59}" sibTransId="{CEBEF69B-6D99-4A9B-9715-5325C6DA6849}"/>
    <dgm:cxn modelId="{F763EF6F-2475-8B46-926E-442AFF618C46}" type="presOf" srcId="{6321B111-AB6D-4872-AC47-B13269FECF38}" destId="{8ED6A900-0273-D547-BE6D-EC6B0DE90D3E}" srcOrd="0" destOrd="0" presId="urn:microsoft.com/office/officeart/2005/8/layout/arrow5"/>
    <dgm:cxn modelId="{B414BE92-B398-4782-A972-EEE2BBC001A5}" srcId="{6321B111-AB6D-4872-AC47-B13269FECF38}" destId="{1C640926-1098-4736-875F-1213C704BD0C}" srcOrd="0" destOrd="0" parTransId="{ACB9C728-F508-4B12-BC9F-FFAA0B9E4E45}" sibTransId="{69BAD560-AFBE-4197-9D0D-4C5E732AD6F0}"/>
    <dgm:cxn modelId="{90776B9A-A202-BC45-920E-2CBB558F937C}" type="presOf" srcId="{B58245A1-2015-4F53-929D-D866E66310B6}" destId="{92111294-2801-484E-9EB5-BD016C59371A}" srcOrd="0" destOrd="1" presId="urn:microsoft.com/office/officeart/2005/8/layout/arrow5"/>
    <dgm:cxn modelId="{45E572A6-5D36-7142-8769-5729A041FE70}" type="presOf" srcId="{E09288E1-E4C2-4AAD-B048-E95B2B8C5D3F}" destId="{92111294-2801-484E-9EB5-BD016C59371A}" srcOrd="0" destOrd="0" presId="urn:microsoft.com/office/officeart/2005/8/layout/arrow5"/>
    <dgm:cxn modelId="{4CF63AA7-B7F0-6E43-B319-324383934D62}" type="presOf" srcId="{1C640926-1098-4736-875F-1213C704BD0C}" destId="{79E356C0-E9DF-544C-96F9-6AA0F88816F9}" srcOrd="0" destOrd="0" presId="urn:microsoft.com/office/officeart/2005/8/layout/arrow5"/>
    <dgm:cxn modelId="{A47845A7-F788-4907-835F-FE9414464610}" srcId="{6321B111-AB6D-4872-AC47-B13269FECF38}" destId="{E09288E1-E4C2-4AAD-B048-E95B2B8C5D3F}" srcOrd="1" destOrd="0" parTransId="{865C7F39-8D4F-4C7E-A709-201E0089F269}" sibTransId="{AA721AB0-CDFA-4EC7-BCF9-E25E314A54E4}"/>
    <dgm:cxn modelId="{5B85E9C3-5965-254C-9FC0-E93B9C1BD8A3}" type="presOf" srcId="{656060E3-2FBE-412A-BC69-BB3366B00685}" destId="{92111294-2801-484E-9EB5-BD016C59371A}" srcOrd="0" destOrd="3" presId="urn:microsoft.com/office/officeart/2005/8/layout/arrow5"/>
    <dgm:cxn modelId="{E12AD3D1-46C4-4A2C-B18E-851D799DAF87}" srcId="{E09288E1-E4C2-4AAD-B048-E95B2B8C5D3F}" destId="{656060E3-2FBE-412A-BC69-BB3366B00685}" srcOrd="2" destOrd="0" parTransId="{58DECF51-4E2E-4C72-BEC7-38B40AFFA180}" sibTransId="{963F517D-F435-48E7-B928-C595F14A881D}"/>
    <dgm:cxn modelId="{97DAC101-D090-0346-B3B5-03E4B84E82B6}" type="presParOf" srcId="{8ED6A900-0273-D547-BE6D-EC6B0DE90D3E}" destId="{79E356C0-E9DF-544C-96F9-6AA0F88816F9}" srcOrd="0" destOrd="0" presId="urn:microsoft.com/office/officeart/2005/8/layout/arrow5"/>
    <dgm:cxn modelId="{48D9820B-230F-734F-B2F2-580A354D037B}" type="presParOf" srcId="{8ED6A900-0273-D547-BE6D-EC6B0DE90D3E}" destId="{92111294-2801-484E-9EB5-BD016C59371A}" srcOrd="1" destOrd="0" presId="urn:microsoft.com/office/officeart/2005/8/layout/arrow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9D44A3EC-E7ED-44BF-92C8-52E2C7F0F10E}" type="doc">
      <dgm:prSet loTypeId="urn:microsoft.com/office/officeart/2016/7/layout/RepeatingBendingProcessNew" loCatId="process" qsTypeId="urn:microsoft.com/office/officeart/2005/8/quickstyle/simple1" qsCatId="simple" csTypeId="urn:microsoft.com/office/officeart/2005/8/colors/accent1_2" csCatId="accent1"/>
      <dgm:spPr/>
      <dgm:t>
        <a:bodyPr/>
        <a:lstStyle/>
        <a:p>
          <a:endParaRPr lang="en-US"/>
        </a:p>
      </dgm:t>
    </dgm:pt>
    <dgm:pt modelId="{78B225A8-035D-4F4F-9FF5-87907301ACAA}">
      <dgm:prSet custT="1"/>
      <dgm:spPr/>
      <dgm:t>
        <a:bodyPr/>
        <a:lstStyle/>
        <a:p>
          <a:pPr>
            <a:lnSpc>
              <a:spcPct val="100000"/>
            </a:lnSpc>
          </a:pPr>
          <a:r>
            <a:rPr lang="en-US" sz="1800"/>
            <a:t>∗ Reduces a set of intermediate values which share a key to a (usually smaller) set of values</a:t>
          </a:r>
        </a:p>
      </dgm:t>
    </dgm:pt>
    <dgm:pt modelId="{5D511DC7-C624-4AB3-9374-9ADFE92657A5}" type="parTrans" cxnId="{9A7ADB7B-DDBC-41CB-B6E6-2D1A78E02811}">
      <dgm:prSet/>
      <dgm:spPr/>
      <dgm:t>
        <a:bodyPr/>
        <a:lstStyle/>
        <a:p>
          <a:pPr>
            <a:lnSpc>
              <a:spcPct val="100000"/>
            </a:lnSpc>
          </a:pPr>
          <a:endParaRPr lang="en-US" sz="1800"/>
        </a:p>
      </dgm:t>
    </dgm:pt>
    <dgm:pt modelId="{0132F289-AD20-4FA9-8A00-C2C9B5F9A049}" type="sibTrans" cxnId="{9A7ADB7B-DDBC-41CB-B6E6-2D1A78E02811}">
      <dgm:prSet custT="1"/>
      <dgm:spPr/>
      <dgm:t>
        <a:bodyPr/>
        <a:lstStyle/>
        <a:p>
          <a:pPr>
            <a:lnSpc>
              <a:spcPct val="100000"/>
            </a:lnSpc>
          </a:pPr>
          <a:endParaRPr lang="en-US" sz="1800"/>
        </a:p>
      </dgm:t>
    </dgm:pt>
    <dgm:pt modelId="{9C623C15-EF5C-4D48-B52E-4392E15C5303}">
      <dgm:prSet custT="1"/>
      <dgm:spPr/>
      <dgm:t>
        <a:bodyPr/>
        <a:lstStyle/>
        <a:p>
          <a:pPr>
            <a:lnSpc>
              <a:spcPct val="100000"/>
            </a:lnSpc>
          </a:pPr>
          <a:r>
            <a:rPr lang="en-US" sz="1800"/>
            <a:t>∗ Sorts and partitions Mapper outputs</a:t>
          </a:r>
        </a:p>
      </dgm:t>
    </dgm:pt>
    <dgm:pt modelId="{CC5A1EAC-79AD-4968-96B0-06959A2542CC}" type="parTrans" cxnId="{0C6BDD61-F7C5-40A6-9C4B-C21102810CD3}">
      <dgm:prSet/>
      <dgm:spPr/>
      <dgm:t>
        <a:bodyPr/>
        <a:lstStyle/>
        <a:p>
          <a:pPr>
            <a:lnSpc>
              <a:spcPct val="100000"/>
            </a:lnSpc>
          </a:pPr>
          <a:endParaRPr lang="en-US" sz="1800"/>
        </a:p>
      </dgm:t>
    </dgm:pt>
    <dgm:pt modelId="{9E37DB4A-1B75-41F5-A180-A1280AB10893}" type="sibTrans" cxnId="{0C6BDD61-F7C5-40A6-9C4B-C21102810CD3}">
      <dgm:prSet custT="1"/>
      <dgm:spPr/>
      <dgm:t>
        <a:bodyPr/>
        <a:lstStyle/>
        <a:p>
          <a:pPr>
            <a:lnSpc>
              <a:spcPct val="100000"/>
            </a:lnSpc>
          </a:pPr>
          <a:endParaRPr lang="en-US" sz="1800"/>
        </a:p>
      </dgm:t>
    </dgm:pt>
    <dgm:pt modelId="{1DDC387D-6FB1-4D9A-9821-156C4C59DD1F}">
      <dgm:prSet custT="1"/>
      <dgm:spPr/>
      <dgm:t>
        <a:bodyPr/>
        <a:lstStyle/>
        <a:p>
          <a:pPr>
            <a:lnSpc>
              <a:spcPct val="100000"/>
            </a:lnSpc>
          </a:pPr>
          <a:r>
            <a:rPr lang="en-US" sz="1800"/>
            <a:t>∗ Number of reduces for the job set by user via Job.setNumReduceTasks(int)</a:t>
          </a:r>
        </a:p>
      </dgm:t>
    </dgm:pt>
    <dgm:pt modelId="{2AFA8A72-4C51-4C07-B4D1-6DAB5A134E6A}" type="parTrans" cxnId="{194C9FE1-8E7C-4C72-98AB-B29D20CA121C}">
      <dgm:prSet/>
      <dgm:spPr/>
      <dgm:t>
        <a:bodyPr/>
        <a:lstStyle/>
        <a:p>
          <a:pPr>
            <a:lnSpc>
              <a:spcPct val="100000"/>
            </a:lnSpc>
          </a:pPr>
          <a:endParaRPr lang="en-US" sz="1800"/>
        </a:p>
      </dgm:t>
    </dgm:pt>
    <dgm:pt modelId="{60845A10-0E1E-490A-9838-C789C099C131}" type="sibTrans" cxnId="{194C9FE1-8E7C-4C72-98AB-B29D20CA121C}">
      <dgm:prSet custT="1"/>
      <dgm:spPr/>
      <dgm:t>
        <a:bodyPr/>
        <a:lstStyle/>
        <a:p>
          <a:pPr>
            <a:lnSpc>
              <a:spcPct val="100000"/>
            </a:lnSpc>
          </a:pPr>
          <a:endParaRPr lang="en-US" sz="1800"/>
        </a:p>
      </dgm:t>
    </dgm:pt>
    <dgm:pt modelId="{D90ECE0A-299A-4AA1-B23B-19A8F80995FD}">
      <dgm:prSet custT="1"/>
      <dgm:spPr/>
      <dgm:t>
        <a:bodyPr/>
        <a:lstStyle/>
        <a:p>
          <a:pPr>
            <a:lnSpc>
              <a:spcPct val="100000"/>
            </a:lnSpc>
          </a:pPr>
          <a:r>
            <a:rPr lang="en-US" sz="1800"/>
            <a:t>∗ Reduce engine</a:t>
          </a:r>
        </a:p>
      </dgm:t>
    </dgm:pt>
    <dgm:pt modelId="{3A4A1FFA-578D-49AA-B55E-695F3E6E1A91}" type="parTrans" cxnId="{7EBDF7F7-7BC4-4750-8E35-4831A9B1F6A4}">
      <dgm:prSet/>
      <dgm:spPr/>
      <dgm:t>
        <a:bodyPr/>
        <a:lstStyle/>
        <a:p>
          <a:pPr>
            <a:lnSpc>
              <a:spcPct val="100000"/>
            </a:lnSpc>
          </a:pPr>
          <a:endParaRPr lang="en-US" sz="1800"/>
        </a:p>
      </dgm:t>
    </dgm:pt>
    <dgm:pt modelId="{8A328BC9-5B26-48B7-8874-3CC301BE1F98}" type="sibTrans" cxnId="{7EBDF7F7-7BC4-4750-8E35-4831A9B1F6A4}">
      <dgm:prSet/>
      <dgm:spPr/>
      <dgm:t>
        <a:bodyPr/>
        <a:lstStyle/>
        <a:p>
          <a:pPr>
            <a:lnSpc>
              <a:spcPct val="100000"/>
            </a:lnSpc>
          </a:pPr>
          <a:endParaRPr lang="en-US" sz="1800"/>
        </a:p>
      </dgm:t>
    </dgm:pt>
    <dgm:pt modelId="{50538C8B-FB5F-40EF-94AF-8B56DD8BE885}">
      <dgm:prSet custT="1"/>
      <dgm:spPr/>
      <dgm:t>
        <a:bodyPr/>
        <a:lstStyle/>
        <a:p>
          <a:pPr>
            <a:lnSpc>
              <a:spcPct val="100000"/>
            </a:lnSpc>
          </a:pPr>
          <a:r>
            <a:rPr lang="en-US" sz="1800"/>
            <a:t>∗	receives a Context containing job’s configuration as well as interfacing methods that</a:t>
          </a:r>
        </a:p>
      </dgm:t>
    </dgm:pt>
    <dgm:pt modelId="{D3D6D737-0EBA-4CFD-8853-52E886242C06}" type="parTrans" cxnId="{99AE7100-4F22-4B90-B65C-ACB5C6898A24}">
      <dgm:prSet/>
      <dgm:spPr/>
      <dgm:t>
        <a:bodyPr/>
        <a:lstStyle/>
        <a:p>
          <a:pPr>
            <a:lnSpc>
              <a:spcPct val="100000"/>
            </a:lnSpc>
          </a:pPr>
          <a:endParaRPr lang="en-US" sz="1800"/>
        </a:p>
      </dgm:t>
    </dgm:pt>
    <dgm:pt modelId="{17B5C7BD-9796-49A5-9C03-1CFE0DF5DCA9}" type="sibTrans" cxnId="{99AE7100-4F22-4B90-B65C-ACB5C6898A24}">
      <dgm:prSet/>
      <dgm:spPr/>
      <dgm:t>
        <a:bodyPr/>
        <a:lstStyle/>
        <a:p>
          <a:pPr>
            <a:lnSpc>
              <a:spcPct val="100000"/>
            </a:lnSpc>
          </a:pPr>
          <a:endParaRPr lang="en-US" sz="1800"/>
        </a:p>
      </dgm:t>
    </dgm:pt>
    <dgm:pt modelId="{384B4846-93C2-49A5-A823-29066324F4D0}">
      <dgm:prSet custT="1"/>
      <dgm:spPr/>
      <dgm:t>
        <a:bodyPr/>
        <a:lstStyle/>
        <a:p>
          <a:pPr>
            <a:lnSpc>
              <a:spcPct val="100000"/>
            </a:lnSpc>
          </a:pPr>
          <a:r>
            <a:rPr lang="en-US" sz="1800"/>
            <a:t>return data back to the framework</a:t>
          </a:r>
        </a:p>
      </dgm:t>
    </dgm:pt>
    <dgm:pt modelId="{C7B15A5A-0BB5-4533-80BE-591A9418BE75}" type="parTrans" cxnId="{105DB875-DD15-4484-81FE-12C4B5B511C3}">
      <dgm:prSet/>
      <dgm:spPr/>
      <dgm:t>
        <a:bodyPr/>
        <a:lstStyle/>
        <a:p>
          <a:pPr>
            <a:lnSpc>
              <a:spcPct val="100000"/>
            </a:lnSpc>
          </a:pPr>
          <a:endParaRPr lang="en-US" sz="1800"/>
        </a:p>
      </dgm:t>
    </dgm:pt>
    <dgm:pt modelId="{A5074A15-DD3E-406E-A4C2-85DF0B82F8C5}" type="sibTrans" cxnId="{105DB875-DD15-4484-81FE-12C4B5B511C3}">
      <dgm:prSet/>
      <dgm:spPr/>
      <dgm:t>
        <a:bodyPr/>
        <a:lstStyle/>
        <a:p>
          <a:pPr>
            <a:lnSpc>
              <a:spcPct val="100000"/>
            </a:lnSpc>
          </a:pPr>
          <a:endParaRPr lang="en-US" sz="1800"/>
        </a:p>
      </dgm:t>
    </dgm:pt>
    <dgm:pt modelId="{DDB3B343-7C99-4C73-A4B6-469E08A8878B}">
      <dgm:prSet custT="1"/>
      <dgm:spPr/>
      <dgm:t>
        <a:bodyPr/>
        <a:lstStyle/>
        <a:p>
          <a:pPr>
            <a:lnSpc>
              <a:spcPct val="100000"/>
            </a:lnSpc>
          </a:pPr>
          <a:r>
            <a:rPr lang="en-US" sz="1800"/>
            <a:t>∗	Reducer.run()</a:t>
          </a:r>
        </a:p>
      </dgm:t>
    </dgm:pt>
    <dgm:pt modelId="{A9C4FD71-FD32-47EA-AD1B-0F2FC08972D2}" type="parTrans" cxnId="{667EED01-3168-431B-9D12-007899ABDD1D}">
      <dgm:prSet/>
      <dgm:spPr/>
      <dgm:t>
        <a:bodyPr/>
        <a:lstStyle/>
        <a:p>
          <a:pPr>
            <a:lnSpc>
              <a:spcPct val="100000"/>
            </a:lnSpc>
          </a:pPr>
          <a:endParaRPr lang="en-US" sz="1800"/>
        </a:p>
      </dgm:t>
    </dgm:pt>
    <dgm:pt modelId="{1F5787D1-683D-435D-97F7-83FC7233EA1C}" type="sibTrans" cxnId="{667EED01-3168-431B-9D12-007899ABDD1D}">
      <dgm:prSet/>
      <dgm:spPr/>
      <dgm:t>
        <a:bodyPr/>
        <a:lstStyle/>
        <a:p>
          <a:pPr>
            <a:lnSpc>
              <a:spcPct val="100000"/>
            </a:lnSpc>
          </a:pPr>
          <a:endParaRPr lang="en-US" sz="1800"/>
        </a:p>
      </dgm:t>
    </dgm:pt>
    <dgm:pt modelId="{F2CAABCB-75F8-4FCB-890E-5FE919C5ECE6}">
      <dgm:prSet custT="1"/>
      <dgm:spPr/>
      <dgm:t>
        <a:bodyPr/>
        <a:lstStyle/>
        <a:p>
          <a:pPr>
            <a:lnSpc>
              <a:spcPct val="100000"/>
            </a:lnSpc>
          </a:pPr>
          <a:r>
            <a:rPr lang="en-US" sz="1800"/>
            <a:t>∗ setup()</a:t>
          </a:r>
        </a:p>
      </dgm:t>
    </dgm:pt>
    <dgm:pt modelId="{8CE55F51-28C6-4BCD-BDFC-42D90E5DF1A6}" type="parTrans" cxnId="{6DB7F903-849E-4C1C-B493-55D962F72AC7}">
      <dgm:prSet/>
      <dgm:spPr/>
      <dgm:t>
        <a:bodyPr/>
        <a:lstStyle/>
        <a:p>
          <a:pPr>
            <a:lnSpc>
              <a:spcPct val="100000"/>
            </a:lnSpc>
          </a:pPr>
          <a:endParaRPr lang="en-US" sz="1800"/>
        </a:p>
      </dgm:t>
    </dgm:pt>
    <dgm:pt modelId="{6447CE8A-107D-4138-97FF-13D3C37A3EA4}" type="sibTrans" cxnId="{6DB7F903-849E-4C1C-B493-55D962F72AC7}">
      <dgm:prSet/>
      <dgm:spPr/>
      <dgm:t>
        <a:bodyPr/>
        <a:lstStyle/>
        <a:p>
          <a:pPr>
            <a:lnSpc>
              <a:spcPct val="100000"/>
            </a:lnSpc>
          </a:pPr>
          <a:endParaRPr lang="en-US" sz="1800"/>
        </a:p>
      </dgm:t>
    </dgm:pt>
    <dgm:pt modelId="{CCA13BD9-B6A6-42E4-9C24-C3DBF8FE07E7}">
      <dgm:prSet custT="1"/>
      <dgm:spPr/>
      <dgm:t>
        <a:bodyPr/>
        <a:lstStyle/>
        <a:p>
          <a:pPr>
            <a:lnSpc>
              <a:spcPct val="100000"/>
            </a:lnSpc>
          </a:pPr>
          <a:r>
            <a:rPr lang="en-US" sz="1800"/>
            <a:t>∗ reduce() per key associated with reduce task</a:t>
          </a:r>
        </a:p>
      </dgm:t>
    </dgm:pt>
    <dgm:pt modelId="{C35E59ED-8F44-4417-BDC4-D95CC3946BD7}" type="parTrans" cxnId="{1B7B1F23-8E82-4A71-868F-03E5DD21C7EB}">
      <dgm:prSet/>
      <dgm:spPr/>
      <dgm:t>
        <a:bodyPr/>
        <a:lstStyle/>
        <a:p>
          <a:pPr>
            <a:lnSpc>
              <a:spcPct val="100000"/>
            </a:lnSpc>
          </a:pPr>
          <a:endParaRPr lang="en-US" sz="1800"/>
        </a:p>
      </dgm:t>
    </dgm:pt>
    <dgm:pt modelId="{53A2AF88-5A37-4DE5-BF9E-8597252B86D2}" type="sibTrans" cxnId="{1B7B1F23-8E82-4A71-868F-03E5DD21C7EB}">
      <dgm:prSet/>
      <dgm:spPr/>
      <dgm:t>
        <a:bodyPr/>
        <a:lstStyle/>
        <a:p>
          <a:pPr>
            <a:lnSpc>
              <a:spcPct val="100000"/>
            </a:lnSpc>
          </a:pPr>
          <a:endParaRPr lang="en-US" sz="1800"/>
        </a:p>
      </dgm:t>
    </dgm:pt>
    <dgm:pt modelId="{BC5F032C-0448-4787-B05B-B629CB42A58A}">
      <dgm:prSet custT="1"/>
      <dgm:spPr/>
      <dgm:t>
        <a:bodyPr/>
        <a:lstStyle/>
        <a:p>
          <a:pPr>
            <a:lnSpc>
              <a:spcPct val="100000"/>
            </a:lnSpc>
          </a:pPr>
          <a:r>
            <a:rPr lang="en-US" sz="1800"/>
            <a:t>∗ cleanup()</a:t>
          </a:r>
        </a:p>
      </dgm:t>
    </dgm:pt>
    <dgm:pt modelId="{819EDF79-C637-4452-B3C7-23A9E37214D5}" type="parTrans" cxnId="{082C9316-DFE8-4716-AA09-57325F1CAE41}">
      <dgm:prSet/>
      <dgm:spPr/>
      <dgm:t>
        <a:bodyPr/>
        <a:lstStyle/>
        <a:p>
          <a:pPr>
            <a:lnSpc>
              <a:spcPct val="100000"/>
            </a:lnSpc>
          </a:pPr>
          <a:endParaRPr lang="en-US" sz="1800"/>
        </a:p>
      </dgm:t>
    </dgm:pt>
    <dgm:pt modelId="{608658D4-44D5-43B6-ACFB-08FF6F672409}" type="sibTrans" cxnId="{082C9316-DFE8-4716-AA09-57325F1CAE41}">
      <dgm:prSet/>
      <dgm:spPr/>
      <dgm:t>
        <a:bodyPr/>
        <a:lstStyle/>
        <a:p>
          <a:pPr>
            <a:lnSpc>
              <a:spcPct val="100000"/>
            </a:lnSpc>
          </a:pPr>
          <a:endParaRPr lang="en-US" sz="1800"/>
        </a:p>
      </dgm:t>
    </dgm:pt>
    <dgm:pt modelId="{1ABB1BFA-F714-C142-BC90-D40528776FC4}" type="pres">
      <dgm:prSet presAssocID="{9D44A3EC-E7ED-44BF-92C8-52E2C7F0F10E}" presName="Name0" presStyleCnt="0">
        <dgm:presLayoutVars>
          <dgm:dir/>
          <dgm:resizeHandles val="exact"/>
        </dgm:presLayoutVars>
      </dgm:prSet>
      <dgm:spPr/>
    </dgm:pt>
    <dgm:pt modelId="{51BEC117-D791-1B47-8C50-1593B0100194}" type="pres">
      <dgm:prSet presAssocID="{78B225A8-035D-4F4F-9FF5-87907301ACAA}" presName="node" presStyleLbl="node1" presStyleIdx="0" presStyleCnt="4">
        <dgm:presLayoutVars>
          <dgm:bulletEnabled val="1"/>
        </dgm:presLayoutVars>
      </dgm:prSet>
      <dgm:spPr/>
    </dgm:pt>
    <dgm:pt modelId="{4BE3B7BC-AAC4-014C-A705-3CB43038EBAA}" type="pres">
      <dgm:prSet presAssocID="{0132F289-AD20-4FA9-8A00-C2C9B5F9A049}" presName="sibTrans" presStyleLbl="sibTrans1D1" presStyleIdx="0" presStyleCnt="3"/>
      <dgm:spPr/>
    </dgm:pt>
    <dgm:pt modelId="{3418582F-47D8-9541-AAA6-AF336B5CA230}" type="pres">
      <dgm:prSet presAssocID="{0132F289-AD20-4FA9-8A00-C2C9B5F9A049}" presName="connectorText" presStyleLbl="sibTrans1D1" presStyleIdx="0" presStyleCnt="3"/>
      <dgm:spPr/>
    </dgm:pt>
    <dgm:pt modelId="{807006BF-7457-DB4C-AF55-9DB345AA13F8}" type="pres">
      <dgm:prSet presAssocID="{9C623C15-EF5C-4D48-B52E-4392E15C5303}" presName="node" presStyleLbl="node1" presStyleIdx="1" presStyleCnt="4">
        <dgm:presLayoutVars>
          <dgm:bulletEnabled val="1"/>
        </dgm:presLayoutVars>
      </dgm:prSet>
      <dgm:spPr/>
    </dgm:pt>
    <dgm:pt modelId="{3A7CEB8A-78C3-C744-8AE3-07B5D39D7566}" type="pres">
      <dgm:prSet presAssocID="{9E37DB4A-1B75-41F5-A180-A1280AB10893}" presName="sibTrans" presStyleLbl="sibTrans1D1" presStyleIdx="1" presStyleCnt="3"/>
      <dgm:spPr/>
    </dgm:pt>
    <dgm:pt modelId="{F9F3DC19-D901-A948-B000-478A00CE2F60}" type="pres">
      <dgm:prSet presAssocID="{9E37DB4A-1B75-41F5-A180-A1280AB10893}" presName="connectorText" presStyleLbl="sibTrans1D1" presStyleIdx="1" presStyleCnt="3"/>
      <dgm:spPr/>
    </dgm:pt>
    <dgm:pt modelId="{56A47FAC-1220-FE4D-A6DA-30CB178AB658}" type="pres">
      <dgm:prSet presAssocID="{1DDC387D-6FB1-4D9A-9821-156C4C59DD1F}" presName="node" presStyleLbl="node1" presStyleIdx="2" presStyleCnt="4">
        <dgm:presLayoutVars>
          <dgm:bulletEnabled val="1"/>
        </dgm:presLayoutVars>
      </dgm:prSet>
      <dgm:spPr/>
    </dgm:pt>
    <dgm:pt modelId="{7461441B-B923-8A45-B22F-B2AF76ED0FE7}" type="pres">
      <dgm:prSet presAssocID="{60845A10-0E1E-490A-9838-C789C099C131}" presName="sibTrans" presStyleLbl="sibTrans1D1" presStyleIdx="2" presStyleCnt="3"/>
      <dgm:spPr/>
    </dgm:pt>
    <dgm:pt modelId="{B33E16EE-DD1B-6E45-9EBE-21ED220C9EA5}" type="pres">
      <dgm:prSet presAssocID="{60845A10-0E1E-490A-9838-C789C099C131}" presName="connectorText" presStyleLbl="sibTrans1D1" presStyleIdx="2" presStyleCnt="3"/>
      <dgm:spPr/>
    </dgm:pt>
    <dgm:pt modelId="{E9590CF9-9FE4-E043-B1D8-CF05BADA2734}" type="pres">
      <dgm:prSet presAssocID="{D90ECE0A-299A-4AA1-B23B-19A8F80995FD}" presName="node" presStyleLbl="node1" presStyleIdx="3" presStyleCnt="4">
        <dgm:presLayoutVars>
          <dgm:bulletEnabled val="1"/>
        </dgm:presLayoutVars>
      </dgm:prSet>
      <dgm:spPr/>
    </dgm:pt>
  </dgm:ptLst>
  <dgm:cxnLst>
    <dgm:cxn modelId="{99AE7100-4F22-4B90-B65C-ACB5C6898A24}" srcId="{D90ECE0A-299A-4AA1-B23B-19A8F80995FD}" destId="{50538C8B-FB5F-40EF-94AF-8B56DD8BE885}" srcOrd="0" destOrd="0" parTransId="{D3D6D737-0EBA-4CFD-8853-52E886242C06}" sibTransId="{17B5C7BD-9796-49A5-9C03-1CFE0DF5DCA9}"/>
    <dgm:cxn modelId="{667EED01-3168-431B-9D12-007899ABDD1D}" srcId="{D90ECE0A-299A-4AA1-B23B-19A8F80995FD}" destId="{DDB3B343-7C99-4C73-A4B6-469E08A8878B}" srcOrd="1" destOrd="0" parTransId="{A9C4FD71-FD32-47EA-AD1B-0F2FC08972D2}" sibTransId="{1F5787D1-683D-435D-97F7-83FC7233EA1C}"/>
    <dgm:cxn modelId="{6DB7F903-849E-4C1C-B493-55D962F72AC7}" srcId="{DDB3B343-7C99-4C73-A4B6-469E08A8878B}" destId="{F2CAABCB-75F8-4FCB-890E-5FE919C5ECE6}" srcOrd="0" destOrd="0" parTransId="{8CE55F51-28C6-4BCD-BDFC-42D90E5DF1A6}" sibTransId="{6447CE8A-107D-4138-97FF-13D3C37A3EA4}"/>
    <dgm:cxn modelId="{85949B06-9187-3843-82FB-A2EFDD24735E}" type="presOf" srcId="{0132F289-AD20-4FA9-8A00-C2C9B5F9A049}" destId="{4BE3B7BC-AAC4-014C-A705-3CB43038EBAA}" srcOrd="0" destOrd="0" presId="urn:microsoft.com/office/officeart/2016/7/layout/RepeatingBendingProcessNew"/>
    <dgm:cxn modelId="{082C9316-DFE8-4716-AA09-57325F1CAE41}" srcId="{DDB3B343-7C99-4C73-A4B6-469E08A8878B}" destId="{BC5F032C-0448-4787-B05B-B629CB42A58A}" srcOrd="2" destOrd="0" parTransId="{819EDF79-C637-4452-B3C7-23A9E37214D5}" sibTransId="{608658D4-44D5-43B6-ACFB-08FF6F672409}"/>
    <dgm:cxn modelId="{1B7B1F23-8E82-4A71-868F-03E5DD21C7EB}" srcId="{DDB3B343-7C99-4C73-A4B6-469E08A8878B}" destId="{CCA13BD9-B6A6-42E4-9C24-C3DBF8FE07E7}" srcOrd="1" destOrd="0" parTransId="{C35E59ED-8F44-4417-BDC4-D95CC3946BD7}" sibTransId="{53A2AF88-5A37-4DE5-BF9E-8597252B86D2}"/>
    <dgm:cxn modelId="{32707E36-C0BD-D549-B849-A118047A5480}" type="presOf" srcId="{CCA13BD9-B6A6-42E4-9C24-C3DBF8FE07E7}" destId="{E9590CF9-9FE4-E043-B1D8-CF05BADA2734}" srcOrd="0" destOrd="5" presId="urn:microsoft.com/office/officeart/2016/7/layout/RepeatingBendingProcessNew"/>
    <dgm:cxn modelId="{134FB243-EC53-9F47-A7DE-C1CBC1495E35}" type="presOf" srcId="{60845A10-0E1E-490A-9838-C789C099C131}" destId="{7461441B-B923-8A45-B22F-B2AF76ED0FE7}" srcOrd="0" destOrd="0" presId="urn:microsoft.com/office/officeart/2016/7/layout/RepeatingBendingProcessNew"/>
    <dgm:cxn modelId="{90FE7747-B23A-994B-9F05-B3581E97E349}" type="presOf" srcId="{60845A10-0E1E-490A-9838-C789C099C131}" destId="{B33E16EE-DD1B-6E45-9EBE-21ED220C9EA5}" srcOrd="1" destOrd="0" presId="urn:microsoft.com/office/officeart/2016/7/layout/RepeatingBendingProcessNew"/>
    <dgm:cxn modelId="{EFEFD651-70CC-4F44-90AC-EBBB69691791}" type="presOf" srcId="{DDB3B343-7C99-4C73-A4B6-469E08A8878B}" destId="{E9590CF9-9FE4-E043-B1D8-CF05BADA2734}" srcOrd="0" destOrd="3" presId="urn:microsoft.com/office/officeart/2016/7/layout/RepeatingBendingProcessNew"/>
    <dgm:cxn modelId="{EE83F655-789E-A24F-8E3A-F23BD9379456}" type="presOf" srcId="{BC5F032C-0448-4787-B05B-B629CB42A58A}" destId="{E9590CF9-9FE4-E043-B1D8-CF05BADA2734}" srcOrd="0" destOrd="6" presId="urn:microsoft.com/office/officeart/2016/7/layout/RepeatingBendingProcessNew"/>
    <dgm:cxn modelId="{3FB4515F-2402-9C4E-972B-2B2B41B21229}" type="presOf" srcId="{78B225A8-035D-4F4F-9FF5-87907301ACAA}" destId="{51BEC117-D791-1B47-8C50-1593B0100194}" srcOrd="0" destOrd="0" presId="urn:microsoft.com/office/officeart/2016/7/layout/RepeatingBendingProcessNew"/>
    <dgm:cxn modelId="{0C6BDD61-F7C5-40A6-9C4B-C21102810CD3}" srcId="{9D44A3EC-E7ED-44BF-92C8-52E2C7F0F10E}" destId="{9C623C15-EF5C-4D48-B52E-4392E15C5303}" srcOrd="1" destOrd="0" parTransId="{CC5A1EAC-79AD-4968-96B0-06959A2542CC}" sibTransId="{9E37DB4A-1B75-41F5-A180-A1280AB10893}"/>
    <dgm:cxn modelId="{3B428165-05DA-3F4E-9C43-732C300C1986}" type="presOf" srcId="{50538C8B-FB5F-40EF-94AF-8B56DD8BE885}" destId="{E9590CF9-9FE4-E043-B1D8-CF05BADA2734}" srcOrd="0" destOrd="1" presId="urn:microsoft.com/office/officeart/2016/7/layout/RepeatingBendingProcessNew"/>
    <dgm:cxn modelId="{105DB875-DD15-4484-81FE-12C4B5B511C3}" srcId="{50538C8B-FB5F-40EF-94AF-8B56DD8BE885}" destId="{384B4846-93C2-49A5-A823-29066324F4D0}" srcOrd="0" destOrd="0" parTransId="{C7B15A5A-0BB5-4533-80BE-591A9418BE75}" sibTransId="{A5074A15-DD3E-406E-A4C2-85DF0B82F8C5}"/>
    <dgm:cxn modelId="{9A7ADB7B-DDBC-41CB-B6E6-2D1A78E02811}" srcId="{9D44A3EC-E7ED-44BF-92C8-52E2C7F0F10E}" destId="{78B225A8-035D-4F4F-9FF5-87907301ACAA}" srcOrd="0" destOrd="0" parTransId="{5D511DC7-C624-4AB3-9374-9ADFE92657A5}" sibTransId="{0132F289-AD20-4FA9-8A00-C2C9B5F9A049}"/>
    <dgm:cxn modelId="{98E9AE9C-E96D-A646-BEEF-59A00103C6E1}" type="presOf" srcId="{9D44A3EC-E7ED-44BF-92C8-52E2C7F0F10E}" destId="{1ABB1BFA-F714-C142-BC90-D40528776FC4}" srcOrd="0" destOrd="0" presId="urn:microsoft.com/office/officeart/2016/7/layout/RepeatingBendingProcessNew"/>
    <dgm:cxn modelId="{E4CEEAA1-253A-4245-B789-4595ACED1CFC}" type="presOf" srcId="{F2CAABCB-75F8-4FCB-890E-5FE919C5ECE6}" destId="{E9590CF9-9FE4-E043-B1D8-CF05BADA2734}" srcOrd="0" destOrd="4" presId="urn:microsoft.com/office/officeart/2016/7/layout/RepeatingBendingProcessNew"/>
    <dgm:cxn modelId="{A292A1A2-BCE6-3B4C-9E57-D59535A2D9F3}" type="presOf" srcId="{1DDC387D-6FB1-4D9A-9821-156C4C59DD1F}" destId="{56A47FAC-1220-FE4D-A6DA-30CB178AB658}" srcOrd="0" destOrd="0" presId="urn:microsoft.com/office/officeart/2016/7/layout/RepeatingBendingProcessNew"/>
    <dgm:cxn modelId="{DCE4E7B7-EEB8-E64B-A208-AC3E06A12992}" type="presOf" srcId="{9C623C15-EF5C-4D48-B52E-4392E15C5303}" destId="{807006BF-7457-DB4C-AF55-9DB345AA13F8}" srcOrd="0" destOrd="0" presId="urn:microsoft.com/office/officeart/2016/7/layout/RepeatingBendingProcessNew"/>
    <dgm:cxn modelId="{FD4CA0C4-28D7-F443-9CB5-6BCF51BBAFE3}" type="presOf" srcId="{9E37DB4A-1B75-41F5-A180-A1280AB10893}" destId="{3A7CEB8A-78C3-C744-8AE3-07B5D39D7566}" srcOrd="0" destOrd="0" presId="urn:microsoft.com/office/officeart/2016/7/layout/RepeatingBendingProcessNew"/>
    <dgm:cxn modelId="{4FCE6AC5-DD78-0746-9160-7C66544B96F4}" type="presOf" srcId="{D90ECE0A-299A-4AA1-B23B-19A8F80995FD}" destId="{E9590CF9-9FE4-E043-B1D8-CF05BADA2734}" srcOrd="0" destOrd="0" presId="urn:microsoft.com/office/officeart/2016/7/layout/RepeatingBendingProcessNew"/>
    <dgm:cxn modelId="{5FFCF4CF-D298-9F4E-BFC9-2E5C34D179B5}" type="presOf" srcId="{9E37DB4A-1B75-41F5-A180-A1280AB10893}" destId="{F9F3DC19-D901-A948-B000-478A00CE2F60}" srcOrd="1" destOrd="0" presId="urn:microsoft.com/office/officeart/2016/7/layout/RepeatingBendingProcessNew"/>
    <dgm:cxn modelId="{194C9FE1-8E7C-4C72-98AB-B29D20CA121C}" srcId="{9D44A3EC-E7ED-44BF-92C8-52E2C7F0F10E}" destId="{1DDC387D-6FB1-4D9A-9821-156C4C59DD1F}" srcOrd="2" destOrd="0" parTransId="{2AFA8A72-4C51-4C07-B4D1-6DAB5A134E6A}" sibTransId="{60845A10-0E1E-490A-9838-C789C099C131}"/>
    <dgm:cxn modelId="{356762E3-CFC8-7247-BD26-788922CAE0F3}" type="presOf" srcId="{0132F289-AD20-4FA9-8A00-C2C9B5F9A049}" destId="{3418582F-47D8-9541-AAA6-AF336B5CA230}" srcOrd="1" destOrd="0" presId="urn:microsoft.com/office/officeart/2016/7/layout/RepeatingBendingProcessNew"/>
    <dgm:cxn modelId="{7EBDF7F7-7BC4-4750-8E35-4831A9B1F6A4}" srcId="{9D44A3EC-E7ED-44BF-92C8-52E2C7F0F10E}" destId="{D90ECE0A-299A-4AA1-B23B-19A8F80995FD}" srcOrd="3" destOrd="0" parTransId="{3A4A1FFA-578D-49AA-B55E-695F3E6E1A91}" sibTransId="{8A328BC9-5B26-48B7-8874-3CC301BE1F98}"/>
    <dgm:cxn modelId="{A54779FB-867F-7643-B929-0947B844D088}" type="presOf" srcId="{384B4846-93C2-49A5-A823-29066324F4D0}" destId="{E9590CF9-9FE4-E043-B1D8-CF05BADA2734}" srcOrd="0" destOrd="2" presId="urn:microsoft.com/office/officeart/2016/7/layout/RepeatingBendingProcessNew"/>
    <dgm:cxn modelId="{50339D90-1D0D-6348-96C2-5381D4051F09}" type="presParOf" srcId="{1ABB1BFA-F714-C142-BC90-D40528776FC4}" destId="{51BEC117-D791-1B47-8C50-1593B0100194}" srcOrd="0" destOrd="0" presId="urn:microsoft.com/office/officeart/2016/7/layout/RepeatingBendingProcessNew"/>
    <dgm:cxn modelId="{8F9E162C-6675-A740-B5A8-1C309AB656BD}" type="presParOf" srcId="{1ABB1BFA-F714-C142-BC90-D40528776FC4}" destId="{4BE3B7BC-AAC4-014C-A705-3CB43038EBAA}" srcOrd="1" destOrd="0" presId="urn:microsoft.com/office/officeart/2016/7/layout/RepeatingBendingProcessNew"/>
    <dgm:cxn modelId="{487A4C8D-B8B6-1348-A036-DDC479F0CD46}" type="presParOf" srcId="{4BE3B7BC-AAC4-014C-A705-3CB43038EBAA}" destId="{3418582F-47D8-9541-AAA6-AF336B5CA230}" srcOrd="0" destOrd="0" presId="urn:microsoft.com/office/officeart/2016/7/layout/RepeatingBendingProcessNew"/>
    <dgm:cxn modelId="{B5A38F62-FCC7-2B4D-B830-7867A220C1B6}" type="presParOf" srcId="{1ABB1BFA-F714-C142-BC90-D40528776FC4}" destId="{807006BF-7457-DB4C-AF55-9DB345AA13F8}" srcOrd="2" destOrd="0" presId="urn:microsoft.com/office/officeart/2016/7/layout/RepeatingBendingProcessNew"/>
    <dgm:cxn modelId="{8C2232EA-1F51-CC42-B255-2921E59A4A03}" type="presParOf" srcId="{1ABB1BFA-F714-C142-BC90-D40528776FC4}" destId="{3A7CEB8A-78C3-C744-8AE3-07B5D39D7566}" srcOrd="3" destOrd="0" presId="urn:microsoft.com/office/officeart/2016/7/layout/RepeatingBendingProcessNew"/>
    <dgm:cxn modelId="{2AFEE714-9B7A-4C44-99E2-F0CD7C1C50FA}" type="presParOf" srcId="{3A7CEB8A-78C3-C744-8AE3-07B5D39D7566}" destId="{F9F3DC19-D901-A948-B000-478A00CE2F60}" srcOrd="0" destOrd="0" presId="urn:microsoft.com/office/officeart/2016/7/layout/RepeatingBendingProcessNew"/>
    <dgm:cxn modelId="{EFA0AEA4-4E52-A242-AEAF-17B7AA3443A5}" type="presParOf" srcId="{1ABB1BFA-F714-C142-BC90-D40528776FC4}" destId="{56A47FAC-1220-FE4D-A6DA-30CB178AB658}" srcOrd="4" destOrd="0" presId="urn:microsoft.com/office/officeart/2016/7/layout/RepeatingBendingProcessNew"/>
    <dgm:cxn modelId="{4FAF23A5-776E-2D4D-ADE2-CB9406DA9F1A}" type="presParOf" srcId="{1ABB1BFA-F714-C142-BC90-D40528776FC4}" destId="{7461441B-B923-8A45-B22F-B2AF76ED0FE7}" srcOrd="5" destOrd="0" presId="urn:microsoft.com/office/officeart/2016/7/layout/RepeatingBendingProcessNew"/>
    <dgm:cxn modelId="{1F9B98A6-EACB-F54A-B1DA-0E2DFE15DFCC}" type="presParOf" srcId="{7461441B-B923-8A45-B22F-B2AF76ED0FE7}" destId="{B33E16EE-DD1B-6E45-9EBE-21ED220C9EA5}" srcOrd="0" destOrd="0" presId="urn:microsoft.com/office/officeart/2016/7/layout/RepeatingBendingProcessNew"/>
    <dgm:cxn modelId="{CC3C007C-B091-0A4A-A32C-B48332E0F2DD}" type="presParOf" srcId="{1ABB1BFA-F714-C142-BC90-D40528776FC4}" destId="{E9590CF9-9FE4-E043-B1D8-CF05BADA2734}" srcOrd="6"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423A9BC4-A77C-45AE-9213-0D93FA743372}" type="doc">
      <dgm:prSet loTypeId="urn:microsoft.com/office/officeart/2016/7/layout/RepeatingBendingProcessNew" loCatId="process" qsTypeId="urn:microsoft.com/office/officeart/2005/8/quickstyle/simple1" qsCatId="simple" csTypeId="urn:microsoft.com/office/officeart/2005/8/colors/colorful5" csCatId="colorful"/>
      <dgm:spPr/>
      <dgm:t>
        <a:bodyPr/>
        <a:lstStyle/>
        <a:p>
          <a:endParaRPr lang="en-US"/>
        </a:p>
      </dgm:t>
    </dgm:pt>
    <dgm:pt modelId="{3C71C336-C807-4FAE-A0E5-D76EBCFCA468}">
      <dgm:prSet custT="1"/>
      <dgm:spPr/>
      <dgm:t>
        <a:bodyPr/>
        <a:lstStyle/>
        <a:p>
          <a:pPr>
            <a:lnSpc>
              <a:spcPct val="100000"/>
            </a:lnSpc>
          </a:pPr>
          <a:r>
            <a:rPr lang="en-US" sz="1600">
              <a:solidFill>
                <a:schemeClr val="bg1"/>
              </a:solidFill>
            </a:rPr>
            <a:t>∗	No </a:t>
          </a:r>
          <a:r>
            <a:rPr lang="en-US" sz="1600" i="1">
              <a:solidFill>
                <a:schemeClr val="bg1"/>
              </a:solidFill>
            </a:rPr>
            <a:t>reduce </a:t>
          </a:r>
          <a:r>
            <a:rPr lang="en-US" sz="1600">
              <a:solidFill>
                <a:schemeClr val="bg1"/>
              </a:solidFill>
            </a:rPr>
            <a:t>can begin until </a:t>
          </a:r>
          <a:r>
            <a:rPr lang="en-US" sz="1600" i="1">
              <a:solidFill>
                <a:schemeClr val="bg1"/>
              </a:solidFill>
            </a:rPr>
            <a:t>map </a:t>
          </a:r>
          <a:r>
            <a:rPr lang="en-US" sz="1600">
              <a:solidFill>
                <a:schemeClr val="bg1"/>
              </a:solidFill>
            </a:rPr>
            <a:t>is complete</a:t>
          </a:r>
        </a:p>
      </dgm:t>
    </dgm:pt>
    <dgm:pt modelId="{7C1A13D8-5D03-47CD-BD49-49CDB528EB3D}" type="parTrans" cxnId="{11FC0E80-E964-42A5-AD67-2EF3F8A2041E}">
      <dgm:prSet/>
      <dgm:spPr/>
      <dgm:t>
        <a:bodyPr/>
        <a:lstStyle/>
        <a:p>
          <a:pPr>
            <a:lnSpc>
              <a:spcPct val="100000"/>
            </a:lnSpc>
          </a:pPr>
          <a:endParaRPr lang="en-US" sz="1600">
            <a:solidFill>
              <a:schemeClr val="bg1"/>
            </a:solidFill>
          </a:endParaRPr>
        </a:p>
      </dgm:t>
    </dgm:pt>
    <dgm:pt modelId="{0DD61778-1AAB-45F8-84CB-E364B9D83919}" type="sibTrans" cxnId="{11FC0E80-E964-42A5-AD67-2EF3F8A2041E}">
      <dgm:prSet custT="1"/>
      <dgm:spPr/>
      <dgm:t>
        <a:bodyPr/>
        <a:lstStyle/>
        <a:p>
          <a:pPr>
            <a:lnSpc>
              <a:spcPct val="100000"/>
            </a:lnSpc>
          </a:pPr>
          <a:endParaRPr lang="en-US" sz="1600">
            <a:solidFill>
              <a:schemeClr val="bg1"/>
            </a:solidFill>
          </a:endParaRPr>
        </a:p>
      </dgm:t>
    </dgm:pt>
    <dgm:pt modelId="{1B1BBCAA-AB59-4C50-8474-65DF47E0A620}">
      <dgm:prSet custT="1"/>
      <dgm:spPr/>
      <dgm:t>
        <a:bodyPr/>
        <a:lstStyle/>
        <a:p>
          <a:pPr>
            <a:lnSpc>
              <a:spcPct val="100000"/>
            </a:lnSpc>
          </a:pPr>
          <a:r>
            <a:rPr lang="en-US" sz="1600">
              <a:solidFill>
                <a:schemeClr val="bg1"/>
              </a:solidFill>
            </a:rPr>
            <a:t>∗	Specify the Job configuration</a:t>
          </a:r>
        </a:p>
      </dgm:t>
    </dgm:pt>
    <dgm:pt modelId="{E55C91AA-8D27-4F3D-887F-098843DAA773}" type="parTrans" cxnId="{5F036643-338E-416C-9CCF-723C5FBDD6DB}">
      <dgm:prSet/>
      <dgm:spPr/>
      <dgm:t>
        <a:bodyPr/>
        <a:lstStyle/>
        <a:p>
          <a:pPr>
            <a:lnSpc>
              <a:spcPct val="100000"/>
            </a:lnSpc>
          </a:pPr>
          <a:endParaRPr lang="en-US" sz="1600">
            <a:solidFill>
              <a:schemeClr val="bg1"/>
            </a:solidFill>
          </a:endParaRPr>
        </a:p>
      </dgm:t>
    </dgm:pt>
    <dgm:pt modelId="{62A8570D-3717-408B-992B-86FD5BCDE347}" type="sibTrans" cxnId="{5F036643-338E-416C-9CCF-723C5FBDD6DB}">
      <dgm:prSet custT="1"/>
      <dgm:spPr/>
      <dgm:t>
        <a:bodyPr/>
        <a:lstStyle/>
        <a:p>
          <a:pPr>
            <a:lnSpc>
              <a:spcPct val="100000"/>
            </a:lnSpc>
          </a:pPr>
          <a:endParaRPr lang="en-US" sz="1600">
            <a:solidFill>
              <a:schemeClr val="bg1"/>
            </a:solidFill>
          </a:endParaRPr>
        </a:p>
      </dgm:t>
    </dgm:pt>
    <dgm:pt modelId="{EDCD6130-E7C7-46D9-9543-455D5A41EFCC}">
      <dgm:prSet custT="1"/>
      <dgm:spPr/>
      <dgm:t>
        <a:bodyPr/>
        <a:lstStyle/>
        <a:p>
          <a:pPr>
            <a:lnSpc>
              <a:spcPct val="100000"/>
            </a:lnSpc>
          </a:pPr>
          <a:r>
            <a:rPr lang="en-US" sz="1600">
              <a:solidFill>
                <a:schemeClr val="bg1"/>
              </a:solidFill>
            </a:rPr>
            <a:t>∗	Specify input/output locations</a:t>
          </a:r>
        </a:p>
      </dgm:t>
    </dgm:pt>
    <dgm:pt modelId="{C53F3C9B-0A94-4661-972E-A35B6E6BB6E8}" type="parTrans" cxnId="{E9EA9369-9060-479B-AFA5-4793C4CF498D}">
      <dgm:prSet/>
      <dgm:spPr/>
      <dgm:t>
        <a:bodyPr/>
        <a:lstStyle/>
        <a:p>
          <a:pPr>
            <a:lnSpc>
              <a:spcPct val="100000"/>
            </a:lnSpc>
          </a:pPr>
          <a:endParaRPr lang="en-US" sz="1600">
            <a:solidFill>
              <a:schemeClr val="bg1"/>
            </a:solidFill>
          </a:endParaRPr>
        </a:p>
      </dgm:t>
    </dgm:pt>
    <dgm:pt modelId="{29F69130-8F1C-46EB-A6D0-8FAB0B4EFD5E}" type="sibTrans" cxnId="{E9EA9369-9060-479B-AFA5-4793C4CF498D}">
      <dgm:prSet/>
      <dgm:spPr/>
      <dgm:t>
        <a:bodyPr/>
        <a:lstStyle/>
        <a:p>
          <a:pPr>
            <a:lnSpc>
              <a:spcPct val="100000"/>
            </a:lnSpc>
          </a:pPr>
          <a:endParaRPr lang="en-US" sz="1600">
            <a:solidFill>
              <a:schemeClr val="bg1"/>
            </a:solidFill>
          </a:endParaRPr>
        </a:p>
      </dgm:t>
    </dgm:pt>
    <dgm:pt modelId="{45CC9B3E-6244-4A45-8AAE-58D7082D6985}">
      <dgm:prSet custT="1"/>
      <dgm:spPr/>
      <dgm:t>
        <a:bodyPr/>
        <a:lstStyle/>
        <a:p>
          <a:pPr>
            <a:lnSpc>
              <a:spcPct val="100000"/>
            </a:lnSpc>
          </a:pPr>
          <a:r>
            <a:rPr lang="en-US" sz="1600">
              <a:solidFill>
                <a:schemeClr val="bg1"/>
              </a:solidFill>
            </a:rPr>
            <a:t>∗	Supply map and reduce functions via implementations of appropriate interfaces and/or abstract classes</a:t>
          </a:r>
        </a:p>
      </dgm:t>
    </dgm:pt>
    <dgm:pt modelId="{A212CDB9-431F-422F-B045-C2B263776D0D}" type="parTrans" cxnId="{7CE5A929-D1E5-4AE8-B035-FC9EADD99917}">
      <dgm:prSet/>
      <dgm:spPr/>
      <dgm:t>
        <a:bodyPr/>
        <a:lstStyle/>
        <a:p>
          <a:pPr>
            <a:lnSpc>
              <a:spcPct val="100000"/>
            </a:lnSpc>
          </a:pPr>
          <a:endParaRPr lang="en-US" sz="1600">
            <a:solidFill>
              <a:schemeClr val="bg1"/>
            </a:solidFill>
          </a:endParaRPr>
        </a:p>
      </dgm:t>
    </dgm:pt>
    <dgm:pt modelId="{3CCCDB83-7936-48FD-BF36-B588CA53DBBC}" type="sibTrans" cxnId="{7CE5A929-D1E5-4AE8-B035-FC9EADD99917}">
      <dgm:prSet/>
      <dgm:spPr/>
      <dgm:t>
        <a:bodyPr/>
        <a:lstStyle/>
        <a:p>
          <a:pPr>
            <a:lnSpc>
              <a:spcPct val="100000"/>
            </a:lnSpc>
          </a:pPr>
          <a:endParaRPr lang="en-US" sz="1600">
            <a:solidFill>
              <a:schemeClr val="bg1"/>
            </a:solidFill>
          </a:endParaRPr>
        </a:p>
      </dgm:t>
    </dgm:pt>
    <dgm:pt modelId="{0942B3F5-60D9-4740-9588-FA6357464463}">
      <dgm:prSet custT="1"/>
      <dgm:spPr/>
      <dgm:t>
        <a:bodyPr/>
        <a:lstStyle/>
        <a:p>
          <a:pPr>
            <a:lnSpc>
              <a:spcPct val="100000"/>
            </a:lnSpc>
          </a:pPr>
          <a:r>
            <a:rPr lang="en-US" sz="1600">
              <a:solidFill>
                <a:schemeClr val="bg1"/>
              </a:solidFill>
            </a:rPr>
            <a:t>∗	If </a:t>
          </a:r>
          <a:r>
            <a:rPr lang="en-US" sz="1600" i="1">
              <a:solidFill>
                <a:schemeClr val="bg1"/>
              </a:solidFill>
            </a:rPr>
            <a:t>map </a:t>
          </a:r>
          <a:r>
            <a:rPr lang="en-US" sz="1600">
              <a:solidFill>
                <a:schemeClr val="bg1"/>
              </a:solidFill>
            </a:rPr>
            <a:t>worker fails any time before </a:t>
          </a:r>
          <a:r>
            <a:rPr lang="en-US" sz="1600" i="1">
              <a:solidFill>
                <a:schemeClr val="bg1"/>
              </a:solidFill>
            </a:rPr>
            <a:t>reduce </a:t>
          </a:r>
          <a:r>
            <a:rPr lang="en-US" sz="1600">
              <a:solidFill>
                <a:schemeClr val="bg1"/>
              </a:solidFill>
            </a:rPr>
            <a:t>finishes, task must be</a:t>
          </a:r>
        </a:p>
      </dgm:t>
    </dgm:pt>
    <dgm:pt modelId="{A79CABBE-B500-4318-82EA-DFF4011843FE}" type="parTrans" cxnId="{F48E0F37-22D9-43B0-8C1D-FD79F58861D8}">
      <dgm:prSet/>
      <dgm:spPr/>
      <dgm:t>
        <a:bodyPr/>
        <a:lstStyle/>
        <a:p>
          <a:pPr>
            <a:lnSpc>
              <a:spcPct val="100000"/>
            </a:lnSpc>
          </a:pPr>
          <a:endParaRPr lang="en-US" sz="1600">
            <a:solidFill>
              <a:schemeClr val="bg1"/>
            </a:solidFill>
          </a:endParaRPr>
        </a:p>
      </dgm:t>
    </dgm:pt>
    <dgm:pt modelId="{6F1EBA89-A860-4FC3-ACFA-EB13D851C295}" type="sibTrans" cxnId="{F48E0F37-22D9-43B0-8C1D-FD79F58861D8}">
      <dgm:prSet custT="1"/>
      <dgm:spPr/>
      <dgm:t>
        <a:bodyPr/>
        <a:lstStyle/>
        <a:p>
          <a:pPr>
            <a:lnSpc>
              <a:spcPct val="100000"/>
            </a:lnSpc>
          </a:pPr>
          <a:endParaRPr lang="en-US" sz="1600">
            <a:solidFill>
              <a:schemeClr val="bg1"/>
            </a:solidFill>
          </a:endParaRPr>
        </a:p>
      </dgm:t>
    </dgm:pt>
    <dgm:pt modelId="{00D48940-9BA4-41C4-AB0C-E2B473449562}">
      <dgm:prSet custT="1"/>
      <dgm:spPr/>
      <dgm:t>
        <a:bodyPr/>
        <a:lstStyle/>
        <a:p>
          <a:pPr>
            <a:lnSpc>
              <a:spcPct val="100000"/>
            </a:lnSpc>
          </a:pPr>
          <a:r>
            <a:rPr lang="en-US" sz="1600">
              <a:solidFill>
                <a:schemeClr val="bg1"/>
              </a:solidFill>
            </a:rPr>
            <a:t>completely rerun</a:t>
          </a:r>
        </a:p>
      </dgm:t>
    </dgm:pt>
    <dgm:pt modelId="{EEB2205A-80FD-491C-A9CE-DA1D1FB15D0F}" type="parTrans" cxnId="{1FCDE562-355C-46B3-B824-0F8B9C3B5F18}">
      <dgm:prSet/>
      <dgm:spPr/>
      <dgm:t>
        <a:bodyPr/>
        <a:lstStyle/>
        <a:p>
          <a:pPr>
            <a:lnSpc>
              <a:spcPct val="100000"/>
            </a:lnSpc>
          </a:pPr>
          <a:endParaRPr lang="en-US" sz="1600">
            <a:solidFill>
              <a:schemeClr val="bg1"/>
            </a:solidFill>
          </a:endParaRPr>
        </a:p>
      </dgm:t>
    </dgm:pt>
    <dgm:pt modelId="{12768EA9-0A00-4C39-BE70-6592DD8DF737}" type="sibTrans" cxnId="{1FCDE562-355C-46B3-B824-0F8B9C3B5F18}">
      <dgm:prSet/>
      <dgm:spPr/>
      <dgm:t>
        <a:bodyPr/>
        <a:lstStyle/>
        <a:p>
          <a:pPr>
            <a:lnSpc>
              <a:spcPct val="100000"/>
            </a:lnSpc>
          </a:pPr>
          <a:endParaRPr lang="en-US" sz="1600">
            <a:solidFill>
              <a:schemeClr val="bg1"/>
            </a:solidFill>
          </a:endParaRPr>
        </a:p>
      </dgm:t>
    </dgm:pt>
    <dgm:pt modelId="{74CD2191-D8FB-4CBF-97C7-C60BAAB4DDEE}">
      <dgm:prSet custT="1"/>
      <dgm:spPr/>
      <dgm:t>
        <a:bodyPr/>
        <a:lstStyle/>
        <a:p>
          <a:pPr>
            <a:lnSpc>
              <a:spcPct val="100000"/>
            </a:lnSpc>
          </a:pPr>
          <a:r>
            <a:rPr lang="en-US" sz="1600">
              <a:solidFill>
                <a:schemeClr val="bg1"/>
              </a:solidFill>
            </a:rPr>
            <a:t>∗	Master must communicate locations of intermediate files</a:t>
          </a:r>
        </a:p>
      </dgm:t>
    </dgm:pt>
    <dgm:pt modelId="{318DD08D-DD0A-402E-8889-7E9843332E76}" type="parTrans" cxnId="{C59A0EC4-AED4-4117-903A-1BAB4BD485B1}">
      <dgm:prSet/>
      <dgm:spPr/>
      <dgm:t>
        <a:bodyPr/>
        <a:lstStyle/>
        <a:p>
          <a:pPr>
            <a:lnSpc>
              <a:spcPct val="100000"/>
            </a:lnSpc>
          </a:pPr>
          <a:endParaRPr lang="en-US" sz="1600">
            <a:solidFill>
              <a:schemeClr val="bg1"/>
            </a:solidFill>
          </a:endParaRPr>
        </a:p>
      </dgm:t>
    </dgm:pt>
    <dgm:pt modelId="{164F046A-BC11-48F8-9692-CD2021EED117}" type="sibTrans" cxnId="{C59A0EC4-AED4-4117-903A-1BAB4BD485B1}">
      <dgm:prSet custT="1"/>
      <dgm:spPr/>
      <dgm:t>
        <a:bodyPr/>
        <a:lstStyle/>
        <a:p>
          <a:pPr>
            <a:lnSpc>
              <a:spcPct val="100000"/>
            </a:lnSpc>
          </a:pPr>
          <a:endParaRPr lang="en-US" sz="1600">
            <a:solidFill>
              <a:schemeClr val="bg1"/>
            </a:solidFill>
          </a:endParaRPr>
        </a:p>
      </dgm:t>
    </dgm:pt>
    <dgm:pt modelId="{8B54D93D-EAD6-4E3A-B223-ACBECD13A497}">
      <dgm:prSet custT="1"/>
      <dgm:spPr/>
      <dgm:t>
        <a:bodyPr/>
        <a:lstStyle/>
        <a:p>
          <a:pPr>
            <a:lnSpc>
              <a:spcPct val="100000"/>
            </a:lnSpc>
          </a:pPr>
          <a:r>
            <a:rPr lang="en-US" sz="1600">
              <a:solidFill>
                <a:schemeClr val="bg1"/>
              </a:solidFill>
            </a:rPr>
            <a:t>∗	MapReduce library does most of the hard work for us!</a:t>
          </a:r>
        </a:p>
      </dgm:t>
    </dgm:pt>
    <dgm:pt modelId="{07F0BE9E-CAE9-4A5C-9BA6-76302175D792}" type="parTrans" cxnId="{063D680E-43C7-4414-A011-076CC5865D4E}">
      <dgm:prSet/>
      <dgm:spPr/>
      <dgm:t>
        <a:bodyPr/>
        <a:lstStyle/>
        <a:p>
          <a:pPr>
            <a:lnSpc>
              <a:spcPct val="100000"/>
            </a:lnSpc>
          </a:pPr>
          <a:endParaRPr lang="en-US" sz="1600">
            <a:solidFill>
              <a:schemeClr val="bg1"/>
            </a:solidFill>
          </a:endParaRPr>
        </a:p>
      </dgm:t>
    </dgm:pt>
    <dgm:pt modelId="{15A8E089-0146-4824-990C-AED4FA468FD6}" type="sibTrans" cxnId="{063D680E-43C7-4414-A011-076CC5865D4E}">
      <dgm:prSet/>
      <dgm:spPr/>
      <dgm:t>
        <a:bodyPr/>
        <a:lstStyle/>
        <a:p>
          <a:pPr>
            <a:lnSpc>
              <a:spcPct val="100000"/>
            </a:lnSpc>
          </a:pPr>
          <a:endParaRPr lang="en-US" sz="1600">
            <a:solidFill>
              <a:schemeClr val="bg1"/>
            </a:solidFill>
          </a:endParaRPr>
        </a:p>
      </dgm:t>
    </dgm:pt>
    <dgm:pt modelId="{8FEC31C6-70FF-C442-ACE4-43656975826E}" type="pres">
      <dgm:prSet presAssocID="{423A9BC4-A77C-45AE-9213-0D93FA743372}" presName="Name0" presStyleCnt="0">
        <dgm:presLayoutVars>
          <dgm:dir/>
          <dgm:resizeHandles val="exact"/>
        </dgm:presLayoutVars>
      </dgm:prSet>
      <dgm:spPr/>
    </dgm:pt>
    <dgm:pt modelId="{79966D7F-EBDA-534E-8430-B802EE316940}" type="pres">
      <dgm:prSet presAssocID="{3C71C336-C807-4FAE-A0E5-D76EBCFCA468}" presName="node" presStyleLbl="node1" presStyleIdx="0" presStyleCnt="5">
        <dgm:presLayoutVars>
          <dgm:bulletEnabled val="1"/>
        </dgm:presLayoutVars>
      </dgm:prSet>
      <dgm:spPr/>
    </dgm:pt>
    <dgm:pt modelId="{C33704A1-A47E-DE4C-8259-60E0C391AB82}" type="pres">
      <dgm:prSet presAssocID="{0DD61778-1AAB-45F8-84CB-E364B9D83919}" presName="sibTrans" presStyleLbl="sibTrans1D1" presStyleIdx="0" presStyleCnt="4"/>
      <dgm:spPr/>
    </dgm:pt>
    <dgm:pt modelId="{B89A9592-98FB-1740-9847-5AA85F42D44C}" type="pres">
      <dgm:prSet presAssocID="{0DD61778-1AAB-45F8-84CB-E364B9D83919}" presName="connectorText" presStyleLbl="sibTrans1D1" presStyleIdx="0" presStyleCnt="4"/>
      <dgm:spPr/>
    </dgm:pt>
    <dgm:pt modelId="{15CB671D-6EB4-0547-9D7D-999FEBF926E3}" type="pres">
      <dgm:prSet presAssocID="{1B1BBCAA-AB59-4C50-8474-65DF47E0A620}" presName="node" presStyleLbl="node1" presStyleIdx="1" presStyleCnt="5">
        <dgm:presLayoutVars>
          <dgm:bulletEnabled val="1"/>
        </dgm:presLayoutVars>
      </dgm:prSet>
      <dgm:spPr/>
    </dgm:pt>
    <dgm:pt modelId="{E8DE8397-4D0E-F241-97DF-3B65A35EAD2F}" type="pres">
      <dgm:prSet presAssocID="{62A8570D-3717-408B-992B-86FD5BCDE347}" presName="sibTrans" presStyleLbl="sibTrans1D1" presStyleIdx="1" presStyleCnt="4"/>
      <dgm:spPr/>
    </dgm:pt>
    <dgm:pt modelId="{C69C4A50-0FEF-1A47-A60A-597BDD01EF13}" type="pres">
      <dgm:prSet presAssocID="{62A8570D-3717-408B-992B-86FD5BCDE347}" presName="connectorText" presStyleLbl="sibTrans1D1" presStyleIdx="1" presStyleCnt="4"/>
      <dgm:spPr/>
    </dgm:pt>
    <dgm:pt modelId="{717FE244-7917-BC4E-984F-DD8B79CF19D4}" type="pres">
      <dgm:prSet presAssocID="{0942B3F5-60D9-4740-9588-FA6357464463}" presName="node" presStyleLbl="node1" presStyleIdx="2" presStyleCnt="5">
        <dgm:presLayoutVars>
          <dgm:bulletEnabled val="1"/>
        </dgm:presLayoutVars>
      </dgm:prSet>
      <dgm:spPr/>
    </dgm:pt>
    <dgm:pt modelId="{0F3C67A5-E580-A043-8D95-FF085EE1EC01}" type="pres">
      <dgm:prSet presAssocID="{6F1EBA89-A860-4FC3-ACFA-EB13D851C295}" presName="sibTrans" presStyleLbl="sibTrans1D1" presStyleIdx="2" presStyleCnt="4"/>
      <dgm:spPr/>
    </dgm:pt>
    <dgm:pt modelId="{45C1E1F6-06BF-FD4E-879C-6ED47823F45A}" type="pres">
      <dgm:prSet presAssocID="{6F1EBA89-A860-4FC3-ACFA-EB13D851C295}" presName="connectorText" presStyleLbl="sibTrans1D1" presStyleIdx="2" presStyleCnt="4"/>
      <dgm:spPr/>
    </dgm:pt>
    <dgm:pt modelId="{066C7B45-1FC1-214F-B6ED-DC95A277BFC1}" type="pres">
      <dgm:prSet presAssocID="{74CD2191-D8FB-4CBF-97C7-C60BAAB4DDEE}" presName="node" presStyleLbl="node1" presStyleIdx="3" presStyleCnt="5">
        <dgm:presLayoutVars>
          <dgm:bulletEnabled val="1"/>
        </dgm:presLayoutVars>
      </dgm:prSet>
      <dgm:spPr/>
    </dgm:pt>
    <dgm:pt modelId="{9AEBC51A-68C3-224E-AB6E-3CD28E953E2E}" type="pres">
      <dgm:prSet presAssocID="{164F046A-BC11-48F8-9692-CD2021EED117}" presName="sibTrans" presStyleLbl="sibTrans1D1" presStyleIdx="3" presStyleCnt="4"/>
      <dgm:spPr/>
    </dgm:pt>
    <dgm:pt modelId="{31D0760E-AD44-4E45-A2B4-286715C7AB59}" type="pres">
      <dgm:prSet presAssocID="{164F046A-BC11-48F8-9692-CD2021EED117}" presName="connectorText" presStyleLbl="sibTrans1D1" presStyleIdx="3" presStyleCnt="4"/>
      <dgm:spPr/>
    </dgm:pt>
    <dgm:pt modelId="{FCF2F951-C00B-BE42-9FA5-68F2E252B5A2}" type="pres">
      <dgm:prSet presAssocID="{8B54D93D-EAD6-4E3A-B223-ACBECD13A497}" presName="node" presStyleLbl="node1" presStyleIdx="4" presStyleCnt="5">
        <dgm:presLayoutVars>
          <dgm:bulletEnabled val="1"/>
        </dgm:presLayoutVars>
      </dgm:prSet>
      <dgm:spPr/>
    </dgm:pt>
  </dgm:ptLst>
  <dgm:cxnLst>
    <dgm:cxn modelId="{01986B01-EB0D-4D4F-A3ED-682B61DB72AF}" type="presOf" srcId="{0DD61778-1AAB-45F8-84CB-E364B9D83919}" destId="{B89A9592-98FB-1740-9847-5AA85F42D44C}" srcOrd="1" destOrd="0" presId="urn:microsoft.com/office/officeart/2016/7/layout/RepeatingBendingProcessNew"/>
    <dgm:cxn modelId="{063D680E-43C7-4414-A011-076CC5865D4E}" srcId="{423A9BC4-A77C-45AE-9213-0D93FA743372}" destId="{8B54D93D-EAD6-4E3A-B223-ACBECD13A497}" srcOrd="4" destOrd="0" parTransId="{07F0BE9E-CAE9-4A5C-9BA6-76302175D792}" sibTransId="{15A8E089-0146-4824-990C-AED4FA468FD6}"/>
    <dgm:cxn modelId="{A8C22612-76DB-7341-9A63-B9BC98CE3C51}" type="presOf" srcId="{3C71C336-C807-4FAE-A0E5-D76EBCFCA468}" destId="{79966D7F-EBDA-534E-8430-B802EE316940}" srcOrd="0" destOrd="0" presId="urn:microsoft.com/office/officeart/2016/7/layout/RepeatingBendingProcessNew"/>
    <dgm:cxn modelId="{7CE5A929-D1E5-4AE8-B035-FC9EADD99917}" srcId="{EDCD6130-E7C7-46D9-9543-455D5A41EFCC}" destId="{45CC9B3E-6244-4A45-8AAE-58D7082D6985}" srcOrd="0" destOrd="0" parTransId="{A212CDB9-431F-422F-B045-C2B263776D0D}" sibTransId="{3CCCDB83-7936-48FD-BF36-B588CA53DBBC}"/>
    <dgm:cxn modelId="{B1AE742F-1B56-6D4D-8342-0047FF52E726}" type="presOf" srcId="{EDCD6130-E7C7-46D9-9543-455D5A41EFCC}" destId="{15CB671D-6EB4-0547-9D7D-999FEBF926E3}" srcOrd="0" destOrd="1" presId="urn:microsoft.com/office/officeart/2016/7/layout/RepeatingBendingProcessNew"/>
    <dgm:cxn modelId="{F48E0F37-22D9-43B0-8C1D-FD79F58861D8}" srcId="{423A9BC4-A77C-45AE-9213-0D93FA743372}" destId="{0942B3F5-60D9-4740-9588-FA6357464463}" srcOrd="2" destOrd="0" parTransId="{A79CABBE-B500-4318-82EA-DFF4011843FE}" sibTransId="{6F1EBA89-A860-4FC3-ACFA-EB13D851C295}"/>
    <dgm:cxn modelId="{67918738-8ABD-594D-A002-2E69228AEF0E}" type="presOf" srcId="{164F046A-BC11-48F8-9692-CD2021EED117}" destId="{9AEBC51A-68C3-224E-AB6E-3CD28E953E2E}" srcOrd="0" destOrd="0" presId="urn:microsoft.com/office/officeart/2016/7/layout/RepeatingBendingProcessNew"/>
    <dgm:cxn modelId="{EFD74A3E-CAD9-2D41-89C7-8E27DDB857A7}" type="presOf" srcId="{0942B3F5-60D9-4740-9588-FA6357464463}" destId="{717FE244-7917-BC4E-984F-DD8B79CF19D4}" srcOrd="0" destOrd="0" presId="urn:microsoft.com/office/officeart/2016/7/layout/RepeatingBendingProcessNew"/>
    <dgm:cxn modelId="{3EFB8540-1EF1-4D4D-9995-F5D7D47B46FD}" type="presOf" srcId="{74CD2191-D8FB-4CBF-97C7-C60BAAB4DDEE}" destId="{066C7B45-1FC1-214F-B6ED-DC95A277BFC1}" srcOrd="0" destOrd="0" presId="urn:microsoft.com/office/officeart/2016/7/layout/RepeatingBendingProcessNew"/>
    <dgm:cxn modelId="{F8205B41-F221-EA49-A006-66E569B2729F}" type="presOf" srcId="{62A8570D-3717-408B-992B-86FD5BCDE347}" destId="{E8DE8397-4D0E-F241-97DF-3B65A35EAD2F}" srcOrd="0" destOrd="0" presId="urn:microsoft.com/office/officeart/2016/7/layout/RepeatingBendingProcessNew"/>
    <dgm:cxn modelId="{5F036643-338E-416C-9CCF-723C5FBDD6DB}" srcId="{423A9BC4-A77C-45AE-9213-0D93FA743372}" destId="{1B1BBCAA-AB59-4C50-8474-65DF47E0A620}" srcOrd="1" destOrd="0" parTransId="{E55C91AA-8D27-4F3D-887F-098843DAA773}" sibTransId="{62A8570D-3717-408B-992B-86FD5BCDE347}"/>
    <dgm:cxn modelId="{3D0F5F47-B37A-6A40-A456-25121D34D644}" type="presOf" srcId="{62A8570D-3717-408B-992B-86FD5BCDE347}" destId="{C69C4A50-0FEF-1A47-A60A-597BDD01EF13}" srcOrd="1" destOrd="0" presId="urn:microsoft.com/office/officeart/2016/7/layout/RepeatingBendingProcessNew"/>
    <dgm:cxn modelId="{5B4C634D-430B-F345-B4FE-615BB7B8FF3E}" type="presOf" srcId="{1B1BBCAA-AB59-4C50-8474-65DF47E0A620}" destId="{15CB671D-6EB4-0547-9D7D-999FEBF926E3}" srcOrd="0" destOrd="0" presId="urn:microsoft.com/office/officeart/2016/7/layout/RepeatingBendingProcessNew"/>
    <dgm:cxn modelId="{3511CB4D-AF13-DC4E-BDC4-EA9E25A75F49}" type="presOf" srcId="{164F046A-BC11-48F8-9692-CD2021EED117}" destId="{31D0760E-AD44-4E45-A2B4-286715C7AB59}" srcOrd="1" destOrd="0" presId="urn:microsoft.com/office/officeart/2016/7/layout/RepeatingBendingProcessNew"/>
    <dgm:cxn modelId="{42664B4F-ED58-214D-A22E-479199734ABF}" type="presOf" srcId="{6F1EBA89-A860-4FC3-ACFA-EB13D851C295}" destId="{45C1E1F6-06BF-FD4E-879C-6ED47823F45A}" srcOrd="1" destOrd="0" presId="urn:microsoft.com/office/officeart/2016/7/layout/RepeatingBendingProcessNew"/>
    <dgm:cxn modelId="{1FCDE562-355C-46B3-B824-0F8B9C3B5F18}" srcId="{0942B3F5-60D9-4740-9588-FA6357464463}" destId="{00D48940-9BA4-41C4-AB0C-E2B473449562}" srcOrd="0" destOrd="0" parTransId="{EEB2205A-80FD-491C-A9CE-DA1D1FB15D0F}" sibTransId="{12768EA9-0A00-4C39-BE70-6592DD8DF737}"/>
    <dgm:cxn modelId="{E9EA9369-9060-479B-AFA5-4793C4CF498D}" srcId="{1B1BBCAA-AB59-4C50-8474-65DF47E0A620}" destId="{EDCD6130-E7C7-46D9-9543-455D5A41EFCC}" srcOrd="0" destOrd="0" parTransId="{C53F3C9B-0A94-4661-972E-A35B6E6BB6E8}" sibTransId="{29F69130-8F1C-46EB-A6D0-8FAB0B4EFD5E}"/>
    <dgm:cxn modelId="{32056A6A-E6C3-3D46-8B12-A9BC751E4B32}" type="presOf" srcId="{0DD61778-1AAB-45F8-84CB-E364B9D83919}" destId="{C33704A1-A47E-DE4C-8259-60E0C391AB82}" srcOrd="0" destOrd="0" presId="urn:microsoft.com/office/officeart/2016/7/layout/RepeatingBendingProcessNew"/>
    <dgm:cxn modelId="{741C566F-AC3A-4744-81C1-14435D5424BF}" type="presOf" srcId="{423A9BC4-A77C-45AE-9213-0D93FA743372}" destId="{8FEC31C6-70FF-C442-ACE4-43656975826E}" srcOrd="0" destOrd="0" presId="urn:microsoft.com/office/officeart/2016/7/layout/RepeatingBendingProcessNew"/>
    <dgm:cxn modelId="{11FC0E80-E964-42A5-AD67-2EF3F8A2041E}" srcId="{423A9BC4-A77C-45AE-9213-0D93FA743372}" destId="{3C71C336-C807-4FAE-A0E5-D76EBCFCA468}" srcOrd="0" destOrd="0" parTransId="{7C1A13D8-5D03-47CD-BD49-49CDB528EB3D}" sibTransId="{0DD61778-1AAB-45F8-84CB-E364B9D83919}"/>
    <dgm:cxn modelId="{EC7B11A5-8441-944D-94B9-6EE2982D5EBC}" type="presOf" srcId="{6F1EBA89-A860-4FC3-ACFA-EB13D851C295}" destId="{0F3C67A5-E580-A043-8D95-FF085EE1EC01}" srcOrd="0" destOrd="0" presId="urn:microsoft.com/office/officeart/2016/7/layout/RepeatingBendingProcessNew"/>
    <dgm:cxn modelId="{966E3FA7-8BF5-5F46-AD92-1E595219A95F}" type="presOf" srcId="{00D48940-9BA4-41C4-AB0C-E2B473449562}" destId="{717FE244-7917-BC4E-984F-DD8B79CF19D4}" srcOrd="0" destOrd="1" presId="urn:microsoft.com/office/officeart/2016/7/layout/RepeatingBendingProcessNew"/>
    <dgm:cxn modelId="{E3F1D5BB-E9A1-0F46-802F-9F071C6E720E}" type="presOf" srcId="{45CC9B3E-6244-4A45-8AAE-58D7082D6985}" destId="{15CB671D-6EB4-0547-9D7D-999FEBF926E3}" srcOrd="0" destOrd="2" presId="urn:microsoft.com/office/officeart/2016/7/layout/RepeatingBendingProcessNew"/>
    <dgm:cxn modelId="{C59A0EC4-AED4-4117-903A-1BAB4BD485B1}" srcId="{423A9BC4-A77C-45AE-9213-0D93FA743372}" destId="{74CD2191-D8FB-4CBF-97C7-C60BAAB4DDEE}" srcOrd="3" destOrd="0" parTransId="{318DD08D-DD0A-402E-8889-7E9843332E76}" sibTransId="{164F046A-BC11-48F8-9692-CD2021EED117}"/>
    <dgm:cxn modelId="{CB08B5F6-69AD-E941-B2FC-D069A0994297}" type="presOf" srcId="{8B54D93D-EAD6-4E3A-B223-ACBECD13A497}" destId="{FCF2F951-C00B-BE42-9FA5-68F2E252B5A2}" srcOrd="0" destOrd="0" presId="urn:microsoft.com/office/officeart/2016/7/layout/RepeatingBendingProcessNew"/>
    <dgm:cxn modelId="{D802A6A7-1511-1742-AB9F-CE28CB541516}" type="presParOf" srcId="{8FEC31C6-70FF-C442-ACE4-43656975826E}" destId="{79966D7F-EBDA-534E-8430-B802EE316940}" srcOrd="0" destOrd="0" presId="urn:microsoft.com/office/officeart/2016/7/layout/RepeatingBendingProcessNew"/>
    <dgm:cxn modelId="{056C1A1C-63B8-1B41-84A9-B9503DCB500B}" type="presParOf" srcId="{8FEC31C6-70FF-C442-ACE4-43656975826E}" destId="{C33704A1-A47E-DE4C-8259-60E0C391AB82}" srcOrd="1" destOrd="0" presId="urn:microsoft.com/office/officeart/2016/7/layout/RepeatingBendingProcessNew"/>
    <dgm:cxn modelId="{8C2AF8D0-1056-4349-833C-7566719996E0}" type="presParOf" srcId="{C33704A1-A47E-DE4C-8259-60E0C391AB82}" destId="{B89A9592-98FB-1740-9847-5AA85F42D44C}" srcOrd="0" destOrd="0" presId="urn:microsoft.com/office/officeart/2016/7/layout/RepeatingBendingProcessNew"/>
    <dgm:cxn modelId="{4F837B56-9022-6347-9BDC-6962DA43CB29}" type="presParOf" srcId="{8FEC31C6-70FF-C442-ACE4-43656975826E}" destId="{15CB671D-6EB4-0547-9D7D-999FEBF926E3}" srcOrd="2" destOrd="0" presId="urn:microsoft.com/office/officeart/2016/7/layout/RepeatingBendingProcessNew"/>
    <dgm:cxn modelId="{55024DDB-FFBE-B74C-876A-2585FC9F9408}" type="presParOf" srcId="{8FEC31C6-70FF-C442-ACE4-43656975826E}" destId="{E8DE8397-4D0E-F241-97DF-3B65A35EAD2F}" srcOrd="3" destOrd="0" presId="urn:microsoft.com/office/officeart/2016/7/layout/RepeatingBendingProcessNew"/>
    <dgm:cxn modelId="{F6E64089-A13D-E946-A0BF-54DA03FE0915}" type="presParOf" srcId="{E8DE8397-4D0E-F241-97DF-3B65A35EAD2F}" destId="{C69C4A50-0FEF-1A47-A60A-597BDD01EF13}" srcOrd="0" destOrd="0" presId="urn:microsoft.com/office/officeart/2016/7/layout/RepeatingBendingProcessNew"/>
    <dgm:cxn modelId="{4C297DB8-18B3-C249-AF3F-C7B987C15707}" type="presParOf" srcId="{8FEC31C6-70FF-C442-ACE4-43656975826E}" destId="{717FE244-7917-BC4E-984F-DD8B79CF19D4}" srcOrd="4" destOrd="0" presId="urn:microsoft.com/office/officeart/2016/7/layout/RepeatingBendingProcessNew"/>
    <dgm:cxn modelId="{B74EAC9E-8DA7-7543-84E4-C5912B0C51E0}" type="presParOf" srcId="{8FEC31C6-70FF-C442-ACE4-43656975826E}" destId="{0F3C67A5-E580-A043-8D95-FF085EE1EC01}" srcOrd="5" destOrd="0" presId="urn:microsoft.com/office/officeart/2016/7/layout/RepeatingBendingProcessNew"/>
    <dgm:cxn modelId="{B0AE52FA-1449-3740-A75E-BB422A054AB8}" type="presParOf" srcId="{0F3C67A5-E580-A043-8D95-FF085EE1EC01}" destId="{45C1E1F6-06BF-FD4E-879C-6ED47823F45A}" srcOrd="0" destOrd="0" presId="urn:microsoft.com/office/officeart/2016/7/layout/RepeatingBendingProcessNew"/>
    <dgm:cxn modelId="{8F1E1760-81D2-CA43-A3F7-E0F1DF20A546}" type="presParOf" srcId="{8FEC31C6-70FF-C442-ACE4-43656975826E}" destId="{066C7B45-1FC1-214F-B6ED-DC95A277BFC1}" srcOrd="6" destOrd="0" presId="urn:microsoft.com/office/officeart/2016/7/layout/RepeatingBendingProcessNew"/>
    <dgm:cxn modelId="{00C61104-4F06-4447-8313-C4CB01E9D3CF}" type="presParOf" srcId="{8FEC31C6-70FF-C442-ACE4-43656975826E}" destId="{9AEBC51A-68C3-224E-AB6E-3CD28E953E2E}" srcOrd="7" destOrd="0" presId="urn:microsoft.com/office/officeart/2016/7/layout/RepeatingBendingProcessNew"/>
    <dgm:cxn modelId="{25529B57-3590-3F43-8C28-2062A638C0DA}" type="presParOf" srcId="{9AEBC51A-68C3-224E-AB6E-3CD28E953E2E}" destId="{31D0760E-AD44-4E45-A2B4-286715C7AB59}" srcOrd="0" destOrd="0" presId="urn:microsoft.com/office/officeart/2016/7/layout/RepeatingBendingProcessNew"/>
    <dgm:cxn modelId="{DCCBBCF5-9FC7-3E4B-A8AB-E71E0D44E0AE}" type="presParOf" srcId="{8FEC31C6-70FF-C442-ACE4-43656975826E}" destId="{FCF2F951-C00B-BE42-9FA5-68F2E252B5A2}" srcOrd="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47ECD52-743B-48D9-8172-0DE958656395}"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04D7F440-9D2A-42C3-8ABB-5275587A207D}">
      <dgm:prSet custT="1"/>
      <dgm:spPr/>
      <dgm:t>
        <a:bodyPr/>
        <a:lstStyle/>
        <a:p>
          <a:r>
            <a:rPr lang="en-US" sz="1800" dirty="0"/>
            <a:t>∗	Simplifies large-scale computations that fit this model</a:t>
          </a:r>
        </a:p>
      </dgm:t>
    </dgm:pt>
    <dgm:pt modelId="{BE061167-B513-466C-BABC-D46AE9B69804}" type="parTrans" cxnId="{0E2E334C-7DD1-46C8-91B5-52D9968E88FD}">
      <dgm:prSet/>
      <dgm:spPr/>
      <dgm:t>
        <a:bodyPr/>
        <a:lstStyle/>
        <a:p>
          <a:endParaRPr lang="en-US" sz="1800"/>
        </a:p>
      </dgm:t>
    </dgm:pt>
    <dgm:pt modelId="{A6698EB7-DA38-4870-BA5D-EDAB94CE24C8}" type="sibTrans" cxnId="{0E2E334C-7DD1-46C8-91B5-52D9968E88FD}">
      <dgm:prSet/>
      <dgm:spPr/>
      <dgm:t>
        <a:bodyPr/>
        <a:lstStyle/>
        <a:p>
          <a:endParaRPr lang="en-US" sz="1800"/>
        </a:p>
      </dgm:t>
    </dgm:pt>
    <dgm:pt modelId="{B8533007-AD02-4285-BFAA-322DFC482B75}">
      <dgm:prSet custT="1"/>
      <dgm:spPr/>
      <dgm:t>
        <a:bodyPr/>
        <a:lstStyle/>
        <a:p>
          <a:r>
            <a:rPr lang="en-US" sz="1800"/>
            <a:t>∗	Allows user to focus on the problem without worrying about details</a:t>
          </a:r>
        </a:p>
      </dgm:t>
    </dgm:pt>
    <dgm:pt modelId="{7475658C-98C6-4681-B097-4835E366754B}" type="parTrans" cxnId="{17F83898-70AC-4DD3-8ED5-E12EE1C4C333}">
      <dgm:prSet/>
      <dgm:spPr/>
      <dgm:t>
        <a:bodyPr/>
        <a:lstStyle/>
        <a:p>
          <a:endParaRPr lang="en-US" sz="1800"/>
        </a:p>
      </dgm:t>
    </dgm:pt>
    <dgm:pt modelId="{8289D532-0A42-4C02-9654-E4C8EBE1503C}" type="sibTrans" cxnId="{17F83898-70AC-4DD3-8ED5-E12EE1C4C333}">
      <dgm:prSet/>
      <dgm:spPr/>
      <dgm:t>
        <a:bodyPr/>
        <a:lstStyle/>
        <a:p>
          <a:endParaRPr lang="en-US" sz="1800"/>
        </a:p>
      </dgm:t>
    </dgm:pt>
    <dgm:pt modelId="{BB575315-B53C-4BEA-AAB5-70841CF81A17}">
      <dgm:prSet custT="1"/>
      <dgm:spPr/>
      <dgm:t>
        <a:bodyPr/>
        <a:lstStyle/>
        <a:p>
          <a:r>
            <a:rPr lang="en-US" sz="1800"/>
            <a:t>∗	Computer architecture not very important</a:t>
          </a:r>
        </a:p>
      </dgm:t>
    </dgm:pt>
    <dgm:pt modelId="{08DCA117-08AC-4852-BB35-DFD5C7363543}" type="parTrans" cxnId="{7AA7E26E-4DCB-4DFA-B67D-F73CFAEDA453}">
      <dgm:prSet/>
      <dgm:spPr/>
      <dgm:t>
        <a:bodyPr/>
        <a:lstStyle/>
        <a:p>
          <a:endParaRPr lang="en-US" sz="1800"/>
        </a:p>
      </dgm:t>
    </dgm:pt>
    <dgm:pt modelId="{AEA74E78-25E3-4B27-9169-0D46B249894E}" type="sibTrans" cxnId="{7AA7E26E-4DCB-4DFA-B67D-F73CFAEDA453}">
      <dgm:prSet/>
      <dgm:spPr/>
      <dgm:t>
        <a:bodyPr/>
        <a:lstStyle/>
        <a:p>
          <a:endParaRPr lang="en-US" sz="1800"/>
        </a:p>
      </dgm:t>
    </dgm:pt>
    <dgm:pt modelId="{8C7F7A33-26F2-4E9B-89B3-9D282EFCAC94}">
      <dgm:prSet custT="1"/>
      <dgm:spPr/>
      <dgm:t>
        <a:bodyPr/>
        <a:lstStyle/>
        <a:p>
          <a:r>
            <a:rPr lang="en-US" sz="1800"/>
            <a:t>∗	Portable model</a:t>
          </a:r>
        </a:p>
      </dgm:t>
    </dgm:pt>
    <dgm:pt modelId="{6E57866A-2283-4D50-A229-78AD91479A29}" type="parTrans" cxnId="{4DFE50A1-9ACB-400B-8065-62941E0516D9}">
      <dgm:prSet/>
      <dgm:spPr/>
      <dgm:t>
        <a:bodyPr/>
        <a:lstStyle/>
        <a:p>
          <a:endParaRPr lang="en-US" sz="1800"/>
        </a:p>
      </dgm:t>
    </dgm:pt>
    <dgm:pt modelId="{3E8E0178-0E07-4EFA-B9E4-A78B8970B880}" type="sibTrans" cxnId="{4DFE50A1-9ACB-400B-8065-62941E0516D9}">
      <dgm:prSet/>
      <dgm:spPr/>
      <dgm:t>
        <a:bodyPr/>
        <a:lstStyle/>
        <a:p>
          <a:endParaRPr lang="en-US" sz="1800"/>
        </a:p>
      </dgm:t>
    </dgm:pt>
    <dgm:pt modelId="{50641D0C-0D45-484E-948D-A0984F82D57F}">
      <dgm:prSet custT="1"/>
      <dgm:spPr/>
      <dgm:t>
        <a:bodyPr/>
        <a:lstStyle/>
        <a:p>
          <a:r>
            <a:rPr lang="en-US" sz="1800"/>
            <a:t>∗	Fault tolerant, reliable, and supports thousands of nodes and petabytes of data</a:t>
          </a:r>
        </a:p>
      </dgm:t>
    </dgm:pt>
    <dgm:pt modelId="{28B1BA52-1C66-40B2-9657-57F1F08702D7}" type="parTrans" cxnId="{DA2951D8-3615-4A85-B8CE-633788FEA22D}">
      <dgm:prSet/>
      <dgm:spPr/>
      <dgm:t>
        <a:bodyPr/>
        <a:lstStyle/>
        <a:p>
          <a:endParaRPr lang="en-US" sz="1800"/>
        </a:p>
      </dgm:t>
    </dgm:pt>
    <dgm:pt modelId="{FD55AF20-B8E9-4436-BFA6-32B77E5B55D6}" type="sibTrans" cxnId="{DA2951D8-3615-4A85-B8CE-633788FEA22D}">
      <dgm:prSet/>
      <dgm:spPr/>
      <dgm:t>
        <a:bodyPr/>
        <a:lstStyle/>
        <a:p>
          <a:endParaRPr lang="en-US" sz="1800"/>
        </a:p>
      </dgm:t>
    </dgm:pt>
    <dgm:pt modelId="{8C59BCC6-EA75-4C29-8E24-7372D8668F2F}">
      <dgm:prSet custT="1"/>
      <dgm:spPr/>
      <dgm:t>
        <a:bodyPr/>
        <a:lstStyle/>
        <a:p>
          <a:r>
            <a:rPr lang="en-US" sz="1800"/>
            <a:t>∗	If you can rewrite algorithms into Maps and Reduces, and your problem can be broken up into small pieces solvable in parallel, then Hadoop’s MapReduce is the way to go for a distributed problem-solving approach to large datasets</a:t>
          </a:r>
        </a:p>
      </dgm:t>
    </dgm:pt>
    <dgm:pt modelId="{F9956480-A909-40BF-9A58-DAC3724FF639}" type="parTrans" cxnId="{E4A6F301-DDA0-4CB8-B5AC-AE94C3AEDD57}">
      <dgm:prSet/>
      <dgm:spPr/>
      <dgm:t>
        <a:bodyPr/>
        <a:lstStyle/>
        <a:p>
          <a:endParaRPr lang="en-US" sz="1800"/>
        </a:p>
      </dgm:t>
    </dgm:pt>
    <dgm:pt modelId="{3E97564D-C7EC-4FD0-A106-E5B0A8333CFF}" type="sibTrans" cxnId="{E4A6F301-DDA0-4CB8-B5AC-AE94C3AEDD57}">
      <dgm:prSet/>
      <dgm:spPr/>
      <dgm:t>
        <a:bodyPr/>
        <a:lstStyle/>
        <a:p>
          <a:endParaRPr lang="en-US" sz="1800"/>
        </a:p>
      </dgm:t>
    </dgm:pt>
    <dgm:pt modelId="{583630FA-6890-2143-9B2A-7BA3FE7DFACF}" type="pres">
      <dgm:prSet presAssocID="{047ECD52-743B-48D9-8172-0DE958656395}" presName="linear" presStyleCnt="0">
        <dgm:presLayoutVars>
          <dgm:animLvl val="lvl"/>
          <dgm:resizeHandles val="exact"/>
        </dgm:presLayoutVars>
      </dgm:prSet>
      <dgm:spPr/>
    </dgm:pt>
    <dgm:pt modelId="{98332927-1F8A-EB42-9DA0-30DA0703E444}" type="pres">
      <dgm:prSet presAssocID="{04D7F440-9D2A-42C3-8ABB-5275587A207D}" presName="parentText" presStyleLbl="node1" presStyleIdx="0" presStyleCnt="5">
        <dgm:presLayoutVars>
          <dgm:chMax val="0"/>
          <dgm:bulletEnabled val="1"/>
        </dgm:presLayoutVars>
      </dgm:prSet>
      <dgm:spPr/>
    </dgm:pt>
    <dgm:pt modelId="{75220634-41F0-0947-BC15-E8A4C0651EBF}" type="pres">
      <dgm:prSet presAssocID="{A6698EB7-DA38-4870-BA5D-EDAB94CE24C8}" presName="spacer" presStyleCnt="0"/>
      <dgm:spPr/>
    </dgm:pt>
    <dgm:pt modelId="{D5E9B979-51D6-AB42-9F54-8EEF9D2351A4}" type="pres">
      <dgm:prSet presAssocID="{B8533007-AD02-4285-BFAA-322DFC482B75}" presName="parentText" presStyleLbl="node1" presStyleIdx="1" presStyleCnt="5">
        <dgm:presLayoutVars>
          <dgm:chMax val="0"/>
          <dgm:bulletEnabled val="1"/>
        </dgm:presLayoutVars>
      </dgm:prSet>
      <dgm:spPr/>
    </dgm:pt>
    <dgm:pt modelId="{75749D90-2CDE-5747-A824-AB14457EA628}" type="pres">
      <dgm:prSet presAssocID="{8289D532-0A42-4C02-9654-E4C8EBE1503C}" presName="spacer" presStyleCnt="0"/>
      <dgm:spPr/>
    </dgm:pt>
    <dgm:pt modelId="{D96138EE-1736-2748-B62E-04489D57B411}" type="pres">
      <dgm:prSet presAssocID="{BB575315-B53C-4BEA-AAB5-70841CF81A17}" presName="parentText" presStyleLbl="node1" presStyleIdx="2" presStyleCnt="5">
        <dgm:presLayoutVars>
          <dgm:chMax val="0"/>
          <dgm:bulletEnabled val="1"/>
        </dgm:presLayoutVars>
      </dgm:prSet>
      <dgm:spPr/>
    </dgm:pt>
    <dgm:pt modelId="{B64EACC2-14FF-5642-831E-D765E68C32D3}" type="pres">
      <dgm:prSet presAssocID="{BB575315-B53C-4BEA-AAB5-70841CF81A17}" presName="childText" presStyleLbl="revTx" presStyleIdx="0" presStyleCnt="1">
        <dgm:presLayoutVars>
          <dgm:bulletEnabled val="1"/>
        </dgm:presLayoutVars>
      </dgm:prSet>
      <dgm:spPr/>
    </dgm:pt>
    <dgm:pt modelId="{73C1503C-1530-B243-925D-2736ED941299}" type="pres">
      <dgm:prSet presAssocID="{50641D0C-0D45-484E-948D-A0984F82D57F}" presName="parentText" presStyleLbl="node1" presStyleIdx="3" presStyleCnt="5">
        <dgm:presLayoutVars>
          <dgm:chMax val="0"/>
          <dgm:bulletEnabled val="1"/>
        </dgm:presLayoutVars>
      </dgm:prSet>
      <dgm:spPr/>
    </dgm:pt>
    <dgm:pt modelId="{47FA0B32-83AA-8943-B215-00FF3121575F}" type="pres">
      <dgm:prSet presAssocID="{FD55AF20-B8E9-4436-BFA6-32B77E5B55D6}" presName="spacer" presStyleCnt="0"/>
      <dgm:spPr/>
    </dgm:pt>
    <dgm:pt modelId="{F4BD4EFC-4574-8940-A03A-1895B97811B7}" type="pres">
      <dgm:prSet presAssocID="{8C59BCC6-EA75-4C29-8E24-7372D8668F2F}" presName="parentText" presStyleLbl="node1" presStyleIdx="4" presStyleCnt="5">
        <dgm:presLayoutVars>
          <dgm:chMax val="0"/>
          <dgm:bulletEnabled val="1"/>
        </dgm:presLayoutVars>
      </dgm:prSet>
      <dgm:spPr/>
    </dgm:pt>
  </dgm:ptLst>
  <dgm:cxnLst>
    <dgm:cxn modelId="{E4A6F301-DDA0-4CB8-B5AC-AE94C3AEDD57}" srcId="{047ECD52-743B-48D9-8172-0DE958656395}" destId="{8C59BCC6-EA75-4C29-8E24-7372D8668F2F}" srcOrd="4" destOrd="0" parTransId="{F9956480-A909-40BF-9A58-DAC3724FF639}" sibTransId="{3E97564D-C7EC-4FD0-A106-E5B0A8333CFF}"/>
    <dgm:cxn modelId="{45A17807-E6CC-A24F-A71A-78A2936F0706}" type="presOf" srcId="{8C59BCC6-EA75-4C29-8E24-7372D8668F2F}" destId="{F4BD4EFC-4574-8940-A03A-1895B97811B7}" srcOrd="0" destOrd="0" presId="urn:microsoft.com/office/officeart/2005/8/layout/vList2"/>
    <dgm:cxn modelId="{EA2AC12D-C054-D34F-AAB9-5DE3B880088D}" type="presOf" srcId="{8C7F7A33-26F2-4E9B-89B3-9D282EFCAC94}" destId="{B64EACC2-14FF-5642-831E-D765E68C32D3}" srcOrd="0" destOrd="0" presId="urn:microsoft.com/office/officeart/2005/8/layout/vList2"/>
    <dgm:cxn modelId="{0E2E334C-7DD1-46C8-91B5-52D9968E88FD}" srcId="{047ECD52-743B-48D9-8172-0DE958656395}" destId="{04D7F440-9D2A-42C3-8ABB-5275587A207D}" srcOrd="0" destOrd="0" parTransId="{BE061167-B513-466C-BABC-D46AE9B69804}" sibTransId="{A6698EB7-DA38-4870-BA5D-EDAB94CE24C8}"/>
    <dgm:cxn modelId="{7AA7E26E-4DCB-4DFA-B67D-F73CFAEDA453}" srcId="{047ECD52-743B-48D9-8172-0DE958656395}" destId="{BB575315-B53C-4BEA-AAB5-70841CF81A17}" srcOrd="2" destOrd="0" parTransId="{08DCA117-08AC-4852-BB35-DFD5C7363543}" sibTransId="{AEA74E78-25E3-4B27-9169-0D46B249894E}"/>
    <dgm:cxn modelId="{0414968F-5D05-884A-8813-5C4A19316594}" type="presOf" srcId="{B8533007-AD02-4285-BFAA-322DFC482B75}" destId="{D5E9B979-51D6-AB42-9F54-8EEF9D2351A4}" srcOrd="0" destOrd="0" presId="urn:microsoft.com/office/officeart/2005/8/layout/vList2"/>
    <dgm:cxn modelId="{17F83898-70AC-4DD3-8ED5-E12EE1C4C333}" srcId="{047ECD52-743B-48D9-8172-0DE958656395}" destId="{B8533007-AD02-4285-BFAA-322DFC482B75}" srcOrd="1" destOrd="0" parTransId="{7475658C-98C6-4681-B097-4835E366754B}" sibTransId="{8289D532-0A42-4C02-9654-E4C8EBE1503C}"/>
    <dgm:cxn modelId="{4DFE50A1-9ACB-400B-8065-62941E0516D9}" srcId="{BB575315-B53C-4BEA-AAB5-70841CF81A17}" destId="{8C7F7A33-26F2-4E9B-89B3-9D282EFCAC94}" srcOrd="0" destOrd="0" parTransId="{6E57866A-2283-4D50-A229-78AD91479A29}" sibTransId="{3E8E0178-0E07-4EFA-B9E4-A78B8970B880}"/>
    <dgm:cxn modelId="{20D18DC7-F098-B74C-BCAB-F72EA0B48FF3}" type="presOf" srcId="{50641D0C-0D45-484E-948D-A0984F82D57F}" destId="{73C1503C-1530-B243-925D-2736ED941299}" srcOrd="0" destOrd="0" presId="urn:microsoft.com/office/officeart/2005/8/layout/vList2"/>
    <dgm:cxn modelId="{61811BC9-8559-7C45-82C6-2806B96BE4E6}" type="presOf" srcId="{047ECD52-743B-48D9-8172-0DE958656395}" destId="{583630FA-6890-2143-9B2A-7BA3FE7DFACF}" srcOrd="0" destOrd="0" presId="urn:microsoft.com/office/officeart/2005/8/layout/vList2"/>
    <dgm:cxn modelId="{2188F2D1-0713-8945-BD73-4B729628B6A3}" type="presOf" srcId="{04D7F440-9D2A-42C3-8ABB-5275587A207D}" destId="{98332927-1F8A-EB42-9DA0-30DA0703E444}" srcOrd="0" destOrd="0" presId="urn:microsoft.com/office/officeart/2005/8/layout/vList2"/>
    <dgm:cxn modelId="{E5123FD3-1914-1C42-94A1-6AECFBF640E2}" type="presOf" srcId="{BB575315-B53C-4BEA-AAB5-70841CF81A17}" destId="{D96138EE-1736-2748-B62E-04489D57B411}" srcOrd="0" destOrd="0" presId="urn:microsoft.com/office/officeart/2005/8/layout/vList2"/>
    <dgm:cxn modelId="{DA2951D8-3615-4A85-B8CE-633788FEA22D}" srcId="{047ECD52-743B-48D9-8172-0DE958656395}" destId="{50641D0C-0D45-484E-948D-A0984F82D57F}" srcOrd="3" destOrd="0" parTransId="{28B1BA52-1C66-40B2-9657-57F1F08702D7}" sibTransId="{FD55AF20-B8E9-4436-BFA6-32B77E5B55D6}"/>
    <dgm:cxn modelId="{22BB58ED-4974-3542-843F-C5FD45B0BD34}" type="presParOf" srcId="{583630FA-6890-2143-9B2A-7BA3FE7DFACF}" destId="{98332927-1F8A-EB42-9DA0-30DA0703E444}" srcOrd="0" destOrd="0" presId="urn:microsoft.com/office/officeart/2005/8/layout/vList2"/>
    <dgm:cxn modelId="{24FC3B3B-AFF3-F644-9CC4-8E9312AC9C17}" type="presParOf" srcId="{583630FA-6890-2143-9B2A-7BA3FE7DFACF}" destId="{75220634-41F0-0947-BC15-E8A4C0651EBF}" srcOrd="1" destOrd="0" presId="urn:microsoft.com/office/officeart/2005/8/layout/vList2"/>
    <dgm:cxn modelId="{85EF7C80-8CE7-944E-A3D0-CA45B8EC19E4}" type="presParOf" srcId="{583630FA-6890-2143-9B2A-7BA3FE7DFACF}" destId="{D5E9B979-51D6-AB42-9F54-8EEF9D2351A4}" srcOrd="2" destOrd="0" presId="urn:microsoft.com/office/officeart/2005/8/layout/vList2"/>
    <dgm:cxn modelId="{B1745DB6-970F-2F4D-B2F5-3CA126F0230C}" type="presParOf" srcId="{583630FA-6890-2143-9B2A-7BA3FE7DFACF}" destId="{75749D90-2CDE-5747-A824-AB14457EA628}" srcOrd="3" destOrd="0" presId="urn:microsoft.com/office/officeart/2005/8/layout/vList2"/>
    <dgm:cxn modelId="{E32D425F-5453-C041-9B61-3EAD980A731D}" type="presParOf" srcId="{583630FA-6890-2143-9B2A-7BA3FE7DFACF}" destId="{D96138EE-1736-2748-B62E-04489D57B411}" srcOrd="4" destOrd="0" presId="urn:microsoft.com/office/officeart/2005/8/layout/vList2"/>
    <dgm:cxn modelId="{61BE5606-014E-2D49-B811-8A7F0B62E5D4}" type="presParOf" srcId="{583630FA-6890-2143-9B2A-7BA3FE7DFACF}" destId="{B64EACC2-14FF-5642-831E-D765E68C32D3}" srcOrd="5" destOrd="0" presId="urn:microsoft.com/office/officeart/2005/8/layout/vList2"/>
    <dgm:cxn modelId="{6AF48095-4146-1F47-86F7-B4CCAEBA5111}" type="presParOf" srcId="{583630FA-6890-2143-9B2A-7BA3FE7DFACF}" destId="{73C1503C-1530-B243-925D-2736ED941299}" srcOrd="6" destOrd="0" presId="urn:microsoft.com/office/officeart/2005/8/layout/vList2"/>
    <dgm:cxn modelId="{661C39C0-9505-ED4F-9E46-C514E0281279}" type="presParOf" srcId="{583630FA-6890-2143-9B2A-7BA3FE7DFACF}" destId="{47FA0B32-83AA-8943-B215-00FF3121575F}" srcOrd="7" destOrd="0" presId="urn:microsoft.com/office/officeart/2005/8/layout/vList2"/>
    <dgm:cxn modelId="{80EF8492-39F8-9B49-8783-1FE4988E0FFF}" type="presParOf" srcId="{583630FA-6890-2143-9B2A-7BA3FE7DFACF}" destId="{F4BD4EFC-4574-8940-A03A-1895B97811B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1436047-B0C8-4E13-988B-D728232F46F4}" type="doc">
      <dgm:prSet loTypeId="urn:microsoft.com/office/officeart/2005/8/layout/process5" loCatId="process" qsTypeId="urn:microsoft.com/office/officeart/2005/8/quickstyle/simple4" qsCatId="simple" csTypeId="urn:microsoft.com/office/officeart/2005/8/colors/colorful2" csCatId="colorful"/>
      <dgm:spPr/>
      <dgm:t>
        <a:bodyPr/>
        <a:lstStyle/>
        <a:p>
          <a:endParaRPr lang="en-US"/>
        </a:p>
      </dgm:t>
    </dgm:pt>
    <dgm:pt modelId="{D0855E5A-BFAC-4540-B543-D4AB09ED98A3}">
      <dgm:prSet custT="1"/>
      <dgm:spPr/>
      <dgm:t>
        <a:bodyPr/>
        <a:lstStyle/>
        <a:p>
          <a:r>
            <a:rPr lang="en-US" sz="2000"/>
            <a:t>∗	Cannot control the order in which the maps or reductions are run</a:t>
          </a:r>
        </a:p>
      </dgm:t>
    </dgm:pt>
    <dgm:pt modelId="{A16A55B8-A749-4291-9B5E-9DDA9B1C612E}" type="parTrans" cxnId="{A75B8E9C-9386-4055-B018-135392CD84EC}">
      <dgm:prSet/>
      <dgm:spPr/>
      <dgm:t>
        <a:bodyPr/>
        <a:lstStyle/>
        <a:p>
          <a:endParaRPr lang="en-US" sz="2000"/>
        </a:p>
      </dgm:t>
    </dgm:pt>
    <dgm:pt modelId="{2BCB8F9F-F875-46C7-8940-0AB6258A0F2E}" type="sibTrans" cxnId="{A75B8E9C-9386-4055-B018-135392CD84EC}">
      <dgm:prSet/>
      <dgm:spPr/>
      <dgm:t>
        <a:bodyPr/>
        <a:lstStyle/>
        <a:p>
          <a:endParaRPr lang="en-US" sz="2000"/>
        </a:p>
      </dgm:t>
    </dgm:pt>
    <dgm:pt modelId="{82C3AB12-CA78-40EA-A26A-FA3493F5B1B3}">
      <dgm:prSet custT="1"/>
      <dgm:spPr/>
      <dgm:t>
        <a:bodyPr/>
        <a:lstStyle/>
        <a:p>
          <a:r>
            <a:rPr lang="en-US" sz="2000"/>
            <a:t>∗	A database with an index will always be faster than a MapReduce job on unindexed data</a:t>
          </a:r>
        </a:p>
      </dgm:t>
    </dgm:pt>
    <dgm:pt modelId="{76961455-7B30-4DAA-97E5-4642E85F4C34}" type="parTrans" cxnId="{DF5742C6-443B-4763-8415-8938C01B11EF}">
      <dgm:prSet/>
      <dgm:spPr/>
      <dgm:t>
        <a:bodyPr/>
        <a:lstStyle/>
        <a:p>
          <a:endParaRPr lang="en-US" sz="2000"/>
        </a:p>
      </dgm:t>
    </dgm:pt>
    <dgm:pt modelId="{771D88F5-5B7F-4C1C-9610-E06DD3675C88}" type="sibTrans" cxnId="{DF5742C6-443B-4763-8415-8938C01B11EF}">
      <dgm:prSet/>
      <dgm:spPr/>
      <dgm:t>
        <a:bodyPr/>
        <a:lstStyle/>
        <a:p>
          <a:endParaRPr lang="en-US" sz="2000"/>
        </a:p>
      </dgm:t>
    </dgm:pt>
    <dgm:pt modelId="{A06FDA0B-4169-4C73-8C5A-070096D28ACA}">
      <dgm:prSet custT="1"/>
      <dgm:spPr/>
      <dgm:t>
        <a:bodyPr/>
        <a:lstStyle/>
        <a:p>
          <a:r>
            <a:rPr lang="en-US" sz="2000" dirty="0"/>
            <a:t>∗	Reduce operations do not take place until all Maps are complete (or have failed then been skipped)</a:t>
          </a:r>
        </a:p>
      </dgm:t>
    </dgm:pt>
    <dgm:pt modelId="{BEC348FE-16D8-4ECE-B6ED-5A16A65243A2}" type="parTrans" cxnId="{A590C12E-C252-45F7-9D7D-EA85F7E0CE3E}">
      <dgm:prSet/>
      <dgm:spPr/>
      <dgm:t>
        <a:bodyPr/>
        <a:lstStyle/>
        <a:p>
          <a:endParaRPr lang="en-US" sz="2000"/>
        </a:p>
      </dgm:t>
    </dgm:pt>
    <dgm:pt modelId="{382574A8-339D-4414-9A36-1B203E08B6B1}" type="sibTrans" cxnId="{A590C12E-C252-45F7-9D7D-EA85F7E0CE3E}">
      <dgm:prSet/>
      <dgm:spPr/>
      <dgm:t>
        <a:bodyPr/>
        <a:lstStyle/>
        <a:p>
          <a:endParaRPr lang="en-US" sz="2000"/>
        </a:p>
      </dgm:t>
    </dgm:pt>
    <dgm:pt modelId="{3D0CCE9A-021F-4CD1-A3B2-85E6BDA751D4}">
      <dgm:prSet custT="1"/>
      <dgm:spPr/>
      <dgm:t>
        <a:bodyPr/>
        <a:lstStyle/>
        <a:p>
          <a:r>
            <a:rPr lang="en-US" sz="2000"/>
            <a:t>∗	General assumption that the output of Reduce is smaller than the input to Map; large data source used to generate smaller final values</a:t>
          </a:r>
        </a:p>
      </dgm:t>
    </dgm:pt>
    <dgm:pt modelId="{3C920447-E035-4747-86C4-AB123739B112}" type="parTrans" cxnId="{3FC1BB27-C801-4DBE-BCF9-345C0ADF339F}">
      <dgm:prSet/>
      <dgm:spPr/>
      <dgm:t>
        <a:bodyPr/>
        <a:lstStyle/>
        <a:p>
          <a:endParaRPr lang="en-US" sz="2000"/>
        </a:p>
      </dgm:t>
    </dgm:pt>
    <dgm:pt modelId="{F0910E50-3420-4DEC-96D8-CECF9EBDBAFB}" type="sibTrans" cxnId="{3FC1BB27-C801-4DBE-BCF9-345C0ADF339F}">
      <dgm:prSet/>
      <dgm:spPr/>
      <dgm:t>
        <a:bodyPr/>
        <a:lstStyle/>
        <a:p>
          <a:endParaRPr lang="en-US" sz="2000"/>
        </a:p>
      </dgm:t>
    </dgm:pt>
    <dgm:pt modelId="{0CB4C036-66E0-234E-8CDF-A57C539AD94E}" type="pres">
      <dgm:prSet presAssocID="{C1436047-B0C8-4E13-988B-D728232F46F4}" presName="diagram" presStyleCnt="0">
        <dgm:presLayoutVars>
          <dgm:dir/>
          <dgm:resizeHandles val="exact"/>
        </dgm:presLayoutVars>
      </dgm:prSet>
      <dgm:spPr/>
    </dgm:pt>
    <dgm:pt modelId="{374E68ED-C645-B642-A98A-26AEC27EBAE4}" type="pres">
      <dgm:prSet presAssocID="{D0855E5A-BFAC-4540-B543-D4AB09ED98A3}" presName="node" presStyleLbl="node1" presStyleIdx="0" presStyleCnt="1">
        <dgm:presLayoutVars>
          <dgm:bulletEnabled val="1"/>
        </dgm:presLayoutVars>
      </dgm:prSet>
      <dgm:spPr/>
    </dgm:pt>
  </dgm:ptLst>
  <dgm:cxnLst>
    <dgm:cxn modelId="{1C05F803-FCB1-2846-B228-15325D3A6352}" type="presOf" srcId="{C1436047-B0C8-4E13-988B-D728232F46F4}" destId="{0CB4C036-66E0-234E-8CDF-A57C539AD94E}" srcOrd="0" destOrd="0" presId="urn:microsoft.com/office/officeart/2005/8/layout/process5"/>
    <dgm:cxn modelId="{35146920-364B-6C44-A5F1-73C37752968E}" type="presOf" srcId="{D0855E5A-BFAC-4540-B543-D4AB09ED98A3}" destId="{374E68ED-C645-B642-A98A-26AEC27EBAE4}" srcOrd="0" destOrd="0" presId="urn:microsoft.com/office/officeart/2005/8/layout/process5"/>
    <dgm:cxn modelId="{3FC1BB27-C801-4DBE-BCF9-345C0ADF339F}" srcId="{D0855E5A-BFAC-4540-B543-D4AB09ED98A3}" destId="{3D0CCE9A-021F-4CD1-A3B2-85E6BDA751D4}" srcOrd="2" destOrd="0" parTransId="{3C920447-E035-4747-86C4-AB123739B112}" sibTransId="{F0910E50-3420-4DEC-96D8-CECF9EBDBAFB}"/>
    <dgm:cxn modelId="{0934112E-54A2-0245-8E1C-56C81FBEFDF8}" type="presOf" srcId="{82C3AB12-CA78-40EA-A26A-FA3493F5B1B3}" destId="{374E68ED-C645-B642-A98A-26AEC27EBAE4}" srcOrd="0" destOrd="1" presId="urn:microsoft.com/office/officeart/2005/8/layout/process5"/>
    <dgm:cxn modelId="{A590C12E-C252-45F7-9D7D-EA85F7E0CE3E}" srcId="{D0855E5A-BFAC-4540-B543-D4AB09ED98A3}" destId="{A06FDA0B-4169-4C73-8C5A-070096D28ACA}" srcOrd="1" destOrd="0" parTransId="{BEC348FE-16D8-4ECE-B6ED-5A16A65243A2}" sibTransId="{382574A8-339D-4414-9A36-1B203E08B6B1}"/>
    <dgm:cxn modelId="{A75B8E9C-9386-4055-B018-135392CD84EC}" srcId="{C1436047-B0C8-4E13-988B-D728232F46F4}" destId="{D0855E5A-BFAC-4540-B543-D4AB09ED98A3}" srcOrd="0" destOrd="0" parTransId="{A16A55B8-A749-4291-9B5E-9DDA9B1C612E}" sibTransId="{2BCB8F9F-F875-46C7-8940-0AB6258A0F2E}"/>
    <dgm:cxn modelId="{DF5742C6-443B-4763-8415-8938C01B11EF}" srcId="{D0855E5A-BFAC-4540-B543-D4AB09ED98A3}" destId="{82C3AB12-CA78-40EA-A26A-FA3493F5B1B3}" srcOrd="0" destOrd="0" parTransId="{76961455-7B30-4DAA-97E5-4642E85F4C34}" sibTransId="{771D88F5-5B7F-4C1C-9610-E06DD3675C88}"/>
    <dgm:cxn modelId="{78A98BD0-3DBD-4346-89EB-05B89FFF49D8}" type="presOf" srcId="{A06FDA0B-4169-4C73-8C5A-070096D28ACA}" destId="{374E68ED-C645-B642-A98A-26AEC27EBAE4}" srcOrd="0" destOrd="2" presId="urn:microsoft.com/office/officeart/2005/8/layout/process5"/>
    <dgm:cxn modelId="{4BF2FDEE-A76C-7C42-AFDC-C08E84B15AF7}" type="presOf" srcId="{3D0CCE9A-021F-4CD1-A3B2-85E6BDA751D4}" destId="{374E68ED-C645-B642-A98A-26AEC27EBAE4}" srcOrd="0" destOrd="3" presId="urn:microsoft.com/office/officeart/2005/8/layout/process5"/>
    <dgm:cxn modelId="{D17E7A14-7093-E74C-8E2D-00F4846BA6A3}" type="presParOf" srcId="{0CB4C036-66E0-234E-8CDF-A57C539AD94E}" destId="{374E68ED-C645-B642-A98A-26AEC27EBAE4}" srcOrd="0" destOrd="0" presId="urn:microsoft.com/office/officeart/2005/8/layout/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9157AE-C9DE-49CF-857D-A5BCFB563AAB}">
      <dsp:nvSpPr>
        <dsp:cNvPr id="0" name=""/>
        <dsp:cNvSpPr/>
      </dsp:nvSpPr>
      <dsp:spPr>
        <a:xfrm>
          <a:off x="402269" y="427374"/>
          <a:ext cx="1235250" cy="1235250"/>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99BE72-F683-4D9F-84F9-B28490E45C9D}">
      <dsp:nvSpPr>
        <dsp:cNvPr id="0" name=""/>
        <dsp:cNvSpPr/>
      </dsp:nvSpPr>
      <dsp:spPr>
        <a:xfrm>
          <a:off x="665519" y="690624"/>
          <a:ext cx="708750" cy="708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69F7F4B-9307-49FE-BAEC-C1D85C248FCE}">
      <dsp:nvSpPr>
        <dsp:cNvPr id="0" name=""/>
        <dsp:cNvSpPr/>
      </dsp:nvSpPr>
      <dsp:spPr>
        <a:xfrm>
          <a:off x="7394" y="2047374"/>
          <a:ext cx="2025000" cy="12304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kern="1200"/>
            <a:t>∗ </a:t>
          </a:r>
          <a:r>
            <a:rPr lang="en-US" sz="1100" b="1" kern="1200"/>
            <a:t>Creative Problem-Solving</a:t>
          </a:r>
          <a:r>
            <a:rPr lang="en-US" sz="1100" kern="1200"/>
            <a:t>: Approaching data organization challenges with a clear eye on what is important; employing the right approach/methods to make the maximum use of time and human resources.</a:t>
          </a:r>
        </a:p>
      </dsp:txBody>
      <dsp:txXfrm>
        <a:off x="7394" y="2047374"/>
        <a:ext cx="2025000" cy="1230468"/>
      </dsp:txXfrm>
    </dsp:sp>
    <dsp:sp modelId="{1ABFE4E1-30B3-4529-961D-661F44B8081B}">
      <dsp:nvSpPr>
        <dsp:cNvPr id="0" name=""/>
        <dsp:cNvSpPr/>
      </dsp:nvSpPr>
      <dsp:spPr>
        <a:xfrm>
          <a:off x="2781644" y="427374"/>
          <a:ext cx="1235250" cy="1235250"/>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6CB9C9A-9580-4976-BF8C-0B9086BC571E}">
      <dsp:nvSpPr>
        <dsp:cNvPr id="0" name=""/>
        <dsp:cNvSpPr/>
      </dsp:nvSpPr>
      <dsp:spPr>
        <a:xfrm>
          <a:off x="3044894" y="690624"/>
          <a:ext cx="708750" cy="708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363A03-BCA2-41CC-BBAD-B55E287B498E}">
      <dsp:nvSpPr>
        <dsp:cNvPr id="0" name=""/>
        <dsp:cNvSpPr/>
      </dsp:nvSpPr>
      <dsp:spPr>
        <a:xfrm>
          <a:off x="2386769" y="2047374"/>
          <a:ext cx="2025000" cy="12304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kern="1200"/>
            <a:t>∗ </a:t>
          </a:r>
          <a:r>
            <a:rPr lang="en-US" sz="1100" b="1" kern="1200"/>
            <a:t>Effective Collaboration</a:t>
          </a:r>
          <a:r>
            <a:rPr lang="en-US" sz="1100" kern="1200"/>
            <a:t>: Carefully listening to management, data scientists and data architects to establish their needs.</a:t>
          </a:r>
        </a:p>
      </dsp:txBody>
      <dsp:txXfrm>
        <a:off x="2386769" y="2047374"/>
        <a:ext cx="2025000" cy="1230468"/>
      </dsp:txXfrm>
    </dsp:sp>
    <dsp:sp modelId="{76902ED7-5A7C-4134-8082-789F1653BD15}">
      <dsp:nvSpPr>
        <dsp:cNvPr id="0" name=""/>
        <dsp:cNvSpPr/>
      </dsp:nvSpPr>
      <dsp:spPr>
        <a:xfrm>
          <a:off x="5161019" y="427374"/>
          <a:ext cx="1235250" cy="1235250"/>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D056AE0-0DE7-4107-920C-9F3A55583F54}">
      <dsp:nvSpPr>
        <dsp:cNvPr id="0" name=""/>
        <dsp:cNvSpPr/>
      </dsp:nvSpPr>
      <dsp:spPr>
        <a:xfrm>
          <a:off x="5424269" y="690624"/>
          <a:ext cx="708750" cy="708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3C76872-998F-4609-8E47-6AAF783EAF35}">
      <dsp:nvSpPr>
        <dsp:cNvPr id="0" name=""/>
        <dsp:cNvSpPr/>
      </dsp:nvSpPr>
      <dsp:spPr>
        <a:xfrm>
          <a:off x="4766144" y="2047374"/>
          <a:ext cx="2025000" cy="12304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kern="1200"/>
            <a:t>∗ </a:t>
          </a:r>
          <a:r>
            <a:rPr lang="en-US" sz="1100" b="1" kern="1200"/>
            <a:t>Intellectual Curiosity</a:t>
          </a:r>
          <a:r>
            <a:rPr lang="en-US" sz="1100" kern="1200"/>
            <a:t>: Exploring new territories and finding creative and unusual</a:t>
          </a:r>
        </a:p>
      </dsp:txBody>
      <dsp:txXfrm>
        <a:off x="4766144" y="2047374"/>
        <a:ext cx="2025000" cy="123046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30BAA3-1B0C-B34C-82BC-1F5038CE0011}">
      <dsp:nvSpPr>
        <dsp:cNvPr id="0" name=""/>
        <dsp:cNvSpPr/>
      </dsp:nvSpPr>
      <dsp:spPr>
        <a:xfrm>
          <a:off x="0" y="490243"/>
          <a:ext cx="1685425" cy="10112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a:t>
          </a:r>
          <a:r>
            <a:rPr lang="en-US" sz="1100" b="1" i="1" kern="1200"/>
            <a:t>“</a:t>
          </a:r>
          <a:r>
            <a:rPr lang="en-US" sz="1100" kern="1200"/>
            <a:t>of more normal evolution, as use of these technologies now spreads through industries.”</a:t>
          </a:r>
        </a:p>
      </dsp:txBody>
      <dsp:txXfrm>
        <a:off x="0" y="490243"/>
        <a:ext cx="1685425" cy="1011255"/>
      </dsp:txXfrm>
    </dsp:sp>
    <dsp:sp modelId="{EA93B0B9-F8D2-7642-B4EC-305DF47EFD4B}">
      <dsp:nvSpPr>
        <dsp:cNvPr id="0" name=""/>
        <dsp:cNvSpPr/>
      </dsp:nvSpPr>
      <dsp:spPr>
        <a:xfrm>
          <a:off x="1853967" y="490243"/>
          <a:ext cx="1685425" cy="1011255"/>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2007, Facebook, Twitter, LinkedIn and many others started doing serious work with Hadoop</a:t>
          </a:r>
        </a:p>
      </dsp:txBody>
      <dsp:txXfrm>
        <a:off x="1853967" y="490243"/>
        <a:ext cx="1685425" cy="1011255"/>
      </dsp:txXfrm>
    </dsp:sp>
    <dsp:sp modelId="{DA5509F9-CB8C-2340-B91F-47712134973D}">
      <dsp:nvSpPr>
        <dsp:cNvPr id="0" name=""/>
        <dsp:cNvSpPr/>
      </dsp:nvSpPr>
      <dsp:spPr>
        <a:xfrm>
          <a:off x="3707935" y="490243"/>
          <a:ext cx="1685425" cy="1011255"/>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In February, Yahoo! reported that their production Hadoop cluster is running on 1000 nodes</a:t>
          </a:r>
        </a:p>
      </dsp:txBody>
      <dsp:txXfrm>
        <a:off x="3707935" y="490243"/>
        <a:ext cx="1685425" cy="1011255"/>
      </dsp:txXfrm>
    </dsp:sp>
    <dsp:sp modelId="{9EB236D1-BBFD-D444-AE6C-0D3B5E069C7D}">
      <dsp:nvSpPr>
        <dsp:cNvPr id="0" name=""/>
        <dsp:cNvSpPr/>
      </dsp:nvSpPr>
      <dsp:spPr>
        <a:xfrm>
          <a:off x="0" y="1670041"/>
          <a:ext cx="1685425" cy="1011255"/>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2008, HBase, Pig, Hive</a:t>
          </a:r>
        </a:p>
      </dsp:txBody>
      <dsp:txXfrm>
        <a:off x="0" y="1670041"/>
        <a:ext cx="1685425" cy="1011255"/>
      </dsp:txXfrm>
    </dsp:sp>
    <dsp:sp modelId="{48E47D0B-CF33-7645-8356-56D414BF6280}">
      <dsp:nvSpPr>
        <dsp:cNvPr id="0" name=""/>
        <dsp:cNvSpPr/>
      </dsp:nvSpPr>
      <dsp:spPr>
        <a:xfrm>
          <a:off x="1853967" y="1670041"/>
          <a:ext cx="1685425" cy="1011255"/>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First professional system integrator dedicated to Hadoop was born: Cloudera</a:t>
          </a:r>
        </a:p>
      </dsp:txBody>
      <dsp:txXfrm>
        <a:off x="1853967" y="1670041"/>
        <a:ext cx="1685425" cy="1011255"/>
      </dsp:txXfrm>
    </dsp:sp>
    <dsp:sp modelId="{3A52004E-FCC9-354D-8BA3-C9F4843766C4}">
      <dsp:nvSpPr>
        <dsp:cNvPr id="0" name=""/>
        <dsp:cNvSpPr/>
      </dsp:nvSpPr>
      <dsp:spPr>
        <a:xfrm>
          <a:off x="3707935" y="1670041"/>
          <a:ext cx="1685425" cy="10112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2009, Amazon started providing MapReduce hosting service</a:t>
          </a:r>
        </a:p>
      </dsp:txBody>
      <dsp:txXfrm>
        <a:off x="3707935" y="1670041"/>
        <a:ext cx="1685425" cy="1011255"/>
      </dsp:txXfrm>
    </dsp:sp>
    <dsp:sp modelId="{A4365A4F-9ADD-6147-9598-8710359998DA}">
      <dsp:nvSpPr>
        <dsp:cNvPr id="0" name=""/>
        <dsp:cNvSpPr/>
      </dsp:nvSpPr>
      <dsp:spPr>
        <a:xfrm>
          <a:off x="926983" y="2849839"/>
          <a:ext cx="1685425" cy="1011255"/>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	2010, Yahoo went down</a:t>
          </a:r>
        </a:p>
      </dsp:txBody>
      <dsp:txXfrm>
        <a:off x="926983" y="2849839"/>
        <a:ext cx="1685425" cy="1011255"/>
      </dsp:txXfrm>
    </dsp:sp>
    <dsp:sp modelId="{E6920147-4452-3A4D-84DB-E30D94E428F1}">
      <dsp:nvSpPr>
        <dsp:cNvPr id="0" name=""/>
        <dsp:cNvSpPr/>
      </dsp:nvSpPr>
      <dsp:spPr>
        <a:xfrm>
          <a:off x="2780951" y="2849839"/>
          <a:ext cx="1685425" cy="1011255"/>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t" anchorCtr="0">
          <a:noAutofit/>
        </a:bodyPr>
        <a:lstStyle/>
        <a:p>
          <a:pPr marL="0" lvl="0" indent="0" algn="l" defTabSz="488950">
            <a:lnSpc>
              <a:spcPct val="90000"/>
            </a:lnSpc>
            <a:spcBef>
              <a:spcPct val="0"/>
            </a:spcBef>
            <a:spcAft>
              <a:spcPct val="35000"/>
            </a:spcAft>
            <a:buNone/>
          </a:pPr>
          <a:r>
            <a:rPr lang="en-US" sz="1100" kern="1200"/>
            <a:t>∗	2011, Hortonworks</a:t>
          </a:r>
        </a:p>
        <a:p>
          <a:pPr marL="57150" lvl="1" indent="-57150" algn="l" defTabSz="400050">
            <a:lnSpc>
              <a:spcPct val="90000"/>
            </a:lnSpc>
            <a:spcBef>
              <a:spcPct val="0"/>
            </a:spcBef>
            <a:spcAft>
              <a:spcPct val="15000"/>
            </a:spcAft>
            <a:buChar char="•"/>
          </a:pPr>
          <a:r>
            <a:rPr lang="en-US" sz="900" kern="1200"/>
            <a:t>∗	2012, Yahoo!’s Hadoop cluster counts 42 000 nodes; Number of Hadoop contributors reaches 1200</a:t>
          </a:r>
        </a:p>
      </dsp:txBody>
      <dsp:txXfrm>
        <a:off x="2780951" y="2849839"/>
        <a:ext cx="1685425" cy="1011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DC0742-7542-7B4A-AEE6-08AD85BF323E}">
      <dsp:nvSpPr>
        <dsp:cNvPr id="0" name=""/>
        <dsp:cNvSpPr/>
      </dsp:nvSpPr>
      <dsp:spPr>
        <a:xfrm>
          <a:off x="0" y="0"/>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DD6EFE7-7D2E-6A4D-8B76-A54275C0914B}">
      <dsp:nvSpPr>
        <dsp:cNvPr id="0" name=""/>
        <dsp:cNvSpPr/>
      </dsp:nvSpPr>
      <dsp:spPr>
        <a:xfrm>
          <a:off x="0" y="0"/>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Recover from hardware failure</a:t>
          </a:r>
        </a:p>
      </dsp:txBody>
      <dsp:txXfrm>
        <a:off x="0" y="0"/>
        <a:ext cx="10515600" cy="543917"/>
      </dsp:txXfrm>
    </dsp:sp>
    <dsp:sp modelId="{AFEF0E8D-710E-7C41-ACAD-31EEA6919D41}">
      <dsp:nvSpPr>
        <dsp:cNvPr id="0" name=""/>
        <dsp:cNvSpPr/>
      </dsp:nvSpPr>
      <dsp:spPr>
        <a:xfrm>
          <a:off x="0" y="543917"/>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63BA5BA-9B92-FC47-B49E-A0A826E5631C}">
      <dsp:nvSpPr>
        <dsp:cNvPr id="0" name=""/>
        <dsp:cNvSpPr/>
      </dsp:nvSpPr>
      <dsp:spPr>
        <a:xfrm>
          <a:off x="0" y="543917"/>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Streaming data access</a:t>
          </a:r>
        </a:p>
      </dsp:txBody>
      <dsp:txXfrm>
        <a:off x="0" y="543917"/>
        <a:ext cx="10515600" cy="543917"/>
      </dsp:txXfrm>
    </dsp:sp>
    <dsp:sp modelId="{7780FE99-21DB-1F4B-AED7-D2F1B3CF13AA}">
      <dsp:nvSpPr>
        <dsp:cNvPr id="0" name=""/>
        <dsp:cNvSpPr/>
      </dsp:nvSpPr>
      <dsp:spPr>
        <a:xfrm>
          <a:off x="0" y="1087834"/>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2FD1C4A-B721-4D49-A959-26E3DA804A3D}">
      <dsp:nvSpPr>
        <dsp:cNvPr id="0" name=""/>
        <dsp:cNvSpPr/>
      </dsp:nvSpPr>
      <dsp:spPr>
        <a:xfrm>
          <a:off x="0" y="1087834"/>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Large data file / dataset</a:t>
          </a:r>
        </a:p>
      </dsp:txBody>
      <dsp:txXfrm>
        <a:off x="0" y="1087834"/>
        <a:ext cx="10515600" cy="543917"/>
      </dsp:txXfrm>
    </dsp:sp>
    <dsp:sp modelId="{0765DB43-950E-F240-9FCC-835F47131B03}">
      <dsp:nvSpPr>
        <dsp:cNvPr id="0" name=""/>
        <dsp:cNvSpPr/>
      </dsp:nvSpPr>
      <dsp:spPr>
        <a:xfrm>
          <a:off x="0" y="1631751"/>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3C5DC3C-78E6-1046-8992-769FD8488E4E}">
      <dsp:nvSpPr>
        <dsp:cNvPr id="0" name=""/>
        <dsp:cNvSpPr/>
      </dsp:nvSpPr>
      <dsp:spPr>
        <a:xfrm>
          <a:off x="0" y="1631751"/>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Write-once-read-many IO model</a:t>
          </a:r>
        </a:p>
      </dsp:txBody>
      <dsp:txXfrm>
        <a:off x="0" y="1631751"/>
        <a:ext cx="10515600" cy="543917"/>
      </dsp:txXfrm>
    </dsp:sp>
    <dsp:sp modelId="{DAF3D76B-F6A4-EF49-8485-43553A686482}">
      <dsp:nvSpPr>
        <dsp:cNvPr id="0" name=""/>
        <dsp:cNvSpPr/>
      </dsp:nvSpPr>
      <dsp:spPr>
        <a:xfrm>
          <a:off x="0" y="2175669"/>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F13ABE8-BD75-9F4F-B0DC-AF47F76C24B5}">
      <dsp:nvSpPr>
        <dsp:cNvPr id="0" name=""/>
        <dsp:cNvSpPr/>
      </dsp:nvSpPr>
      <dsp:spPr>
        <a:xfrm>
          <a:off x="0" y="2175669"/>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Move computation to data</a:t>
          </a:r>
        </a:p>
      </dsp:txBody>
      <dsp:txXfrm>
        <a:off x="0" y="2175669"/>
        <a:ext cx="10515600" cy="543917"/>
      </dsp:txXfrm>
    </dsp:sp>
    <dsp:sp modelId="{41AF9D53-51AA-024A-B5C7-E7CE90000277}">
      <dsp:nvSpPr>
        <dsp:cNvPr id="0" name=""/>
        <dsp:cNvSpPr/>
      </dsp:nvSpPr>
      <dsp:spPr>
        <a:xfrm>
          <a:off x="0" y="2719586"/>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C39837-622A-7549-BE51-D2D41A9F808A}">
      <dsp:nvSpPr>
        <dsp:cNvPr id="0" name=""/>
        <dsp:cNvSpPr/>
      </dsp:nvSpPr>
      <dsp:spPr>
        <a:xfrm>
          <a:off x="0" y="2719586"/>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Commodity hardware</a:t>
          </a:r>
        </a:p>
      </dsp:txBody>
      <dsp:txXfrm>
        <a:off x="0" y="2719586"/>
        <a:ext cx="10515600" cy="543917"/>
      </dsp:txXfrm>
    </dsp:sp>
    <dsp:sp modelId="{95315169-6D2C-8D44-AA00-AEB6B7244855}">
      <dsp:nvSpPr>
        <dsp:cNvPr id="0" name=""/>
        <dsp:cNvSpPr/>
      </dsp:nvSpPr>
      <dsp:spPr>
        <a:xfrm>
          <a:off x="0" y="3263503"/>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35C984-F953-B543-BAE9-8F905E4CAA81}">
      <dsp:nvSpPr>
        <dsp:cNvPr id="0" name=""/>
        <dsp:cNvSpPr/>
      </dsp:nvSpPr>
      <dsp:spPr>
        <a:xfrm>
          <a:off x="0" y="3263503"/>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Do not conflict with OS file system</a:t>
          </a:r>
        </a:p>
      </dsp:txBody>
      <dsp:txXfrm>
        <a:off x="0" y="3263503"/>
        <a:ext cx="10515600" cy="543917"/>
      </dsp:txXfrm>
    </dsp:sp>
    <dsp:sp modelId="{722AC991-E8BA-DB43-8552-4C068D19A193}">
      <dsp:nvSpPr>
        <dsp:cNvPr id="0" name=""/>
        <dsp:cNvSpPr/>
      </dsp:nvSpPr>
      <dsp:spPr>
        <a:xfrm>
          <a:off x="0" y="3807420"/>
          <a:ext cx="105156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412B6AF-CEB1-2E47-AD56-98E4FF45B0E4}">
      <dsp:nvSpPr>
        <dsp:cNvPr id="0" name=""/>
        <dsp:cNvSpPr/>
      </dsp:nvSpPr>
      <dsp:spPr>
        <a:xfrm>
          <a:off x="0" y="3807420"/>
          <a:ext cx="10515600" cy="543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n-US" sz="2400" kern="1200"/>
            <a:t>∗ Not good – low-latency and many small files</a:t>
          </a:r>
        </a:p>
      </dsp:txBody>
      <dsp:txXfrm>
        <a:off x="0" y="3807420"/>
        <a:ext cx="10515600" cy="5439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146259-DCE0-2444-A15B-951209FE322A}">
      <dsp:nvSpPr>
        <dsp:cNvPr id="0" name=""/>
        <dsp:cNvSpPr/>
      </dsp:nvSpPr>
      <dsp:spPr>
        <a:xfrm rot="16200000">
          <a:off x="2338" y="1178"/>
          <a:ext cx="4348981" cy="4348981"/>
        </a:xfrm>
        <a:prstGeom prst="downArrow">
          <a:avLst>
            <a:gd name="adj1" fmla="val 50000"/>
            <a:gd name="adj2" fmla="val 35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8016" tIns="128016" rIns="128016" bIns="128016" numCol="1" spcCol="1270" anchor="t" anchorCtr="0">
          <a:noAutofit/>
        </a:bodyPr>
        <a:lstStyle/>
        <a:p>
          <a:pPr marL="0" lvl="0" indent="0" algn="l" defTabSz="800100">
            <a:lnSpc>
              <a:spcPct val="90000"/>
            </a:lnSpc>
            <a:spcBef>
              <a:spcPct val="0"/>
            </a:spcBef>
            <a:spcAft>
              <a:spcPct val="35000"/>
            </a:spcAft>
            <a:buNone/>
          </a:pPr>
          <a:r>
            <a:rPr lang="en-US" sz="1800" kern="1200"/>
            <a:t>∗ Map step</a:t>
          </a:r>
        </a:p>
        <a:p>
          <a:pPr marL="114300" lvl="1" indent="-114300" algn="l" defTabSz="622300">
            <a:lnSpc>
              <a:spcPct val="90000"/>
            </a:lnSpc>
            <a:spcBef>
              <a:spcPct val="0"/>
            </a:spcBef>
            <a:spcAft>
              <a:spcPct val="15000"/>
            </a:spcAft>
            <a:buChar char="•"/>
          </a:pPr>
          <a:r>
            <a:rPr lang="en-US" sz="1400" kern="1200" dirty="0"/>
            <a:t>∗ Master node takes large problem input and slices it into smaller sub problems; distributes these to worker nodes</a:t>
          </a:r>
        </a:p>
        <a:p>
          <a:pPr marL="114300" lvl="1" indent="-114300" algn="l" defTabSz="622300">
            <a:lnSpc>
              <a:spcPct val="90000"/>
            </a:lnSpc>
            <a:spcBef>
              <a:spcPct val="0"/>
            </a:spcBef>
            <a:spcAft>
              <a:spcPct val="15000"/>
            </a:spcAft>
            <a:buChar char="•"/>
          </a:pPr>
          <a:r>
            <a:rPr lang="en-US" sz="1400" kern="1200"/>
            <a:t>∗ Worker node may do this again; leads to a multi-level tree structure</a:t>
          </a:r>
        </a:p>
        <a:p>
          <a:pPr marL="114300" lvl="1" indent="-114300" algn="l" defTabSz="622300">
            <a:lnSpc>
              <a:spcPct val="90000"/>
            </a:lnSpc>
            <a:spcBef>
              <a:spcPct val="0"/>
            </a:spcBef>
            <a:spcAft>
              <a:spcPct val="15000"/>
            </a:spcAft>
            <a:buChar char="•"/>
          </a:pPr>
          <a:r>
            <a:rPr lang="en-US" sz="1400" kern="1200"/>
            <a:t>∗ Worker processes smaller problem and hands back to master</a:t>
          </a:r>
        </a:p>
      </dsp:txBody>
      <dsp:txXfrm rot="5400000">
        <a:off x="2338" y="1088423"/>
        <a:ext cx="3587909" cy="2174491"/>
      </dsp:txXfrm>
    </dsp:sp>
    <dsp:sp modelId="{0AA2D8D0-5B6A-2547-9DBD-419C0FFABA1B}">
      <dsp:nvSpPr>
        <dsp:cNvPr id="0" name=""/>
        <dsp:cNvSpPr/>
      </dsp:nvSpPr>
      <dsp:spPr>
        <a:xfrm rot="5400000">
          <a:off x="6164280" y="1178"/>
          <a:ext cx="4348981" cy="4348981"/>
        </a:xfrm>
        <a:prstGeom prst="downArrow">
          <a:avLst>
            <a:gd name="adj1" fmla="val 50000"/>
            <a:gd name="adj2" fmla="val 35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8016" tIns="128016" rIns="128016" bIns="128016" numCol="1" spcCol="1270" anchor="t" anchorCtr="0">
          <a:noAutofit/>
        </a:bodyPr>
        <a:lstStyle/>
        <a:p>
          <a:pPr marL="0" lvl="0" indent="0" algn="l" defTabSz="800100">
            <a:lnSpc>
              <a:spcPct val="90000"/>
            </a:lnSpc>
            <a:spcBef>
              <a:spcPct val="0"/>
            </a:spcBef>
            <a:spcAft>
              <a:spcPct val="35000"/>
            </a:spcAft>
            <a:buNone/>
          </a:pPr>
          <a:r>
            <a:rPr lang="en-US" sz="1800" kern="1200"/>
            <a:t>∗ Reduce Step</a:t>
          </a:r>
        </a:p>
        <a:p>
          <a:pPr marL="114300" lvl="1" indent="-114300" algn="l" defTabSz="622300">
            <a:lnSpc>
              <a:spcPct val="90000"/>
            </a:lnSpc>
            <a:spcBef>
              <a:spcPct val="0"/>
            </a:spcBef>
            <a:spcAft>
              <a:spcPct val="15000"/>
            </a:spcAft>
            <a:buChar char="•"/>
          </a:pPr>
          <a:r>
            <a:rPr lang="en-US" sz="1400" kern="1200"/>
            <a:t>∗ Master node takes the answers to the sub problems and combines them in a predefined way to get the output/answer to original problem</a:t>
          </a:r>
        </a:p>
      </dsp:txBody>
      <dsp:txXfrm rot="-5400000">
        <a:off x="6925352" y="1088423"/>
        <a:ext cx="3587909" cy="217449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07FADD-BC93-4B5E-BF12-3721C5F76E9E}">
      <dsp:nvSpPr>
        <dsp:cNvPr id="0" name=""/>
        <dsp:cNvSpPr/>
      </dsp:nvSpPr>
      <dsp:spPr>
        <a:xfrm>
          <a:off x="0" y="708097"/>
          <a:ext cx="10515600" cy="1307257"/>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DC370A7-7B06-4677-844E-E0C56BBAB2DA}">
      <dsp:nvSpPr>
        <dsp:cNvPr id="0" name=""/>
        <dsp:cNvSpPr/>
      </dsp:nvSpPr>
      <dsp:spPr>
        <a:xfrm>
          <a:off x="395445" y="1002230"/>
          <a:ext cx="718991" cy="7189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498D8A-61DA-4E7A-9292-722C3E55D9D6}">
      <dsp:nvSpPr>
        <dsp:cNvPr id="0" name=""/>
        <dsp:cNvSpPr/>
      </dsp:nvSpPr>
      <dsp:spPr>
        <a:xfrm>
          <a:off x="1509882" y="708097"/>
          <a:ext cx="9005717" cy="13072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351" tIns="138351" rIns="138351" bIns="138351" numCol="1" spcCol="1270" anchor="ctr" anchorCtr="0">
          <a:noAutofit/>
        </a:bodyPr>
        <a:lstStyle/>
        <a:p>
          <a:pPr marL="0" lvl="0" indent="0" algn="l" defTabSz="1022350">
            <a:lnSpc>
              <a:spcPct val="90000"/>
            </a:lnSpc>
            <a:spcBef>
              <a:spcPct val="0"/>
            </a:spcBef>
            <a:spcAft>
              <a:spcPct val="35000"/>
            </a:spcAft>
            <a:buNone/>
          </a:pPr>
          <a:r>
            <a:rPr lang="en-US" sz="2300" kern="1200"/>
            <a:t>∗ The calculations should be possible to run the calculation on a subset of data, and merge partial results</a:t>
          </a:r>
        </a:p>
      </dsp:txBody>
      <dsp:txXfrm>
        <a:off x="1509882" y="708097"/>
        <a:ext cx="9005717" cy="1307257"/>
      </dsp:txXfrm>
    </dsp:sp>
    <dsp:sp modelId="{2048EF5C-2115-4C63-8E06-6E1C41A88ADF}">
      <dsp:nvSpPr>
        <dsp:cNvPr id="0" name=""/>
        <dsp:cNvSpPr/>
      </dsp:nvSpPr>
      <dsp:spPr>
        <a:xfrm>
          <a:off x="0" y="2342169"/>
          <a:ext cx="10515600" cy="1307257"/>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915A2D-24CD-4711-9747-A8E837E227B4}">
      <dsp:nvSpPr>
        <dsp:cNvPr id="0" name=""/>
        <dsp:cNvSpPr/>
      </dsp:nvSpPr>
      <dsp:spPr>
        <a:xfrm>
          <a:off x="395445" y="2636302"/>
          <a:ext cx="718991" cy="7189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2236A0-FAA2-4966-8F75-574199A5470F}">
      <dsp:nvSpPr>
        <dsp:cNvPr id="0" name=""/>
        <dsp:cNvSpPr/>
      </dsp:nvSpPr>
      <dsp:spPr>
        <a:xfrm>
          <a:off x="1509882" y="2342169"/>
          <a:ext cx="9005717" cy="13072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351" tIns="138351" rIns="138351" bIns="138351" numCol="1" spcCol="1270" anchor="ctr" anchorCtr="0">
          <a:noAutofit/>
        </a:bodyPr>
        <a:lstStyle/>
        <a:p>
          <a:pPr marL="0" lvl="0" indent="0" algn="l" defTabSz="1022350">
            <a:lnSpc>
              <a:spcPct val="90000"/>
            </a:lnSpc>
            <a:spcBef>
              <a:spcPct val="0"/>
            </a:spcBef>
            <a:spcAft>
              <a:spcPct val="35000"/>
            </a:spcAft>
            <a:buNone/>
          </a:pPr>
          <a:r>
            <a:rPr lang="en-US" sz="2300" kern="1200"/>
            <a:t>∗ The dataset size is big enough (or the calculations are long enough) that the infrastructure overhead of splitting it up for independent computations and merging results will not hurt overall performance</a:t>
          </a:r>
        </a:p>
      </dsp:txBody>
      <dsp:txXfrm>
        <a:off x="1509882" y="2342169"/>
        <a:ext cx="9005717" cy="130725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68B59E-6D42-444C-BF11-6C1592134916}">
      <dsp:nvSpPr>
        <dsp:cNvPr id="0" name=""/>
        <dsp:cNvSpPr/>
      </dsp:nvSpPr>
      <dsp:spPr>
        <a:xfrm>
          <a:off x="0" y="41345"/>
          <a:ext cx="6364224" cy="87516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	Hadoop provides an option to skip bad records:</a:t>
          </a:r>
        </a:p>
      </dsp:txBody>
      <dsp:txXfrm>
        <a:off x="42722" y="84067"/>
        <a:ext cx="6278780" cy="789716"/>
      </dsp:txXfrm>
    </dsp:sp>
    <dsp:sp modelId="{73E017A4-488B-7F4D-8A12-627AF7F93E4A}">
      <dsp:nvSpPr>
        <dsp:cNvPr id="0" name=""/>
        <dsp:cNvSpPr/>
      </dsp:nvSpPr>
      <dsp:spPr>
        <a:xfrm>
          <a:off x="0" y="916505"/>
          <a:ext cx="6364224" cy="3643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064"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	SkipBadRecords class</a:t>
          </a:r>
        </a:p>
      </dsp:txBody>
      <dsp:txXfrm>
        <a:off x="0" y="916505"/>
        <a:ext cx="6364224" cy="364320"/>
      </dsp:txXfrm>
    </dsp:sp>
    <dsp:sp modelId="{337CEEA5-BD82-2543-A852-FE4CB2571924}">
      <dsp:nvSpPr>
        <dsp:cNvPr id="0" name=""/>
        <dsp:cNvSpPr/>
      </dsp:nvSpPr>
      <dsp:spPr>
        <a:xfrm>
          <a:off x="0" y="1280825"/>
          <a:ext cx="6364224" cy="875160"/>
        </a:xfrm>
        <a:prstGeom prst="roundRect">
          <a:avLst/>
        </a:prstGeom>
        <a:solidFill>
          <a:schemeClr val="accent2">
            <a:hueOff val="2147871"/>
            <a:satOff val="-6164"/>
            <a:lumOff val="-987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	Used when map tasks crash deterministically on certain input</a:t>
          </a:r>
        </a:p>
      </dsp:txBody>
      <dsp:txXfrm>
        <a:off x="42722" y="1323547"/>
        <a:ext cx="6278780" cy="789716"/>
      </dsp:txXfrm>
    </dsp:sp>
    <dsp:sp modelId="{A0B5EE32-8F3C-4049-81C3-D55D581ECB60}">
      <dsp:nvSpPr>
        <dsp:cNvPr id="0" name=""/>
        <dsp:cNvSpPr/>
      </dsp:nvSpPr>
      <dsp:spPr>
        <a:xfrm>
          <a:off x="0" y="2155986"/>
          <a:ext cx="6364224" cy="1138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064"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	Usually, a result of bugs in the map function</a:t>
          </a:r>
        </a:p>
        <a:p>
          <a:pPr marL="171450" lvl="1" indent="-171450" algn="l" defTabSz="755650">
            <a:lnSpc>
              <a:spcPct val="90000"/>
            </a:lnSpc>
            <a:spcBef>
              <a:spcPct val="0"/>
            </a:spcBef>
            <a:spcAft>
              <a:spcPct val="20000"/>
            </a:spcAft>
            <a:buChar char="•"/>
          </a:pPr>
          <a:r>
            <a:rPr lang="en-US" sz="1700" kern="1200"/>
            <a:t>∗	May be in 3rd party libraries</a:t>
          </a:r>
        </a:p>
        <a:p>
          <a:pPr marL="171450" lvl="1" indent="-171450" algn="l" defTabSz="755650">
            <a:lnSpc>
              <a:spcPct val="90000"/>
            </a:lnSpc>
            <a:spcBef>
              <a:spcPct val="0"/>
            </a:spcBef>
            <a:spcAft>
              <a:spcPct val="20000"/>
            </a:spcAft>
            <a:buChar char="•"/>
          </a:pPr>
          <a:r>
            <a:rPr lang="en-US" sz="1700" kern="1200"/>
            <a:t>∗	Tasks never complete successfully even after multiple attempts</a:t>
          </a:r>
        </a:p>
      </dsp:txBody>
      <dsp:txXfrm>
        <a:off x="0" y="2155986"/>
        <a:ext cx="6364224" cy="1138500"/>
      </dsp:txXfrm>
    </dsp:sp>
    <dsp:sp modelId="{3BE47A2B-96B8-1F42-B71E-E709C91CB164}">
      <dsp:nvSpPr>
        <dsp:cNvPr id="0" name=""/>
        <dsp:cNvSpPr/>
      </dsp:nvSpPr>
      <dsp:spPr>
        <a:xfrm>
          <a:off x="0" y="3294485"/>
          <a:ext cx="6364224" cy="875160"/>
        </a:xfrm>
        <a:prstGeom prst="roundRect">
          <a:avLst/>
        </a:prstGeom>
        <a:solidFill>
          <a:schemeClr val="accent2">
            <a:hueOff val="4295742"/>
            <a:satOff val="-12329"/>
            <a:lumOff val="-197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	Framework goes into ‘skipping mode’ after a certain number of map failures</a:t>
          </a:r>
        </a:p>
      </dsp:txBody>
      <dsp:txXfrm>
        <a:off x="42722" y="3337207"/>
        <a:ext cx="6278780" cy="789716"/>
      </dsp:txXfrm>
    </dsp:sp>
    <dsp:sp modelId="{945FCE91-385F-204F-BE52-889C632A6920}">
      <dsp:nvSpPr>
        <dsp:cNvPr id="0" name=""/>
        <dsp:cNvSpPr/>
      </dsp:nvSpPr>
      <dsp:spPr>
        <a:xfrm>
          <a:off x="0" y="4233006"/>
          <a:ext cx="6364224" cy="875160"/>
        </a:xfrm>
        <a:prstGeom prst="roundRect">
          <a:avLst/>
        </a:prstGeom>
        <a:solidFill>
          <a:schemeClr val="accent2">
            <a:hueOff val="6443612"/>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	Number of records skipped depends on how frequently the processed record</a:t>
          </a:r>
        </a:p>
      </dsp:txBody>
      <dsp:txXfrm>
        <a:off x="42722" y="4275728"/>
        <a:ext cx="6278780" cy="789716"/>
      </dsp:txXfrm>
    </dsp:sp>
    <dsp:sp modelId="{718B51E8-CCA2-5F48-87E8-5DE741A675C6}">
      <dsp:nvSpPr>
        <dsp:cNvPr id="0" name=""/>
        <dsp:cNvSpPr/>
      </dsp:nvSpPr>
      <dsp:spPr>
        <a:xfrm>
          <a:off x="0" y="5108166"/>
          <a:ext cx="6364224" cy="3643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064"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counter is incremented by the application</a:t>
          </a:r>
        </a:p>
      </dsp:txBody>
      <dsp:txXfrm>
        <a:off x="0" y="5108166"/>
        <a:ext cx="6364224" cy="36432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79991-6237-F34F-AB6F-08BCA04CBED1}">
      <dsp:nvSpPr>
        <dsp:cNvPr id="0" name=""/>
        <dsp:cNvSpPr/>
      </dsp:nvSpPr>
      <dsp:spPr>
        <a:xfrm>
          <a:off x="421805" y="-5866"/>
          <a:ext cx="5520612" cy="5520612"/>
        </a:xfrm>
        <a:prstGeom prst="circularArrow">
          <a:avLst>
            <a:gd name="adj1" fmla="val 5274"/>
            <a:gd name="adj2" fmla="val 312630"/>
            <a:gd name="adj3" fmla="val 14257930"/>
            <a:gd name="adj4" fmla="val 17109602"/>
            <a:gd name="adj5" fmla="val 5477"/>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37427D-FDA1-D246-96FB-05878A29304C}">
      <dsp:nvSpPr>
        <dsp:cNvPr id="0" name=""/>
        <dsp:cNvSpPr/>
      </dsp:nvSpPr>
      <dsp:spPr>
        <a:xfrm>
          <a:off x="2150411" y="1466"/>
          <a:ext cx="2063400" cy="1031700"/>
        </a:xfrm>
        <a:prstGeom prst="round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 A MapReduce Job controls the execution</a:t>
          </a:r>
        </a:p>
        <a:p>
          <a:pPr marL="171450" lvl="1" indent="-171450" algn="l" defTabSz="800100">
            <a:lnSpc>
              <a:spcPct val="90000"/>
            </a:lnSpc>
            <a:spcBef>
              <a:spcPct val="0"/>
            </a:spcBef>
            <a:spcAft>
              <a:spcPct val="15000"/>
            </a:spcAft>
            <a:buChar char="•"/>
          </a:pPr>
          <a:r>
            <a:rPr lang="en-US" sz="1800" kern="1200"/>
            <a:t>∗	Splits the input data-set into independent chunks which are processed by the </a:t>
          </a:r>
          <a:r>
            <a:rPr lang="en-US" sz="1800" i="1" kern="1200"/>
            <a:t>map</a:t>
          </a:r>
          <a:endParaRPr lang="en-US" sz="1800" kern="1200"/>
        </a:p>
        <a:p>
          <a:pPr marL="342900" lvl="2" indent="-171450" algn="l" defTabSz="800100">
            <a:lnSpc>
              <a:spcPct val="90000"/>
            </a:lnSpc>
            <a:spcBef>
              <a:spcPct val="0"/>
            </a:spcBef>
            <a:spcAft>
              <a:spcPct val="15000"/>
            </a:spcAft>
            <a:buChar char="•"/>
          </a:pPr>
          <a:r>
            <a:rPr lang="en-US" sz="1800" i="1" kern="1200"/>
            <a:t>tasks </a:t>
          </a:r>
          <a:r>
            <a:rPr lang="en-US" sz="1800" kern="1200"/>
            <a:t>in a completely parallel manner</a:t>
          </a:r>
        </a:p>
      </dsp:txBody>
      <dsp:txXfrm>
        <a:off x="2200774" y="51829"/>
        <a:ext cx="1962674" cy="930974"/>
      </dsp:txXfrm>
    </dsp:sp>
    <dsp:sp modelId="{9B91435D-15EE-E140-8EF5-890E734DDD6A}">
      <dsp:nvSpPr>
        <dsp:cNvPr id="0" name=""/>
        <dsp:cNvSpPr/>
      </dsp:nvSpPr>
      <dsp:spPr>
        <a:xfrm>
          <a:off x="4089961" y="1121266"/>
          <a:ext cx="2063400" cy="1031700"/>
        </a:xfrm>
        <a:prstGeom prst="roundRect">
          <a:avLst/>
        </a:prstGeom>
        <a:solidFill>
          <a:schemeClr val="accent5">
            <a:hueOff val="-2430430"/>
            <a:satOff val="-165"/>
            <a:lumOff val="39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 The framework sorts the outputs of the maps</a:t>
          </a:r>
        </a:p>
        <a:p>
          <a:pPr marL="171450" lvl="1" indent="-171450" algn="l" defTabSz="800100">
            <a:lnSpc>
              <a:spcPct val="90000"/>
            </a:lnSpc>
            <a:spcBef>
              <a:spcPct val="0"/>
            </a:spcBef>
            <a:spcAft>
              <a:spcPct val="15000"/>
            </a:spcAft>
            <a:buChar char="•"/>
          </a:pPr>
          <a:r>
            <a:rPr lang="en-US" sz="1800" kern="1200"/>
            <a:t>∗	which are then input to the </a:t>
          </a:r>
          <a:r>
            <a:rPr lang="en-US" sz="1800" i="1" kern="1200"/>
            <a:t>reduce tasks</a:t>
          </a:r>
          <a:endParaRPr lang="en-US" sz="1800" kern="1200"/>
        </a:p>
      </dsp:txBody>
      <dsp:txXfrm>
        <a:off x="4140324" y="1171629"/>
        <a:ext cx="1962674" cy="930974"/>
      </dsp:txXfrm>
    </dsp:sp>
    <dsp:sp modelId="{1FA6BDD8-45F1-8249-BFE6-FFD9779ACAF3}">
      <dsp:nvSpPr>
        <dsp:cNvPr id="0" name=""/>
        <dsp:cNvSpPr/>
      </dsp:nvSpPr>
      <dsp:spPr>
        <a:xfrm>
          <a:off x="4089961" y="3360865"/>
          <a:ext cx="2063400" cy="1031700"/>
        </a:xfrm>
        <a:prstGeom prst="roundRect">
          <a:avLst/>
        </a:prstGeom>
        <a:solidFill>
          <a:schemeClr val="accent5">
            <a:hueOff val="-4860860"/>
            <a:satOff val="-330"/>
            <a:lumOff val="78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 A MapReduce Task is sent the output of the framework to combine and reduce</a:t>
          </a:r>
        </a:p>
      </dsp:txBody>
      <dsp:txXfrm>
        <a:off x="4140324" y="3411228"/>
        <a:ext cx="1962674" cy="930974"/>
      </dsp:txXfrm>
    </dsp:sp>
    <dsp:sp modelId="{5BFDC0D0-5215-A249-8037-12B93AE2DE34}">
      <dsp:nvSpPr>
        <dsp:cNvPr id="0" name=""/>
        <dsp:cNvSpPr/>
      </dsp:nvSpPr>
      <dsp:spPr>
        <a:xfrm>
          <a:off x="2150411" y="4480665"/>
          <a:ext cx="2063400" cy="1031700"/>
        </a:xfrm>
        <a:prstGeom prst="roundRect">
          <a:avLst/>
        </a:prstGeom>
        <a:solidFill>
          <a:schemeClr val="accent5">
            <a:hueOff val="-7291290"/>
            <a:satOff val="-496"/>
            <a:lumOff val="117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 Both the input and the output of the job are stored in a file-system</a:t>
          </a:r>
        </a:p>
      </dsp:txBody>
      <dsp:txXfrm>
        <a:off x="2200774" y="4531028"/>
        <a:ext cx="1962674" cy="930974"/>
      </dsp:txXfrm>
    </dsp:sp>
    <dsp:sp modelId="{0C39824B-ABA4-754D-B388-A94EC8448CD6}">
      <dsp:nvSpPr>
        <dsp:cNvPr id="0" name=""/>
        <dsp:cNvSpPr/>
      </dsp:nvSpPr>
      <dsp:spPr>
        <a:xfrm>
          <a:off x="210861" y="3360865"/>
          <a:ext cx="2063400" cy="1031700"/>
        </a:xfrm>
        <a:prstGeom prst="roundRect">
          <a:avLst/>
        </a:prstGeom>
        <a:solidFill>
          <a:schemeClr val="accent5">
            <a:hueOff val="-9721720"/>
            <a:satOff val="-661"/>
            <a:lumOff val="156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 The framework takes care of scheduling tasks, monitoring them and re-</a:t>
          </a:r>
        </a:p>
      </dsp:txBody>
      <dsp:txXfrm>
        <a:off x="261224" y="3411228"/>
        <a:ext cx="1962674" cy="930974"/>
      </dsp:txXfrm>
    </dsp:sp>
    <dsp:sp modelId="{8825FA8A-1767-F346-9BD7-E256CE013FA7}">
      <dsp:nvSpPr>
        <dsp:cNvPr id="0" name=""/>
        <dsp:cNvSpPr/>
      </dsp:nvSpPr>
      <dsp:spPr>
        <a:xfrm>
          <a:off x="210861" y="1121266"/>
          <a:ext cx="2063400" cy="1031700"/>
        </a:xfrm>
        <a:prstGeom prst="round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executes the failed tasks</a:t>
          </a:r>
        </a:p>
      </dsp:txBody>
      <dsp:txXfrm>
        <a:off x="261224" y="1171629"/>
        <a:ext cx="1962674" cy="93097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9891089-086A-2641-9091-64BA7569A024}">
      <dsp:nvSpPr>
        <dsp:cNvPr id="0" name=""/>
        <dsp:cNvSpPr/>
      </dsp:nvSpPr>
      <dsp:spPr>
        <a:xfrm>
          <a:off x="2726345" y="896480"/>
          <a:ext cx="594155" cy="91440"/>
        </a:xfrm>
        <a:custGeom>
          <a:avLst/>
          <a:gdLst/>
          <a:ahLst/>
          <a:cxnLst/>
          <a:rect l="0" t="0" r="0" b="0"/>
          <a:pathLst>
            <a:path>
              <a:moveTo>
                <a:pt x="0" y="45720"/>
              </a:moveTo>
              <a:lnTo>
                <a:pt x="594155"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3007804" y="939073"/>
        <a:ext cx="31237" cy="6253"/>
      </dsp:txXfrm>
    </dsp:sp>
    <dsp:sp modelId="{B4F87717-9E8A-2F42-B68E-F45B98591A61}">
      <dsp:nvSpPr>
        <dsp:cNvPr id="0" name=""/>
        <dsp:cNvSpPr/>
      </dsp:nvSpPr>
      <dsp:spPr>
        <a:xfrm>
          <a:off x="11816" y="127302"/>
          <a:ext cx="2716328" cy="16297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102" tIns="139714" rIns="133102" bIns="139714" numCol="1" spcCol="1270" anchor="ctr" anchorCtr="0">
          <a:noAutofit/>
        </a:bodyPr>
        <a:lstStyle/>
        <a:p>
          <a:pPr marL="0" lvl="0" indent="0" algn="ctr" defTabSz="800100">
            <a:lnSpc>
              <a:spcPct val="90000"/>
            </a:lnSpc>
            <a:spcBef>
              <a:spcPct val="0"/>
            </a:spcBef>
            <a:spcAft>
              <a:spcPct val="35000"/>
            </a:spcAft>
            <a:buNone/>
          </a:pPr>
          <a:r>
            <a:rPr lang="en-US" sz="1800" kern="1200"/>
            <a:t>∗	Mapper maps input key/value pairs to a set of intermediate key/value pairs</a:t>
          </a:r>
        </a:p>
      </dsp:txBody>
      <dsp:txXfrm>
        <a:off x="11816" y="127302"/>
        <a:ext cx="2716328" cy="1629797"/>
      </dsp:txXfrm>
    </dsp:sp>
    <dsp:sp modelId="{AAADBC48-FCEB-EE48-A2D9-55564760D031}">
      <dsp:nvSpPr>
        <dsp:cNvPr id="0" name=""/>
        <dsp:cNvSpPr/>
      </dsp:nvSpPr>
      <dsp:spPr>
        <a:xfrm>
          <a:off x="6067429" y="896480"/>
          <a:ext cx="594155" cy="91440"/>
        </a:xfrm>
        <a:custGeom>
          <a:avLst/>
          <a:gdLst/>
          <a:ahLst/>
          <a:cxnLst/>
          <a:rect l="0" t="0" r="0" b="0"/>
          <a:pathLst>
            <a:path>
              <a:moveTo>
                <a:pt x="0" y="45720"/>
              </a:moveTo>
              <a:lnTo>
                <a:pt x="594155"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6348888" y="939073"/>
        <a:ext cx="31237" cy="6253"/>
      </dsp:txXfrm>
    </dsp:sp>
    <dsp:sp modelId="{3DF5A580-2173-B146-804C-69B24C1AFAF3}">
      <dsp:nvSpPr>
        <dsp:cNvPr id="0" name=""/>
        <dsp:cNvSpPr/>
      </dsp:nvSpPr>
      <dsp:spPr>
        <a:xfrm>
          <a:off x="3352900" y="127302"/>
          <a:ext cx="2716328" cy="16297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102" tIns="139714" rIns="133102" bIns="139714" numCol="1" spcCol="1270" anchor="t" anchorCtr="0">
          <a:noAutofit/>
        </a:bodyPr>
        <a:lstStyle/>
        <a:p>
          <a:pPr marL="0" lvl="0" indent="0" algn="l" defTabSz="800100">
            <a:lnSpc>
              <a:spcPct val="90000"/>
            </a:lnSpc>
            <a:spcBef>
              <a:spcPct val="0"/>
            </a:spcBef>
            <a:spcAft>
              <a:spcPct val="35000"/>
            </a:spcAft>
            <a:buNone/>
          </a:pPr>
          <a:r>
            <a:rPr lang="en-US" sz="1800" kern="1200" dirty="0"/>
            <a:t>∗	Implementing classes extend Mapper and override map()</a:t>
          </a:r>
        </a:p>
        <a:p>
          <a:pPr marL="171450" lvl="1" indent="-171450" algn="l" defTabSz="800100">
            <a:lnSpc>
              <a:spcPct val="90000"/>
            </a:lnSpc>
            <a:spcBef>
              <a:spcPct val="0"/>
            </a:spcBef>
            <a:spcAft>
              <a:spcPct val="15000"/>
            </a:spcAft>
            <a:buChar char="•"/>
          </a:pPr>
          <a:r>
            <a:rPr lang="en-US" sz="1800" kern="1200" dirty="0"/>
            <a:t>∗	Main Mapper engine: </a:t>
          </a:r>
          <a:r>
            <a:rPr lang="en-US" sz="1800" kern="1200" dirty="0" err="1"/>
            <a:t>Mapper.run</a:t>
          </a:r>
          <a:r>
            <a:rPr lang="en-US" sz="1800" kern="1200" dirty="0"/>
            <a:t>()</a:t>
          </a:r>
        </a:p>
        <a:p>
          <a:pPr marL="342900" lvl="2" indent="-171450" algn="l" defTabSz="800100">
            <a:lnSpc>
              <a:spcPct val="90000"/>
            </a:lnSpc>
            <a:spcBef>
              <a:spcPct val="0"/>
            </a:spcBef>
            <a:spcAft>
              <a:spcPct val="15000"/>
            </a:spcAft>
            <a:buChar char="•"/>
          </a:pPr>
          <a:r>
            <a:rPr lang="en-US" sz="1800" kern="1200"/>
            <a:t>∗	setup()</a:t>
          </a:r>
        </a:p>
        <a:p>
          <a:pPr marL="342900" lvl="2" indent="-171450" algn="l" defTabSz="800100">
            <a:lnSpc>
              <a:spcPct val="90000"/>
            </a:lnSpc>
            <a:spcBef>
              <a:spcPct val="0"/>
            </a:spcBef>
            <a:spcAft>
              <a:spcPct val="15000"/>
            </a:spcAft>
            <a:buChar char="•"/>
          </a:pPr>
          <a:r>
            <a:rPr lang="en-US" sz="1800" kern="1200"/>
            <a:t>∗	map() for each input record</a:t>
          </a:r>
        </a:p>
        <a:p>
          <a:pPr marL="342900" lvl="2" indent="-171450" algn="l" defTabSz="800100">
            <a:lnSpc>
              <a:spcPct val="90000"/>
            </a:lnSpc>
            <a:spcBef>
              <a:spcPct val="0"/>
            </a:spcBef>
            <a:spcAft>
              <a:spcPct val="15000"/>
            </a:spcAft>
            <a:buChar char="•"/>
          </a:pPr>
          <a:r>
            <a:rPr lang="en-US" sz="1800" kern="1200"/>
            <a:t>∗	cleanup()</a:t>
          </a:r>
        </a:p>
      </dsp:txBody>
      <dsp:txXfrm>
        <a:off x="3352900" y="127302"/>
        <a:ext cx="2716328" cy="1629797"/>
      </dsp:txXfrm>
    </dsp:sp>
    <dsp:sp modelId="{F99B21E7-BD4B-E54A-A597-A6946AAE5C5B}">
      <dsp:nvSpPr>
        <dsp:cNvPr id="0" name=""/>
        <dsp:cNvSpPr/>
      </dsp:nvSpPr>
      <dsp:spPr>
        <a:xfrm>
          <a:off x="1369980" y="1755299"/>
          <a:ext cx="6682168" cy="594155"/>
        </a:xfrm>
        <a:custGeom>
          <a:avLst/>
          <a:gdLst/>
          <a:ahLst/>
          <a:cxnLst/>
          <a:rect l="0" t="0" r="0" b="0"/>
          <a:pathLst>
            <a:path>
              <a:moveTo>
                <a:pt x="6682168" y="0"/>
              </a:moveTo>
              <a:lnTo>
                <a:pt x="6682168" y="314177"/>
              </a:lnTo>
              <a:lnTo>
                <a:pt x="0" y="314177"/>
              </a:lnTo>
              <a:lnTo>
                <a:pt x="0" y="594155"/>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4543282" y="2049250"/>
        <a:ext cx="335565" cy="6253"/>
      </dsp:txXfrm>
    </dsp:sp>
    <dsp:sp modelId="{020CAF99-9584-354D-BBFC-4F7D14357A74}">
      <dsp:nvSpPr>
        <dsp:cNvPr id="0" name=""/>
        <dsp:cNvSpPr/>
      </dsp:nvSpPr>
      <dsp:spPr>
        <a:xfrm>
          <a:off x="6693984" y="127302"/>
          <a:ext cx="2716328" cy="16297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102" tIns="139714" rIns="133102" bIns="139714" numCol="1" spcCol="1270" anchor="ctr" anchorCtr="0">
          <a:noAutofit/>
        </a:bodyPr>
        <a:lstStyle/>
        <a:p>
          <a:pPr marL="0" lvl="0" indent="0" algn="ctr" defTabSz="800100">
            <a:lnSpc>
              <a:spcPct val="90000"/>
            </a:lnSpc>
            <a:spcBef>
              <a:spcPct val="0"/>
            </a:spcBef>
            <a:spcAft>
              <a:spcPct val="35000"/>
            </a:spcAft>
            <a:buNone/>
          </a:pPr>
          <a:r>
            <a:rPr lang="en-US" sz="1800" kern="1200"/>
            <a:t>∗	Mapper implementations are specified in the Job</a:t>
          </a:r>
        </a:p>
      </dsp:txBody>
      <dsp:txXfrm>
        <a:off x="6693984" y="127302"/>
        <a:ext cx="2716328" cy="1629797"/>
      </dsp:txXfrm>
    </dsp:sp>
    <dsp:sp modelId="{577945B3-F410-E643-94F1-2D328D852923}">
      <dsp:nvSpPr>
        <dsp:cNvPr id="0" name=""/>
        <dsp:cNvSpPr/>
      </dsp:nvSpPr>
      <dsp:spPr>
        <a:xfrm>
          <a:off x="2726345" y="3151033"/>
          <a:ext cx="594155" cy="91440"/>
        </a:xfrm>
        <a:custGeom>
          <a:avLst/>
          <a:gdLst/>
          <a:ahLst/>
          <a:cxnLst/>
          <a:rect l="0" t="0" r="0" b="0"/>
          <a:pathLst>
            <a:path>
              <a:moveTo>
                <a:pt x="0" y="45720"/>
              </a:moveTo>
              <a:lnTo>
                <a:pt x="594155"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3007804" y="3193626"/>
        <a:ext cx="31237" cy="6253"/>
      </dsp:txXfrm>
    </dsp:sp>
    <dsp:sp modelId="{079D08D0-F05A-6748-BB45-EB8EAD73375E}">
      <dsp:nvSpPr>
        <dsp:cNvPr id="0" name=""/>
        <dsp:cNvSpPr/>
      </dsp:nvSpPr>
      <dsp:spPr>
        <a:xfrm>
          <a:off x="11816" y="2381854"/>
          <a:ext cx="2716328" cy="16297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102" tIns="139714" rIns="133102" bIns="139714" numCol="1" spcCol="1270" anchor="ctr" anchorCtr="0">
          <a:noAutofit/>
        </a:bodyPr>
        <a:lstStyle/>
        <a:p>
          <a:pPr marL="0" lvl="0" indent="0" algn="ctr" defTabSz="800100">
            <a:lnSpc>
              <a:spcPct val="90000"/>
            </a:lnSpc>
            <a:spcBef>
              <a:spcPct val="0"/>
            </a:spcBef>
            <a:spcAft>
              <a:spcPct val="35000"/>
            </a:spcAft>
            <a:buNone/>
          </a:pPr>
          <a:r>
            <a:rPr lang="en-US" sz="1800" kern="1200"/>
            <a:t>∗	Mapper instantiated in the Job</a:t>
          </a:r>
        </a:p>
      </dsp:txBody>
      <dsp:txXfrm>
        <a:off x="11816" y="2381854"/>
        <a:ext cx="2716328" cy="1629797"/>
      </dsp:txXfrm>
    </dsp:sp>
    <dsp:sp modelId="{DDFCA31C-AF85-DD4C-9221-F901DE1F2EA9}">
      <dsp:nvSpPr>
        <dsp:cNvPr id="0" name=""/>
        <dsp:cNvSpPr/>
      </dsp:nvSpPr>
      <dsp:spPr>
        <a:xfrm>
          <a:off x="6067429" y="3151033"/>
          <a:ext cx="594155" cy="91440"/>
        </a:xfrm>
        <a:custGeom>
          <a:avLst/>
          <a:gdLst/>
          <a:ahLst/>
          <a:cxnLst/>
          <a:rect l="0" t="0" r="0" b="0"/>
          <a:pathLst>
            <a:path>
              <a:moveTo>
                <a:pt x="0" y="45720"/>
              </a:moveTo>
              <a:lnTo>
                <a:pt x="594155"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90000"/>
            </a:lnSpc>
            <a:spcBef>
              <a:spcPct val="0"/>
            </a:spcBef>
            <a:spcAft>
              <a:spcPct val="35000"/>
            </a:spcAft>
            <a:buNone/>
          </a:pPr>
          <a:endParaRPr lang="en-US" sz="1800" kern="1200"/>
        </a:p>
      </dsp:txBody>
      <dsp:txXfrm>
        <a:off x="6348888" y="3193626"/>
        <a:ext cx="31237" cy="6253"/>
      </dsp:txXfrm>
    </dsp:sp>
    <dsp:sp modelId="{6DC8146E-E057-104D-9CB6-5DD6B13380A7}">
      <dsp:nvSpPr>
        <dsp:cNvPr id="0" name=""/>
        <dsp:cNvSpPr/>
      </dsp:nvSpPr>
      <dsp:spPr>
        <a:xfrm>
          <a:off x="3352900" y="2381854"/>
          <a:ext cx="2716328" cy="16297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102" tIns="139714" rIns="133102" bIns="139714" numCol="1" spcCol="1270" anchor="ctr" anchorCtr="0">
          <a:noAutofit/>
        </a:bodyPr>
        <a:lstStyle/>
        <a:p>
          <a:pPr marL="0" lvl="0" indent="0" algn="ctr" defTabSz="800100">
            <a:lnSpc>
              <a:spcPct val="90000"/>
            </a:lnSpc>
            <a:spcBef>
              <a:spcPct val="0"/>
            </a:spcBef>
            <a:spcAft>
              <a:spcPct val="35000"/>
            </a:spcAft>
            <a:buNone/>
          </a:pPr>
          <a:r>
            <a:rPr lang="en-US" sz="1800" kern="1200"/>
            <a:t>∗	Output data is emitted from Mapper via the Context object</a:t>
          </a:r>
        </a:p>
      </dsp:txBody>
      <dsp:txXfrm>
        <a:off x="3352900" y="2381854"/>
        <a:ext cx="2716328" cy="1629797"/>
      </dsp:txXfrm>
    </dsp:sp>
    <dsp:sp modelId="{5FBDE334-9B7A-E249-B8CA-740DFA1332D2}">
      <dsp:nvSpPr>
        <dsp:cNvPr id="0" name=""/>
        <dsp:cNvSpPr/>
      </dsp:nvSpPr>
      <dsp:spPr>
        <a:xfrm>
          <a:off x="6693984" y="2381854"/>
          <a:ext cx="2716328" cy="16297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102" tIns="139714" rIns="133102" bIns="139714" numCol="1" spcCol="1270" anchor="t" anchorCtr="0">
          <a:noAutofit/>
        </a:bodyPr>
        <a:lstStyle/>
        <a:p>
          <a:pPr marL="0" lvl="0" indent="0" algn="l" defTabSz="800100">
            <a:lnSpc>
              <a:spcPct val="90000"/>
            </a:lnSpc>
            <a:spcBef>
              <a:spcPct val="0"/>
            </a:spcBef>
            <a:spcAft>
              <a:spcPct val="35000"/>
            </a:spcAft>
            <a:buNone/>
          </a:pPr>
          <a:r>
            <a:rPr lang="en-US" sz="1800" kern="1200"/>
            <a:t>∗	Hadoop MapReduce framework spawns one map task for each logical representation of a unit of input work for a map task</a:t>
          </a:r>
        </a:p>
        <a:p>
          <a:pPr marL="171450" lvl="1" indent="-171450" algn="l" defTabSz="800100">
            <a:lnSpc>
              <a:spcPct val="90000"/>
            </a:lnSpc>
            <a:spcBef>
              <a:spcPct val="0"/>
            </a:spcBef>
            <a:spcAft>
              <a:spcPct val="15000"/>
            </a:spcAft>
            <a:buChar char="•"/>
          </a:pPr>
          <a:r>
            <a:rPr lang="en-US" sz="1800" kern="1200"/>
            <a:t>∗	e.g. a filename and a byte range within that file</a:t>
          </a:r>
        </a:p>
      </dsp:txBody>
      <dsp:txXfrm>
        <a:off x="6693984" y="2381854"/>
        <a:ext cx="2716328" cy="162979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E356C0-E9DF-544C-96F9-6AA0F88816F9}">
      <dsp:nvSpPr>
        <dsp:cNvPr id="0" name=""/>
        <dsp:cNvSpPr/>
      </dsp:nvSpPr>
      <dsp:spPr>
        <a:xfrm rot="16200000">
          <a:off x="2338" y="1178"/>
          <a:ext cx="4348981" cy="4348981"/>
        </a:xfrm>
        <a:prstGeom prst="downArrow">
          <a:avLst>
            <a:gd name="adj1" fmla="val 50000"/>
            <a:gd name="adj2" fmla="val 35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sz="1600" kern="1200"/>
            <a:t>∗ The number of maps is driven by the total size of the inputs</a:t>
          </a:r>
        </a:p>
      </dsp:txBody>
      <dsp:txXfrm rot="5400000">
        <a:off x="2338" y="1088423"/>
        <a:ext cx="3587909" cy="2174491"/>
      </dsp:txXfrm>
    </dsp:sp>
    <dsp:sp modelId="{92111294-2801-484E-9EB5-BD016C59371A}">
      <dsp:nvSpPr>
        <dsp:cNvPr id="0" name=""/>
        <dsp:cNvSpPr/>
      </dsp:nvSpPr>
      <dsp:spPr>
        <a:xfrm rot="5400000">
          <a:off x="6164280" y="1178"/>
          <a:ext cx="4348981" cy="4348981"/>
        </a:xfrm>
        <a:prstGeom prst="downArrow">
          <a:avLst>
            <a:gd name="adj1" fmla="val 50000"/>
            <a:gd name="adj2" fmla="val 35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13792" tIns="113792" rIns="113792" bIns="113792" numCol="1" spcCol="1270" anchor="t" anchorCtr="0">
          <a:noAutofit/>
        </a:bodyPr>
        <a:lstStyle/>
        <a:p>
          <a:pPr marL="0" lvl="0" indent="0" algn="l" defTabSz="711200">
            <a:lnSpc>
              <a:spcPct val="90000"/>
            </a:lnSpc>
            <a:spcBef>
              <a:spcPct val="0"/>
            </a:spcBef>
            <a:spcAft>
              <a:spcPct val="35000"/>
            </a:spcAft>
            <a:buNone/>
          </a:pPr>
          <a:r>
            <a:rPr lang="en-US" sz="1600" kern="1200"/>
            <a:t>∗ Hadoop has found the right level of parallelism for maps is between 10-</a:t>
          </a:r>
        </a:p>
        <a:p>
          <a:pPr marL="114300" lvl="1" indent="-114300" algn="l" defTabSz="533400">
            <a:lnSpc>
              <a:spcPct val="90000"/>
            </a:lnSpc>
            <a:spcBef>
              <a:spcPct val="0"/>
            </a:spcBef>
            <a:spcAft>
              <a:spcPct val="15000"/>
            </a:spcAft>
            <a:buChar char="•"/>
          </a:pPr>
          <a:r>
            <a:rPr lang="en-US" sz="1200" kern="1200"/>
            <a:t>100 maps/node</a:t>
          </a:r>
        </a:p>
        <a:p>
          <a:pPr marL="114300" lvl="1" indent="-114300" algn="l" defTabSz="533400">
            <a:lnSpc>
              <a:spcPct val="90000"/>
            </a:lnSpc>
            <a:spcBef>
              <a:spcPct val="0"/>
            </a:spcBef>
            <a:spcAft>
              <a:spcPct val="15000"/>
            </a:spcAft>
            <a:buChar char="•"/>
          </a:pPr>
          <a:r>
            <a:rPr lang="en-US" sz="1200" kern="1200"/>
            <a:t>∗ If you expect 10TB of input data and have a block size of 128MB, you will have 82,000 maps</a:t>
          </a:r>
        </a:p>
        <a:p>
          <a:pPr marL="114300" lvl="1" indent="-114300" algn="l" defTabSz="533400">
            <a:lnSpc>
              <a:spcPct val="90000"/>
            </a:lnSpc>
            <a:spcBef>
              <a:spcPct val="0"/>
            </a:spcBef>
            <a:spcAft>
              <a:spcPct val="15000"/>
            </a:spcAft>
            <a:buChar char="•"/>
          </a:pPr>
          <a:r>
            <a:rPr lang="en-US" sz="1200" kern="1200"/>
            <a:t>∗ Number of tasks controlled by number of splits returned and can be user overridden</a:t>
          </a:r>
        </a:p>
      </dsp:txBody>
      <dsp:txXfrm rot="-5400000">
        <a:off x="6925352" y="1088423"/>
        <a:ext cx="3587909" cy="217449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3B7BC-AAC4-014C-A705-3CB43038EBAA}">
      <dsp:nvSpPr>
        <dsp:cNvPr id="0" name=""/>
        <dsp:cNvSpPr/>
      </dsp:nvSpPr>
      <dsp:spPr>
        <a:xfrm>
          <a:off x="4618890" y="826155"/>
          <a:ext cx="634019" cy="91440"/>
        </a:xfrm>
        <a:custGeom>
          <a:avLst/>
          <a:gdLst/>
          <a:ahLst/>
          <a:cxnLst/>
          <a:rect l="0" t="0" r="0" b="0"/>
          <a:pathLst>
            <a:path>
              <a:moveTo>
                <a:pt x="0" y="45720"/>
              </a:moveTo>
              <a:lnTo>
                <a:pt x="63401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100000"/>
            </a:lnSpc>
            <a:spcBef>
              <a:spcPct val="0"/>
            </a:spcBef>
            <a:spcAft>
              <a:spcPct val="35000"/>
            </a:spcAft>
            <a:buNone/>
          </a:pPr>
          <a:endParaRPr lang="en-US" sz="1800" kern="1200"/>
        </a:p>
      </dsp:txBody>
      <dsp:txXfrm>
        <a:off x="4919284" y="868548"/>
        <a:ext cx="33230" cy="6652"/>
      </dsp:txXfrm>
    </dsp:sp>
    <dsp:sp modelId="{51BEC117-D791-1B47-8C50-1593B0100194}">
      <dsp:nvSpPr>
        <dsp:cNvPr id="0" name=""/>
        <dsp:cNvSpPr/>
      </dsp:nvSpPr>
      <dsp:spPr>
        <a:xfrm>
          <a:off x="1731040" y="4980"/>
          <a:ext cx="2889649" cy="1733789"/>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1595" tIns="148629" rIns="141595" bIns="148629" numCol="1" spcCol="1270" anchor="ctr" anchorCtr="0">
          <a:noAutofit/>
        </a:bodyPr>
        <a:lstStyle/>
        <a:p>
          <a:pPr marL="0" lvl="0" indent="0" algn="ctr" defTabSz="800100">
            <a:lnSpc>
              <a:spcPct val="100000"/>
            </a:lnSpc>
            <a:spcBef>
              <a:spcPct val="0"/>
            </a:spcBef>
            <a:spcAft>
              <a:spcPct val="35000"/>
            </a:spcAft>
            <a:buNone/>
          </a:pPr>
          <a:r>
            <a:rPr lang="en-US" sz="1800" kern="1200"/>
            <a:t>∗ Reduces a set of intermediate values which share a key to a (usually smaller) set of values</a:t>
          </a:r>
        </a:p>
      </dsp:txBody>
      <dsp:txXfrm>
        <a:off x="1731040" y="4980"/>
        <a:ext cx="2889649" cy="1733789"/>
      </dsp:txXfrm>
    </dsp:sp>
    <dsp:sp modelId="{3A7CEB8A-78C3-C744-8AE3-07B5D39D7566}">
      <dsp:nvSpPr>
        <dsp:cNvPr id="0" name=""/>
        <dsp:cNvSpPr/>
      </dsp:nvSpPr>
      <dsp:spPr>
        <a:xfrm>
          <a:off x="3175865" y="1736970"/>
          <a:ext cx="3554269" cy="634019"/>
        </a:xfrm>
        <a:custGeom>
          <a:avLst/>
          <a:gdLst/>
          <a:ahLst/>
          <a:cxnLst/>
          <a:rect l="0" t="0" r="0" b="0"/>
          <a:pathLst>
            <a:path>
              <a:moveTo>
                <a:pt x="3554269" y="0"/>
              </a:moveTo>
              <a:lnTo>
                <a:pt x="3554269" y="334109"/>
              </a:lnTo>
              <a:lnTo>
                <a:pt x="0" y="334109"/>
              </a:lnTo>
              <a:lnTo>
                <a:pt x="0" y="634019"/>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100000"/>
            </a:lnSpc>
            <a:spcBef>
              <a:spcPct val="0"/>
            </a:spcBef>
            <a:spcAft>
              <a:spcPct val="35000"/>
            </a:spcAft>
            <a:buNone/>
          </a:pPr>
          <a:endParaRPr lang="en-US" sz="1800" kern="1200"/>
        </a:p>
      </dsp:txBody>
      <dsp:txXfrm>
        <a:off x="4862603" y="2050653"/>
        <a:ext cx="180793" cy="6652"/>
      </dsp:txXfrm>
    </dsp:sp>
    <dsp:sp modelId="{807006BF-7457-DB4C-AF55-9DB345AA13F8}">
      <dsp:nvSpPr>
        <dsp:cNvPr id="0" name=""/>
        <dsp:cNvSpPr/>
      </dsp:nvSpPr>
      <dsp:spPr>
        <a:xfrm>
          <a:off x="5285309" y="4980"/>
          <a:ext cx="2889649" cy="1733789"/>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1595" tIns="148629" rIns="141595" bIns="148629" numCol="1" spcCol="1270" anchor="ctr" anchorCtr="0">
          <a:noAutofit/>
        </a:bodyPr>
        <a:lstStyle/>
        <a:p>
          <a:pPr marL="0" lvl="0" indent="0" algn="ctr" defTabSz="800100">
            <a:lnSpc>
              <a:spcPct val="100000"/>
            </a:lnSpc>
            <a:spcBef>
              <a:spcPct val="0"/>
            </a:spcBef>
            <a:spcAft>
              <a:spcPct val="35000"/>
            </a:spcAft>
            <a:buNone/>
          </a:pPr>
          <a:r>
            <a:rPr lang="en-US" sz="1800" kern="1200"/>
            <a:t>∗ Sorts and partitions Mapper outputs</a:t>
          </a:r>
        </a:p>
      </dsp:txBody>
      <dsp:txXfrm>
        <a:off x="5285309" y="4980"/>
        <a:ext cx="2889649" cy="1733789"/>
      </dsp:txXfrm>
    </dsp:sp>
    <dsp:sp modelId="{7461441B-B923-8A45-B22F-B2AF76ED0FE7}">
      <dsp:nvSpPr>
        <dsp:cNvPr id="0" name=""/>
        <dsp:cNvSpPr/>
      </dsp:nvSpPr>
      <dsp:spPr>
        <a:xfrm>
          <a:off x="4618890" y="3224564"/>
          <a:ext cx="634019" cy="91440"/>
        </a:xfrm>
        <a:custGeom>
          <a:avLst/>
          <a:gdLst/>
          <a:ahLst/>
          <a:cxnLst/>
          <a:rect l="0" t="0" r="0" b="0"/>
          <a:pathLst>
            <a:path>
              <a:moveTo>
                <a:pt x="0" y="45720"/>
              </a:moveTo>
              <a:lnTo>
                <a:pt x="634019"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800100">
            <a:lnSpc>
              <a:spcPct val="100000"/>
            </a:lnSpc>
            <a:spcBef>
              <a:spcPct val="0"/>
            </a:spcBef>
            <a:spcAft>
              <a:spcPct val="35000"/>
            </a:spcAft>
            <a:buNone/>
          </a:pPr>
          <a:endParaRPr lang="en-US" sz="1800" kern="1200"/>
        </a:p>
      </dsp:txBody>
      <dsp:txXfrm>
        <a:off x="4919284" y="3266958"/>
        <a:ext cx="33230" cy="6652"/>
      </dsp:txXfrm>
    </dsp:sp>
    <dsp:sp modelId="{56A47FAC-1220-FE4D-A6DA-30CB178AB658}">
      <dsp:nvSpPr>
        <dsp:cNvPr id="0" name=""/>
        <dsp:cNvSpPr/>
      </dsp:nvSpPr>
      <dsp:spPr>
        <a:xfrm>
          <a:off x="1731040" y="2403389"/>
          <a:ext cx="2889649" cy="1733789"/>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1595" tIns="148629" rIns="141595" bIns="148629" numCol="1" spcCol="1270" anchor="ctr" anchorCtr="0">
          <a:noAutofit/>
        </a:bodyPr>
        <a:lstStyle/>
        <a:p>
          <a:pPr marL="0" lvl="0" indent="0" algn="ctr" defTabSz="800100">
            <a:lnSpc>
              <a:spcPct val="100000"/>
            </a:lnSpc>
            <a:spcBef>
              <a:spcPct val="0"/>
            </a:spcBef>
            <a:spcAft>
              <a:spcPct val="35000"/>
            </a:spcAft>
            <a:buNone/>
          </a:pPr>
          <a:r>
            <a:rPr lang="en-US" sz="1800" kern="1200"/>
            <a:t>∗ Number of reduces for the job set by user via Job.setNumReduceTasks(int)</a:t>
          </a:r>
        </a:p>
      </dsp:txBody>
      <dsp:txXfrm>
        <a:off x="1731040" y="2403389"/>
        <a:ext cx="2889649" cy="1733789"/>
      </dsp:txXfrm>
    </dsp:sp>
    <dsp:sp modelId="{E9590CF9-9FE4-E043-B1D8-CF05BADA2734}">
      <dsp:nvSpPr>
        <dsp:cNvPr id="0" name=""/>
        <dsp:cNvSpPr/>
      </dsp:nvSpPr>
      <dsp:spPr>
        <a:xfrm>
          <a:off x="5285309" y="2403389"/>
          <a:ext cx="2889649" cy="1733789"/>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1595" tIns="148629" rIns="141595" bIns="148629" numCol="1" spcCol="1270" anchor="t" anchorCtr="0">
          <a:noAutofit/>
        </a:bodyPr>
        <a:lstStyle/>
        <a:p>
          <a:pPr marL="0" lvl="0" indent="0" algn="l" defTabSz="800100">
            <a:lnSpc>
              <a:spcPct val="100000"/>
            </a:lnSpc>
            <a:spcBef>
              <a:spcPct val="0"/>
            </a:spcBef>
            <a:spcAft>
              <a:spcPct val="35000"/>
            </a:spcAft>
            <a:buNone/>
          </a:pPr>
          <a:r>
            <a:rPr lang="en-US" sz="1800" kern="1200"/>
            <a:t>∗ Reduce engine</a:t>
          </a:r>
        </a:p>
        <a:p>
          <a:pPr marL="171450" lvl="1" indent="-171450" algn="l" defTabSz="800100">
            <a:lnSpc>
              <a:spcPct val="100000"/>
            </a:lnSpc>
            <a:spcBef>
              <a:spcPct val="0"/>
            </a:spcBef>
            <a:spcAft>
              <a:spcPct val="15000"/>
            </a:spcAft>
            <a:buChar char="•"/>
          </a:pPr>
          <a:r>
            <a:rPr lang="en-US" sz="1800" kern="1200"/>
            <a:t>∗	receives a Context containing job’s configuration as well as interfacing methods that</a:t>
          </a:r>
        </a:p>
        <a:p>
          <a:pPr marL="342900" lvl="2" indent="-171450" algn="l" defTabSz="800100">
            <a:lnSpc>
              <a:spcPct val="100000"/>
            </a:lnSpc>
            <a:spcBef>
              <a:spcPct val="0"/>
            </a:spcBef>
            <a:spcAft>
              <a:spcPct val="15000"/>
            </a:spcAft>
            <a:buChar char="•"/>
          </a:pPr>
          <a:r>
            <a:rPr lang="en-US" sz="1800" kern="1200"/>
            <a:t>return data back to the framework</a:t>
          </a:r>
        </a:p>
        <a:p>
          <a:pPr marL="171450" lvl="1" indent="-171450" algn="l" defTabSz="800100">
            <a:lnSpc>
              <a:spcPct val="100000"/>
            </a:lnSpc>
            <a:spcBef>
              <a:spcPct val="0"/>
            </a:spcBef>
            <a:spcAft>
              <a:spcPct val="15000"/>
            </a:spcAft>
            <a:buChar char="•"/>
          </a:pPr>
          <a:r>
            <a:rPr lang="en-US" sz="1800" kern="1200"/>
            <a:t>∗	Reducer.run()</a:t>
          </a:r>
        </a:p>
        <a:p>
          <a:pPr marL="342900" lvl="2" indent="-171450" algn="l" defTabSz="800100">
            <a:lnSpc>
              <a:spcPct val="100000"/>
            </a:lnSpc>
            <a:spcBef>
              <a:spcPct val="0"/>
            </a:spcBef>
            <a:spcAft>
              <a:spcPct val="15000"/>
            </a:spcAft>
            <a:buChar char="•"/>
          </a:pPr>
          <a:r>
            <a:rPr lang="en-US" sz="1800" kern="1200"/>
            <a:t>∗ setup()</a:t>
          </a:r>
        </a:p>
        <a:p>
          <a:pPr marL="342900" lvl="2" indent="-171450" algn="l" defTabSz="800100">
            <a:lnSpc>
              <a:spcPct val="100000"/>
            </a:lnSpc>
            <a:spcBef>
              <a:spcPct val="0"/>
            </a:spcBef>
            <a:spcAft>
              <a:spcPct val="15000"/>
            </a:spcAft>
            <a:buChar char="•"/>
          </a:pPr>
          <a:r>
            <a:rPr lang="en-US" sz="1800" kern="1200"/>
            <a:t>∗ reduce() per key associated with reduce task</a:t>
          </a:r>
        </a:p>
        <a:p>
          <a:pPr marL="342900" lvl="2" indent="-171450" algn="l" defTabSz="800100">
            <a:lnSpc>
              <a:spcPct val="100000"/>
            </a:lnSpc>
            <a:spcBef>
              <a:spcPct val="0"/>
            </a:spcBef>
            <a:spcAft>
              <a:spcPct val="15000"/>
            </a:spcAft>
            <a:buChar char="•"/>
          </a:pPr>
          <a:r>
            <a:rPr lang="en-US" sz="1800" kern="1200"/>
            <a:t>∗ cleanup()</a:t>
          </a:r>
        </a:p>
      </dsp:txBody>
      <dsp:txXfrm>
        <a:off x="5285309" y="2403389"/>
        <a:ext cx="2889649" cy="17337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3704A1-A47E-DE4C-8259-60E0C391AB82}">
      <dsp:nvSpPr>
        <dsp:cNvPr id="0" name=""/>
        <dsp:cNvSpPr/>
      </dsp:nvSpPr>
      <dsp:spPr>
        <a:xfrm>
          <a:off x="2637799" y="533879"/>
          <a:ext cx="411684" cy="91440"/>
        </a:xfrm>
        <a:custGeom>
          <a:avLst/>
          <a:gdLst/>
          <a:ahLst/>
          <a:cxnLst/>
          <a:rect l="0" t="0" r="0" b="0"/>
          <a:pathLst>
            <a:path>
              <a:moveTo>
                <a:pt x="0" y="45720"/>
              </a:moveTo>
              <a:lnTo>
                <a:pt x="411684"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100000"/>
            </a:lnSpc>
            <a:spcBef>
              <a:spcPct val="0"/>
            </a:spcBef>
            <a:spcAft>
              <a:spcPct val="35000"/>
            </a:spcAft>
            <a:buNone/>
          </a:pPr>
          <a:endParaRPr lang="en-US" sz="1600" kern="1200">
            <a:solidFill>
              <a:schemeClr val="bg1"/>
            </a:solidFill>
          </a:endParaRPr>
        </a:p>
      </dsp:txBody>
      <dsp:txXfrm>
        <a:off x="2832584" y="577386"/>
        <a:ext cx="22114" cy="4427"/>
      </dsp:txXfrm>
    </dsp:sp>
    <dsp:sp modelId="{79966D7F-EBDA-534E-8430-B802EE316940}">
      <dsp:nvSpPr>
        <dsp:cNvPr id="0" name=""/>
        <dsp:cNvSpPr/>
      </dsp:nvSpPr>
      <dsp:spPr>
        <a:xfrm>
          <a:off x="716624" y="2707"/>
          <a:ext cx="1922974" cy="1153784"/>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227" tIns="98908" rIns="94227" bIns="98908" numCol="1" spcCol="1270" anchor="ctr" anchorCtr="0">
          <a:noAutofit/>
        </a:bodyPr>
        <a:lstStyle/>
        <a:p>
          <a:pPr marL="0" lvl="0" indent="0" algn="ctr" defTabSz="711200">
            <a:lnSpc>
              <a:spcPct val="100000"/>
            </a:lnSpc>
            <a:spcBef>
              <a:spcPct val="0"/>
            </a:spcBef>
            <a:spcAft>
              <a:spcPct val="35000"/>
            </a:spcAft>
            <a:buNone/>
          </a:pPr>
          <a:r>
            <a:rPr lang="en-US" sz="1600" kern="1200">
              <a:solidFill>
                <a:schemeClr val="bg1"/>
              </a:solidFill>
            </a:rPr>
            <a:t>∗	No </a:t>
          </a:r>
          <a:r>
            <a:rPr lang="en-US" sz="1600" i="1" kern="1200">
              <a:solidFill>
                <a:schemeClr val="bg1"/>
              </a:solidFill>
            </a:rPr>
            <a:t>reduce </a:t>
          </a:r>
          <a:r>
            <a:rPr lang="en-US" sz="1600" kern="1200">
              <a:solidFill>
                <a:schemeClr val="bg1"/>
              </a:solidFill>
            </a:rPr>
            <a:t>can begin until </a:t>
          </a:r>
          <a:r>
            <a:rPr lang="en-US" sz="1600" i="1" kern="1200">
              <a:solidFill>
                <a:schemeClr val="bg1"/>
              </a:solidFill>
            </a:rPr>
            <a:t>map </a:t>
          </a:r>
          <a:r>
            <a:rPr lang="en-US" sz="1600" kern="1200">
              <a:solidFill>
                <a:schemeClr val="bg1"/>
              </a:solidFill>
            </a:rPr>
            <a:t>is complete</a:t>
          </a:r>
        </a:p>
      </dsp:txBody>
      <dsp:txXfrm>
        <a:off x="716624" y="2707"/>
        <a:ext cx="1922974" cy="1153784"/>
      </dsp:txXfrm>
    </dsp:sp>
    <dsp:sp modelId="{E8DE8397-4D0E-F241-97DF-3B65A35EAD2F}">
      <dsp:nvSpPr>
        <dsp:cNvPr id="0" name=""/>
        <dsp:cNvSpPr/>
      </dsp:nvSpPr>
      <dsp:spPr>
        <a:xfrm>
          <a:off x="1678112" y="1154692"/>
          <a:ext cx="2365259" cy="411684"/>
        </a:xfrm>
        <a:custGeom>
          <a:avLst/>
          <a:gdLst/>
          <a:ahLst/>
          <a:cxnLst/>
          <a:rect l="0" t="0" r="0" b="0"/>
          <a:pathLst>
            <a:path>
              <a:moveTo>
                <a:pt x="2365259" y="0"/>
              </a:moveTo>
              <a:lnTo>
                <a:pt x="2365259" y="222942"/>
              </a:lnTo>
              <a:lnTo>
                <a:pt x="0" y="222942"/>
              </a:lnTo>
              <a:lnTo>
                <a:pt x="0" y="411684"/>
              </a:lnTo>
            </a:path>
          </a:pathLst>
        </a:custGeom>
        <a:noFill/>
        <a:ln w="12700" cap="flat" cmpd="sng" algn="ctr">
          <a:solidFill>
            <a:schemeClr val="accent5">
              <a:hueOff val="-4050717"/>
              <a:satOff val="-275"/>
              <a:lumOff val="654"/>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100000"/>
            </a:lnSpc>
            <a:spcBef>
              <a:spcPct val="0"/>
            </a:spcBef>
            <a:spcAft>
              <a:spcPct val="35000"/>
            </a:spcAft>
            <a:buNone/>
          </a:pPr>
          <a:endParaRPr lang="en-US" sz="1600" kern="1200">
            <a:solidFill>
              <a:schemeClr val="bg1"/>
            </a:solidFill>
          </a:endParaRPr>
        </a:p>
      </dsp:txBody>
      <dsp:txXfrm>
        <a:off x="2800585" y="1358320"/>
        <a:ext cx="120312" cy="4427"/>
      </dsp:txXfrm>
    </dsp:sp>
    <dsp:sp modelId="{15CB671D-6EB4-0547-9D7D-999FEBF926E3}">
      <dsp:nvSpPr>
        <dsp:cNvPr id="0" name=""/>
        <dsp:cNvSpPr/>
      </dsp:nvSpPr>
      <dsp:spPr>
        <a:xfrm>
          <a:off x="3081884" y="2707"/>
          <a:ext cx="1922974" cy="1153784"/>
        </a:xfrm>
        <a:prstGeom prst="rect">
          <a:avLst/>
        </a:prstGeom>
        <a:solidFill>
          <a:schemeClr val="accent5">
            <a:hueOff val="-3038037"/>
            <a:satOff val="-207"/>
            <a:lumOff val="49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227" tIns="98908" rIns="94227" bIns="98908" numCol="1" spcCol="1270" anchor="t" anchorCtr="0">
          <a:noAutofit/>
        </a:bodyPr>
        <a:lstStyle/>
        <a:p>
          <a:pPr marL="0" lvl="0" indent="0" algn="l" defTabSz="711200">
            <a:lnSpc>
              <a:spcPct val="100000"/>
            </a:lnSpc>
            <a:spcBef>
              <a:spcPct val="0"/>
            </a:spcBef>
            <a:spcAft>
              <a:spcPct val="35000"/>
            </a:spcAft>
            <a:buNone/>
          </a:pPr>
          <a:r>
            <a:rPr lang="en-US" sz="1600" kern="1200">
              <a:solidFill>
                <a:schemeClr val="bg1"/>
              </a:solidFill>
            </a:rPr>
            <a:t>∗	Specify the Job configuration</a:t>
          </a:r>
        </a:p>
        <a:p>
          <a:pPr marL="171450" lvl="1" indent="-171450" algn="l" defTabSz="711200">
            <a:lnSpc>
              <a:spcPct val="100000"/>
            </a:lnSpc>
            <a:spcBef>
              <a:spcPct val="0"/>
            </a:spcBef>
            <a:spcAft>
              <a:spcPct val="15000"/>
            </a:spcAft>
            <a:buChar char="•"/>
          </a:pPr>
          <a:r>
            <a:rPr lang="en-US" sz="1600" kern="1200">
              <a:solidFill>
                <a:schemeClr val="bg1"/>
              </a:solidFill>
            </a:rPr>
            <a:t>∗	Specify input/output locations</a:t>
          </a:r>
        </a:p>
        <a:p>
          <a:pPr marL="342900" lvl="2" indent="-171450" algn="l" defTabSz="711200">
            <a:lnSpc>
              <a:spcPct val="100000"/>
            </a:lnSpc>
            <a:spcBef>
              <a:spcPct val="0"/>
            </a:spcBef>
            <a:spcAft>
              <a:spcPct val="15000"/>
            </a:spcAft>
            <a:buChar char="•"/>
          </a:pPr>
          <a:r>
            <a:rPr lang="en-US" sz="1600" kern="1200">
              <a:solidFill>
                <a:schemeClr val="bg1"/>
              </a:solidFill>
            </a:rPr>
            <a:t>∗	Supply map and reduce functions via implementations of appropriate interfaces and/or abstract classes</a:t>
          </a:r>
        </a:p>
      </dsp:txBody>
      <dsp:txXfrm>
        <a:off x="3081884" y="2707"/>
        <a:ext cx="1922974" cy="1153784"/>
      </dsp:txXfrm>
    </dsp:sp>
    <dsp:sp modelId="{0F3C67A5-E580-A043-8D95-FF085EE1EC01}">
      <dsp:nvSpPr>
        <dsp:cNvPr id="0" name=""/>
        <dsp:cNvSpPr/>
      </dsp:nvSpPr>
      <dsp:spPr>
        <a:xfrm>
          <a:off x="2637799" y="2129948"/>
          <a:ext cx="411684" cy="91440"/>
        </a:xfrm>
        <a:custGeom>
          <a:avLst/>
          <a:gdLst/>
          <a:ahLst/>
          <a:cxnLst/>
          <a:rect l="0" t="0" r="0" b="0"/>
          <a:pathLst>
            <a:path>
              <a:moveTo>
                <a:pt x="0" y="45720"/>
              </a:moveTo>
              <a:lnTo>
                <a:pt x="411684" y="45720"/>
              </a:lnTo>
            </a:path>
          </a:pathLst>
        </a:custGeom>
        <a:noFill/>
        <a:ln w="12700" cap="flat" cmpd="sng" algn="ctr">
          <a:solidFill>
            <a:schemeClr val="accent5">
              <a:hueOff val="-8101434"/>
              <a:satOff val="-551"/>
              <a:lumOff val="1307"/>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100000"/>
            </a:lnSpc>
            <a:spcBef>
              <a:spcPct val="0"/>
            </a:spcBef>
            <a:spcAft>
              <a:spcPct val="35000"/>
            </a:spcAft>
            <a:buNone/>
          </a:pPr>
          <a:endParaRPr lang="en-US" sz="1600" kern="1200">
            <a:solidFill>
              <a:schemeClr val="bg1"/>
            </a:solidFill>
          </a:endParaRPr>
        </a:p>
      </dsp:txBody>
      <dsp:txXfrm>
        <a:off x="2832584" y="2173455"/>
        <a:ext cx="22114" cy="4427"/>
      </dsp:txXfrm>
    </dsp:sp>
    <dsp:sp modelId="{717FE244-7917-BC4E-984F-DD8B79CF19D4}">
      <dsp:nvSpPr>
        <dsp:cNvPr id="0" name=""/>
        <dsp:cNvSpPr/>
      </dsp:nvSpPr>
      <dsp:spPr>
        <a:xfrm>
          <a:off x="716624" y="1598776"/>
          <a:ext cx="1922974" cy="1153784"/>
        </a:xfrm>
        <a:prstGeom prst="rect">
          <a:avLst/>
        </a:prstGeom>
        <a:solidFill>
          <a:schemeClr val="accent5">
            <a:hueOff val="-6076075"/>
            <a:satOff val="-413"/>
            <a:lumOff val="98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227" tIns="98908" rIns="94227" bIns="98908" numCol="1" spcCol="1270" anchor="t" anchorCtr="0">
          <a:noAutofit/>
        </a:bodyPr>
        <a:lstStyle/>
        <a:p>
          <a:pPr marL="0" lvl="0" indent="0" algn="l" defTabSz="711200">
            <a:lnSpc>
              <a:spcPct val="100000"/>
            </a:lnSpc>
            <a:spcBef>
              <a:spcPct val="0"/>
            </a:spcBef>
            <a:spcAft>
              <a:spcPct val="35000"/>
            </a:spcAft>
            <a:buNone/>
          </a:pPr>
          <a:r>
            <a:rPr lang="en-US" sz="1600" kern="1200">
              <a:solidFill>
                <a:schemeClr val="bg1"/>
              </a:solidFill>
            </a:rPr>
            <a:t>∗	If </a:t>
          </a:r>
          <a:r>
            <a:rPr lang="en-US" sz="1600" i="1" kern="1200">
              <a:solidFill>
                <a:schemeClr val="bg1"/>
              </a:solidFill>
            </a:rPr>
            <a:t>map </a:t>
          </a:r>
          <a:r>
            <a:rPr lang="en-US" sz="1600" kern="1200">
              <a:solidFill>
                <a:schemeClr val="bg1"/>
              </a:solidFill>
            </a:rPr>
            <a:t>worker fails any time before </a:t>
          </a:r>
          <a:r>
            <a:rPr lang="en-US" sz="1600" i="1" kern="1200">
              <a:solidFill>
                <a:schemeClr val="bg1"/>
              </a:solidFill>
            </a:rPr>
            <a:t>reduce </a:t>
          </a:r>
          <a:r>
            <a:rPr lang="en-US" sz="1600" kern="1200">
              <a:solidFill>
                <a:schemeClr val="bg1"/>
              </a:solidFill>
            </a:rPr>
            <a:t>finishes, task must be</a:t>
          </a:r>
        </a:p>
        <a:p>
          <a:pPr marL="171450" lvl="1" indent="-171450" algn="l" defTabSz="711200">
            <a:lnSpc>
              <a:spcPct val="100000"/>
            </a:lnSpc>
            <a:spcBef>
              <a:spcPct val="0"/>
            </a:spcBef>
            <a:spcAft>
              <a:spcPct val="15000"/>
            </a:spcAft>
            <a:buChar char="•"/>
          </a:pPr>
          <a:r>
            <a:rPr lang="en-US" sz="1600" kern="1200">
              <a:solidFill>
                <a:schemeClr val="bg1"/>
              </a:solidFill>
            </a:rPr>
            <a:t>completely rerun</a:t>
          </a:r>
        </a:p>
      </dsp:txBody>
      <dsp:txXfrm>
        <a:off x="716624" y="1598776"/>
        <a:ext cx="1922974" cy="1153784"/>
      </dsp:txXfrm>
    </dsp:sp>
    <dsp:sp modelId="{9AEBC51A-68C3-224E-AB6E-3CD28E953E2E}">
      <dsp:nvSpPr>
        <dsp:cNvPr id="0" name=""/>
        <dsp:cNvSpPr/>
      </dsp:nvSpPr>
      <dsp:spPr>
        <a:xfrm>
          <a:off x="1678112" y="2750761"/>
          <a:ext cx="2365259" cy="411684"/>
        </a:xfrm>
        <a:custGeom>
          <a:avLst/>
          <a:gdLst/>
          <a:ahLst/>
          <a:cxnLst/>
          <a:rect l="0" t="0" r="0" b="0"/>
          <a:pathLst>
            <a:path>
              <a:moveTo>
                <a:pt x="2365259" y="0"/>
              </a:moveTo>
              <a:lnTo>
                <a:pt x="2365259" y="222942"/>
              </a:lnTo>
              <a:lnTo>
                <a:pt x="0" y="222942"/>
              </a:lnTo>
              <a:lnTo>
                <a:pt x="0" y="411684"/>
              </a:lnTo>
            </a:path>
          </a:pathLst>
        </a:custGeom>
        <a:noFill/>
        <a:ln w="12700" cap="flat" cmpd="sng" algn="ctr">
          <a:solidFill>
            <a:schemeClr val="accent5">
              <a:hueOff val="-12152150"/>
              <a:satOff val="-826"/>
              <a:lumOff val="1961"/>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100000"/>
            </a:lnSpc>
            <a:spcBef>
              <a:spcPct val="0"/>
            </a:spcBef>
            <a:spcAft>
              <a:spcPct val="35000"/>
            </a:spcAft>
            <a:buNone/>
          </a:pPr>
          <a:endParaRPr lang="en-US" sz="1600" kern="1200">
            <a:solidFill>
              <a:schemeClr val="bg1"/>
            </a:solidFill>
          </a:endParaRPr>
        </a:p>
      </dsp:txBody>
      <dsp:txXfrm>
        <a:off x="2800585" y="2954390"/>
        <a:ext cx="120312" cy="4427"/>
      </dsp:txXfrm>
    </dsp:sp>
    <dsp:sp modelId="{066C7B45-1FC1-214F-B6ED-DC95A277BFC1}">
      <dsp:nvSpPr>
        <dsp:cNvPr id="0" name=""/>
        <dsp:cNvSpPr/>
      </dsp:nvSpPr>
      <dsp:spPr>
        <a:xfrm>
          <a:off x="3081884" y="1598776"/>
          <a:ext cx="1922974" cy="1153784"/>
        </a:xfrm>
        <a:prstGeom prst="rect">
          <a:avLst/>
        </a:prstGeom>
        <a:solidFill>
          <a:schemeClr val="accent5">
            <a:hueOff val="-9114112"/>
            <a:satOff val="-620"/>
            <a:lumOff val="147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227" tIns="98908" rIns="94227" bIns="98908" numCol="1" spcCol="1270" anchor="ctr" anchorCtr="0">
          <a:noAutofit/>
        </a:bodyPr>
        <a:lstStyle/>
        <a:p>
          <a:pPr marL="0" lvl="0" indent="0" algn="ctr" defTabSz="711200">
            <a:lnSpc>
              <a:spcPct val="100000"/>
            </a:lnSpc>
            <a:spcBef>
              <a:spcPct val="0"/>
            </a:spcBef>
            <a:spcAft>
              <a:spcPct val="35000"/>
            </a:spcAft>
            <a:buNone/>
          </a:pPr>
          <a:r>
            <a:rPr lang="en-US" sz="1600" kern="1200">
              <a:solidFill>
                <a:schemeClr val="bg1"/>
              </a:solidFill>
            </a:rPr>
            <a:t>∗	Master must communicate locations of intermediate files</a:t>
          </a:r>
        </a:p>
      </dsp:txBody>
      <dsp:txXfrm>
        <a:off x="3081884" y="1598776"/>
        <a:ext cx="1922974" cy="1153784"/>
      </dsp:txXfrm>
    </dsp:sp>
    <dsp:sp modelId="{FCF2F951-C00B-BE42-9FA5-68F2E252B5A2}">
      <dsp:nvSpPr>
        <dsp:cNvPr id="0" name=""/>
        <dsp:cNvSpPr/>
      </dsp:nvSpPr>
      <dsp:spPr>
        <a:xfrm>
          <a:off x="716624" y="3194845"/>
          <a:ext cx="1922974" cy="1153784"/>
        </a:xfrm>
        <a:prstGeom prst="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227" tIns="98908" rIns="94227" bIns="98908" numCol="1" spcCol="1270" anchor="ctr" anchorCtr="0">
          <a:noAutofit/>
        </a:bodyPr>
        <a:lstStyle/>
        <a:p>
          <a:pPr marL="0" lvl="0" indent="0" algn="ctr" defTabSz="711200">
            <a:lnSpc>
              <a:spcPct val="100000"/>
            </a:lnSpc>
            <a:spcBef>
              <a:spcPct val="0"/>
            </a:spcBef>
            <a:spcAft>
              <a:spcPct val="35000"/>
            </a:spcAft>
            <a:buNone/>
          </a:pPr>
          <a:r>
            <a:rPr lang="en-US" sz="1600" kern="1200">
              <a:solidFill>
                <a:schemeClr val="bg1"/>
              </a:solidFill>
            </a:rPr>
            <a:t>∗	MapReduce library does most of the hard work for us!</a:t>
          </a:r>
        </a:p>
      </dsp:txBody>
      <dsp:txXfrm>
        <a:off x="716624" y="3194845"/>
        <a:ext cx="1922974" cy="1153784"/>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332927-1F8A-EB42-9DA0-30DA0703E444}">
      <dsp:nvSpPr>
        <dsp:cNvPr id="0" name=""/>
        <dsp:cNvSpPr/>
      </dsp:nvSpPr>
      <dsp:spPr>
        <a:xfrm>
          <a:off x="0" y="3161"/>
          <a:ext cx="6214532" cy="919350"/>
        </a:xfrm>
        <a:prstGeom prst="round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	Simplifies large-scale computations that fit this model</a:t>
          </a:r>
        </a:p>
      </dsp:txBody>
      <dsp:txXfrm>
        <a:off x="44879" y="48040"/>
        <a:ext cx="6124774" cy="829592"/>
      </dsp:txXfrm>
    </dsp:sp>
    <dsp:sp modelId="{D5E9B979-51D6-AB42-9F54-8EEF9D2351A4}">
      <dsp:nvSpPr>
        <dsp:cNvPr id="0" name=""/>
        <dsp:cNvSpPr/>
      </dsp:nvSpPr>
      <dsp:spPr>
        <a:xfrm>
          <a:off x="0" y="930991"/>
          <a:ext cx="6214532" cy="919350"/>
        </a:xfrm>
        <a:prstGeom prst="roundRect">
          <a:avLst/>
        </a:prstGeom>
        <a:solidFill>
          <a:schemeClr val="accent5">
            <a:hueOff val="-3038037"/>
            <a:satOff val="-207"/>
            <a:lumOff val="49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a:t>∗	Allows user to focus on the problem without worrying about details</a:t>
          </a:r>
        </a:p>
      </dsp:txBody>
      <dsp:txXfrm>
        <a:off x="44879" y="975870"/>
        <a:ext cx="6124774" cy="829592"/>
      </dsp:txXfrm>
    </dsp:sp>
    <dsp:sp modelId="{D96138EE-1736-2748-B62E-04489D57B411}">
      <dsp:nvSpPr>
        <dsp:cNvPr id="0" name=""/>
        <dsp:cNvSpPr/>
      </dsp:nvSpPr>
      <dsp:spPr>
        <a:xfrm>
          <a:off x="0" y="1858821"/>
          <a:ext cx="6214532" cy="919350"/>
        </a:xfrm>
        <a:prstGeom prst="roundRect">
          <a:avLst/>
        </a:prstGeom>
        <a:solidFill>
          <a:schemeClr val="accent5">
            <a:hueOff val="-6076075"/>
            <a:satOff val="-413"/>
            <a:lumOff val="98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a:t>∗	Computer architecture not very important</a:t>
          </a:r>
        </a:p>
      </dsp:txBody>
      <dsp:txXfrm>
        <a:off x="44879" y="1903700"/>
        <a:ext cx="6124774" cy="829592"/>
      </dsp:txXfrm>
    </dsp:sp>
    <dsp:sp modelId="{B64EACC2-14FF-5642-831E-D765E68C32D3}">
      <dsp:nvSpPr>
        <dsp:cNvPr id="0" name=""/>
        <dsp:cNvSpPr/>
      </dsp:nvSpPr>
      <dsp:spPr>
        <a:xfrm>
          <a:off x="0" y="2778172"/>
          <a:ext cx="6214532" cy="1797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7311"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en-US" sz="1800" kern="1200"/>
            <a:t>∗	Portable model</a:t>
          </a:r>
        </a:p>
      </dsp:txBody>
      <dsp:txXfrm>
        <a:off x="0" y="2778172"/>
        <a:ext cx="6214532" cy="179795"/>
      </dsp:txXfrm>
    </dsp:sp>
    <dsp:sp modelId="{73C1503C-1530-B243-925D-2736ED941299}">
      <dsp:nvSpPr>
        <dsp:cNvPr id="0" name=""/>
        <dsp:cNvSpPr/>
      </dsp:nvSpPr>
      <dsp:spPr>
        <a:xfrm>
          <a:off x="0" y="2957968"/>
          <a:ext cx="6214532" cy="919350"/>
        </a:xfrm>
        <a:prstGeom prst="roundRect">
          <a:avLst/>
        </a:prstGeom>
        <a:solidFill>
          <a:schemeClr val="accent5">
            <a:hueOff val="-9114112"/>
            <a:satOff val="-620"/>
            <a:lumOff val="147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a:t>∗	Fault tolerant, reliable, and supports thousands of nodes and petabytes of data</a:t>
          </a:r>
        </a:p>
      </dsp:txBody>
      <dsp:txXfrm>
        <a:off x="44879" y="3002847"/>
        <a:ext cx="6124774" cy="829592"/>
      </dsp:txXfrm>
    </dsp:sp>
    <dsp:sp modelId="{F4BD4EFC-4574-8940-A03A-1895B97811B7}">
      <dsp:nvSpPr>
        <dsp:cNvPr id="0" name=""/>
        <dsp:cNvSpPr/>
      </dsp:nvSpPr>
      <dsp:spPr>
        <a:xfrm>
          <a:off x="0" y="3885798"/>
          <a:ext cx="6214532" cy="919350"/>
        </a:xfrm>
        <a:prstGeom prst="round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a:t>∗	If you can rewrite algorithms into Maps and Reduces, and your problem can be broken up into small pieces solvable in parallel, then Hadoop’s MapReduce is the way to go for a distributed problem-solving approach to large datasets</a:t>
          </a:r>
        </a:p>
      </dsp:txBody>
      <dsp:txXfrm>
        <a:off x="44879" y="3930677"/>
        <a:ext cx="6124774" cy="829592"/>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4E68ED-C645-B642-A98A-26AEC27EBAE4}">
      <dsp:nvSpPr>
        <dsp:cNvPr id="0" name=""/>
        <dsp:cNvSpPr/>
      </dsp:nvSpPr>
      <dsp:spPr>
        <a:xfrm>
          <a:off x="0" y="619601"/>
          <a:ext cx="5943600" cy="3566160"/>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	Cannot control the order in which the maps or reductions are run</a:t>
          </a:r>
        </a:p>
        <a:p>
          <a:pPr marL="228600" lvl="1" indent="-228600" algn="l" defTabSz="889000">
            <a:lnSpc>
              <a:spcPct val="90000"/>
            </a:lnSpc>
            <a:spcBef>
              <a:spcPct val="0"/>
            </a:spcBef>
            <a:spcAft>
              <a:spcPct val="15000"/>
            </a:spcAft>
            <a:buChar char="•"/>
          </a:pPr>
          <a:r>
            <a:rPr lang="en-US" sz="2000" kern="1200"/>
            <a:t>∗	A database with an index will always be faster than a MapReduce job on unindexed data</a:t>
          </a:r>
        </a:p>
        <a:p>
          <a:pPr marL="228600" lvl="1" indent="-228600" algn="l" defTabSz="889000">
            <a:lnSpc>
              <a:spcPct val="90000"/>
            </a:lnSpc>
            <a:spcBef>
              <a:spcPct val="0"/>
            </a:spcBef>
            <a:spcAft>
              <a:spcPct val="15000"/>
            </a:spcAft>
            <a:buChar char="•"/>
          </a:pPr>
          <a:r>
            <a:rPr lang="en-US" sz="2000" kern="1200" dirty="0"/>
            <a:t>∗	Reduce operations do not take place until all Maps are complete (or have failed then been skipped)</a:t>
          </a:r>
        </a:p>
        <a:p>
          <a:pPr marL="228600" lvl="1" indent="-228600" algn="l" defTabSz="889000">
            <a:lnSpc>
              <a:spcPct val="90000"/>
            </a:lnSpc>
            <a:spcBef>
              <a:spcPct val="0"/>
            </a:spcBef>
            <a:spcAft>
              <a:spcPct val="15000"/>
            </a:spcAft>
            <a:buChar char="•"/>
          </a:pPr>
          <a:r>
            <a:rPr lang="en-US" sz="2000" kern="1200"/>
            <a:t>∗	General assumption that the output of Reduce is smaller than the input to Map; large data source used to generate smaller final values</a:t>
          </a:r>
        </a:p>
      </dsp:txBody>
      <dsp:txXfrm>
        <a:off x="104449" y="724050"/>
        <a:ext cx="5734702" cy="3357262"/>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0B8B4-DB96-2B4F-C23E-0B775DC374C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0FDA498-F0EC-D6D6-E3DB-408B17927B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110FD82-408A-9E97-8EC8-F85E31BE8A24}"/>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5" name="Footer Placeholder 4">
            <a:extLst>
              <a:ext uri="{FF2B5EF4-FFF2-40B4-BE49-F238E27FC236}">
                <a16:creationId xmlns:a16="http://schemas.microsoft.com/office/drawing/2014/main" id="{6B9CAE64-3A3E-EC7E-BB58-6A2C966C28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F14999-07EE-D751-CBCA-166FDF431D7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672939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2C71E-0B0E-12A0-C2C2-45D33FDB0C9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A320F0C-04B1-3669-52B0-6DF3A7CCBA0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1E071E-4211-7C5B-67D1-D6ED45DAE702}"/>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5" name="Footer Placeholder 4">
            <a:extLst>
              <a:ext uri="{FF2B5EF4-FFF2-40B4-BE49-F238E27FC236}">
                <a16:creationId xmlns:a16="http://schemas.microsoft.com/office/drawing/2014/main" id="{50E8B389-B6F7-4F3E-A4BB-A8C7489183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1F58C7-DDD1-5AA1-6802-83763D17F6D0}"/>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0233677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4FDFD-55DB-4C4D-4167-1EB47BFD570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A2429DE-D62D-1F8B-6BAC-A372DEB6661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6E4A802-146F-CC2D-5864-16C0C052CA40}"/>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5" name="Footer Placeholder 4">
            <a:extLst>
              <a:ext uri="{FF2B5EF4-FFF2-40B4-BE49-F238E27FC236}">
                <a16:creationId xmlns:a16="http://schemas.microsoft.com/office/drawing/2014/main" id="{BFDC631D-28FF-A17D-1F33-A32696979C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68AA47-7A14-BA95-FD26-AC4DDB2F8083}"/>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978597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9685F-FB05-763B-B6C9-58DEC217E1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653397-B039-8BB9-CDFA-4C831CCF69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8E7D7F5-CE33-CDAA-9478-0FBCADFA31B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A8A4037-062E-1CDC-9BCB-AD23E0538AD9}"/>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6" name="Footer Placeholder 5">
            <a:extLst>
              <a:ext uri="{FF2B5EF4-FFF2-40B4-BE49-F238E27FC236}">
                <a16:creationId xmlns:a16="http://schemas.microsoft.com/office/drawing/2014/main" id="{A38CF0CE-EA32-3AEA-193B-816822EC9B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FC8544-4A2C-CC61-3774-A00E0E2C41BC}"/>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607768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FA9B3-C8E4-96A1-B601-B386AEAB83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81EC96-4BB0-3CCA-57D8-412629C0C70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056180-BD19-2A32-33E9-8EECBB6F4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4AC0B89-9B29-DC7A-4466-B5607B83E0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9A4424-A681-3F03-7111-7EE5300021B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C7BD795-FC2C-AE52-9355-51952AFAF95A}"/>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8" name="Footer Placeholder 7">
            <a:extLst>
              <a:ext uri="{FF2B5EF4-FFF2-40B4-BE49-F238E27FC236}">
                <a16:creationId xmlns:a16="http://schemas.microsoft.com/office/drawing/2014/main" id="{4485F5AA-8608-FD58-18F7-4B337F1B8F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521B658-03FF-0265-7EFB-F10176890095}"/>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728293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D6E1E-5A6D-5168-64D7-37748F828FF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180C4F5-D541-E61A-6502-6FC8CA62B588}"/>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4" name="Footer Placeholder 3">
            <a:extLst>
              <a:ext uri="{FF2B5EF4-FFF2-40B4-BE49-F238E27FC236}">
                <a16:creationId xmlns:a16="http://schemas.microsoft.com/office/drawing/2014/main" id="{5893D105-271F-7A6A-0587-A7819773FB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C7DC4E9-07F5-4F91-EAC1-8FD235D6925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024064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C5490E-EB21-8ADE-0385-125DD06173ED}"/>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3" name="Footer Placeholder 2">
            <a:extLst>
              <a:ext uri="{FF2B5EF4-FFF2-40B4-BE49-F238E27FC236}">
                <a16:creationId xmlns:a16="http://schemas.microsoft.com/office/drawing/2014/main" id="{BA2FB3C9-9DC7-CBCE-A572-91067A9AA4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F0128F8-F4BD-82E9-DD92-6D3321521E2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802156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5B4B2-F6C9-0482-4354-C98E08E061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508CF78-9596-5CBB-CE59-41EF74CC58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72BDD54-3E93-21D2-52D4-674803C237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65D646-BF86-FD1C-ECE6-A96D074B4590}"/>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6" name="Footer Placeholder 5">
            <a:extLst>
              <a:ext uri="{FF2B5EF4-FFF2-40B4-BE49-F238E27FC236}">
                <a16:creationId xmlns:a16="http://schemas.microsoft.com/office/drawing/2014/main" id="{7822ECFD-E697-F85E-BD91-14CB55A337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66D234C-478C-CD9D-CACB-E40502EF6FB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6977456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A88A6-08B2-3DED-7DD5-6805B1633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65CECB8-AE11-841F-8301-1CBA2A1C48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1D8FBA-E730-475D-E5C6-6F26A40341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24DD79-0E9E-FFC8-F30C-F18DE74D470B}"/>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6" name="Footer Placeholder 5">
            <a:extLst>
              <a:ext uri="{FF2B5EF4-FFF2-40B4-BE49-F238E27FC236}">
                <a16:creationId xmlns:a16="http://schemas.microsoft.com/office/drawing/2014/main" id="{C60BE05C-A8C4-A456-278A-BF91315948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918E3B-3A7E-6050-8333-6BF39A47BE4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202753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01186-8AD7-0715-D5ED-2F935C16E29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0C962A-3CA2-3A30-5F42-FEC8F49DFF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B93C15-0D23-0032-F4AC-E6B6AAEE66A0}"/>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5" name="Footer Placeholder 4">
            <a:extLst>
              <a:ext uri="{FF2B5EF4-FFF2-40B4-BE49-F238E27FC236}">
                <a16:creationId xmlns:a16="http://schemas.microsoft.com/office/drawing/2014/main" id="{150A88AF-074A-90D5-3A11-437D3BB2C6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6E7FBC-9B14-FBA3-EBA9-94F3A1C676E9}"/>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22977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5904E3-FEDA-D52F-0406-B184B9E818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164107B-A176-BC5B-AC27-30C2A19D4C5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5255E2-7BDC-7493-40FB-008C6952608F}"/>
              </a:ext>
            </a:extLst>
          </p:cNvPr>
          <p:cNvSpPr>
            <a:spLocks noGrp="1"/>
          </p:cNvSpPr>
          <p:nvPr>
            <p:ph type="dt" sz="half" idx="10"/>
          </p:nvPr>
        </p:nvSpPr>
        <p:spPr/>
        <p:txBody>
          <a:bodyPr/>
          <a:lstStyle/>
          <a:p>
            <a:fld id="{1D8BD707-D9CF-40AE-B4C6-C98DA3205C09}" type="datetimeFigureOut">
              <a:rPr lang="en-US" smtClean="0"/>
              <a:t>4/28/26</a:t>
            </a:fld>
            <a:endParaRPr lang="en-US"/>
          </a:p>
        </p:txBody>
      </p:sp>
      <p:sp>
        <p:nvSpPr>
          <p:cNvPr id="5" name="Footer Placeholder 4">
            <a:extLst>
              <a:ext uri="{FF2B5EF4-FFF2-40B4-BE49-F238E27FC236}">
                <a16:creationId xmlns:a16="http://schemas.microsoft.com/office/drawing/2014/main" id="{ED8D7B9E-0513-AFB9-9E8B-1CBBDBC1EE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841294-D3CD-CCA6-C938-FF0E1C66E44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896908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4/28/26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891967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1_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373248" y="580389"/>
            <a:ext cx="7445502" cy="696594"/>
          </a:xfrm>
          <a:prstGeom prst="rect">
            <a:avLst/>
          </a:prstGeom>
        </p:spPr>
        <p:txBody>
          <a:bodyPr wrap="square" lIns="0" tIns="0" rIns="0" bIns="0">
            <a:spAutoFit/>
          </a:bodyPr>
          <a:lstStyle>
            <a:lvl1pPr>
              <a:defRPr sz="4400" b="0" i="0">
                <a:solidFill>
                  <a:schemeClr val="bg1"/>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200" b="0" i="0">
                <a:solidFill>
                  <a:srgbClr val="063D86"/>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4/28/26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22298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F76800D-6C40-FC26-5C1C-FDECC0069C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C020AE2-AFD6-157E-9A64-F4584531F05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646FEA-2AAE-9D76-E739-0860FBFC30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8BD707-D9CF-40AE-B4C6-C98DA3205C09}" type="datetimeFigureOut">
              <a:rPr lang="en-US" smtClean="0"/>
              <a:t>4/28/26</a:t>
            </a:fld>
            <a:endParaRPr lang="en-US"/>
          </a:p>
        </p:txBody>
      </p:sp>
      <p:sp>
        <p:nvSpPr>
          <p:cNvPr id="5" name="Footer Placeholder 4">
            <a:extLst>
              <a:ext uri="{FF2B5EF4-FFF2-40B4-BE49-F238E27FC236}">
                <a16:creationId xmlns:a16="http://schemas.microsoft.com/office/drawing/2014/main" id="{A664A889-3143-1135-5089-B9E93EC9A3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91B14BE-F914-D3F1-4D6E-8A70FEA931F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6F15528-21DE-4FAA-801E-634DDDAF4B2B}" type="slidenum">
              <a:rPr lang="en-US" smtClean="0"/>
              <a:t>‹#›</a:t>
            </a:fld>
            <a:endParaRPr lang="en-US"/>
          </a:p>
        </p:txBody>
      </p:sp>
    </p:spTree>
    <p:extLst>
      <p:ext uri="{BB962C8B-B14F-4D97-AF65-F5344CB8AC3E}">
        <p14:creationId xmlns:p14="http://schemas.microsoft.com/office/powerpoint/2010/main" val="555289343"/>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hyperlink" Target="https://www.edureka.co/blog/hadoop-ecosystem" TargetMode="Externa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1.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6.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8.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jp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30.jpeg"/><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hyperlink" Target="https://drive.google.com/drive/folders/1nGsrNeJwtDa7C2hAEmcbB_VdPQk3QgCJ" TargetMode="External"/><Relationship Id="rId2" Type="http://schemas.openxmlformats.org/officeDocument/2006/relationships/image" Target="../media/image42.jp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hyperlink" Target="https://colab.research.google.com/drive/17ExNzsO_R_YSy5V-bZDhvNdQqieZJPv6" TargetMode="Externa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50.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image" Target="../media/image46.jpeg"/><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52.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7.jp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55.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image" Target="../media/image48.jpeg"/><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image" Target="../media/image49.jpeg"/><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image" Target="../media/image50.jpeg"/><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58.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3447"/>
            <a:ext cx="12192000" cy="6858127"/>
            <a:chOff x="0" y="0"/>
            <a:chExt cx="12192000" cy="6858127"/>
          </a:xfrm>
        </p:grpSpPr>
        <p:sp>
          <p:nvSpPr>
            <p:cNvPr id="4" name="object 4"/>
            <p:cNvSpPr/>
            <p:nvPr/>
          </p:nvSpPr>
          <p:spPr>
            <a:xfrm>
              <a:off x="8072628" y="5498591"/>
              <a:ext cx="3840479" cy="716280"/>
            </a:xfrm>
            <a:custGeom>
              <a:avLst/>
              <a:gdLst/>
              <a:ahLst/>
              <a:cxnLst/>
              <a:rect l="l" t="t" r="r" b="b"/>
              <a:pathLst>
                <a:path w="3840479" h="716279">
                  <a:moveTo>
                    <a:pt x="3840479" y="0"/>
                  </a:moveTo>
                  <a:lnTo>
                    <a:pt x="3831971" y="0"/>
                  </a:lnTo>
                  <a:lnTo>
                    <a:pt x="3670173" y="20193"/>
                  </a:lnTo>
                  <a:lnTo>
                    <a:pt x="3164967" y="91770"/>
                  </a:lnTo>
                  <a:lnTo>
                    <a:pt x="2807207" y="149974"/>
                  </a:lnTo>
                  <a:lnTo>
                    <a:pt x="2432557" y="217119"/>
                  </a:lnTo>
                  <a:lnTo>
                    <a:pt x="2089150" y="282028"/>
                  </a:lnTo>
                  <a:lnTo>
                    <a:pt x="1124077" y="445439"/>
                  </a:lnTo>
                  <a:lnTo>
                    <a:pt x="828801" y="490207"/>
                  </a:lnTo>
                  <a:lnTo>
                    <a:pt x="266826" y="568540"/>
                  </a:lnTo>
                  <a:lnTo>
                    <a:pt x="0" y="602119"/>
                  </a:lnTo>
                  <a:lnTo>
                    <a:pt x="184530" y="622261"/>
                  </a:lnTo>
                  <a:lnTo>
                    <a:pt x="530860" y="655840"/>
                  </a:lnTo>
                  <a:lnTo>
                    <a:pt x="860044" y="682701"/>
                  </a:lnTo>
                  <a:lnTo>
                    <a:pt x="1166622" y="700608"/>
                  </a:lnTo>
                  <a:lnTo>
                    <a:pt x="1314196" y="707326"/>
                  </a:lnTo>
                  <a:lnTo>
                    <a:pt x="1458976" y="711796"/>
                  </a:lnTo>
                  <a:lnTo>
                    <a:pt x="1731518" y="716280"/>
                  </a:lnTo>
                  <a:lnTo>
                    <a:pt x="1862074" y="716280"/>
                  </a:lnTo>
                  <a:lnTo>
                    <a:pt x="2114677" y="711796"/>
                  </a:lnTo>
                  <a:lnTo>
                    <a:pt x="2233929" y="707326"/>
                  </a:lnTo>
                  <a:lnTo>
                    <a:pt x="2461005" y="693889"/>
                  </a:lnTo>
                  <a:lnTo>
                    <a:pt x="2571623" y="684936"/>
                  </a:lnTo>
                  <a:lnTo>
                    <a:pt x="2781680" y="662559"/>
                  </a:lnTo>
                  <a:lnTo>
                    <a:pt x="2980436" y="635698"/>
                  </a:lnTo>
                  <a:lnTo>
                    <a:pt x="3167761" y="604354"/>
                  </a:lnTo>
                  <a:lnTo>
                    <a:pt x="3346577" y="568540"/>
                  </a:lnTo>
                  <a:lnTo>
                    <a:pt x="3516883" y="528256"/>
                  </a:lnTo>
                  <a:lnTo>
                    <a:pt x="3678681" y="483489"/>
                  </a:lnTo>
                  <a:lnTo>
                    <a:pt x="3834765" y="436486"/>
                  </a:lnTo>
                  <a:lnTo>
                    <a:pt x="3840479" y="434238"/>
                  </a:lnTo>
                  <a:lnTo>
                    <a:pt x="3840479" y="0"/>
                  </a:lnTo>
                  <a:close/>
                </a:path>
              </a:pathLst>
            </a:custGeom>
            <a:solidFill>
              <a:srgbClr val="C5E7FB">
                <a:alpha val="29019"/>
              </a:srgbClr>
            </a:solidFill>
          </p:spPr>
          <p:txBody>
            <a:bodyPr wrap="square" lIns="0" tIns="0" rIns="0" bIns="0" rtlCol="0"/>
            <a:lstStyle/>
            <a:p>
              <a:endParaRPr/>
            </a:p>
          </p:txBody>
        </p:sp>
        <p:sp>
          <p:nvSpPr>
            <p:cNvPr id="5" name="object 5"/>
            <p:cNvSpPr/>
            <p:nvPr/>
          </p:nvSpPr>
          <p:spPr>
            <a:xfrm>
              <a:off x="3496055" y="5370576"/>
              <a:ext cx="7402195" cy="852169"/>
            </a:xfrm>
            <a:custGeom>
              <a:avLst/>
              <a:gdLst/>
              <a:ahLst/>
              <a:cxnLst/>
              <a:rect l="l" t="t" r="r" b="b"/>
              <a:pathLst>
                <a:path w="7402195" h="852170">
                  <a:moveTo>
                    <a:pt x="1138174" y="0"/>
                  </a:moveTo>
                  <a:lnTo>
                    <a:pt x="913892" y="0"/>
                  </a:lnTo>
                  <a:lnTo>
                    <a:pt x="703834" y="4445"/>
                  </a:lnTo>
                  <a:lnTo>
                    <a:pt x="508000" y="11176"/>
                  </a:lnTo>
                  <a:lnTo>
                    <a:pt x="326390" y="22352"/>
                  </a:lnTo>
                  <a:lnTo>
                    <a:pt x="156083" y="35814"/>
                  </a:lnTo>
                  <a:lnTo>
                    <a:pt x="0" y="53721"/>
                  </a:lnTo>
                  <a:lnTo>
                    <a:pt x="445643" y="96139"/>
                  </a:lnTo>
                  <a:lnTo>
                    <a:pt x="925195" y="156464"/>
                  </a:lnTo>
                  <a:lnTo>
                    <a:pt x="1439037" y="234784"/>
                  </a:lnTo>
                  <a:lnTo>
                    <a:pt x="1711452" y="279501"/>
                  </a:lnTo>
                  <a:lnTo>
                    <a:pt x="2491994" y="422605"/>
                  </a:lnTo>
                  <a:lnTo>
                    <a:pt x="3417189" y="576884"/>
                  </a:lnTo>
                  <a:lnTo>
                    <a:pt x="4047236" y="668566"/>
                  </a:lnTo>
                  <a:lnTo>
                    <a:pt x="4626229" y="740117"/>
                  </a:lnTo>
                  <a:lnTo>
                    <a:pt x="5321681" y="807199"/>
                  </a:lnTo>
                  <a:lnTo>
                    <a:pt x="5483479" y="818375"/>
                  </a:lnTo>
                  <a:lnTo>
                    <a:pt x="5789930" y="836269"/>
                  </a:lnTo>
                  <a:lnTo>
                    <a:pt x="5937504" y="842975"/>
                  </a:lnTo>
                  <a:lnTo>
                    <a:pt x="6221349" y="851916"/>
                  </a:lnTo>
                  <a:lnTo>
                    <a:pt x="6485382" y="851916"/>
                  </a:lnTo>
                  <a:lnTo>
                    <a:pt x="6735064" y="847445"/>
                  </a:lnTo>
                  <a:lnTo>
                    <a:pt x="6854317" y="842975"/>
                  </a:lnTo>
                  <a:lnTo>
                    <a:pt x="6970649" y="836269"/>
                  </a:lnTo>
                  <a:lnTo>
                    <a:pt x="7299833" y="809434"/>
                  </a:lnTo>
                  <a:lnTo>
                    <a:pt x="7402068" y="798245"/>
                  </a:lnTo>
                  <a:lnTo>
                    <a:pt x="7072884" y="766953"/>
                  </a:lnTo>
                  <a:lnTo>
                    <a:pt x="6723761" y="728941"/>
                  </a:lnTo>
                  <a:lnTo>
                    <a:pt x="5965952" y="630555"/>
                  </a:lnTo>
                  <a:lnTo>
                    <a:pt x="5120132" y="498627"/>
                  </a:lnTo>
                  <a:lnTo>
                    <a:pt x="3806063" y="263842"/>
                  </a:lnTo>
                  <a:lnTo>
                    <a:pt x="3448430" y="205740"/>
                  </a:lnTo>
                  <a:lnTo>
                    <a:pt x="2943225" y="134112"/>
                  </a:lnTo>
                  <a:lnTo>
                    <a:pt x="2625344" y="96139"/>
                  </a:lnTo>
                  <a:lnTo>
                    <a:pt x="2174113" y="51435"/>
                  </a:lnTo>
                  <a:lnTo>
                    <a:pt x="1893062" y="31242"/>
                  </a:lnTo>
                  <a:lnTo>
                    <a:pt x="1629156" y="15621"/>
                  </a:lnTo>
                  <a:lnTo>
                    <a:pt x="1376553" y="4445"/>
                  </a:lnTo>
                  <a:lnTo>
                    <a:pt x="1138174" y="0"/>
                  </a:lnTo>
                  <a:close/>
                </a:path>
              </a:pathLst>
            </a:custGeom>
            <a:solidFill>
              <a:srgbClr val="C5E7FB">
                <a:alpha val="39999"/>
              </a:srgbClr>
            </a:solidFill>
          </p:spPr>
          <p:txBody>
            <a:bodyPr wrap="square" lIns="0" tIns="0" rIns="0" bIns="0" rtlCol="0"/>
            <a:lstStyle/>
            <a:p>
              <a:endParaRPr/>
            </a:p>
          </p:txBody>
        </p:sp>
        <p:sp>
          <p:nvSpPr>
            <p:cNvPr id="6" name="object 6"/>
            <p:cNvSpPr/>
            <p:nvPr/>
          </p:nvSpPr>
          <p:spPr>
            <a:xfrm>
              <a:off x="3777234" y="5369814"/>
              <a:ext cx="8129270" cy="789940"/>
            </a:xfrm>
            <a:custGeom>
              <a:avLst/>
              <a:gdLst/>
              <a:ahLst/>
              <a:cxnLst/>
              <a:rect l="l" t="t" r="r" b="b"/>
              <a:pathLst>
                <a:path w="8129270" h="789939">
                  <a:moveTo>
                    <a:pt x="0" y="91948"/>
                  </a:moveTo>
                  <a:lnTo>
                    <a:pt x="25526" y="87503"/>
                  </a:lnTo>
                  <a:lnTo>
                    <a:pt x="102235" y="76327"/>
                  </a:lnTo>
                  <a:lnTo>
                    <a:pt x="232790" y="60706"/>
                  </a:lnTo>
                  <a:lnTo>
                    <a:pt x="317880" y="51689"/>
                  </a:lnTo>
                  <a:lnTo>
                    <a:pt x="417194" y="42799"/>
                  </a:lnTo>
                  <a:lnTo>
                    <a:pt x="527938" y="36068"/>
                  </a:lnTo>
                  <a:lnTo>
                    <a:pt x="655574" y="29337"/>
                  </a:lnTo>
                  <a:lnTo>
                    <a:pt x="794765" y="22606"/>
                  </a:lnTo>
                  <a:lnTo>
                    <a:pt x="950849" y="18161"/>
                  </a:lnTo>
                  <a:lnTo>
                    <a:pt x="1121155" y="16002"/>
                  </a:lnTo>
                  <a:lnTo>
                    <a:pt x="1305560" y="13716"/>
                  </a:lnTo>
                  <a:lnTo>
                    <a:pt x="1504314" y="16002"/>
                  </a:lnTo>
                  <a:lnTo>
                    <a:pt x="1717166" y="20447"/>
                  </a:lnTo>
                  <a:lnTo>
                    <a:pt x="1947037" y="29337"/>
                  </a:lnTo>
                  <a:lnTo>
                    <a:pt x="2191130" y="40513"/>
                  </a:lnTo>
                  <a:lnTo>
                    <a:pt x="2449449" y="58420"/>
                  </a:lnTo>
                  <a:lnTo>
                    <a:pt x="2724657" y="78486"/>
                  </a:lnTo>
                  <a:lnTo>
                    <a:pt x="3017012" y="103124"/>
                  </a:lnTo>
                  <a:lnTo>
                    <a:pt x="3323590" y="132207"/>
                  </a:lnTo>
                  <a:lnTo>
                    <a:pt x="3647186" y="168021"/>
                  </a:lnTo>
                  <a:lnTo>
                    <a:pt x="3984879" y="208153"/>
                  </a:lnTo>
                  <a:lnTo>
                    <a:pt x="4339717" y="255143"/>
                  </a:lnTo>
                  <a:lnTo>
                    <a:pt x="4711445" y="311035"/>
                  </a:lnTo>
                  <a:lnTo>
                    <a:pt x="5100320" y="371398"/>
                  </a:lnTo>
                  <a:lnTo>
                    <a:pt x="5506212" y="438454"/>
                  </a:lnTo>
                  <a:lnTo>
                    <a:pt x="5929121" y="514464"/>
                  </a:lnTo>
                  <a:lnTo>
                    <a:pt x="6369049" y="597179"/>
                  </a:lnTo>
                  <a:lnTo>
                    <a:pt x="6825996" y="688835"/>
                  </a:lnTo>
                  <a:lnTo>
                    <a:pt x="7299959" y="789432"/>
                  </a:lnTo>
                </a:path>
                <a:path w="8129270" h="789939">
                  <a:moveTo>
                    <a:pt x="3712464" y="652272"/>
                  </a:moveTo>
                  <a:lnTo>
                    <a:pt x="3840225" y="625462"/>
                  </a:lnTo>
                  <a:lnTo>
                    <a:pt x="4189348" y="556221"/>
                  </a:lnTo>
                  <a:lnTo>
                    <a:pt x="4430521" y="509308"/>
                  </a:lnTo>
                  <a:lnTo>
                    <a:pt x="4708779" y="457923"/>
                  </a:lnTo>
                  <a:lnTo>
                    <a:pt x="5018150" y="402082"/>
                  </a:lnTo>
                  <a:lnTo>
                    <a:pt x="5350256" y="341769"/>
                  </a:lnTo>
                  <a:lnTo>
                    <a:pt x="5702172" y="283692"/>
                  </a:lnTo>
                  <a:lnTo>
                    <a:pt x="6062598" y="225615"/>
                  </a:lnTo>
                  <a:lnTo>
                    <a:pt x="6431661" y="171958"/>
                  </a:lnTo>
                  <a:lnTo>
                    <a:pt x="6797802" y="120650"/>
                  </a:lnTo>
                  <a:lnTo>
                    <a:pt x="6979411" y="98298"/>
                  </a:lnTo>
                  <a:lnTo>
                    <a:pt x="7155434" y="75946"/>
                  </a:lnTo>
                  <a:lnTo>
                    <a:pt x="7331456" y="58039"/>
                  </a:lnTo>
                  <a:lnTo>
                    <a:pt x="7501763" y="40259"/>
                  </a:lnTo>
                  <a:lnTo>
                    <a:pt x="7669148" y="26797"/>
                  </a:lnTo>
                  <a:lnTo>
                    <a:pt x="7828152" y="15621"/>
                  </a:lnTo>
                  <a:lnTo>
                    <a:pt x="7981442" y="6731"/>
                  </a:lnTo>
                  <a:lnTo>
                    <a:pt x="8129015" y="0"/>
                  </a:lnTo>
                </a:path>
              </a:pathLst>
            </a:custGeom>
            <a:ln w="3175">
              <a:solidFill>
                <a:srgbClr val="FFFFFF"/>
              </a:solidFill>
            </a:ln>
          </p:spPr>
          <p:txBody>
            <a:bodyPr wrap="square" lIns="0" tIns="0" rIns="0" bIns="0" rtlCol="0"/>
            <a:lstStyle/>
            <a:p>
              <a:endParaRPr/>
            </a:p>
          </p:txBody>
        </p:sp>
        <p:sp>
          <p:nvSpPr>
            <p:cNvPr id="7" name="object 7"/>
            <p:cNvSpPr/>
            <p:nvPr/>
          </p:nvSpPr>
          <p:spPr>
            <a:xfrm>
              <a:off x="281940" y="5353811"/>
              <a:ext cx="11631295" cy="1332230"/>
            </a:xfrm>
            <a:custGeom>
              <a:avLst/>
              <a:gdLst/>
              <a:ahLst/>
              <a:cxnLst/>
              <a:rect l="l" t="t" r="r" b="b"/>
              <a:pathLst>
                <a:path w="11631295" h="1332229">
                  <a:moveTo>
                    <a:pt x="2074799" y="0"/>
                  </a:moveTo>
                  <a:lnTo>
                    <a:pt x="1870456" y="0"/>
                  </a:lnTo>
                  <a:lnTo>
                    <a:pt x="1677416" y="4444"/>
                  </a:lnTo>
                  <a:lnTo>
                    <a:pt x="1495805" y="11175"/>
                  </a:lnTo>
                  <a:lnTo>
                    <a:pt x="1166495" y="33528"/>
                  </a:lnTo>
                  <a:lnTo>
                    <a:pt x="1016126" y="49149"/>
                  </a:lnTo>
                  <a:lnTo>
                    <a:pt x="879856" y="64769"/>
                  </a:lnTo>
                  <a:lnTo>
                    <a:pt x="752132" y="82676"/>
                  </a:lnTo>
                  <a:lnTo>
                    <a:pt x="638606" y="102743"/>
                  </a:lnTo>
                  <a:lnTo>
                    <a:pt x="530758" y="120650"/>
                  </a:lnTo>
                  <a:lnTo>
                    <a:pt x="437095" y="140843"/>
                  </a:lnTo>
                  <a:lnTo>
                    <a:pt x="275310" y="178815"/>
                  </a:lnTo>
                  <a:lnTo>
                    <a:pt x="210032" y="196722"/>
                  </a:lnTo>
                  <a:lnTo>
                    <a:pt x="68122" y="241363"/>
                  </a:lnTo>
                  <a:lnTo>
                    <a:pt x="0" y="268185"/>
                  </a:lnTo>
                  <a:lnTo>
                    <a:pt x="0" y="1331976"/>
                  </a:lnTo>
                  <a:lnTo>
                    <a:pt x="11625453" y="1331976"/>
                  </a:lnTo>
                  <a:lnTo>
                    <a:pt x="11631167" y="1325270"/>
                  </a:lnTo>
                  <a:lnTo>
                    <a:pt x="11631167" y="851484"/>
                  </a:lnTo>
                  <a:lnTo>
                    <a:pt x="9576308" y="851484"/>
                  </a:lnTo>
                  <a:lnTo>
                    <a:pt x="9391777" y="849249"/>
                  </a:lnTo>
                  <a:lnTo>
                    <a:pt x="9198737" y="844778"/>
                  </a:lnTo>
                  <a:lnTo>
                    <a:pt x="9000109" y="838072"/>
                  </a:lnTo>
                  <a:lnTo>
                    <a:pt x="8792971" y="826897"/>
                  </a:lnTo>
                  <a:lnTo>
                    <a:pt x="8347329" y="793369"/>
                  </a:lnTo>
                  <a:lnTo>
                    <a:pt x="7867650" y="746442"/>
                  </a:lnTo>
                  <a:lnTo>
                    <a:pt x="7612253" y="717384"/>
                  </a:lnTo>
                  <a:lnTo>
                    <a:pt x="7345426" y="683869"/>
                  </a:lnTo>
                  <a:lnTo>
                    <a:pt x="6482588" y="558711"/>
                  </a:lnTo>
                  <a:lnTo>
                    <a:pt x="5514721" y="395566"/>
                  </a:lnTo>
                  <a:lnTo>
                    <a:pt x="4819396" y="268185"/>
                  </a:lnTo>
                  <a:lnTo>
                    <a:pt x="4163695" y="165353"/>
                  </a:lnTo>
                  <a:lnTo>
                    <a:pt x="3857244" y="125094"/>
                  </a:lnTo>
                  <a:lnTo>
                    <a:pt x="3564890" y="91566"/>
                  </a:lnTo>
                  <a:lnTo>
                    <a:pt x="3283839" y="62610"/>
                  </a:lnTo>
                  <a:lnTo>
                    <a:pt x="3017012" y="40259"/>
                  </a:lnTo>
                  <a:lnTo>
                    <a:pt x="2764409" y="22351"/>
                  </a:lnTo>
                  <a:lnTo>
                    <a:pt x="2293366" y="2285"/>
                  </a:lnTo>
                  <a:lnTo>
                    <a:pt x="2074799" y="0"/>
                  </a:lnTo>
                  <a:close/>
                </a:path>
                <a:path w="11631295" h="1332229">
                  <a:moveTo>
                    <a:pt x="11631167" y="569887"/>
                  </a:moveTo>
                  <a:lnTo>
                    <a:pt x="11517630" y="605650"/>
                  </a:lnTo>
                  <a:lnTo>
                    <a:pt x="11409807" y="636930"/>
                  </a:lnTo>
                  <a:lnTo>
                    <a:pt x="11296268" y="665988"/>
                  </a:lnTo>
                  <a:lnTo>
                    <a:pt x="11060684" y="719620"/>
                  </a:lnTo>
                  <a:lnTo>
                    <a:pt x="10935842" y="744207"/>
                  </a:lnTo>
                  <a:lnTo>
                    <a:pt x="10674731" y="784440"/>
                  </a:lnTo>
                  <a:lnTo>
                    <a:pt x="10535539" y="802309"/>
                  </a:lnTo>
                  <a:lnTo>
                    <a:pt x="10240391" y="829132"/>
                  </a:lnTo>
                  <a:lnTo>
                    <a:pt x="9922510" y="847013"/>
                  </a:lnTo>
                  <a:lnTo>
                    <a:pt x="9752203" y="851484"/>
                  </a:lnTo>
                  <a:lnTo>
                    <a:pt x="11631167" y="851484"/>
                  </a:lnTo>
                  <a:lnTo>
                    <a:pt x="11631167" y="569887"/>
                  </a:lnTo>
                  <a:close/>
                </a:path>
              </a:pathLst>
            </a:custGeom>
            <a:solidFill>
              <a:srgbClr val="FFFFFF"/>
            </a:solidFill>
          </p:spPr>
          <p:txBody>
            <a:bodyPr wrap="square" lIns="0" tIns="0" rIns="0" bIns="0" rtlCol="0"/>
            <a:lstStyle/>
            <a:p>
              <a:endParaRPr/>
            </a:p>
          </p:txBody>
        </p:sp>
        <p:pic>
          <p:nvPicPr>
            <p:cNvPr id="8" name="object 8"/>
            <p:cNvPicPr/>
            <p:nvPr/>
          </p:nvPicPr>
          <p:blipFill>
            <a:blip r:embed="rId2" cstate="print"/>
            <a:stretch>
              <a:fillRect/>
            </a:stretch>
          </p:blipFill>
          <p:spPr>
            <a:xfrm>
              <a:off x="0" y="4654294"/>
              <a:ext cx="12192000" cy="2203705"/>
            </a:xfrm>
            <a:prstGeom prst="rect">
              <a:avLst/>
            </a:prstGeom>
          </p:spPr>
        </p:pic>
        <p:sp>
          <p:nvSpPr>
            <p:cNvPr id="9" name="object 9"/>
            <p:cNvSpPr/>
            <p:nvPr/>
          </p:nvSpPr>
          <p:spPr>
            <a:xfrm>
              <a:off x="0" y="4751832"/>
              <a:ext cx="12192000" cy="2106295"/>
            </a:xfrm>
            <a:custGeom>
              <a:avLst/>
              <a:gdLst/>
              <a:ahLst/>
              <a:cxnLst/>
              <a:rect l="l" t="t" r="r" b="b"/>
              <a:pathLst>
                <a:path w="12192000" h="2106295">
                  <a:moveTo>
                    <a:pt x="0" y="1692935"/>
                  </a:moveTo>
                  <a:lnTo>
                    <a:pt x="0" y="2106168"/>
                  </a:lnTo>
                  <a:lnTo>
                    <a:pt x="12192000" y="2106168"/>
                  </a:lnTo>
                  <a:lnTo>
                    <a:pt x="12192000" y="1751497"/>
                  </a:lnTo>
                  <a:lnTo>
                    <a:pt x="2934817" y="1751497"/>
                  </a:lnTo>
                  <a:lnTo>
                    <a:pt x="2876641" y="1751349"/>
                  </a:lnTo>
                  <a:lnTo>
                    <a:pt x="2817092" y="1751121"/>
                  </a:lnTo>
                  <a:lnTo>
                    <a:pt x="0" y="1692935"/>
                  </a:lnTo>
                  <a:close/>
                </a:path>
                <a:path w="12192000" h="2106295">
                  <a:moveTo>
                    <a:pt x="12192000" y="0"/>
                  </a:moveTo>
                  <a:lnTo>
                    <a:pt x="11716943" y="166999"/>
                  </a:lnTo>
                  <a:lnTo>
                    <a:pt x="10889368" y="446031"/>
                  </a:lnTo>
                  <a:lnTo>
                    <a:pt x="10181449" y="670627"/>
                  </a:lnTo>
                  <a:lnTo>
                    <a:pt x="9576625" y="850361"/>
                  </a:lnTo>
                  <a:lnTo>
                    <a:pt x="9061926" y="993217"/>
                  </a:lnTo>
                  <a:lnTo>
                    <a:pt x="8627362" y="1105785"/>
                  </a:lnTo>
                  <a:lnTo>
                    <a:pt x="8205916" y="1207284"/>
                  </a:lnTo>
                  <a:lnTo>
                    <a:pt x="7796037" y="1298223"/>
                  </a:lnTo>
                  <a:lnTo>
                    <a:pt x="7396173" y="1379112"/>
                  </a:lnTo>
                  <a:lnTo>
                    <a:pt x="7060227" y="1440831"/>
                  </a:lnTo>
                  <a:lnTo>
                    <a:pt x="6729521" y="1495861"/>
                  </a:lnTo>
                  <a:lnTo>
                    <a:pt x="6403079" y="1544521"/>
                  </a:lnTo>
                  <a:lnTo>
                    <a:pt x="6026314" y="1593670"/>
                  </a:lnTo>
                  <a:lnTo>
                    <a:pt x="5652470" y="1635094"/>
                  </a:lnTo>
                  <a:lnTo>
                    <a:pt x="5279994" y="1669304"/>
                  </a:lnTo>
                  <a:lnTo>
                    <a:pt x="4907336" y="1696809"/>
                  </a:lnTo>
                  <a:lnTo>
                    <a:pt x="4479226" y="1720684"/>
                  </a:lnTo>
                  <a:lnTo>
                    <a:pt x="3992010" y="1738816"/>
                  </a:lnTo>
                  <a:lnTo>
                    <a:pt x="3376991" y="1750019"/>
                  </a:lnTo>
                  <a:lnTo>
                    <a:pt x="3324690" y="1750449"/>
                  </a:lnTo>
                  <a:lnTo>
                    <a:pt x="3101274" y="1751497"/>
                  </a:lnTo>
                  <a:lnTo>
                    <a:pt x="12192000" y="1751497"/>
                  </a:lnTo>
                  <a:lnTo>
                    <a:pt x="12192000" y="0"/>
                  </a:lnTo>
                  <a:close/>
                </a:path>
              </a:pathLst>
            </a:custGeom>
            <a:solidFill>
              <a:srgbClr val="5BB9F6">
                <a:alpha val="45097"/>
              </a:srgbClr>
            </a:solidFill>
          </p:spPr>
          <p:txBody>
            <a:bodyPr wrap="square" lIns="0" tIns="0" rIns="0" bIns="0" rtlCol="0"/>
            <a:lstStyle/>
            <a:p>
              <a:endParaRPr/>
            </a:p>
          </p:txBody>
        </p:sp>
        <p:pic>
          <p:nvPicPr>
            <p:cNvPr id="10" name="object 10"/>
            <p:cNvPicPr/>
            <p:nvPr/>
          </p:nvPicPr>
          <p:blipFill>
            <a:blip r:embed="rId3" cstate="print"/>
            <a:stretch>
              <a:fillRect/>
            </a:stretch>
          </p:blipFill>
          <p:spPr>
            <a:xfrm>
              <a:off x="9649968" y="0"/>
              <a:ext cx="2542031" cy="6858000"/>
            </a:xfrm>
            <a:prstGeom prst="rect">
              <a:avLst/>
            </a:prstGeom>
          </p:spPr>
        </p:pic>
        <p:sp>
          <p:nvSpPr>
            <p:cNvPr id="11" name="object 11"/>
            <p:cNvSpPr/>
            <p:nvPr/>
          </p:nvSpPr>
          <p:spPr>
            <a:xfrm>
              <a:off x="9753600" y="0"/>
              <a:ext cx="2438400" cy="6858000"/>
            </a:xfrm>
            <a:custGeom>
              <a:avLst/>
              <a:gdLst/>
              <a:ahLst/>
              <a:cxnLst/>
              <a:rect l="l" t="t" r="r" b="b"/>
              <a:pathLst>
                <a:path w="2438400" h="6858000">
                  <a:moveTo>
                    <a:pt x="0" y="0"/>
                  </a:moveTo>
                  <a:lnTo>
                    <a:pt x="45891" y="47929"/>
                  </a:lnTo>
                  <a:lnTo>
                    <a:pt x="91044" y="95891"/>
                  </a:lnTo>
                  <a:lnTo>
                    <a:pt x="135461" y="143882"/>
                  </a:lnTo>
                  <a:lnTo>
                    <a:pt x="179147" y="191900"/>
                  </a:lnTo>
                  <a:lnTo>
                    <a:pt x="222105" y="239944"/>
                  </a:lnTo>
                  <a:lnTo>
                    <a:pt x="264340" y="288010"/>
                  </a:lnTo>
                  <a:lnTo>
                    <a:pt x="305855" y="336097"/>
                  </a:lnTo>
                  <a:lnTo>
                    <a:pt x="346654" y="384203"/>
                  </a:lnTo>
                  <a:lnTo>
                    <a:pt x="386741" y="432325"/>
                  </a:lnTo>
                  <a:lnTo>
                    <a:pt x="426119" y="480460"/>
                  </a:lnTo>
                  <a:lnTo>
                    <a:pt x="464794" y="528608"/>
                  </a:lnTo>
                  <a:lnTo>
                    <a:pt x="502768" y="576765"/>
                  </a:lnTo>
                  <a:lnTo>
                    <a:pt x="540046" y="624930"/>
                  </a:lnTo>
                  <a:lnTo>
                    <a:pt x="576631" y="673099"/>
                  </a:lnTo>
                  <a:lnTo>
                    <a:pt x="612527" y="721271"/>
                  </a:lnTo>
                  <a:lnTo>
                    <a:pt x="647739" y="769444"/>
                  </a:lnTo>
                  <a:lnTo>
                    <a:pt x="682269" y="817616"/>
                  </a:lnTo>
                  <a:lnTo>
                    <a:pt x="716123" y="865783"/>
                  </a:lnTo>
                  <a:lnTo>
                    <a:pt x="749303" y="913945"/>
                  </a:lnTo>
                  <a:lnTo>
                    <a:pt x="781814" y="962098"/>
                  </a:lnTo>
                  <a:lnTo>
                    <a:pt x="813660" y="1010241"/>
                  </a:lnTo>
                  <a:lnTo>
                    <a:pt x="844844" y="1058371"/>
                  </a:lnTo>
                  <a:lnTo>
                    <a:pt x="875371" y="1106486"/>
                  </a:lnTo>
                  <a:lnTo>
                    <a:pt x="905244" y="1154584"/>
                  </a:lnTo>
                  <a:lnTo>
                    <a:pt x="934467" y="1202662"/>
                  </a:lnTo>
                  <a:lnTo>
                    <a:pt x="963043" y="1250719"/>
                  </a:lnTo>
                  <a:lnTo>
                    <a:pt x="990978" y="1298752"/>
                  </a:lnTo>
                  <a:lnTo>
                    <a:pt x="1018275" y="1346758"/>
                  </a:lnTo>
                  <a:lnTo>
                    <a:pt x="1044937" y="1394737"/>
                  </a:lnTo>
                  <a:lnTo>
                    <a:pt x="1070969" y="1442684"/>
                  </a:lnTo>
                  <a:lnTo>
                    <a:pt x="1096375" y="1490599"/>
                  </a:lnTo>
                  <a:lnTo>
                    <a:pt x="1121157" y="1538479"/>
                  </a:lnTo>
                  <a:lnTo>
                    <a:pt x="1145321" y="1586322"/>
                  </a:lnTo>
                  <a:lnTo>
                    <a:pt x="1168870" y="1634125"/>
                  </a:lnTo>
                  <a:lnTo>
                    <a:pt x="1191808" y="1681887"/>
                  </a:lnTo>
                  <a:lnTo>
                    <a:pt x="1214139" y="1729604"/>
                  </a:lnTo>
                  <a:lnTo>
                    <a:pt x="1235867" y="1777276"/>
                  </a:lnTo>
                  <a:lnTo>
                    <a:pt x="1256995" y="1824899"/>
                  </a:lnTo>
                  <a:lnTo>
                    <a:pt x="1277528" y="1872471"/>
                  </a:lnTo>
                  <a:lnTo>
                    <a:pt x="1297469" y="1919990"/>
                  </a:lnTo>
                  <a:lnTo>
                    <a:pt x="1316822" y="1967455"/>
                  </a:lnTo>
                  <a:lnTo>
                    <a:pt x="1335592" y="2014862"/>
                  </a:lnTo>
                  <a:lnTo>
                    <a:pt x="1353782" y="2062210"/>
                  </a:lnTo>
                  <a:lnTo>
                    <a:pt x="1371395" y="2109495"/>
                  </a:lnTo>
                  <a:lnTo>
                    <a:pt x="1388437" y="2156717"/>
                  </a:lnTo>
                  <a:lnTo>
                    <a:pt x="1404910" y="2203873"/>
                  </a:lnTo>
                  <a:lnTo>
                    <a:pt x="1420819" y="2250960"/>
                  </a:lnTo>
                  <a:lnTo>
                    <a:pt x="1436167" y="2297976"/>
                  </a:lnTo>
                  <a:lnTo>
                    <a:pt x="1450959" y="2344920"/>
                  </a:lnTo>
                  <a:lnTo>
                    <a:pt x="1465198" y="2391788"/>
                  </a:lnTo>
                  <a:lnTo>
                    <a:pt x="1478888" y="2438579"/>
                  </a:lnTo>
                  <a:lnTo>
                    <a:pt x="1492033" y="2485290"/>
                  </a:lnTo>
                  <a:lnTo>
                    <a:pt x="1504637" y="2531920"/>
                  </a:lnTo>
                  <a:lnTo>
                    <a:pt x="1516704" y="2578465"/>
                  </a:lnTo>
                  <a:lnTo>
                    <a:pt x="1528237" y="2624925"/>
                  </a:lnTo>
                  <a:lnTo>
                    <a:pt x="1539241" y="2671295"/>
                  </a:lnTo>
                  <a:lnTo>
                    <a:pt x="1549720" y="2717575"/>
                  </a:lnTo>
                  <a:lnTo>
                    <a:pt x="1559677" y="2763762"/>
                  </a:lnTo>
                  <a:lnTo>
                    <a:pt x="1569116" y="2809854"/>
                  </a:lnTo>
                  <a:lnTo>
                    <a:pt x="1578041" y="2855848"/>
                  </a:lnTo>
                  <a:lnTo>
                    <a:pt x="1586456" y="2901743"/>
                  </a:lnTo>
                  <a:lnTo>
                    <a:pt x="1594365" y="2947536"/>
                  </a:lnTo>
                  <a:lnTo>
                    <a:pt x="1601772" y="2993225"/>
                  </a:lnTo>
                  <a:lnTo>
                    <a:pt x="1608680" y="3038807"/>
                  </a:lnTo>
                  <a:lnTo>
                    <a:pt x="1615094" y="3084281"/>
                  </a:lnTo>
                  <a:lnTo>
                    <a:pt x="1621017" y="3129644"/>
                  </a:lnTo>
                  <a:lnTo>
                    <a:pt x="1626454" y="3174894"/>
                  </a:lnTo>
                  <a:lnTo>
                    <a:pt x="1631408" y="3220029"/>
                  </a:lnTo>
                  <a:lnTo>
                    <a:pt x="1635883" y="3265046"/>
                  </a:lnTo>
                  <a:lnTo>
                    <a:pt x="1639883" y="3309943"/>
                  </a:lnTo>
                  <a:lnTo>
                    <a:pt x="1643411" y="3354719"/>
                  </a:lnTo>
                  <a:lnTo>
                    <a:pt x="1646473" y="3399370"/>
                  </a:lnTo>
                  <a:lnTo>
                    <a:pt x="1649071" y="3443895"/>
                  </a:lnTo>
                  <a:lnTo>
                    <a:pt x="1651209" y="3488292"/>
                  </a:lnTo>
                  <a:lnTo>
                    <a:pt x="1652892" y="3532557"/>
                  </a:lnTo>
                  <a:lnTo>
                    <a:pt x="1654123" y="3576690"/>
                  </a:lnTo>
                  <a:lnTo>
                    <a:pt x="1654906" y="3620687"/>
                  </a:lnTo>
                  <a:lnTo>
                    <a:pt x="1655246" y="3664547"/>
                  </a:lnTo>
                  <a:lnTo>
                    <a:pt x="1655145" y="3708266"/>
                  </a:lnTo>
                  <a:lnTo>
                    <a:pt x="1654608" y="3751844"/>
                  </a:lnTo>
                  <a:lnTo>
                    <a:pt x="1653638" y="3795278"/>
                  </a:lnTo>
                  <a:lnTo>
                    <a:pt x="1652241" y="3838565"/>
                  </a:lnTo>
                  <a:lnTo>
                    <a:pt x="1650418" y="3881704"/>
                  </a:lnTo>
                  <a:lnTo>
                    <a:pt x="1648175" y="3924691"/>
                  </a:lnTo>
                  <a:lnTo>
                    <a:pt x="1645516" y="3967526"/>
                  </a:lnTo>
                  <a:lnTo>
                    <a:pt x="1642443" y="4010205"/>
                  </a:lnTo>
                  <a:lnTo>
                    <a:pt x="1638961" y="4052726"/>
                  </a:lnTo>
                  <a:lnTo>
                    <a:pt x="1635074" y="4095088"/>
                  </a:lnTo>
                  <a:lnTo>
                    <a:pt x="1630786" y="4137287"/>
                  </a:lnTo>
                  <a:lnTo>
                    <a:pt x="1626101" y="4179323"/>
                  </a:lnTo>
                  <a:lnTo>
                    <a:pt x="1621022" y="4221192"/>
                  </a:lnTo>
                  <a:lnTo>
                    <a:pt x="1615554" y="4262892"/>
                  </a:lnTo>
                  <a:lnTo>
                    <a:pt x="1609699" y="4304421"/>
                  </a:lnTo>
                  <a:lnTo>
                    <a:pt x="1603463" y="4345777"/>
                  </a:lnTo>
                  <a:lnTo>
                    <a:pt x="1596850" y="4386957"/>
                  </a:lnTo>
                  <a:lnTo>
                    <a:pt x="1589862" y="4427960"/>
                  </a:lnTo>
                  <a:lnTo>
                    <a:pt x="1582503" y="4468783"/>
                  </a:lnTo>
                  <a:lnTo>
                    <a:pt x="1574779" y="4509424"/>
                  </a:lnTo>
                  <a:lnTo>
                    <a:pt x="1566692" y="4549880"/>
                  </a:lnTo>
                  <a:lnTo>
                    <a:pt x="1558247" y="4590150"/>
                  </a:lnTo>
                  <a:lnTo>
                    <a:pt x="1549447" y="4630231"/>
                  </a:lnTo>
                  <a:lnTo>
                    <a:pt x="1540296" y="4670121"/>
                  </a:lnTo>
                  <a:lnTo>
                    <a:pt x="1530799" y="4709818"/>
                  </a:lnTo>
                  <a:lnTo>
                    <a:pt x="1520958" y="4749320"/>
                  </a:lnTo>
                  <a:lnTo>
                    <a:pt x="1510779" y="4788623"/>
                  </a:lnTo>
                  <a:lnTo>
                    <a:pt x="1500264" y="4827727"/>
                  </a:lnTo>
                  <a:lnTo>
                    <a:pt x="1489418" y="4866629"/>
                  </a:lnTo>
                  <a:lnTo>
                    <a:pt x="1478244" y="4905326"/>
                  </a:lnTo>
                  <a:lnTo>
                    <a:pt x="1466747" y="4943816"/>
                  </a:lnTo>
                  <a:lnTo>
                    <a:pt x="1454930" y="4982098"/>
                  </a:lnTo>
                  <a:lnTo>
                    <a:pt x="1442798" y="5020169"/>
                  </a:lnTo>
                  <a:lnTo>
                    <a:pt x="1430353" y="5058026"/>
                  </a:lnTo>
                  <a:lnTo>
                    <a:pt x="1417601" y="5095668"/>
                  </a:lnTo>
                  <a:lnTo>
                    <a:pt x="1404544" y="5133092"/>
                  </a:lnTo>
                  <a:lnTo>
                    <a:pt x="1391188" y="5170296"/>
                  </a:lnTo>
                  <a:lnTo>
                    <a:pt x="1377535" y="5207278"/>
                  </a:lnTo>
                  <a:lnTo>
                    <a:pt x="1363589" y="5244035"/>
                  </a:lnTo>
                  <a:lnTo>
                    <a:pt x="1349355" y="5280566"/>
                  </a:lnTo>
                  <a:lnTo>
                    <a:pt x="1334836" y="5316868"/>
                  </a:lnTo>
                  <a:lnTo>
                    <a:pt x="1320036" y="5352938"/>
                  </a:lnTo>
                  <a:lnTo>
                    <a:pt x="1304959" y="5388775"/>
                  </a:lnTo>
                  <a:lnTo>
                    <a:pt x="1289610" y="5424377"/>
                  </a:lnTo>
                  <a:lnTo>
                    <a:pt x="1273991" y="5459741"/>
                  </a:lnTo>
                  <a:lnTo>
                    <a:pt x="1258107" y="5494865"/>
                  </a:lnTo>
                  <a:lnTo>
                    <a:pt x="1241961" y="5529746"/>
                  </a:lnTo>
                  <a:lnTo>
                    <a:pt x="1225558" y="5564383"/>
                  </a:lnTo>
                  <a:lnTo>
                    <a:pt x="1208901" y="5598774"/>
                  </a:lnTo>
                  <a:lnTo>
                    <a:pt x="1174843" y="5666805"/>
                  </a:lnTo>
                  <a:lnTo>
                    <a:pt x="1139816" y="5733823"/>
                  </a:lnTo>
                  <a:lnTo>
                    <a:pt x="1103853" y="5799809"/>
                  </a:lnTo>
                  <a:lnTo>
                    <a:pt x="1066984" y="5864746"/>
                  </a:lnTo>
                  <a:lnTo>
                    <a:pt x="1029240" y="5928616"/>
                  </a:lnTo>
                  <a:lnTo>
                    <a:pt x="990653" y="5991400"/>
                  </a:lnTo>
                  <a:lnTo>
                    <a:pt x="951253" y="6053082"/>
                  </a:lnTo>
                  <a:lnTo>
                    <a:pt x="911072" y="6113644"/>
                  </a:lnTo>
                  <a:lnTo>
                    <a:pt x="870140" y="6173067"/>
                  </a:lnTo>
                  <a:lnTo>
                    <a:pt x="828490" y="6231333"/>
                  </a:lnTo>
                  <a:lnTo>
                    <a:pt x="786151" y="6288425"/>
                  </a:lnTo>
                  <a:lnTo>
                    <a:pt x="743155" y="6344326"/>
                  </a:lnTo>
                  <a:lnTo>
                    <a:pt x="699533" y="6399016"/>
                  </a:lnTo>
                  <a:lnTo>
                    <a:pt x="655316" y="6452479"/>
                  </a:lnTo>
                  <a:lnTo>
                    <a:pt x="610535" y="6504697"/>
                  </a:lnTo>
                  <a:lnTo>
                    <a:pt x="565221" y="6555651"/>
                  </a:lnTo>
                  <a:lnTo>
                    <a:pt x="519406" y="6605325"/>
                  </a:lnTo>
                  <a:lnTo>
                    <a:pt x="473120" y="6653699"/>
                  </a:lnTo>
                  <a:lnTo>
                    <a:pt x="426394" y="6700756"/>
                  </a:lnTo>
                  <a:lnTo>
                    <a:pt x="379260" y="6746479"/>
                  </a:lnTo>
                  <a:lnTo>
                    <a:pt x="331748" y="6790850"/>
                  </a:lnTo>
                  <a:lnTo>
                    <a:pt x="283891" y="6833850"/>
                  </a:lnTo>
                  <a:lnTo>
                    <a:pt x="259842" y="6854831"/>
                  </a:lnTo>
                  <a:lnTo>
                    <a:pt x="2438400" y="6857999"/>
                  </a:lnTo>
                  <a:lnTo>
                    <a:pt x="2438400" y="14224"/>
                  </a:lnTo>
                  <a:lnTo>
                    <a:pt x="0" y="0"/>
                  </a:lnTo>
                  <a:close/>
                </a:path>
              </a:pathLst>
            </a:custGeom>
            <a:solidFill>
              <a:srgbClr val="C5E7FB">
                <a:alpha val="39999"/>
              </a:srgbClr>
            </a:solidFill>
          </p:spPr>
          <p:txBody>
            <a:bodyPr wrap="square" lIns="0" tIns="0" rIns="0" bIns="0" rtlCol="0"/>
            <a:lstStyle/>
            <a:p>
              <a:endParaRPr/>
            </a:p>
          </p:txBody>
        </p:sp>
        <p:pic>
          <p:nvPicPr>
            <p:cNvPr id="12" name="object 12"/>
            <p:cNvPicPr/>
            <p:nvPr/>
          </p:nvPicPr>
          <p:blipFill>
            <a:blip r:embed="rId2" cstate="print"/>
            <a:stretch>
              <a:fillRect/>
            </a:stretch>
          </p:blipFill>
          <p:spPr>
            <a:xfrm>
              <a:off x="0" y="4654294"/>
              <a:ext cx="12192000" cy="2203705"/>
            </a:xfrm>
            <a:prstGeom prst="rect">
              <a:avLst/>
            </a:prstGeom>
          </p:spPr>
        </p:pic>
        <p:sp>
          <p:nvSpPr>
            <p:cNvPr id="13" name="object 13"/>
            <p:cNvSpPr/>
            <p:nvPr/>
          </p:nvSpPr>
          <p:spPr>
            <a:xfrm>
              <a:off x="0" y="4751832"/>
              <a:ext cx="12192000" cy="2106295"/>
            </a:xfrm>
            <a:custGeom>
              <a:avLst/>
              <a:gdLst/>
              <a:ahLst/>
              <a:cxnLst/>
              <a:rect l="l" t="t" r="r" b="b"/>
              <a:pathLst>
                <a:path w="12192000" h="2106295">
                  <a:moveTo>
                    <a:pt x="0" y="1692935"/>
                  </a:moveTo>
                  <a:lnTo>
                    <a:pt x="0" y="2106168"/>
                  </a:lnTo>
                  <a:lnTo>
                    <a:pt x="12192000" y="2106168"/>
                  </a:lnTo>
                  <a:lnTo>
                    <a:pt x="12192000" y="1751497"/>
                  </a:lnTo>
                  <a:lnTo>
                    <a:pt x="2934817" y="1751497"/>
                  </a:lnTo>
                  <a:lnTo>
                    <a:pt x="2876641" y="1751349"/>
                  </a:lnTo>
                  <a:lnTo>
                    <a:pt x="2817092" y="1751121"/>
                  </a:lnTo>
                  <a:lnTo>
                    <a:pt x="0" y="1692935"/>
                  </a:lnTo>
                  <a:close/>
                </a:path>
                <a:path w="12192000" h="2106295">
                  <a:moveTo>
                    <a:pt x="12192000" y="0"/>
                  </a:moveTo>
                  <a:lnTo>
                    <a:pt x="11716943" y="166999"/>
                  </a:lnTo>
                  <a:lnTo>
                    <a:pt x="10889368" y="446031"/>
                  </a:lnTo>
                  <a:lnTo>
                    <a:pt x="10181449" y="670627"/>
                  </a:lnTo>
                  <a:lnTo>
                    <a:pt x="9576625" y="850361"/>
                  </a:lnTo>
                  <a:lnTo>
                    <a:pt x="9061926" y="993217"/>
                  </a:lnTo>
                  <a:lnTo>
                    <a:pt x="8627362" y="1105785"/>
                  </a:lnTo>
                  <a:lnTo>
                    <a:pt x="8205916" y="1207284"/>
                  </a:lnTo>
                  <a:lnTo>
                    <a:pt x="7796037" y="1298223"/>
                  </a:lnTo>
                  <a:lnTo>
                    <a:pt x="7396173" y="1379112"/>
                  </a:lnTo>
                  <a:lnTo>
                    <a:pt x="7060227" y="1440831"/>
                  </a:lnTo>
                  <a:lnTo>
                    <a:pt x="6729521" y="1495861"/>
                  </a:lnTo>
                  <a:lnTo>
                    <a:pt x="6403079" y="1544521"/>
                  </a:lnTo>
                  <a:lnTo>
                    <a:pt x="6026314" y="1593670"/>
                  </a:lnTo>
                  <a:lnTo>
                    <a:pt x="5652470" y="1635094"/>
                  </a:lnTo>
                  <a:lnTo>
                    <a:pt x="5279994" y="1669304"/>
                  </a:lnTo>
                  <a:lnTo>
                    <a:pt x="4907336" y="1696809"/>
                  </a:lnTo>
                  <a:lnTo>
                    <a:pt x="4479226" y="1720684"/>
                  </a:lnTo>
                  <a:lnTo>
                    <a:pt x="3992010" y="1738816"/>
                  </a:lnTo>
                  <a:lnTo>
                    <a:pt x="3376991" y="1750019"/>
                  </a:lnTo>
                  <a:lnTo>
                    <a:pt x="3324690" y="1750449"/>
                  </a:lnTo>
                  <a:lnTo>
                    <a:pt x="3101274" y="1751497"/>
                  </a:lnTo>
                  <a:lnTo>
                    <a:pt x="12192000" y="1751497"/>
                  </a:lnTo>
                  <a:lnTo>
                    <a:pt x="12192000" y="0"/>
                  </a:lnTo>
                  <a:close/>
                </a:path>
              </a:pathLst>
            </a:custGeom>
            <a:solidFill>
              <a:srgbClr val="5BB9F6">
                <a:alpha val="45097"/>
              </a:srgbClr>
            </a:solidFill>
          </p:spPr>
          <p:txBody>
            <a:bodyPr wrap="square" lIns="0" tIns="0" rIns="0" bIns="0" rtlCol="0"/>
            <a:lstStyle/>
            <a:p>
              <a:endParaRPr/>
            </a:p>
          </p:txBody>
        </p:sp>
        <p:pic>
          <p:nvPicPr>
            <p:cNvPr id="14" name="object 14"/>
            <p:cNvPicPr/>
            <p:nvPr/>
          </p:nvPicPr>
          <p:blipFill>
            <a:blip r:embed="rId3" cstate="print"/>
            <a:stretch>
              <a:fillRect/>
            </a:stretch>
          </p:blipFill>
          <p:spPr>
            <a:xfrm>
              <a:off x="9649968" y="0"/>
              <a:ext cx="2542031" cy="6858000"/>
            </a:xfrm>
            <a:prstGeom prst="rect">
              <a:avLst/>
            </a:prstGeom>
          </p:spPr>
        </p:pic>
        <p:sp>
          <p:nvSpPr>
            <p:cNvPr id="15" name="object 15"/>
            <p:cNvSpPr/>
            <p:nvPr/>
          </p:nvSpPr>
          <p:spPr>
            <a:xfrm>
              <a:off x="9753600" y="0"/>
              <a:ext cx="2438400" cy="6858000"/>
            </a:xfrm>
            <a:custGeom>
              <a:avLst/>
              <a:gdLst/>
              <a:ahLst/>
              <a:cxnLst/>
              <a:rect l="l" t="t" r="r" b="b"/>
              <a:pathLst>
                <a:path w="2438400" h="6858000">
                  <a:moveTo>
                    <a:pt x="0" y="0"/>
                  </a:moveTo>
                  <a:lnTo>
                    <a:pt x="45891" y="47929"/>
                  </a:lnTo>
                  <a:lnTo>
                    <a:pt x="91044" y="95891"/>
                  </a:lnTo>
                  <a:lnTo>
                    <a:pt x="135461" y="143882"/>
                  </a:lnTo>
                  <a:lnTo>
                    <a:pt x="179147" y="191900"/>
                  </a:lnTo>
                  <a:lnTo>
                    <a:pt x="222105" y="239944"/>
                  </a:lnTo>
                  <a:lnTo>
                    <a:pt x="264340" y="288010"/>
                  </a:lnTo>
                  <a:lnTo>
                    <a:pt x="305855" y="336097"/>
                  </a:lnTo>
                  <a:lnTo>
                    <a:pt x="346654" y="384203"/>
                  </a:lnTo>
                  <a:lnTo>
                    <a:pt x="386741" y="432325"/>
                  </a:lnTo>
                  <a:lnTo>
                    <a:pt x="426119" y="480460"/>
                  </a:lnTo>
                  <a:lnTo>
                    <a:pt x="464794" y="528608"/>
                  </a:lnTo>
                  <a:lnTo>
                    <a:pt x="502768" y="576765"/>
                  </a:lnTo>
                  <a:lnTo>
                    <a:pt x="540046" y="624930"/>
                  </a:lnTo>
                  <a:lnTo>
                    <a:pt x="576631" y="673099"/>
                  </a:lnTo>
                  <a:lnTo>
                    <a:pt x="612527" y="721271"/>
                  </a:lnTo>
                  <a:lnTo>
                    <a:pt x="647739" y="769444"/>
                  </a:lnTo>
                  <a:lnTo>
                    <a:pt x="682269" y="817616"/>
                  </a:lnTo>
                  <a:lnTo>
                    <a:pt x="716123" y="865783"/>
                  </a:lnTo>
                  <a:lnTo>
                    <a:pt x="749303" y="913945"/>
                  </a:lnTo>
                  <a:lnTo>
                    <a:pt x="781814" y="962098"/>
                  </a:lnTo>
                  <a:lnTo>
                    <a:pt x="813660" y="1010241"/>
                  </a:lnTo>
                  <a:lnTo>
                    <a:pt x="844844" y="1058371"/>
                  </a:lnTo>
                  <a:lnTo>
                    <a:pt x="875371" y="1106486"/>
                  </a:lnTo>
                  <a:lnTo>
                    <a:pt x="905244" y="1154584"/>
                  </a:lnTo>
                  <a:lnTo>
                    <a:pt x="934467" y="1202662"/>
                  </a:lnTo>
                  <a:lnTo>
                    <a:pt x="963043" y="1250719"/>
                  </a:lnTo>
                  <a:lnTo>
                    <a:pt x="990978" y="1298752"/>
                  </a:lnTo>
                  <a:lnTo>
                    <a:pt x="1018275" y="1346758"/>
                  </a:lnTo>
                  <a:lnTo>
                    <a:pt x="1044937" y="1394737"/>
                  </a:lnTo>
                  <a:lnTo>
                    <a:pt x="1070969" y="1442684"/>
                  </a:lnTo>
                  <a:lnTo>
                    <a:pt x="1096375" y="1490599"/>
                  </a:lnTo>
                  <a:lnTo>
                    <a:pt x="1121157" y="1538479"/>
                  </a:lnTo>
                  <a:lnTo>
                    <a:pt x="1145321" y="1586322"/>
                  </a:lnTo>
                  <a:lnTo>
                    <a:pt x="1168870" y="1634125"/>
                  </a:lnTo>
                  <a:lnTo>
                    <a:pt x="1191808" y="1681887"/>
                  </a:lnTo>
                  <a:lnTo>
                    <a:pt x="1214139" y="1729604"/>
                  </a:lnTo>
                  <a:lnTo>
                    <a:pt x="1235867" y="1777276"/>
                  </a:lnTo>
                  <a:lnTo>
                    <a:pt x="1256995" y="1824899"/>
                  </a:lnTo>
                  <a:lnTo>
                    <a:pt x="1277528" y="1872471"/>
                  </a:lnTo>
                  <a:lnTo>
                    <a:pt x="1297469" y="1919990"/>
                  </a:lnTo>
                  <a:lnTo>
                    <a:pt x="1316822" y="1967455"/>
                  </a:lnTo>
                  <a:lnTo>
                    <a:pt x="1335592" y="2014862"/>
                  </a:lnTo>
                  <a:lnTo>
                    <a:pt x="1353782" y="2062210"/>
                  </a:lnTo>
                  <a:lnTo>
                    <a:pt x="1371395" y="2109495"/>
                  </a:lnTo>
                  <a:lnTo>
                    <a:pt x="1388437" y="2156717"/>
                  </a:lnTo>
                  <a:lnTo>
                    <a:pt x="1404910" y="2203873"/>
                  </a:lnTo>
                  <a:lnTo>
                    <a:pt x="1420819" y="2250960"/>
                  </a:lnTo>
                  <a:lnTo>
                    <a:pt x="1436167" y="2297976"/>
                  </a:lnTo>
                  <a:lnTo>
                    <a:pt x="1450959" y="2344920"/>
                  </a:lnTo>
                  <a:lnTo>
                    <a:pt x="1465198" y="2391788"/>
                  </a:lnTo>
                  <a:lnTo>
                    <a:pt x="1478888" y="2438579"/>
                  </a:lnTo>
                  <a:lnTo>
                    <a:pt x="1492033" y="2485290"/>
                  </a:lnTo>
                  <a:lnTo>
                    <a:pt x="1504637" y="2531920"/>
                  </a:lnTo>
                  <a:lnTo>
                    <a:pt x="1516704" y="2578465"/>
                  </a:lnTo>
                  <a:lnTo>
                    <a:pt x="1528237" y="2624925"/>
                  </a:lnTo>
                  <a:lnTo>
                    <a:pt x="1539241" y="2671295"/>
                  </a:lnTo>
                  <a:lnTo>
                    <a:pt x="1549720" y="2717575"/>
                  </a:lnTo>
                  <a:lnTo>
                    <a:pt x="1559677" y="2763762"/>
                  </a:lnTo>
                  <a:lnTo>
                    <a:pt x="1569116" y="2809854"/>
                  </a:lnTo>
                  <a:lnTo>
                    <a:pt x="1578041" y="2855848"/>
                  </a:lnTo>
                  <a:lnTo>
                    <a:pt x="1586456" y="2901743"/>
                  </a:lnTo>
                  <a:lnTo>
                    <a:pt x="1594365" y="2947536"/>
                  </a:lnTo>
                  <a:lnTo>
                    <a:pt x="1601772" y="2993225"/>
                  </a:lnTo>
                  <a:lnTo>
                    <a:pt x="1608680" y="3038807"/>
                  </a:lnTo>
                  <a:lnTo>
                    <a:pt x="1615094" y="3084281"/>
                  </a:lnTo>
                  <a:lnTo>
                    <a:pt x="1621017" y="3129644"/>
                  </a:lnTo>
                  <a:lnTo>
                    <a:pt x="1626454" y="3174894"/>
                  </a:lnTo>
                  <a:lnTo>
                    <a:pt x="1631408" y="3220029"/>
                  </a:lnTo>
                  <a:lnTo>
                    <a:pt x="1635883" y="3265046"/>
                  </a:lnTo>
                  <a:lnTo>
                    <a:pt x="1639883" y="3309943"/>
                  </a:lnTo>
                  <a:lnTo>
                    <a:pt x="1643411" y="3354719"/>
                  </a:lnTo>
                  <a:lnTo>
                    <a:pt x="1646473" y="3399370"/>
                  </a:lnTo>
                  <a:lnTo>
                    <a:pt x="1649071" y="3443895"/>
                  </a:lnTo>
                  <a:lnTo>
                    <a:pt x="1651209" y="3488292"/>
                  </a:lnTo>
                  <a:lnTo>
                    <a:pt x="1652892" y="3532557"/>
                  </a:lnTo>
                  <a:lnTo>
                    <a:pt x="1654123" y="3576690"/>
                  </a:lnTo>
                  <a:lnTo>
                    <a:pt x="1654906" y="3620687"/>
                  </a:lnTo>
                  <a:lnTo>
                    <a:pt x="1655246" y="3664547"/>
                  </a:lnTo>
                  <a:lnTo>
                    <a:pt x="1655145" y="3708266"/>
                  </a:lnTo>
                  <a:lnTo>
                    <a:pt x="1654608" y="3751844"/>
                  </a:lnTo>
                  <a:lnTo>
                    <a:pt x="1653638" y="3795278"/>
                  </a:lnTo>
                  <a:lnTo>
                    <a:pt x="1652241" y="3838565"/>
                  </a:lnTo>
                  <a:lnTo>
                    <a:pt x="1650418" y="3881704"/>
                  </a:lnTo>
                  <a:lnTo>
                    <a:pt x="1648175" y="3924691"/>
                  </a:lnTo>
                  <a:lnTo>
                    <a:pt x="1645516" y="3967526"/>
                  </a:lnTo>
                  <a:lnTo>
                    <a:pt x="1642443" y="4010205"/>
                  </a:lnTo>
                  <a:lnTo>
                    <a:pt x="1638961" y="4052726"/>
                  </a:lnTo>
                  <a:lnTo>
                    <a:pt x="1635074" y="4095088"/>
                  </a:lnTo>
                  <a:lnTo>
                    <a:pt x="1630786" y="4137287"/>
                  </a:lnTo>
                  <a:lnTo>
                    <a:pt x="1626101" y="4179323"/>
                  </a:lnTo>
                  <a:lnTo>
                    <a:pt x="1621022" y="4221192"/>
                  </a:lnTo>
                  <a:lnTo>
                    <a:pt x="1615554" y="4262892"/>
                  </a:lnTo>
                  <a:lnTo>
                    <a:pt x="1609699" y="4304421"/>
                  </a:lnTo>
                  <a:lnTo>
                    <a:pt x="1603463" y="4345777"/>
                  </a:lnTo>
                  <a:lnTo>
                    <a:pt x="1596850" y="4386957"/>
                  </a:lnTo>
                  <a:lnTo>
                    <a:pt x="1589862" y="4427960"/>
                  </a:lnTo>
                  <a:lnTo>
                    <a:pt x="1582503" y="4468783"/>
                  </a:lnTo>
                  <a:lnTo>
                    <a:pt x="1574779" y="4509424"/>
                  </a:lnTo>
                  <a:lnTo>
                    <a:pt x="1566692" y="4549880"/>
                  </a:lnTo>
                  <a:lnTo>
                    <a:pt x="1558247" y="4590150"/>
                  </a:lnTo>
                  <a:lnTo>
                    <a:pt x="1549447" y="4630231"/>
                  </a:lnTo>
                  <a:lnTo>
                    <a:pt x="1540296" y="4670121"/>
                  </a:lnTo>
                  <a:lnTo>
                    <a:pt x="1530799" y="4709818"/>
                  </a:lnTo>
                  <a:lnTo>
                    <a:pt x="1520958" y="4749320"/>
                  </a:lnTo>
                  <a:lnTo>
                    <a:pt x="1510779" y="4788623"/>
                  </a:lnTo>
                  <a:lnTo>
                    <a:pt x="1500264" y="4827727"/>
                  </a:lnTo>
                  <a:lnTo>
                    <a:pt x="1489418" y="4866629"/>
                  </a:lnTo>
                  <a:lnTo>
                    <a:pt x="1478244" y="4905326"/>
                  </a:lnTo>
                  <a:lnTo>
                    <a:pt x="1466747" y="4943816"/>
                  </a:lnTo>
                  <a:lnTo>
                    <a:pt x="1454930" y="4982098"/>
                  </a:lnTo>
                  <a:lnTo>
                    <a:pt x="1442798" y="5020169"/>
                  </a:lnTo>
                  <a:lnTo>
                    <a:pt x="1430353" y="5058026"/>
                  </a:lnTo>
                  <a:lnTo>
                    <a:pt x="1417601" y="5095668"/>
                  </a:lnTo>
                  <a:lnTo>
                    <a:pt x="1404544" y="5133092"/>
                  </a:lnTo>
                  <a:lnTo>
                    <a:pt x="1391188" y="5170296"/>
                  </a:lnTo>
                  <a:lnTo>
                    <a:pt x="1377535" y="5207278"/>
                  </a:lnTo>
                  <a:lnTo>
                    <a:pt x="1363589" y="5244035"/>
                  </a:lnTo>
                  <a:lnTo>
                    <a:pt x="1349355" y="5280566"/>
                  </a:lnTo>
                  <a:lnTo>
                    <a:pt x="1334836" y="5316868"/>
                  </a:lnTo>
                  <a:lnTo>
                    <a:pt x="1320036" y="5352938"/>
                  </a:lnTo>
                  <a:lnTo>
                    <a:pt x="1304959" y="5388775"/>
                  </a:lnTo>
                  <a:lnTo>
                    <a:pt x="1289610" y="5424377"/>
                  </a:lnTo>
                  <a:lnTo>
                    <a:pt x="1273991" y="5459741"/>
                  </a:lnTo>
                  <a:lnTo>
                    <a:pt x="1258107" y="5494865"/>
                  </a:lnTo>
                  <a:lnTo>
                    <a:pt x="1241961" y="5529746"/>
                  </a:lnTo>
                  <a:lnTo>
                    <a:pt x="1225558" y="5564383"/>
                  </a:lnTo>
                  <a:lnTo>
                    <a:pt x="1208901" y="5598774"/>
                  </a:lnTo>
                  <a:lnTo>
                    <a:pt x="1174843" y="5666805"/>
                  </a:lnTo>
                  <a:lnTo>
                    <a:pt x="1139816" y="5733823"/>
                  </a:lnTo>
                  <a:lnTo>
                    <a:pt x="1103853" y="5799809"/>
                  </a:lnTo>
                  <a:lnTo>
                    <a:pt x="1066984" y="5864746"/>
                  </a:lnTo>
                  <a:lnTo>
                    <a:pt x="1029240" y="5928616"/>
                  </a:lnTo>
                  <a:lnTo>
                    <a:pt x="990653" y="5991400"/>
                  </a:lnTo>
                  <a:lnTo>
                    <a:pt x="951253" y="6053082"/>
                  </a:lnTo>
                  <a:lnTo>
                    <a:pt x="911072" y="6113644"/>
                  </a:lnTo>
                  <a:lnTo>
                    <a:pt x="870140" y="6173067"/>
                  </a:lnTo>
                  <a:lnTo>
                    <a:pt x="828490" y="6231333"/>
                  </a:lnTo>
                  <a:lnTo>
                    <a:pt x="786151" y="6288425"/>
                  </a:lnTo>
                  <a:lnTo>
                    <a:pt x="743155" y="6344326"/>
                  </a:lnTo>
                  <a:lnTo>
                    <a:pt x="699533" y="6399016"/>
                  </a:lnTo>
                  <a:lnTo>
                    <a:pt x="655316" y="6452479"/>
                  </a:lnTo>
                  <a:lnTo>
                    <a:pt x="610535" y="6504697"/>
                  </a:lnTo>
                  <a:lnTo>
                    <a:pt x="565221" y="6555651"/>
                  </a:lnTo>
                  <a:lnTo>
                    <a:pt x="519406" y="6605325"/>
                  </a:lnTo>
                  <a:lnTo>
                    <a:pt x="473120" y="6653699"/>
                  </a:lnTo>
                  <a:lnTo>
                    <a:pt x="426394" y="6700756"/>
                  </a:lnTo>
                  <a:lnTo>
                    <a:pt x="379260" y="6746479"/>
                  </a:lnTo>
                  <a:lnTo>
                    <a:pt x="331748" y="6790850"/>
                  </a:lnTo>
                  <a:lnTo>
                    <a:pt x="283891" y="6833850"/>
                  </a:lnTo>
                  <a:lnTo>
                    <a:pt x="259842" y="6854831"/>
                  </a:lnTo>
                  <a:lnTo>
                    <a:pt x="2438400" y="6857999"/>
                  </a:lnTo>
                  <a:lnTo>
                    <a:pt x="2438400" y="14224"/>
                  </a:lnTo>
                  <a:lnTo>
                    <a:pt x="0" y="0"/>
                  </a:lnTo>
                  <a:close/>
                </a:path>
              </a:pathLst>
            </a:custGeom>
            <a:solidFill>
              <a:srgbClr val="C5E7FB">
                <a:alpha val="39999"/>
              </a:srgbClr>
            </a:solidFill>
          </p:spPr>
          <p:txBody>
            <a:bodyPr wrap="square" lIns="0" tIns="0" rIns="0" bIns="0" rtlCol="0"/>
            <a:lstStyle/>
            <a:p>
              <a:endParaRPr/>
            </a:p>
          </p:txBody>
        </p:sp>
      </p:grpSp>
      <p:sp>
        <p:nvSpPr>
          <p:cNvPr id="16" name="object 16" descr="$PPTXTitle"/>
          <p:cNvSpPr txBox="1">
            <a:spLocks noGrp="1"/>
          </p:cNvSpPr>
          <p:nvPr>
            <p:ph type="title"/>
          </p:nvPr>
        </p:nvSpPr>
        <p:spPr>
          <a:xfrm>
            <a:off x="2706116" y="2950921"/>
            <a:ext cx="5076825" cy="2044791"/>
          </a:xfrm>
          <a:prstGeom prst="rect">
            <a:avLst/>
          </a:prstGeom>
        </p:spPr>
        <p:txBody>
          <a:bodyPr vert="horz" wrap="square" lIns="0" tIns="13335" rIns="0" bIns="0" rtlCol="0">
            <a:spAutoFit/>
          </a:bodyPr>
          <a:lstStyle/>
          <a:p>
            <a:pPr algn="ctr">
              <a:lnSpc>
                <a:spcPct val="100000"/>
              </a:lnSpc>
              <a:spcBef>
                <a:spcPts val="105"/>
              </a:spcBef>
            </a:pPr>
            <a:r>
              <a:rPr lang="en-US" spc="-165" dirty="0"/>
              <a:t>Big Data Analytics (Fall 2025)</a:t>
            </a:r>
            <a:endParaRPr spc="-35" dirty="0"/>
          </a:p>
          <a:p>
            <a:pPr algn="ctr">
              <a:lnSpc>
                <a:spcPct val="100000"/>
              </a:lnSpc>
              <a:tabLst>
                <a:tab pos="516255" algn="l"/>
              </a:tabLst>
            </a:pPr>
            <a:r>
              <a:rPr spc="-50" dirty="0"/>
              <a:t>I</a:t>
            </a:r>
            <a:r>
              <a:rPr dirty="0"/>
              <a:t>	</a:t>
            </a:r>
            <a:r>
              <a:rPr spc="-105" dirty="0"/>
              <a:t>Hadoop</a:t>
            </a:r>
            <a:r>
              <a:rPr spc="-275" dirty="0"/>
              <a:t> </a:t>
            </a:r>
            <a:r>
              <a:rPr spc="-165" dirty="0"/>
              <a:t>Ecosystem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380AD67-C5CA-4918-B4BB-C359BB03EE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5080216" y="1076324"/>
            <a:ext cx="6272784" cy="1535051"/>
          </a:xfrm>
          <a:prstGeom prst="rect">
            <a:avLst/>
          </a:prstGeom>
        </p:spPr>
        <p:txBody>
          <a:bodyPr vert="horz" lIns="91440" tIns="45720" rIns="91440" bIns="45720" rtlCol="0" anchor="b">
            <a:normAutofit/>
          </a:bodyPr>
          <a:lstStyle/>
          <a:p>
            <a:pPr marL="2858135"/>
            <a:r>
              <a:rPr lang="en-US" sz="5200" spc="-80"/>
              <a:t>Overview</a:t>
            </a:r>
          </a:p>
        </p:txBody>
      </p:sp>
      <p:pic>
        <p:nvPicPr>
          <p:cNvPr id="18" name="Picture 17">
            <a:extLst>
              <a:ext uri="{FF2B5EF4-FFF2-40B4-BE49-F238E27FC236}">
                <a16:creationId xmlns:a16="http://schemas.microsoft.com/office/drawing/2014/main" id="{B55E843E-2BEA-2E00-6581-2DC4DDEC30CC}"/>
              </a:ext>
            </a:extLst>
          </p:cNvPr>
          <p:cNvPicPr>
            <a:picLocks noChangeAspect="1"/>
          </p:cNvPicPr>
          <p:nvPr/>
        </p:nvPicPr>
        <p:blipFill>
          <a:blip r:embed="rId2"/>
          <a:srcRect l="16988" r="39160" b="-1"/>
          <a:stretch>
            <a:fillRect/>
          </a:stretch>
        </p:blipFill>
        <p:spPr>
          <a:xfrm>
            <a:off x="20" y="10"/>
            <a:ext cx="4505305" cy="6857990"/>
          </a:xfrm>
          <a:prstGeom prst="rect">
            <a:avLst/>
          </a:prstGeom>
        </p:spPr>
      </p:pic>
      <p:sp>
        <p:nvSpPr>
          <p:cNvPr id="19" name="!!accent">
            <a:extLst>
              <a:ext uri="{FF2B5EF4-FFF2-40B4-BE49-F238E27FC236}">
                <a16:creationId xmlns:a16="http://schemas.microsoft.com/office/drawing/2014/main" id="{EABAD4DA-87BA-4F70-9EF0-45C6BCF17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17960" y="36338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915128D9-2797-47FA-B6FE-EC24E6B84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9266" y="2935541"/>
            <a:ext cx="62179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object 2"/>
          <p:cNvSpPr txBox="1"/>
          <p:nvPr/>
        </p:nvSpPr>
        <p:spPr>
          <a:xfrm>
            <a:off x="5080216" y="3351276"/>
            <a:ext cx="6272784" cy="2825686"/>
          </a:xfrm>
          <a:prstGeom prst="rect">
            <a:avLst/>
          </a:prstGeom>
        </p:spPr>
        <p:txBody>
          <a:bodyPr vert="horz" lIns="91440" tIns="45720" rIns="91440" bIns="45720" rtlCol="0">
            <a:normAutofit/>
          </a:bodyPr>
          <a:lstStyle/>
          <a:p>
            <a:pPr marL="12700" indent="-228600">
              <a:lnSpc>
                <a:spcPct val="90000"/>
              </a:lnSpc>
              <a:spcBef>
                <a:spcPts val="670"/>
              </a:spcBef>
              <a:buFont typeface="Arial" panose="020B0604020202020204" pitchFamily="34" charset="0"/>
              <a:buChar char="•"/>
            </a:pPr>
            <a:r>
              <a:rPr lang="en-US" sz="2200"/>
              <a:t>∗</a:t>
            </a:r>
            <a:r>
              <a:rPr lang="en-US" sz="2200" spc="155"/>
              <a:t> </a:t>
            </a:r>
            <a:r>
              <a:rPr lang="en-US" sz="2200" spc="-100"/>
              <a:t>Big</a:t>
            </a:r>
            <a:r>
              <a:rPr lang="en-US" sz="2200" spc="-125"/>
              <a:t> </a:t>
            </a:r>
            <a:r>
              <a:rPr lang="en-US" sz="2200" spc="-95"/>
              <a:t>Data</a:t>
            </a:r>
            <a:r>
              <a:rPr lang="en-US" sz="2200" spc="-155"/>
              <a:t> </a:t>
            </a:r>
            <a:r>
              <a:rPr lang="en-US" sz="2200" spc="-10"/>
              <a:t>Introduction</a:t>
            </a:r>
            <a:endParaRPr lang="en-US" sz="2200"/>
          </a:p>
          <a:p>
            <a:pPr marL="12700" indent="-228600">
              <a:lnSpc>
                <a:spcPct val="90000"/>
              </a:lnSpc>
              <a:spcBef>
                <a:spcPts val="580"/>
              </a:spcBef>
              <a:buFont typeface="Arial" panose="020B0604020202020204" pitchFamily="34" charset="0"/>
              <a:buChar char="•"/>
            </a:pPr>
            <a:r>
              <a:rPr lang="en-US" sz="2200"/>
              <a:t>∗</a:t>
            </a:r>
            <a:r>
              <a:rPr lang="en-US" sz="2200" spc="200"/>
              <a:t> </a:t>
            </a:r>
            <a:r>
              <a:rPr lang="en-US" sz="2200"/>
              <a:t>Introduction</a:t>
            </a:r>
            <a:r>
              <a:rPr lang="en-US" sz="2200" spc="-114"/>
              <a:t> </a:t>
            </a:r>
            <a:r>
              <a:rPr lang="en-US" sz="2200" spc="100"/>
              <a:t>to</a:t>
            </a:r>
            <a:r>
              <a:rPr lang="en-US" sz="2200" spc="-120"/>
              <a:t> </a:t>
            </a:r>
            <a:r>
              <a:rPr lang="en-US" sz="2200" spc="-80"/>
              <a:t>MapReduce</a:t>
            </a:r>
            <a:endParaRPr lang="en-US" sz="2200"/>
          </a:p>
          <a:p>
            <a:pPr marL="12700" indent="-228600">
              <a:lnSpc>
                <a:spcPct val="90000"/>
              </a:lnSpc>
              <a:spcBef>
                <a:spcPts val="575"/>
              </a:spcBef>
              <a:buFont typeface="Arial" panose="020B0604020202020204" pitchFamily="34" charset="0"/>
              <a:buChar char="•"/>
            </a:pPr>
            <a:r>
              <a:rPr lang="en-US" sz="2200"/>
              <a:t>∗</a:t>
            </a:r>
            <a:r>
              <a:rPr lang="en-US" sz="2200" spc="114"/>
              <a:t> </a:t>
            </a:r>
            <a:r>
              <a:rPr lang="en-US" sz="2200" spc="-20"/>
              <a:t>Yarn</a:t>
            </a:r>
            <a:endParaRPr lang="en-US" sz="2200"/>
          </a:p>
          <a:p>
            <a:pPr marL="12700" indent="-228600">
              <a:lnSpc>
                <a:spcPct val="90000"/>
              </a:lnSpc>
              <a:spcBef>
                <a:spcPts val="575"/>
              </a:spcBef>
              <a:buFont typeface="Arial" panose="020B0604020202020204" pitchFamily="34" charset="0"/>
              <a:buChar char="•"/>
            </a:pPr>
            <a:r>
              <a:rPr lang="en-US" sz="2200"/>
              <a:t>∗</a:t>
            </a:r>
            <a:r>
              <a:rPr lang="en-US" sz="2200" spc="145"/>
              <a:t> </a:t>
            </a:r>
            <a:r>
              <a:rPr lang="en-US" sz="2200" spc="-235"/>
              <a:t>Case</a:t>
            </a:r>
            <a:r>
              <a:rPr lang="en-US" sz="2200" spc="-160"/>
              <a:t> </a:t>
            </a:r>
            <a:r>
              <a:rPr lang="en-US" sz="2200" spc="-10"/>
              <a:t>Study</a:t>
            </a:r>
            <a:endParaRPr lang="en-US" sz="2200"/>
          </a:p>
          <a:p>
            <a:pPr marL="12700" indent="-228600">
              <a:lnSpc>
                <a:spcPct val="90000"/>
              </a:lnSpc>
              <a:spcBef>
                <a:spcPts val="580"/>
              </a:spcBef>
              <a:buFont typeface="Arial" panose="020B0604020202020204" pitchFamily="34" charset="0"/>
              <a:buChar char="•"/>
            </a:pPr>
            <a:r>
              <a:rPr lang="en-US" sz="2200"/>
              <a:t>∗</a:t>
            </a:r>
            <a:r>
              <a:rPr lang="en-US" sz="2200" spc="150"/>
              <a:t> </a:t>
            </a:r>
            <a:r>
              <a:rPr lang="en-US" sz="2200" spc="-105"/>
              <a:t>Design</a:t>
            </a:r>
            <a:r>
              <a:rPr lang="en-US" sz="2200" spc="-155"/>
              <a:t> </a:t>
            </a:r>
            <a:r>
              <a:rPr lang="en-US" sz="2200" spc="-10"/>
              <a:t>Pattern</a:t>
            </a:r>
            <a:endParaRPr lang="en-US" sz="2200"/>
          </a:p>
          <a:p>
            <a:pPr marL="12700" indent="-228600">
              <a:lnSpc>
                <a:spcPct val="90000"/>
              </a:lnSpc>
              <a:spcBef>
                <a:spcPts val="575"/>
              </a:spcBef>
              <a:buFont typeface="Arial" panose="020B0604020202020204" pitchFamily="34" charset="0"/>
              <a:buChar char="•"/>
            </a:pPr>
            <a:r>
              <a:rPr lang="en-US" sz="2200"/>
              <a:t>∗</a:t>
            </a:r>
            <a:r>
              <a:rPr lang="en-US" sz="2200" spc="114"/>
              <a:t> </a:t>
            </a:r>
            <a:r>
              <a:rPr lang="en-US" sz="2200" spc="-20"/>
              <a:t>Demo</a:t>
            </a:r>
            <a:endParaRPr lang="en-US" sz="22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12700"/>
            <a:r>
              <a:rPr lang="en-US" sz="4800" kern="1200" spc="-85">
                <a:solidFill>
                  <a:schemeClr val="tx1"/>
                </a:solidFill>
                <a:latin typeface="+mj-lt"/>
                <a:ea typeface="+mj-ea"/>
                <a:cs typeface="+mj-cs"/>
              </a:rPr>
              <a:t>What</a:t>
            </a:r>
            <a:r>
              <a:rPr lang="en-US" sz="4800" kern="1200" spc="-250">
                <a:solidFill>
                  <a:schemeClr val="tx1"/>
                </a:solidFill>
                <a:latin typeface="+mj-lt"/>
                <a:ea typeface="+mj-ea"/>
                <a:cs typeface="+mj-cs"/>
              </a:rPr>
              <a:t> </a:t>
            </a:r>
            <a:r>
              <a:rPr lang="en-US" sz="4800" kern="1200" spc="-200">
                <a:solidFill>
                  <a:schemeClr val="tx1"/>
                </a:solidFill>
                <a:latin typeface="+mj-lt"/>
                <a:ea typeface="+mj-ea"/>
                <a:cs typeface="+mj-cs"/>
              </a:rPr>
              <a:t>is</a:t>
            </a:r>
            <a:r>
              <a:rPr lang="en-US" sz="4800" kern="1200" spc="-275">
                <a:solidFill>
                  <a:schemeClr val="tx1"/>
                </a:solidFill>
                <a:latin typeface="+mj-lt"/>
                <a:ea typeface="+mj-ea"/>
                <a:cs typeface="+mj-cs"/>
              </a:rPr>
              <a:t> </a:t>
            </a:r>
            <a:r>
              <a:rPr lang="en-US" sz="4800" kern="1200" spc="-175">
                <a:solidFill>
                  <a:schemeClr val="tx1"/>
                </a:solidFill>
                <a:latin typeface="+mj-lt"/>
                <a:ea typeface="+mj-ea"/>
                <a:cs typeface="+mj-cs"/>
              </a:rPr>
              <a:t>Big</a:t>
            </a:r>
            <a:r>
              <a:rPr lang="en-US" sz="4800" kern="1200" spc="-240">
                <a:solidFill>
                  <a:schemeClr val="tx1"/>
                </a:solidFill>
                <a:latin typeface="+mj-lt"/>
                <a:ea typeface="+mj-ea"/>
                <a:cs typeface="+mj-cs"/>
              </a:rPr>
              <a:t> </a:t>
            </a:r>
            <a:r>
              <a:rPr lang="en-US" sz="4800" kern="1200" spc="-100">
                <a:solidFill>
                  <a:schemeClr val="tx1"/>
                </a:solidFill>
                <a:latin typeface="+mj-lt"/>
                <a:ea typeface="+mj-ea"/>
                <a:cs typeface="+mj-cs"/>
              </a:rPr>
              <a:t>Data</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object 3"/>
          <p:cNvPicPr/>
          <p:nvPr/>
        </p:nvPicPr>
        <p:blipFill>
          <a:blip r:embed="rId2" cstate="print"/>
          <a:stretch>
            <a:fillRect/>
          </a:stretch>
        </p:blipFill>
        <p:spPr>
          <a:xfrm>
            <a:off x="5414356" y="1544545"/>
            <a:ext cx="6408836" cy="361765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2103121" y="310343"/>
            <a:ext cx="7985759" cy="868823"/>
          </a:xfrm>
          <a:prstGeom prst="rect">
            <a:avLst/>
          </a:prstGeom>
        </p:spPr>
        <p:txBody>
          <a:bodyPr vert="horz" lIns="91440" tIns="45720" rIns="91440" bIns="45720" rtlCol="0" anchor="ctr">
            <a:normAutofit/>
          </a:bodyPr>
          <a:lstStyle/>
          <a:p>
            <a:pPr marL="2527300" algn="ctr"/>
            <a:r>
              <a:rPr lang="en-US" sz="4000" kern="1200" spc="-10">
                <a:solidFill>
                  <a:schemeClr val="tx1"/>
                </a:solidFill>
                <a:latin typeface="+mj-lt"/>
                <a:ea typeface="+mj-ea"/>
                <a:cs typeface="+mj-cs"/>
              </a:rPr>
              <a:t>Opportunity</a:t>
            </a:r>
          </a:p>
        </p:txBody>
      </p:sp>
      <p:sp>
        <p:nvSpPr>
          <p:cNvPr id="12" name="Rectangle: Rounded Corners 11">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3" name="object 3"/>
          <p:cNvGraphicFramePr>
            <a:graphicFrameLocks noGrp="1"/>
          </p:cNvGraphicFramePr>
          <p:nvPr>
            <p:extLst>
              <p:ext uri="{D42A27DB-BD31-4B8C-83A1-F6EECF244321}">
                <p14:modId xmlns:p14="http://schemas.microsoft.com/office/powerpoint/2010/main" val="3973190638"/>
              </p:ext>
            </p:extLst>
          </p:nvPr>
        </p:nvGraphicFramePr>
        <p:xfrm>
          <a:off x="385572" y="2157853"/>
          <a:ext cx="11420859" cy="4059776"/>
        </p:xfrm>
        <a:graphic>
          <a:graphicData uri="http://schemas.openxmlformats.org/drawingml/2006/table">
            <a:tbl>
              <a:tblPr firstRow="1" bandRow="1">
                <a:tableStyleId>{2D5ABB26-0587-4C30-8999-92F81FD0307C}</a:tableStyleId>
              </a:tblPr>
              <a:tblGrid>
                <a:gridCol w="2469431">
                  <a:extLst>
                    <a:ext uri="{9D8B030D-6E8A-4147-A177-3AD203B41FA5}">
                      <a16:colId xmlns:a16="http://schemas.microsoft.com/office/drawing/2014/main" val="20000"/>
                    </a:ext>
                  </a:extLst>
                </a:gridCol>
                <a:gridCol w="1958940">
                  <a:extLst>
                    <a:ext uri="{9D8B030D-6E8A-4147-A177-3AD203B41FA5}">
                      <a16:colId xmlns:a16="http://schemas.microsoft.com/office/drawing/2014/main" val="20001"/>
                    </a:ext>
                  </a:extLst>
                </a:gridCol>
                <a:gridCol w="1766820">
                  <a:extLst>
                    <a:ext uri="{9D8B030D-6E8A-4147-A177-3AD203B41FA5}">
                      <a16:colId xmlns:a16="http://schemas.microsoft.com/office/drawing/2014/main" val="20002"/>
                    </a:ext>
                  </a:extLst>
                </a:gridCol>
                <a:gridCol w="1888953">
                  <a:extLst>
                    <a:ext uri="{9D8B030D-6E8A-4147-A177-3AD203B41FA5}">
                      <a16:colId xmlns:a16="http://schemas.microsoft.com/office/drawing/2014/main" val="20003"/>
                    </a:ext>
                  </a:extLst>
                </a:gridCol>
                <a:gridCol w="1451879">
                  <a:extLst>
                    <a:ext uri="{9D8B030D-6E8A-4147-A177-3AD203B41FA5}">
                      <a16:colId xmlns:a16="http://schemas.microsoft.com/office/drawing/2014/main" val="20004"/>
                    </a:ext>
                  </a:extLst>
                </a:gridCol>
                <a:gridCol w="1884836">
                  <a:extLst>
                    <a:ext uri="{9D8B030D-6E8A-4147-A177-3AD203B41FA5}">
                      <a16:colId xmlns:a16="http://schemas.microsoft.com/office/drawing/2014/main" val="20005"/>
                    </a:ext>
                  </a:extLst>
                </a:gridCol>
              </a:tblGrid>
              <a:tr h="665285">
                <a:tc>
                  <a:txBody>
                    <a:bodyPr/>
                    <a:lstStyle/>
                    <a:p>
                      <a:pPr>
                        <a:lnSpc>
                          <a:spcPct val="100000"/>
                        </a:lnSpc>
                      </a:pPr>
                      <a:endParaRPr lang="en-US" sz="1900">
                        <a:latin typeface="Times New Roman"/>
                        <a:cs typeface="Times New Roman"/>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tc>
                  <a:txBody>
                    <a:bodyPr/>
                    <a:lstStyle/>
                    <a:p>
                      <a:pPr marL="635" algn="ctr">
                        <a:lnSpc>
                          <a:spcPct val="100000"/>
                        </a:lnSpc>
                        <a:spcBef>
                          <a:spcPts val="1325"/>
                        </a:spcBef>
                      </a:pPr>
                      <a:r>
                        <a:rPr lang="en-US" sz="1900" b="1" spc="-100">
                          <a:solidFill>
                            <a:srgbClr val="FFFFFF"/>
                          </a:solidFill>
                          <a:latin typeface="Arial"/>
                          <a:cs typeface="Arial"/>
                        </a:rPr>
                        <a:t>High</a:t>
                      </a:r>
                      <a:r>
                        <a:rPr lang="en-US" sz="1900" b="1" spc="-125">
                          <a:solidFill>
                            <a:srgbClr val="FFFFFF"/>
                          </a:solidFill>
                          <a:latin typeface="Arial"/>
                          <a:cs typeface="Arial"/>
                        </a:rPr>
                        <a:t> </a:t>
                      </a:r>
                      <a:r>
                        <a:rPr lang="en-US" sz="1900" b="1" spc="-20">
                          <a:solidFill>
                            <a:srgbClr val="FFFFFF"/>
                          </a:solidFill>
                          <a:latin typeface="Arial"/>
                          <a:cs typeface="Arial"/>
                        </a:rPr>
                        <a:t>Wage</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tc>
                  <a:txBody>
                    <a:bodyPr/>
                    <a:lstStyle/>
                    <a:p>
                      <a:pPr algn="ctr">
                        <a:lnSpc>
                          <a:spcPct val="100000"/>
                        </a:lnSpc>
                        <a:spcBef>
                          <a:spcPts val="1325"/>
                        </a:spcBef>
                      </a:pPr>
                      <a:r>
                        <a:rPr lang="en-US" sz="1900" b="1" spc="-80">
                          <a:solidFill>
                            <a:srgbClr val="FFFFFF"/>
                          </a:solidFill>
                          <a:latin typeface="Arial"/>
                          <a:cs typeface="Arial"/>
                        </a:rPr>
                        <a:t>Median</a:t>
                      </a:r>
                      <a:r>
                        <a:rPr lang="en-US" sz="1900" b="1" spc="-70">
                          <a:solidFill>
                            <a:srgbClr val="FFFFFF"/>
                          </a:solidFill>
                          <a:latin typeface="Arial"/>
                          <a:cs typeface="Arial"/>
                        </a:rPr>
                        <a:t> </a:t>
                      </a:r>
                      <a:r>
                        <a:rPr lang="en-US" sz="1900" b="1" spc="-20">
                          <a:solidFill>
                            <a:srgbClr val="FFFFFF"/>
                          </a:solidFill>
                          <a:latin typeface="Arial"/>
                          <a:cs typeface="Arial"/>
                        </a:rPr>
                        <a:t>Wage</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tc>
                  <a:txBody>
                    <a:bodyPr/>
                    <a:lstStyle/>
                    <a:p>
                      <a:pPr marL="1905" algn="ctr">
                        <a:lnSpc>
                          <a:spcPct val="100000"/>
                        </a:lnSpc>
                        <a:spcBef>
                          <a:spcPts val="240"/>
                        </a:spcBef>
                      </a:pPr>
                      <a:r>
                        <a:rPr lang="en-US" sz="1900" b="1" spc="-95">
                          <a:solidFill>
                            <a:srgbClr val="FFFFFF"/>
                          </a:solidFill>
                          <a:latin typeface="Arial"/>
                          <a:cs typeface="Arial"/>
                        </a:rPr>
                        <a:t>Projected</a:t>
                      </a:r>
                      <a:r>
                        <a:rPr lang="en-US" sz="1900" b="1" spc="-75">
                          <a:solidFill>
                            <a:srgbClr val="FFFFFF"/>
                          </a:solidFill>
                          <a:latin typeface="Arial"/>
                          <a:cs typeface="Arial"/>
                        </a:rPr>
                        <a:t> </a:t>
                      </a:r>
                      <a:r>
                        <a:rPr lang="en-US" sz="1900" b="1" spc="-25">
                          <a:solidFill>
                            <a:srgbClr val="FFFFFF"/>
                          </a:solidFill>
                          <a:latin typeface="Arial"/>
                          <a:cs typeface="Arial"/>
                        </a:rPr>
                        <a:t>Job</a:t>
                      </a:r>
                      <a:endParaRPr lang="en-US" sz="1900">
                        <a:latin typeface="Arial"/>
                        <a:cs typeface="Arial"/>
                      </a:endParaRPr>
                    </a:p>
                    <a:p>
                      <a:pPr algn="ctr">
                        <a:lnSpc>
                          <a:spcPct val="100000"/>
                        </a:lnSpc>
                        <a:spcBef>
                          <a:spcPts val="5"/>
                        </a:spcBef>
                      </a:pPr>
                      <a:r>
                        <a:rPr lang="en-US" sz="1900" b="1" spc="-10">
                          <a:solidFill>
                            <a:srgbClr val="FFFFFF"/>
                          </a:solidFill>
                          <a:latin typeface="Arial"/>
                          <a:cs typeface="Arial"/>
                        </a:rPr>
                        <a:t>Openings</a:t>
                      </a:r>
                      <a:endParaRPr lang="en-US" sz="1900">
                        <a:latin typeface="Arial"/>
                        <a:cs typeface="Arial"/>
                      </a:endParaRPr>
                    </a:p>
                  </a:txBody>
                  <a:tcPr marL="0" marR="0" marT="3293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tc>
                  <a:txBody>
                    <a:bodyPr/>
                    <a:lstStyle/>
                    <a:p>
                      <a:pPr marL="635" algn="ctr">
                        <a:lnSpc>
                          <a:spcPct val="100000"/>
                        </a:lnSpc>
                        <a:spcBef>
                          <a:spcPts val="1325"/>
                        </a:spcBef>
                      </a:pPr>
                      <a:r>
                        <a:rPr lang="en-US" sz="1900" b="1" spc="-35">
                          <a:solidFill>
                            <a:srgbClr val="FFFFFF"/>
                          </a:solidFill>
                          <a:latin typeface="Arial"/>
                          <a:cs typeface="Arial"/>
                        </a:rPr>
                        <a:t>Growth%</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tc>
                  <a:txBody>
                    <a:bodyPr/>
                    <a:lstStyle/>
                    <a:p>
                      <a:pPr algn="ctr">
                        <a:lnSpc>
                          <a:spcPct val="100000"/>
                        </a:lnSpc>
                        <a:spcBef>
                          <a:spcPts val="240"/>
                        </a:spcBef>
                      </a:pPr>
                      <a:r>
                        <a:rPr lang="en-US" sz="1900" b="1" spc="-85">
                          <a:solidFill>
                            <a:srgbClr val="FFFFFF"/>
                          </a:solidFill>
                          <a:latin typeface="Arial"/>
                          <a:cs typeface="Arial"/>
                        </a:rPr>
                        <a:t>National</a:t>
                      </a:r>
                      <a:r>
                        <a:rPr lang="en-US" sz="1900" b="1" spc="-65">
                          <a:solidFill>
                            <a:srgbClr val="FFFFFF"/>
                          </a:solidFill>
                          <a:latin typeface="Arial"/>
                          <a:cs typeface="Arial"/>
                        </a:rPr>
                        <a:t> </a:t>
                      </a:r>
                      <a:r>
                        <a:rPr lang="en-US" sz="1900" b="1" spc="-20">
                          <a:solidFill>
                            <a:srgbClr val="FFFFFF"/>
                          </a:solidFill>
                          <a:latin typeface="Arial"/>
                          <a:cs typeface="Arial"/>
                        </a:rPr>
                        <a:t>wide</a:t>
                      </a:r>
                      <a:endParaRPr lang="en-US" sz="1900">
                        <a:latin typeface="Arial"/>
                        <a:cs typeface="Arial"/>
                      </a:endParaRPr>
                    </a:p>
                    <a:p>
                      <a:pPr marL="1270" algn="ctr">
                        <a:lnSpc>
                          <a:spcPct val="100000"/>
                        </a:lnSpc>
                        <a:spcBef>
                          <a:spcPts val="5"/>
                        </a:spcBef>
                      </a:pPr>
                      <a:r>
                        <a:rPr lang="en-US" sz="1900" b="1" spc="-100">
                          <a:solidFill>
                            <a:srgbClr val="FFFFFF"/>
                          </a:solidFill>
                          <a:latin typeface="Arial"/>
                          <a:cs typeface="Arial"/>
                        </a:rPr>
                        <a:t>#</a:t>
                      </a:r>
                      <a:r>
                        <a:rPr lang="en-US" sz="1900" b="1" spc="-114">
                          <a:solidFill>
                            <a:srgbClr val="FFFFFF"/>
                          </a:solidFill>
                          <a:latin typeface="Arial"/>
                          <a:cs typeface="Arial"/>
                        </a:rPr>
                        <a:t> </a:t>
                      </a:r>
                      <a:r>
                        <a:rPr lang="en-US" sz="1900" b="1" spc="-30">
                          <a:solidFill>
                            <a:srgbClr val="FFFFFF"/>
                          </a:solidFill>
                          <a:latin typeface="Arial"/>
                          <a:cs typeface="Arial"/>
                        </a:rPr>
                        <a:t>of</a:t>
                      </a:r>
                      <a:r>
                        <a:rPr lang="en-US" sz="1900" b="1" spc="-114">
                          <a:solidFill>
                            <a:srgbClr val="FFFFFF"/>
                          </a:solidFill>
                          <a:latin typeface="Arial"/>
                          <a:cs typeface="Arial"/>
                        </a:rPr>
                        <a:t> </a:t>
                      </a:r>
                      <a:r>
                        <a:rPr lang="en-US" sz="1900" b="1" spc="-20">
                          <a:solidFill>
                            <a:srgbClr val="FFFFFF"/>
                          </a:solidFill>
                          <a:latin typeface="Arial"/>
                          <a:cs typeface="Arial"/>
                        </a:rPr>
                        <a:t>Jobs</a:t>
                      </a:r>
                      <a:endParaRPr lang="en-US" sz="1900">
                        <a:latin typeface="Arial"/>
                        <a:cs typeface="Arial"/>
                      </a:endParaRPr>
                    </a:p>
                  </a:txBody>
                  <a:tcPr marL="0" marR="0" marT="3293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extLst>
                  <a:ext uri="{0D108BD9-81ED-4DB2-BD59-A6C34878D82A}">
                    <a16:rowId xmlns:a16="http://schemas.microsoft.com/office/drawing/2014/main" val="10000"/>
                  </a:ext>
                </a:extLst>
              </a:tr>
              <a:tr h="453953">
                <a:tc>
                  <a:txBody>
                    <a:bodyPr/>
                    <a:lstStyle/>
                    <a:p>
                      <a:pPr algn="ctr">
                        <a:lnSpc>
                          <a:spcPct val="100000"/>
                        </a:lnSpc>
                        <a:spcBef>
                          <a:spcPts val="860"/>
                        </a:spcBef>
                      </a:pPr>
                      <a:r>
                        <a:rPr lang="en-US" sz="1900" spc="-25">
                          <a:latin typeface="Arial"/>
                          <a:cs typeface="Arial"/>
                        </a:rPr>
                        <a:t>Software</a:t>
                      </a:r>
                      <a:r>
                        <a:rPr lang="en-US" sz="1900" spc="-60">
                          <a:latin typeface="Arial"/>
                          <a:cs typeface="Arial"/>
                        </a:rPr>
                        <a:t> </a:t>
                      </a:r>
                      <a:r>
                        <a:rPr lang="en-US" sz="1900" spc="-10">
                          <a:latin typeface="Arial"/>
                          <a:cs typeface="Arial"/>
                        </a:rPr>
                        <a:t>Engineer</a:t>
                      </a:r>
                      <a:endParaRPr lang="en-US" sz="1900">
                        <a:latin typeface="Arial"/>
                        <a:cs typeface="Arial"/>
                      </a:endParaRPr>
                    </a:p>
                  </a:txBody>
                  <a:tcPr marL="0" marR="0" marT="11801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860"/>
                        </a:spcBef>
                      </a:pPr>
                      <a:r>
                        <a:rPr lang="en-US" sz="1900" spc="-10">
                          <a:latin typeface="Arial"/>
                          <a:cs typeface="Arial"/>
                        </a:rPr>
                        <a:t>$138,800</a:t>
                      </a:r>
                      <a:endParaRPr lang="en-US" sz="1900">
                        <a:latin typeface="Arial"/>
                        <a:cs typeface="Arial"/>
                      </a:endParaRPr>
                    </a:p>
                  </a:txBody>
                  <a:tcPr marL="0" marR="0" marT="11801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tc>
                  <a:txBody>
                    <a:bodyPr/>
                    <a:lstStyle/>
                    <a:p>
                      <a:pPr marL="1270" algn="ctr">
                        <a:lnSpc>
                          <a:spcPct val="100000"/>
                        </a:lnSpc>
                        <a:spcBef>
                          <a:spcPts val="860"/>
                        </a:spcBef>
                      </a:pPr>
                      <a:r>
                        <a:rPr lang="en-US" sz="1900" spc="-10">
                          <a:latin typeface="Arial"/>
                          <a:cs typeface="Arial"/>
                        </a:rPr>
                        <a:t>$100,690</a:t>
                      </a:r>
                      <a:endParaRPr lang="en-US" sz="1900">
                        <a:latin typeface="Arial"/>
                        <a:cs typeface="Arial"/>
                      </a:endParaRPr>
                    </a:p>
                  </a:txBody>
                  <a:tcPr marL="0" marR="0" marT="11801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tc>
                  <a:txBody>
                    <a:bodyPr/>
                    <a:lstStyle/>
                    <a:p>
                      <a:pPr marL="635" algn="ctr">
                        <a:lnSpc>
                          <a:spcPct val="100000"/>
                        </a:lnSpc>
                        <a:spcBef>
                          <a:spcPts val="860"/>
                        </a:spcBef>
                      </a:pPr>
                      <a:r>
                        <a:rPr lang="en-US" sz="1900" spc="-10">
                          <a:latin typeface="Arial"/>
                          <a:cs typeface="Arial"/>
                        </a:rPr>
                        <a:t>186,600</a:t>
                      </a:r>
                      <a:endParaRPr lang="en-US" sz="1900">
                        <a:latin typeface="Arial"/>
                        <a:cs typeface="Arial"/>
                      </a:endParaRPr>
                    </a:p>
                  </a:txBody>
                  <a:tcPr marL="0" marR="0" marT="11801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tc>
                  <a:txBody>
                    <a:bodyPr/>
                    <a:lstStyle/>
                    <a:p>
                      <a:pPr marL="635" algn="ctr">
                        <a:lnSpc>
                          <a:spcPct val="100000"/>
                        </a:lnSpc>
                        <a:spcBef>
                          <a:spcPts val="860"/>
                        </a:spcBef>
                      </a:pPr>
                      <a:r>
                        <a:rPr lang="en-US" sz="1900" spc="-445">
                          <a:latin typeface="Arial"/>
                          <a:cs typeface="Arial"/>
                        </a:rPr>
                        <a:t>17%</a:t>
                      </a:r>
                      <a:endParaRPr lang="en-US" sz="1900">
                        <a:latin typeface="Arial"/>
                        <a:cs typeface="Arial"/>
                      </a:endParaRPr>
                    </a:p>
                  </a:txBody>
                  <a:tcPr marL="0" marR="0" marT="11801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tc>
                  <a:txBody>
                    <a:bodyPr/>
                    <a:lstStyle/>
                    <a:p>
                      <a:pPr marL="3175" algn="ctr">
                        <a:lnSpc>
                          <a:spcPct val="100000"/>
                        </a:lnSpc>
                        <a:spcBef>
                          <a:spcPts val="860"/>
                        </a:spcBef>
                      </a:pPr>
                      <a:r>
                        <a:rPr lang="en-US" sz="1900" spc="-50">
                          <a:latin typeface="Arial"/>
                          <a:cs typeface="Arial"/>
                        </a:rPr>
                        <a:t>1,114,000</a:t>
                      </a:r>
                      <a:endParaRPr lang="en-US" sz="1900">
                        <a:latin typeface="Arial"/>
                        <a:cs typeface="Arial"/>
                      </a:endParaRPr>
                    </a:p>
                  </a:txBody>
                  <a:tcPr marL="0" marR="0" marT="11801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1"/>
                  </a:ext>
                </a:extLst>
              </a:tr>
              <a:tr h="454639">
                <a:tc>
                  <a:txBody>
                    <a:bodyPr/>
                    <a:lstStyle/>
                    <a:p>
                      <a:pPr algn="ctr">
                        <a:lnSpc>
                          <a:spcPct val="100000"/>
                        </a:lnSpc>
                        <a:spcBef>
                          <a:spcPts val="865"/>
                        </a:spcBef>
                      </a:pPr>
                      <a:r>
                        <a:rPr lang="en-US" sz="1900">
                          <a:latin typeface="Arial"/>
                          <a:cs typeface="Arial"/>
                        </a:rPr>
                        <a:t>Network</a:t>
                      </a:r>
                      <a:r>
                        <a:rPr lang="en-US" sz="1900" spc="-85">
                          <a:latin typeface="Arial"/>
                          <a:cs typeface="Arial"/>
                        </a:rPr>
                        <a:t> </a:t>
                      </a:r>
                      <a:r>
                        <a:rPr lang="en-US" sz="1900" spc="-10">
                          <a:latin typeface="Arial"/>
                          <a:cs typeface="Arial"/>
                        </a:rPr>
                        <a:t>Engineer</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635" algn="ctr">
                        <a:lnSpc>
                          <a:spcPct val="100000"/>
                        </a:lnSpc>
                        <a:spcBef>
                          <a:spcPts val="865"/>
                        </a:spcBef>
                      </a:pPr>
                      <a:r>
                        <a:rPr lang="en-US" sz="1900" spc="-50">
                          <a:latin typeface="Arial"/>
                          <a:cs typeface="Arial"/>
                        </a:rPr>
                        <a:t>$115,300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1270" algn="ctr">
                        <a:lnSpc>
                          <a:spcPct val="100000"/>
                        </a:lnSpc>
                        <a:spcBef>
                          <a:spcPts val="865"/>
                        </a:spcBef>
                      </a:pPr>
                      <a:r>
                        <a:rPr lang="en-US" sz="1900" spc="-10">
                          <a:latin typeface="Arial"/>
                          <a:cs typeface="Arial"/>
                        </a:rPr>
                        <a:t>$77,810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1270" algn="ctr">
                        <a:lnSpc>
                          <a:spcPct val="100000"/>
                        </a:lnSpc>
                        <a:spcBef>
                          <a:spcPts val="865"/>
                        </a:spcBef>
                      </a:pPr>
                      <a:r>
                        <a:rPr lang="en-US" sz="1900" spc="-10">
                          <a:latin typeface="Arial"/>
                          <a:cs typeface="Arial"/>
                        </a:rPr>
                        <a:t>30,200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1270" algn="ctr">
                        <a:lnSpc>
                          <a:spcPct val="100000"/>
                        </a:lnSpc>
                        <a:spcBef>
                          <a:spcPts val="865"/>
                        </a:spcBef>
                      </a:pPr>
                      <a:r>
                        <a:rPr lang="en-US" sz="1900" spc="-375">
                          <a:latin typeface="Arial"/>
                          <a:cs typeface="Arial"/>
                        </a:rPr>
                        <a:t>8%</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2540" algn="ctr">
                        <a:lnSpc>
                          <a:spcPct val="100000"/>
                        </a:lnSpc>
                        <a:spcBef>
                          <a:spcPts val="865"/>
                        </a:spcBef>
                      </a:pPr>
                      <a:r>
                        <a:rPr lang="en-US" sz="1900" spc="-10">
                          <a:latin typeface="Arial"/>
                          <a:cs typeface="Arial"/>
                        </a:rPr>
                        <a:t>382,600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extLst>
                  <a:ext uri="{0D108BD9-81ED-4DB2-BD59-A6C34878D82A}">
                    <a16:rowId xmlns:a16="http://schemas.microsoft.com/office/drawing/2014/main" val="10002"/>
                  </a:ext>
                </a:extLst>
              </a:tr>
              <a:tr h="665971">
                <a:tc>
                  <a:txBody>
                    <a:bodyPr/>
                    <a:lstStyle/>
                    <a:p>
                      <a:pPr marL="664845" marR="294640" indent="-363220">
                        <a:lnSpc>
                          <a:spcPct val="100000"/>
                        </a:lnSpc>
                        <a:spcBef>
                          <a:spcPts val="245"/>
                        </a:spcBef>
                      </a:pPr>
                      <a:r>
                        <a:rPr lang="en-US" sz="1900" spc="-55">
                          <a:latin typeface="Arial"/>
                          <a:cs typeface="Arial"/>
                        </a:rPr>
                        <a:t>Electrical</a:t>
                      </a:r>
                      <a:r>
                        <a:rPr lang="en-US" sz="1900" spc="-30">
                          <a:latin typeface="Arial"/>
                          <a:cs typeface="Arial"/>
                        </a:rPr>
                        <a:t> </a:t>
                      </a:r>
                      <a:r>
                        <a:rPr lang="en-US" sz="1900" spc="-80">
                          <a:latin typeface="Arial"/>
                          <a:cs typeface="Arial"/>
                        </a:rPr>
                        <a:t>Design </a:t>
                      </a:r>
                      <a:r>
                        <a:rPr lang="en-US" sz="1900" spc="-10">
                          <a:latin typeface="Arial"/>
                          <a:cs typeface="Arial"/>
                        </a:rPr>
                        <a:t>Engineer</a:t>
                      </a:r>
                      <a:endParaRPr lang="en-US" sz="1900">
                        <a:latin typeface="Arial"/>
                        <a:cs typeface="Arial"/>
                      </a:endParaRPr>
                    </a:p>
                  </a:txBody>
                  <a:tcPr marL="0" marR="0" marT="33621"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1325"/>
                        </a:spcBef>
                      </a:pPr>
                      <a:r>
                        <a:rPr lang="en-US" sz="1900" spc="-10">
                          <a:latin typeface="Arial"/>
                          <a:cs typeface="Arial"/>
                        </a:rPr>
                        <a:t>$148,000</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1325"/>
                        </a:spcBef>
                      </a:pPr>
                      <a:r>
                        <a:rPr lang="en-US" sz="1900" spc="-10">
                          <a:latin typeface="Arial"/>
                          <a:cs typeface="Arial"/>
                        </a:rPr>
                        <a:t>$89,630</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nSpc>
                          <a:spcPct val="100000"/>
                        </a:lnSpc>
                      </a:pPr>
                      <a:endParaRPr lang="en-US" sz="1900">
                        <a:latin typeface="Times New Roman"/>
                        <a:cs typeface="Times New Roman"/>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1325"/>
                        </a:spcBef>
                      </a:pPr>
                      <a:r>
                        <a:rPr lang="en-US" sz="1900" spc="-409">
                          <a:latin typeface="Arial"/>
                          <a:cs typeface="Arial"/>
                        </a:rPr>
                        <a:t>4%</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270" algn="ctr">
                        <a:lnSpc>
                          <a:spcPct val="100000"/>
                        </a:lnSpc>
                        <a:spcBef>
                          <a:spcPts val="1325"/>
                        </a:spcBef>
                      </a:pPr>
                      <a:r>
                        <a:rPr lang="en-US" sz="1900" spc="-10">
                          <a:latin typeface="Arial"/>
                          <a:cs typeface="Arial"/>
                        </a:rPr>
                        <a:t>315,900</a:t>
                      </a:r>
                      <a:endParaRPr lang="en-US" sz="1900">
                        <a:latin typeface="Arial"/>
                        <a:cs typeface="Arial"/>
                      </a:endParaRPr>
                    </a:p>
                  </a:txBody>
                  <a:tcPr marL="0" marR="0" marT="18182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3"/>
                  </a:ext>
                </a:extLst>
              </a:tr>
              <a:tr h="454639">
                <a:tc>
                  <a:txBody>
                    <a:bodyPr/>
                    <a:lstStyle/>
                    <a:p>
                      <a:pPr algn="ctr">
                        <a:lnSpc>
                          <a:spcPct val="100000"/>
                        </a:lnSpc>
                        <a:spcBef>
                          <a:spcPts val="865"/>
                        </a:spcBef>
                      </a:pPr>
                      <a:r>
                        <a:rPr lang="en-US" sz="1900" spc="-70">
                          <a:solidFill>
                            <a:srgbClr val="FF0000"/>
                          </a:solidFill>
                          <a:latin typeface="Arial"/>
                          <a:cs typeface="Arial"/>
                        </a:rPr>
                        <a:t>Data</a:t>
                      </a:r>
                      <a:r>
                        <a:rPr lang="en-US" sz="1900" spc="-95">
                          <a:solidFill>
                            <a:srgbClr val="FF0000"/>
                          </a:solidFill>
                          <a:latin typeface="Arial"/>
                          <a:cs typeface="Arial"/>
                        </a:rPr>
                        <a:t> </a:t>
                      </a:r>
                      <a:r>
                        <a:rPr lang="en-US" sz="1900" spc="-10">
                          <a:solidFill>
                            <a:srgbClr val="FF0000"/>
                          </a:solidFill>
                          <a:latin typeface="Arial"/>
                          <a:cs typeface="Arial"/>
                        </a:rPr>
                        <a:t>Scientist</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algn="ctr">
                        <a:lnSpc>
                          <a:spcPct val="100000"/>
                        </a:lnSpc>
                        <a:spcBef>
                          <a:spcPts val="865"/>
                        </a:spcBef>
                      </a:pPr>
                      <a:r>
                        <a:rPr lang="en-US" sz="1900" spc="-10">
                          <a:latin typeface="Arial"/>
                          <a:cs typeface="Arial"/>
                        </a:rPr>
                        <a:t>$148,000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algn="ctr">
                        <a:lnSpc>
                          <a:spcPct val="100000"/>
                        </a:lnSpc>
                        <a:spcBef>
                          <a:spcPts val="865"/>
                        </a:spcBef>
                      </a:pPr>
                      <a:r>
                        <a:rPr lang="en-US" sz="1900" spc="-40">
                          <a:latin typeface="Arial"/>
                          <a:cs typeface="Arial"/>
                        </a:rPr>
                        <a:t>$110,620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algn="ctr">
                        <a:lnSpc>
                          <a:spcPct val="100000"/>
                        </a:lnSpc>
                        <a:spcBef>
                          <a:spcPts val="865"/>
                        </a:spcBef>
                      </a:pPr>
                      <a:r>
                        <a:rPr lang="en-US" sz="1900" spc="-10">
                          <a:latin typeface="Arial"/>
                          <a:cs typeface="Arial"/>
                        </a:rPr>
                        <a:t>8,100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algn="ctr">
                        <a:lnSpc>
                          <a:spcPct val="100000"/>
                        </a:lnSpc>
                        <a:spcBef>
                          <a:spcPts val="865"/>
                        </a:spcBef>
                      </a:pPr>
                      <a:r>
                        <a:rPr lang="en-US" sz="1900" spc="-515">
                          <a:latin typeface="Arial"/>
                          <a:cs typeface="Arial"/>
                        </a:rPr>
                        <a:t>11%</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2540" algn="ctr">
                        <a:lnSpc>
                          <a:spcPct val="100000"/>
                        </a:lnSpc>
                        <a:spcBef>
                          <a:spcPts val="865"/>
                        </a:spcBef>
                      </a:pPr>
                      <a:r>
                        <a:rPr lang="en-US" sz="1900" spc="-10">
                          <a:latin typeface="Arial"/>
                          <a:cs typeface="Arial"/>
                        </a:rPr>
                        <a:t>75,600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extLst>
                  <a:ext uri="{0D108BD9-81ED-4DB2-BD59-A6C34878D82A}">
                    <a16:rowId xmlns:a16="http://schemas.microsoft.com/office/drawing/2014/main" val="10004"/>
                  </a:ext>
                </a:extLst>
              </a:tr>
              <a:tr h="454639">
                <a:tc>
                  <a:txBody>
                    <a:bodyPr/>
                    <a:lstStyle/>
                    <a:p>
                      <a:pPr marL="635" algn="ctr">
                        <a:lnSpc>
                          <a:spcPct val="100000"/>
                        </a:lnSpc>
                        <a:spcBef>
                          <a:spcPts val="865"/>
                        </a:spcBef>
                      </a:pPr>
                      <a:r>
                        <a:rPr lang="en-US" sz="1900" spc="-65">
                          <a:solidFill>
                            <a:srgbClr val="FF0000"/>
                          </a:solidFill>
                          <a:latin typeface="Arial"/>
                          <a:cs typeface="Arial"/>
                        </a:rPr>
                        <a:t>Data</a:t>
                      </a:r>
                      <a:r>
                        <a:rPr lang="en-US" sz="1900" spc="-100">
                          <a:solidFill>
                            <a:srgbClr val="FF0000"/>
                          </a:solidFill>
                          <a:latin typeface="Arial"/>
                          <a:cs typeface="Arial"/>
                        </a:rPr>
                        <a:t> </a:t>
                      </a:r>
                      <a:r>
                        <a:rPr lang="en-US" sz="1900" spc="-10">
                          <a:solidFill>
                            <a:srgbClr val="FF0000"/>
                          </a:solidFill>
                          <a:latin typeface="Arial"/>
                          <a:cs typeface="Arial"/>
                        </a:rPr>
                        <a:t>Engineer</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270" algn="ctr">
                        <a:lnSpc>
                          <a:spcPct val="100000"/>
                        </a:lnSpc>
                        <a:spcBef>
                          <a:spcPts val="865"/>
                        </a:spcBef>
                      </a:pPr>
                      <a:r>
                        <a:rPr lang="en-US" sz="1900" spc="-10">
                          <a:latin typeface="Arial"/>
                          <a:cs typeface="Arial"/>
                        </a:rPr>
                        <a:t>$129,980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270" algn="ctr">
                        <a:lnSpc>
                          <a:spcPct val="100000"/>
                        </a:lnSpc>
                        <a:spcBef>
                          <a:spcPts val="865"/>
                        </a:spcBef>
                      </a:pPr>
                      <a:r>
                        <a:rPr lang="en-US" sz="1900" spc="-10">
                          <a:latin typeface="Arial"/>
                          <a:cs typeface="Arial"/>
                        </a:rPr>
                        <a:t>$95,800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905" algn="ctr">
                        <a:lnSpc>
                          <a:spcPct val="100000"/>
                        </a:lnSpc>
                        <a:spcBef>
                          <a:spcPts val="865"/>
                        </a:spcBef>
                      </a:pPr>
                      <a:r>
                        <a:rPr lang="en-US" sz="1900" spc="-10">
                          <a:latin typeface="Arial"/>
                          <a:cs typeface="Arial"/>
                        </a:rPr>
                        <a:t>118,600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270" algn="ctr">
                        <a:lnSpc>
                          <a:spcPct val="100000"/>
                        </a:lnSpc>
                        <a:spcBef>
                          <a:spcPts val="865"/>
                        </a:spcBef>
                      </a:pPr>
                      <a:r>
                        <a:rPr lang="en-US" sz="1900" spc="-445">
                          <a:latin typeface="Arial"/>
                          <a:cs typeface="Arial"/>
                        </a:rPr>
                        <a:t>21%</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635" algn="ctr">
                        <a:lnSpc>
                          <a:spcPct val="100000"/>
                        </a:lnSpc>
                        <a:spcBef>
                          <a:spcPts val="865"/>
                        </a:spcBef>
                      </a:pPr>
                      <a:r>
                        <a:rPr lang="en-US" sz="1900" spc="-10">
                          <a:latin typeface="Arial"/>
                          <a:cs typeface="Arial"/>
                        </a:rPr>
                        <a:t>567,800</a:t>
                      </a:r>
                      <a:endParaRPr lang="en-US" sz="1900">
                        <a:latin typeface="Arial"/>
                        <a:cs typeface="Arial"/>
                      </a:endParaRPr>
                    </a:p>
                  </a:txBody>
                  <a:tcPr marL="0" marR="0" marT="118703"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5"/>
                  </a:ext>
                </a:extLst>
              </a:tr>
              <a:tr h="455325">
                <a:tc>
                  <a:txBody>
                    <a:bodyPr/>
                    <a:lstStyle/>
                    <a:p>
                      <a:pPr algn="ctr">
                        <a:lnSpc>
                          <a:spcPct val="100000"/>
                        </a:lnSpc>
                        <a:spcBef>
                          <a:spcPts val="870"/>
                        </a:spcBef>
                      </a:pPr>
                      <a:r>
                        <a:rPr lang="en-US" sz="1900" spc="-70">
                          <a:solidFill>
                            <a:srgbClr val="FF0000"/>
                          </a:solidFill>
                          <a:latin typeface="Arial"/>
                          <a:cs typeface="Arial"/>
                        </a:rPr>
                        <a:t>Data</a:t>
                      </a:r>
                      <a:r>
                        <a:rPr lang="en-US" sz="1900" spc="-95">
                          <a:solidFill>
                            <a:srgbClr val="FF0000"/>
                          </a:solidFill>
                          <a:latin typeface="Arial"/>
                          <a:cs typeface="Arial"/>
                        </a:rPr>
                        <a:t> </a:t>
                      </a:r>
                      <a:r>
                        <a:rPr lang="en-US" sz="1900" spc="-10">
                          <a:solidFill>
                            <a:srgbClr val="FF0000"/>
                          </a:solidFill>
                          <a:latin typeface="Arial"/>
                          <a:cs typeface="Arial"/>
                        </a:rPr>
                        <a:t>Analyst</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algn="ctr">
                        <a:lnSpc>
                          <a:spcPct val="100000"/>
                        </a:lnSpc>
                        <a:spcBef>
                          <a:spcPts val="870"/>
                        </a:spcBef>
                      </a:pPr>
                      <a:r>
                        <a:rPr lang="en-US" sz="1900" spc="-10">
                          <a:latin typeface="Arial"/>
                          <a:cs typeface="Arial"/>
                        </a:rPr>
                        <a:t>$124,000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635" algn="ctr">
                        <a:lnSpc>
                          <a:spcPct val="100000"/>
                        </a:lnSpc>
                        <a:spcBef>
                          <a:spcPts val="870"/>
                        </a:spcBef>
                      </a:pPr>
                      <a:r>
                        <a:rPr lang="en-US" sz="1900" spc="-10">
                          <a:latin typeface="Arial"/>
                          <a:cs typeface="Arial"/>
                        </a:rPr>
                        <a:t>$85,900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1905" algn="ctr">
                        <a:lnSpc>
                          <a:spcPct val="100000"/>
                        </a:lnSpc>
                        <a:spcBef>
                          <a:spcPts val="870"/>
                        </a:spcBef>
                      </a:pPr>
                      <a:r>
                        <a:rPr lang="en-US" sz="1900" spc="-10">
                          <a:latin typeface="Arial"/>
                          <a:cs typeface="Arial"/>
                        </a:rPr>
                        <a:t>140,000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algn="ctr">
                        <a:lnSpc>
                          <a:spcPct val="100000"/>
                        </a:lnSpc>
                        <a:spcBef>
                          <a:spcPts val="870"/>
                        </a:spcBef>
                      </a:pPr>
                      <a:r>
                        <a:rPr lang="en-US" sz="1900" spc="-400">
                          <a:latin typeface="Arial"/>
                          <a:cs typeface="Arial"/>
                        </a:rPr>
                        <a:t>19%</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2540" algn="ctr">
                        <a:lnSpc>
                          <a:spcPct val="100000"/>
                        </a:lnSpc>
                        <a:spcBef>
                          <a:spcPts val="870"/>
                        </a:spcBef>
                      </a:pPr>
                      <a:r>
                        <a:rPr lang="en-US" sz="1900" spc="-10">
                          <a:latin typeface="Arial"/>
                          <a:cs typeface="Arial"/>
                        </a:rPr>
                        <a:t>495,500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extLst>
                  <a:ext uri="{0D108BD9-81ED-4DB2-BD59-A6C34878D82A}">
                    <a16:rowId xmlns:a16="http://schemas.microsoft.com/office/drawing/2014/main" val="10006"/>
                  </a:ext>
                </a:extLst>
              </a:tr>
              <a:tr h="455325">
                <a:tc>
                  <a:txBody>
                    <a:bodyPr/>
                    <a:lstStyle/>
                    <a:p>
                      <a:pPr algn="ctr">
                        <a:lnSpc>
                          <a:spcPct val="100000"/>
                        </a:lnSpc>
                        <a:spcBef>
                          <a:spcPts val="870"/>
                        </a:spcBef>
                      </a:pPr>
                      <a:r>
                        <a:rPr lang="en-US" sz="1900" spc="-95">
                          <a:latin typeface="Arial"/>
                          <a:cs typeface="Arial"/>
                        </a:rPr>
                        <a:t>Finance</a:t>
                      </a:r>
                      <a:r>
                        <a:rPr lang="en-US" sz="1900" spc="-65">
                          <a:latin typeface="Arial"/>
                          <a:cs typeface="Arial"/>
                        </a:rPr>
                        <a:t> </a:t>
                      </a:r>
                      <a:r>
                        <a:rPr lang="en-US" sz="1900" spc="-10">
                          <a:latin typeface="Arial"/>
                          <a:cs typeface="Arial"/>
                        </a:rPr>
                        <a:t>Analyst</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870"/>
                        </a:spcBef>
                      </a:pPr>
                      <a:r>
                        <a:rPr lang="en-US" sz="1900" spc="-10">
                          <a:latin typeface="Arial"/>
                          <a:cs typeface="Arial"/>
                        </a:rPr>
                        <a:t>$160,760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905" algn="ctr">
                        <a:lnSpc>
                          <a:spcPct val="100000"/>
                        </a:lnSpc>
                        <a:spcBef>
                          <a:spcPts val="870"/>
                        </a:spcBef>
                      </a:pPr>
                      <a:r>
                        <a:rPr lang="en-US" sz="1900" spc="-10">
                          <a:latin typeface="Arial"/>
                          <a:cs typeface="Arial"/>
                        </a:rPr>
                        <a:t>95,320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870"/>
                        </a:spcBef>
                      </a:pPr>
                      <a:r>
                        <a:rPr lang="en-US" sz="1900" spc="-10">
                          <a:latin typeface="Arial"/>
                          <a:cs typeface="Arial"/>
                        </a:rPr>
                        <a:t>32,300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1270" algn="ctr">
                        <a:lnSpc>
                          <a:spcPct val="100000"/>
                        </a:lnSpc>
                        <a:spcBef>
                          <a:spcPts val="870"/>
                        </a:spcBef>
                      </a:pPr>
                      <a:r>
                        <a:rPr lang="en-US" sz="1900" spc="-455">
                          <a:latin typeface="Arial"/>
                          <a:cs typeface="Arial"/>
                        </a:rPr>
                        <a:t>12%</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algn="ctr">
                        <a:lnSpc>
                          <a:spcPct val="100000"/>
                        </a:lnSpc>
                        <a:spcBef>
                          <a:spcPts val="870"/>
                        </a:spcBef>
                      </a:pPr>
                      <a:r>
                        <a:rPr lang="en-US" sz="1900" spc="-10">
                          <a:latin typeface="Arial"/>
                          <a:cs typeface="Arial"/>
                        </a:rPr>
                        <a:t>268,360</a:t>
                      </a:r>
                      <a:endParaRPr lang="en-US" sz="1900">
                        <a:latin typeface="Arial"/>
                        <a:cs typeface="Arial"/>
                      </a:endParaRPr>
                    </a:p>
                  </a:txBody>
                  <a:tcPr marL="0" marR="0" marT="119389"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47A3059-69F2-4E12-ACD8-A5FE281919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7145654" y="991443"/>
            <a:ext cx="4603001" cy="1087819"/>
          </a:xfrm>
          <a:prstGeom prst="rect">
            <a:avLst/>
          </a:prstGeom>
        </p:spPr>
        <p:txBody>
          <a:bodyPr vert="horz" lIns="91440" tIns="45720" rIns="91440" bIns="45720" rtlCol="0" anchor="b">
            <a:normAutofit/>
          </a:bodyPr>
          <a:lstStyle/>
          <a:p>
            <a:pPr marL="1184275"/>
            <a:r>
              <a:rPr lang="en-US" sz="3400" kern="1200" spc="-170">
                <a:solidFill>
                  <a:schemeClr val="tx1"/>
                </a:solidFill>
                <a:latin typeface="+mj-lt"/>
                <a:ea typeface="+mj-ea"/>
                <a:cs typeface="+mj-cs"/>
              </a:rPr>
              <a:t>Data</a:t>
            </a:r>
            <a:r>
              <a:rPr lang="en-US" sz="3400" kern="1200" spc="-254">
                <a:solidFill>
                  <a:schemeClr val="tx1"/>
                </a:solidFill>
                <a:latin typeface="+mj-lt"/>
                <a:ea typeface="+mj-ea"/>
                <a:cs typeface="+mj-cs"/>
              </a:rPr>
              <a:t> </a:t>
            </a:r>
            <a:r>
              <a:rPr lang="en-US" sz="3400" kern="1200" spc="-155">
                <a:solidFill>
                  <a:schemeClr val="tx1"/>
                </a:solidFill>
                <a:latin typeface="+mj-lt"/>
                <a:ea typeface="+mj-ea"/>
                <a:cs typeface="+mj-cs"/>
              </a:rPr>
              <a:t>Engineer</a:t>
            </a:r>
            <a:r>
              <a:rPr lang="en-US" sz="3400" kern="1200" spc="-245">
                <a:solidFill>
                  <a:schemeClr val="tx1"/>
                </a:solidFill>
                <a:latin typeface="+mj-lt"/>
                <a:ea typeface="+mj-ea"/>
                <a:cs typeface="+mj-cs"/>
              </a:rPr>
              <a:t> </a:t>
            </a:r>
            <a:r>
              <a:rPr lang="en-US" sz="3400" kern="1200" spc="-80">
                <a:solidFill>
                  <a:schemeClr val="tx1"/>
                </a:solidFill>
                <a:latin typeface="+mj-lt"/>
                <a:ea typeface="+mj-ea"/>
                <a:cs typeface="+mj-cs"/>
              </a:rPr>
              <a:t>Positions</a:t>
            </a:r>
          </a:p>
        </p:txBody>
      </p:sp>
      <p:sp>
        <p:nvSpPr>
          <p:cNvPr id="13" name="Rectangle 12">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383398"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55" y="2285541"/>
            <a:ext cx="4526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3" name="object 3"/>
          <p:cNvGrpSpPr/>
          <p:nvPr/>
        </p:nvGrpSpPr>
        <p:grpSpPr>
          <a:xfrm>
            <a:off x="443345" y="1857517"/>
            <a:ext cx="6249919" cy="3087535"/>
            <a:chOff x="1603247" y="1591055"/>
            <a:chExt cx="10340737" cy="5108448"/>
          </a:xfrm>
        </p:grpSpPr>
        <p:pic>
          <p:nvPicPr>
            <p:cNvPr id="4" name="object 4"/>
            <p:cNvPicPr/>
            <p:nvPr/>
          </p:nvPicPr>
          <p:blipFill>
            <a:blip r:embed="rId2" cstate="print"/>
            <a:stretch>
              <a:fillRect/>
            </a:stretch>
          </p:blipFill>
          <p:spPr>
            <a:xfrm>
              <a:off x="1603247" y="1591055"/>
              <a:ext cx="4053840" cy="5108448"/>
            </a:xfrm>
            <a:prstGeom prst="rect">
              <a:avLst/>
            </a:prstGeom>
          </p:spPr>
        </p:pic>
        <p:pic>
          <p:nvPicPr>
            <p:cNvPr id="5" name="object 5"/>
            <p:cNvPicPr/>
            <p:nvPr/>
          </p:nvPicPr>
          <p:blipFill>
            <a:blip r:embed="rId3" cstate="print"/>
            <a:stretch>
              <a:fillRect/>
            </a:stretch>
          </p:blipFill>
          <p:spPr>
            <a:xfrm>
              <a:off x="5657088" y="1591055"/>
              <a:ext cx="3994404" cy="2196084"/>
            </a:xfrm>
            <a:prstGeom prst="rect">
              <a:avLst/>
            </a:prstGeom>
          </p:spPr>
        </p:pic>
        <p:pic>
          <p:nvPicPr>
            <p:cNvPr id="6" name="object 6"/>
            <p:cNvPicPr/>
            <p:nvPr/>
          </p:nvPicPr>
          <p:blipFill>
            <a:blip r:embed="rId4" cstate="print"/>
            <a:stretch>
              <a:fillRect/>
            </a:stretch>
          </p:blipFill>
          <p:spPr>
            <a:xfrm>
              <a:off x="5657088" y="3855720"/>
              <a:ext cx="6286896" cy="2450427"/>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Freeform: Shape 10">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Freeform: Shape 12">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2388870"/>
            <a:r>
              <a:rPr lang="en-US" sz="1900" kern="1200" spc="-70">
                <a:solidFill>
                  <a:schemeClr val="tx1"/>
                </a:solidFill>
                <a:latin typeface="+mj-lt"/>
                <a:ea typeface="+mj-ea"/>
                <a:cs typeface="+mj-cs"/>
              </a:rPr>
              <a:t>Collaboration</a:t>
            </a:r>
          </a:p>
        </p:txBody>
      </p:sp>
      <p:sp>
        <p:nvSpPr>
          <p:cNvPr id="3" name="object 3"/>
          <p:cNvSpPr txBox="1"/>
          <p:nvPr/>
        </p:nvSpPr>
        <p:spPr>
          <a:xfrm>
            <a:off x="477981" y="4872922"/>
            <a:ext cx="3933306" cy="1208141"/>
          </a:xfrm>
          <a:prstGeom prst="rect">
            <a:avLst/>
          </a:prstGeom>
        </p:spPr>
        <p:txBody>
          <a:bodyPr vert="horz" lIns="91440" tIns="45720" rIns="91440" bIns="45720" rtlCol="0">
            <a:normAutofit/>
          </a:bodyPr>
          <a:lstStyle/>
          <a:p>
            <a:pPr>
              <a:lnSpc>
                <a:spcPct val="90000"/>
              </a:lnSpc>
              <a:spcBef>
                <a:spcPts val="1000"/>
              </a:spcBef>
            </a:pPr>
            <a:r>
              <a:rPr lang="en-US" sz="2000" kern="1200" spc="-50">
                <a:solidFill>
                  <a:schemeClr val="tx1"/>
                </a:solidFill>
                <a:latin typeface="+mn-lt"/>
                <a:ea typeface="+mn-ea"/>
                <a:cs typeface="+mn-cs"/>
              </a:rPr>
              <a:t>8</a:t>
            </a:r>
            <a:endParaRPr lang="en-US" sz="2000" kern="1200">
              <a:solidFill>
                <a:schemeClr val="tx1"/>
              </a:solidFill>
              <a:latin typeface="+mn-lt"/>
              <a:ea typeface="+mn-ea"/>
              <a:cs typeface="+mn-cs"/>
            </a:endParaRP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4" descr="一张图看懂数据科学家、数据工程师和软件工程师之间的区别"/>
          <p:cNvPicPr/>
          <p:nvPr/>
        </p:nvPicPr>
        <p:blipFill>
          <a:blip r:embed="rId2" cstate="print"/>
          <a:stretch>
            <a:fillRect/>
          </a:stretch>
        </p:blipFill>
        <p:spPr>
          <a:xfrm>
            <a:off x="5414356" y="1021544"/>
            <a:ext cx="6408836" cy="46636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CCA5F87-1D1E-45CB-8D83-FC7EEFAD9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object 4">
            <a:hlinkClick r:id="rId2"/>
          </p:cNvPr>
          <p:cNvPicPr/>
          <p:nvPr/>
        </p:nvPicPr>
        <p:blipFill>
          <a:blip r:embed="rId3" cstate="print"/>
          <a:srcRect l="1018" r="-4" b="-4"/>
          <a:stretch>
            <a:fillRect/>
          </a:stretch>
        </p:blipFill>
        <p:spPr>
          <a:xfrm>
            <a:off x="20" y="10"/>
            <a:ext cx="8668492" cy="6857990"/>
          </a:xfrm>
          <a:prstGeom prst="rect">
            <a:avLst/>
          </a:prstGeom>
        </p:spPr>
      </p:pic>
      <p:sp>
        <p:nvSpPr>
          <p:cNvPr id="11" name="Rectangle 10">
            <a:extLst>
              <a:ext uri="{FF2B5EF4-FFF2-40B4-BE49-F238E27FC236}">
                <a16:creationId xmlns:a16="http://schemas.microsoft.com/office/drawing/2014/main" id="{7CCFC2C6-6238-4A2F-93DE-2ADF74AF6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711652" y="0"/>
            <a:ext cx="8480347"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object 2" descr="$PPTXTitle"/>
          <p:cNvSpPr txBox="1">
            <a:spLocks noGrp="1"/>
          </p:cNvSpPr>
          <p:nvPr>
            <p:ph type="title"/>
          </p:nvPr>
        </p:nvSpPr>
        <p:spPr>
          <a:xfrm>
            <a:off x="7848600" y="1122363"/>
            <a:ext cx="4023360" cy="3204134"/>
          </a:xfrm>
          <a:prstGeom prst="rect">
            <a:avLst/>
          </a:prstGeom>
        </p:spPr>
        <p:txBody>
          <a:bodyPr vert="horz" lIns="91440" tIns="45720" rIns="91440" bIns="45720" rtlCol="0" anchor="b">
            <a:normAutofit/>
          </a:bodyPr>
          <a:lstStyle/>
          <a:p>
            <a:pPr marL="1666239"/>
            <a:r>
              <a:rPr lang="en-US" sz="4100" spc="-175"/>
              <a:t>Big</a:t>
            </a:r>
            <a:r>
              <a:rPr lang="en-US" sz="4100" spc="-254"/>
              <a:t> </a:t>
            </a:r>
            <a:r>
              <a:rPr lang="en-US" sz="4100" spc="-170"/>
              <a:t>Data</a:t>
            </a:r>
            <a:r>
              <a:rPr lang="en-US" sz="4100" spc="-280"/>
              <a:t> </a:t>
            </a:r>
            <a:r>
              <a:rPr lang="en-US" sz="4100" spc="-160"/>
              <a:t>Ecosystem</a:t>
            </a:r>
          </a:p>
        </p:txBody>
      </p:sp>
      <p:sp>
        <p:nvSpPr>
          <p:cNvPr id="3" name="object 3"/>
          <p:cNvSpPr txBox="1"/>
          <p:nvPr/>
        </p:nvSpPr>
        <p:spPr>
          <a:xfrm>
            <a:off x="7848600" y="4872922"/>
            <a:ext cx="4023360" cy="1208141"/>
          </a:xfrm>
          <a:prstGeom prst="rect">
            <a:avLst/>
          </a:prstGeom>
        </p:spPr>
        <p:txBody>
          <a:bodyPr vert="horz" lIns="91440" tIns="45720" rIns="91440" bIns="45720" rtlCol="0">
            <a:normAutofit/>
          </a:bodyPr>
          <a:lstStyle/>
          <a:p>
            <a:pPr>
              <a:lnSpc>
                <a:spcPct val="90000"/>
              </a:lnSpc>
              <a:spcBef>
                <a:spcPts val="1000"/>
              </a:spcBef>
            </a:pPr>
            <a:r>
              <a:rPr lang="en-US" sz="2000" spc="-50">
                <a:hlinkClick r:id="rId2"/>
              </a:rPr>
              <a:t>9</a:t>
            </a:r>
            <a:endParaRPr lang="en-US" sz="2000"/>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1305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51648"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762001" y="5074024"/>
            <a:ext cx="10109199" cy="598032"/>
          </a:xfrm>
          <a:prstGeom prst="rect">
            <a:avLst/>
          </a:prstGeom>
        </p:spPr>
        <p:txBody>
          <a:bodyPr vert="horz" lIns="91440" tIns="45720" rIns="91440" bIns="45720" rtlCol="0" anchor="ctr">
            <a:normAutofit/>
          </a:bodyPr>
          <a:lstStyle/>
          <a:p>
            <a:pPr marL="12700"/>
            <a:r>
              <a:rPr lang="en-US" sz="3600" kern="1200" spc="-210">
                <a:solidFill>
                  <a:schemeClr val="tx1"/>
                </a:solidFill>
                <a:latin typeface="+mj-lt"/>
                <a:ea typeface="+mj-ea"/>
                <a:cs typeface="+mj-cs"/>
              </a:rPr>
              <a:t>Technical</a:t>
            </a:r>
            <a:r>
              <a:rPr lang="en-US" sz="3600" kern="1200" spc="-260">
                <a:solidFill>
                  <a:schemeClr val="tx1"/>
                </a:solidFill>
                <a:latin typeface="+mj-lt"/>
                <a:ea typeface="+mj-ea"/>
                <a:cs typeface="+mj-cs"/>
              </a:rPr>
              <a:t> </a:t>
            </a:r>
            <a:r>
              <a:rPr lang="en-US" sz="3600" kern="1200" spc="-145">
                <a:solidFill>
                  <a:schemeClr val="tx1"/>
                </a:solidFill>
                <a:latin typeface="+mj-lt"/>
                <a:ea typeface="+mj-ea"/>
                <a:cs typeface="+mj-cs"/>
              </a:rPr>
              <a:t>Skills</a:t>
            </a:r>
          </a:p>
        </p:txBody>
      </p:sp>
      <p:sp>
        <p:nvSpPr>
          <p:cNvPr id="4" name="object 4"/>
          <p:cNvSpPr txBox="1"/>
          <p:nvPr/>
        </p:nvSpPr>
        <p:spPr>
          <a:xfrm>
            <a:off x="762001" y="5672059"/>
            <a:ext cx="10109199" cy="547765"/>
          </a:xfrm>
          <a:prstGeom prst="rect">
            <a:avLst/>
          </a:prstGeom>
        </p:spPr>
        <p:txBody>
          <a:bodyPr vert="horz" lIns="91440" tIns="45720" rIns="91440" bIns="45720" rtlCol="0" anchor="t">
            <a:normAutofit fontScale="25000" lnSpcReduction="20000"/>
          </a:bodyPr>
          <a:lstStyle/>
          <a:p>
            <a:pPr>
              <a:lnSpc>
                <a:spcPct val="90000"/>
              </a:lnSpc>
              <a:spcBef>
                <a:spcPts val="1000"/>
              </a:spcBef>
            </a:pPr>
            <a:r>
              <a:rPr lang="en-US" sz="500" kern="1200">
                <a:solidFill>
                  <a:schemeClr val="tx1"/>
                </a:solidFill>
                <a:latin typeface="+mn-lt"/>
                <a:ea typeface="+mn-ea"/>
                <a:cs typeface="+mn-cs"/>
              </a:rPr>
              <a:t>∗</a:t>
            </a:r>
            <a:r>
              <a:rPr lang="en-US" sz="500" kern="1200" spc="385">
                <a:solidFill>
                  <a:schemeClr val="tx1"/>
                </a:solidFill>
                <a:latin typeface="+mn-lt"/>
                <a:ea typeface="+mn-ea"/>
                <a:cs typeface="+mn-cs"/>
              </a:rPr>
              <a:t> </a:t>
            </a:r>
            <a:r>
              <a:rPr lang="en-US" sz="500" kern="1200" spc="-170">
                <a:solidFill>
                  <a:schemeClr val="tx1"/>
                </a:solidFill>
                <a:latin typeface="+mn-lt"/>
                <a:ea typeface="+mn-ea"/>
                <a:cs typeface="+mn-cs"/>
              </a:rPr>
              <a:t>NoSQL</a:t>
            </a:r>
            <a:r>
              <a:rPr lang="en-US" sz="500" kern="1200" spc="-100">
                <a:solidFill>
                  <a:schemeClr val="tx1"/>
                </a:solidFill>
                <a:latin typeface="+mn-lt"/>
                <a:ea typeface="+mn-ea"/>
                <a:cs typeface="+mn-cs"/>
              </a:rPr>
              <a:t> </a:t>
            </a:r>
            <a:r>
              <a:rPr lang="en-US" sz="500" kern="1200" spc="-90">
                <a:solidFill>
                  <a:schemeClr val="tx1"/>
                </a:solidFill>
                <a:latin typeface="+mn-lt"/>
                <a:ea typeface="+mn-ea"/>
                <a:cs typeface="+mn-cs"/>
              </a:rPr>
              <a:t>Technologies</a:t>
            </a:r>
            <a:r>
              <a:rPr lang="en-US" sz="500" kern="1200" spc="-110">
                <a:solidFill>
                  <a:schemeClr val="tx1"/>
                </a:solidFill>
                <a:latin typeface="+mn-lt"/>
                <a:ea typeface="+mn-ea"/>
                <a:cs typeface="+mn-cs"/>
              </a:rPr>
              <a:t> </a:t>
            </a:r>
            <a:r>
              <a:rPr lang="en-US" sz="500" kern="1200" spc="-50">
                <a:solidFill>
                  <a:schemeClr val="tx1"/>
                </a:solidFill>
                <a:latin typeface="+mn-lt"/>
                <a:ea typeface="+mn-ea"/>
                <a:cs typeface="+mn-cs"/>
              </a:rPr>
              <a:t>(e.g.</a:t>
            </a:r>
            <a:r>
              <a:rPr lang="en-US" sz="500" kern="1200" spc="-130">
                <a:solidFill>
                  <a:schemeClr val="tx1"/>
                </a:solidFill>
                <a:latin typeface="+mn-lt"/>
                <a:ea typeface="+mn-ea"/>
                <a:cs typeface="+mn-cs"/>
              </a:rPr>
              <a:t> </a:t>
            </a:r>
            <a:r>
              <a:rPr lang="en-US" sz="500" kern="1200" spc="-145">
                <a:solidFill>
                  <a:schemeClr val="tx1"/>
                </a:solidFill>
                <a:latin typeface="+mn-lt"/>
                <a:ea typeface="+mn-ea"/>
                <a:cs typeface="+mn-cs"/>
              </a:rPr>
              <a:t>Cassandra</a:t>
            </a:r>
            <a:r>
              <a:rPr lang="en-US" sz="500" kern="1200" spc="-125">
                <a:solidFill>
                  <a:schemeClr val="tx1"/>
                </a:solidFill>
                <a:latin typeface="+mn-lt"/>
                <a:ea typeface="+mn-ea"/>
                <a:cs typeface="+mn-cs"/>
              </a:rPr>
              <a:t> </a:t>
            </a:r>
            <a:r>
              <a:rPr lang="en-US" sz="500" kern="1200" spc="-25">
                <a:solidFill>
                  <a:schemeClr val="tx1"/>
                </a:solidFill>
                <a:latin typeface="+mn-lt"/>
                <a:ea typeface="+mn-ea"/>
                <a:cs typeface="+mn-cs"/>
              </a:rPr>
              <a:t>and</a:t>
            </a:r>
            <a:endParaRPr lang="en-US" sz="500" kern="1200">
              <a:solidFill>
                <a:schemeClr val="tx1"/>
              </a:solidFill>
              <a:latin typeface="+mn-lt"/>
              <a:ea typeface="+mn-ea"/>
              <a:cs typeface="+mn-cs"/>
            </a:endParaRPr>
          </a:p>
          <a:p>
            <a:pPr>
              <a:lnSpc>
                <a:spcPct val="90000"/>
              </a:lnSpc>
              <a:spcBef>
                <a:spcPts val="1000"/>
              </a:spcBef>
            </a:pPr>
            <a:r>
              <a:rPr lang="en-US" sz="500" kern="1200" spc="-10">
                <a:solidFill>
                  <a:schemeClr val="tx1"/>
                </a:solidFill>
                <a:latin typeface="+mn-lt"/>
                <a:ea typeface="+mn-ea"/>
                <a:cs typeface="+mn-cs"/>
              </a:rPr>
              <a:t>MongoDB)</a:t>
            </a:r>
            <a:endParaRPr lang="en-US" sz="500" kern="1200">
              <a:solidFill>
                <a:schemeClr val="tx1"/>
              </a:solidFill>
              <a:latin typeface="+mn-lt"/>
              <a:ea typeface="+mn-ea"/>
              <a:cs typeface="+mn-cs"/>
            </a:endParaRPr>
          </a:p>
          <a:p>
            <a:pPr>
              <a:lnSpc>
                <a:spcPct val="90000"/>
              </a:lnSpc>
              <a:spcBef>
                <a:spcPts val="1000"/>
              </a:spcBef>
            </a:pPr>
            <a:r>
              <a:rPr lang="en-US" sz="500" kern="1200">
                <a:solidFill>
                  <a:schemeClr val="tx1"/>
                </a:solidFill>
                <a:latin typeface="+mn-lt"/>
                <a:ea typeface="+mn-ea"/>
                <a:cs typeface="+mn-cs"/>
              </a:rPr>
              <a:t>∗</a:t>
            </a:r>
            <a:r>
              <a:rPr lang="en-US" sz="500" kern="1200" spc="345">
                <a:solidFill>
                  <a:schemeClr val="tx1"/>
                </a:solidFill>
                <a:latin typeface="+mn-lt"/>
                <a:ea typeface="+mn-ea"/>
                <a:cs typeface="+mn-cs"/>
              </a:rPr>
              <a:t> </a:t>
            </a:r>
            <a:r>
              <a:rPr lang="en-US" sz="500" kern="1200" spc="-50">
                <a:solidFill>
                  <a:schemeClr val="tx1"/>
                </a:solidFill>
                <a:latin typeface="+mn-lt"/>
                <a:ea typeface="+mn-ea"/>
                <a:cs typeface="+mn-cs"/>
              </a:rPr>
              <a:t>MatLab,</a:t>
            </a:r>
            <a:r>
              <a:rPr lang="en-US" sz="500" kern="1200" spc="-150">
                <a:solidFill>
                  <a:schemeClr val="tx1"/>
                </a:solidFill>
                <a:latin typeface="+mn-lt"/>
                <a:ea typeface="+mn-ea"/>
                <a:cs typeface="+mn-cs"/>
              </a:rPr>
              <a:t> </a:t>
            </a:r>
            <a:r>
              <a:rPr lang="en-US" sz="500" kern="1200" spc="-225">
                <a:solidFill>
                  <a:schemeClr val="tx1"/>
                </a:solidFill>
                <a:latin typeface="+mn-lt"/>
                <a:ea typeface="+mn-ea"/>
                <a:cs typeface="+mn-cs"/>
              </a:rPr>
              <a:t>SAS,</a:t>
            </a:r>
            <a:r>
              <a:rPr lang="en-US" sz="500" kern="1200" spc="-125">
                <a:solidFill>
                  <a:schemeClr val="tx1"/>
                </a:solidFill>
                <a:latin typeface="+mn-lt"/>
                <a:ea typeface="+mn-ea"/>
                <a:cs typeface="+mn-cs"/>
              </a:rPr>
              <a:t> </a:t>
            </a:r>
            <a:r>
              <a:rPr lang="en-US" sz="500" kern="1200" spc="-320">
                <a:solidFill>
                  <a:schemeClr val="tx1"/>
                </a:solidFill>
                <a:latin typeface="+mn-lt"/>
                <a:ea typeface="+mn-ea"/>
                <a:cs typeface="+mn-cs"/>
              </a:rPr>
              <a:t>R</a:t>
            </a:r>
            <a:endParaRPr lang="en-US" sz="500" kern="1200">
              <a:solidFill>
                <a:schemeClr val="tx1"/>
              </a:solidFill>
              <a:latin typeface="+mn-lt"/>
              <a:ea typeface="+mn-ea"/>
              <a:cs typeface="+mn-cs"/>
            </a:endParaRPr>
          </a:p>
          <a:p>
            <a:pPr>
              <a:lnSpc>
                <a:spcPct val="90000"/>
              </a:lnSpc>
              <a:spcBef>
                <a:spcPts val="1000"/>
              </a:spcBef>
            </a:pPr>
            <a:r>
              <a:rPr lang="en-US" sz="500" kern="1200">
                <a:solidFill>
                  <a:schemeClr val="tx1"/>
                </a:solidFill>
                <a:latin typeface="+mn-lt"/>
                <a:ea typeface="+mn-ea"/>
                <a:cs typeface="+mn-cs"/>
              </a:rPr>
              <a:t>∗</a:t>
            </a:r>
            <a:r>
              <a:rPr lang="en-US" sz="500" kern="1200" spc="385">
                <a:solidFill>
                  <a:schemeClr val="tx1"/>
                </a:solidFill>
                <a:latin typeface="+mn-lt"/>
                <a:ea typeface="+mn-ea"/>
                <a:cs typeface="+mn-cs"/>
              </a:rPr>
              <a:t> </a:t>
            </a:r>
            <a:r>
              <a:rPr lang="en-US" sz="500" kern="1200" spc="-90">
                <a:solidFill>
                  <a:schemeClr val="tx1"/>
                </a:solidFill>
                <a:latin typeface="+mn-lt"/>
                <a:ea typeface="+mn-ea"/>
                <a:cs typeface="+mn-cs"/>
              </a:rPr>
              <a:t>Data</a:t>
            </a:r>
            <a:r>
              <a:rPr lang="en-US" sz="500" kern="1200" spc="-130">
                <a:solidFill>
                  <a:schemeClr val="tx1"/>
                </a:solidFill>
                <a:latin typeface="+mn-lt"/>
                <a:ea typeface="+mn-ea"/>
                <a:cs typeface="+mn-cs"/>
              </a:rPr>
              <a:t> </a:t>
            </a:r>
            <a:r>
              <a:rPr lang="en-US" sz="500" kern="1200" spc="-85">
                <a:solidFill>
                  <a:schemeClr val="tx1"/>
                </a:solidFill>
                <a:latin typeface="+mn-lt"/>
                <a:ea typeface="+mn-ea"/>
                <a:cs typeface="+mn-cs"/>
              </a:rPr>
              <a:t>Warehousing</a:t>
            </a:r>
            <a:r>
              <a:rPr lang="en-US" sz="500" kern="1200" spc="-120">
                <a:solidFill>
                  <a:schemeClr val="tx1"/>
                </a:solidFill>
                <a:latin typeface="+mn-lt"/>
                <a:ea typeface="+mn-ea"/>
                <a:cs typeface="+mn-cs"/>
              </a:rPr>
              <a:t> </a:t>
            </a:r>
            <a:r>
              <a:rPr lang="en-US" sz="500" kern="1200" spc="-10">
                <a:solidFill>
                  <a:schemeClr val="tx1"/>
                </a:solidFill>
                <a:latin typeface="+mn-lt"/>
                <a:ea typeface="+mn-ea"/>
                <a:cs typeface="+mn-cs"/>
              </a:rPr>
              <a:t>Solutions</a:t>
            </a:r>
            <a:endParaRPr lang="en-US" sz="500" kern="1200">
              <a:solidFill>
                <a:schemeClr val="tx1"/>
              </a:solidFill>
              <a:latin typeface="+mn-lt"/>
              <a:ea typeface="+mn-ea"/>
              <a:cs typeface="+mn-cs"/>
            </a:endParaRPr>
          </a:p>
          <a:p>
            <a:pPr>
              <a:lnSpc>
                <a:spcPct val="90000"/>
              </a:lnSpc>
              <a:spcBef>
                <a:spcPts val="1000"/>
              </a:spcBef>
            </a:pPr>
            <a:r>
              <a:rPr lang="en-US" sz="500" kern="1200">
                <a:solidFill>
                  <a:schemeClr val="tx1"/>
                </a:solidFill>
                <a:latin typeface="+mn-lt"/>
                <a:ea typeface="+mn-ea"/>
                <a:cs typeface="+mn-cs"/>
              </a:rPr>
              <a:t>∗</a:t>
            </a:r>
            <a:r>
              <a:rPr lang="en-US" sz="500" kern="1200" spc="345">
                <a:solidFill>
                  <a:schemeClr val="tx1"/>
                </a:solidFill>
                <a:latin typeface="+mn-lt"/>
                <a:ea typeface="+mn-ea"/>
                <a:cs typeface="+mn-cs"/>
              </a:rPr>
              <a:t> </a:t>
            </a:r>
            <a:r>
              <a:rPr lang="en-US" sz="500" kern="1200" spc="-70">
                <a:solidFill>
                  <a:schemeClr val="tx1"/>
                </a:solidFill>
                <a:latin typeface="+mn-lt"/>
                <a:ea typeface="+mn-ea"/>
                <a:cs typeface="+mn-cs"/>
              </a:rPr>
              <a:t>Machine</a:t>
            </a:r>
            <a:r>
              <a:rPr lang="en-US" sz="500" kern="1200" spc="-150">
                <a:solidFill>
                  <a:schemeClr val="tx1"/>
                </a:solidFill>
                <a:latin typeface="+mn-lt"/>
                <a:ea typeface="+mn-ea"/>
                <a:cs typeface="+mn-cs"/>
              </a:rPr>
              <a:t> </a:t>
            </a:r>
            <a:r>
              <a:rPr lang="en-US" sz="500" kern="1200" spc="-10">
                <a:solidFill>
                  <a:schemeClr val="tx1"/>
                </a:solidFill>
                <a:latin typeface="+mn-lt"/>
                <a:ea typeface="+mn-ea"/>
                <a:cs typeface="+mn-cs"/>
              </a:rPr>
              <a:t>Learning</a:t>
            </a:r>
            <a:endParaRPr lang="en-US" sz="500" kern="1200">
              <a:solidFill>
                <a:schemeClr val="tx1"/>
              </a:solidFill>
              <a:latin typeface="+mn-lt"/>
              <a:ea typeface="+mn-ea"/>
              <a:cs typeface="+mn-cs"/>
            </a:endParaRPr>
          </a:p>
          <a:p>
            <a:pPr>
              <a:lnSpc>
                <a:spcPct val="90000"/>
              </a:lnSpc>
              <a:spcBef>
                <a:spcPts val="1000"/>
              </a:spcBef>
            </a:pPr>
            <a:r>
              <a:rPr lang="en-US" sz="500" kern="1200">
                <a:solidFill>
                  <a:schemeClr val="tx1"/>
                </a:solidFill>
                <a:latin typeface="+mn-lt"/>
                <a:ea typeface="+mn-ea"/>
                <a:cs typeface="+mn-cs"/>
              </a:rPr>
              <a:t>∗</a:t>
            </a:r>
            <a:r>
              <a:rPr lang="en-US" sz="500" kern="1200" spc="330">
                <a:solidFill>
                  <a:schemeClr val="tx1"/>
                </a:solidFill>
                <a:latin typeface="+mn-lt"/>
                <a:ea typeface="+mn-ea"/>
                <a:cs typeface="+mn-cs"/>
              </a:rPr>
              <a:t> </a:t>
            </a:r>
            <a:r>
              <a:rPr lang="en-US" sz="500" kern="1200" spc="-90">
                <a:solidFill>
                  <a:schemeClr val="tx1"/>
                </a:solidFill>
                <a:latin typeface="+mn-lt"/>
                <a:ea typeface="+mn-ea"/>
                <a:cs typeface="+mn-cs"/>
              </a:rPr>
              <a:t>Data</a:t>
            </a:r>
            <a:r>
              <a:rPr lang="en-US" sz="500" kern="1200" spc="-145">
                <a:solidFill>
                  <a:schemeClr val="tx1"/>
                </a:solidFill>
                <a:latin typeface="+mn-lt"/>
                <a:ea typeface="+mn-ea"/>
                <a:cs typeface="+mn-cs"/>
              </a:rPr>
              <a:t> </a:t>
            </a:r>
            <a:r>
              <a:rPr lang="en-US" sz="500" kern="1200" spc="-10">
                <a:solidFill>
                  <a:schemeClr val="tx1"/>
                </a:solidFill>
                <a:latin typeface="+mn-lt"/>
                <a:ea typeface="+mn-ea"/>
                <a:cs typeface="+mn-cs"/>
              </a:rPr>
              <a:t>Mining</a:t>
            </a:r>
            <a:endParaRPr lang="en-US" sz="500" kern="1200">
              <a:solidFill>
                <a:schemeClr val="tx1"/>
              </a:solidFill>
              <a:latin typeface="+mn-lt"/>
              <a:ea typeface="+mn-ea"/>
              <a:cs typeface="+mn-cs"/>
            </a:endParaRPr>
          </a:p>
          <a:p>
            <a:pPr marR="751840">
              <a:lnSpc>
                <a:spcPct val="90000"/>
              </a:lnSpc>
              <a:spcBef>
                <a:spcPts val="1000"/>
              </a:spcBef>
            </a:pPr>
            <a:r>
              <a:rPr lang="en-US" sz="500" kern="1200">
                <a:solidFill>
                  <a:schemeClr val="tx1"/>
                </a:solidFill>
                <a:latin typeface="+mn-lt"/>
                <a:ea typeface="+mn-ea"/>
                <a:cs typeface="+mn-cs"/>
              </a:rPr>
              <a:t>∗</a:t>
            </a:r>
            <a:r>
              <a:rPr lang="en-US" sz="500" kern="1200" spc="375">
                <a:solidFill>
                  <a:schemeClr val="tx1"/>
                </a:solidFill>
                <a:latin typeface="+mn-lt"/>
                <a:ea typeface="+mn-ea"/>
                <a:cs typeface="+mn-cs"/>
              </a:rPr>
              <a:t> </a:t>
            </a:r>
            <a:r>
              <a:rPr lang="en-US" sz="500" kern="1200" spc="-60">
                <a:solidFill>
                  <a:schemeClr val="tx1"/>
                </a:solidFill>
                <a:latin typeface="+mn-lt"/>
                <a:ea typeface="+mn-ea"/>
                <a:cs typeface="+mn-cs"/>
              </a:rPr>
              <a:t>Predictive</a:t>
            </a:r>
            <a:r>
              <a:rPr lang="en-US" sz="500" kern="1200" spc="-145">
                <a:solidFill>
                  <a:schemeClr val="tx1"/>
                </a:solidFill>
                <a:latin typeface="+mn-lt"/>
                <a:ea typeface="+mn-ea"/>
                <a:cs typeface="+mn-cs"/>
              </a:rPr>
              <a:t> </a:t>
            </a:r>
            <a:r>
              <a:rPr lang="en-US" sz="500" kern="1200" spc="-35">
                <a:solidFill>
                  <a:schemeClr val="tx1"/>
                </a:solidFill>
                <a:latin typeface="+mn-lt"/>
                <a:ea typeface="+mn-ea"/>
                <a:cs typeface="+mn-cs"/>
              </a:rPr>
              <a:t>Modeling,</a:t>
            </a:r>
            <a:r>
              <a:rPr lang="en-US" sz="500" kern="1200" spc="-125">
                <a:solidFill>
                  <a:schemeClr val="tx1"/>
                </a:solidFill>
                <a:latin typeface="+mn-lt"/>
                <a:ea typeface="+mn-ea"/>
                <a:cs typeface="+mn-cs"/>
              </a:rPr>
              <a:t> </a:t>
            </a:r>
            <a:r>
              <a:rPr lang="en-US" sz="500" kern="1200" spc="-175">
                <a:solidFill>
                  <a:schemeClr val="tx1"/>
                </a:solidFill>
                <a:latin typeface="+mn-lt"/>
                <a:ea typeface="+mn-ea"/>
                <a:cs typeface="+mn-cs"/>
              </a:rPr>
              <a:t>NLP</a:t>
            </a:r>
            <a:r>
              <a:rPr lang="en-US" sz="500" kern="1200" spc="-114">
                <a:solidFill>
                  <a:schemeClr val="tx1"/>
                </a:solidFill>
                <a:latin typeface="+mn-lt"/>
                <a:ea typeface="+mn-ea"/>
                <a:cs typeface="+mn-cs"/>
              </a:rPr>
              <a:t> </a:t>
            </a:r>
            <a:r>
              <a:rPr lang="en-US" sz="500" kern="1200" spc="-80">
                <a:solidFill>
                  <a:schemeClr val="tx1"/>
                </a:solidFill>
                <a:latin typeface="+mn-lt"/>
                <a:ea typeface="+mn-ea"/>
                <a:cs typeface="+mn-cs"/>
              </a:rPr>
              <a:t>and</a:t>
            </a:r>
            <a:r>
              <a:rPr lang="en-US" sz="500" kern="1200" spc="-114">
                <a:solidFill>
                  <a:schemeClr val="tx1"/>
                </a:solidFill>
                <a:latin typeface="+mn-lt"/>
                <a:ea typeface="+mn-ea"/>
                <a:cs typeface="+mn-cs"/>
              </a:rPr>
              <a:t> </a:t>
            </a:r>
            <a:r>
              <a:rPr lang="en-US" sz="500" kern="1200" spc="-35">
                <a:solidFill>
                  <a:schemeClr val="tx1"/>
                </a:solidFill>
                <a:latin typeface="+mn-lt"/>
                <a:ea typeface="+mn-ea"/>
                <a:cs typeface="+mn-cs"/>
              </a:rPr>
              <a:t>Text </a:t>
            </a:r>
            <a:r>
              <a:rPr lang="en-US" sz="500" kern="1200" spc="-10">
                <a:solidFill>
                  <a:schemeClr val="tx1"/>
                </a:solidFill>
                <a:latin typeface="+mn-lt"/>
                <a:ea typeface="+mn-ea"/>
                <a:cs typeface="+mn-cs"/>
              </a:rPr>
              <a:t>Analysis</a:t>
            </a:r>
            <a:endParaRPr lang="en-US" sz="500" kern="1200">
              <a:solidFill>
                <a:schemeClr val="tx1"/>
              </a:solidFill>
              <a:latin typeface="+mn-lt"/>
              <a:ea typeface="+mn-ea"/>
              <a:cs typeface="+mn-cs"/>
            </a:endParaRPr>
          </a:p>
          <a:p>
            <a:pPr>
              <a:lnSpc>
                <a:spcPct val="90000"/>
              </a:lnSpc>
              <a:spcBef>
                <a:spcPts val="1000"/>
              </a:spcBef>
            </a:pPr>
            <a:r>
              <a:rPr lang="en-US" sz="500" kern="1200">
                <a:solidFill>
                  <a:schemeClr val="tx1"/>
                </a:solidFill>
                <a:latin typeface="+mn-lt"/>
                <a:ea typeface="+mn-ea"/>
                <a:cs typeface="+mn-cs"/>
              </a:rPr>
              <a:t>∗</a:t>
            </a:r>
            <a:r>
              <a:rPr lang="en-US" sz="500" kern="1200" spc="305">
                <a:solidFill>
                  <a:schemeClr val="tx1"/>
                </a:solidFill>
                <a:latin typeface="+mn-lt"/>
                <a:ea typeface="+mn-ea"/>
                <a:cs typeface="+mn-cs"/>
              </a:rPr>
              <a:t> </a:t>
            </a:r>
            <a:r>
              <a:rPr lang="en-US" sz="500" kern="1200" spc="-10">
                <a:solidFill>
                  <a:schemeClr val="tx1"/>
                </a:solidFill>
                <a:latin typeface="+mn-lt"/>
                <a:ea typeface="+mn-ea"/>
                <a:cs typeface="+mn-cs"/>
              </a:rPr>
              <a:t>Visualization</a:t>
            </a:r>
            <a:endParaRPr lang="en-US" sz="500" kern="1200">
              <a:solidFill>
                <a:schemeClr val="tx1"/>
              </a:solidFill>
              <a:latin typeface="+mn-lt"/>
              <a:ea typeface="+mn-ea"/>
              <a:cs typeface="+mn-cs"/>
            </a:endParaRPr>
          </a:p>
        </p:txBody>
      </p:sp>
      <p:pic>
        <p:nvPicPr>
          <p:cNvPr id="6" name="Picture 5" descr="Financial graphs on a dark display">
            <a:extLst>
              <a:ext uri="{FF2B5EF4-FFF2-40B4-BE49-F238E27FC236}">
                <a16:creationId xmlns:a16="http://schemas.microsoft.com/office/drawing/2014/main" id="{FC69124A-BE25-6DD0-3195-3B7A160C4161}"/>
              </a:ext>
            </a:extLst>
          </p:cNvPr>
          <p:cNvPicPr>
            <a:picLocks noChangeAspect="1"/>
          </p:cNvPicPr>
          <p:nvPr/>
        </p:nvPicPr>
        <p:blipFill>
          <a:blip r:embed="rId2"/>
          <a:srcRect l="1443" r="7250" b="-2"/>
          <a:stretch>
            <a:fillRect/>
          </a:stretch>
        </p:blipFill>
        <p:spPr>
          <a:xfrm>
            <a:off x="20" y="-40"/>
            <a:ext cx="6095980" cy="4172827"/>
          </a:xfrm>
          <a:prstGeom prst="rect">
            <a:avLst/>
          </a:prstGeom>
        </p:spPr>
      </p:pic>
      <p:cxnSp>
        <p:nvCxnSpPr>
          <p:cNvPr id="10" name="Straight Connector 9">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object 2"/>
          <p:cNvSpPr txBox="1"/>
          <p:nvPr/>
        </p:nvSpPr>
        <p:spPr>
          <a:xfrm>
            <a:off x="6553200" y="979819"/>
            <a:ext cx="4685665" cy="3110230"/>
          </a:xfrm>
          <a:prstGeom prst="rect">
            <a:avLst/>
          </a:prstGeom>
        </p:spPr>
        <p:txBody>
          <a:bodyPr vert="horz" wrap="square" lIns="0" tIns="79375" rIns="0" bIns="0" rtlCol="0">
            <a:spAutoFit/>
          </a:bodyPr>
          <a:lstStyle/>
          <a:p>
            <a:pPr marL="12700">
              <a:spcBef>
                <a:spcPts val="625"/>
              </a:spcBef>
            </a:pPr>
            <a:r>
              <a:rPr sz="2200" dirty="0">
                <a:solidFill>
                  <a:srgbClr val="30B6FC"/>
                </a:solidFill>
                <a:latin typeface="Geneva"/>
                <a:cs typeface="Geneva"/>
              </a:rPr>
              <a:t>∗</a:t>
            </a:r>
            <a:r>
              <a:rPr sz="2200" spc="360" dirty="0">
                <a:solidFill>
                  <a:srgbClr val="30B6FC"/>
                </a:solidFill>
                <a:latin typeface="Geneva"/>
                <a:cs typeface="Geneva"/>
              </a:rPr>
              <a:t> </a:t>
            </a:r>
            <a:r>
              <a:rPr sz="2200" spc="-55" dirty="0">
                <a:solidFill>
                  <a:srgbClr val="FF0000"/>
                </a:solidFill>
                <a:latin typeface="Arial"/>
                <a:cs typeface="Arial"/>
              </a:rPr>
              <a:t>Python,</a:t>
            </a:r>
            <a:r>
              <a:rPr sz="2200" spc="-135" dirty="0">
                <a:solidFill>
                  <a:srgbClr val="FF0000"/>
                </a:solidFill>
                <a:latin typeface="Arial"/>
                <a:cs typeface="Arial"/>
              </a:rPr>
              <a:t> </a:t>
            </a:r>
            <a:r>
              <a:rPr sz="2200" spc="-245" dirty="0">
                <a:solidFill>
                  <a:srgbClr val="FF0000"/>
                </a:solidFill>
                <a:latin typeface="Arial"/>
                <a:cs typeface="Arial"/>
              </a:rPr>
              <a:t>C/C++</a:t>
            </a:r>
            <a:r>
              <a:rPr sz="2200" spc="-95" dirty="0">
                <a:solidFill>
                  <a:srgbClr val="FF0000"/>
                </a:solidFill>
                <a:latin typeface="Arial"/>
                <a:cs typeface="Arial"/>
              </a:rPr>
              <a:t> </a:t>
            </a:r>
            <a:r>
              <a:rPr sz="2200" spc="-130" dirty="0">
                <a:solidFill>
                  <a:srgbClr val="FF0000"/>
                </a:solidFill>
                <a:latin typeface="Arial"/>
                <a:cs typeface="Arial"/>
              </a:rPr>
              <a:t>Java,</a:t>
            </a:r>
            <a:r>
              <a:rPr sz="2200" spc="-120" dirty="0">
                <a:solidFill>
                  <a:srgbClr val="FF0000"/>
                </a:solidFill>
                <a:latin typeface="Arial"/>
                <a:cs typeface="Arial"/>
              </a:rPr>
              <a:t> </a:t>
            </a:r>
            <a:r>
              <a:rPr sz="2200" spc="-20" dirty="0">
                <a:solidFill>
                  <a:srgbClr val="FF0000"/>
                </a:solidFill>
                <a:latin typeface="Arial"/>
                <a:cs typeface="Arial"/>
              </a:rPr>
              <a:t>Perl</a:t>
            </a:r>
            <a:endParaRPr lang="en-US" sz="2200" dirty="0">
              <a:latin typeface="Arial"/>
              <a:cs typeface="Arial"/>
            </a:endParaRPr>
          </a:p>
          <a:p>
            <a:pPr marL="12700">
              <a:spcBef>
                <a:spcPts val="525"/>
              </a:spcBef>
            </a:pPr>
            <a:r>
              <a:rPr sz="2200" dirty="0">
                <a:solidFill>
                  <a:srgbClr val="30B6FC"/>
                </a:solidFill>
                <a:latin typeface="Geneva"/>
                <a:cs typeface="Geneva"/>
              </a:rPr>
              <a:t>∗</a:t>
            </a:r>
            <a:r>
              <a:rPr sz="2200" spc="355" dirty="0">
                <a:solidFill>
                  <a:srgbClr val="30B6FC"/>
                </a:solidFill>
                <a:latin typeface="Geneva"/>
                <a:cs typeface="Geneva"/>
              </a:rPr>
              <a:t> </a:t>
            </a:r>
            <a:r>
              <a:rPr sz="2200" spc="-90" dirty="0">
                <a:solidFill>
                  <a:srgbClr val="FF0000"/>
                </a:solidFill>
                <a:latin typeface="Arial"/>
                <a:cs typeface="Arial"/>
              </a:rPr>
              <a:t>Data</a:t>
            </a:r>
            <a:r>
              <a:rPr sz="2200" spc="-135" dirty="0">
                <a:solidFill>
                  <a:srgbClr val="FF0000"/>
                </a:solidFill>
                <a:latin typeface="Arial"/>
                <a:cs typeface="Arial"/>
              </a:rPr>
              <a:t> </a:t>
            </a:r>
            <a:r>
              <a:rPr sz="2200" spc="-35" dirty="0">
                <a:solidFill>
                  <a:srgbClr val="FF0000"/>
                </a:solidFill>
                <a:latin typeface="Arial"/>
                <a:cs typeface="Arial"/>
              </a:rPr>
              <a:t>Structure</a:t>
            </a:r>
            <a:r>
              <a:rPr sz="2200" spc="-160" dirty="0">
                <a:solidFill>
                  <a:srgbClr val="FF0000"/>
                </a:solidFill>
                <a:latin typeface="Arial"/>
                <a:cs typeface="Arial"/>
              </a:rPr>
              <a:t> </a:t>
            </a:r>
            <a:r>
              <a:rPr sz="2200" spc="-80" dirty="0">
                <a:solidFill>
                  <a:srgbClr val="FF0000"/>
                </a:solidFill>
                <a:latin typeface="Arial"/>
                <a:cs typeface="Arial"/>
              </a:rPr>
              <a:t>and</a:t>
            </a:r>
            <a:r>
              <a:rPr sz="2200" spc="-130" dirty="0">
                <a:solidFill>
                  <a:srgbClr val="FF0000"/>
                </a:solidFill>
                <a:latin typeface="Arial"/>
                <a:cs typeface="Arial"/>
              </a:rPr>
              <a:t> </a:t>
            </a:r>
            <a:r>
              <a:rPr sz="2200" spc="-10" dirty="0">
                <a:solidFill>
                  <a:srgbClr val="FF0000"/>
                </a:solidFill>
                <a:latin typeface="Arial"/>
                <a:cs typeface="Arial"/>
              </a:rPr>
              <a:t>Algorithm</a:t>
            </a:r>
            <a:endParaRPr lang="en-US" sz="2200" dirty="0">
              <a:latin typeface="Arial"/>
              <a:cs typeface="Arial"/>
            </a:endParaRPr>
          </a:p>
          <a:p>
            <a:pPr marL="12700">
              <a:spcBef>
                <a:spcPts val="530"/>
              </a:spcBef>
            </a:pPr>
            <a:r>
              <a:rPr sz="2200" dirty="0">
                <a:solidFill>
                  <a:srgbClr val="30B6FC"/>
                </a:solidFill>
                <a:latin typeface="Geneva"/>
                <a:cs typeface="Geneva"/>
              </a:rPr>
              <a:t>∗</a:t>
            </a:r>
            <a:r>
              <a:rPr sz="2200" spc="350" dirty="0">
                <a:solidFill>
                  <a:srgbClr val="30B6FC"/>
                </a:solidFill>
                <a:latin typeface="Geneva"/>
                <a:cs typeface="Geneva"/>
              </a:rPr>
              <a:t> </a:t>
            </a:r>
            <a:r>
              <a:rPr sz="2200" spc="-110" dirty="0">
                <a:solidFill>
                  <a:srgbClr val="00AF50"/>
                </a:solidFill>
                <a:latin typeface="Arial"/>
                <a:cs typeface="Arial"/>
              </a:rPr>
              <a:t>UNIX,</a:t>
            </a:r>
            <a:r>
              <a:rPr sz="2200" spc="-120" dirty="0">
                <a:solidFill>
                  <a:srgbClr val="00AF50"/>
                </a:solidFill>
                <a:latin typeface="Arial"/>
                <a:cs typeface="Arial"/>
              </a:rPr>
              <a:t> </a:t>
            </a:r>
            <a:r>
              <a:rPr sz="2200" spc="-60" dirty="0">
                <a:solidFill>
                  <a:srgbClr val="00AF50"/>
                </a:solidFill>
                <a:latin typeface="Arial"/>
                <a:cs typeface="Arial"/>
              </a:rPr>
              <a:t>Linux,</a:t>
            </a:r>
            <a:r>
              <a:rPr sz="2200" spc="-125" dirty="0">
                <a:solidFill>
                  <a:srgbClr val="00AF50"/>
                </a:solidFill>
                <a:latin typeface="Arial"/>
                <a:cs typeface="Arial"/>
              </a:rPr>
              <a:t> </a:t>
            </a:r>
            <a:r>
              <a:rPr sz="2200" spc="-105" dirty="0">
                <a:solidFill>
                  <a:srgbClr val="00AF50"/>
                </a:solidFill>
                <a:latin typeface="Arial"/>
                <a:cs typeface="Arial"/>
              </a:rPr>
              <a:t>Solaris</a:t>
            </a:r>
            <a:r>
              <a:rPr sz="2200" spc="-135" dirty="0">
                <a:solidFill>
                  <a:srgbClr val="00AF50"/>
                </a:solidFill>
                <a:latin typeface="Arial"/>
                <a:cs typeface="Arial"/>
              </a:rPr>
              <a:t> </a:t>
            </a:r>
            <a:r>
              <a:rPr sz="2200" spc="-80" dirty="0">
                <a:solidFill>
                  <a:srgbClr val="00AF50"/>
                </a:solidFill>
                <a:latin typeface="Arial"/>
                <a:cs typeface="Arial"/>
              </a:rPr>
              <a:t>and</a:t>
            </a:r>
            <a:r>
              <a:rPr sz="2200" spc="-130" dirty="0">
                <a:solidFill>
                  <a:srgbClr val="00AF50"/>
                </a:solidFill>
                <a:latin typeface="Arial"/>
                <a:cs typeface="Arial"/>
              </a:rPr>
              <a:t> </a:t>
            </a:r>
            <a:r>
              <a:rPr sz="2200" spc="-165" dirty="0">
                <a:solidFill>
                  <a:srgbClr val="00AF50"/>
                </a:solidFill>
                <a:latin typeface="Arial"/>
                <a:cs typeface="Arial"/>
              </a:rPr>
              <a:t>MS</a:t>
            </a:r>
            <a:r>
              <a:rPr sz="2200" spc="-125" dirty="0">
                <a:solidFill>
                  <a:srgbClr val="00AF50"/>
                </a:solidFill>
                <a:latin typeface="Arial"/>
                <a:cs typeface="Arial"/>
              </a:rPr>
              <a:t> </a:t>
            </a:r>
            <a:r>
              <a:rPr sz="2200" spc="-10" dirty="0">
                <a:solidFill>
                  <a:srgbClr val="00AF50"/>
                </a:solidFill>
                <a:latin typeface="Arial"/>
                <a:cs typeface="Arial"/>
              </a:rPr>
              <a:t>Windows</a:t>
            </a:r>
            <a:endParaRPr lang="en-US" sz="2200" dirty="0">
              <a:latin typeface="Arial"/>
              <a:cs typeface="Arial"/>
            </a:endParaRPr>
          </a:p>
          <a:p>
            <a:pPr marL="12700">
              <a:spcBef>
                <a:spcPts val="530"/>
              </a:spcBef>
            </a:pPr>
            <a:r>
              <a:rPr sz="2200" dirty="0">
                <a:solidFill>
                  <a:srgbClr val="30B6FC"/>
                </a:solidFill>
                <a:latin typeface="Geneva"/>
                <a:cs typeface="Geneva"/>
              </a:rPr>
              <a:t>∗</a:t>
            </a:r>
            <a:r>
              <a:rPr sz="2200" spc="390" dirty="0">
                <a:solidFill>
                  <a:srgbClr val="30B6FC"/>
                </a:solidFill>
                <a:latin typeface="Geneva"/>
                <a:cs typeface="Geneva"/>
              </a:rPr>
              <a:t> </a:t>
            </a:r>
            <a:r>
              <a:rPr sz="2200" spc="-229" dirty="0">
                <a:solidFill>
                  <a:srgbClr val="00AF50"/>
                </a:solidFill>
                <a:latin typeface="Arial"/>
                <a:cs typeface="Arial"/>
              </a:rPr>
              <a:t>SQL-</a:t>
            </a:r>
            <a:r>
              <a:rPr sz="2200" spc="-105" dirty="0">
                <a:solidFill>
                  <a:srgbClr val="00AF50"/>
                </a:solidFill>
                <a:latin typeface="Arial"/>
                <a:cs typeface="Arial"/>
              </a:rPr>
              <a:t>based</a:t>
            </a:r>
            <a:r>
              <a:rPr sz="2200" spc="-125" dirty="0">
                <a:solidFill>
                  <a:srgbClr val="00AF50"/>
                </a:solidFill>
                <a:latin typeface="Arial"/>
                <a:cs typeface="Arial"/>
              </a:rPr>
              <a:t> </a:t>
            </a:r>
            <a:r>
              <a:rPr sz="2200" spc="-90" dirty="0">
                <a:solidFill>
                  <a:srgbClr val="00AF50"/>
                </a:solidFill>
                <a:latin typeface="Arial"/>
                <a:cs typeface="Arial"/>
              </a:rPr>
              <a:t>Technologies</a:t>
            </a:r>
            <a:r>
              <a:rPr sz="2200" spc="-105" dirty="0">
                <a:solidFill>
                  <a:srgbClr val="00AF50"/>
                </a:solidFill>
                <a:latin typeface="Arial"/>
                <a:cs typeface="Arial"/>
              </a:rPr>
              <a:t> </a:t>
            </a:r>
            <a:r>
              <a:rPr sz="2200" spc="-10" dirty="0">
                <a:solidFill>
                  <a:srgbClr val="00AF50"/>
                </a:solidFill>
                <a:latin typeface="Arial"/>
                <a:cs typeface="Arial"/>
              </a:rPr>
              <a:t>(e.g.</a:t>
            </a:r>
            <a:endParaRPr lang="en-US" sz="2200" dirty="0">
              <a:latin typeface="Arial"/>
              <a:cs typeface="Arial"/>
            </a:endParaRPr>
          </a:p>
          <a:p>
            <a:pPr marL="286385"/>
            <a:r>
              <a:rPr sz="2200" spc="-120" dirty="0">
                <a:solidFill>
                  <a:srgbClr val="00AF50"/>
                </a:solidFill>
                <a:latin typeface="Arial"/>
                <a:cs typeface="Arial"/>
              </a:rPr>
              <a:t>PostgreSQL</a:t>
            </a:r>
            <a:r>
              <a:rPr sz="2200" spc="-105" dirty="0">
                <a:solidFill>
                  <a:srgbClr val="00AF50"/>
                </a:solidFill>
                <a:latin typeface="Arial"/>
                <a:cs typeface="Arial"/>
              </a:rPr>
              <a:t> </a:t>
            </a:r>
            <a:r>
              <a:rPr sz="2200" spc="-80" dirty="0">
                <a:solidFill>
                  <a:srgbClr val="00AF50"/>
                </a:solidFill>
                <a:latin typeface="Arial"/>
                <a:cs typeface="Arial"/>
              </a:rPr>
              <a:t>and</a:t>
            </a:r>
            <a:r>
              <a:rPr sz="2200" spc="-90" dirty="0">
                <a:solidFill>
                  <a:srgbClr val="00AF50"/>
                </a:solidFill>
                <a:latin typeface="Arial"/>
                <a:cs typeface="Arial"/>
              </a:rPr>
              <a:t> </a:t>
            </a:r>
            <a:r>
              <a:rPr sz="2200" spc="-10" dirty="0">
                <a:solidFill>
                  <a:srgbClr val="00AF50"/>
                </a:solidFill>
                <a:latin typeface="Arial"/>
                <a:cs typeface="Arial"/>
              </a:rPr>
              <a:t>MySQL)</a:t>
            </a:r>
            <a:endParaRPr lang="en-US" sz="2200" dirty="0">
              <a:latin typeface="Arial"/>
              <a:cs typeface="Arial"/>
            </a:endParaRPr>
          </a:p>
          <a:p>
            <a:pPr marL="12700">
              <a:spcBef>
                <a:spcPts val="530"/>
              </a:spcBef>
            </a:pPr>
            <a:r>
              <a:rPr sz="2200" dirty="0">
                <a:solidFill>
                  <a:srgbClr val="30B6FC"/>
                </a:solidFill>
                <a:latin typeface="Geneva"/>
                <a:cs typeface="Geneva"/>
              </a:rPr>
              <a:t>∗</a:t>
            </a:r>
            <a:r>
              <a:rPr sz="2200" spc="390" dirty="0">
                <a:solidFill>
                  <a:srgbClr val="30B6FC"/>
                </a:solidFill>
                <a:latin typeface="Geneva"/>
                <a:cs typeface="Geneva"/>
              </a:rPr>
              <a:t> </a:t>
            </a:r>
            <a:r>
              <a:rPr sz="2200" spc="-50" dirty="0">
                <a:solidFill>
                  <a:srgbClr val="063D86"/>
                </a:solidFill>
                <a:latin typeface="Arial"/>
                <a:cs typeface="Arial"/>
              </a:rPr>
              <a:t>Statistical</a:t>
            </a:r>
            <a:r>
              <a:rPr sz="2200" spc="-150" dirty="0">
                <a:solidFill>
                  <a:srgbClr val="063D86"/>
                </a:solidFill>
                <a:latin typeface="Arial"/>
                <a:cs typeface="Arial"/>
              </a:rPr>
              <a:t> </a:t>
            </a:r>
            <a:r>
              <a:rPr sz="2200" spc="-105" dirty="0">
                <a:solidFill>
                  <a:srgbClr val="063D86"/>
                </a:solidFill>
                <a:latin typeface="Arial"/>
                <a:cs typeface="Arial"/>
              </a:rPr>
              <a:t>Analysis</a:t>
            </a:r>
            <a:r>
              <a:rPr sz="2200" spc="-120" dirty="0">
                <a:solidFill>
                  <a:srgbClr val="063D86"/>
                </a:solidFill>
                <a:latin typeface="Arial"/>
                <a:cs typeface="Arial"/>
              </a:rPr>
              <a:t> </a:t>
            </a:r>
            <a:r>
              <a:rPr sz="2200" spc="-80" dirty="0">
                <a:solidFill>
                  <a:srgbClr val="063D86"/>
                </a:solidFill>
                <a:latin typeface="Arial"/>
                <a:cs typeface="Arial"/>
              </a:rPr>
              <a:t>and</a:t>
            </a:r>
            <a:r>
              <a:rPr sz="2200" spc="-110" dirty="0">
                <a:solidFill>
                  <a:srgbClr val="063D86"/>
                </a:solidFill>
                <a:latin typeface="Arial"/>
                <a:cs typeface="Arial"/>
              </a:rPr>
              <a:t> </a:t>
            </a:r>
            <a:r>
              <a:rPr sz="2200" spc="-10" dirty="0">
                <a:solidFill>
                  <a:srgbClr val="063D86"/>
                </a:solidFill>
                <a:latin typeface="Arial"/>
                <a:cs typeface="Arial"/>
              </a:rPr>
              <a:t>Modeling</a:t>
            </a:r>
            <a:endParaRPr lang="en-US" sz="2200" dirty="0">
              <a:latin typeface="Arial"/>
              <a:cs typeface="Arial"/>
            </a:endParaRPr>
          </a:p>
          <a:p>
            <a:pPr marL="286385" marR="361315" indent="-274320">
              <a:spcBef>
                <a:spcPts val="530"/>
              </a:spcBef>
            </a:pPr>
            <a:r>
              <a:rPr sz="2200" dirty="0">
                <a:solidFill>
                  <a:srgbClr val="30B6FC"/>
                </a:solidFill>
                <a:latin typeface="Geneva"/>
                <a:cs typeface="Geneva"/>
              </a:rPr>
              <a:t>∗</a:t>
            </a:r>
            <a:r>
              <a:rPr sz="2200" spc="385" dirty="0">
                <a:solidFill>
                  <a:srgbClr val="30B6FC"/>
                </a:solidFill>
                <a:latin typeface="Geneva"/>
                <a:cs typeface="Geneva"/>
              </a:rPr>
              <a:t> </a:t>
            </a:r>
            <a:r>
              <a:rPr sz="2200" spc="-90" dirty="0">
                <a:solidFill>
                  <a:srgbClr val="006FC0"/>
                </a:solidFill>
                <a:latin typeface="Arial"/>
                <a:cs typeface="Arial"/>
              </a:rPr>
              <a:t>Hadoop-</a:t>
            </a:r>
            <a:r>
              <a:rPr sz="2200" spc="-100" dirty="0">
                <a:solidFill>
                  <a:srgbClr val="006FC0"/>
                </a:solidFill>
                <a:latin typeface="Arial"/>
                <a:cs typeface="Arial"/>
              </a:rPr>
              <a:t>based</a:t>
            </a:r>
            <a:r>
              <a:rPr sz="2200" spc="-105" dirty="0">
                <a:solidFill>
                  <a:srgbClr val="006FC0"/>
                </a:solidFill>
                <a:latin typeface="Arial"/>
                <a:cs typeface="Arial"/>
              </a:rPr>
              <a:t> </a:t>
            </a:r>
            <a:r>
              <a:rPr sz="2200" spc="-90" dirty="0">
                <a:solidFill>
                  <a:srgbClr val="006FC0"/>
                </a:solidFill>
                <a:latin typeface="Arial"/>
                <a:cs typeface="Arial"/>
              </a:rPr>
              <a:t>Technologies</a:t>
            </a:r>
            <a:r>
              <a:rPr sz="2200" spc="-125" dirty="0">
                <a:solidFill>
                  <a:srgbClr val="006FC0"/>
                </a:solidFill>
                <a:latin typeface="Arial"/>
                <a:cs typeface="Arial"/>
              </a:rPr>
              <a:t> </a:t>
            </a:r>
            <a:r>
              <a:rPr sz="2200" spc="-10" dirty="0">
                <a:solidFill>
                  <a:srgbClr val="006FC0"/>
                </a:solidFill>
                <a:latin typeface="Arial"/>
                <a:cs typeface="Arial"/>
              </a:rPr>
              <a:t>(e.g. </a:t>
            </a:r>
            <a:r>
              <a:rPr sz="2200" spc="-90" dirty="0">
                <a:solidFill>
                  <a:srgbClr val="006FC0"/>
                </a:solidFill>
                <a:latin typeface="Arial"/>
                <a:cs typeface="Arial"/>
              </a:rPr>
              <a:t>MapReduce,</a:t>
            </a:r>
            <a:r>
              <a:rPr sz="2200" spc="-110" dirty="0">
                <a:solidFill>
                  <a:srgbClr val="006FC0"/>
                </a:solidFill>
                <a:latin typeface="Arial"/>
                <a:cs typeface="Arial"/>
              </a:rPr>
              <a:t> </a:t>
            </a:r>
            <a:r>
              <a:rPr sz="2200" spc="-85" dirty="0">
                <a:solidFill>
                  <a:srgbClr val="006FC0"/>
                </a:solidFill>
                <a:latin typeface="Arial"/>
                <a:cs typeface="Arial"/>
              </a:rPr>
              <a:t>Hive,</a:t>
            </a:r>
            <a:r>
              <a:rPr sz="2200" spc="-105" dirty="0">
                <a:solidFill>
                  <a:srgbClr val="006FC0"/>
                </a:solidFill>
                <a:latin typeface="Arial"/>
                <a:cs typeface="Arial"/>
              </a:rPr>
              <a:t> </a:t>
            </a:r>
            <a:r>
              <a:rPr sz="2200" spc="-100" dirty="0">
                <a:solidFill>
                  <a:srgbClr val="006FC0"/>
                </a:solidFill>
                <a:latin typeface="Arial"/>
                <a:cs typeface="Arial"/>
              </a:rPr>
              <a:t>Pig,</a:t>
            </a:r>
            <a:r>
              <a:rPr sz="2200" spc="-114" dirty="0">
                <a:solidFill>
                  <a:srgbClr val="006FC0"/>
                </a:solidFill>
                <a:latin typeface="Arial"/>
                <a:cs typeface="Arial"/>
              </a:rPr>
              <a:t> </a:t>
            </a:r>
            <a:r>
              <a:rPr sz="2200" spc="-100" dirty="0">
                <a:solidFill>
                  <a:srgbClr val="006FC0"/>
                </a:solidFill>
                <a:latin typeface="Arial"/>
                <a:cs typeface="Arial"/>
              </a:rPr>
              <a:t>Spark,</a:t>
            </a:r>
            <a:r>
              <a:rPr sz="2200" spc="-120" dirty="0">
                <a:solidFill>
                  <a:srgbClr val="006FC0"/>
                </a:solidFill>
                <a:latin typeface="Arial"/>
                <a:cs typeface="Arial"/>
              </a:rPr>
              <a:t> </a:t>
            </a:r>
            <a:r>
              <a:rPr sz="2200" spc="-10" dirty="0">
                <a:solidFill>
                  <a:srgbClr val="006FC0"/>
                </a:solidFill>
                <a:latin typeface="Arial"/>
                <a:cs typeface="Arial"/>
              </a:rPr>
              <a:t>etc.)</a:t>
            </a:r>
            <a:endParaRPr lang="en-US" sz="2200" dirty="0">
              <a:latin typeface="Arial"/>
              <a:cs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4553733" y="548464"/>
            <a:ext cx="6798541" cy="1675623"/>
          </a:xfrm>
          <a:prstGeom prst="rect">
            <a:avLst/>
          </a:prstGeom>
        </p:spPr>
        <p:txBody>
          <a:bodyPr vert="horz" lIns="91440" tIns="45720" rIns="91440" bIns="45720" rtlCol="0" anchor="b">
            <a:normAutofit/>
          </a:bodyPr>
          <a:lstStyle/>
          <a:p>
            <a:pPr marL="2858135"/>
            <a:r>
              <a:rPr lang="en-US" sz="4000" spc="-80"/>
              <a:t>Overview</a:t>
            </a:r>
          </a:p>
        </p:txBody>
      </p:sp>
      <p:pic>
        <p:nvPicPr>
          <p:cNvPr id="6" name="Picture 5">
            <a:extLst>
              <a:ext uri="{FF2B5EF4-FFF2-40B4-BE49-F238E27FC236}">
                <a16:creationId xmlns:a16="http://schemas.microsoft.com/office/drawing/2014/main" id="{E47B2555-4324-2EDF-C23B-674FFCA4D32F}"/>
              </a:ext>
            </a:extLst>
          </p:cNvPr>
          <p:cNvPicPr>
            <a:picLocks noChangeAspect="1"/>
          </p:cNvPicPr>
          <p:nvPr/>
        </p:nvPicPr>
        <p:blipFill>
          <a:blip r:embed="rId2"/>
          <a:srcRect l="29622" r="33664"/>
          <a:stretch>
            <a:fillRect/>
          </a:stretch>
        </p:blipFill>
        <p:spPr>
          <a:xfrm>
            <a:off x="1" y="10"/>
            <a:ext cx="4196496" cy="6857990"/>
          </a:xfrm>
          <a:prstGeom prst="rect">
            <a:avLst/>
          </a:prstGeom>
          <a:effectLst/>
        </p:spPr>
      </p:pic>
      <p:graphicFrame>
        <p:nvGraphicFramePr>
          <p:cNvPr id="5" name="object 2">
            <a:extLst>
              <a:ext uri="{FF2B5EF4-FFF2-40B4-BE49-F238E27FC236}">
                <a16:creationId xmlns:a16="http://schemas.microsoft.com/office/drawing/2014/main" id="{47C7486B-0351-3ED3-CFCA-6D355FB9E4B2}"/>
              </a:ext>
            </a:extLst>
          </p:cNvPr>
          <p:cNvGraphicFramePr/>
          <p:nvPr>
            <p:extLst>
              <p:ext uri="{D42A27DB-BD31-4B8C-83A1-F6EECF244321}">
                <p14:modId xmlns:p14="http://schemas.microsoft.com/office/powerpoint/2010/main" val="4109567646"/>
              </p:ext>
            </p:extLst>
          </p:nvPr>
        </p:nvGraphicFramePr>
        <p:xfrm>
          <a:off x="4553734" y="2409830"/>
          <a:ext cx="6798539" cy="37052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4553733" y="548464"/>
            <a:ext cx="6798541" cy="1675623"/>
          </a:xfrm>
          <a:prstGeom prst="rect">
            <a:avLst/>
          </a:prstGeom>
        </p:spPr>
        <p:txBody>
          <a:bodyPr vert="horz" lIns="0" tIns="13335" rIns="0" bIns="0" rtlCol="0" anchor="b">
            <a:normAutofit/>
          </a:bodyPr>
          <a:lstStyle/>
          <a:p>
            <a:pPr marL="1635760">
              <a:spcBef>
                <a:spcPts val="105"/>
              </a:spcBef>
            </a:pPr>
            <a:r>
              <a:rPr lang="en-US" sz="4000" spc="-260"/>
              <a:t>The </a:t>
            </a:r>
            <a:r>
              <a:rPr lang="en-US" sz="4000" spc="-125"/>
              <a:t>Origins</a:t>
            </a:r>
            <a:r>
              <a:rPr lang="en-US" sz="4000" spc="-260"/>
              <a:t> </a:t>
            </a:r>
            <a:r>
              <a:rPr lang="en-US" sz="4000" spc="125"/>
              <a:t>of</a:t>
            </a:r>
            <a:r>
              <a:rPr lang="en-US" sz="4000" spc="-260"/>
              <a:t> </a:t>
            </a:r>
            <a:r>
              <a:rPr lang="en-US" sz="4000" spc="-505"/>
              <a:t>HDFS</a:t>
            </a:r>
          </a:p>
        </p:txBody>
      </p:sp>
      <p:pic>
        <p:nvPicPr>
          <p:cNvPr id="5" name="Picture 4">
            <a:extLst>
              <a:ext uri="{FF2B5EF4-FFF2-40B4-BE49-F238E27FC236}">
                <a16:creationId xmlns:a16="http://schemas.microsoft.com/office/drawing/2014/main" id="{286E175D-1CDF-D38E-CA6E-7F895DCCFCD5}"/>
              </a:ext>
            </a:extLst>
          </p:cNvPr>
          <p:cNvPicPr>
            <a:picLocks noChangeAspect="1"/>
          </p:cNvPicPr>
          <p:nvPr/>
        </p:nvPicPr>
        <p:blipFill>
          <a:blip r:embed="rId2"/>
          <a:srcRect l="5289" r="53865" b="-1"/>
          <a:stretch>
            <a:fillRect/>
          </a:stretch>
        </p:blipFill>
        <p:spPr>
          <a:xfrm>
            <a:off x="1" y="10"/>
            <a:ext cx="4196496" cy="6857990"/>
          </a:xfrm>
          <a:prstGeom prst="rect">
            <a:avLst/>
          </a:prstGeom>
          <a:effectLst/>
        </p:spPr>
      </p:pic>
      <p:sp>
        <p:nvSpPr>
          <p:cNvPr id="2" name="object 2"/>
          <p:cNvSpPr txBox="1">
            <a:spLocks noGrp="1"/>
          </p:cNvSpPr>
          <p:nvPr>
            <p:ph idx="1"/>
          </p:nvPr>
        </p:nvSpPr>
        <p:spPr>
          <a:xfrm>
            <a:off x="4553734" y="2409830"/>
            <a:ext cx="6798539" cy="3705217"/>
          </a:xfrm>
          <a:prstGeom prst="rect">
            <a:avLst/>
          </a:prstGeom>
        </p:spPr>
        <p:txBody>
          <a:bodyPr vert="horz" lIns="0" tIns="88900" rIns="0" bIns="0" rtlCol="0">
            <a:normAutofit/>
          </a:bodyPr>
          <a:lstStyle/>
          <a:p>
            <a:pPr marL="12700">
              <a:spcBef>
                <a:spcPts val="700"/>
              </a:spcBef>
            </a:pPr>
            <a:r>
              <a:rPr lang="en-US" sz="2000">
                <a:latin typeface="Geneva"/>
                <a:cs typeface="Geneva"/>
              </a:rPr>
              <a:t>∗</a:t>
            </a:r>
            <a:r>
              <a:rPr lang="en-US" sz="2000" spc="220">
                <a:latin typeface="Geneva"/>
                <a:cs typeface="Geneva"/>
              </a:rPr>
              <a:t> </a:t>
            </a:r>
            <a:r>
              <a:rPr lang="en-US" sz="2000" spc="-135"/>
              <a:t>A</a:t>
            </a:r>
            <a:r>
              <a:rPr lang="en-US" sz="2000" spc="-105"/>
              <a:t> </a:t>
            </a:r>
            <a:r>
              <a:rPr lang="en-US" sz="2000" spc="-10"/>
              <a:t>distributed</a:t>
            </a:r>
            <a:r>
              <a:rPr lang="en-US" sz="2000" spc="-114"/>
              <a:t> </a:t>
            </a:r>
            <a:r>
              <a:rPr lang="en-US" sz="2000" spc="-50"/>
              <a:t>storage</a:t>
            </a:r>
            <a:r>
              <a:rPr lang="en-US" sz="2000" spc="-125"/>
              <a:t> </a:t>
            </a:r>
            <a:r>
              <a:rPr lang="en-US" sz="2000" spc="-65"/>
              <a:t>layer</a:t>
            </a:r>
            <a:r>
              <a:rPr lang="en-US" sz="2000" spc="-110"/>
              <a:t> </a:t>
            </a:r>
            <a:r>
              <a:rPr lang="en-US" sz="2000" spc="50"/>
              <a:t>that</a:t>
            </a:r>
            <a:r>
              <a:rPr lang="en-US" sz="2000" spc="-114"/>
              <a:t> </a:t>
            </a:r>
            <a:r>
              <a:rPr lang="en-US" sz="2000" spc="-50"/>
              <a:t>satisfied</a:t>
            </a:r>
            <a:r>
              <a:rPr lang="en-US" sz="2000" spc="-125"/>
              <a:t> </a:t>
            </a:r>
            <a:r>
              <a:rPr lang="en-US" sz="2000"/>
              <a:t>the</a:t>
            </a:r>
            <a:r>
              <a:rPr lang="en-US" sz="2000" spc="-105"/>
              <a:t> </a:t>
            </a:r>
            <a:r>
              <a:rPr lang="en-US" sz="2000"/>
              <a:t>following</a:t>
            </a:r>
            <a:r>
              <a:rPr lang="en-US" sz="2000" spc="-80"/>
              <a:t> </a:t>
            </a:r>
            <a:r>
              <a:rPr lang="en-US" sz="2000" spc="-10"/>
              <a:t>requirements</a:t>
            </a:r>
            <a:endParaRPr lang="en-US" sz="2000">
              <a:latin typeface="Geneva"/>
              <a:cs typeface="Geneva"/>
            </a:endParaRPr>
          </a:p>
          <a:p>
            <a:pPr marL="314325">
              <a:spcBef>
                <a:spcPts val="545"/>
              </a:spcBef>
            </a:pPr>
            <a:r>
              <a:rPr lang="en-US" sz="2000">
                <a:latin typeface="Geneva"/>
                <a:cs typeface="Geneva"/>
              </a:rPr>
              <a:t>∗</a:t>
            </a:r>
            <a:r>
              <a:rPr lang="en-US" sz="2000" spc="300">
                <a:latin typeface="Geneva"/>
                <a:cs typeface="Geneva"/>
              </a:rPr>
              <a:t> </a:t>
            </a:r>
            <a:r>
              <a:rPr lang="en-US" sz="2000" spc="-10"/>
              <a:t>schemaless</a:t>
            </a:r>
          </a:p>
          <a:p>
            <a:pPr marL="314325">
              <a:spcBef>
                <a:spcPts val="530"/>
              </a:spcBef>
            </a:pPr>
            <a:r>
              <a:rPr lang="en-US" sz="2000">
                <a:latin typeface="Geneva"/>
                <a:cs typeface="Geneva"/>
              </a:rPr>
              <a:t>∗</a:t>
            </a:r>
            <a:r>
              <a:rPr lang="en-US" sz="2000" spc="305">
                <a:latin typeface="Geneva"/>
                <a:cs typeface="Geneva"/>
              </a:rPr>
              <a:t> </a:t>
            </a:r>
            <a:r>
              <a:rPr lang="en-US" sz="2000" spc="-10"/>
              <a:t>durable</a:t>
            </a:r>
          </a:p>
          <a:p>
            <a:pPr marL="314325">
              <a:spcBef>
                <a:spcPts val="530"/>
              </a:spcBef>
            </a:pPr>
            <a:r>
              <a:rPr lang="en-US" sz="2000">
                <a:latin typeface="Geneva"/>
                <a:cs typeface="Geneva"/>
              </a:rPr>
              <a:t>∗</a:t>
            </a:r>
            <a:r>
              <a:rPr lang="en-US" sz="2000" spc="385">
                <a:latin typeface="Geneva"/>
                <a:cs typeface="Geneva"/>
              </a:rPr>
              <a:t> </a:t>
            </a:r>
            <a:r>
              <a:rPr lang="en-US" sz="2000" spc="-85"/>
              <a:t>capable</a:t>
            </a:r>
            <a:r>
              <a:rPr lang="en-US" sz="2000" spc="-130"/>
              <a:t> </a:t>
            </a:r>
            <a:r>
              <a:rPr lang="en-US" sz="2000" spc="60"/>
              <a:t>of</a:t>
            </a:r>
            <a:r>
              <a:rPr lang="en-US" sz="2000" spc="-110"/>
              <a:t> </a:t>
            </a:r>
            <a:r>
              <a:rPr lang="en-US" sz="2000" spc="-50"/>
              <a:t>handling</a:t>
            </a:r>
            <a:r>
              <a:rPr lang="en-US" sz="2000" spc="-130"/>
              <a:t> </a:t>
            </a:r>
            <a:r>
              <a:rPr lang="en-US" sz="2000" spc="-30"/>
              <a:t>component</a:t>
            </a:r>
            <a:r>
              <a:rPr lang="en-US" sz="2000" spc="-110"/>
              <a:t> </a:t>
            </a:r>
            <a:r>
              <a:rPr lang="en-US" sz="2000" spc="-10"/>
              <a:t>failure</a:t>
            </a:r>
          </a:p>
          <a:p>
            <a:pPr marL="314325">
              <a:spcBef>
                <a:spcPts val="525"/>
              </a:spcBef>
            </a:pPr>
            <a:r>
              <a:rPr lang="en-US" sz="2000">
                <a:latin typeface="Geneva"/>
                <a:cs typeface="Geneva"/>
              </a:rPr>
              <a:t>∗</a:t>
            </a:r>
            <a:r>
              <a:rPr lang="en-US" sz="2000" spc="355">
                <a:latin typeface="Geneva"/>
                <a:cs typeface="Geneva"/>
              </a:rPr>
              <a:t> </a:t>
            </a:r>
            <a:r>
              <a:rPr lang="en-US" sz="2000" spc="-40"/>
              <a:t>automatically</a:t>
            </a:r>
            <a:r>
              <a:rPr lang="en-US" sz="2000" spc="-150"/>
              <a:t> </a:t>
            </a:r>
            <a:r>
              <a:rPr lang="en-US" sz="2000" spc="-10"/>
              <a:t>rebalanced</a:t>
            </a:r>
          </a:p>
          <a:p>
            <a:pPr marL="12700">
              <a:spcBef>
                <a:spcPts val="560"/>
              </a:spcBef>
            </a:pPr>
            <a:r>
              <a:rPr lang="en-US" sz="2000">
                <a:latin typeface="Geneva"/>
                <a:cs typeface="Geneva"/>
              </a:rPr>
              <a:t>∗</a:t>
            </a:r>
            <a:r>
              <a:rPr lang="en-US" sz="2000" spc="190">
                <a:latin typeface="Geneva"/>
                <a:cs typeface="Geneva"/>
              </a:rPr>
              <a:t> </a:t>
            </a:r>
            <a:r>
              <a:rPr lang="en-US" sz="2000" i="1" spc="-85">
                <a:latin typeface="Arial"/>
                <a:cs typeface="Arial"/>
              </a:rPr>
              <a:t>October</a:t>
            </a:r>
            <a:r>
              <a:rPr lang="en-US" sz="2000" i="1" spc="-145">
                <a:latin typeface="Arial"/>
                <a:cs typeface="Arial"/>
              </a:rPr>
              <a:t> </a:t>
            </a:r>
            <a:r>
              <a:rPr lang="en-US" sz="2000" i="1" spc="-150">
                <a:latin typeface="Arial"/>
                <a:cs typeface="Arial"/>
              </a:rPr>
              <a:t>2003, </a:t>
            </a:r>
            <a:r>
              <a:rPr lang="en-US" sz="2000" i="1" spc="-165">
                <a:latin typeface="Arial"/>
                <a:cs typeface="Arial"/>
              </a:rPr>
              <a:t>Google</a:t>
            </a:r>
            <a:r>
              <a:rPr lang="en-US" sz="2000" i="1" spc="-155">
                <a:latin typeface="Arial"/>
                <a:cs typeface="Arial"/>
              </a:rPr>
              <a:t> File </a:t>
            </a:r>
            <a:r>
              <a:rPr lang="en-US" sz="2000" i="1" spc="-10">
                <a:latin typeface="Arial"/>
                <a:cs typeface="Arial"/>
              </a:rPr>
              <a:t>System</a:t>
            </a:r>
            <a:endParaRPr lang="en-US" sz="2000">
              <a:latin typeface="Arial"/>
              <a:cs typeface="Arial"/>
            </a:endParaRPr>
          </a:p>
          <a:p>
            <a:pPr marL="286385" marR="333375" indent="-274320">
              <a:spcBef>
                <a:spcPts val="575"/>
              </a:spcBef>
            </a:pPr>
            <a:r>
              <a:rPr lang="en-US" sz="2000">
                <a:latin typeface="Geneva"/>
                <a:cs typeface="Geneva"/>
              </a:rPr>
              <a:t>∗</a:t>
            </a:r>
            <a:r>
              <a:rPr lang="en-US" sz="2000" spc="200">
                <a:latin typeface="Geneva"/>
                <a:cs typeface="Geneva"/>
              </a:rPr>
              <a:t> </a:t>
            </a:r>
            <a:r>
              <a:rPr lang="en-US" sz="2000" spc="-40"/>
              <a:t>Nutch</a:t>
            </a:r>
            <a:r>
              <a:rPr lang="en-US" sz="2000" spc="-120"/>
              <a:t> </a:t>
            </a:r>
            <a:r>
              <a:rPr lang="en-US" sz="2000" spc="-25"/>
              <a:t>Distributed</a:t>
            </a:r>
            <a:r>
              <a:rPr lang="en-US" sz="2000" spc="-125"/>
              <a:t> </a:t>
            </a:r>
            <a:r>
              <a:rPr lang="en-US" sz="2000" spc="-120"/>
              <a:t>File</a:t>
            </a:r>
            <a:r>
              <a:rPr lang="en-US" sz="2000" spc="-105"/>
              <a:t> </a:t>
            </a:r>
            <a:r>
              <a:rPr lang="en-US" sz="2000" spc="-110"/>
              <a:t>System:</a:t>
            </a:r>
            <a:r>
              <a:rPr lang="en-US" sz="2000" spc="-125"/>
              <a:t> </a:t>
            </a:r>
            <a:r>
              <a:rPr lang="en-US" sz="2000" spc="-40"/>
              <a:t>abstract</a:t>
            </a:r>
            <a:r>
              <a:rPr lang="en-US" sz="2000" spc="-130"/>
              <a:t> </a:t>
            </a:r>
            <a:r>
              <a:rPr lang="en-US" sz="2000" spc="-45"/>
              <a:t>cluster’s</a:t>
            </a:r>
            <a:r>
              <a:rPr lang="en-US" sz="2000" spc="-125"/>
              <a:t> </a:t>
            </a:r>
            <a:r>
              <a:rPr lang="en-US" sz="2000" spc="-55"/>
              <a:t>storage</a:t>
            </a:r>
            <a:r>
              <a:rPr lang="en-US" sz="2000" spc="-125"/>
              <a:t> </a:t>
            </a:r>
            <a:r>
              <a:rPr lang="en-US" sz="2000" spc="-105"/>
              <a:t>so</a:t>
            </a:r>
            <a:r>
              <a:rPr lang="en-US" sz="2000" spc="-130"/>
              <a:t> </a:t>
            </a:r>
            <a:r>
              <a:rPr lang="en-US" sz="2000" spc="50"/>
              <a:t>that</a:t>
            </a:r>
            <a:r>
              <a:rPr lang="en-US" sz="2000" spc="-125"/>
              <a:t> </a:t>
            </a:r>
            <a:r>
              <a:rPr lang="en-US" sz="2000" spc="65"/>
              <a:t>it </a:t>
            </a:r>
            <a:r>
              <a:rPr lang="en-US" sz="2000" spc="-65"/>
              <a:t>presents</a:t>
            </a:r>
            <a:r>
              <a:rPr lang="en-US" sz="2000" spc="-125"/>
              <a:t> </a:t>
            </a:r>
            <a:r>
              <a:rPr lang="en-US" sz="2000"/>
              <a:t>itself</a:t>
            </a:r>
            <a:r>
              <a:rPr lang="en-US" sz="2000" spc="-120"/>
              <a:t> </a:t>
            </a:r>
            <a:r>
              <a:rPr lang="en-US" sz="2000" spc="-195"/>
              <a:t>as</a:t>
            </a:r>
            <a:r>
              <a:rPr lang="en-US" sz="2000" spc="-125"/>
              <a:t> </a:t>
            </a:r>
            <a:r>
              <a:rPr lang="en-US" sz="2000" spc="-170"/>
              <a:t>a</a:t>
            </a:r>
            <a:r>
              <a:rPr lang="en-US" sz="2000" spc="-125"/>
              <a:t> </a:t>
            </a:r>
            <a:r>
              <a:rPr lang="en-US" sz="2000" spc="-80"/>
              <a:t>single</a:t>
            </a:r>
            <a:r>
              <a:rPr lang="en-US" sz="2000" spc="-120"/>
              <a:t> </a:t>
            </a:r>
            <a:r>
              <a:rPr lang="en-US" sz="2000" spc="-55"/>
              <a:t>reliable</a:t>
            </a:r>
            <a:r>
              <a:rPr lang="en-US" sz="2000" spc="-125"/>
              <a:t> </a:t>
            </a:r>
            <a:r>
              <a:rPr lang="en-US" sz="2000"/>
              <a:t>file</a:t>
            </a:r>
            <a:r>
              <a:rPr lang="en-US" sz="2000" spc="-110"/>
              <a:t> </a:t>
            </a:r>
            <a:r>
              <a:rPr lang="en-US" sz="2000" spc="-10"/>
              <a:t>system</a:t>
            </a:r>
            <a:endParaRPr lang="en-US" sz="2000">
              <a:latin typeface="Geneva"/>
              <a:cs typeface="Genev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838200" y="365125"/>
            <a:ext cx="5558489" cy="1325563"/>
          </a:xfrm>
          <a:prstGeom prst="rect">
            <a:avLst/>
          </a:prstGeom>
        </p:spPr>
        <p:txBody>
          <a:bodyPr vert="horz" lIns="91440" tIns="45720" rIns="91440" bIns="45720" rtlCol="0" anchor="ctr">
            <a:normAutofit/>
          </a:bodyPr>
          <a:lstStyle/>
          <a:p>
            <a:pPr marL="2092960"/>
            <a:r>
              <a:rPr lang="en-US" kern="1200">
                <a:solidFill>
                  <a:schemeClr val="tx1"/>
                </a:solidFill>
                <a:latin typeface="+mj-lt"/>
                <a:ea typeface="+mj-ea"/>
                <a:cs typeface="+mj-cs"/>
              </a:rPr>
              <a:t>Birth</a:t>
            </a:r>
            <a:r>
              <a:rPr lang="en-US" kern="1200" spc="-290">
                <a:solidFill>
                  <a:schemeClr val="tx1"/>
                </a:solidFill>
                <a:latin typeface="+mj-lt"/>
                <a:ea typeface="+mj-ea"/>
                <a:cs typeface="+mj-cs"/>
              </a:rPr>
              <a:t> </a:t>
            </a:r>
            <a:r>
              <a:rPr lang="en-US" kern="1200" spc="125">
                <a:solidFill>
                  <a:schemeClr val="tx1"/>
                </a:solidFill>
                <a:latin typeface="+mj-lt"/>
                <a:ea typeface="+mj-ea"/>
                <a:cs typeface="+mj-cs"/>
              </a:rPr>
              <a:t>of</a:t>
            </a:r>
            <a:r>
              <a:rPr lang="en-US" kern="1200" spc="-265">
                <a:solidFill>
                  <a:schemeClr val="tx1"/>
                </a:solidFill>
                <a:latin typeface="+mj-lt"/>
                <a:ea typeface="+mj-ea"/>
                <a:cs typeface="+mj-cs"/>
              </a:rPr>
              <a:t> </a:t>
            </a:r>
            <a:r>
              <a:rPr lang="en-US" kern="1200" spc="-90">
                <a:solidFill>
                  <a:schemeClr val="tx1"/>
                </a:solidFill>
                <a:latin typeface="+mj-lt"/>
                <a:ea typeface="+mj-ea"/>
                <a:cs typeface="+mj-cs"/>
              </a:rPr>
              <a:t>Hadoop</a:t>
            </a:r>
          </a:p>
        </p:txBody>
      </p:sp>
      <p:sp>
        <p:nvSpPr>
          <p:cNvPr id="21"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object 2"/>
          <p:cNvSpPr txBox="1"/>
          <p:nvPr/>
        </p:nvSpPr>
        <p:spPr>
          <a:xfrm>
            <a:off x="838200" y="1825625"/>
            <a:ext cx="5558489" cy="4351338"/>
          </a:xfrm>
          <a:prstGeom prst="rect">
            <a:avLst/>
          </a:prstGeom>
        </p:spPr>
        <p:txBody>
          <a:bodyPr vert="horz" lIns="91440" tIns="45720" rIns="91440" bIns="45720" rtlCol="0">
            <a:normAutofit/>
          </a:bodyPr>
          <a:lstStyle/>
          <a:p>
            <a:pPr marL="286385" marR="798830" indent="-228600">
              <a:lnSpc>
                <a:spcPct val="90000"/>
              </a:lnSpc>
              <a:spcBef>
                <a:spcPts val="375"/>
              </a:spcBef>
              <a:buFont typeface="Arial" panose="020B0604020202020204" pitchFamily="34" charset="0"/>
              <a:buChar char="•"/>
              <a:tabLst>
                <a:tab pos="286385" algn="l"/>
              </a:tabLst>
            </a:pPr>
            <a:r>
              <a:rPr lang="en-US" spc="-50"/>
              <a:t>∗</a:t>
            </a:r>
            <a:r>
              <a:rPr lang="en-US"/>
              <a:t>	</a:t>
            </a:r>
            <a:r>
              <a:rPr lang="en-US" spc="-70"/>
              <a:t>February</a:t>
            </a:r>
            <a:r>
              <a:rPr lang="en-US" spc="-85"/>
              <a:t> </a:t>
            </a:r>
            <a:r>
              <a:rPr lang="en-US" spc="-65"/>
              <a:t>2006,</a:t>
            </a:r>
            <a:r>
              <a:rPr lang="en-US" spc="-95"/>
              <a:t> </a:t>
            </a:r>
            <a:r>
              <a:rPr lang="en-US" spc="-30"/>
              <a:t>Cutting</a:t>
            </a:r>
            <a:r>
              <a:rPr lang="en-US" spc="-75"/>
              <a:t> </a:t>
            </a:r>
            <a:r>
              <a:rPr lang="en-US" spc="-30"/>
              <a:t>pulled</a:t>
            </a:r>
            <a:r>
              <a:rPr lang="en-US" spc="-70"/>
              <a:t> </a:t>
            </a:r>
            <a:r>
              <a:rPr lang="en-US"/>
              <a:t>out</a:t>
            </a:r>
            <a:r>
              <a:rPr lang="en-US" spc="-80"/>
              <a:t> </a:t>
            </a:r>
            <a:r>
              <a:rPr lang="en-US" spc="-270"/>
              <a:t>GDFS</a:t>
            </a:r>
            <a:r>
              <a:rPr lang="en-US" spc="-100"/>
              <a:t> </a:t>
            </a:r>
            <a:r>
              <a:rPr lang="en-US" spc="-70"/>
              <a:t>and</a:t>
            </a:r>
            <a:r>
              <a:rPr lang="en-US" spc="-60"/>
              <a:t> </a:t>
            </a:r>
            <a:r>
              <a:rPr lang="en-US" spc="-90"/>
              <a:t>MapReduce</a:t>
            </a:r>
            <a:r>
              <a:rPr lang="en-US" spc="-95"/>
              <a:t> </a:t>
            </a:r>
            <a:r>
              <a:rPr lang="en-US"/>
              <a:t>out</a:t>
            </a:r>
            <a:r>
              <a:rPr lang="en-US" spc="-80"/>
              <a:t> </a:t>
            </a:r>
            <a:r>
              <a:rPr lang="en-US" spc="55"/>
              <a:t>of</a:t>
            </a:r>
            <a:r>
              <a:rPr lang="en-US" spc="-95"/>
              <a:t> </a:t>
            </a:r>
            <a:r>
              <a:rPr lang="en-US"/>
              <a:t>the</a:t>
            </a:r>
            <a:r>
              <a:rPr lang="en-US" spc="-75"/>
              <a:t> </a:t>
            </a:r>
            <a:r>
              <a:rPr lang="en-US" spc="-30"/>
              <a:t>Nutch</a:t>
            </a:r>
            <a:r>
              <a:rPr lang="en-US" spc="-75"/>
              <a:t> </a:t>
            </a:r>
            <a:r>
              <a:rPr lang="en-US" spc="-20"/>
              <a:t>code </a:t>
            </a:r>
            <a:r>
              <a:rPr lang="en-US" spc="-105"/>
              <a:t>base</a:t>
            </a:r>
            <a:r>
              <a:rPr lang="en-US" spc="-100"/>
              <a:t> </a:t>
            </a:r>
            <a:r>
              <a:rPr lang="en-US" spc="-65"/>
              <a:t>and</a:t>
            </a:r>
            <a:r>
              <a:rPr lang="en-US" spc="-95"/>
              <a:t> </a:t>
            </a:r>
            <a:r>
              <a:rPr lang="en-US" spc="-40"/>
              <a:t>created</a:t>
            </a:r>
            <a:r>
              <a:rPr lang="en-US" spc="-125"/>
              <a:t> </a:t>
            </a:r>
            <a:r>
              <a:rPr lang="en-US" spc="-140"/>
              <a:t>a</a:t>
            </a:r>
            <a:r>
              <a:rPr lang="en-US" spc="-105"/>
              <a:t> </a:t>
            </a:r>
            <a:r>
              <a:rPr lang="en-US" spc="-20"/>
              <a:t>new</a:t>
            </a:r>
            <a:r>
              <a:rPr lang="en-US" spc="-95"/>
              <a:t> </a:t>
            </a:r>
            <a:r>
              <a:rPr lang="en-US" spc="-30"/>
              <a:t>incubating</a:t>
            </a:r>
            <a:r>
              <a:rPr lang="en-US" spc="-75"/>
              <a:t> </a:t>
            </a:r>
            <a:r>
              <a:rPr lang="en-US" spc="-10"/>
              <a:t>project</a:t>
            </a:r>
            <a:endParaRPr lang="en-US"/>
          </a:p>
          <a:p>
            <a:pPr marL="12700" indent="-228600">
              <a:lnSpc>
                <a:spcPct val="90000"/>
              </a:lnSpc>
              <a:spcBef>
                <a:spcPts val="210"/>
              </a:spcBef>
              <a:buFont typeface="Arial" panose="020B0604020202020204" pitchFamily="34" charset="0"/>
              <a:buChar char="•"/>
              <a:tabLst>
                <a:tab pos="286385" algn="l"/>
              </a:tabLst>
            </a:pPr>
            <a:r>
              <a:rPr lang="en-US" spc="-50"/>
              <a:t>∗</a:t>
            </a:r>
            <a:r>
              <a:rPr lang="en-US"/>
              <a:t>	</a:t>
            </a:r>
            <a:r>
              <a:rPr lang="en-US" spc="-150"/>
              <a:t>Same</a:t>
            </a:r>
            <a:r>
              <a:rPr lang="en-US" spc="-95"/>
              <a:t> </a:t>
            </a:r>
            <a:r>
              <a:rPr lang="en-US" spc="-70"/>
              <a:t>year,</a:t>
            </a:r>
            <a:r>
              <a:rPr lang="en-US" spc="-114"/>
              <a:t> </a:t>
            </a:r>
            <a:r>
              <a:rPr lang="en-US" spc="-30"/>
              <a:t>Cutting</a:t>
            </a:r>
            <a:r>
              <a:rPr lang="en-US" spc="-85"/>
              <a:t> </a:t>
            </a:r>
            <a:r>
              <a:rPr lang="en-US" spc="-40"/>
              <a:t>joined</a:t>
            </a:r>
            <a:r>
              <a:rPr lang="en-US" spc="-80"/>
              <a:t> </a:t>
            </a:r>
            <a:r>
              <a:rPr lang="en-US" spc="-10"/>
              <a:t>Yahoo!</a:t>
            </a:r>
            <a:endParaRPr lang="en-US"/>
          </a:p>
          <a:p>
            <a:pPr indent="-228600">
              <a:lnSpc>
                <a:spcPct val="90000"/>
              </a:lnSpc>
              <a:spcBef>
                <a:spcPts val="580"/>
              </a:spcBef>
              <a:buFont typeface="Arial" panose="020B0604020202020204" pitchFamily="34" charset="0"/>
              <a:buChar char="•"/>
            </a:pPr>
            <a:endParaRPr lang="en-US"/>
          </a:p>
          <a:p>
            <a:pPr marL="12700" indent="-228600">
              <a:lnSpc>
                <a:spcPct val="90000"/>
              </a:lnSpc>
              <a:buFont typeface="Arial" panose="020B0604020202020204" pitchFamily="34" charset="0"/>
              <a:buChar char="•"/>
              <a:tabLst>
                <a:tab pos="286385" algn="l"/>
              </a:tabLst>
            </a:pPr>
            <a:r>
              <a:rPr lang="en-US" spc="-50"/>
              <a:t>∗</a:t>
            </a:r>
            <a:r>
              <a:rPr lang="en-US"/>
              <a:t>	</a:t>
            </a:r>
            <a:r>
              <a:rPr lang="en-US" b="1" i="1"/>
              <a:t>!</a:t>
            </a:r>
            <a:r>
              <a:rPr lang="en-US" b="1" i="1" spc="100"/>
              <a:t> </a:t>
            </a:r>
            <a:r>
              <a:rPr lang="en-US" b="1" i="1"/>
              <a:t>!</a:t>
            </a:r>
            <a:r>
              <a:rPr lang="en-US" b="1" i="1" spc="120"/>
              <a:t> </a:t>
            </a:r>
            <a:r>
              <a:rPr lang="en-US" b="1" i="1"/>
              <a:t>!</a:t>
            </a:r>
            <a:r>
              <a:rPr lang="en-US" b="1" i="1" spc="100"/>
              <a:t> </a:t>
            </a:r>
            <a:r>
              <a:rPr lang="en-US" b="1" i="1" spc="-110"/>
              <a:t>Hadoop</a:t>
            </a:r>
            <a:r>
              <a:rPr lang="en-US" b="1" i="1" spc="110"/>
              <a:t> </a:t>
            </a:r>
            <a:r>
              <a:rPr lang="en-US" b="1" i="1"/>
              <a:t>!</a:t>
            </a:r>
            <a:r>
              <a:rPr lang="en-US" b="1" i="1" spc="114"/>
              <a:t> </a:t>
            </a:r>
            <a:r>
              <a:rPr lang="en-US" b="1" i="1"/>
              <a:t>!</a:t>
            </a:r>
            <a:r>
              <a:rPr lang="en-US" b="1" i="1" spc="100"/>
              <a:t> </a:t>
            </a:r>
            <a:r>
              <a:rPr lang="en-US" b="1" i="1" spc="-50"/>
              <a:t>!</a:t>
            </a:r>
            <a:endParaRPr lang="en-US"/>
          </a:p>
          <a:p>
            <a:pPr indent="-228600">
              <a:lnSpc>
                <a:spcPct val="90000"/>
              </a:lnSpc>
              <a:spcBef>
                <a:spcPts val="855"/>
              </a:spcBef>
              <a:buFont typeface="Arial" panose="020B0604020202020204" pitchFamily="34" charset="0"/>
              <a:buChar char="•"/>
            </a:pPr>
            <a:endParaRPr lang="en-US"/>
          </a:p>
          <a:p>
            <a:pPr marL="286385" marR="5080" indent="-228600">
              <a:lnSpc>
                <a:spcPct val="90000"/>
              </a:lnSpc>
              <a:buFont typeface="Arial" panose="020B0604020202020204" pitchFamily="34" charset="0"/>
              <a:buChar char="•"/>
              <a:tabLst>
                <a:tab pos="286385" algn="l"/>
              </a:tabLst>
            </a:pPr>
            <a:r>
              <a:rPr lang="en-US" spc="-50"/>
              <a:t>∗</a:t>
            </a:r>
            <a:r>
              <a:rPr lang="en-US"/>
              <a:t>	</a:t>
            </a:r>
            <a:r>
              <a:rPr lang="en-US" b="1" i="1" spc="55"/>
              <a:t>“</a:t>
            </a:r>
            <a:r>
              <a:rPr lang="en-US" spc="55"/>
              <a:t>It</a:t>
            </a:r>
            <a:r>
              <a:rPr lang="en-US" spc="-105"/>
              <a:t> </a:t>
            </a:r>
            <a:r>
              <a:rPr lang="en-US"/>
              <a:t>wasn't</a:t>
            </a:r>
            <a:r>
              <a:rPr lang="en-US" spc="-95"/>
              <a:t> </a:t>
            </a:r>
            <a:r>
              <a:rPr lang="en-US" spc="-155"/>
              <a:t>as</a:t>
            </a:r>
            <a:r>
              <a:rPr lang="en-US" spc="-90"/>
              <a:t> </a:t>
            </a:r>
            <a:r>
              <a:rPr lang="en-US"/>
              <a:t>though</a:t>
            </a:r>
            <a:r>
              <a:rPr lang="en-US" spc="-100"/>
              <a:t> </a:t>
            </a:r>
            <a:r>
              <a:rPr lang="en-US" spc="-55"/>
              <a:t>Hadoop</a:t>
            </a:r>
            <a:r>
              <a:rPr lang="en-US" spc="-120"/>
              <a:t> </a:t>
            </a:r>
            <a:r>
              <a:rPr lang="en-US" spc="-75"/>
              <a:t>was</a:t>
            </a:r>
            <a:r>
              <a:rPr lang="en-US" spc="-100"/>
              <a:t> </a:t>
            </a:r>
            <a:r>
              <a:rPr lang="en-US" spc="-30"/>
              <a:t>architected</a:t>
            </a:r>
            <a:r>
              <a:rPr lang="en-US" spc="-100"/>
              <a:t> </a:t>
            </a:r>
            <a:r>
              <a:rPr lang="en-US" spc="-35"/>
              <a:t>around</a:t>
            </a:r>
            <a:r>
              <a:rPr lang="en-US" spc="-85"/>
              <a:t> </a:t>
            </a:r>
            <a:r>
              <a:rPr lang="en-US" spc="-25"/>
              <a:t>batch</a:t>
            </a:r>
            <a:r>
              <a:rPr lang="en-US" spc="-105"/>
              <a:t> </a:t>
            </a:r>
            <a:r>
              <a:rPr lang="en-US" spc="-100"/>
              <a:t>because</a:t>
            </a:r>
            <a:r>
              <a:rPr lang="en-US" spc="-105"/>
              <a:t> </a:t>
            </a:r>
            <a:r>
              <a:rPr lang="en-US"/>
              <a:t>we</a:t>
            </a:r>
            <a:r>
              <a:rPr lang="en-US" spc="-100"/>
              <a:t> </a:t>
            </a:r>
            <a:r>
              <a:rPr lang="en-US" spc="50"/>
              <a:t>felt</a:t>
            </a:r>
            <a:r>
              <a:rPr lang="en-US" spc="-110"/>
              <a:t> </a:t>
            </a:r>
            <a:r>
              <a:rPr lang="en-US" spc="-25"/>
              <a:t>batch</a:t>
            </a:r>
            <a:r>
              <a:rPr lang="en-US" spc="-110"/>
              <a:t> </a:t>
            </a:r>
            <a:r>
              <a:rPr lang="en-US" spc="-25"/>
              <a:t>was </a:t>
            </a:r>
            <a:r>
              <a:rPr lang="en-US" spc="-35"/>
              <a:t>best.</a:t>
            </a:r>
            <a:r>
              <a:rPr lang="en-US" spc="-114"/>
              <a:t> </a:t>
            </a:r>
            <a:r>
              <a:rPr lang="en-US" spc="-50"/>
              <a:t>Rather,</a:t>
            </a:r>
            <a:r>
              <a:rPr lang="en-US" spc="-85"/>
              <a:t> </a:t>
            </a:r>
            <a:r>
              <a:rPr lang="en-US" spc="-30"/>
              <a:t>batch,</a:t>
            </a:r>
            <a:r>
              <a:rPr lang="en-US" spc="-85"/>
              <a:t> </a:t>
            </a:r>
            <a:r>
              <a:rPr lang="en-US" spc="-90"/>
              <a:t>MapReduce</a:t>
            </a:r>
            <a:r>
              <a:rPr lang="en-US" spc="-100"/>
              <a:t> </a:t>
            </a:r>
            <a:r>
              <a:rPr lang="en-US" spc="-30"/>
              <a:t>in</a:t>
            </a:r>
            <a:r>
              <a:rPr lang="en-US" spc="-75"/>
              <a:t> </a:t>
            </a:r>
            <a:r>
              <a:rPr lang="en-US" spc="-30"/>
              <a:t>particular,</a:t>
            </a:r>
            <a:r>
              <a:rPr lang="en-US" spc="-65"/>
              <a:t> </a:t>
            </a:r>
            <a:r>
              <a:rPr lang="en-US" spc="-75"/>
              <a:t>was</a:t>
            </a:r>
            <a:r>
              <a:rPr lang="en-US" spc="-85"/>
              <a:t> </a:t>
            </a:r>
            <a:r>
              <a:rPr lang="en-US" spc="-140"/>
              <a:t>a</a:t>
            </a:r>
            <a:r>
              <a:rPr lang="en-US" spc="-75"/>
              <a:t> </a:t>
            </a:r>
            <a:r>
              <a:rPr lang="en-US" spc="-20"/>
              <a:t>natural</a:t>
            </a:r>
            <a:r>
              <a:rPr lang="en-US" spc="-55"/>
              <a:t> </a:t>
            </a:r>
            <a:r>
              <a:rPr lang="en-US"/>
              <a:t>first</a:t>
            </a:r>
            <a:r>
              <a:rPr lang="en-US" spc="-105"/>
              <a:t> </a:t>
            </a:r>
            <a:r>
              <a:rPr lang="en-US" spc="-25"/>
              <a:t>step</a:t>
            </a:r>
            <a:r>
              <a:rPr lang="en-US" spc="-95"/>
              <a:t> </a:t>
            </a:r>
            <a:r>
              <a:rPr lang="en-US" spc="-100"/>
              <a:t>because</a:t>
            </a:r>
            <a:r>
              <a:rPr lang="en-US" spc="-90"/>
              <a:t> </a:t>
            </a:r>
            <a:r>
              <a:rPr lang="en-US" spc="75"/>
              <a:t>it</a:t>
            </a:r>
            <a:r>
              <a:rPr lang="en-US" spc="-85"/>
              <a:t> </a:t>
            </a:r>
            <a:r>
              <a:rPr lang="en-US" spc="-25"/>
              <a:t>was </a:t>
            </a:r>
            <a:r>
              <a:rPr lang="en-US" spc="-35"/>
              <a:t>relatively</a:t>
            </a:r>
            <a:r>
              <a:rPr lang="en-US" spc="-95"/>
              <a:t> </a:t>
            </a:r>
            <a:r>
              <a:rPr lang="en-US" spc="-120"/>
              <a:t>easy</a:t>
            </a:r>
            <a:r>
              <a:rPr lang="en-US" spc="-100"/>
              <a:t> </a:t>
            </a:r>
            <a:r>
              <a:rPr lang="en-US" spc="80"/>
              <a:t>to</a:t>
            </a:r>
            <a:r>
              <a:rPr lang="en-US" spc="-105"/>
              <a:t> </a:t>
            </a:r>
            <a:r>
              <a:rPr lang="en-US" spc="-20"/>
              <a:t>implement</a:t>
            </a:r>
            <a:r>
              <a:rPr lang="en-US" spc="-105"/>
              <a:t> </a:t>
            </a:r>
            <a:r>
              <a:rPr lang="en-US" spc="-65"/>
              <a:t>and</a:t>
            </a:r>
            <a:r>
              <a:rPr lang="en-US" spc="-80"/>
              <a:t> </a:t>
            </a:r>
            <a:r>
              <a:rPr lang="en-US" spc="-30"/>
              <a:t>provided</a:t>
            </a:r>
            <a:r>
              <a:rPr lang="en-US" spc="-110"/>
              <a:t> </a:t>
            </a:r>
            <a:r>
              <a:rPr lang="en-US" spc="-10"/>
              <a:t>great</a:t>
            </a:r>
            <a:r>
              <a:rPr lang="en-US" spc="-95"/>
              <a:t> </a:t>
            </a:r>
            <a:r>
              <a:rPr lang="en-US" spc="-65"/>
              <a:t>value.</a:t>
            </a:r>
            <a:r>
              <a:rPr lang="en-US" spc="-80"/>
              <a:t> </a:t>
            </a:r>
            <a:r>
              <a:rPr lang="en-US" spc="-35"/>
              <a:t>Before</a:t>
            </a:r>
            <a:r>
              <a:rPr lang="en-US" spc="-105"/>
              <a:t> </a:t>
            </a:r>
            <a:r>
              <a:rPr lang="en-US" spc="-60"/>
              <a:t>Hadoop,</a:t>
            </a:r>
            <a:r>
              <a:rPr lang="en-US" spc="-130"/>
              <a:t> </a:t>
            </a:r>
            <a:r>
              <a:rPr lang="en-US" spc="-10"/>
              <a:t>there</a:t>
            </a:r>
            <a:r>
              <a:rPr lang="en-US" spc="-95"/>
              <a:t> </a:t>
            </a:r>
            <a:r>
              <a:rPr lang="en-US" spc="-75"/>
              <a:t>was</a:t>
            </a:r>
            <a:r>
              <a:rPr lang="en-US" spc="-95"/>
              <a:t> </a:t>
            </a:r>
            <a:r>
              <a:rPr lang="en-US" spc="-25"/>
              <a:t>no </a:t>
            </a:r>
            <a:r>
              <a:rPr lang="en-US" spc="-50"/>
              <a:t>way</a:t>
            </a:r>
            <a:r>
              <a:rPr lang="en-US" spc="-90"/>
              <a:t> </a:t>
            </a:r>
            <a:r>
              <a:rPr lang="en-US" spc="80"/>
              <a:t>to</a:t>
            </a:r>
            <a:r>
              <a:rPr lang="en-US" spc="-105"/>
              <a:t> </a:t>
            </a:r>
            <a:r>
              <a:rPr lang="en-US" spc="-20"/>
              <a:t>store</a:t>
            </a:r>
            <a:r>
              <a:rPr lang="en-US" spc="-90"/>
              <a:t> </a:t>
            </a:r>
            <a:r>
              <a:rPr lang="en-US" spc="-60"/>
              <a:t>and</a:t>
            </a:r>
            <a:r>
              <a:rPr lang="en-US" spc="-90"/>
              <a:t> </a:t>
            </a:r>
            <a:r>
              <a:rPr lang="en-US" spc="-75"/>
              <a:t>process</a:t>
            </a:r>
            <a:r>
              <a:rPr lang="en-US" spc="-105"/>
              <a:t> </a:t>
            </a:r>
            <a:r>
              <a:rPr lang="en-US" spc="-30"/>
              <a:t>petabytes</a:t>
            </a:r>
            <a:r>
              <a:rPr lang="en-US" spc="-114"/>
              <a:t> </a:t>
            </a:r>
            <a:r>
              <a:rPr lang="en-US" spc="-20"/>
              <a:t>on</a:t>
            </a:r>
            <a:r>
              <a:rPr lang="en-US" spc="-90"/>
              <a:t> </a:t>
            </a:r>
            <a:r>
              <a:rPr lang="en-US" spc="-20"/>
              <a:t>commodity</a:t>
            </a:r>
            <a:r>
              <a:rPr lang="en-US" spc="-114"/>
              <a:t> </a:t>
            </a:r>
            <a:r>
              <a:rPr lang="en-US" spc="-40"/>
              <a:t>hardware</a:t>
            </a:r>
            <a:r>
              <a:rPr lang="en-US" spc="-75"/>
              <a:t> </a:t>
            </a:r>
            <a:r>
              <a:rPr lang="en-US" spc="-70"/>
              <a:t>using</a:t>
            </a:r>
            <a:r>
              <a:rPr lang="en-US" spc="-65"/>
              <a:t> open-</a:t>
            </a:r>
            <a:r>
              <a:rPr lang="en-US" spc="-10"/>
              <a:t>source</a:t>
            </a:r>
            <a:endParaRPr lang="en-US"/>
          </a:p>
          <a:p>
            <a:pPr marL="286385" indent="-228600">
              <a:lnSpc>
                <a:spcPct val="90000"/>
              </a:lnSpc>
              <a:buFont typeface="Arial" panose="020B0604020202020204" pitchFamily="34" charset="0"/>
              <a:buChar char="•"/>
            </a:pPr>
            <a:r>
              <a:rPr lang="en-US"/>
              <a:t>software.</a:t>
            </a:r>
            <a:r>
              <a:rPr lang="en-US" spc="-114"/>
              <a:t> </a:t>
            </a:r>
            <a:r>
              <a:rPr lang="en-US" spc="-50"/>
              <a:t>Hadoop's</a:t>
            </a:r>
            <a:r>
              <a:rPr lang="en-US" spc="-85"/>
              <a:t> </a:t>
            </a:r>
            <a:r>
              <a:rPr lang="en-US" spc="-90"/>
              <a:t>MapReduce</a:t>
            </a:r>
            <a:r>
              <a:rPr lang="en-US" spc="-95"/>
              <a:t> </a:t>
            </a:r>
            <a:r>
              <a:rPr lang="en-US" spc="-20"/>
              <a:t>provided</a:t>
            </a:r>
            <a:r>
              <a:rPr lang="en-US" spc="-80"/>
              <a:t> </a:t>
            </a:r>
            <a:r>
              <a:rPr lang="en-US" spc="-10"/>
              <a:t>folks</a:t>
            </a:r>
            <a:r>
              <a:rPr lang="en-US" spc="-100"/>
              <a:t> </a:t>
            </a:r>
            <a:r>
              <a:rPr lang="en-US"/>
              <a:t>with</a:t>
            </a:r>
            <a:r>
              <a:rPr lang="en-US" spc="-85"/>
              <a:t> </a:t>
            </a:r>
            <a:r>
              <a:rPr lang="en-US" spc="-140"/>
              <a:t>a</a:t>
            </a:r>
            <a:r>
              <a:rPr lang="en-US" spc="-75"/>
              <a:t> </a:t>
            </a:r>
            <a:r>
              <a:rPr lang="en-US" spc="-25"/>
              <a:t>big</a:t>
            </a:r>
            <a:r>
              <a:rPr lang="en-US" spc="-90"/>
              <a:t> </a:t>
            </a:r>
            <a:r>
              <a:rPr lang="en-US" spc="-25"/>
              <a:t>step</a:t>
            </a:r>
            <a:r>
              <a:rPr lang="en-US" spc="-100"/>
              <a:t> </a:t>
            </a:r>
            <a:r>
              <a:rPr lang="en-US" spc="-25"/>
              <a:t>in</a:t>
            </a:r>
            <a:r>
              <a:rPr lang="en-US" spc="-90"/>
              <a:t> </a:t>
            </a:r>
            <a:r>
              <a:rPr lang="en-US" spc="-10"/>
              <a:t>capability.”</a:t>
            </a:r>
            <a:endParaRPr lang="en-US"/>
          </a:p>
        </p:txBody>
      </p:sp>
      <p:sp>
        <p:nvSpPr>
          <p:cNvPr id="23" name="Oval 22">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8"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object 3" descr="$PPTXTitle"/>
          <p:cNvSpPr txBox="1">
            <a:spLocks noGrp="1"/>
          </p:cNvSpPr>
          <p:nvPr>
            <p:ph type="title"/>
          </p:nvPr>
        </p:nvSpPr>
        <p:spPr>
          <a:xfrm>
            <a:off x="838200" y="365125"/>
            <a:ext cx="5393361" cy="1325563"/>
          </a:xfrm>
          <a:prstGeom prst="rect">
            <a:avLst/>
          </a:prstGeom>
        </p:spPr>
        <p:txBody>
          <a:bodyPr vert="horz" lIns="91440" tIns="45720" rIns="91440" bIns="45720" rtlCol="0" anchor="ctr">
            <a:normAutofit/>
          </a:bodyPr>
          <a:lstStyle/>
          <a:p>
            <a:pPr marL="1649730"/>
            <a:r>
              <a:rPr lang="en-US" spc="-195"/>
              <a:t>Cambrian</a:t>
            </a:r>
            <a:r>
              <a:rPr lang="en-US" spc="-260"/>
              <a:t> </a:t>
            </a:r>
            <a:r>
              <a:rPr lang="en-US" spc="-95"/>
              <a:t>Explosion</a:t>
            </a:r>
          </a:p>
        </p:txBody>
      </p:sp>
      <p:pic>
        <p:nvPicPr>
          <p:cNvPr id="6" name="Picture 5">
            <a:extLst>
              <a:ext uri="{FF2B5EF4-FFF2-40B4-BE49-F238E27FC236}">
                <a16:creationId xmlns:a16="http://schemas.microsoft.com/office/drawing/2014/main" id="{CBA83DC9-A625-00EA-0C99-EF7BC1085B4A}"/>
              </a:ext>
            </a:extLst>
          </p:cNvPr>
          <p:cNvPicPr>
            <a:picLocks noChangeAspect="1"/>
          </p:cNvPicPr>
          <p:nvPr/>
        </p:nvPicPr>
        <p:blipFill>
          <a:blip r:embed="rId2"/>
          <a:srcRect l="21402" r="11846"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12"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4"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5" name="object 2">
            <a:extLst>
              <a:ext uri="{FF2B5EF4-FFF2-40B4-BE49-F238E27FC236}">
                <a16:creationId xmlns:a16="http://schemas.microsoft.com/office/drawing/2014/main" id="{C53BBC42-0543-54F3-D25A-42766B0ACCB1}"/>
              </a:ext>
            </a:extLst>
          </p:cNvPr>
          <p:cNvGraphicFramePr/>
          <p:nvPr>
            <p:extLst>
              <p:ext uri="{D42A27DB-BD31-4B8C-83A1-F6EECF244321}">
                <p14:modId xmlns:p14="http://schemas.microsoft.com/office/powerpoint/2010/main" val="3550080961"/>
              </p:ext>
            </p:extLst>
          </p:nvPr>
        </p:nvGraphicFramePr>
        <p:xfrm>
          <a:off x="838200" y="1825625"/>
          <a:ext cx="5393361"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5894962" y="479493"/>
            <a:ext cx="5458838" cy="1325563"/>
          </a:xfrm>
          <a:prstGeom prst="rect">
            <a:avLst/>
          </a:prstGeom>
        </p:spPr>
        <p:txBody>
          <a:bodyPr vert="horz" lIns="91440" tIns="45720" rIns="91440" bIns="45720" rtlCol="0" anchor="ctr">
            <a:normAutofit/>
          </a:bodyPr>
          <a:lstStyle/>
          <a:p>
            <a:pPr marL="1463675"/>
            <a:r>
              <a:rPr lang="en-US" kern="1200" spc="-105">
                <a:solidFill>
                  <a:schemeClr val="tx1"/>
                </a:solidFill>
                <a:latin typeface="+mj-lt"/>
                <a:ea typeface="+mj-ea"/>
                <a:cs typeface="+mj-cs"/>
              </a:rPr>
              <a:t>Hadoop</a:t>
            </a:r>
            <a:r>
              <a:rPr lang="en-US" kern="1200" spc="-260">
                <a:solidFill>
                  <a:schemeClr val="tx1"/>
                </a:solidFill>
                <a:latin typeface="+mj-lt"/>
                <a:ea typeface="+mj-ea"/>
                <a:cs typeface="+mj-cs"/>
              </a:rPr>
              <a:t> </a:t>
            </a:r>
            <a:r>
              <a:rPr lang="en-US" kern="1200" spc="-110">
                <a:solidFill>
                  <a:schemeClr val="tx1"/>
                </a:solidFill>
                <a:latin typeface="+mj-lt"/>
                <a:ea typeface="+mj-ea"/>
                <a:cs typeface="+mj-cs"/>
              </a:rPr>
              <a:t>Components</a:t>
            </a:r>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object 4"/>
          <p:cNvPicPr/>
          <p:nvPr/>
        </p:nvPicPr>
        <p:blipFill>
          <a:blip r:embed="rId2" cstate="print"/>
          <a:stretch>
            <a:fillRect/>
          </a:stretch>
        </p:blipFill>
        <p:spPr>
          <a:xfrm>
            <a:off x="703182" y="517815"/>
            <a:ext cx="4777381" cy="5652626"/>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2" name="object 2"/>
          <p:cNvSpPr txBox="1"/>
          <p:nvPr/>
        </p:nvSpPr>
        <p:spPr>
          <a:xfrm>
            <a:off x="5894962" y="1984443"/>
            <a:ext cx="5458838" cy="4192520"/>
          </a:xfrm>
          <a:prstGeom prst="rect">
            <a:avLst/>
          </a:prstGeom>
        </p:spPr>
        <p:txBody>
          <a:bodyPr vert="horz" lIns="91440" tIns="45720" rIns="91440" bIns="45720" rtlCol="0">
            <a:normAutofit/>
          </a:bodyPr>
          <a:lstStyle/>
          <a:p>
            <a:pPr marL="287020" marR="320040" indent="-228600">
              <a:lnSpc>
                <a:spcPct val="90000"/>
              </a:lnSpc>
              <a:spcBef>
                <a:spcPts val="100"/>
              </a:spcBef>
              <a:buFont typeface="Arial" panose="020B0604020202020204" pitchFamily="34" charset="0"/>
              <a:buChar char="•"/>
              <a:tabLst>
                <a:tab pos="286385" algn="l"/>
              </a:tabLst>
            </a:pPr>
            <a:r>
              <a:rPr lang="en-US" spc="-50"/>
              <a:t>∗</a:t>
            </a:r>
            <a:r>
              <a:rPr lang="en-US"/>
              <a:t>	</a:t>
            </a:r>
            <a:r>
              <a:rPr lang="en-US" b="1" spc="-120"/>
              <a:t>Hadoop</a:t>
            </a:r>
            <a:r>
              <a:rPr lang="en-US" b="1" spc="-80"/>
              <a:t> </a:t>
            </a:r>
            <a:r>
              <a:rPr lang="en-US" b="1" spc="-145"/>
              <a:t>Common</a:t>
            </a:r>
            <a:r>
              <a:rPr lang="en-US" spc="-145"/>
              <a:t>:</a:t>
            </a:r>
            <a:r>
              <a:rPr lang="en-US" spc="-75"/>
              <a:t> </a:t>
            </a:r>
            <a:r>
              <a:rPr lang="en-US" spc="-120"/>
              <a:t>Java</a:t>
            </a:r>
            <a:r>
              <a:rPr lang="en-US" spc="-80"/>
              <a:t> </a:t>
            </a:r>
            <a:r>
              <a:rPr lang="en-US" spc="-45"/>
              <a:t>libraries</a:t>
            </a:r>
            <a:r>
              <a:rPr lang="en-US" spc="-90"/>
              <a:t> </a:t>
            </a:r>
            <a:r>
              <a:rPr lang="en-US" spc="-65"/>
              <a:t>and</a:t>
            </a:r>
            <a:r>
              <a:rPr lang="en-US" spc="-90"/>
              <a:t> </a:t>
            </a:r>
            <a:r>
              <a:rPr lang="en-US" spc="-10"/>
              <a:t>utilities</a:t>
            </a:r>
            <a:r>
              <a:rPr lang="en-US" spc="-85"/>
              <a:t> </a:t>
            </a:r>
            <a:r>
              <a:rPr lang="en-US" spc="-35"/>
              <a:t>required</a:t>
            </a:r>
            <a:r>
              <a:rPr lang="en-US" spc="-70"/>
              <a:t> </a:t>
            </a:r>
            <a:r>
              <a:rPr lang="en-US" spc="-45"/>
              <a:t>by</a:t>
            </a:r>
            <a:r>
              <a:rPr lang="en-US" spc="-110"/>
              <a:t> </a:t>
            </a:r>
            <a:r>
              <a:rPr lang="en-US" spc="-10"/>
              <a:t>other </a:t>
            </a:r>
            <a:r>
              <a:rPr lang="en-US" spc="-65"/>
              <a:t>Hadoop</a:t>
            </a:r>
            <a:r>
              <a:rPr lang="en-US" spc="-80"/>
              <a:t> </a:t>
            </a:r>
            <a:r>
              <a:rPr lang="en-US" spc="-55"/>
              <a:t>modules.</a:t>
            </a:r>
            <a:r>
              <a:rPr lang="en-US" spc="-90"/>
              <a:t> </a:t>
            </a:r>
            <a:r>
              <a:rPr lang="en-US" spc="-125"/>
              <a:t>These</a:t>
            </a:r>
            <a:r>
              <a:rPr lang="en-US" spc="-105"/>
              <a:t> </a:t>
            </a:r>
            <a:r>
              <a:rPr lang="en-US" spc="-40"/>
              <a:t>libraries</a:t>
            </a:r>
            <a:r>
              <a:rPr lang="en-US" spc="-90"/>
              <a:t> </a:t>
            </a:r>
            <a:r>
              <a:rPr lang="en-US" spc="-40"/>
              <a:t>provides</a:t>
            </a:r>
            <a:r>
              <a:rPr lang="en-US" spc="-60"/>
              <a:t> </a:t>
            </a:r>
            <a:r>
              <a:rPr lang="en-US"/>
              <a:t>file</a:t>
            </a:r>
            <a:r>
              <a:rPr lang="en-US" spc="-90"/>
              <a:t> </a:t>
            </a:r>
            <a:r>
              <a:rPr lang="en-US" spc="-70"/>
              <a:t>system</a:t>
            </a:r>
            <a:r>
              <a:rPr lang="en-US" spc="-75"/>
              <a:t> </a:t>
            </a:r>
            <a:r>
              <a:rPr lang="en-US" spc="-65"/>
              <a:t>and</a:t>
            </a:r>
            <a:r>
              <a:rPr lang="en-US" spc="-105"/>
              <a:t> </a:t>
            </a:r>
            <a:r>
              <a:rPr lang="en-US" spc="-35"/>
              <a:t>OS </a:t>
            </a:r>
            <a:r>
              <a:rPr lang="en-US" spc="-50"/>
              <a:t>level</a:t>
            </a:r>
            <a:r>
              <a:rPr lang="en-US" spc="-75"/>
              <a:t> </a:t>
            </a:r>
            <a:r>
              <a:rPr lang="en-US" spc="-40"/>
              <a:t>abstractions</a:t>
            </a:r>
            <a:r>
              <a:rPr lang="en-US" spc="-45"/>
              <a:t> </a:t>
            </a:r>
            <a:r>
              <a:rPr lang="en-US" spc="-65"/>
              <a:t>and</a:t>
            </a:r>
            <a:r>
              <a:rPr lang="en-US" spc="-80"/>
              <a:t> </a:t>
            </a:r>
            <a:r>
              <a:rPr lang="en-US" spc="-45"/>
              <a:t>contains</a:t>
            </a:r>
            <a:r>
              <a:rPr lang="en-US" spc="-65"/>
              <a:t> </a:t>
            </a:r>
            <a:r>
              <a:rPr lang="en-US"/>
              <a:t>the</a:t>
            </a:r>
            <a:r>
              <a:rPr lang="en-US" spc="-85"/>
              <a:t> </a:t>
            </a:r>
            <a:r>
              <a:rPr lang="en-US" spc="-105"/>
              <a:t>necessary</a:t>
            </a:r>
            <a:r>
              <a:rPr lang="en-US" spc="-45"/>
              <a:t> </a:t>
            </a:r>
            <a:r>
              <a:rPr lang="en-US" spc="-125"/>
              <a:t>Java</a:t>
            </a:r>
            <a:r>
              <a:rPr lang="en-US" spc="-80"/>
              <a:t> </a:t>
            </a:r>
            <a:r>
              <a:rPr lang="en-US" spc="-40"/>
              <a:t>files</a:t>
            </a:r>
            <a:r>
              <a:rPr lang="en-US" spc="-55"/>
              <a:t> </a:t>
            </a:r>
            <a:r>
              <a:rPr lang="en-US" spc="-25"/>
              <a:t>and </a:t>
            </a:r>
            <a:r>
              <a:rPr lang="en-US" spc="-50"/>
              <a:t>scripts</a:t>
            </a:r>
            <a:r>
              <a:rPr lang="en-US" spc="-55"/>
              <a:t> </a:t>
            </a:r>
            <a:r>
              <a:rPr lang="en-US" spc="-35"/>
              <a:t>required</a:t>
            </a:r>
            <a:r>
              <a:rPr lang="en-US" spc="-65"/>
              <a:t> </a:t>
            </a:r>
            <a:r>
              <a:rPr lang="en-US" spc="70"/>
              <a:t>to</a:t>
            </a:r>
            <a:r>
              <a:rPr lang="en-US" spc="-80"/>
              <a:t> </a:t>
            </a:r>
            <a:r>
              <a:rPr lang="en-US"/>
              <a:t>start</a:t>
            </a:r>
            <a:r>
              <a:rPr lang="en-US" spc="-65"/>
              <a:t> </a:t>
            </a:r>
            <a:r>
              <a:rPr lang="en-US" spc="-10"/>
              <a:t>Hadoop.</a:t>
            </a:r>
            <a:endParaRPr lang="en-US"/>
          </a:p>
          <a:p>
            <a:pPr marL="287020" marR="5080" indent="-228600">
              <a:lnSpc>
                <a:spcPct val="90000"/>
              </a:lnSpc>
              <a:spcBef>
                <a:spcPts val="600"/>
              </a:spcBef>
              <a:buFont typeface="Arial" panose="020B0604020202020204" pitchFamily="34" charset="0"/>
              <a:buChar char="•"/>
              <a:tabLst>
                <a:tab pos="286385" algn="l"/>
              </a:tabLst>
            </a:pPr>
            <a:r>
              <a:rPr lang="en-US" spc="-50"/>
              <a:t>∗</a:t>
            </a:r>
            <a:r>
              <a:rPr lang="en-US"/>
              <a:t>	</a:t>
            </a:r>
            <a:r>
              <a:rPr lang="en-US" b="1" spc="-120"/>
              <a:t>Hadoop</a:t>
            </a:r>
            <a:r>
              <a:rPr lang="en-US" b="1" spc="-75"/>
              <a:t> </a:t>
            </a:r>
            <a:r>
              <a:rPr lang="en-US" b="1" spc="-90"/>
              <a:t>Distributed</a:t>
            </a:r>
            <a:r>
              <a:rPr lang="en-US" b="1" spc="-50"/>
              <a:t> </a:t>
            </a:r>
            <a:r>
              <a:rPr lang="en-US" b="1" spc="-120"/>
              <a:t>File</a:t>
            </a:r>
            <a:r>
              <a:rPr lang="en-US" b="1" spc="-85"/>
              <a:t> </a:t>
            </a:r>
            <a:r>
              <a:rPr lang="en-US" b="1" spc="-155"/>
              <a:t>System</a:t>
            </a:r>
            <a:r>
              <a:rPr lang="en-US" b="1" spc="-90"/>
              <a:t> </a:t>
            </a:r>
            <a:r>
              <a:rPr lang="en-US" spc="-190"/>
              <a:t>(HDFS™):</a:t>
            </a:r>
            <a:r>
              <a:rPr lang="en-US" spc="-85"/>
              <a:t> </a:t>
            </a:r>
            <a:r>
              <a:rPr lang="en-US" spc="-110"/>
              <a:t>A</a:t>
            </a:r>
            <a:r>
              <a:rPr lang="en-US" spc="-95"/>
              <a:t> </a:t>
            </a:r>
            <a:r>
              <a:rPr lang="en-US" spc="-10"/>
              <a:t>distributed</a:t>
            </a:r>
            <a:r>
              <a:rPr lang="en-US" spc="-65"/>
              <a:t> </a:t>
            </a:r>
            <a:r>
              <a:rPr lang="en-US" spc="-20"/>
              <a:t>file </a:t>
            </a:r>
            <a:r>
              <a:rPr lang="en-US" spc="-70"/>
              <a:t>system</a:t>
            </a:r>
            <a:r>
              <a:rPr lang="en-US" spc="-30"/>
              <a:t> </a:t>
            </a:r>
            <a:r>
              <a:rPr lang="en-US"/>
              <a:t>that</a:t>
            </a:r>
            <a:r>
              <a:rPr lang="en-US" spc="-45"/>
              <a:t> provides</a:t>
            </a:r>
            <a:r>
              <a:rPr lang="en-US" spc="-35"/>
              <a:t> </a:t>
            </a:r>
            <a:r>
              <a:rPr lang="en-US" spc="-70"/>
              <a:t>high-</a:t>
            </a:r>
            <a:r>
              <a:rPr lang="en-US"/>
              <a:t>throughput</a:t>
            </a:r>
            <a:r>
              <a:rPr lang="en-US" spc="-75"/>
              <a:t> </a:t>
            </a:r>
            <a:r>
              <a:rPr lang="en-US" spc="-135"/>
              <a:t>access</a:t>
            </a:r>
            <a:r>
              <a:rPr lang="en-US" spc="-15"/>
              <a:t> </a:t>
            </a:r>
            <a:r>
              <a:rPr lang="en-US" spc="70"/>
              <a:t>to</a:t>
            </a:r>
            <a:r>
              <a:rPr lang="en-US" spc="-50"/>
              <a:t> </a:t>
            </a:r>
            <a:r>
              <a:rPr lang="en-US" spc="-35"/>
              <a:t>application</a:t>
            </a:r>
            <a:r>
              <a:rPr lang="en-US" spc="-30"/>
              <a:t> </a:t>
            </a:r>
            <a:r>
              <a:rPr lang="en-US" spc="-10"/>
              <a:t>data.</a:t>
            </a:r>
            <a:endParaRPr lang="en-US"/>
          </a:p>
          <a:p>
            <a:pPr marL="12700" indent="-228600">
              <a:lnSpc>
                <a:spcPct val="90000"/>
              </a:lnSpc>
              <a:spcBef>
                <a:spcPts val="825"/>
              </a:spcBef>
              <a:buFont typeface="Arial" panose="020B0604020202020204" pitchFamily="34" charset="0"/>
              <a:buChar char="•"/>
              <a:tabLst>
                <a:tab pos="286385" algn="l"/>
              </a:tabLst>
            </a:pPr>
            <a:r>
              <a:rPr lang="en-US" spc="-50"/>
              <a:t>∗</a:t>
            </a:r>
            <a:r>
              <a:rPr lang="en-US"/>
              <a:t>	</a:t>
            </a:r>
            <a:r>
              <a:rPr lang="en-US" b="1" spc="-120"/>
              <a:t>Hadoop</a:t>
            </a:r>
            <a:r>
              <a:rPr lang="en-US" b="1" spc="-70"/>
              <a:t> </a:t>
            </a:r>
            <a:r>
              <a:rPr lang="en-US" b="1" spc="-185"/>
              <a:t>YARN</a:t>
            </a:r>
            <a:r>
              <a:rPr lang="en-US" spc="-185"/>
              <a:t>:</a:t>
            </a:r>
            <a:r>
              <a:rPr lang="en-US" spc="-85"/>
              <a:t> </a:t>
            </a:r>
            <a:r>
              <a:rPr lang="en-US" spc="-110"/>
              <a:t>This</a:t>
            </a:r>
            <a:r>
              <a:rPr lang="en-US" spc="-95"/>
              <a:t> </a:t>
            </a:r>
            <a:r>
              <a:rPr lang="en-US" spc="-100"/>
              <a:t>is</a:t>
            </a:r>
            <a:r>
              <a:rPr lang="en-US" spc="-80"/>
              <a:t> </a:t>
            </a:r>
            <a:r>
              <a:rPr lang="en-US" spc="-145"/>
              <a:t>a</a:t>
            </a:r>
            <a:r>
              <a:rPr lang="en-US" spc="-95"/>
              <a:t> </a:t>
            </a:r>
            <a:r>
              <a:rPr lang="en-US" spc="-10"/>
              <a:t>framework</a:t>
            </a:r>
            <a:r>
              <a:rPr lang="en-US" spc="-75"/>
              <a:t> </a:t>
            </a:r>
            <a:r>
              <a:rPr lang="en-US"/>
              <a:t>for</a:t>
            </a:r>
            <a:r>
              <a:rPr lang="en-US" spc="-90"/>
              <a:t> </a:t>
            </a:r>
            <a:r>
              <a:rPr lang="en-US" spc="-10"/>
              <a:t>job</a:t>
            </a:r>
            <a:r>
              <a:rPr lang="en-US" spc="-85"/>
              <a:t> </a:t>
            </a:r>
            <a:r>
              <a:rPr lang="en-US" spc="-60"/>
              <a:t>scheduling</a:t>
            </a:r>
            <a:r>
              <a:rPr lang="en-US" spc="-80"/>
              <a:t> </a:t>
            </a:r>
            <a:r>
              <a:rPr lang="en-US" spc="-65"/>
              <a:t>and</a:t>
            </a:r>
            <a:r>
              <a:rPr lang="en-US" spc="-90"/>
              <a:t> </a:t>
            </a:r>
            <a:r>
              <a:rPr lang="en-US" spc="-10"/>
              <a:t>cluster</a:t>
            </a:r>
            <a:endParaRPr lang="en-US"/>
          </a:p>
          <a:p>
            <a:pPr marL="287020" indent="-228600">
              <a:lnSpc>
                <a:spcPct val="90000"/>
              </a:lnSpc>
              <a:spcBef>
                <a:spcPts val="229"/>
              </a:spcBef>
              <a:buFont typeface="Arial" panose="020B0604020202020204" pitchFamily="34" charset="0"/>
              <a:buChar char="•"/>
            </a:pPr>
            <a:r>
              <a:rPr lang="en-US" spc="-60"/>
              <a:t>resource</a:t>
            </a:r>
            <a:r>
              <a:rPr lang="en-US" spc="-85"/>
              <a:t> </a:t>
            </a:r>
            <a:r>
              <a:rPr lang="en-US" spc="-10"/>
              <a:t>management.</a:t>
            </a:r>
            <a:endParaRPr lang="en-US"/>
          </a:p>
          <a:p>
            <a:pPr marL="287020" marR="554355" indent="-228600">
              <a:lnSpc>
                <a:spcPct val="90000"/>
              </a:lnSpc>
              <a:spcBef>
                <a:spcPts val="600"/>
              </a:spcBef>
              <a:buFont typeface="Arial" panose="020B0604020202020204" pitchFamily="34" charset="0"/>
              <a:buChar char="•"/>
              <a:tabLst>
                <a:tab pos="286385" algn="l"/>
              </a:tabLst>
            </a:pPr>
            <a:r>
              <a:rPr lang="en-US" spc="-50"/>
              <a:t>∗</a:t>
            </a:r>
            <a:r>
              <a:rPr lang="en-US"/>
              <a:t>	</a:t>
            </a:r>
            <a:r>
              <a:rPr lang="en-US" b="1" spc="-120"/>
              <a:t>Hadoop</a:t>
            </a:r>
            <a:r>
              <a:rPr lang="en-US" b="1" spc="-60"/>
              <a:t> </a:t>
            </a:r>
            <a:r>
              <a:rPr lang="en-US" b="1" spc="-120"/>
              <a:t>MapReduce</a:t>
            </a:r>
            <a:r>
              <a:rPr lang="en-US" spc="-120"/>
              <a:t>:</a:t>
            </a:r>
            <a:r>
              <a:rPr lang="en-US" spc="-30"/>
              <a:t> </a:t>
            </a:r>
            <a:r>
              <a:rPr lang="en-US" spc="-114"/>
              <a:t>This</a:t>
            </a:r>
            <a:r>
              <a:rPr lang="en-US" spc="-80"/>
              <a:t> </a:t>
            </a:r>
            <a:r>
              <a:rPr lang="en-US" spc="-90"/>
              <a:t>is</a:t>
            </a:r>
            <a:r>
              <a:rPr lang="en-US" spc="-80"/>
              <a:t> </a:t>
            </a:r>
            <a:r>
              <a:rPr lang="en-US" spc="-180"/>
              <a:t>YARN-</a:t>
            </a:r>
            <a:r>
              <a:rPr lang="en-US" spc="-95"/>
              <a:t>based</a:t>
            </a:r>
            <a:r>
              <a:rPr lang="en-US" spc="-55"/>
              <a:t> </a:t>
            </a:r>
            <a:r>
              <a:rPr lang="en-US" spc="-70"/>
              <a:t>system</a:t>
            </a:r>
            <a:r>
              <a:rPr lang="en-US" spc="-50"/>
              <a:t> </a:t>
            </a:r>
            <a:r>
              <a:rPr lang="en-US"/>
              <a:t>for</a:t>
            </a:r>
            <a:r>
              <a:rPr lang="en-US" spc="-75"/>
              <a:t> </a:t>
            </a:r>
            <a:r>
              <a:rPr lang="en-US" spc="-10"/>
              <a:t>parallel </a:t>
            </a:r>
            <a:r>
              <a:rPr lang="en-US" spc="-65"/>
              <a:t>processing</a:t>
            </a:r>
            <a:r>
              <a:rPr lang="en-US" spc="-80"/>
              <a:t> </a:t>
            </a:r>
            <a:r>
              <a:rPr lang="en-US" spc="55"/>
              <a:t>of</a:t>
            </a:r>
            <a:r>
              <a:rPr lang="en-US" spc="-95"/>
              <a:t> </a:t>
            </a:r>
            <a:r>
              <a:rPr lang="en-US" spc="-55"/>
              <a:t>large</a:t>
            </a:r>
            <a:r>
              <a:rPr lang="en-US" spc="-95"/>
              <a:t> </a:t>
            </a:r>
            <a:r>
              <a:rPr lang="en-US" spc="-45"/>
              <a:t>data</a:t>
            </a:r>
            <a:r>
              <a:rPr lang="en-US" spc="-80"/>
              <a:t> </a:t>
            </a:r>
            <a:r>
              <a:rPr lang="en-US" spc="-10"/>
              <a:t>sets.</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6AD14E8-65C3-2521-0287-507A0FDD2938}"/>
              </a:ext>
            </a:extLst>
          </p:cNvPr>
          <p:cNvPicPr>
            <a:picLocks noChangeAspect="1"/>
          </p:cNvPicPr>
          <p:nvPr/>
        </p:nvPicPr>
        <p:blipFill>
          <a:blip r:embed="rId2">
            <a:duotone>
              <a:schemeClr val="bg2">
                <a:shade val="45000"/>
                <a:satMod val="135000"/>
              </a:schemeClr>
              <a:prstClr val="white"/>
            </a:duotone>
          </a:blip>
          <a:srcRect b="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838200" y="365125"/>
            <a:ext cx="10515600" cy="1325563"/>
          </a:xfrm>
          <a:prstGeom prst="rect">
            <a:avLst/>
          </a:prstGeom>
        </p:spPr>
        <p:txBody>
          <a:bodyPr vert="horz" lIns="0" tIns="13335" rIns="0" bIns="0" rtlCol="0">
            <a:normAutofit/>
          </a:bodyPr>
          <a:lstStyle/>
          <a:p>
            <a:pPr marL="1885950">
              <a:spcBef>
                <a:spcPts val="105"/>
              </a:spcBef>
            </a:pPr>
            <a:r>
              <a:rPr spc="-484" dirty="0"/>
              <a:t>HDFS</a:t>
            </a:r>
            <a:r>
              <a:rPr spc="-265" dirty="0"/>
              <a:t> </a:t>
            </a:r>
            <a:r>
              <a:rPr spc="-190" dirty="0"/>
              <a:t>Design</a:t>
            </a:r>
            <a:r>
              <a:rPr spc="-265" dirty="0"/>
              <a:t> </a:t>
            </a:r>
            <a:r>
              <a:rPr spc="-280" dirty="0"/>
              <a:t>Goal</a:t>
            </a:r>
            <a:endParaRPr lang="en-US" spc="-280"/>
          </a:p>
        </p:txBody>
      </p:sp>
      <p:graphicFrame>
        <p:nvGraphicFramePr>
          <p:cNvPr id="5" name="object 2">
            <a:extLst>
              <a:ext uri="{FF2B5EF4-FFF2-40B4-BE49-F238E27FC236}">
                <a16:creationId xmlns:a16="http://schemas.microsoft.com/office/drawing/2014/main" id="{E1210591-C5D6-CDDA-FD96-28854481F5AA}"/>
              </a:ext>
            </a:extLst>
          </p:cNvPr>
          <p:cNvGraphicFramePr>
            <a:graphicFrameLocks noGrp="1"/>
          </p:cNvGraphicFramePr>
          <p:nvPr>
            <p:ph idx="1"/>
            <p:extLst>
              <p:ext uri="{D42A27DB-BD31-4B8C-83A1-F6EECF244321}">
                <p14:modId xmlns:p14="http://schemas.microsoft.com/office/powerpoint/2010/main" val="173454940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3B47FC9C-2ED3-4100-A4EF-E8CDFEE10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object 2" descr="$PPTXTitle"/>
          <p:cNvSpPr txBox="1">
            <a:spLocks noGrp="1"/>
          </p:cNvSpPr>
          <p:nvPr>
            <p:ph type="title"/>
          </p:nvPr>
        </p:nvSpPr>
        <p:spPr>
          <a:xfrm>
            <a:off x="838200" y="5358141"/>
            <a:ext cx="10515600" cy="942664"/>
          </a:xfrm>
          <a:prstGeom prst="rect">
            <a:avLst/>
          </a:prstGeom>
        </p:spPr>
        <p:txBody>
          <a:bodyPr vert="horz" lIns="0" tIns="13335" rIns="0" bIns="0" rtlCol="0">
            <a:normAutofit/>
          </a:bodyPr>
          <a:lstStyle/>
          <a:p>
            <a:pPr marL="12700" algn="ctr">
              <a:spcBef>
                <a:spcPts val="105"/>
              </a:spcBef>
            </a:pPr>
            <a:r>
              <a:rPr lang="en-US" sz="5200" spc="-105"/>
              <a:t>Hadoop</a:t>
            </a:r>
            <a:r>
              <a:rPr lang="en-US" sz="5200" spc="-250"/>
              <a:t> </a:t>
            </a:r>
            <a:r>
              <a:rPr lang="en-US" sz="5200" spc="-190"/>
              <a:t>File</a:t>
            </a:r>
            <a:r>
              <a:rPr lang="en-US" sz="5200" spc="-245"/>
              <a:t> </a:t>
            </a:r>
            <a:r>
              <a:rPr lang="en-US" sz="5200" spc="-170"/>
              <a:t>System</a:t>
            </a:r>
          </a:p>
        </p:txBody>
      </p:sp>
      <p:pic>
        <p:nvPicPr>
          <p:cNvPr id="3" name="object 3"/>
          <p:cNvPicPr/>
          <p:nvPr/>
        </p:nvPicPr>
        <p:blipFill>
          <a:blip r:embed="rId2" cstate="print"/>
          <a:stretch>
            <a:fillRect/>
          </a:stretch>
        </p:blipFill>
        <p:spPr>
          <a:xfrm>
            <a:off x="2436816" y="557189"/>
            <a:ext cx="7318367" cy="462923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556532" y="643467"/>
            <a:ext cx="11210925" cy="744836"/>
          </a:xfrm>
          <a:prstGeom prst="rect">
            <a:avLst/>
          </a:prstGeom>
        </p:spPr>
        <p:txBody>
          <a:bodyPr vert="horz" lIns="0" tIns="13335" rIns="0" bIns="0" rtlCol="0">
            <a:normAutofit/>
          </a:bodyPr>
          <a:lstStyle/>
          <a:p>
            <a:pPr marL="1806575" algn="ctr">
              <a:spcBef>
                <a:spcPts val="105"/>
              </a:spcBef>
            </a:pPr>
            <a:r>
              <a:rPr lang="en-US" sz="3200" spc="-484">
                <a:solidFill>
                  <a:schemeClr val="bg1"/>
                </a:solidFill>
              </a:rPr>
              <a:t>HDFS</a:t>
            </a:r>
            <a:r>
              <a:rPr lang="en-US" sz="3200" spc="-285">
                <a:solidFill>
                  <a:schemeClr val="bg1"/>
                </a:solidFill>
              </a:rPr>
              <a:t> </a:t>
            </a:r>
            <a:r>
              <a:rPr lang="en-US" sz="3200" spc="-25">
                <a:solidFill>
                  <a:schemeClr val="bg1"/>
                </a:solidFill>
              </a:rPr>
              <a:t>Architecture</a:t>
            </a:r>
          </a:p>
        </p:txBody>
      </p:sp>
      <p:pic>
        <p:nvPicPr>
          <p:cNvPr id="3" name="object 3"/>
          <p:cNvPicPr/>
          <p:nvPr/>
        </p:nvPicPr>
        <p:blipFill>
          <a:blip r:embed="rId2" cstate="print"/>
          <a:stretch>
            <a:fillRect/>
          </a:stretch>
        </p:blipFill>
        <p:spPr>
          <a:xfrm>
            <a:off x="2373954" y="1675227"/>
            <a:ext cx="7444092" cy="439419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5" name="Freeform: Shape 9">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2676525"/>
            <a:r>
              <a:rPr lang="en-US" kern="1200" spc="-484">
                <a:solidFill>
                  <a:schemeClr val="tx1"/>
                </a:solidFill>
                <a:latin typeface="+mj-lt"/>
                <a:ea typeface="+mj-ea"/>
                <a:cs typeface="+mj-cs"/>
              </a:rPr>
              <a:t>HDFS</a:t>
            </a:r>
            <a:r>
              <a:rPr lang="en-US" kern="1200" spc="-285">
                <a:solidFill>
                  <a:schemeClr val="tx1"/>
                </a:solidFill>
                <a:latin typeface="+mj-lt"/>
                <a:ea typeface="+mj-ea"/>
                <a:cs typeface="+mj-cs"/>
              </a:rPr>
              <a:t> </a:t>
            </a:r>
            <a:r>
              <a:rPr lang="en-US" kern="1200" spc="-290">
                <a:solidFill>
                  <a:schemeClr val="tx1"/>
                </a:solidFill>
                <a:latin typeface="+mj-lt"/>
                <a:ea typeface="+mj-ea"/>
                <a:cs typeface="+mj-cs"/>
              </a:rPr>
              <a:t>Read</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object 3"/>
          <p:cNvPicPr/>
          <p:nvPr/>
        </p:nvPicPr>
        <p:blipFill>
          <a:blip r:embed="rId2" cstate="print"/>
          <a:stretch>
            <a:fillRect/>
          </a:stretch>
        </p:blipFill>
        <p:spPr>
          <a:xfrm>
            <a:off x="5414356" y="1380694"/>
            <a:ext cx="6408836" cy="3945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1113810" y="2960716"/>
            <a:ext cx="4036334" cy="2387600"/>
          </a:xfrm>
          <a:prstGeom prst="rect">
            <a:avLst/>
          </a:prstGeom>
        </p:spPr>
        <p:txBody>
          <a:bodyPr vert="horz" lIns="91440" tIns="45720" rIns="91440" bIns="45720" rtlCol="0" anchor="t">
            <a:normAutofit/>
          </a:bodyPr>
          <a:lstStyle/>
          <a:p>
            <a:pPr marL="2633980"/>
            <a:r>
              <a:rPr lang="en-US" sz="4200" kern="1200" spc="-484">
                <a:solidFill>
                  <a:schemeClr val="tx1"/>
                </a:solidFill>
                <a:latin typeface="+mj-lt"/>
                <a:ea typeface="+mj-ea"/>
                <a:cs typeface="+mj-cs"/>
              </a:rPr>
              <a:t>HDFS</a:t>
            </a:r>
            <a:r>
              <a:rPr lang="en-US" sz="4200" kern="1200" spc="-285">
                <a:solidFill>
                  <a:schemeClr val="tx1"/>
                </a:solidFill>
                <a:latin typeface="+mj-lt"/>
                <a:ea typeface="+mj-ea"/>
                <a:cs typeface="+mj-cs"/>
              </a:rPr>
              <a:t> </a:t>
            </a:r>
            <a:r>
              <a:rPr lang="en-US" sz="4200" kern="1200" spc="-10">
                <a:solidFill>
                  <a:schemeClr val="tx1"/>
                </a:solidFill>
                <a:latin typeface="+mj-lt"/>
                <a:ea typeface="+mj-ea"/>
                <a:cs typeface="+mj-cs"/>
              </a:rPr>
              <a:t>Write</a:t>
            </a:r>
          </a:p>
        </p:txBody>
      </p:sp>
      <p:grpSp>
        <p:nvGrpSpPr>
          <p:cNvPr id="10" name="Group 9">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object 3"/>
          <p:cNvPicPr/>
          <p:nvPr/>
        </p:nvPicPr>
        <p:blipFill>
          <a:blip r:embed="rId2" cstate="print"/>
          <a:stretch>
            <a:fillRect/>
          </a:stretch>
        </p:blipFill>
        <p:spPr>
          <a:xfrm>
            <a:off x="5922492" y="1660061"/>
            <a:ext cx="5536001" cy="347912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599609" y="679731"/>
            <a:ext cx="4171994" cy="3736540"/>
          </a:xfrm>
          <a:prstGeom prst="rect">
            <a:avLst/>
          </a:prstGeom>
        </p:spPr>
        <p:txBody>
          <a:bodyPr vert="horz" lIns="91440" tIns="45720" rIns="91440" bIns="45720" rtlCol="0" anchor="b">
            <a:normAutofit/>
          </a:bodyPr>
          <a:lstStyle/>
          <a:p>
            <a:pPr marL="12700"/>
            <a:r>
              <a:rPr lang="en-US" sz="6000" kern="1200" spc="-140">
                <a:solidFill>
                  <a:schemeClr val="tx1"/>
                </a:solidFill>
                <a:latin typeface="+mj-lt"/>
                <a:ea typeface="+mj-ea"/>
                <a:cs typeface="+mj-cs"/>
              </a:rPr>
              <a:t>Namenode</a:t>
            </a:r>
            <a:r>
              <a:rPr lang="en-US" sz="6000" kern="1200" spc="-245">
                <a:solidFill>
                  <a:schemeClr val="tx1"/>
                </a:solidFill>
                <a:latin typeface="+mj-lt"/>
                <a:ea typeface="+mj-ea"/>
                <a:cs typeface="+mj-cs"/>
              </a:rPr>
              <a:t> </a:t>
            </a:r>
            <a:r>
              <a:rPr lang="en-US" sz="6000" kern="1200" spc="-160">
                <a:solidFill>
                  <a:schemeClr val="tx1"/>
                </a:solidFill>
                <a:latin typeface="+mj-lt"/>
                <a:ea typeface="+mj-ea"/>
                <a:cs typeface="+mj-cs"/>
              </a:rPr>
              <a:t>and</a:t>
            </a:r>
            <a:r>
              <a:rPr lang="en-US" sz="6000" kern="1200" spc="-250">
                <a:solidFill>
                  <a:schemeClr val="tx1"/>
                </a:solidFill>
                <a:latin typeface="+mj-lt"/>
                <a:ea typeface="+mj-ea"/>
                <a:cs typeface="+mj-cs"/>
              </a:rPr>
              <a:t> </a:t>
            </a:r>
            <a:r>
              <a:rPr lang="en-US" sz="6000" kern="1200" spc="-85">
                <a:solidFill>
                  <a:schemeClr val="tx1"/>
                </a:solidFill>
                <a:latin typeface="+mj-lt"/>
                <a:ea typeface="+mj-ea"/>
                <a:cs typeface="+mj-cs"/>
              </a:rPr>
              <a:t>Datanode</a:t>
            </a:r>
          </a:p>
        </p:txBody>
      </p:sp>
      <p:grpSp>
        <p:nvGrpSpPr>
          <p:cNvPr id="19" name="Group 18">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416432" y="1"/>
            <a:ext cx="2446384" cy="5777808"/>
            <a:chOff x="329184" y="1"/>
            <a:chExt cx="524256" cy="5777808"/>
          </a:xfrm>
        </p:grpSpPr>
        <p:cxnSp>
          <p:nvCxnSpPr>
            <p:cNvPr id="11" name="Straight Connector 1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object 3"/>
          <p:cNvPicPr/>
          <p:nvPr/>
        </p:nvPicPr>
        <p:blipFill>
          <a:blip r:embed="rId2" cstate="print"/>
          <a:stretch>
            <a:fillRect/>
          </a:stretch>
        </p:blipFill>
        <p:spPr>
          <a:xfrm>
            <a:off x="5640572" y="1718284"/>
            <a:ext cx="5608830" cy="331085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515D20E-1AB7-4E74-9236-2B72B63D6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045028" y="1336329"/>
            <a:ext cx="3892732" cy="4382588"/>
          </a:xfrm>
          <a:prstGeom prst="rect">
            <a:avLst/>
          </a:prstGeom>
        </p:spPr>
        <p:txBody>
          <a:bodyPr vert="horz" lIns="91440" tIns="45720" rIns="91440" bIns="45720" rtlCol="0" anchor="ctr">
            <a:normAutofit/>
          </a:bodyPr>
          <a:lstStyle/>
          <a:p>
            <a:pPr marL="2179955"/>
            <a:r>
              <a:rPr lang="en-US" sz="3800" kern="1200" spc="-170">
                <a:solidFill>
                  <a:schemeClr val="tx1"/>
                </a:solidFill>
                <a:latin typeface="+mj-lt"/>
                <a:ea typeface="+mj-ea"/>
                <a:cs typeface="+mj-cs"/>
              </a:rPr>
              <a:t>Handle</a:t>
            </a:r>
            <a:r>
              <a:rPr lang="en-US" sz="3800" kern="1200" spc="-254">
                <a:solidFill>
                  <a:schemeClr val="tx1"/>
                </a:solidFill>
                <a:latin typeface="+mj-lt"/>
                <a:ea typeface="+mj-ea"/>
                <a:cs typeface="+mj-cs"/>
              </a:rPr>
              <a:t> </a:t>
            </a:r>
            <a:r>
              <a:rPr lang="en-US" sz="3800" kern="1200" spc="-150">
                <a:solidFill>
                  <a:schemeClr val="tx1"/>
                </a:solidFill>
                <a:latin typeface="+mj-lt"/>
                <a:ea typeface="+mj-ea"/>
                <a:cs typeface="+mj-cs"/>
              </a:rPr>
              <a:t>Failures</a:t>
            </a:r>
          </a:p>
        </p:txBody>
      </p:sp>
      <p:grpSp>
        <p:nvGrpSpPr>
          <p:cNvPr id="10" name="Group 9">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163461"/>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982976"/>
            <a:ext cx="6009366" cy="512063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p:cNvSpPr txBox="1"/>
          <p:nvPr/>
        </p:nvSpPr>
        <p:spPr>
          <a:xfrm>
            <a:off x="6096001" y="1336329"/>
            <a:ext cx="5260848" cy="4382588"/>
          </a:xfrm>
          <a:prstGeom prst="rect">
            <a:avLst/>
          </a:prstGeom>
        </p:spPr>
        <p:txBody>
          <a:bodyPr vert="horz" lIns="91440" tIns="45720" rIns="91440" bIns="45720" rtlCol="0" anchor="ctr">
            <a:normAutofit/>
          </a:bodyPr>
          <a:lstStyle/>
          <a:p>
            <a:pPr marL="12700" indent="-228600">
              <a:lnSpc>
                <a:spcPct val="90000"/>
              </a:lnSpc>
              <a:spcBef>
                <a:spcPts val="95"/>
              </a:spcBef>
              <a:buFont typeface="Arial" panose="020B0604020202020204" pitchFamily="34" charset="0"/>
              <a:buChar char="•"/>
              <a:tabLst>
                <a:tab pos="286385" algn="l"/>
              </a:tabLst>
            </a:pPr>
            <a:r>
              <a:rPr lang="en-US" sz="2000" spc="-50"/>
              <a:t>∗</a:t>
            </a:r>
            <a:r>
              <a:rPr lang="en-US" sz="2000"/>
              <a:t>	</a:t>
            </a:r>
            <a:r>
              <a:rPr lang="en-US" sz="2000" spc="-80"/>
              <a:t>NameNode</a:t>
            </a:r>
            <a:r>
              <a:rPr lang="en-US" sz="2000" spc="-75"/>
              <a:t> </a:t>
            </a:r>
            <a:r>
              <a:rPr lang="en-US" sz="2000" spc="-10"/>
              <a:t>Failure</a:t>
            </a:r>
            <a:endParaRPr lang="en-US" sz="2000"/>
          </a:p>
          <a:p>
            <a:pPr marL="314325" indent="-228600">
              <a:lnSpc>
                <a:spcPct val="90000"/>
              </a:lnSpc>
              <a:spcBef>
                <a:spcPts val="10"/>
              </a:spcBef>
              <a:buFont typeface="Arial" panose="020B0604020202020204" pitchFamily="34" charset="0"/>
              <a:buChar char="•"/>
              <a:tabLst>
                <a:tab pos="588645" algn="l"/>
              </a:tabLst>
            </a:pPr>
            <a:r>
              <a:rPr lang="en-US" sz="2000" spc="-50"/>
              <a:t>∗</a:t>
            </a:r>
            <a:r>
              <a:rPr lang="en-US" sz="2000"/>
              <a:t>	Multiple</a:t>
            </a:r>
            <a:r>
              <a:rPr lang="en-US" sz="2000" spc="-75"/>
              <a:t> </a:t>
            </a:r>
            <a:r>
              <a:rPr lang="en-US" sz="2000" spc="-60"/>
              <a:t>copies</a:t>
            </a:r>
            <a:r>
              <a:rPr lang="en-US" sz="2000" spc="-50"/>
              <a:t> </a:t>
            </a:r>
            <a:r>
              <a:rPr lang="en-US" sz="2000"/>
              <a:t>of</a:t>
            </a:r>
            <a:r>
              <a:rPr lang="en-US" sz="2000" spc="-55"/>
              <a:t> </a:t>
            </a:r>
            <a:r>
              <a:rPr lang="en-US" sz="2000" spc="-114"/>
              <a:t>FSImage</a:t>
            </a:r>
            <a:r>
              <a:rPr lang="en-US" sz="2000" spc="-55"/>
              <a:t> </a:t>
            </a:r>
            <a:r>
              <a:rPr lang="en-US" sz="2000" spc="-65"/>
              <a:t>and</a:t>
            </a:r>
            <a:r>
              <a:rPr lang="en-US" sz="2000" spc="-45"/>
              <a:t> </a:t>
            </a:r>
            <a:r>
              <a:rPr lang="en-US" sz="2000" spc="-25"/>
              <a:t>EditLog</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90"/>
              <a:t>Second </a:t>
            </a:r>
            <a:r>
              <a:rPr lang="en-US" sz="2000" spc="-10"/>
              <a:t>NameNode</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85"/>
              <a:t>2.0</a:t>
            </a:r>
            <a:r>
              <a:rPr lang="en-US" sz="2000" spc="-100"/>
              <a:t> </a:t>
            </a:r>
            <a:r>
              <a:rPr lang="en-US" sz="2000" spc="-110"/>
              <a:t>–</a:t>
            </a:r>
            <a:r>
              <a:rPr lang="en-US" sz="2000" spc="-90"/>
              <a:t> </a:t>
            </a:r>
            <a:r>
              <a:rPr lang="en-US" sz="2000" spc="-65"/>
              <a:t>NameNode</a:t>
            </a:r>
            <a:r>
              <a:rPr lang="en-US" sz="2000" spc="-90"/>
              <a:t> </a:t>
            </a:r>
            <a:r>
              <a:rPr lang="en-US" sz="2000" spc="-10"/>
              <a:t>Federation</a:t>
            </a:r>
            <a:endParaRPr lang="en-US" sz="2000"/>
          </a:p>
          <a:p>
            <a:pPr marL="12700" indent="-228600">
              <a:lnSpc>
                <a:spcPct val="90000"/>
              </a:lnSpc>
              <a:buFont typeface="Arial" panose="020B0604020202020204" pitchFamily="34" charset="0"/>
              <a:buChar char="•"/>
              <a:tabLst>
                <a:tab pos="286385" algn="l"/>
              </a:tabLst>
            </a:pPr>
            <a:r>
              <a:rPr lang="en-US" sz="2000" spc="-50"/>
              <a:t>∗</a:t>
            </a:r>
            <a:r>
              <a:rPr lang="en-US" sz="2000"/>
              <a:t>	</a:t>
            </a:r>
            <a:r>
              <a:rPr lang="en-US" sz="2000" spc="-75"/>
              <a:t>DataNode</a:t>
            </a:r>
            <a:r>
              <a:rPr lang="en-US" sz="2000" spc="-5"/>
              <a:t> </a:t>
            </a:r>
            <a:r>
              <a:rPr lang="en-US" sz="2000" spc="-10"/>
              <a:t>Failure</a:t>
            </a:r>
            <a:endParaRPr lang="en-US" sz="2000"/>
          </a:p>
          <a:p>
            <a:pPr marL="314325" indent="-228600">
              <a:lnSpc>
                <a:spcPct val="90000"/>
              </a:lnSpc>
              <a:spcBef>
                <a:spcPts val="5"/>
              </a:spcBef>
              <a:buFont typeface="Arial" panose="020B0604020202020204" pitchFamily="34" charset="0"/>
              <a:buChar char="•"/>
              <a:tabLst>
                <a:tab pos="588645" algn="l"/>
              </a:tabLst>
            </a:pPr>
            <a:r>
              <a:rPr lang="en-US" sz="2000" spc="-50"/>
              <a:t>∗</a:t>
            </a:r>
            <a:r>
              <a:rPr lang="en-US" sz="2000"/>
              <a:t>	</a:t>
            </a:r>
            <a:r>
              <a:rPr lang="en-US" sz="2000" spc="-10"/>
              <a:t>Heartbeat</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145"/>
              <a:t>Re-</a:t>
            </a:r>
            <a:r>
              <a:rPr lang="en-US" sz="2000" spc="-10"/>
              <a:t>replication</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60"/>
              <a:t>Cluster</a:t>
            </a:r>
            <a:r>
              <a:rPr lang="en-US" sz="2000" spc="-55"/>
              <a:t> </a:t>
            </a:r>
            <a:r>
              <a:rPr lang="en-US" sz="2000" spc="-70"/>
              <a:t>re-</a:t>
            </a:r>
            <a:r>
              <a:rPr lang="en-US" sz="2000" spc="-10"/>
              <a:t>balance</a:t>
            </a:r>
            <a:endParaRPr lang="en-US" sz="2000"/>
          </a:p>
          <a:p>
            <a:pPr marL="12700" indent="-228600">
              <a:lnSpc>
                <a:spcPct val="90000"/>
              </a:lnSpc>
              <a:buFont typeface="Arial" panose="020B0604020202020204" pitchFamily="34" charset="0"/>
              <a:buChar char="•"/>
              <a:tabLst>
                <a:tab pos="286385" algn="l"/>
              </a:tabLst>
            </a:pPr>
            <a:r>
              <a:rPr lang="en-US" sz="2000" spc="-50"/>
              <a:t>∗</a:t>
            </a:r>
            <a:r>
              <a:rPr lang="en-US" sz="2000"/>
              <a:t>	</a:t>
            </a:r>
            <a:r>
              <a:rPr lang="en-US" sz="2000" spc="-10"/>
              <a:t>Network</a:t>
            </a:r>
            <a:r>
              <a:rPr lang="en-US" sz="2000" spc="-70"/>
              <a:t> </a:t>
            </a:r>
            <a:r>
              <a:rPr lang="en-US" sz="2000" spc="-10"/>
              <a:t>Partition</a:t>
            </a:r>
            <a:endParaRPr lang="en-US" sz="2000"/>
          </a:p>
          <a:p>
            <a:pPr marL="314325" indent="-228600">
              <a:lnSpc>
                <a:spcPct val="90000"/>
              </a:lnSpc>
              <a:spcBef>
                <a:spcPts val="10"/>
              </a:spcBef>
              <a:buFont typeface="Arial" panose="020B0604020202020204" pitchFamily="34" charset="0"/>
              <a:buChar char="•"/>
              <a:tabLst>
                <a:tab pos="588645" algn="l"/>
              </a:tabLst>
            </a:pPr>
            <a:r>
              <a:rPr lang="en-US" sz="2000" spc="-50"/>
              <a:t>∗</a:t>
            </a:r>
            <a:r>
              <a:rPr lang="en-US" sz="2000"/>
              <a:t>	</a:t>
            </a:r>
            <a:r>
              <a:rPr lang="en-US" sz="2000" spc="-80"/>
              <a:t>Remove</a:t>
            </a:r>
            <a:r>
              <a:rPr lang="en-US" sz="2000" spc="-95"/>
              <a:t> </a:t>
            </a:r>
            <a:r>
              <a:rPr lang="en-US" sz="2000" spc="-65"/>
              <a:t>dead</a:t>
            </a:r>
            <a:r>
              <a:rPr lang="en-US" sz="2000" spc="-80"/>
              <a:t> </a:t>
            </a:r>
            <a:r>
              <a:rPr lang="en-US" sz="2000" spc="-20"/>
              <a:t>node</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145"/>
              <a:t>Re-</a:t>
            </a:r>
            <a:r>
              <a:rPr lang="en-US" sz="2000" spc="-10"/>
              <a:t>replication</a:t>
            </a:r>
            <a:endParaRPr lang="en-US" sz="2000"/>
          </a:p>
          <a:p>
            <a:pPr marL="12700" indent="-228600">
              <a:lnSpc>
                <a:spcPct val="90000"/>
              </a:lnSpc>
              <a:buFont typeface="Arial" panose="020B0604020202020204" pitchFamily="34" charset="0"/>
              <a:buChar char="•"/>
              <a:tabLst>
                <a:tab pos="286385" algn="l"/>
              </a:tabLst>
            </a:pPr>
            <a:r>
              <a:rPr lang="en-US" sz="2000" spc="-50"/>
              <a:t>∗</a:t>
            </a:r>
            <a:r>
              <a:rPr lang="en-US" sz="2000"/>
              <a:t>	</a:t>
            </a:r>
            <a:r>
              <a:rPr lang="en-US" sz="2000" spc="-90"/>
              <a:t>File</a:t>
            </a:r>
            <a:r>
              <a:rPr lang="en-US" sz="2000" spc="-80"/>
              <a:t> </a:t>
            </a:r>
            <a:r>
              <a:rPr lang="en-US" sz="2000" spc="-35"/>
              <a:t>Corruption</a:t>
            </a:r>
            <a:r>
              <a:rPr lang="en-US" sz="2000" spc="-80"/>
              <a:t> </a:t>
            </a:r>
            <a:r>
              <a:rPr lang="en-US" sz="2000" spc="-175"/>
              <a:t>-</a:t>
            </a:r>
            <a:r>
              <a:rPr lang="en-US" sz="2000" spc="-90"/>
              <a:t> </a:t>
            </a:r>
            <a:r>
              <a:rPr lang="en-US" sz="2000" spc="-10"/>
              <a:t>checksum</a:t>
            </a:r>
            <a:endParaRPr lang="en-US" sz="20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153618" y="1239927"/>
            <a:ext cx="4008586" cy="4680583"/>
          </a:xfrm>
          <a:prstGeom prst="rect">
            <a:avLst/>
          </a:prstGeom>
        </p:spPr>
        <p:txBody>
          <a:bodyPr vert="horz" lIns="91440" tIns="45720" rIns="91440" bIns="45720" rtlCol="0" anchor="ctr">
            <a:normAutofit/>
          </a:bodyPr>
          <a:lstStyle/>
          <a:p>
            <a:pPr marL="2185670"/>
            <a:r>
              <a:rPr lang="en-US" sz="3600" kern="1200" spc="-120">
                <a:solidFill>
                  <a:schemeClr val="tx1"/>
                </a:solidFill>
                <a:latin typeface="+mj-lt"/>
                <a:ea typeface="+mj-ea"/>
                <a:cs typeface="+mj-cs"/>
              </a:rPr>
              <a:t>Fault</a:t>
            </a:r>
            <a:r>
              <a:rPr lang="en-US" sz="3600" kern="1200" spc="-260">
                <a:solidFill>
                  <a:schemeClr val="tx1"/>
                </a:solidFill>
                <a:latin typeface="+mj-lt"/>
                <a:ea typeface="+mj-ea"/>
                <a:cs typeface="+mj-cs"/>
              </a:rPr>
              <a:t> </a:t>
            </a:r>
            <a:r>
              <a:rPr lang="en-US" sz="3600" kern="1200" spc="-165">
                <a:solidFill>
                  <a:schemeClr val="tx1"/>
                </a:solidFill>
                <a:latin typeface="+mj-lt"/>
                <a:ea typeface="+mj-ea"/>
                <a:cs typeface="+mj-cs"/>
              </a:rPr>
              <a:t>Tolerance</a:t>
            </a:r>
          </a:p>
        </p:txBody>
      </p:sp>
      <p:sp>
        <p:nvSpPr>
          <p:cNvPr id="2" name="object 2"/>
          <p:cNvSpPr txBox="1"/>
          <p:nvPr/>
        </p:nvSpPr>
        <p:spPr>
          <a:xfrm>
            <a:off x="6291923" y="1239927"/>
            <a:ext cx="4971824" cy="4680583"/>
          </a:xfrm>
          <a:prstGeom prst="rect">
            <a:avLst/>
          </a:prstGeom>
        </p:spPr>
        <p:txBody>
          <a:bodyPr vert="horz" lIns="91440" tIns="45720" rIns="91440" bIns="45720" rtlCol="0" anchor="ctr">
            <a:normAutofit/>
          </a:bodyPr>
          <a:lstStyle/>
          <a:p>
            <a:pPr marL="12700" indent="-228600">
              <a:lnSpc>
                <a:spcPct val="90000"/>
              </a:lnSpc>
              <a:spcBef>
                <a:spcPts val="1180"/>
              </a:spcBef>
              <a:buFont typeface="Arial" panose="020B0604020202020204" pitchFamily="34" charset="0"/>
              <a:buChar char="•"/>
              <a:tabLst>
                <a:tab pos="335280" algn="l"/>
              </a:tabLst>
            </a:pPr>
            <a:r>
              <a:rPr lang="en-US" sz="2000" spc="-50"/>
              <a:t>∗</a:t>
            </a:r>
            <a:r>
              <a:rPr lang="en-US" sz="2000"/>
              <a:t>	</a:t>
            </a:r>
            <a:r>
              <a:rPr lang="en-US" sz="2000" spc="-70"/>
              <a:t>Workers</a:t>
            </a:r>
            <a:r>
              <a:rPr lang="en-US" sz="2000" spc="-95"/>
              <a:t> </a:t>
            </a:r>
            <a:r>
              <a:rPr lang="en-US" sz="2000" spc="-85"/>
              <a:t>are</a:t>
            </a:r>
            <a:r>
              <a:rPr lang="en-US" sz="2000" spc="-105"/>
              <a:t> </a:t>
            </a:r>
            <a:r>
              <a:rPr lang="en-US" sz="2000" spc="-50"/>
              <a:t>periodically</a:t>
            </a:r>
            <a:r>
              <a:rPr lang="en-US" sz="2000" spc="-130"/>
              <a:t> </a:t>
            </a:r>
            <a:r>
              <a:rPr lang="en-US" sz="2000" spc="-55"/>
              <a:t>pinged</a:t>
            </a:r>
            <a:r>
              <a:rPr lang="en-US" sz="2000" spc="-95"/>
              <a:t> </a:t>
            </a:r>
            <a:r>
              <a:rPr lang="en-US" sz="2000" spc="-55"/>
              <a:t>by</a:t>
            </a:r>
            <a:r>
              <a:rPr lang="en-US" sz="2000" spc="-95"/>
              <a:t> </a:t>
            </a:r>
            <a:r>
              <a:rPr lang="en-US" sz="2000" spc="-10"/>
              <a:t>master</a:t>
            </a:r>
            <a:endParaRPr lang="en-US" sz="2000"/>
          </a:p>
          <a:p>
            <a:pPr marL="494030" indent="-228600">
              <a:lnSpc>
                <a:spcPct val="90000"/>
              </a:lnSpc>
              <a:spcBef>
                <a:spcPts val="935"/>
              </a:spcBef>
              <a:buFont typeface="Arial" panose="020B0604020202020204" pitchFamily="34" charset="0"/>
              <a:buChar char="•"/>
              <a:tabLst>
                <a:tab pos="768350" algn="l"/>
              </a:tabLst>
            </a:pPr>
            <a:r>
              <a:rPr lang="en-US" sz="2000" spc="-50"/>
              <a:t>∗</a:t>
            </a:r>
            <a:r>
              <a:rPr lang="en-US" sz="2000"/>
              <a:t>	</a:t>
            </a:r>
            <a:r>
              <a:rPr lang="en-US" sz="2000" spc="-60"/>
              <a:t>No</a:t>
            </a:r>
            <a:r>
              <a:rPr lang="en-US" sz="2000" spc="-110"/>
              <a:t> </a:t>
            </a:r>
            <a:r>
              <a:rPr lang="en-US" sz="2000" spc="-75"/>
              <a:t>response</a:t>
            </a:r>
            <a:r>
              <a:rPr lang="en-US" sz="2000" spc="-90"/>
              <a:t> </a:t>
            </a:r>
            <a:r>
              <a:rPr lang="en-US" sz="2000" spc="-165"/>
              <a:t>=</a:t>
            </a:r>
            <a:r>
              <a:rPr lang="en-US" sz="2000" spc="-100"/>
              <a:t> </a:t>
            </a:r>
            <a:r>
              <a:rPr lang="en-US" sz="2000" spc="-25"/>
              <a:t>failed</a:t>
            </a:r>
            <a:r>
              <a:rPr lang="en-US" sz="2000" spc="-90"/>
              <a:t> </a:t>
            </a:r>
            <a:r>
              <a:rPr lang="en-US" sz="2000" spc="-10"/>
              <a:t>worker</a:t>
            </a:r>
            <a:endParaRPr lang="en-US" sz="2000"/>
          </a:p>
          <a:p>
            <a:pPr marL="12700" indent="-228600">
              <a:lnSpc>
                <a:spcPct val="90000"/>
              </a:lnSpc>
              <a:spcBef>
                <a:spcPts val="830"/>
              </a:spcBef>
              <a:buFont typeface="Arial" panose="020B0604020202020204" pitchFamily="34" charset="0"/>
              <a:buChar char="•"/>
              <a:tabLst>
                <a:tab pos="335280" algn="l"/>
              </a:tabLst>
            </a:pPr>
            <a:r>
              <a:rPr lang="en-US" sz="2000" spc="-50"/>
              <a:t>∗</a:t>
            </a:r>
            <a:r>
              <a:rPr lang="en-US" sz="2000"/>
              <a:t>	</a:t>
            </a:r>
            <a:r>
              <a:rPr lang="en-US" sz="2000" spc="-40"/>
              <a:t>Master</a:t>
            </a:r>
            <a:r>
              <a:rPr lang="en-US" sz="2000" spc="-114"/>
              <a:t> </a:t>
            </a:r>
            <a:r>
              <a:rPr lang="en-US" sz="2000" spc="-10"/>
              <a:t>writes</a:t>
            </a:r>
            <a:r>
              <a:rPr lang="en-US" sz="2000" spc="-90"/>
              <a:t> </a:t>
            </a:r>
            <a:r>
              <a:rPr lang="en-US" sz="2000" spc="-35"/>
              <a:t>periodic</a:t>
            </a:r>
            <a:r>
              <a:rPr lang="en-US" sz="2000" spc="-105"/>
              <a:t> </a:t>
            </a:r>
            <a:r>
              <a:rPr lang="en-US" sz="2000" spc="-10"/>
              <a:t>checkpoints</a:t>
            </a:r>
            <a:endParaRPr lang="en-US" sz="2000"/>
          </a:p>
          <a:p>
            <a:pPr marL="12700" indent="-228600">
              <a:lnSpc>
                <a:spcPct val="90000"/>
              </a:lnSpc>
              <a:spcBef>
                <a:spcPts val="865"/>
              </a:spcBef>
              <a:buFont typeface="Arial" panose="020B0604020202020204" pitchFamily="34" charset="0"/>
              <a:buChar char="•"/>
              <a:tabLst>
                <a:tab pos="335280" algn="l"/>
              </a:tabLst>
            </a:pPr>
            <a:r>
              <a:rPr lang="en-US" sz="2000" spc="-50"/>
              <a:t>∗</a:t>
            </a:r>
            <a:r>
              <a:rPr lang="en-US" sz="2000"/>
              <a:t>	</a:t>
            </a:r>
            <a:r>
              <a:rPr lang="en-US" sz="2000" spc="-125"/>
              <a:t>On</a:t>
            </a:r>
            <a:r>
              <a:rPr lang="en-US" sz="2000" spc="-95"/>
              <a:t> </a:t>
            </a:r>
            <a:r>
              <a:rPr lang="en-US" sz="2000" spc="-40"/>
              <a:t>errors,</a:t>
            </a:r>
            <a:r>
              <a:rPr lang="en-US" sz="2000" spc="-114"/>
              <a:t> </a:t>
            </a:r>
            <a:r>
              <a:rPr lang="en-US" sz="2000" spc="-25"/>
              <a:t>workers</a:t>
            </a:r>
            <a:r>
              <a:rPr lang="en-US" sz="2000" spc="-95"/>
              <a:t> send </a:t>
            </a:r>
            <a:r>
              <a:rPr lang="en-US" sz="2000"/>
              <a:t>“last</a:t>
            </a:r>
            <a:r>
              <a:rPr lang="en-US" sz="2000" spc="-90"/>
              <a:t> </a:t>
            </a:r>
            <a:r>
              <a:rPr lang="en-US" sz="2000" spc="-20"/>
              <a:t>gasp”</a:t>
            </a:r>
            <a:r>
              <a:rPr lang="en-US" sz="2000" spc="-95"/>
              <a:t> </a:t>
            </a:r>
            <a:r>
              <a:rPr lang="en-US" sz="2000" spc="-185"/>
              <a:t>UDP</a:t>
            </a:r>
            <a:r>
              <a:rPr lang="en-US" sz="2000" spc="-90"/>
              <a:t> </a:t>
            </a:r>
            <a:r>
              <a:rPr lang="en-US" sz="2000" spc="-50"/>
              <a:t>packet</a:t>
            </a:r>
            <a:r>
              <a:rPr lang="en-US" sz="2000" spc="-110"/>
              <a:t> </a:t>
            </a:r>
            <a:r>
              <a:rPr lang="en-US" sz="2000" spc="80"/>
              <a:t>to</a:t>
            </a:r>
            <a:r>
              <a:rPr lang="en-US" sz="2000" spc="-105"/>
              <a:t> </a:t>
            </a:r>
            <a:r>
              <a:rPr lang="en-US" sz="2000" spc="-10"/>
              <a:t>master</a:t>
            </a:r>
            <a:endParaRPr lang="en-US" sz="2000"/>
          </a:p>
          <a:p>
            <a:pPr marL="494030" indent="-228600">
              <a:lnSpc>
                <a:spcPct val="90000"/>
              </a:lnSpc>
              <a:spcBef>
                <a:spcPts val="925"/>
              </a:spcBef>
              <a:buFont typeface="Arial" panose="020B0604020202020204" pitchFamily="34" charset="0"/>
              <a:buChar char="•"/>
              <a:tabLst>
                <a:tab pos="768350" algn="l"/>
              </a:tabLst>
            </a:pPr>
            <a:r>
              <a:rPr lang="en-US" sz="2000" spc="-50"/>
              <a:t>∗</a:t>
            </a:r>
            <a:r>
              <a:rPr lang="en-US" sz="2000"/>
              <a:t>	</a:t>
            </a:r>
            <a:r>
              <a:rPr lang="en-US" sz="2000" spc="-30"/>
              <a:t>Detect</a:t>
            </a:r>
            <a:r>
              <a:rPr lang="en-US" sz="2000" spc="-70"/>
              <a:t> </a:t>
            </a:r>
            <a:r>
              <a:rPr lang="en-US" sz="2000" spc="-50"/>
              <a:t>records</a:t>
            </a:r>
            <a:r>
              <a:rPr lang="en-US" sz="2000" spc="-45"/>
              <a:t> </a:t>
            </a:r>
            <a:r>
              <a:rPr lang="en-US" sz="2000"/>
              <a:t>that</a:t>
            </a:r>
            <a:r>
              <a:rPr lang="en-US" sz="2000" spc="-75"/>
              <a:t> </a:t>
            </a:r>
            <a:r>
              <a:rPr lang="en-US" sz="2000" spc="-114"/>
              <a:t>cause</a:t>
            </a:r>
            <a:r>
              <a:rPr lang="en-US" sz="2000" spc="-90"/>
              <a:t> </a:t>
            </a:r>
            <a:r>
              <a:rPr lang="en-US" sz="2000" spc="-25"/>
              <a:t>deterministic</a:t>
            </a:r>
            <a:r>
              <a:rPr lang="en-US" sz="2000" spc="-35"/>
              <a:t> </a:t>
            </a:r>
            <a:r>
              <a:rPr lang="en-US" sz="2000" spc="-100"/>
              <a:t>crashes</a:t>
            </a:r>
            <a:r>
              <a:rPr lang="en-US" sz="2000" spc="-70"/>
              <a:t> </a:t>
            </a:r>
            <a:r>
              <a:rPr lang="en-US" sz="2000" spc="-65"/>
              <a:t>and</a:t>
            </a:r>
            <a:r>
              <a:rPr lang="en-US" sz="2000" spc="-85"/>
              <a:t> skips</a:t>
            </a:r>
            <a:r>
              <a:rPr lang="en-US" sz="2000" spc="-90"/>
              <a:t> </a:t>
            </a:r>
            <a:r>
              <a:rPr lang="en-US" sz="2000" spc="-20"/>
              <a:t>them</a:t>
            </a:r>
            <a:endParaRPr lang="en-US" sz="2000"/>
          </a:p>
          <a:p>
            <a:pPr marL="12700" indent="-228600">
              <a:lnSpc>
                <a:spcPct val="90000"/>
              </a:lnSpc>
              <a:spcBef>
                <a:spcPts val="855"/>
              </a:spcBef>
              <a:buFont typeface="Arial" panose="020B0604020202020204" pitchFamily="34" charset="0"/>
              <a:buChar char="•"/>
              <a:tabLst>
                <a:tab pos="335280" algn="l"/>
              </a:tabLst>
            </a:pPr>
            <a:r>
              <a:rPr lang="en-US" sz="2000" spc="-50"/>
              <a:t>∗</a:t>
            </a:r>
            <a:r>
              <a:rPr lang="en-US" sz="2000"/>
              <a:t>	Input</a:t>
            </a:r>
            <a:r>
              <a:rPr lang="en-US" sz="2000" spc="-105"/>
              <a:t> </a:t>
            </a:r>
            <a:r>
              <a:rPr lang="en-US" sz="2000"/>
              <a:t>file</a:t>
            </a:r>
            <a:r>
              <a:rPr lang="en-US" sz="2000" spc="-114"/>
              <a:t> </a:t>
            </a:r>
            <a:r>
              <a:rPr lang="en-US" sz="2000" spc="-55"/>
              <a:t>blocks</a:t>
            </a:r>
            <a:r>
              <a:rPr lang="en-US" sz="2000" spc="-100"/>
              <a:t> </a:t>
            </a:r>
            <a:r>
              <a:rPr lang="en-US" sz="2000" spc="-30"/>
              <a:t>stored</a:t>
            </a:r>
            <a:r>
              <a:rPr lang="en-US" sz="2000" spc="-125"/>
              <a:t> </a:t>
            </a:r>
            <a:r>
              <a:rPr lang="en-US" sz="2000" spc="-25"/>
              <a:t>on</a:t>
            </a:r>
            <a:r>
              <a:rPr lang="en-US" sz="2000" spc="-100"/>
              <a:t> </a:t>
            </a:r>
            <a:r>
              <a:rPr lang="en-US" sz="2000" spc="-10"/>
              <a:t>multiple</a:t>
            </a:r>
            <a:r>
              <a:rPr lang="en-US" sz="2000" spc="-125"/>
              <a:t> </a:t>
            </a:r>
            <a:r>
              <a:rPr lang="en-US" sz="2000" spc="-10"/>
              <a:t>machines</a:t>
            </a:r>
            <a:endParaRPr lang="en-US" sz="2000"/>
          </a:p>
          <a:p>
            <a:pPr marL="12700" indent="-228600">
              <a:lnSpc>
                <a:spcPct val="90000"/>
              </a:lnSpc>
              <a:spcBef>
                <a:spcPts val="865"/>
              </a:spcBef>
              <a:buFont typeface="Arial" panose="020B0604020202020204" pitchFamily="34" charset="0"/>
              <a:buChar char="•"/>
              <a:tabLst>
                <a:tab pos="335280" algn="l"/>
              </a:tabLst>
            </a:pPr>
            <a:r>
              <a:rPr lang="en-US" sz="2000" spc="-50"/>
              <a:t>∗</a:t>
            </a:r>
            <a:r>
              <a:rPr lang="en-US" sz="2000"/>
              <a:t>	</a:t>
            </a:r>
            <a:r>
              <a:rPr lang="en-US" sz="2000" spc="-90"/>
              <a:t>When</a:t>
            </a:r>
            <a:r>
              <a:rPr lang="en-US" sz="2000" spc="-95"/>
              <a:t> </a:t>
            </a:r>
            <a:r>
              <a:rPr lang="en-US" sz="2000" spc="-10"/>
              <a:t>computation</a:t>
            </a:r>
            <a:r>
              <a:rPr lang="en-US" sz="2000" spc="-135"/>
              <a:t> </a:t>
            </a:r>
            <a:r>
              <a:rPr lang="en-US" sz="2000" spc="-40"/>
              <a:t>almost</a:t>
            </a:r>
            <a:r>
              <a:rPr lang="en-US" sz="2000" spc="-90"/>
              <a:t> </a:t>
            </a:r>
            <a:r>
              <a:rPr lang="en-US" sz="2000" spc="-50"/>
              <a:t>done,</a:t>
            </a:r>
            <a:r>
              <a:rPr lang="en-US" sz="2000" spc="-105"/>
              <a:t> </a:t>
            </a:r>
            <a:r>
              <a:rPr lang="en-US" sz="2000" spc="-80"/>
              <a:t>reschedule</a:t>
            </a:r>
            <a:r>
              <a:rPr lang="en-US" sz="2000" spc="-125"/>
              <a:t> </a:t>
            </a:r>
            <a:r>
              <a:rPr lang="en-US" sz="2000" spc="-85"/>
              <a:t>in-</a:t>
            </a:r>
            <a:r>
              <a:rPr lang="en-US" sz="2000" spc="-65"/>
              <a:t>progress</a:t>
            </a:r>
            <a:r>
              <a:rPr lang="en-US" sz="2000" spc="-90"/>
              <a:t> </a:t>
            </a:r>
            <a:r>
              <a:rPr lang="en-US" sz="2000" spc="-10"/>
              <a:t>tasks</a:t>
            </a:r>
            <a:endParaRPr lang="en-US" sz="2000"/>
          </a:p>
          <a:p>
            <a:pPr marL="494030" indent="-228600">
              <a:lnSpc>
                <a:spcPct val="90000"/>
              </a:lnSpc>
              <a:spcBef>
                <a:spcPts val="919"/>
              </a:spcBef>
              <a:buFont typeface="Arial" panose="020B0604020202020204" pitchFamily="34" charset="0"/>
              <a:buChar char="•"/>
              <a:tabLst>
                <a:tab pos="768350" algn="l"/>
              </a:tabLst>
            </a:pPr>
            <a:r>
              <a:rPr lang="en-US" sz="2000" spc="-50"/>
              <a:t>∗</a:t>
            </a:r>
            <a:r>
              <a:rPr lang="en-US" sz="2000"/>
              <a:t>	</a:t>
            </a:r>
            <a:r>
              <a:rPr lang="en-US" sz="2000" spc="-75"/>
              <a:t>Avoids</a:t>
            </a:r>
            <a:r>
              <a:rPr lang="en-US" sz="2000" spc="-30"/>
              <a:t> </a:t>
            </a:r>
            <a:r>
              <a:rPr lang="en-US" sz="2000" spc="-10"/>
              <a:t>“stragglers”</a:t>
            </a:r>
            <a:endParaRPr lang="en-US" sz="20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1113810" y="2960716"/>
            <a:ext cx="4036334" cy="2387600"/>
          </a:xfrm>
          <a:prstGeom prst="rect">
            <a:avLst/>
          </a:prstGeom>
        </p:spPr>
        <p:txBody>
          <a:bodyPr vert="horz" lIns="91440" tIns="45720" rIns="91440" bIns="45720" rtlCol="0" anchor="t">
            <a:normAutofit/>
          </a:bodyPr>
          <a:lstStyle/>
          <a:p>
            <a:pPr marL="12700"/>
            <a:r>
              <a:rPr lang="en-US" sz="5400" kern="1200" spc="-160">
                <a:solidFill>
                  <a:schemeClr val="tx1"/>
                </a:solidFill>
                <a:latin typeface="+mj-lt"/>
                <a:ea typeface="+mj-ea"/>
                <a:cs typeface="+mj-cs"/>
              </a:rPr>
              <a:t>Replica</a:t>
            </a:r>
          </a:p>
        </p:txBody>
      </p:sp>
      <p:grpSp>
        <p:nvGrpSpPr>
          <p:cNvPr id="10" name="Group 9">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object 3"/>
          <p:cNvPicPr/>
          <p:nvPr/>
        </p:nvPicPr>
        <p:blipFill>
          <a:blip r:embed="rId2" cstate="print"/>
          <a:stretch>
            <a:fillRect/>
          </a:stretch>
        </p:blipFill>
        <p:spPr>
          <a:xfrm>
            <a:off x="5922492" y="1939606"/>
            <a:ext cx="5536001" cy="292003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515D20E-1AB7-4E74-9236-2B72B63D6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045028" y="1336329"/>
            <a:ext cx="3892732" cy="4382588"/>
          </a:xfrm>
          <a:prstGeom prst="rect">
            <a:avLst/>
          </a:prstGeom>
        </p:spPr>
        <p:txBody>
          <a:bodyPr vert="horz" lIns="91440" tIns="45720" rIns="91440" bIns="45720" rtlCol="0" anchor="ctr">
            <a:normAutofit/>
          </a:bodyPr>
          <a:lstStyle/>
          <a:p>
            <a:pPr marL="2687320"/>
            <a:r>
              <a:rPr lang="en-US" sz="1800" kern="1200" spc="-105">
                <a:solidFill>
                  <a:schemeClr val="tx1"/>
                </a:solidFill>
                <a:latin typeface="+mj-lt"/>
                <a:ea typeface="+mj-ea"/>
                <a:cs typeface="+mj-cs"/>
              </a:rPr>
              <a:t>Debugging</a:t>
            </a:r>
          </a:p>
        </p:txBody>
      </p:sp>
      <p:grpSp>
        <p:nvGrpSpPr>
          <p:cNvPr id="10" name="Group 9">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163461"/>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982976"/>
            <a:ext cx="6009366" cy="512063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p:cNvSpPr txBox="1"/>
          <p:nvPr/>
        </p:nvSpPr>
        <p:spPr>
          <a:xfrm>
            <a:off x="6096001" y="1336329"/>
            <a:ext cx="5260848" cy="4382588"/>
          </a:xfrm>
          <a:prstGeom prst="rect">
            <a:avLst/>
          </a:prstGeom>
        </p:spPr>
        <p:txBody>
          <a:bodyPr vert="horz" lIns="91440" tIns="45720" rIns="91440" bIns="45720" rtlCol="0" anchor="ctr">
            <a:normAutofit/>
          </a:bodyPr>
          <a:lstStyle/>
          <a:p>
            <a:pPr marL="12700" indent="-228600">
              <a:lnSpc>
                <a:spcPct val="90000"/>
              </a:lnSpc>
              <a:spcBef>
                <a:spcPts val="1560"/>
              </a:spcBef>
              <a:buFont typeface="Arial" panose="020B0604020202020204" pitchFamily="34" charset="0"/>
              <a:buChar char="•"/>
              <a:tabLst>
                <a:tab pos="335280" algn="l"/>
              </a:tabLst>
            </a:pPr>
            <a:r>
              <a:rPr lang="en-US" sz="2000" spc="-50"/>
              <a:t>∗</a:t>
            </a:r>
            <a:r>
              <a:rPr lang="en-US" sz="2000"/>
              <a:t>	</a:t>
            </a:r>
            <a:r>
              <a:rPr lang="en-US" sz="2000" spc="-35"/>
              <a:t>Offers</a:t>
            </a:r>
            <a:r>
              <a:rPr lang="en-US" sz="2000" spc="-135"/>
              <a:t> </a:t>
            </a:r>
            <a:r>
              <a:rPr lang="en-US" sz="2000" spc="-75"/>
              <a:t>human</a:t>
            </a:r>
            <a:r>
              <a:rPr lang="en-US" sz="2000" spc="-114"/>
              <a:t> </a:t>
            </a:r>
            <a:r>
              <a:rPr lang="en-US" sz="2000" spc="-75"/>
              <a:t>readable</a:t>
            </a:r>
            <a:r>
              <a:rPr lang="en-US" sz="2000" spc="-95"/>
              <a:t> </a:t>
            </a:r>
            <a:r>
              <a:rPr lang="en-US" sz="2000" spc="-50"/>
              <a:t>status</a:t>
            </a:r>
            <a:r>
              <a:rPr lang="en-US" sz="2000" spc="-135"/>
              <a:t> </a:t>
            </a:r>
            <a:r>
              <a:rPr lang="en-US" sz="2000"/>
              <a:t>info</a:t>
            </a:r>
            <a:r>
              <a:rPr lang="en-US" sz="2000" spc="-114"/>
              <a:t> </a:t>
            </a:r>
            <a:r>
              <a:rPr lang="en-US" sz="2000" spc="-30"/>
              <a:t>on</a:t>
            </a:r>
            <a:r>
              <a:rPr lang="en-US" sz="2000" spc="-125"/>
              <a:t> </a:t>
            </a:r>
            <a:r>
              <a:rPr lang="en-US" sz="2000" spc="80"/>
              <a:t>http</a:t>
            </a:r>
            <a:r>
              <a:rPr lang="en-US" sz="2000" spc="-100"/>
              <a:t> </a:t>
            </a:r>
            <a:r>
              <a:rPr lang="en-US" sz="2000" spc="-10"/>
              <a:t>server</a:t>
            </a:r>
            <a:endParaRPr lang="en-US" sz="2000"/>
          </a:p>
          <a:p>
            <a:pPr marL="494030" indent="-228600">
              <a:lnSpc>
                <a:spcPct val="90000"/>
              </a:lnSpc>
              <a:spcBef>
                <a:spcPts val="1230"/>
              </a:spcBef>
              <a:buFont typeface="Arial" panose="020B0604020202020204" pitchFamily="34" charset="0"/>
              <a:buChar char="•"/>
              <a:tabLst>
                <a:tab pos="768350" algn="l"/>
              </a:tabLst>
            </a:pPr>
            <a:r>
              <a:rPr lang="en-US" sz="2000" spc="-50"/>
              <a:t>∗</a:t>
            </a:r>
            <a:r>
              <a:rPr lang="en-US" sz="2000"/>
              <a:t>	</a:t>
            </a:r>
            <a:r>
              <a:rPr lang="en-US" sz="2000" spc="-100"/>
              <a:t>Users</a:t>
            </a:r>
            <a:r>
              <a:rPr lang="en-US" sz="2000" spc="-95"/>
              <a:t> can</a:t>
            </a:r>
            <a:r>
              <a:rPr lang="en-US" sz="2000" spc="-55"/>
              <a:t> </a:t>
            </a:r>
            <a:r>
              <a:rPr lang="en-US" sz="2000" spc="-130"/>
              <a:t>see</a:t>
            </a:r>
            <a:r>
              <a:rPr lang="en-US" sz="2000" spc="-85"/>
              <a:t> </a:t>
            </a:r>
            <a:r>
              <a:rPr lang="en-US" sz="2000" spc="-55"/>
              <a:t>jobs</a:t>
            </a:r>
            <a:r>
              <a:rPr lang="en-US" sz="2000" spc="-75"/>
              <a:t> </a:t>
            </a:r>
            <a:r>
              <a:rPr lang="en-US" sz="2000" spc="-30"/>
              <a:t>completed,</a:t>
            </a:r>
            <a:r>
              <a:rPr lang="en-US" sz="2000" spc="-110"/>
              <a:t> </a:t>
            </a:r>
            <a:r>
              <a:rPr lang="en-US" sz="2000" spc="-80"/>
              <a:t>in-</a:t>
            </a:r>
            <a:r>
              <a:rPr lang="en-US" sz="2000" spc="-55"/>
              <a:t>progress,</a:t>
            </a:r>
            <a:r>
              <a:rPr lang="en-US" sz="2000" spc="-70"/>
              <a:t> processing</a:t>
            </a:r>
            <a:r>
              <a:rPr lang="en-US" sz="2000" spc="-80"/>
              <a:t> </a:t>
            </a:r>
            <a:r>
              <a:rPr lang="en-US" sz="2000" spc="-40"/>
              <a:t>rates,</a:t>
            </a:r>
            <a:r>
              <a:rPr lang="en-US" sz="2000" spc="-95"/>
              <a:t> </a:t>
            </a:r>
            <a:r>
              <a:rPr lang="en-US" sz="2000" spc="-20"/>
              <a:t>etc.</a:t>
            </a:r>
            <a:endParaRPr lang="en-US" sz="2000"/>
          </a:p>
          <a:p>
            <a:pPr marL="12700" indent="-228600">
              <a:lnSpc>
                <a:spcPct val="90000"/>
              </a:lnSpc>
              <a:spcBef>
                <a:spcPts val="1170"/>
              </a:spcBef>
              <a:buFont typeface="Arial" panose="020B0604020202020204" pitchFamily="34" charset="0"/>
              <a:buChar char="•"/>
              <a:tabLst>
                <a:tab pos="335280" algn="l"/>
              </a:tabLst>
            </a:pPr>
            <a:r>
              <a:rPr lang="en-US" sz="2000" spc="-50"/>
              <a:t>∗</a:t>
            </a:r>
            <a:r>
              <a:rPr lang="en-US" sz="2000"/>
              <a:t>	</a:t>
            </a:r>
            <a:r>
              <a:rPr lang="en-US" sz="2000" spc="-75"/>
              <a:t>Sequential</a:t>
            </a:r>
            <a:r>
              <a:rPr lang="en-US" sz="2000" spc="-95"/>
              <a:t> </a:t>
            </a:r>
            <a:r>
              <a:rPr lang="en-US" sz="2000" spc="-10"/>
              <a:t>implementation</a:t>
            </a:r>
            <a:endParaRPr lang="en-US" sz="2000"/>
          </a:p>
          <a:p>
            <a:pPr marL="494030" indent="-228600">
              <a:lnSpc>
                <a:spcPct val="90000"/>
              </a:lnSpc>
              <a:spcBef>
                <a:spcPts val="1230"/>
              </a:spcBef>
              <a:buFont typeface="Arial" panose="020B0604020202020204" pitchFamily="34" charset="0"/>
              <a:buChar char="•"/>
              <a:tabLst>
                <a:tab pos="768350" algn="l"/>
              </a:tabLst>
            </a:pPr>
            <a:r>
              <a:rPr lang="en-US" sz="2000" spc="-50"/>
              <a:t>∗</a:t>
            </a:r>
            <a:r>
              <a:rPr lang="en-US" sz="2000"/>
              <a:t>	</a:t>
            </a:r>
            <a:r>
              <a:rPr lang="en-US" sz="2000" spc="-70"/>
              <a:t>Executed</a:t>
            </a:r>
            <a:r>
              <a:rPr lang="en-US" sz="2000" spc="-110"/>
              <a:t> </a:t>
            </a:r>
            <a:r>
              <a:rPr lang="en-US" sz="2000" spc="-45"/>
              <a:t>sequentially</a:t>
            </a:r>
            <a:r>
              <a:rPr lang="en-US" sz="2000" spc="-95"/>
              <a:t> </a:t>
            </a:r>
            <a:r>
              <a:rPr lang="en-US" sz="2000" spc="-30"/>
              <a:t>on</a:t>
            </a:r>
            <a:r>
              <a:rPr lang="en-US" sz="2000" spc="-90"/>
              <a:t> </a:t>
            </a:r>
            <a:r>
              <a:rPr lang="en-US" sz="2000" spc="-140"/>
              <a:t>a</a:t>
            </a:r>
            <a:r>
              <a:rPr lang="en-US" sz="2000" spc="-85"/>
              <a:t> </a:t>
            </a:r>
            <a:r>
              <a:rPr lang="en-US" sz="2000" spc="-60"/>
              <a:t>single</a:t>
            </a:r>
            <a:r>
              <a:rPr lang="en-US" sz="2000" spc="-95"/>
              <a:t> </a:t>
            </a:r>
            <a:r>
              <a:rPr lang="en-US" sz="2000" spc="-10"/>
              <a:t>machine</a:t>
            </a:r>
            <a:endParaRPr lang="en-US" sz="2000"/>
          </a:p>
          <a:p>
            <a:pPr marL="494030" indent="-228600">
              <a:lnSpc>
                <a:spcPct val="90000"/>
              </a:lnSpc>
              <a:spcBef>
                <a:spcPts val="1205"/>
              </a:spcBef>
              <a:buFont typeface="Arial" panose="020B0604020202020204" pitchFamily="34" charset="0"/>
              <a:buChar char="•"/>
              <a:tabLst>
                <a:tab pos="768350" algn="l"/>
              </a:tabLst>
            </a:pPr>
            <a:r>
              <a:rPr lang="en-US" sz="2000" spc="-50"/>
              <a:t>∗</a:t>
            </a:r>
            <a:r>
              <a:rPr lang="en-US" sz="2000"/>
              <a:t>	</a:t>
            </a:r>
            <a:r>
              <a:rPr lang="en-US" sz="2000" spc="-40"/>
              <a:t>Allows</a:t>
            </a:r>
            <a:r>
              <a:rPr lang="en-US" sz="2000" spc="-90"/>
              <a:t> </a:t>
            </a:r>
            <a:r>
              <a:rPr lang="en-US" sz="2000" spc="-105"/>
              <a:t>use</a:t>
            </a:r>
            <a:r>
              <a:rPr lang="en-US" sz="2000" spc="-80"/>
              <a:t> </a:t>
            </a:r>
            <a:r>
              <a:rPr lang="en-US" sz="2000" spc="65"/>
              <a:t>of</a:t>
            </a:r>
            <a:r>
              <a:rPr lang="en-US" sz="2000" spc="-105"/>
              <a:t> </a:t>
            </a:r>
            <a:r>
              <a:rPr lang="en-US" sz="2000" spc="-30"/>
              <a:t>gdb</a:t>
            </a:r>
            <a:r>
              <a:rPr lang="en-US" sz="2000" spc="-110"/>
              <a:t> </a:t>
            </a:r>
            <a:r>
              <a:rPr lang="en-US" sz="2000" spc="-65"/>
              <a:t>and</a:t>
            </a:r>
            <a:r>
              <a:rPr lang="en-US" sz="2000" spc="-85"/>
              <a:t> </a:t>
            </a:r>
            <a:r>
              <a:rPr lang="en-US" sz="2000"/>
              <a:t>other</a:t>
            </a:r>
            <a:r>
              <a:rPr lang="en-US" sz="2000" spc="-90"/>
              <a:t> </a:t>
            </a:r>
            <a:r>
              <a:rPr lang="en-US" sz="2000" spc="-40"/>
              <a:t>debugging</a:t>
            </a:r>
            <a:r>
              <a:rPr lang="en-US" sz="2000" spc="-90"/>
              <a:t> </a:t>
            </a:r>
            <a:r>
              <a:rPr lang="en-US" sz="2000" spc="-10"/>
              <a:t>tools</a:t>
            </a:r>
            <a:endParaRPr lang="en-US" sz="20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153618" y="1239927"/>
            <a:ext cx="4008586" cy="4680583"/>
          </a:xfrm>
          <a:prstGeom prst="rect">
            <a:avLst/>
          </a:prstGeom>
        </p:spPr>
        <p:txBody>
          <a:bodyPr vert="horz" lIns="0" tIns="13335" rIns="0" bIns="0" rtlCol="0" anchor="ctr">
            <a:normAutofit/>
          </a:bodyPr>
          <a:lstStyle/>
          <a:p>
            <a:pPr marL="1146175">
              <a:spcBef>
                <a:spcPts val="105"/>
              </a:spcBef>
            </a:pPr>
            <a:r>
              <a:rPr lang="en-US" sz="5200" spc="-95"/>
              <a:t>Map</a:t>
            </a:r>
            <a:r>
              <a:rPr lang="en-US" sz="5200" spc="-250"/>
              <a:t> </a:t>
            </a:r>
            <a:r>
              <a:rPr lang="en-US" sz="5200" spc="-235"/>
              <a:t>Reduce</a:t>
            </a:r>
            <a:r>
              <a:rPr lang="en-US" sz="5200" spc="-245"/>
              <a:t> </a:t>
            </a:r>
            <a:r>
              <a:rPr lang="en-US" sz="5200" spc="-10"/>
              <a:t>Motivation</a:t>
            </a:r>
          </a:p>
        </p:txBody>
      </p:sp>
      <p:sp>
        <p:nvSpPr>
          <p:cNvPr id="2" name="object 2"/>
          <p:cNvSpPr txBox="1">
            <a:spLocks noGrp="1"/>
          </p:cNvSpPr>
          <p:nvPr>
            <p:ph idx="1"/>
          </p:nvPr>
        </p:nvSpPr>
        <p:spPr>
          <a:xfrm>
            <a:off x="6291923" y="1239927"/>
            <a:ext cx="4971824" cy="4680583"/>
          </a:xfrm>
          <a:prstGeom prst="rect">
            <a:avLst/>
          </a:prstGeom>
        </p:spPr>
        <p:txBody>
          <a:bodyPr vert="horz" lIns="0" tIns="88900" rIns="0" bIns="0" rtlCol="0" anchor="ctr">
            <a:normAutofit/>
          </a:bodyPr>
          <a:lstStyle/>
          <a:p>
            <a:pPr marL="12700">
              <a:spcBef>
                <a:spcPts val="700"/>
              </a:spcBef>
            </a:pPr>
            <a:r>
              <a:rPr lang="en-US" sz="2000">
                <a:latin typeface="Geneva"/>
                <a:cs typeface="Geneva"/>
              </a:rPr>
              <a:t>∗</a:t>
            </a:r>
            <a:r>
              <a:rPr lang="en-US" sz="2000" spc="160">
                <a:latin typeface="Geneva"/>
                <a:cs typeface="Geneva"/>
              </a:rPr>
              <a:t> </a:t>
            </a:r>
            <a:r>
              <a:rPr lang="en-US" sz="2000" spc="-95"/>
              <a:t>Large</a:t>
            </a:r>
            <a:r>
              <a:rPr lang="en-US" sz="2000" spc="-130"/>
              <a:t> </a:t>
            </a:r>
            <a:r>
              <a:rPr lang="en-US" sz="2000" spc="-160"/>
              <a:t>Scale</a:t>
            </a:r>
            <a:r>
              <a:rPr lang="en-US" sz="2000" spc="-135"/>
              <a:t> </a:t>
            </a:r>
            <a:r>
              <a:rPr lang="en-US" sz="2000" spc="-90"/>
              <a:t>Data</a:t>
            </a:r>
            <a:r>
              <a:rPr lang="en-US" sz="2000" spc="-145"/>
              <a:t> </a:t>
            </a:r>
            <a:r>
              <a:rPr lang="en-US" sz="2000" spc="-10"/>
              <a:t>Processing</a:t>
            </a:r>
            <a:endParaRPr lang="en-US" sz="2000">
              <a:latin typeface="Geneva"/>
              <a:cs typeface="Geneva"/>
            </a:endParaRPr>
          </a:p>
          <a:p>
            <a:pPr marL="314325">
              <a:spcBef>
                <a:spcPts val="545"/>
              </a:spcBef>
            </a:pPr>
            <a:r>
              <a:rPr lang="en-US" sz="2000">
                <a:latin typeface="Geneva"/>
                <a:cs typeface="Geneva"/>
              </a:rPr>
              <a:t>∗</a:t>
            </a:r>
            <a:r>
              <a:rPr lang="en-US" sz="2000" spc="345">
                <a:latin typeface="Geneva"/>
                <a:cs typeface="Geneva"/>
              </a:rPr>
              <a:t> </a:t>
            </a:r>
            <a:r>
              <a:rPr lang="en-US" sz="2000" spc="-120"/>
              <a:t>Process</a:t>
            </a:r>
            <a:r>
              <a:rPr lang="en-US" sz="2000" spc="-145"/>
              <a:t> </a:t>
            </a:r>
            <a:r>
              <a:rPr lang="en-US" sz="2000"/>
              <a:t>lots</a:t>
            </a:r>
            <a:r>
              <a:rPr lang="en-US" sz="2000" spc="-125"/>
              <a:t> </a:t>
            </a:r>
            <a:r>
              <a:rPr lang="en-US" sz="2000" spc="60"/>
              <a:t>of</a:t>
            </a:r>
            <a:r>
              <a:rPr lang="en-US" sz="2000" spc="-125"/>
              <a:t> </a:t>
            </a:r>
            <a:r>
              <a:rPr lang="en-US" sz="2000" spc="-45"/>
              <a:t>data</a:t>
            </a:r>
            <a:r>
              <a:rPr lang="en-US" sz="2000" spc="-145"/>
              <a:t> </a:t>
            </a:r>
            <a:r>
              <a:rPr lang="en-US" sz="2000" spc="-10"/>
              <a:t>(&gt;1TB)</a:t>
            </a:r>
          </a:p>
          <a:p>
            <a:pPr marL="314325">
              <a:spcBef>
                <a:spcPts val="530"/>
              </a:spcBef>
            </a:pPr>
            <a:r>
              <a:rPr lang="en-US" sz="2000">
                <a:latin typeface="Geneva"/>
                <a:cs typeface="Geneva"/>
              </a:rPr>
              <a:t>∗</a:t>
            </a:r>
            <a:r>
              <a:rPr lang="en-US" sz="2000" spc="345">
                <a:latin typeface="Geneva"/>
                <a:cs typeface="Geneva"/>
              </a:rPr>
              <a:t> </a:t>
            </a:r>
            <a:r>
              <a:rPr lang="en-US" sz="2000" spc="-55"/>
              <a:t>Want</a:t>
            </a:r>
            <a:r>
              <a:rPr lang="en-US" sz="2000" spc="-125"/>
              <a:t> </a:t>
            </a:r>
            <a:r>
              <a:rPr lang="en-US" sz="2000" spc="80"/>
              <a:t>to</a:t>
            </a:r>
            <a:r>
              <a:rPr lang="en-US" sz="2000" spc="-125"/>
              <a:t> use</a:t>
            </a:r>
            <a:r>
              <a:rPr lang="en-US" sz="2000" spc="-135"/>
              <a:t> </a:t>
            </a:r>
            <a:r>
              <a:rPr lang="en-US" sz="2000" spc="-65"/>
              <a:t>hundreds</a:t>
            </a:r>
            <a:r>
              <a:rPr lang="en-US" sz="2000" spc="-125"/>
              <a:t> </a:t>
            </a:r>
            <a:r>
              <a:rPr lang="en-US" sz="2000" spc="55"/>
              <a:t>of</a:t>
            </a:r>
            <a:r>
              <a:rPr lang="en-US" sz="2000" spc="-125"/>
              <a:t> </a:t>
            </a:r>
            <a:r>
              <a:rPr lang="en-US" sz="2000" spc="-20"/>
              <a:t>CPUs</a:t>
            </a:r>
          </a:p>
          <a:p>
            <a:pPr marL="12700">
              <a:spcBef>
                <a:spcPts val="555"/>
              </a:spcBef>
            </a:pPr>
            <a:r>
              <a:rPr lang="en-US" sz="2000">
                <a:latin typeface="Geneva"/>
                <a:cs typeface="Geneva"/>
              </a:rPr>
              <a:t>∗</a:t>
            </a:r>
            <a:r>
              <a:rPr lang="en-US" sz="2000" spc="114">
                <a:latin typeface="Geneva"/>
                <a:cs typeface="Geneva"/>
              </a:rPr>
              <a:t> </a:t>
            </a:r>
            <a:r>
              <a:rPr lang="en-US" sz="2000" spc="-20"/>
              <a:t>Challenges</a:t>
            </a:r>
            <a:endParaRPr lang="en-US" sz="2000">
              <a:latin typeface="Geneva"/>
              <a:cs typeface="Geneva"/>
            </a:endParaRPr>
          </a:p>
          <a:p>
            <a:pPr marL="314325">
              <a:spcBef>
                <a:spcPts val="550"/>
              </a:spcBef>
            </a:pPr>
            <a:r>
              <a:rPr lang="en-US" sz="2000">
                <a:latin typeface="Geneva"/>
                <a:cs typeface="Geneva"/>
              </a:rPr>
              <a:t>∗</a:t>
            </a:r>
            <a:r>
              <a:rPr lang="en-US" sz="2000" spc="395">
                <a:latin typeface="Geneva"/>
                <a:cs typeface="Geneva"/>
              </a:rPr>
              <a:t> </a:t>
            </a:r>
            <a:r>
              <a:rPr lang="en-US" sz="2000" spc="-30"/>
              <a:t>Automatic</a:t>
            </a:r>
            <a:r>
              <a:rPr lang="en-US" sz="2000" spc="-135"/>
              <a:t> </a:t>
            </a:r>
            <a:r>
              <a:rPr lang="en-US" sz="2000" spc="-40"/>
              <a:t>parallelization</a:t>
            </a:r>
            <a:r>
              <a:rPr lang="en-US" sz="2000" spc="-145"/>
              <a:t> </a:t>
            </a:r>
            <a:r>
              <a:rPr lang="en-US" sz="2000" spc="-80"/>
              <a:t>and</a:t>
            </a:r>
            <a:r>
              <a:rPr lang="en-US" sz="2000" spc="-114"/>
              <a:t> </a:t>
            </a:r>
            <a:r>
              <a:rPr lang="en-US" sz="2000" spc="-10"/>
              <a:t>distribution</a:t>
            </a:r>
          </a:p>
          <a:p>
            <a:pPr marL="314325">
              <a:spcBef>
                <a:spcPts val="530"/>
              </a:spcBef>
            </a:pPr>
            <a:r>
              <a:rPr lang="en-US" sz="2000">
                <a:latin typeface="Geneva"/>
                <a:cs typeface="Geneva"/>
              </a:rPr>
              <a:t>∗</a:t>
            </a:r>
            <a:r>
              <a:rPr lang="en-US" sz="2000" spc="365">
                <a:latin typeface="Geneva"/>
                <a:cs typeface="Geneva"/>
              </a:rPr>
              <a:t> </a:t>
            </a:r>
            <a:r>
              <a:rPr lang="en-US" sz="2000" spc="-90"/>
              <a:t>Fault-</a:t>
            </a:r>
            <a:r>
              <a:rPr lang="en-US" sz="2000" spc="-10"/>
              <a:t>tolerance</a:t>
            </a:r>
          </a:p>
          <a:p>
            <a:pPr marL="314325">
              <a:spcBef>
                <a:spcPts val="530"/>
              </a:spcBef>
            </a:pPr>
            <a:r>
              <a:rPr lang="en-US" sz="2000">
                <a:latin typeface="Geneva"/>
                <a:cs typeface="Geneva"/>
              </a:rPr>
              <a:t>∗</a:t>
            </a:r>
            <a:r>
              <a:rPr lang="en-US" sz="2000" spc="315">
                <a:latin typeface="Geneva"/>
                <a:cs typeface="Geneva"/>
              </a:rPr>
              <a:t> </a:t>
            </a:r>
            <a:r>
              <a:rPr lang="en-US" sz="2000" spc="-85"/>
              <a:t>I/O</a:t>
            </a:r>
            <a:r>
              <a:rPr lang="en-US" sz="2000" spc="-135"/>
              <a:t> </a:t>
            </a:r>
            <a:r>
              <a:rPr lang="en-US" sz="2000" spc="-10"/>
              <a:t>scheduling</a:t>
            </a:r>
          </a:p>
          <a:p>
            <a:pPr marL="314325">
              <a:spcBef>
                <a:spcPts val="525"/>
              </a:spcBef>
            </a:pPr>
            <a:r>
              <a:rPr lang="en-US" sz="2000">
                <a:latin typeface="Geneva"/>
                <a:cs typeface="Geneva"/>
              </a:rPr>
              <a:t>∗</a:t>
            </a:r>
            <a:r>
              <a:rPr lang="en-US" sz="2000" spc="340">
                <a:latin typeface="Geneva"/>
                <a:cs typeface="Geneva"/>
              </a:rPr>
              <a:t> </a:t>
            </a:r>
            <a:r>
              <a:rPr lang="en-US" sz="2000" spc="-70"/>
              <a:t>Status</a:t>
            </a:r>
            <a:r>
              <a:rPr lang="en-US" sz="2000" spc="-145"/>
              <a:t> </a:t>
            </a:r>
            <a:r>
              <a:rPr lang="en-US" sz="2000" spc="-80"/>
              <a:t>and</a:t>
            </a:r>
            <a:r>
              <a:rPr lang="en-US" sz="2000" spc="-140"/>
              <a:t> </a:t>
            </a:r>
            <a:r>
              <a:rPr lang="en-US" sz="2000" spc="-10"/>
              <a:t>monitoring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DF1A630-2A9B-41A0-92F9-FDA261070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1" name="Rectangle 20">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23">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057025" y="922644"/>
            <a:ext cx="5040285" cy="1169585"/>
          </a:xfrm>
          <a:prstGeom prst="rect">
            <a:avLst/>
          </a:prstGeom>
        </p:spPr>
        <p:txBody>
          <a:bodyPr vert="horz" lIns="91440" tIns="45720" rIns="91440" bIns="45720" rtlCol="0" anchor="b">
            <a:normAutofit/>
          </a:bodyPr>
          <a:lstStyle/>
          <a:p>
            <a:pPr marL="1062355"/>
            <a:r>
              <a:rPr lang="en-US" sz="3700" spc="-190"/>
              <a:t>Typical</a:t>
            </a:r>
            <a:r>
              <a:rPr lang="en-US" sz="3700" spc="-250"/>
              <a:t> </a:t>
            </a:r>
            <a:r>
              <a:rPr lang="en-US" sz="3700" spc="-175"/>
              <a:t>Big</a:t>
            </a:r>
            <a:r>
              <a:rPr lang="en-US" sz="3700" spc="-250"/>
              <a:t> </a:t>
            </a:r>
            <a:r>
              <a:rPr lang="en-US" sz="3700" spc="-170"/>
              <a:t>Data</a:t>
            </a:r>
            <a:r>
              <a:rPr lang="en-US" sz="3700" spc="-280"/>
              <a:t> </a:t>
            </a:r>
            <a:r>
              <a:rPr lang="en-US" sz="3700" spc="-55"/>
              <a:t>Problem</a:t>
            </a:r>
          </a:p>
        </p:txBody>
      </p:sp>
      <p:sp>
        <p:nvSpPr>
          <p:cNvPr id="26" name="Rectangle 25">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p:cNvSpPr txBox="1"/>
          <p:nvPr/>
        </p:nvSpPr>
        <p:spPr>
          <a:xfrm>
            <a:off x="1055715" y="2508105"/>
            <a:ext cx="5040285" cy="3632493"/>
          </a:xfrm>
          <a:prstGeom prst="rect">
            <a:avLst/>
          </a:prstGeom>
        </p:spPr>
        <p:txBody>
          <a:bodyPr vert="horz" lIns="91440" tIns="45720" rIns="91440" bIns="45720" rtlCol="0" anchor="ctr">
            <a:normAutofit/>
          </a:bodyPr>
          <a:lstStyle/>
          <a:p>
            <a:pPr marL="12700" indent="-228600">
              <a:lnSpc>
                <a:spcPct val="90000"/>
              </a:lnSpc>
              <a:spcBef>
                <a:spcPts val="385"/>
              </a:spcBef>
              <a:buFont typeface="Arial" panose="020B0604020202020204" pitchFamily="34" charset="0"/>
              <a:buChar char="•"/>
            </a:pPr>
            <a:r>
              <a:rPr lang="en-US" sz="2000" dirty="0"/>
              <a:t>Iterate</a:t>
            </a:r>
            <a:r>
              <a:rPr lang="en-US" sz="2000" spc="-110" dirty="0"/>
              <a:t> </a:t>
            </a:r>
            <a:r>
              <a:rPr lang="en-US" sz="2000" spc="-45" dirty="0"/>
              <a:t>over</a:t>
            </a:r>
            <a:r>
              <a:rPr lang="en-US" sz="2000" spc="-130" dirty="0"/>
              <a:t> </a:t>
            </a:r>
            <a:r>
              <a:rPr lang="en-US" sz="2000" spc="-170" dirty="0"/>
              <a:t>a </a:t>
            </a:r>
            <a:r>
              <a:rPr lang="en-US" sz="2000" spc="-135" dirty="0"/>
              <a:t> </a:t>
            </a:r>
            <a:r>
              <a:rPr lang="en-US" sz="2000" spc="-60" dirty="0"/>
              <a:t>large</a:t>
            </a:r>
            <a:r>
              <a:rPr lang="en-US" sz="2000" spc="-135" dirty="0"/>
              <a:t> </a:t>
            </a:r>
            <a:r>
              <a:rPr lang="en-US" sz="2000" spc="-50" dirty="0"/>
              <a:t>number</a:t>
            </a:r>
            <a:r>
              <a:rPr lang="en-US" sz="2000" spc="-110" dirty="0"/>
              <a:t> </a:t>
            </a:r>
            <a:r>
              <a:rPr lang="en-US" sz="2000" spc="70" dirty="0"/>
              <a:t>of</a:t>
            </a:r>
            <a:r>
              <a:rPr lang="en-US" sz="2000" spc="-140" dirty="0"/>
              <a:t> </a:t>
            </a:r>
            <a:r>
              <a:rPr lang="en-US" sz="2000" spc="-10" dirty="0"/>
              <a:t>records</a:t>
            </a:r>
            <a:endParaRPr lang="en-US" sz="2000" dirty="0"/>
          </a:p>
          <a:p>
            <a:pPr marL="12700" indent="-228600">
              <a:lnSpc>
                <a:spcPct val="90000"/>
              </a:lnSpc>
              <a:spcBef>
                <a:spcPts val="285"/>
              </a:spcBef>
              <a:buFont typeface="Arial" panose="020B0604020202020204" pitchFamily="34" charset="0"/>
              <a:buChar char="•"/>
            </a:pPr>
            <a:r>
              <a:rPr lang="en-US" sz="2000" spc="-35" dirty="0"/>
              <a:t>Extract</a:t>
            </a:r>
            <a:r>
              <a:rPr lang="en-US" sz="2000" spc="-110" dirty="0"/>
              <a:t> </a:t>
            </a:r>
            <a:r>
              <a:rPr lang="en-US" sz="2000" spc="-35" dirty="0"/>
              <a:t>something</a:t>
            </a:r>
            <a:r>
              <a:rPr lang="en-US" sz="2000" spc="-110" dirty="0"/>
              <a:t> </a:t>
            </a:r>
            <a:r>
              <a:rPr lang="en-US" sz="2000" spc="70" dirty="0"/>
              <a:t>of</a:t>
            </a:r>
            <a:r>
              <a:rPr lang="en-US" sz="2000" spc="-125" dirty="0"/>
              <a:t> </a:t>
            </a:r>
            <a:r>
              <a:rPr lang="en-US" sz="2000" spc="-10" dirty="0"/>
              <a:t>interest</a:t>
            </a:r>
            <a:r>
              <a:rPr lang="en-US" sz="2000" spc="-114" dirty="0"/>
              <a:t> </a:t>
            </a:r>
            <a:r>
              <a:rPr lang="en-US" sz="2000" dirty="0"/>
              <a:t>from</a:t>
            </a:r>
            <a:r>
              <a:rPr lang="en-US" sz="2000" spc="-114" dirty="0"/>
              <a:t> </a:t>
            </a:r>
            <a:r>
              <a:rPr lang="en-US" sz="2000" spc="-20" dirty="0"/>
              <a:t>each</a:t>
            </a:r>
            <a:endParaRPr lang="en-US" sz="2000" dirty="0"/>
          </a:p>
          <a:p>
            <a:pPr marL="12700" indent="-228600">
              <a:lnSpc>
                <a:spcPct val="90000"/>
              </a:lnSpc>
              <a:spcBef>
                <a:spcPts val="290"/>
              </a:spcBef>
              <a:buFont typeface="Arial" panose="020B0604020202020204" pitchFamily="34" charset="0"/>
              <a:buChar char="•"/>
            </a:pPr>
            <a:r>
              <a:rPr lang="en-US" sz="2000" spc="-45" dirty="0"/>
              <a:t>Shuffle</a:t>
            </a:r>
            <a:r>
              <a:rPr lang="en-US" sz="2000" spc="-135" dirty="0"/>
              <a:t> </a:t>
            </a:r>
            <a:r>
              <a:rPr lang="en-US" sz="2000" spc="-85" dirty="0"/>
              <a:t>and</a:t>
            </a:r>
            <a:r>
              <a:rPr lang="en-US" sz="2000" spc="-140" dirty="0"/>
              <a:t> </a:t>
            </a:r>
            <a:r>
              <a:rPr lang="en-US" sz="2000" dirty="0"/>
              <a:t>sort</a:t>
            </a:r>
            <a:r>
              <a:rPr lang="en-US" sz="2000" spc="-140" dirty="0"/>
              <a:t> </a:t>
            </a:r>
            <a:r>
              <a:rPr lang="en-US" sz="2000" spc="-20" dirty="0"/>
              <a:t>intermediate</a:t>
            </a:r>
            <a:r>
              <a:rPr lang="en-US" sz="2000" spc="-110" dirty="0"/>
              <a:t> </a:t>
            </a:r>
            <a:r>
              <a:rPr lang="en-US" sz="2000" spc="-10" dirty="0"/>
              <a:t>results</a:t>
            </a:r>
            <a:endParaRPr lang="en-US" sz="2000" dirty="0"/>
          </a:p>
          <a:p>
            <a:pPr marL="12700" indent="-228600">
              <a:lnSpc>
                <a:spcPct val="90000"/>
              </a:lnSpc>
              <a:spcBef>
                <a:spcPts val="290"/>
              </a:spcBef>
              <a:buFont typeface="Arial" panose="020B0604020202020204" pitchFamily="34" charset="0"/>
              <a:buChar char="•"/>
            </a:pPr>
            <a:r>
              <a:rPr lang="en-US" sz="2000" spc="-55" dirty="0"/>
              <a:t>Aggregate</a:t>
            </a:r>
            <a:r>
              <a:rPr lang="en-US" sz="2000" spc="-114" dirty="0"/>
              <a:t> </a:t>
            </a:r>
            <a:r>
              <a:rPr lang="en-US" sz="2000" spc="-25" dirty="0"/>
              <a:t>intermediate</a:t>
            </a:r>
            <a:r>
              <a:rPr lang="en-US" sz="2000" spc="-105" dirty="0"/>
              <a:t> </a:t>
            </a:r>
            <a:r>
              <a:rPr lang="en-US" sz="2000" spc="-10" dirty="0"/>
              <a:t>results</a:t>
            </a:r>
            <a:endParaRPr lang="en-US" sz="2000" dirty="0"/>
          </a:p>
          <a:p>
            <a:pPr marL="12700" indent="-228600">
              <a:lnSpc>
                <a:spcPct val="90000"/>
              </a:lnSpc>
              <a:spcBef>
                <a:spcPts val="290"/>
              </a:spcBef>
              <a:buFont typeface="Arial" panose="020B0604020202020204" pitchFamily="34" charset="0"/>
              <a:buChar char="•"/>
            </a:pPr>
            <a:r>
              <a:rPr lang="en-US" sz="2000" spc="-95" dirty="0"/>
              <a:t>Generate</a:t>
            </a:r>
            <a:r>
              <a:rPr lang="en-US" sz="2000" spc="-140" dirty="0"/>
              <a:t> </a:t>
            </a:r>
            <a:r>
              <a:rPr lang="en-US" sz="2000" spc="-20" dirty="0"/>
              <a:t>final</a:t>
            </a:r>
            <a:r>
              <a:rPr lang="en-US" sz="2000" spc="-145" dirty="0"/>
              <a:t> </a:t>
            </a:r>
            <a:r>
              <a:rPr lang="en-US" sz="2000" spc="-10" dirty="0"/>
              <a:t>output</a:t>
            </a:r>
            <a:endParaRPr lang="en-US" sz="2000" dirty="0"/>
          </a:p>
          <a:p>
            <a:pPr indent="-228600">
              <a:lnSpc>
                <a:spcPct val="90000"/>
              </a:lnSpc>
              <a:spcBef>
                <a:spcPts val="695"/>
              </a:spcBef>
              <a:buFont typeface="Arial" panose="020B0604020202020204" pitchFamily="34" charset="0"/>
              <a:buChar char="•"/>
            </a:pPr>
            <a:endParaRPr lang="en-US" sz="2000" dirty="0"/>
          </a:p>
          <a:p>
            <a:pPr marL="12700" indent="-228600">
              <a:lnSpc>
                <a:spcPct val="90000"/>
              </a:lnSpc>
              <a:buFont typeface="Arial" panose="020B0604020202020204" pitchFamily="34" charset="0"/>
              <a:buChar char="•"/>
            </a:pPr>
            <a:r>
              <a:rPr lang="en-US" sz="2000" spc="-125" dirty="0"/>
              <a:t>Key</a:t>
            </a:r>
            <a:r>
              <a:rPr lang="en-US" sz="2000" spc="-145" dirty="0"/>
              <a:t> </a:t>
            </a:r>
            <a:r>
              <a:rPr lang="en-US" sz="2000" spc="-10" dirty="0"/>
              <a:t>Idea:</a:t>
            </a:r>
            <a:endParaRPr lang="en-US" sz="2000" dirty="0"/>
          </a:p>
          <a:p>
            <a:pPr marL="314325" indent="-228600">
              <a:lnSpc>
                <a:spcPct val="90000"/>
              </a:lnSpc>
              <a:spcBef>
                <a:spcPts val="285"/>
              </a:spcBef>
              <a:buFont typeface="Arial" panose="020B0604020202020204" pitchFamily="34" charset="0"/>
              <a:buChar char="•"/>
            </a:pPr>
            <a:r>
              <a:rPr lang="en-US" sz="2000" spc="-75"/>
              <a:t>Provide</a:t>
            </a:r>
            <a:r>
              <a:rPr lang="en-US" sz="2000" spc="-114"/>
              <a:t> </a:t>
            </a:r>
            <a:r>
              <a:rPr lang="en-US" sz="2000" spc="-160" dirty="0"/>
              <a:t>a</a:t>
            </a:r>
            <a:r>
              <a:rPr lang="en-US" sz="2000" spc="-120" dirty="0"/>
              <a:t> </a:t>
            </a:r>
            <a:r>
              <a:rPr lang="en-US" sz="2000" spc="-60" dirty="0"/>
              <a:t>Functional</a:t>
            </a:r>
            <a:r>
              <a:rPr lang="en-US" sz="2000" spc="-145" dirty="0"/>
              <a:t> </a:t>
            </a:r>
            <a:r>
              <a:rPr lang="en-US" sz="2000" spc="-30" dirty="0"/>
              <a:t>Abstraction</a:t>
            </a:r>
            <a:r>
              <a:rPr lang="en-US" sz="2000" spc="-140" dirty="0"/>
              <a:t> </a:t>
            </a:r>
            <a:r>
              <a:rPr lang="en-US" sz="2000" spc="50" dirty="0"/>
              <a:t>for</a:t>
            </a:r>
            <a:r>
              <a:rPr lang="en-US" sz="2000" spc="-110" dirty="0"/>
              <a:t> </a:t>
            </a:r>
            <a:r>
              <a:rPr lang="en-US" sz="2000" spc="-145" dirty="0"/>
              <a:t>These</a:t>
            </a:r>
            <a:r>
              <a:rPr lang="en-US" sz="2000" spc="-114" dirty="0"/>
              <a:t> </a:t>
            </a:r>
            <a:r>
              <a:rPr lang="en-US" sz="2000" spc="-85" dirty="0"/>
              <a:t>Two</a:t>
            </a:r>
            <a:r>
              <a:rPr lang="en-US" sz="2000" spc="-105" dirty="0"/>
              <a:t> </a:t>
            </a:r>
            <a:r>
              <a:rPr lang="en-US" sz="2000" spc="-10" dirty="0"/>
              <a:t>Operations</a:t>
            </a:r>
            <a:endParaRPr lang="en-US" sz="2000" dirty="0"/>
          </a:p>
        </p:txBody>
      </p:sp>
      <p:pic>
        <p:nvPicPr>
          <p:cNvPr id="13" name="object 13"/>
          <p:cNvPicPr/>
          <p:nvPr/>
        </p:nvPicPr>
        <p:blipFill>
          <a:blip r:embed="rId2" cstate="print"/>
          <a:stretch>
            <a:fillRect/>
          </a:stretch>
        </p:blipFill>
        <p:spPr>
          <a:xfrm>
            <a:off x="6946667" y="3635881"/>
            <a:ext cx="4389120" cy="1827188"/>
          </a:xfrm>
          <a:prstGeom prst="rect">
            <a:avLst/>
          </a:prstGeom>
        </p:spPr>
      </p:pic>
      <p:grpSp>
        <p:nvGrpSpPr>
          <p:cNvPr id="4" name="object 4"/>
          <p:cNvGrpSpPr/>
          <p:nvPr/>
        </p:nvGrpSpPr>
        <p:grpSpPr>
          <a:xfrm>
            <a:off x="6954360" y="1123131"/>
            <a:ext cx="2104569" cy="1309344"/>
            <a:chOff x="7031481" y="2934589"/>
            <a:chExt cx="833881" cy="518794"/>
          </a:xfrm>
        </p:grpSpPr>
        <p:pic>
          <p:nvPicPr>
            <p:cNvPr id="5" name="object 5"/>
            <p:cNvPicPr/>
            <p:nvPr/>
          </p:nvPicPr>
          <p:blipFill>
            <a:blip r:embed="rId3" cstate="print"/>
            <a:stretch>
              <a:fillRect/>
            </a:stretch>
          </p:blipFill>
          <p:spPr>
            <a:xfrm>
              <a:off x="7034783" y="2948940"/>
              <a:ext cx="830579" cy="504443"/>
            </a:xfrm>
            <a:prstGeom prst="rect">
              <a:avLst/>
            </a:prstGeom>
          </p:spPr>
        </p:pic>
        <p:sp>
          <p:nvSpPr>
            <p:cNvPr id="6" name="object 6"/>
            <p:cNvSpPr/>
            <p:nvPr/>
          </p:nvSpPr>
          <p:spPr>
            <a:xfrm>
              <a:off x="7031481" y="2934589"/>
              <a:ext cx="821690" cy="494665"/>
            </a:xfrm>
            <a:custGeom>
              <a:avLst/>
              <a:gdLst/>
              <a:ahLst/>
              <a:cxnLst/>
              <a:rect l="l" t="t" r="r" b="b"/>
              <a:pathLst>
                <a:path w="821690" h="494664">
                  <a:moveTo>
                    <a:pt x="669035" y="234949"/>
                  </a:moveTo>
                  <a:lnTo>
                    <a:pt x="648065" y="287686"/>
                  </a:lnTo>
                  <a:lnTo>
                    <a:pt x="622127" y="348807"/>
                  </a:lnTo>
                  <a:lnTo>
                    <a:pt x="592423" y="415480"/>
                  </a:lnTo>
                  <a:lnTo>
                    <a:pt x="565657" y="472058"/>
                  </a:lnTo>
                  <a:lnTo>
                    <a:pt x="616838" y="494410"/>
                  </a:lnTo>
                  <a:lnTo>
                    <a:pt x="627602" y="467284"/>
                  </a:lnTo>
                  <a:lnTo>
                    <a:pt x="637412" y="443039"/>
                  </a:lnTo>
                  <a:lnTo>
                    <a:pt x="646271" y="421651"/>
                  </a:lnTo>
                  <a:lnTo>
                    <a:pt x="654176" y="403097"/>
                  </a:lnTo>
                  <a:lnTo>
                    <a:pt x="793737" y="403097"/>
                  </a:lnTo>
                  <a:lnTo>
                    <a:pt x="804104" y="391848"/>
                  </a:lnTo>
                  <a:lnTo>
                    <a:pt x="807220" y="386254"/>
                  </a:lnTo>
                  <a:lnTo>
                    <a:pt x="733282" y="386254"/>
                  </a:lnTo>
                  <a:lnTo>
                    <a:pt x="709054" y="385077"/>
                  </a:lnTo>
                  <a:lnTo>
                    <a:pt x="678814" y="375030"/>
                  </a:lnTo>
                  <a:lnTo>
                    <a:pt x="674877" y="373252"/>
                  </a:lnTo>
                  <a:lnTo>
                    <a:pt x="671321" y="371601"/>
                  </a:lnTo>
                  <a:lnTo>
                    <a:pt x="668400" y="370077"/>
                  </a:lnTo>
                  <a:lnTo>
                    <a:pt x="677463" y="348995"/>
                  </a:lnTo>
                  <a:lnTo>
                    <a:pt x="685926" y="328596"/>
                  </a:lnTo>
                  <a:lnTo>
                    <a:pt x="693546" y="309409"/>
                  </a:lnTo>
                  <a:lnTo>
                    <a:pt x="700404" y="291210"/>
                  </a:lnTo>
                  <a:lnTo>
                    <a:pt x="790523" y="291210"/>
                  </a:lnTo>
                  <a:lnTo>
                    <a:pt x="744854" y="266763"/>
                  </a:lnTo>
                  <a:lnTo>
                    <a:pt x="710596" y="252872"/>
                  </a:lnTo>
                  <a:lnTo>
                    <a:pt x="704853" y="250477"/>
                  </a:lnTo>
                  <a:lnTo>
                    <a:pt x="669035" y="234949"/>
                  </a:lnTo>
                  <a:close/>
                </a:path>
                <a:path w="821690" h="494664">
                  <a:moveTo>
                    <a:pt x="793737" y="403097"/>
                  </a:moveTo>
                  <a:lnTo>
                    <a:pt x="654176" y="403097"/>
                  </a:lnTo>
                  <a:lnTo>
                    <a:pt x="656589" y="404367"/>
                  </a:lnTo>
                  <a:lnTo>
                    <a:pt x="711866" y="422497"/>
                  </a:lnTo>
                  <a:lnTo>
                    <a:pt x="733607" y="424279"/>
                  </a:lnTo>
                  <a:lnTo>
                    <a:pt x="754633" y="422655"/>
                  </a:lnTo>
                  <a:lnTo>
                    <a:pt x="773918" y="416958"/>
                  </a:lnTo>
                  <a:lnTo>
                    <a:pt x="790416" y="406701"/>
                  </a:lnTo>
                  <a:lnTo>
                    <a:pt x="793737" y="403097"/>
                  </a:lnTo>
                  <a:close/>
                </a:path>
                <a:path w="821690" h="494664">
                  <a:moveTo>
                    <a:pt x="790486" y="291210"/>
                  </a:moveTo>
                  <a:lnTo>
                    <a:pt x="700404" y="291210"/>
                  </a:lnTo>
                  <a:lnTo>
                    <a:pt x="708028" y="293139"/>
                  </a:lnTo>
                  <a:lnTo>
                    <a:pt x="715295" y="295306"/>
                  </a:lnTo>
                  <a:lnTo>
                    <a:pt x="750452" y="312693"/>
                  </a:lnTo>
                  <a:lnTo>
                    <a:pt x="767840" y="343467"/>
                  </a:lnTo>
                  <a:lnTo>
                    <a:pt x="763650" y="361949"/>
                  </a:lnTo>
                  <a:lnTo>
                    <a:pt x="751484" y="378549"/>
                  </a:lnTo>
                  <a:lnTo>
                    <a:pt x="733282" y="386254"/>
                  </a:lnTo>
                  <a:lnTo>
                    <a:pt x="807220" y="386254"/>
                  </a:lnTo>
                  <a:lnTo>
                    <a:pt x="814958" y="372363"/>
                  </a:lnTo>
                  <a:lnTo>
                    <a:pt x="819981" y="356814"/>
                  </a:lnTo>
                  <a:lnTo>
                    <a:pt x="821018" y="343467"/>
                  </a:lnTo>
                  <a:lnTo>
                    <a:pt x="821134" y="341979"/>
                  </a:lnTo>
                  <a:lnTo>
                    <a:pt x="818405" y="327858"/>
                  </a:lnTo>
                  <a:lnTo>
                    <a:pt x="811783" y="314451"/>
                  </a:lnTo>
                  <a:lnTo>
                    <a:pt x="802191" y="302093"/>
                  </a:lnTo>
                  <a:lnTo>
                    <a:pt x="790486" y="291210"/>
                  </a:lnTo>
                  <a:close/>
                </a:path>
                <a:path w="821690" h="494664">
                  <a:moveTo>
                    <a:pt x="550841" y="322452"/>
                  </a:moveTo>
                  <a:lnTo>
                    <a:pt x="408431" y="322452"/>
                  </a:lnTo>
                  <a:lnTo>
                    <a:pt x="492796" y="359282"/>
                  </a:lnTo>
                  <a:lnTo>
                    <a:pt x="492489" y="359282"/>
                  </a:lnTo>
                  <a:lnTo>
                    <a:pt x="488765" y="387586"/>
                  </a:lnTo>
                  <a:lnTo>
                    <a:pt x="485346" y="409622"/>
                  </a:lnTo>
                  <a:lnTo>
                    <a:pt x="482236" y="425253"/>
                  </a:lnTo>
                  <a:lnTo>
                    <a:pt x="479424" y="434466"/>
                  </a:lnTo>
                  <a:lnTo>
                    <a:pt x="537717" y="459866"/>
                  </a:lnTo>
                  <a:lnTo>
                    <a:pt x="540170" y="447718"/>
                  </a:lnTo>
                  <a:lnTo>
                    <a:pt x="543147" y="421163"/>
                  </a:lnTo>
                  <a:lnTo>
                    <a:pt x="546647" y="380178"/>
                  </a:lnTo>
                  <a:lnTo>
                    <a:pt x="550841" y="322452"/>
                  </a:lnTo>
                  <a:close/>
                </a:path>
                <a:path w="821690" h="494664">
                  <a:moveTo>
                    <a:pt x="495172" y="159130"/>
                  </a:moveTo>
                  <a:lnTo>
                    <a:pt x="487382" y="169656"/>
                  </a:lnTo>
                  <a:lnTo>
                    <a:pt x="468947" y="190182"/>
                  </a:lnTo>
                  <a:lnTo>
                    <a:pt x="439844" y="220710"/>
                  </a:lnTo>
                  <a:lnTo>
                    <a:pt x="360372" y="301454"/>
                  </a:lnTo>
                  <a:lnTo>
                    <a:pt x="331612" y="331215"/>
                  </a:lnTo>
                  <a:lnTo>
                    <a:pt x="313735" y="350500"/>
                  </a:lnTo>
                  <a:lnTo>
                    <a:pt x="306704" y="359282"/>
                  </a:lnTo>
                  <a:lnTo>
                    <a:pt x="361568" y="383158"/>
                  </a:lnTo>
                  <a:lnTo>
                    <a:pt x="366623" y="374513"/>
                  </a:lnTo>
                  <a:lnTo>
                    <a:pt x="376094" y="361521"/>
                  </a:lnTo>
                  <a:lnTo>
                    <a:pt x="390018" y="344171"/>
                  </a:lnTo>
                  <a:lnTo>
                    <a:pt x="408431" y="322452"/>
                  </a:lnTo>
                  <a:lnTo>
                    <a:pt x="550841" y="322452"/>
                  </a:lnTo>
                  <a:lnTo>
                    <a:pt x="551002" y="320293"/>
                  </a:lnTo>
                  <a:lnTo>
                    <a:pt x="498347" y="320293"/>
                  </a:lnTo>
                  <a:lnTo>
                    <a:pt x="432053" y="291464"/>
                  </a:lnTo>
                  <a:lnTo>
                    <a:pt x="464397" y="255770"/>
                  </a:lnTo>
                  <a:lnTo>
                    <a:pt x="487918" y="229266"/>
                  </a:lnTo>
                  <a:lnTo>
                    <a:pt x="502652" y="211955"/>
                  </a:lnTo>
                  <a:lnTo>
                    <a:pt x="508634" y="203834"/>
                  </a:lnTo>
                  <a:lnTo>
                    <a:pt x="561191" y="203834"/>
                  </a:lnTo>
                  <a:lnTo>
                    <a:pt x="561459" y="201509"/>
                  </a:lnTo>
                  <a:lnTo>
                    <a:pt x="564006" y="189102"/>
                  </a:lnTo>
                  <a:lnTo>
                    <a:pt x="495172" y="159130"/>
                  </a:lnTo>
                  <a:close/>
                </a:path>
                <a:path w="821690" h="494664">
                  <a:moveTo>
                    <a:pt x="359883" y="124586"/>
                  </a:moveTo>
                  <a:lnTo>
                    <a:pt x="303910" y="124586"/>
                  </a:lnTo>
                  <a:lnTo>
                    <a:pt x="306577" y="125856"/>
                  </a:lnTo>
                  <a:lnTo>
                    <a:pt x="301462" y="138551"/>
                  </a:lnTo>
                  <a:lnTo>
                    <a:pt x="293750" y="158353"/>
                  </a:lnTo>
                  <a:lnTo>
                    <a:pt x="283467" y="185275"/>
                  </a:lnTo>
                  <a:lnTo>
                    <a:pt x="267259" y="228250"/>
                  </a:lnTo>
                  <a:lnTo>
                    <a:pt x="257466" y="254115"/>
                  </a:lnTo>
                  <a:lnTo>
                    <a:pt x="246141" y="283400"/>
                  </a:lnTo>
                  <a:lnTo>
                    <a:pt x="236650" y="307161"/>
                  </a:lnTo>
                  <a:lnTo>
                    <a:pt x="228980" y="325373"/>
                  </a:lnTo>
                  <a:lnTo>
                    <a:pt x="281939" y="348487"/>
                  </a:lnTo>
                  <a:lnTo>
                    <a:pt x="285204" y="339629"/>
                  </a:lnTo>
                  <a:lnTo>
                    <a:pt x="292338" y="318960"/>
                  </a:lnTo>
                  <a:lnTo>
                    <a:pt x="303353" y="286480"/>
                  </a:lnTo>
                  <a:lnTo>
                    <a:pt x="318261" y="242188"/>
                  </a:lnTo>
                  <a:lnTo>
                    <a:pt x="334027" y="195826"/>
                  </a:lnTo>
                  <a:lnTo>
                    <a:pt x="347614" y="157321"/>
                  </a:lnTo>
                  <a:lnTo>
                    <a:pt x="359034" y="126674"/>
                  </a:lnTo>
                  <a:lnTo>
                    <a:pt x="359883" y="124586"/>
                  </a:lnTo>
                  <a:close/>
                </a:path>
                <a:path w="821690" h="494664">
                  <a:moveTo>
                    <a:pt x="561191" y="203834"/>
                  </a:moveTo>
                  <a:lnTo>
                    <a:pt x="508634" y="203834"/>
                  </a:lnTo>
                  <a:lnTo>
                    <a:pt x="511555" y="205104"/>
                  </a:lnTo>
                  <a:lnTo>
                    <a:pt x="509456" y="215155"/>
                  </a:lnTo>
                  <a:lnTo>
                    <a:pt x="506571" y="237696"/>
                  </a:lnTo>
                  <a:lnTo>
                    <a:pt x="502876" y="272738"/>
                  </a:lnTo>
                  <a:lnTo>
                    <a:pt x="498474" y="318960"/>
                  </a:lnTo>
                  <a:lnTo>
                    <a:pt x="498347" y="320293"/>
                  </a:lnTo>
                  <a:lnTo>
                    <a:pt x="551002" y="320293"/>
                  </a:lnTo>
                  <a:lnTo>
                    <a:pt x="554791" y="269327"/>
                  </a:lnTo>
                  <a:lnTo>
                    <a:pt x="558082" y="231729"/>
                  </a:lnTo>
                  <a:lnTo>
                    <a:pt x="558201" y="230377"/>
                  </a:lnTo>
                  <a:lnTo>
                    <a:pt x="558298" y="229266"/>
                  </a:lnTo>
                  <a:lnTo>
                    <a:pt x="558387" y="228250"/>
                  </a:lnTo>
                  <a:lnTo>
                    <a:pt x="561191" y="203834"/>
                  </a:lnTo>
                  <a:close/>
                </a:path>
                <a:path w="821690" h="494664">
                  <a:moveTo>
                    <a:pt x="193936" y="54228"/>
                  </a:moveTo>
                  <a:lnTo>
                    <a:pt x="142239" y="54228"/>
                  </a:lnTo>
                  <a:lnTo>
                    <a:pt x="145033" y="55371"/>
                  </a:lnTo>
                  <a:lnTo>
                    <a:pt x="142130" y="67732"/>
                  </a:lnTo>
                  <a:lnTo>
                    <a:pt x="135254" y="105790"/>
                  </a:lnTo>
                  <a:lnTo>
                    <a:pt x="129412" y="165260"/>
                  </a:lnTo>
                  <a:lnTo>
                    <a:pt x="125753" y="215155"/>
                  </a:lnTo>
                  <a:lnTo>
                    <a:pt x="124773" y="228250"/>
                  </a:lnTo>
                  <a:lnTo>
                    <a:pt x="122427" y="251444"/>
                  </a:lnTo>
                  <a:lnTo>
                    <a:pt x="119999" y="267598"/>
                  </a:lnTo>
                  <a:lnTo>
                    <a:pt x="117474" y="276859"/>
                  </a:lnTo>
                  <a:lnTo>
                    <a:pt x="157733" y="294385"/>
                  </a:lnTo>
                  <a:lnTo>
                    <a:pt x="162794" y="286480"/>
                  </a:lnTo>
                  <a:lnTo>
                    <a:pt x="173085" y="273923"/>
                  </a:lnTo>
                  <a:lnTo>
                    <a:pt x="188577" y="256792"/>
                  </a:lnTo>
                  <a:lnTo>
                    <a:pt x="213787" y="230377"/>
                  </a:lnTo>
                  <a:lnTo>
                    <a:pt x="169544" y="230377"/>
                  </a:lnTo>
                  <a:lnTo>
                    <a:pt x="166952" y="229266"/>
                  </a:lnTo>
                  <a:lnTo>
                    <a:pt x="167134" y="228407"/>
                  </a:lnTo>
                  <a:lnTo>
                    <a:pt x="171065" y="215707"/>
                  </a:lnTo>
                  <a:lnTo>
                    <a:pt x="175228" y="194738"/>
                  </a:lnTo>
                  <a:lnTo>
                    <a:pt x="179343" y="166316"/>
                  </a:lnTo>
                  <a:lnTo>
                    <a:pt x="187438" y="94474"/>
                  </a:lnTo>
                  <a:lnTo>
                    <a:pt x="191595" y="65865"/>
                  </a:lnTo>
                  <a:lnTo>
                    <a:pt x="193936" y="54228"/>
                  </a:lnTo>
                  <a:close/>
                </a:path>
                <a:path w="821690" h="494664">
                  <a:moveTo>
                    <a:pt x="129666" y="0"/>
                  </a:moveTo>
                  <a:lnTo>
                    <a:pt x="107362" y="42290"/>
                  </a:lnTo>
                  <a:lnTo>
                    <a:pt x="87179" y="77438"/>
                  </a:lnTo>
                  <a:lnTo>
                    <a:pt x="60959" y="121919"/>
                  </a:lnTo>
                  <a:lnTo>
                    <a:pt x="35165" y="165260"/>
                  </a:lnTo>
                  <a:lnTo>
                    <a:pt x="16430" y="196992"/>
                  </a:lnTo>
                  <a:lnTo>
                    <a:pt x="4720" y="217128"/>
                  </a:lnTo>
                  <a:lnTo>
                    <a:pt x="0" y="225678"/>
                  </a:lnTo>
                  <a:lnTo>
                    <a:pt x="48132" y="246633"/>
                  </a:lnTo>
                  <a:lnTo>
                    <a:pt x="54941" y="231729"/>
                  </a:lnTo>
                  <a:lnTo>
                    <a:pt x="65071" y="210645"/>
                  </a:lnTo>
                  <a:lnTo>
                    <a:pt x="78511" y="183393"/>
                  </a:lnTo>
                  <a:lnTo>
                    <a:pt x="100898" y="138747"/>
                  </a:lnTo>
                  <a:lnTo>
                    <a:pt x="112039" y="116576"/>
                  </a:lnTo>
                  <a:lnTo>
                    <a:pt x="125460" y="89487"/>
                  </a:lnTo>
                  <a:lnTo>
                    <a:pt x="135522" y="68708"/>
                  </a:lnTo>
                  <a:lnTo>
                    <a:pt x="142239" y="54228"/>
                  </a:lnTo>
                  <a:lnTo>
                    <a:pt x="193936" y="54228"/>
                  </a:lnTo>
                  <a:lnTo>
                    <a:pt x="195871" y="44614"/>
                  </a:lnTo>
                  <a:lnTo>
                    <a:pt x="200278" y="30733"/>
                  </a:lnTo>
                  <a:lnTo>
                    <a:pt x="129666" y="0"/>
                  </a:lnTo>
                  <a:close/>
                </a:path>
                <a:path w="821690" h="494664">
                  <a:moveTo>
                    <a:pt x="298449" y="73532"/>
                  </a:moveTo>
                  <a:lnTo>
                    <a:pt x="291066" y="86014"/>
                  </a:lnTo>
                  <a:lnTo>
                    <a:pt x="277860" y="103282"/>
                  </a:lnTo>
                  <a:lnTo>
                    <a:pt x="258820" y="125360"/>
                  </a:lnTo>
                  <a:lnTo>
                    <a:pt x="208978" y="179085"/>
                  </a:lnTo>
                  <a:lnTo>
                    <a:pt x="189928" y="201040"/>
                  </a:lnTo>
                  <a:lnTo>
                    <a:pt x="176783" y="218138"/>
                  </a:lnTo>
                  <a:lnTo>
                    <a:pt x="169544" y="230377"/>
                  </a:lnTo>
                  <a:lnTo>
                    <a:pt x="213787" y="230377"/>
                  </a:lnTo>
                  <a:lnTo>
                    <a:pt x="249427" y="192468"/>
                  </a:lnTo>
                  <a:lnTo>
                    <a:pt x="276605" y="160908"/>
                  </a:lnTo>
                  <a:lnTo>
                    <a:pt x="303910" y="124586"/>
                  </a:lnTo>
                  <a:lnTo>
                    <a:pt x="359883" y="124586"/>
                  </a:lnTo>
                  <a:lnTo>
                    <a:pt x="368299" y="103885"/>
                  </a:lnTo>
                  <a:lnTo>
                    <a:pt x="298449" y="73532"/>
                  </a:lnTo>
                  <a:close/>
                </a:path>
              </a:pathLst>
            </a:custGeom>
            <a:solidFill>
              <a:srgbClr val="FFFF00"/>
            </a:solidFill>
          </p:spPr>
          <p:txBody>
            <a:bodyPr wrap="square" lIns="0" tIns="0" rIns="0" bIns="0" rtlCol="0"/>
            <a:lstStyle/>
            <a:p>
              <a:endParaRPr/>
            </a:p>
          </p:txBody>
        </p:sp>
        <p:pic>
          <p:nvPicPr>
            <p:cNvPr id="7" name="object 7"/>
            <p:cNvPicPr/>
            <p:nvPr/>
          </p:nvPicPr>
          <p:blipFill>
            <a:blip r:embed="rId4" cstate="print"/>
            <a:stretch>
              <a:fillRect/>
            </a:stretch>
          </p:blipFill>
          <p:spPr>
            <a:xfrm>
              <a:off x="7696834" y="3222752"/>
              <a:ext cx="105535" cy="101139"/>
            </a:xfrm>
            <a:prstGeom prst="rect">
              <a:avLst/>
            </a:prstGeom>
          </p:spPr>
        </p:pic>
        <p:pic>
          <p:nvPicPr>
            <p:cNvPr id="8" name="object 8"/>
            <p:cNvPicPr/>
            <p:nvPr/>
          </p:nvPicPr>
          <p:blipFill>
            <a:blip r:embed="rId5" cstate="print"/>
            <a:stretch>
              <a:fillRect/>
            </a:stretch>
          </p:blipFill>
          <p:spPr>
            <a:xfrm>
              <a:off x="7460487" y="3135376"/>
              <a:ext cx="85598" cy="122555"/>
            </a:xfrm>
            <a:prstGeom prst="rect">
              <a:avLst/>
            </a:prstGeom>
          </p:spPr>
        </p:pic>
        <p:sp>
          <p:nvSpPr>
            <p:cNvPr id="9" name="object 9"/>
            <p:cNvSpPr/>
            <p:nvPr/>
          </p:nvSpPr>
          <p:spPr>
            <a:xfrm>
              <a:off x="7031481" y="2934589"/>
              <a:ext cx="821690" cy="494665"/>
            </a:xfrm>
            <a:custGeom>
              <a:avLst/>
              <a:gdLst/>
              <a:ahLst/>
              <a:cxnLst/>
              <a:rect l="l" t="t" r="r" b="b"/>
              <a:pathLst>
                <a:path w="821690" h="494664">
                  <a:moveTo>
                    <a:pt x="495172" y="159130"/>
                  </a:moveTo>
                  <a:lnTo>
                    <a:pt x="564006" y="189102"/>
                  </a:lnTo>
                  <a:lnTo>
                    <a:pt x="561459" y="201509"/>
                  </a:lnTo>
                  <a:lnTo>
                    <a:pt x="558387" y="228250"/>
                  </a:lnTo>
                  <a:lnTo>
                    <a:pt x="554791" y="269327"/>
                  </a:lnTo>
                  <a:lnTo>
                    <a:pt x="550671" y="324738"/>
                  </a:lnTo>
                  <a:lnTo>
                    <a:pt x="546647" y="380178"/>
                  </a:lnTo>
                  <a:lnTo>
                    <a:pt x="543147" y="421163"/>
                  </a:lnTo>
                  <a:lnTo>
                    <a:pt x="540170" y="447718"/>
                  </a:lnTo>
                  <a:lnTo>
                    <a:pt x="537717" y="459866"/>
                  </a:lnTo>
                  <a:lnTo>
                    <a:pt x="479424" y="434466"/>
                  </a:lnTo>
                  <a:lnTo>
                    <a:pt x="482236" y="425253"/>
                  </a:lnTo>
                  <a:lnTo>
                    <a:pt x="485346" y="409622"/>
                  </a:lnTo>
                  <a:lnTo>
                    <a:pt x="488765" y="387586"/>
                  </a:lnTo>
                  <a:lnTo>
                    <a:pt x="492505" y="359155"/>
                  </a:lnTo>
                  <a:lnTo>
                    <a:pt x="408431" y="322452"/>
                  </a:lnTo>
                  <a:lnTo>
                    <a:pt x="390018" y="344171"/>
                  </a:lnTo>
                  <a:lnTo>
                    <a:pt x="376094" y="361521"/>
                  </a:lnTo>
                  <a:lnTo>
                    <a:pt x="366623" y="374513"/>
                  </a:lnTo>
                  <a:lnTo>
                    <a:pt x="361568" y="383158"/>
                  </a:lnTo>
                  <a:lnTo>
                    <a:pt x="306704" y="359282"/>
                  </a:lnTo>
                  <a:lnTo>
                    <a:pt x="313735" y="350500"/>
                  </a:lnTo>
                  <a:lnTo>
                    <a:pt x="331612" y="331215"/>
                  </a:lnTo>
                  <a:lnTo>
                    <a:pt x="360372" y="301454"/>
                  </a:lnTo>
                  <a:lnTo>
                    <a:pt x="400049" y="261238"/>
                  </a:lnTo>
                  <a:lnTo>
                    <a:pt x="439844" y="220710"/>
                  </a:lnTo>
                  <a:lnTo>
                    <a:pt x="468947" y="190182"/>
                  </a:lnTo>
                  <a:lnTo>
                    <a:pt x="487382" y="169656"/>
                  </a:lnTo>
                  <a:lnTo>
                    <a:pt x="495172" y="159130"/>
                  </a:lnTo>
                  <a:close/>
                </a:path>
                <a:path w="821690" h="494664">
                  <a:moveTo>
                    <a:pt x="129666" y="0"/>
                  </a:moveTo>
                  <a:lnTo>
                    <a:pt x="200278" y="30733"/>
                  </a:lnTo>
                  <a:lnTo>
                    <a:pt x="195871" y="44614"/>
                  </a:lnTo>
                  <a:lnTo>
                    <a:pt x="191595" y="65865"/>
                  </a:lnTo>
                  <a:lnTo>
                    <a:pt x="187438" y="94474"/>
                  </a:lnTo>
                  <a:lnTo>
                    <a:pt x="183387" y="130428"/>
                  </a:lnTo>
                  <a:lnTo>
                    <a:pt x="179343" y="166316"/>
                  </a:lnTo>
                  <a:lnTo>
                    <a:pt x="175228" y="194738"/>
                  </a:lnTo>
                  <a:lnTo>
                    <a:pt x="171065" y="215707"/>
                  </a:lnTo>
                  <a:lnTo>
                    <a:pt x="166877" y="229234"/>
                  </a:lnTo>
                  <a:lnTo>
                    <a:pt x="169544" y="230377"/>
                  </a:lnTo>
                  <a:lnTo>
                    <a:pt x="176783" y="218138"/>
                  </a:lnTo>
                  <a:lnTo>
                    <a:pt x="189928" y="201040"/>
                  </a:lnTo>
                  <a:lnTo>
                    <a:pt x="208978" y="179085"/>
                  </a:lnTo>
                  <a:lnTo>
                    <a:pt x="233933" y="152272"/>
                  </a:lnTo>
                  <a:lnTo>
                    <a:pt x="258820" y="125360"/>
                  </a:lnTo>
                  <a:lnTo>
                    <a:pt x="277860" y="103282"/>
                  </a:lnTo>
                  <a:lnTo>
                    <a:pt x="291066" y="86014"/>
                  </a:lnTo>
                  <a:lnTo>
                    <a:pt x="298449" y="73532"/>
                  </a:lnTo>
                  <a:lnTo>
                    <a:pt x="368299" y="103885"/>
                  </a:lnTo>
                  <a:lnTo>
                    <a:pt x="347614" y="157321"/>
                  </a:lnTo>
                  <a:lnTo>
                    <a:pt x="334027" y="195826"/>
                  </a:lnTo>
                  <a:lnTo>
                    <a:pt x="318261" y="242188"/>
                  </a:lnTo>
                  <a:lnTo>
                    <a:pt x="303353" y="286480"/>
                  </a:lnTo>
                  <a:lnTo>
                    <a:pt x="292338" y="318960"/>
                  </a:lnTo>
                  <a:lnTo>
                    <a:pt x="285204" y="339629"/>
                  </a:lnTo>
                  <a:lnTo>
                    <a:pt x="281939" y="348487"/>
                  </a:lnTo>
                  <a:lnTo>
                    <a:pt x="228980" y="325373"/>
                  </a:lnTo>
                  <a:lnTo>
                    <a:pt x="236650" y="307161"/>
                  </a:lnTo>
                  <a:lnTo>
                    <a:pt x="246141" y="283400"/>
                  </a:lnTo>
                  <a:lnTo>
                    <a:pt x="257466" y="254115"/>
                  </a:lnTo>
                  <a:lnTo>
                    <a:pt x="270636" y="219328"/>
                  </a:lnTo>
                  <a:lnTo>
                    <a:pt x="283467" y="185275"/>
                  </a:lnTo>
                  <a:lnTo>
                    <a:pt x="293750" y="158353"/>
                  </a:lnTo>
                  <a:lnTo>
                    <a:pt x="301462" y="138551"/>
                  </a:lnTo>
                  <a:lnTo>
                    <a:pt x="306577" y="125856"/>
                  </a:lnTo>
                  <a:lnTo>
                    <a:pt x="303910" y="124586"/>
                  </a:lnTo>
                  <a:lnTo>
                    <a:pt x="276605" y="160908"/>
                  </a:lnTo>
                  <a:lnTo>
                    <a:pt x="249427" y="192468"/>
                  </a:lnTo>
                  <a:lnTo>
                    <a:pt x="209295" y="235076"/>
                  </a:lnTo>
                  <a:lnTo>
                    <a:pt x="188577" y="256792"/>
                  </a:lnTo>
                  <a:lnTo>
                    <a:pt x="173085" y="273923"/>
                  </a:lnTo>
                  <a:lnTo>
                    <a:pt x="162808" y="286458"/>
                  </a:lnTo>
                  <a:lnTo>
                    <a:pt x="157733" y="294385"/>
                  </a:lnTo>
                  <a:lnTo>
                    <a:pt x="117474" y="276859"/>
                  </a:lnTo>
                  <a:lnTo>
                    <a:pt x="124761" y="228407"/>
                  </a:lnTo>
                  <a:lnTo>
                    <a:pt x="129218" y="167638"/>
                  </a:lnTo>
                  <a:lnTo>
                    <a:pt x="131317" y="141906"/>
                  </a:lnTo>
                  <a:lnTo>
                    <a:pt x="137229" y="92930"/>
                  </a:lnTo>
                  <a:lnTo>
                    <a:pt x="145033" y="55371"/>
                  </a:lnTo>
                  <a:lnTo>
                    <a:pt x="142239" y="54228"/>
                  </a:lnTo>
                  <a:lnTo>
                    <a:pt x="135522" y="68708"/>
                  </a:lnTo>
                  <a:lnTo>
                    <a:pt x="125460" y="89487"/>
                  </a:lnTo>
                  <a:lnTo>
                    <a:pt x="112039" y="116576"/>
                  </a:lnTo>
                  <a:lnTo>
                    <a:pt x="95249" y="149986"/>
                  </a:lnTo>
                  <a:lnTo>
                    <a:pt x="78511" y="183393"/>
                  </a:lnTo>
                  <a:lnTo>
                    <a:pt x="65071" y="210645"/>
                  </a:lnTo>
                  <a:lnTo>
                    <a:pt x="54941" y="231729"/>
                  </a:lnTo>
                  <a:lnTo>
                    <a:pt x="48132" y="246633"/>
                  </a:lnTo>
                  <a:lnTo>
                    <a:pt x="0" y="225678"/>
                  </a:lnTo>
                  <a:lnTo>
                    <a:pt x="4720" y="217128"/>
                  </a:lnTo>
                  <a:lnTo>
                    <a:pt x="16430" y="196992"/>
                  </a:lnTo>
                  <a:lnTo>
                    <a:pt x="35165" y="165260"/>
                  </a:lnTo>
                  <a:lnTo>
                    <a:pt x="60959" y="121919"/>
                  </a:lnTo>
                  <a:lnTo>
                    <a:pt x="87179" y="77438"/>
                  </a:lnTo>
                  <a:lnTo>
                    <a:pt x="107362" y="42290"/>
                  </a:lnTo>
                  <a:lnTo>
                    <a:pt x="121521" y="16478"/>
                  </a:lnTo>
                  <a:lnTo>
                    <a:pt x="129666" y="0"/>
                  </a:lnTo>
                  <a:close/>
                </a:path>
                <a:path w="821690" h="494664">
                  <a:moveTo>
                    <a:pt x="760221" y="273303"/>
                  </a:moveTo>
                  <a:lnTo>
                    <a:pt x="802191" y="302093"/>
                  </a:lnTo>
                  <a:lnTo>
                    <a:pt x="821134" y="341979"/>
                  </a:lnTo>
                  <a:lnTo>
                    <a:pt x="819981" y="356814"/>
                  </a:lnTo>
                  <a:lnTo>
                    <a:pt x="804104" y="391848"/>
                  </a:lnTo>
                  <a:lnTo>
                    <a:pt x="773918" y="416958"/>
                  </a:lnTo>
                  <a:lnTo>
                    <a:pt x="733607" y="424279"/>
                  </a:lnTo>
                  <a:lnTo>
                    <a:pt x="711866" y="422497"/>
                  </a:lnTo>
                  <a:lnTo>
                    <a:pt x="666241" y="408812"/>
                  </a:lnTo>
                  <a:lnTo>
                    <a:pt x="654176" y="403097"/>
                  </a:lnTo>
                  <a:lnTo>
                    <a:pt x="646271" y="421651"/>
                  </a:lnTo>
                  <a:lnTo>
                    <a:pt x="637412" y="443039"/>
                  </a:lnTo>
                  <a:lnTo>
                    <a:pt x="627602" y="467284"/>
                  </a:lnTo>
                  <a:lnTo>
                    <a:pt x="616838" y="494410"/>
                  </a:lnTo>
                  <a:lnTo>
                    <a:pt x="565657" y="472058"/>
                  </a:lnTo>
                  <a:lnTo>
                    <a:pt x="592423" y="415480"/>
                  </a:lnTo>
                  <a:lnTo>
                    <a:pt x="622045" y="348995"/>
                  </a:lnTo>
                  <a:lnTo>
                    <a:pt x="648065" y="287686"/>
                  </a:lnTo>
                  <a:lnTo>
                    <a:pt x="669035" y="234949"/>
                  </a:lnTo>
                  <a:lnTo>
                    <a:pt x="700658" y="248665"/>
                  </a:lnTo>
                  <a:lnTo>
                    <a:pt x="736183" y="263195"/>
                  </a:lnTo>
                  <a:lnTo>
                    <a:pt x="744854" y="266763"/>
                  </a:lnTo>
                  <a:lnTo>
                    <a:pt x="752859" y="270140"/>
                  </a:lnTo>
                  <a:lnTo>
                    <a:pt x="760221" y="273303"/>
                  </a:lnTo>
                  <a:close/>
                </a:path>
              </a:pathLst>
            </a:custGeom>
            <a:ln w="6096">
              <a:solidFill>
                <a:srgbClr val="4584D2"/>
              </a:solidFill>
            </a:ln>
          </p:spPr>
          <p:txBody>
            <a:bodyPr wrap="square" lIns="0" tIns="0" rIns="0" bIns="0" rtlCol="0"/>
            <a:lstStyle/>
            <a:p>
              <a:endParaRPr/>
            </a:p>
          </p:txBody>
        </p:sp>
      </p:grpSp>
      <p:grpSp>
        <p:nvGrpSpPr>
          <p:cNvPr id="10" name="object 10"/>
          <p:cNvGrpSpPr/>
          <p:nvPr/>
        </p:nvGrpSpPr>
        <p:grpSpPr>
          <a:xfrm>
            <a:off x="9223522" y="1169998"/>
            <a:ext cx="2111688" cy="1207474"/>
            <a:chOff x="6516878" y="3821810"/>
            <a:chExt cx="1397254" cy="798957"/>
          </a:xfrm>
        </p:grpSpPr>
        <p:pic>
          <p:nvPicPr>
            <p:cNvPr id="11" name="object 11"/>
            <p:cNvPicPr/>
            <p:nvPr/>
          </p:nvPicPr>
          <p:blipFill>
            <a:blip r:embed="rId6" cstate="print"/>
            <a:stretch>
              <a:fillRect/>
            </a:stretch>
          </p:blipFill>
          <p:spPr>
            <a:xfrm>
              <a:off x="6534912" y="3828287"/>
              <a:ext cx="1379220" cy="792480"/>
            </a:xfrm>
            <a:prstGeom prst="rect">
              <a:avLst/>
            </a:prstGeom>
          </p:spPr>
        </p:pic>
        <p:pic>
          <p:nvPicPr>
            <p:cNvPr id="12" name="object 12"/>
            <p:cNvPicPr/>
            <p:nvPr/>
          </p:nvPicPr>
          <p:blipFill>
            <a:blip r:embed="rId7" cstate="print"/>
            <a:stretch>
              <a:fillRect/>
            </a:stretch>
          </p:blipFill>
          <p:spPr>
            <a:xfrm>
              <a:off x="6516878" y="3821810"/>
              <a:ext cx="1375791" cy="789432"/>
            </a:xfrm>
            <a:prstGeom prst="rect">
              <a:avLst/>
            </a:prstGeom>
          </p:spPr>
        </p:pic>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4DBE870-6DF8-50D2-8646-EAF761929E4F}"/>
              </a:ext>
            </a:extLst>
          </p:cNvPr>
          <p:cNvPicPr>
            <a:picLocks noChangeAspect="1"/>
          </p:cNvPicPr>
          <p:nvPr/>
        </p:nvPicPr>
        <p:blipFill>
          <a:blip r:embed="rId2">
            <a:duotone>
              <a:schemeClr val="bg2">
                <a:shade val="45000"/>
                <a:satMod val="135000"/>
              </a:schemeClr>
              <a:prstClr val="white"/>
            </a:duotone>
          </a:blip>
          <a:srcRect t="6010" b="6781"/>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838200" y="365125"/>
            <a:ext cx="10515600" cy="1325563"/>
          </a:xfrm>
          <a:prstGeom prst="rect">
            <a:avLst/>
          </a:prstGeom>
        </p:spPr>
        <p:txBody>
          <a:bodyPr vert="horz" lIns="0" tIns="13335" rIns="0" bIns="0" rtlCol="0">
            <a:normAutofit/>
          </a:bodyPr>
          <a:lstStyle/>
          <a:p>
            <a:pPr marL="302260">
              <a:spcBef>
                <a:spcPts val="105"/>
              </a:spcBef>
            </a:pPr>
            <a:r>
              <a:rPr spc="-95" dirty="0"/>
              <a:t>Map</a:t>
            </a:r>
            <a:r>
              <a:rPr spc="-254" dirty="0"/>
              <a:t> </a:t>
            </a:r>
            <a:r>
              <a:rPr spc="-240" dirty="0"/>
              <a:t>Reduce</a:t>
            </a:r>
            <a:r>
              <a:rPr spc="-225" dirty="0"/>
              <a:t> Core</a:t>
            </a:r>
            <a:r>
              <a:rPr spc="-235" dirty="0"/>
              <a:t> </a:t>
            </a:r>
            <a:r>
              <a:rPr spc="-35" dirty="0"/>
              <a:t>Functionality</a:t>
            </a:r>
            <a:endParaRPr lang="en-US" spc="-35"/>
          </a:p>
        </p:txBody>
      </p:sp>
      <p:graphicFrame>
        <p:nvGraphicFramePr>
          <p:cNvPr id="5" name="object 2">
            <a:extLst>
              <a:ext uri="{FF2B5EF4-FFF2-40B4-BE49-F238E27FC236}">
                <a16:creationId xmlns:a16="http://schemas.microsoft.com/office/drawing/2014/main" id="{B8C911DD-E7FA-FD12-0E28-598FD4F45E12}"/>
              </a:ext>
            </a:extLst>
          </p:cNvPr>
          <p:cNvGraphicFramePr>
            <a:graphicFrameLocks noGrp="1"/>
          </p:cNvGraphicFramePr>
          <p:nvPr>
            <p:ph idx="1"/>
            <p:extLst>
              <p:ext uri="{D42A27DB-BD31-4B8C-83A1-F6EECF244321}">
                <p14:modId xmlns:p14="http://schemas.microsoft.com/office/powerpoint/2010/main" val="263129407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object 3" descr="$PPTXTitle"/>
          <p:cNvSpPr txBox="1">
            <a:spLocks noGrp="1"/>
          </p:cNvSpPr>
          <p:nvPr>
            <p:ph type="title"/>
          </p:nvPr>
        </p:nvSpPr>
        <p:spPr>
          <a:xfrm>
            <a:off x="838201" y="3998018"/>
            <a:ext cx="3981854" cy="2216513"/>
          </a:xfrm>
          <a:prstGeom prst="rect">
            <a:avLst/>
          </a:prstGeom>
        </p:spPr>
        <p:txBody>
          <a:bodyPr vert="horz" lIns="91440" tIns="45720" rIns="91440" bIns="45720" rtlCol="0" anchor="ctr">
            <a:normAutofit/>
          </a:bodyPr>
          <a:lstStyle/>
          <a:p>
            <a:pPr marL="1320165"/>
            <a:r>
              <a:rPr lang="en-US" kern="1200" spc="-95">
                <a:solidFill>
                  <a:schemeClr val="tx1"/>
                </a:solidFill>
                <a:latin typeface="+mj-lt"/>
                <a:ea typeface="+mj-ea"/>
                <a:cs typeface="+mj-cs"/>
              </a:rPr>
              <a:t>Map</a:t>
            </a:r>
            <a:r>
              <a:rPr lang="en-US" kern="1200" spc="-245">
                <a:solidFill>
                  <a:schemeClr val="tx1"/>
                </a:solidFill>
                <a:latin typeface="+mj-lt"/>
                <a:ea typeface="+mj-ea"/>
                <a:cs typeface="+mj-cs"/>
              </a:rPr>
              <a:t> </a:t>
            </a:r>
            <a:r>
              <a:rPr lang="en-US" kern="1200" spc="-240">
                <a:solidFill>
                  <a:schemeClr val="tx1"/>
                </a:solidFill>
                <a:latin typeface="+mj-lt"/>
                <a:ea typeface="+mj-ea"/>
                <a:cs typeface="+mj-cs"/>
              </a:rPr>
              <a:t>Reduce</a:t>
            </a:r>
            <a:r>
              <a:rPr lang="en-US" kern="1200" spc="-220">
                <a:solidFill>
                  <a:schemeClr val="tx1"/>
                </a:solidFill>
                <a:latin typeface="+mj-lt"/>
                <a:ea typeface="+mj-ea"/>
                <a:cs typeface="+mj-cs"/>
              </a:rPr>
              <a:t> </a:t>
            </a:r>
            <a:r>
              <a:rPr lang="en-US" kern="1200" spc="-50">
                <a:solidFill>
                  <a:schemeClr val="tx1"/>
                </a:solidFill>
                <a:latin typeface="+mj-lt"/>
                <a:ea typeface="+mj-ea"/>
                <a:cs typeface="+mj-cs"/>
              </a:rPr>
              <a:t>Overview</a:t>
            </a:r>
          </a:p>
        </p:txBody>
      </p:sp>
      <p:sp>
        <p:nvSpPr>
          <p:cNvPr id="11" name="Arc 10">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4" name="object 4"/>
          <p:cNvPicPr/>
          <p:nvPr/>
        </p:nvPicPr>
        <p:blipFill>
          <a:blip r:embed="rId2" cstate="print"/>
          <a:stretch>
            <a:fillRect/>
          </a:stretch>
        </p:blipFill>
        <p:spPr>
          <a:xfrm>
            <a:off x="659914" y="1429101"/>
            <a:ext cx="10872172" cy="1508278"/>
          </a:xfrm>
          <a:custGeom>
            <a:avLst/>
            <a:gdLst/>
            <a:ahLst/>
            <a:cxnLst/>
            <a:rect l="l" t="t" r="r" b="b"/>
            <a:pathLst>
              <a:path w="10580201" h="2957472">
                <a:moveTo>
                  <a:pt x="88961" y="0"/>
                </a:moveTo>
                <a:lnTo>
                  <a:pt x="10491240" y="0"/>
                </a:lnTo>
                <a:cubicBezTo>
                  <a:pt x="10540372" y="0"/>
                  <a:pt x="10580201" y="39829"/>
                  <a:pt x="10580201" y="88961"/>
                </a:cubicBezTo>
                <a:lnTo>
                  <a:pt x="10580201" y="2868511"/>
                </a:lnTo>
                <a:cubicBezTo>
                  <a:pt x="10580201" y="2917643"/>
                  <a:pt x="10540372" y="2957472"/>
                  <a:pt x="10491240" y="2957472"/>
                </a:cubicBezTo>
                <a:lnTo>
                  <a:pt x="88961" y="2957472"/>
                </a:lnTo>
                <a:cubicBezTo>
                  <a:pt x="39829" y="2957472"/>
                  <a:pt x="0" y="2917643"/>
                  <a:pt x="0" y="2868511"/>
                </a:cubicBezTo>
                <a:lnTo>
                  <a:pt x="0" y="88961"/>
                </a:lnTo>
                <a:cubicBezTo>
                  <a:pt x="0" y="39829"/>
                  <a:pt x="39829" y="0"/>
                  <a:pt x="88961" y="0"/>
                </a:cubicBezTo>
                <a:close/>
              </a:path>
            </a:pathLst>
          </a:custGeom>
        </p:spPr>
      </p:pic>
      <p:sp>
        <p:nvSpPr>
          <p:cNvPr id="2" name="object 2"/>
          <p:cNvSpPr txBox="1"/>
          <p:nvPr/>
        </p:nvSpPr>
        <p:spPr>
          <a:xfrm>
            <a:off x="4970835" y="3998019"/>
            <a:ext cx="6382966" cy="2216512"/>
          </a:xfrm>
          <a:prstGeom prst="rect">
            <a:avLst/>
          </a:prstGeom>
        </p:spPr>
        <p:txBody>
          <a:bodyPr vert="horz" lIns="91440" tIns="45720" rIns="91440" bIns="45720" rtlCol="0">
            <a:normAutofit/>
          </a:bodyPr>
          <a:lstStyle/>
          <a:p>
            <a:pPr marL="12700" indent="-228600">
              <a:lnSpc>
                <a:spcPct val="90000"/>
              </a:lnSpc>
              <a:spcBef>
                <a:spcPts val="95"/>
              </a:spcBef>
              <a:buFont typeface="Arial" panose="020B0604020202020204" pitchFamily="34" charset="0"/>
              <a:buChar char="•"/>
              <a:tabLst>
                <a:tab pos="286385" algn="l"/>
              </a:tabLst>
            </a:pPr>
            <a:r>
              <a:rPr lang="en-US" sz="1100" spc="-50"/>
              <a:t>∗</a:t>
            </a:r>
            <a:r>
              <a:rPr lang="en-US" sz="1100"/>
              <a:t>	</a:t>
            </a:r>
            <a:r>
              <a:rPr lang="en-US" sz="1100" spc="-110"/>
              <a:t>A</a:t>
            </a:r>
            <a:r>
              <a:rPr lang="en-US" sz="1100" spc="-95"/>
              <a:t> </a:t>
            </a:r>
            <a:r>
              <a:rPr lang="en-US" sz="1100" spc="-55"/>
              <a:t>Programming</a:t>
            </a:r>
            <a:r>
              <a:rPr lang="en-US" sz="1100" spc="-65"/>
              <a:t> </a:t>
            </a:r>
            <a:r>
              <a:rPr lang="en-US" sz="1100" spc="-10"/>
              <a:t>Model</a:t>
            </a:r>
            <a:endParaRPr lang="en-US" sz="1100"/>
          </a:p>
          <a:p>
            <a:pPr marL="314325" indent="-228600">
              <a:lnSpc>
                <a:spcPct val="90000"/>
              </a:lnSpc>
              <a:spcBef>
                <a:spcPts val="10"/>
              </a:spcBef>
              <a:buFont typeface="Arial" panose="020B0604020202020204" pitchFamily="34" charset="0"/>
              <a:buChar char="•"/>
              <a:tabLst>
                <a:tab pos="588645" algn="l"/>
              </a:tabLst>
            </a:pPr>
            <a:r>
              <a:rPr lang="en-US" sz="1100" spc="-50"/>
              <a:t>∗</a:t>
            </a:r>
            <a:r>
              <a:rPr lang="en-US" sz="1100"/>
              <a:t>	</a:t>
            </a:r>
            <a:r>
              <a:rPr lang="en-US" sz="1100" spc="-40"/>
              <a:t>Inspired</a:t>
            </a:r>
            <a:r>
              <a:rPr lang="en-US" sz="1100" spc="-80"/>
              <a:t> </a:t>
            </a:r>
            <a:r>
              <a:rPr lang="en-US" sz="1100" spc="-40"/>
              <a:t>by</a:t>
            </a:r>
            <a:r>
              <a:rPr lang="en-US" sz="1100" spc="-105"/>
              <a:t> </a:t>
            </a:r>
            <a:r>
              <a:rPr lang="en-US" sz="1100" spc="-10"/>
              <a:t>functional</a:t>
            </a:r>
            <a:r>
              <a:rPr lang="en-US" sz="1100" spc="-95"/>
              <a:t> </a:t>
            </a:r>
            <a:r>
              <a:rPr lang="en-US" sz="1100" spc="-10"/>
              <a:t>programming</a:t>
            </a:r>
            <a:endParaRPr lang="en-US" sz="1100"/>
          </a:p>
          <a:p>
            <a:pPr marL="314325" indent="-228600">
              <a:lnSpc>
                <a:spcPct val="90000"/>
              </a:lnSpc>
              <a:buFont typeface="Arial" panose="020B0604020202020204" pitchFamily="34" charset="0"/>
              <a:buChar char="•"/>
              <a:tabLst>
                <a:tab pos="588645" algn="l"/>
              </a:tabLst>
            </a:pPr>
            <a:r>
              <a:rPr lang="en-US" sz="1100" spc="-50"/>
              <a:t>∗</a:t>
            </a:r>
            <a:r>
              <a:rPr lang="en-US" sz="1100"/>
              <a:t>	</a:t>
            </a:r>
            <a:r>
              <a:rPr lang="en-US" sz="1100" spc="-30"/>
              <a:t>Allows</a:t>
            </a:r>
            <a:r>
              <a:rPr lang="en-US" sz="1100" spc="-90"/>
              <a:t> </a:t>
            </a:r>
            <a:r>
              <a:rPr lang="en-US" sz="1100" spc="-55"/>
              <a:t>expressing</a:t>
            </a:r>
            <a:r>
              <a:rPr lang="en-US" sz="1100" spc="-45"/>
              <a:t> </a:t>
            </a:r>
            <a:r>
              <a:rPr lang="en-US" sz="1100" spc="-10"/>
              <a:t>distributed</a:t>
            </a:r>
            <a:r>
              <a:rPr lang="en-US" sz="1100" spc="-35"/>
              <a:t> </a:t>
            </a:r>
            <a:r>
              <a:rPr lang="en-US" sz="1100" spc="-25"/>
              <a:t>computations</a:t>
            </a:r>
            <a:r>
              <a:rPr lang="en-US" sz="1100" spc="-60"/>
              <a:t> </a:t>
            </a:r>
            <a:r>
              <a:rPr lang="en-US" sz="1100" spc="-20"/>
              <a:t>on</a:t>
            </a:r>
            <a:r>
              <a:rPr lang="en-US" sz="1100" spc="-40"/>
              <a:t> </a:t>
            </a:r>
            <a:r>
              <a:rPr lang="en-US" sz="1100" spc="-90"/>
              <a:t>massive</a:t>
            </a:r>
            <a:r>
              <a:rPr lang="en-US" sz="1100" spc="-50"/>
              <a:t> </a:t>
            </a:r>
            <a:r>
              <a:rPr lang="en-US" sz="1100" spc="-35"/>
              <a:t>amounts</a:t>
            </a:r>
            <a:r>
              <a:rPr lang="en-US" sz="1100" spc="-65"/>
              <a:t> </a:t>
            </a:r>
            <a:r>
              <a:rPr lang="en-US" sz="1100"/>
              <a:t>of</a:t>
            </a:r>
            <a:r>
              <a:rPr lang="en-US" sz="1100" spc="-40"/>
              <a:t> </a:t>
            </a:r>
            <a:r>
              <a:rPr lang="en-US" sz="1100" spc="-20"/>
              <a:t>data</a:t>
            </a:r>
            <a:endParaRPr lang="en-US" sz="1100"/>
          </a:p>
          <a:p>
            <a:pPr marL="12700" indent="-228600">
              <a:lnSpc>
                <a:spcPct val="90000"/>
              </a:lnSpc>
              <a:buFont typeface="Arial" panose="020B0604020202020204" pitchFamily="34" charset="0"/>
              <a:buChar char="•"/>
              <a:tabLst>
                <a:tab pos="286385" algn="l"/>
              </a:tabLst>
            </a:pPr>
            <a:r>
              <a:rPr lang="en-US" sz="1100" spc="-50"/>
              <a:t>∗</a:t>
            </a:r>
            <a:r>
              <a:rPr lang="en-US" sz="1100"/>
              <a:t>	</a:t>
            </a:r>
            <a:r>
              <a:rPr lang="en-US" sz="1100" spc="-75"/>
              <a:t>An</a:t>
            </a:r>
            <a:r>
              <a:rPr lang="en-US" sz="1100" spc="-90"/>
              <a:t> </a:t>
            </a:r>
            <a:r>
              <a:rPr lang="en-US" sz="1100" spc="-55"/>
              <a:t>Execution</a:t>
            </a:r>
            <a:r>
              <a:rPr lang="en-US" sz="1100" spc="-70"/>
              <a:t> </a:t>
            </a:r>
            <a:r>
              <a:rPr lang="en-US" sz="1100" spc="-10"/>
              <a:t>Framework</a:t>
            </a:r>
            <a:endParaRPr lang="en-US" sz="1100"/>
          </a:p>
          <a:p>
            <a:pPr marL="314325" indent="-228600">
              <a:lnSpc>
                <a:spcPct val="90000"/>
              </a:lnSpc>
              <a:spcBef>
                <a:spcPts val="5"/>
              </a:spcBef>
              <a:buFont typeface="Arial" panose="020B0604020202020204" pitchFamily="34" charset="0"/>
              <a:buChar char="•"/>
              <a:tabLst>
                <a:tab pos="588645" algn="l"/>
              </a:tabLst>
            </a:pPr>
            <a:r>
              <a:rPr lang="en-US" sz="1100" spc="-50"/>
              <a:t>∗</a:t>
            </a:r>
            <a:r>
              <a:rPr lang="en-US" sz="1100"/>
              <a:t>	</a:t>
            </a:r>
            <a:r>
              <a:rPr lang="en-US" sz="1100" spc="-80"/>
              <a:t>Designed</a:t>
            </a:r>
            <a:r>
              <a:rPr lang="en-US" sz="1100" spc="-45"/>
              <a:t> </a:t>
            </a:r>
            <a:r>
              <a:rPr lang="en-US" sz="1100"/>
              <a:t>for</a:t>
            </a:r>
            <a:r>
              <a:rPr lang="en-US" sz="1100" spc="-50"/>
              <a:t> </a:t>
            </a:r>
            <a:r>
              <a:rPr lang="en-US" sz="1100" spc="-55"/>
              <a:t>large-</a:t>
            </a:r>
            <a:r>
              <a:rPr lang="en-US" sz="1100" spc="-100"/>
              <a:t>scale</a:t>
            </a:r>
            <a:r>
              <a:rPr lang="en-US" sz="1100" spc="-90"/>
              <a:t> </a:t>
            </a:r>
            <a:r>
              <a:rPr lang="en-US" sz="1100" spc="-40"/>
              <a:t>data </a:t>
            </a:r>
            <a:r>
              <a:rPr lang="en-US" sz="1100" spc="-10"/>
              <a:t>processing</a:t>
            </a:r>
            <a:endParaRPr lang="en-US" sz="1100"/>
          </a:p>
          <a:p>
            <a:pPr marL="314325" indent="-228600">
              <a:lnSpc>
                <a:spcPct val="90000"/>
              </a:lnSpc>
              <a:buFont typeface="Arial" panose="020B0604020202020204" pitchFamily="34" charset="0"/>
              <a:buChar char="•"/>
              <a:tabLst>
                <a:tab pos="588645" algn="l"/>
              </a:tabLst>
            </a:pPr>
            <a:r>
              <a:rPr lang="en-US" sz="1100" spc="-50"/>
              <a:t>∗</a:t>
            </a:r>
            <a:r>
              <a:rPr lang="en-US" sz="1100"/>
              <a:t>	</a:t>
            </a:r>
            <a:r>
              <a:rPr lang="en-US" sz="1100" spc="-75"/>
              <a:t>Designed </a:t>
            </a:r>
            <a:r>
              <a:rPr lang="en-US" sz="1100" spc="60"/>
              <a:t>to</a:t>
            </a:r>
            <a:r>
              <a:rPr lang="en-US" sz="1100" spc="-80"/>
              <a:t> </a:t>
            </a:r>
            <a:r>
              <a:rPr lang="en-US" sz="1100" spc="-20"/>
              <a:t>run</a:t>
            </a:r>
            <a:r>
              <a:rPr lang="en-US" sz="1100" spc="-80"/>
              <a:t> </a:t>
            </a:r>
            <a:r>
              <a:rPr lang="en-US" sz="1100" spc="-20"/>
              <a:t>on</a:t>
            </a:r>
            <a:r>
              <a:rPr lang="en-US" sz="1100" spc="-65"/>
              <a:t> </a:t>
            </a:r>
            <a:r>
              <a:rPr lang="en-US" sz="1100" spc="-45"/>
              <a:t>clusters</a:t>
            </a:r>
            <a:r>
              <a:rPr lang="en-US" sz="1100" spc="-85"/>
              <a:t> </a:t>
            </a:r>
            <a:r>
              <a:rPr lang="en-US" sz="1100"/>
              <a:t>of</a:t>
            </a:r>
            <a:r>
              <a:rPr lang="en-US" sz="1100" spc="-85"/>
              <a:t> </a:t>
            </a:r>
            <a:r>
              <a:rPr lang="en-US" sz="1100" spc="-20"/>
              <a:t>commodity</a:t>
            </a:r>
            <a:r>
              <a:rPr lang="en-US" sz="1100" spc="-80"/>
              <a:t> </a:t>
            </a:r>
            <a:r>
              <a:rPr lang="en-US" sz="1100" spc="-10"/>
              <a:t>hardware</a:t>
            </a:r>
            <a:endParaRPr lang="en-US" sz="1100"/>
          </a:p>
          <a:p>
            <a:pPr marL="314325" indent="-228600">
              <a:lnSpc>
                <a:spcPct val="90000"/>
              </a:lnSpc>
              <a:buFont typeface="Arial" panose="020B0604020202020204" pitchFamily="34" charset="0"/>
              <a:buChar char="•"/>
              <a:tabLst>
                <a:tab pos="588645" algn="l"/>
              </a:tabLst>
            </a:pPr>
            <a:r>
              <a:rPr lang="en-US" sz="1100" spc="-50"/>
              <a:t>∗</a:t>
            </a:r>
            <a:r>
              <a:rPr lang="en-US" sz="1100"/>
              <a:t>	</a:t>
            </a:r>
            <a:r>
              <a:rPr lang="en-US" sz="1100" spc="-50"/>
              <a:t>Libraries </a:t>
            </a:r>
            <a:r>
              <a:rPr lang="en-US" sz="1100" spc="-35"/>
              <a:t>take</a:t>
            </a:r>
            <a:r>
              <a:rPr lang="en-US" sz="1100" spc="-75"/>
              <a:t> </a:t>
            </a:r>
            <a:r>
              <a:rPr lang="en-US" sz="1100" spc="-70"/>
              <a:t>care</a:t>
            </a:r>
            <a:r>
              <a:rPr lang="en-US" sz="1100" spc="-60"/>
              <a:t> </a:t>
            </a:r>
            <a:r>
              <a:rPr lang="en-US" sz="1100"/>
              <a:t>of</a:t>
            </a:r>
            <a:r>
              <a:rPr lang="en-US" sz="1100" spc="-70"/>
              <a:t> </a:t>
            </a:r>
            <a:r>
              <a:rPr lang="en-US" sz="1100" spc="-185"/>
              <a:t>EVERYTHING</a:t>
            </a:r>
            <a:r>
              <a:rPr lang="en-US" sz="1100" spc="-60"/>
              <a:t> </a:t>
            </a:r>
            <a:r>
              <a:rPr lang="en-US" sz="1100" spc="-20"/>
              <a:t>else</a:t>
            </a:r>
            <a:endParaRPr lang="en-US" sz="1100"/>
          </a:p>
          <a:p>
            <a:pPr marL="640715" indent="-228600">
              <a:lnSpc>
                <a:spcPct val="90000"/>
              </a:lnSpc>
              <a:spcBef>
                <a:spcPts val="5"/>
              </a:spcBef>
              <a:buFont typeface="Arial" panose="020B0604020202020204" pitchFamily="34" charset="0"/>
              <a:buChar char="•"/>
              <a:tabLst>
                <a:tab pos="869315" algn="l"/>
              </a:tabLst>
            </a:pPr>
            <a:r>
              <a:rPr lang="en-US" sz="1100" spc="-50"/>
              <a:t>∗</a:t>
            </a:r>
            <a:r>
              <a:rPr lang="en-US" sz="1100"/>
              <a:t>	</a:t>
            </a:r>
            <a:r>
              <a:rPr lang="en-US" sz="1100" spc="-10"/>
              <a:t>Parallelization</a:t>
            </a:r>
            <a:endParaRPr lang="en-US" sz="1100"/>
          </a:p>
          <a:p>
            <a:pPr marL="640715" indent="-228600">
              <a:lnSpc>
                <a:spcPct val="90000"/>
              </a:lnSpc>
              <a:spcBef>
                <a:spcPts val="5"/>
              </a:spcBef>
              <a:buFont typeface="Arial" panose="020B0604020202020204" pitchFamily="34" charset="0"/>
              <a:buChar char="•"/>
              <a:tabLst>
                <a:tab pos="869315" algn="l"/>
              </a:tabLst>
            </a:pPr>
            <a:r>
              <a:rPr lang="en-US" sz="1100" spc="-50"/>
              <a:t>∗</a:t>
            </a:r>
            <a:r>
              <a:rPr lang="en-US" sz="1100"/>
              <a:t>	</a:t>
            </a:r>
            <a:r>
              <a:rPr lang="en-US" sz="1100" spc="-55"/>
              <a:t>Fault</a:t>
            </a:r>
            <a:r>
              <a:rPr lang="en-US" sz="1100" spc="-40"/>
              <a:t> </a:t>
            </a:r>
            <a:r>
              <a:rPr lang="en-US" sz="1100" spc="-10"/>
              <a:t>Tolerance</a:t>
            </a:r>
            <a:endParaRPr lang="en-US" sz="1100"/>
          </a:p>
          <a:p>
            <a:pPr marL="640715" indent="-228600">
              <a:lnSpc>
                <a:spcPct val="90000"/>
              </a:lnSpc>
              <a:buFont typeface="Arial" panose="020B0604020202020204" pitchFamily="34" charset="0"/>
              <a:buChar char="•"/>
              <a:tabLst>
                <a:tab pos="869315" algn="l"/>
              </a:tabLst>
            </a:pPr>
            <a:r>
              <a:rPr lang="en-US" sz="1100" spc="-50"/>
              <a:t>∗</a:t>
            </a:r>
            <a:r>
              <a:rPr lang="en-US" sz="1100"/>
              <a:t>	</a:t>
            </a:r>
            <a:r>
              <a:rPr lang="en-US" sz="1100" spc="-65"/>
              <a:t>Data</a:t>
            </a:r>
            <a:r>
              <a:rPr lang="en-US" sz="1100" spc="-50"/>
              <a:t> </a:t>
            </a:r>
            <a:r>
              <a:rPr lang="en-US" sz="1100" spc="-10"/>
              <a:t>Distribution</a:t>
            </a:r>
            <a:endParaRPr lang="en-US" sz="1100"/>
          </a:p>
          <a:p>
            <a:pPr marL="640715" indent="-228600">
              <a:lnSpc>
                <a:spcPct val="90000"/>
              </a:lnSpc>
              <a:buFont typeface="Arial" panose="020B0604020202020204" pitchFamily="34" charset="0"/>
              <a:buChar char="•"/>
              <a:tabLst>
                <a:tab pos="869315" algn="l"/>
              </a:tabLst>
            </a:pPr>
            <a:r>
              <a:rPr lang="en-US" sz="1100" spc="-50"/>
              <a:t>∗</a:t>
            </a:r>
            <a:r>
              <a:rPr lang="en-US" sz="1100"/>
              <a:t>	</a:t>
            </a:r>
            <a:r>
              <a:rPr lang="en-US" sz="1100" spc="-70"/>
              <a:t>Load</a:t>
            </a:r>
            <a:r>
              <a:rPr lang="en-US" sz="1100" spc="-50"/>
              <a:t> </a:t>
            </a:r>
            <a:r>
              <a:rPr lang="en-US" sz="1100" spc="-10"/>
              <a:t>Balancing</a:t>
            </a:r>
            <a:endParaRPr lang="en-US" sz="1100"/>
          </a:p>
          <a:p>
            <a:pPr marL="12700" indent="-228600">
              <a:lnSpc>
                <a:spcPct val="90000"/>
              </a:lnSpc>
              <a:buFont typeface="Arial" panose="020B0604020202020204" pitchFamily="34" charset="0"/>
              <a:buChar char="•"/>
              <a:tabLst>
                <a:tab pos="286385" algn="l"/>
              </a:tabLst>
            </a:pPr>
            <a:r>
              <a:rPr lang="en-US" sz="1100" spc="-50"/>
              <a:t>∗</a:t>
            </a:r>
            <a:r>
              <a:rPr lang="en-US" sz="1100"/>
              <a:t>	</a:t>
            </a:r>
            <a:r>
              <a:rPr lang="en-US" sz="1100" spc="-70"/>
              <a:t>Two</a:t>
            </a:r>
            <a:r>
              <a:rPr lang="en-US" sz="1100" spc="-110"/>
              <a:t> </a:t>
            </a:r>
            <a:r>
              <a:rPr lang="en-US" sz="1100" spc="-85"/>
              <a:t>basic</a:t>
            </a:r>
            <a:r>
              <a:rPr lang="en-US" sz="1100" spc="-90"/>
              <a:t> </a:t>
            </a:r>
            <a:r>
              <a:rPr lang="en-US" sz="1100" spc="-30"/>
              <a:t>operations</a:t>
            </a:r>
            <a:r>
              <a:rPr lang="en-US" sz="1100" spc="-90"/>
              <a:t> </a:t>
            </a:r>
            <a:r>
              <a:rPr lang="en-US" sz="1100" spc="-25"/>
              <a:t>on</a:t>
            </a:r>
            <a:r>
              <a:rPr lang="en-US" sz="1100" spc="-105"/>
              <a:t> </a:t>
            </a:r>
            <a:r>
              <a:rPr lang="en-US" sz="1100"/>
              <a:t>the</a:t>
            </a:r>
            <a:r>
              <a:rPr lang="en-US" sz="1100" spc="-95"/>
              <a:t> </a:t>
            </a:r>
            <a:r>
              <a:rPr lang="en-US" sz="1100" spc="-10"/>
              <a:t>input</a:t>
            </a:r>
            <a:endParaRPr lang="en-US" sz="1100"/>
          </a:p>
          <a:p>
            <a:pPr marL="314325" indent="-228600">
              <a:lnSpc>
                <a:spcPct val="90000"/>
              </a:lnSpc>
              <a:spcBef>
                <a:spcPts val="5"/>
              </a:spcBef>
              <a:buFont typeface="Arial" panose="020B0604020202020204" pitchFamily="34" charset="0"/>
              <a:buChar char="•"/>
              <a:tabLst>
                <a:tab pos="588645" algn="l"/>
              </a:tabLst>
            </a:pPr>
            <a:r>
              <a:rPr lang="en-US" sz="1100" spc="-50"/>
              <a:t>∗</a:t>
            </a:r>
            <a:r>
              <a:rPr lang="en-US" sz="1100"/>
              <a:t>	</a:t>
            </a:r>
            <a:r>
              <a:rPr lang="en-US" sz="1100" spc="-25"/>
              <a:t>Map</a:t>
            </a:r>
            <a:endParaRPr lang="en-US" sz="1100"/>
          </a:p>
          <a:p>
            <a:pPr marL="314325" indent="-228600">
              <a:lnSpc>
                <a:spcPct val="90000"/>
              </a:lnSpc>
              <a:spcBef>
                <a:spcPts val="5"/>
              </a:spcBef>
              <a:buFont typeface="Arial" panose="020B0604020202020204" pitchFamily="34" charset="0"/>
              <a:buChar char="•"/>
              <a:tabLst>
                <a:tab pos="588645" algn="l"/>
              </a:tabLst>
            </a:pPr>
            <a:r>
              <a:rPr lang="en-US" sz="1100" spc="-50"/>
              <a:t>∗</a:t>
            </a:r>
            <a:r>
              <a:rPr lang="en-US" sz="1100"/>
              <a:t>	</a:t>
            </a:r>
            <a:r>
              <a:rPr lang="en-US" sz="1100" spc="-10"/>
              <a:t>Reduce</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B47FC9C-2ED3-4100-A4EF-E8CDFEE10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object 2" descr="$PPTXTitle"/>
          <p:cNvSpPr txBox="1">
            <a:spLocks noGrp="1"/>
          </p:cNvSpPr>
          <p:nvPr>
            <p:ph type="title"/>
          </p:nvPr>
        </p:nvSpPr>
        <p:spPr>
          <a:xfrm>
            <a:off x="838200" y="5358141"/>
            <a:ext cx="10515600" cy="942664"/>
          </a:xfrm>
          <a:prstGeom prst="rect">
            <a:avLst/>
          </a:prstGeom>
        </p:spPr>
        <p:txBody>
          <a:bodyPr vert="horz" lIns="0" tIns="13335" rIns="0" bIns="0" rtlCol="0">
            <a:normAutofit/>
          </a:bodyPr>
          <a:lstStyle/>
          <a:p>
            <a:pPr marL="1485265" algn="ctr">
              <a:spcBef>
                <a:spcPts val="105"/>
              </a:spcBef>
            </a:pPr>
            <a:r>
              <a:rPr lang="en-US" sz="5200" spc="-95"/>
              <a:t>Word</a:t>
            </a:r>
            <a:r>
              <a:rPr lang="en-US" sz="5200" spc="-254"/>
              <a:t> </a:t>
            </a:r>
            <a:r>
              <a:rPr lang="en-US" sz="5200" spc="-120"/>
              <a:t>Count</a:t>
            </a:r>
            <a:r>
              <a:rPr lang="en-US" sz="5200" spc="-250"/>
              <a:t> </a:t>
            </a:r>
            <a:r>
              <a:rPr lang="en-US" sz="5200" spc="-150"/>
              <a:t>Example</a:t>
            </a:r>
          </a:p>
        </p:txBody>
      </p:sp>
      <p:pic>
        <p:nvPicPr>
          <p:cNvPr id="3" name="object 3"/>
          <p:cNvPicPr/>
          <p:nvPr/>
        </p:nvPicPr>
        <p:blipFill>
          <a:blip r:embed="rId2" cstate="print"/>
          <a:stretch>
            <a:fillRect/>
          </a:stretch>
        </p:blipFill>
        <p:spPr>
          <a:xfrm>
            <a:off x="643467" y="653827"/>
            <a:ext cx="10905066" cy="443595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841248" y="256032"/>
            <a:ext cx="10506456" cy="1014984"/>
          </a:xfrm>
          <a:prstGeom prst="rect">
            <a:avLst/>
          </a:prstGeom>
        </p:spPr>
        <p:txBody>
          <a:bodyPr vert="horz" lIns="0" tIns="13335" rIns="0" bIns="0" rtlCol="0" anchor="b">
            <a:normAutofit/>
          </a:bodyPr>
          <a:lstStyle/>
          <a:p>
            <a:pPr marL="12700">
              <a:spcBef>
                <a:spcPts val="105"/>
              </a:spcBef>
            </a:pPr>
            <a:r>
              <a:rPr spc="-135" dirty="0"/>
              <a:t>Where</a:t>
            </a:r>
            <a:r>
              <a:rPr spc="-260" dirty="0"/>
              <a:t> </a:t>
            </a:r>
            <a:r>
              <a:rPr spc="-165" dirty="0"/>
              <a:t>MapReduce</a:t>
            </a:r>
            <a:r>
              <a:rPr spc="-245" dirty="0"/>
              <a:t> </a:t>
            </a:r>
            <a:r>
              <a:rPr spc="-110" dirty="0"/>
              <a:t>Works</a:t>
            </a:r>
            <a:endParaRPr lang="en-US" spc="-110"/>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object 2">
            <a:extLst>
              <a:ext uri="{FF2B5EF4-FFF2-40B4-BE49-F238E27FC236}">
                <a16:creationId xmlns:a16="http://schemas.microsoft.com/office/drawing/2014/main" id="{FD21D9B1-48FF-F6A4-02D2-38DBCB6FEAF2}"/>
              </a:ext>
            </a:extLst>
          </p:cNvPr>
          <p:cNvGraphicFramePr>
            <a:graphicFrameLocks noGrp="1"/>
          </p:cNvGraphicFramePr>
          <p:nvPr>
            <p:ph idx="1"/>
            <p:extLst>
              <p:ext uri="{D42A27DB-BD31-4B8C-83A1-F6EECF244321}">
                <p14:modId xmlns:p14="http://schemas.microsoft.com/office/powerpoint/2010/main" val="1610558465"/>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2103121" y="310343"/>
            <a:ext cx="7985759" cy="868823"/>
          </a:xfrm>
          <a:prstGeom prst="rect">
            <a:avLst/>
          </a:prstGeom>
        </p:spPr>
        <p:txBody>
          <a:bodyPr vert="horz" lIns="91440" tIns="45720" rIns="91440" bIns="45720" rtlCol="0" anchor="ctr">
            <a:normAutofit/>
          </a:bodyPr>
          <a:lstStyle/>
          <a:p>
            <a:pPr marL="1788160" algn="ctr"/>
            <a:r>
              <a:rPr lang="en-US" sz="4000" kern="1200" spc="-165">
                <a:solidFill>
                  <a:schemeClr val="tx1"/>
                </a:solidFill>
                <a:latin typeface="+mj-lt"/>
                <a:ea typeface="+mj-ea"/>
                <a:cs typeface="+mj-cs"/>
              </a:rPr>
              <a:t>MapReduce</a:t>
            </a:r>
            <a:r>
              <a:rPr lang="en-US" sz="4000" kern="1200" spc="-240">
                <a:solidFill>
                  <a:schemeClr val="tx1"/>
                </a:solidFill>
                <a:latin typeface="+mj-lt"/>
                <a:ea typeface="+mj-ea"/>
                <a:cs typeface="+mj-cs"/>
              </a:rPr>
              <a:t> </a:t>
            </a:r>
            <a:r>
              <a:rPr lang="en-US" sz="4000" kern="1200" spc="-270">
                <a:solidFill>
                  <a:schemeClr val="tx1"/>
                </a:solidFill>
                <a:latin typeface="+mj-lt"/>
                <a:ea typeface="+mj-ea"/>
                <a:cs typeface="+mj-cs"/>
              </a:rPr>
              <a:t>Terms</a:t>
            </a:r>
          </a:p>
        </p:txBody>
      </p:sp>
      <p:sp>
        <p:nvSpPr>
          <p:cNvPr id="12" name="Rectangle: Rounded Corners 11">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2" name="object 2"/>
          <p:cNvGraphicFramePr>
            <a:graphicFrameLocks noGrp="1"/>
          </p:cNvGraphicFramePr>
          <p:nvPr>
            <p:extLst>
              <p:ext uri="{D42A27DB-BD31-4B8C-83A1-F6EECF244321}">
                <p14:modId xmlns:p14="http://schemas.microsoft.com/office/powerpoint/2010/main" val="1897478991"/>
              </p:ext>
            </p:extLst>
          </p:nvPr>
        </p:nvGraphicFramePr>
        <p:xfrm>
          <a:off x="1119527" y="2139484"/>
          <a:ext cx="9952947" cy="4096516"/>
        </p:xfrm>
        <a:graphic>
          <a:graphicData uri="http://schemas.openxmlformats.org/drawingml/2006/table">
            <a:tbl>
              <a:tblPr firstRow="1" bandRow="1">
                <a:tableStyleId>{2D5ABB26-0587-4C30-8999-92F81FD0307C}</a:tableStyleId>
              </a:tblPr>
              <a:tblGrid>
                <a:gridCol w="1750887">
                  <a:extLst>
                    <a:ext uri="{9D8B030D-6E8A-4147-A177-3AD203B41FA5}">
                      <a16:colId xmlns:a16="http://schemas.microsoft.com/office/drawing/2014/main" val="20000"/>
                    </a:ext>
                  </a:extLst>
                </a:gridCol>
                <a:gridCol w="8202060">
                  <a:extLst>
                    <a:ext uri="{9D8B030D-6E8A-4147-A177-3AD203B41FA5}">
                      <a16:colId xmlns:a16="http://schemas.microsoft.com/office/drawing/2014/main" val="20001"/>
                    </a:ext>
                  </a:extLst>
                </a:gridCol>
              </a:tblGrid>
              <a:tr h="352593">
                <a:tc>
                  <a:txBody>
                    <a:bodyPr/>
                    <a:lstStyle/>
                    <a:p>
                      <a:pPr marL="90805">
                        <a:lnSpc>
                          <a:spcPct val="100000"/>
                        </a:lnSpc>
                        <a:spcBef>
                          <a:spcPts val="245"/>
                        </a:spcBef>
                      </a:pPr>
                      <a:r>
                        <a:rPr lang="en-US" sz="1900" b="1" spc="-20">
                          <a:solidFill>
                            <a:srgbClr val="FFFFFF"/>
                          </a:solidFill>
                          <a:latin typeface="Arial"/>
                          <a:cs typeface="Arial"/>
                        </a:rPr>
                        <a:t>Term</a:t>
                      </a:r>
                      <a:endParaRPr lang="en-US" sz="1900">
                        <a:latin typeface="Arial"/>
                        <a:cs typeface="Arial"/>
                      </a:endParaRPr>
                    </a:p>
                  </a:txBody>
                  <a:tcPr marL="0" marR="0" marT="32078"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tc>
                  <a:txBody>
                    <a:bodyPr/>
                    <a:lstStyle/>
                    <a:p>
                      <a:pPr marL="90805">
                        <a:lnSpc>
                          <a:spcPct val="100000"/>
                        </a:lnSpc>
                        <a:spcBef>
                          <a:spcPts val="245"/>
                        </a:spcBef>
                      </a:pPr>
                      <a:r>
                        <a:rPr lang="en-US" sz="1900" b="1" spc="-10">
                          <a:solidFill>
                            <a:srgbClr val="FFFFFF"/>
                          </a:solidFill>
                          <a:latin typeface="Arial"/>
                          <a:cs typeface="Arial"/>
                        </a:rPr>
                        <a:t>Description</a:t>
                      </a:r>
                      <a:endParaRPr lang="en-US" sz="1900">
                        <a:latin typeface="Arial"/>
                        <a:cs typeface="Arial"/>
                      </a:endParaRPr>
                    </a:p>
                  </a:txBody>
                  <a:tcPr marL="0" marR="0" marT="32078"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30B6FC"/>
                    </a:solidFill>
                  </a:tcPr>
                </a:tc>
                <a:extLst>
                  <a:ext uri="{0D108BD9-81ED-4DB2-BD59-A6C34878D82A}">
                    <a16:rowId xmlns:a16="http://schemas.microsoft.com/office/drawing/2014/main" val="10000"/>
                  </a:ext>
                </a:extLst>
              </a:tr>
              <a:tr h="635399">
                <a:tc>
                  <a:txBody>
                    <a:bodyPr/>
                    <a:lstStyle/>
                    <a:p>
                      <a:pPr marL="90805">
                        <a:lnSpc>
                          <a:spcPct val="100000"/>
                        </a:lnSpc>
                        <a:spcBef>
                          <a:spcPts val="244"/>
                        </a:spcBef>
                      </a:pPr>
                      <a:r>
                        <a:rPr lang="en-US" sz="1900" spc="-25">
                          <a:latin typeface="Arial"/>
                          <a:cs typeface="Arial"/>
                        </a:rPr>
                        <a:t>Job</a:t>
                      </a:r>
                      <a:endParaRPr lang="en-US" sz="1900">
                        <a:latin typeface="Arial"/>
                        <a:cs typeface="Arial"/>
                      </a:endParaRPr>
                    </a:p>
                  </a:txBody>
                  <a:tcPr marL="0" marR="0" marT="3207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tc>
                  <a:txBody>
                    <a:bodyPr/>
                    <a:lstStyle/>
                    <a:p>
                      <a:pPr marL="90805" marR="844550">
                        <a:lnSpc>
                          <a:spcPct val="100000"/>
                        </a:lnSpc>
                        <a:spcBef>
                          <a:spcPts val="244"/>
                        </a:spcBef>
                      </a:pPr>
                      <a:r>
                        <a:rPr lang="en-US" sz="1900" spc="-105">
                          <a:latin typeface="Arial"/>
                          <a:cs typeface="Arial"/>
                        </a:rPr>
                        <a:t>The</a:t>
                      </a:r>
                      <a:r>
                        <a:rPr lang="en-US" sz="1900" spc="-80">
                          <a:latin typeface="Arial"/>
                          <a:cs typeface="Arial"/>
                        </a:rPr>
                        <a:t> </a:t>
                      </a:r>
                      <a:r>
                        <a:rPr lang="en-US" sz="1900" spc="-20">
                          <a:latin typeface="Arial"/>
                          <a:cs typeface="Arial"/>
                        </a:rPr>
                        <a:t>whole</a:t>
                      </a:r>
                      <a:r>
                        <a:rPr lang="en-US" sz="1900" spc="-95">
                          <a:latin typeface="Arial"/>
                          <a:cs typeface="Arial"/>
                        </a:rPr>
                        <a:t> </a:t>
                      </a:r>
                      <a:r>
                        <a:rPr lang="en-US" sz="1900" spc="-70">
                          <a:latin typeface="Arial"/>
                          <a:cs typeface="Arial"/>
                        </a:rPr>
                        <a:t>process</a:t>
                      </a:r>
                      <a:r>
                        <a:rPr lang="en-US" sz="1900" spc="-114">
                          <a:latin typeface="Arial"/>
                          <a:cs typeface="Arial"/>
                        </a:rPr>
                        <a:t> </a:t>
                      </a:r>
                      <a:r>
                        <a:rPr lang="en-US" sz="1900" spc="75">
                          <a:latin typeface="Arial"/>
                          <a:cs typeface="Arial"/>
                        </a:rPr>
                        <a:t>to</a:t>
                      </a:r>
                      <a:r>
                        <a:rPr lang="en-US" sz="1900" spc="-75">
                          <a:latin typeface="Arial"/>
                          <a:cs typeface="Arial"/>
                        </a:rPr>
                        <a:t> </a:t>
                      </a:r>
                      <a:r>
                        <a:rPr lang="en-US" sz="1900" spc="-45">
                          <a:latin typeface="Arial"/>
                          <a:cs typeface="Arial"/>
                        </a:rPr>
                        <a:t>execute:</a:t>
                      </a:r>
                      <a:r>
                        <a:rPr lang="en-US" sz="1900" spc="-90">
                          <a:latin typeface="Arial"/>
                          <a:cs typeface="Arial"/>
                        </a:rPr>
                        <a:t> </a:t>
                      </a:r>
                      <a:r>
                        <a:rPr lang="en-US" sz="1900">
                          <a:latin typeface="Arial"/>
                          <a:cs typeface="Arial"/>
                        </a:rPr>
                        <a:t>the</a:t>
                      </a:r>
                      <a:r>
                        <a:rPr lang="en-US" sz="1900" spc="-80">
                          <a:latin typeface="Arial"/>
                          <a:cs typeface="Arial"/>
                        </a:rPr>
                        <a:t> </a:t>
                      </a:r>
                      <a:r>
                        <a:rPr lang="en-US" sz="1900">
                          <a:latin typeface="Arial"/>
                          <a:cs typeface="Arial"/>
                        </a:rPr>
                        <a:t>input</a:t>
                      </a:r>
                      <a:r>
                        <a:rPr lang="en-US" sz="1900" spc="-80">
                          <a:latin typeface="Arial"/>
                          <a:cs typeface="Arial"/>
                        </a:rPr>
                        <a:t> </a:t>
                      </a:r>
                      <a:r>
                        <a:rPr lang="en-US" sz="1900" spc="-40">
                          <a:latin typeface="Arial"/>
                          <a:cs typeface="Arial"/>
                        </a:rPr>
                        <a:t>data,</a:t>
                      </a:r>
                      <a:r>
                        <a:rPr lang="en-US" sz="1900" spc="-95">
                          <a:latin typeface="Arial"/>
                          <a:cs typeface="Arial"/>
                        </a:rPr>
                        <a:t> </a:t>
                      </a:r>
                      <a:r>
                        <a:rPr lang="en-US" sz="1900">
                          <a:latin typeface="Arial"/>
                          <a:cs typeface="Arial"/>
                        </a:rPr>
                        <a:t>the</a:t>
                      </a:r>
                      <a:r>
                        <a:rPr lang="en-US" sz="1900" spc="-80">
                          <a:latin typeface="Arial"/>
                          <a:cs typeface="Arial"/>
                        </a:rPr>
                        <a:t> </a:t>
                      </a:r>
                      <a:r>
                        <a:rPr lang="en-US" sz="1900" spc="-40">
                          <a:latin typeface="Arial"/>
                          <a:cs typeface="Arial"/>
                        </a:rPr>
                        <a:t>mapper</a:t>
                      </a:r>
                      <a:r>
                        <a:rPr lang="en-US" sz="1900" spc="-75">
                          <a:latin typeface="Arial"/>
                          <a:cs typeface="Arial"/>
                        </a:rPr>
                        <a:t> </a:t>
                      </a:r>
                      <a:r>
                        <a:rPr lang="en-US" sz="1900" spc="-55">
                          <a:latin typeface="Arial"/>
                          <a:cs typeface="Arial"/>
                        </a:rPr>
                        <a:t>and</a:t>
                      </a:r>
                      <a:r>
                        <a:rPr lang="en-US" sz="1900" spc="-80">
                          <a:latin typeface="Arial"/>
                          <a:cs typeface="Arial"/>
                        </a:rPr>
                        <a:t> </a:t>
                      </a:r>
                      <a:r>
                        <a:rPr lang="en-US" sz="1900" spc="-10">
                          <a:latin typeface="Arial"/>
                          <a:cs typeface="Arial"/>
                        </a:rPr>
                        <a:t>reducers </a:t>
                      </a:r>
                      <a:r>
                        <a:rPr lang="en-US" sz="1900" spc="-30">
                          <a:latin typeface="Arial"/>
                          <a:cs typeface="Arial"/>
                        </a:rPr>
                        <a:t>execution</a:t>
                      </a:r>
                      <a:r>
                        <a:rPr lang="en-US" sz="1900" spc="-50">
                          <a:latin typeface="Arial"/>
                          <a:cs typeface="Arial"/>
                        </a:rPr>
                        <a:t> </a:t>
                      </a:r>
                      <a:r>
                        <a:rPr lang="en-US" sz="1900" spc="-70">
                          <a:latin typeface="Arial"/>
                          <a:cs typeface="Arial"/>
                        </a:rPr>
                        <a:t>and</a:t>
                      </a:r>
                      <a:r>
                        <a:rPr lang="en-US" sz="1900" spc="-40">
                          <a:latin typeface="Arial"/>
                          <a:cs typeface="Arial"/>
                        </a:rPr>
                        <a:t> </a:t>
                      </a:r>
                      <a:r>
                        <a:rPr lang="en-US" sz="1900">
                          <a:latin typeface="Arial"/>
                          <a:cs typeface="Arial"/>
                        </a:rPr>
                        <a:t>the</a:t>
                      </a:r>
                      <a:r>
                        <a:rPr lang="en-US" sz="1900" spc="-30">
                          <a:latin typeface="Arial"/>
                          <a:cs typeface="Arial"/>
                        </a:rPr>
                        <a:t> </a:t>
                      </a:r>
                      <a:r>
                        <a:rPr lang="en-US" sz="1900">
                          <a:latin typeface="Arial"/>
                          <a:cs typeface="Arial"/>
                        </a:rPr>
                        <a:t>output</a:t>
                      </a:r>
                      <a:r>
                        <a:rPr lang="en-US" sz="1900" spc="-35">
                          <a:latin typeface="Arial"/>
                          <a:cs typeface="Arial"/>
                        </a:rPr>
                        <a:t> </a:t>
                      </a:r>
                      <a:r>
                        <a:rPr lang="en-US" sz="1900" spc="-20">
                          <a:latin typeface="Arial"/>
                          <a:cs typeface="Arial"/>
                        </a:rPr>
                        <a:t>data</a:t>
                      </a:r>
                      <a:endParaRPr lang="en-US" sz="1900">
                        <a:latin typeface="Arial"/>
                        <a:cs typeface="Arial"/>
                      </a:endParaRPr>
                    </a:p>
                  </a:txBody>
                  <a:tcPr marL="0" marR="0" marT="32077"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1"/>
                  </a:ext>
                </a:extLst>
              </a:tr>
              <a:tr h="635400">
                <a:tc>
                  <a:txBody>
                    <a:bodyPr/>
                    <a:lstStyle/>
                    <a:p>
                      <a:pPr marL="90805">
                        <a:lnSpc>
                          <a:spcPct val="100000"/>
                        </a:lnSpc>
                        <a:spcBef>
                          <a:spcPts val="245"/>
                        </a:spcBef>
                      </a:pPr>
                      <a:r>
                        <a:rPr lang="en-US" sz="1900" spc="-20">
                          <a:latin typeface="Arial"/>
                          <a:cs typeface="Arial"/>
                        </a:rPr>
                        <a:t>Task</a:t>
                      </a:r>
                      <a:endParaRPr lang="en-US" sz="1900">
                        <a:latin typeface="Arial"/>
                        <a:cs typeface="Arial"/>
                      </a:endParaRPr>
                    </a:p>
                  </a:txBody>
                  <a:tcPr marL="0" marR="0" marT="3207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90805" marR="276860">
                        <a:lnSpc>
                          <a:spcPct val="100000"/>
                        </a:lnSpc>
                        <a:spcBef>
                          <a:spcPts val="245"/>
                        </a:spcBef>
                      </a:pPr>
                      <a:r>
                        <a:rPr lang="en-US" sz="1900" spc="-90">
                          <a:latin typeface="Arial"/>
                          <a:cs typeface="Arial"/>
                        </a:rPr>
                        <a:t>Every</a:t>
                      </a:r>
                      <a:r>
                        <a:rPr lang="en-US" sz="1900" spc="-95">
                          <a:latin typeface="Arial"/>
                          <a:cs typeface="Arial"/>
                        </a:rPr>
                        <a:t> </a:t>
                      </a:r>
                      <a:r>
                        <a:rPr lang="en-US" sz="1900" spc="-10">
                          <a:latin typeface="Arial"/>
                          <a:cs typeface="Arial"/>
                        </a:rPr>
                        <a:t>job</a:t>
                      </a:r>
                      <a:r>
                        <a:rPr lang="en-US" sz="1900" spc="-90">
                          <a:latin typeface="Arial"/>
                          <a:cs typeface="Arial"/>
                        </a:rPr>
                        <a:t> </a:t>
                      </a:r>
                      <a:r>
                        <a:rPr lang="en-US" sz="1900" spc="-85">
                          <a:latin typeface="Arial"/>
                          <a:cs typeface="Arial"/>
                        </a:rPr>
                        <a:t>is</a:t>
                      </a:r>
                      <a:r>
                        <a:rPr lang="en-US" sz="1900" spc="-100">
                          <a:latin typeface="Arial"/>
                          <a:cs typeface="Arial"/>
                        </a:rPr>
                        <a:t> </a:t>
                      </a:r>
                      <a:r>
                        <a:rPr lang="en-US" sz="1900" spc="-35">
                          <a:latin typeface="Arial"/>
                          <a:cs typeface="Arial"/>
                        </a:rPr>
                        <a:t>divided</a:t>
                      </a:r>
                      <a:r>
                        <a:rPr lang="en-US" sz="1900" spc="-140">
                          <a:latin typeface="Arial"/>
                          <a:cs typeface="Arial"/>
                        </a:rPr>
                        <a:t> </a:t>
                      </a:r>
                      <a:r>
                        <a:rPr lang="en-US" sz="1900" spc="-50">
                          <a:latin typeface="Arial"/>
                          <a:cs typeface="Arial"/>
                        </a:rPr>
                        <a:t>among</a:t>
                      </a:r>
                      <a:r>
                        <a:rPr lang="en-US" sz="1900" spc="-90">
                          <a:latin typeface="Arial"/>
                          <a:cs typeface="Arial"/>
                        </a:rPr>
                        <a:t> </a:t>
                      </a:r>
                      <a:r>
                        <a:rPr lang="en-US" sz="1900">
                          <a:latin typeface="Arial"/>
                          <a:cs typeface="Arial"/>
                        </a:rPr>
                        <a:t>the</a:t>
                      </a:r>
                      <a:r>
                        <a:rPr lang="en-US" sz="1900" spc="-85">
                          <a:latin typeface="Arial"/>
                          <a:cs typeface="Arial"/>
                        </a:rPr>
                        <a:t> </a:t>
                      </a:r>
                      <a:r>
                        <a:rPr lang="en-US" sz="1900" spc="-70">
                          <a:latin typeface="Arial"/>
                          <a:cs typeface="Arial"/>
                        </a:rPr>
                        <a:t>several</a:t>
                      </a:r>
                      <a:r>
                        <a:rPr lang="en-US" sz="1900" spc="-95">
                          <a:latin typeface="Arial"/>
                          <a:cs typeface="Arial"/>
                        </a:rPr>
                        <a:t> </a:t>
                      </a:r>
                      <a:r>
                        <a:rPr lang="en-US" sz="1900" spc="-55">
                          <a:latin typeface="Arial"/>
                          <a:cs typeface="Arial"/>
                        </a:rPr>
                        <a:t>mappers</a:t>
                      </a:r>
                      <a:r>
                        <a:rPr lang="en-US" sz="1900" spc="-85">
                          <a:latin typeface="Arial"/>
                          <a:cs typeface="Arial"/>
                        </a:rPr>
                        <a:t> </a:t>
                      </a:r>
                      <a:r>
                        <a:rPr lang="en-US" sz="1900" spc="-55">
                          <a:latin typeface="Arial"/>
                          <a:cs typeface="Arial"/>
                        </a:rPr>
                        <a:t>and</a:t>
                      </a:r>
                      <a:r>
                        <a:rPr lang="en-US" sz="1900" spc="-80">
                          <a:latin typeface="Arial"/>
                          <a:cs typeface="Arial"/>
                        </a:rPr>
                        <a:t> </a:t>
                      </a:r>
                      <a:r>
                        <a:rPr lang="en-US" sz="1900" spc="-60">
                          <a:latin typeface="Arial"/>
                          <a:cs typeface="Arial"/>
                        </a:rPr>
                        <a:t>reducers;</a:t>
                      </a:r>
                      <a:r>
                        <a:rPr lang="en-US" sz="1900" spc="-105">
                          <a:latin typeface="Arial"/>
                          <a:cs typeface="Arial"/>
                        </a:rPr>
                        <a:t> </a:t>
                      </a:r>
                      <a:r>
                        <a:rPr lang="en-US" sz="1900" spc="-120">
                          <a:latin typeface="Arial"/>
                          <a:cs typeface="Arial"/>
                        </a:rPr>
                        <a:t>a</a:t>
                      </a:r>
                      <a:r>
                        <a:rPr lang="en-US" sz="1900" spc="-85">
                          <a:latin typeface="Arial"/>
                          <a:cs typeface="Arial"/>
                        </a:rPr>
                        <a:t> </a:t>
                      </a:r>
                      <a:r>
                        <a:rPr lang="en-US" sz="1900" spc="-50">
                          <a:latin typeface="Arial"/>
                          <a:cs typeface="Arial"/>
                        </a:rPr>
                        <a:t>task</a:t>
                      </a:r>
                      <a:r>
                        <a:rPr lang="en-US" sz="1900" spc="-85">
                          <a:latin typeface="Arial"/>
                          <a:cs typeface="Arial"/>
                        </a:rPr>
                        <a:t> is</a:t>
                      </a:r>
                      <a:r>
                        <a:rPr lang="en-US" sz="1900" spc="-105">
                          <a:latin typeface="Arial"/>
                          <a:cs typeface="Arial"/>
                        </a:rPr>
                        <a:t> </a:t>
                      </a:r>
                      <a:r>
                        <a:rPr lang="en-US" sz="1900">
                          <a:latin typeface="Arial"/>
                          <a:cs typeface="Arial"/>
                        </a:rPr>
                        <a:t>the</a:t>
                      </a:r>
                      <a:r>
                        <a:rPr lang="en-US" sz="1900" spc="-85">
                          <a:latin typeface="Arial"/>
                          <a:cs typeface="Arial"/>
                        </a:rPr>
                        <a:t> </a:t>
                      </a:r>
                      <a:r>
                        <a:rPr lang="en-US" sz="1900" spc="-25">
                          <a:latin typeface="Arial"/>
                          <a:cs typeface="Arial"/>
                        </a:rPr>
                        <a:t>job </a:t>
                      </a:r>
                      <a:r>
                        <a:rPr lang="en-US" sz="1900">
                          <a:latin typeface="Arial"/>
                          <a:cs typeface="Arial"/>
                        </a:rPr>
                        <a:t>portion</a:t>
                      </a:r>
                      <a:r>
                        <a:rPr lang="en-US" sz="1900" spc="-80">
                          <a:latin typeface="Arial"/>
                          <a:cs typeface="Arial"/>
                        </a:rPr>
                        <a:t> </a:t>
                      </a:r>
                      <a:r>
                        <a:rPr lang="en-US" sz="1900">
                          <a:latin typeface="Arial"/>
                          <a:cs typeface="Arial"/>
                        </a:rPr>
                        <a:t>that</a:t>
                      </a:r>
                      <a:r>
                        <a:rPr lang="en-US" sz="1900" spc="-50">
                          <a:latin typeface="Arial"/>
                          <a:cs typeface="Arial"/>
                        </a:rPr>
                        <a:t> </a:t>
                      </a:r>
                      <a:r>
                        <a:rPr lang="en-US" sz="1900" spc="-75">
                          <a:latin typeface="Arial"/>
                          <a:cs typeface="Arial"/>
                        </a:rPr>
                        <a:t>goes</a:t>
                      </a:r>
                      <a:r>
                        <a:rPr lang="en-US" sz="1900" spc="-70">
                          <a:latin typeface="Arial"/>
                          <a:cs typeface="Arial"/>
                        </a:rPr>
                        <a:t> </a:t>
                      </a:r>
                      <a:r>
                        <a:rPr lang="en-US" sz="1900" spc="75">
                          <a:latin typeface="Arial"/>
                          <a:cs typeface="Arial"/>
                        </a:rPr>
                        <a:t>to</a:t>
                      </a:r>
                      <a:r>
                        <a:rPr lang="en-US" sz="1900" spc="-55">
                          <a:latin typeface="Arial"/>
                          <a:cs typeface="Arial"/>
                        </a:rPr>
                        <a:t> </a:t>
                      </a:r>
                      <a:r>
                        <a:rPr lang="en-US" sz="1900" spc="-50">
                          <a:latin typeface="Arial"/>
                          <a:cs typeface="Arial"/>
                        </a:rPr>
                        <a:t>every</a:t>
                      </a:r>
                      <a:r>
                        <a:rPr lang="en-US" sz="1900" spc="-70">
                          <a:latin typeface="Arial"/>
                          <a:cs typeface="Arial"/>
                        </a:rPr>
                        <a:t> </a:t>
                      </a:r>
                      <a:r>
                        <a:rPr lang="en-US" sz="1900" spc="-55">
                          <a:latin typeface="Arial"/>
                          <a:cs typeface="Arial"/>
                        </a:rPr>
                        <a:t>single </a:t>
                      </a:r>
                      <a:r>
                        <a:rPr lang="en-US" sz="1900" spc="-40">
                          <a:latin typeface="Arial"/>
                          <a:cs typeface="Arial"/>
                        </a:rPr>
                        <a:t>mapper</a:t>
                      </a:r>
                      <a:r>
                        <a:rPr lang="en-US" sz="1900" spc="-55">
                          <a:latin typeface="Arial"/>
                          <a:cs typeface="Arial"/>
                        </a:rPr>
                        <a:t> </a:t>
                      </a:r>
                      <a:r>
                        <a:rPr lang="en-US" sz="1900" spc="-60">
                          <a:latin typeface="Arial"/>
                          <a:cs typeface="Arial"/>
                        </a:rPr>
                        <a:t>and</a:t>
                      </a:r>
                      <a:r>
                        <a:rPr lang="en-US" sz="1900" spc="-75">
                          <a:latin typeface="Arial"/>
                          <a:cs typeface="Arial"/>
                        </a:rPr>
                        <a:t> </a:t>
                      </a:r>
                      <a:r>
                        <a:rPr lang="en-US" sz="1900" spc="-10">
                          <a:latin typeface="Arial"/>
                          <a:cs typeface="Arial"/>
                        </a:rPr>
                        <a:t>reducer</a:t>
                      </a:r>
                      <a:endParaRPr lang="en-US" sz="1900">
                        <a:latin typeface="Arial"/>
                        <a:cs typeface="Arial"/>
                      </a:endParaRPr>
                    </a:p>
                  </a:txBody>
                  <a:tcPr marL="0" marR="0" marT="3207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extLst>
                  <a:ext uri="{0D108BD9-81ED-4DB2-BD59-A6C34878D82A}">
                    <a16:rowId xmlns:a16="http://schemas.microsoft.com/office/drawing/2014/main" val="10002"/>
                  </a:ext>
                </a:extLst>
              </a:tr>
              <a:tr h="635400">
                <a:tc>
                  <a:txBody>
                    <a:bodyPr/>
                    <a:lstStyle/>
                    <a:p>
                      <a:pPr marL="90805">
                        <a:lnSpc>
                          <a:spcPct val="100000"/>
                        </a:lnSpc>
                        <a:spcBef>
                          <a:spcPts val="245"/>
                        </a:spcBef>
                      </a:pPr>
                      <a:r>
                        <a:rPr lang="en-US" sz="1900" spc="-10">
                          <a:latin typeface="Arial"/>
                          <a:cs typeface="Arial"/>
                        </a:rPr>
                        <a:t>Split</a:t>
                      </a:r>
                      <a:endParaRPr lang="en-US" sz="1900">
                        <a:latin typeface="Arial"/>
                        <a:cs typeface="Arial"/>
                      </a:endParaRPr>
                    </a:p>
                  </a:txBody>
                  <a:tcPr marL="0" marR="0" marT="3207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90805">
                        <a:lnSpc>
                          <a:spcPct val="100000"/>
                        </a:lnSpc>
                        <a:spcBef>
                          <a:spcPts val="245"/>
                        </a:spcBef>
                      </a:pPr>
                      <a:r>
                        <a:rPr lang="en-US" sz="1900" spc="-105">
                          <a:latin typeface="Arial"/>
                          <a:cs typeface="Arial"/>
                        </a:rPr>
                        <a:t>The</a:t>
                      </a:r>
                      <a:r>
                        <a:rPr lang="en-US" sz="1900" spc="-75">
                          <a:latin typeface="Arial"/>
                          <a:cs typeface="Arial"/>
                        </a:rPr>
                        <a:t> </a:t>
                      </a:r>
                      <a:r>
                        <a:rPr lang="en-US" sz="1900">
                          <a:latin typeface="Arial"/>
                          <a:cs typeface="Arial"/>
                        </a:rPr>
                        <a:t>input</a:t>
                      </a:r>
                      <a:r>
                        <a:rPr lang="en-US" sz="1900" spc="-75">
                          <a:latin typeface="Arial"/>
                          <a:cs typeface="Arial"/>
                        </a:rPr>
                        <a:t> </a:t>
                      </a:r>
                      <a:r>
                        <a:rPr lang="en-US" sz="1900">
                          <a:latin typeface="Arial"/>
                          <a:cs typeface="Arial"/>
                        </a:rPr>
                        <a:t>file</a:t>
                      </a:r>
                      <a:r>
                        <a:rPr lang="en-US" sz="1900" spc="-85">
                          <a:latin typeface="Arial"/>
                          <a:cs typeface="Arial"/>
                        </a:rPr>
                        <a:t> is</a:t>
                      </a:r>
                      <a:r>
                        <a:rPr lang="en-US" sz="1900" spc="-90">
                          <a:latin typeface="Arial"/>
                          <a:cs typeface="Arial"/>
                        </a:rPr>
                        <a:t> </a:t>
                      </a:r>
                      <a:r>
                        <a:rPr lang="en-US" sz="1900" spc="-10">
                          <a:latin typeface="Arial"/>
                          <a:cs typeface="Arial"/>
                        </a:rPr>
                        <a:t>split</a:t>
                      </a:r>
                      <a:r>
                        <a:rPr lang="en-US" sz="1900" spc="-75">
                          <a:latin typeface="Arial"/>
                          <a:cs typeface="Arial"/>
                        </a:rPr>
                        <a:t> </a:t>
                      </a:r>
                      <a:r>
                        <a:rPr lang="en-US" sz="1900">
                          <a:latin typeface="Arial"/>
                          <a:cs typeface="Arial"/>
                        </a:rPr>
                        <a:t>into</a:t>
                      </a:r>
                      <a:r>
                        <a:rPr lang="en-US" sz="1900" spc="-75">
                          <a:latin typeface="Arial"/>
                          <a:cs typeface="Arial"/>
                        </a:rPr>
                        <a:t> </a:t>
                      </a:r>
                      <a:r>
                        <a:rPr lang="en-US" sz="1900" spc="-65">
                          <a:latin typeface="Arial"/>
                          <a:cs typeface="Arial"/>
                        </a:rPr>
                        <a:t>several</a:t>
                      </a:r>
                      <a:r>
                        <a:rPr lang="en-US" sz="1900" spc="-85">
                          <a:latin typeface="Arial"/>
                          <a:cs typeface="Arial"/>
                        </a:rPr>
                        <a:t> </a:t>
                      </a:r>
                      <a:r>
                        <a:rPr lang="en-US" sz="1900" spc="-35">
                          <a:latin typeface="Arial"/>
                          <a:cs typeface="Arial"/>
                        </a:rPr>
                        <a:t>splits</a:t>
                      </a:r>
                      <a:r>
                        <a:rPr lang="en-US" sz="1900" spc="-95">
                          <a:latin typeface="Arial"/>
                          <a:cs typeface="Arial"/>
                        </a:rPr>
                        <a:t> </a:t>
                      </a:r>
                      <a:r>
                        <a:rPr lang="en-US" sz="1900">
                          <a:latin typeface="Arial"/>
                          <a:cs typeface="Arial"/>
                        </a:rPr>
                        <a:t>(the</a:t>
                      </a:r>
                      <a:r>
                        <a:rPr lang="en-US" sz="1900" spc="-75">
                          <a:latin typeface="Arial"/>
                          <a:cs typeface="Arial"/>
                        </a:rPr>
                        <a:t> </a:t>
                      </a:r>
                      <a:r>
                        <a:rPr lang="en-US" sz="1900" spc="-60">
                          <a:latin typeface="Arial"/>
                          <a:cs typeface="Arial"/>
                        </a:rPr>
                        <a:t>suggested</a:t>
                      </a:r>
                      <a:r>
                        <a:rPr lang="en-US" sz="1900" spc="-75">
                          <a:latin typeface="Arial"/>
                          <a:cs typeface="Arial"/>
                        </a:rPr>
                        <a:t> </a:t>
                      </a:r>
                      <a:r>
                        <a:rPr lang="en-US" sz="1900" spc="-90">
                          <a:latin typeface="Arial"/>
                          <a:cs typeface="Arial"/>
                        </a:rPr>
                        <a:t>size </a:t>
                      </a:r>
                      <a:r>
                        <a:rPr lang="en-US" sz="1900" spc="-85">
                          <a:latin typeface="Arial"/>
                          <a:cs typeface="Arial"/>
                        </a:rPr>
                        <a:t>is</a:t>
                      </a:r>
                      <a:r>
                        <a:rPr lang="en-US" sz="1900" spc="-90">
                          <a:latin typeface="Arial"/>
                          <a:cs typeface="Arial"/>
                        </a:rPr>
                        <a:t> </a:t>
                      </a:r>
                      <a:r>
                        <a:rPr lang="en-US" sz="1900">
                          <a:latin typeface="Arial"/>
                          <a:cs typeface="Arial"/>
                        </a:rPr>
                        <a:t>the</a:t>
                      </a:r>
                      <a:r>
                        <a:rPr lang="en-US" sz="1900" spc="-75">
                          <a:latin typeface="Arial"/>
                          <a:cs typeface="Arial"/>
                        </a:rPr>
                        <a:t> </a:t>
                      </a:r>
                      <a:r>
                        <a:rPr lang="en-US" sz="1900" spc="-204">
                          <a:latin typeface="Arial"/>
                          <a:cs typeface="Arial"/>
                        </a:rPr>
                        <a:t>HDFS</a:t>
                      </a:r>
                      <a:r>
                        <a:rPr lang="en-US" sz="1900" spc="-75">
                          <a:latin typeface="Arial"/>
                          <a:cs typeface="Arial"/>
                        </a:rPr>
                        <a:t> </a:t>
                      </a:r>
                      <a:r>
                        <a:rPr lang="en-US" sz="1900" spc="-10">
                          <a:latin typeface="Arial"/>
                          <a:cs typeface="Arial"/>
                        </a:rPr>
                        <a:t>block</a:t>
                      </a:r>
                      <a:endParaRPr lang="en-US" sz="1900">
                        <a:latin typeface="Arial"/>
                        <a:cs typeface="Arial"/>
                      </a:endParaRPr>
                    </a:p>
                    <a:p>
                      <a:pPr marL="90805">
                        <a:lnSpc>
                          <a:spcPct val="100000"/>
                        </a:lnSpc>
                      </a:pPr>
                      <a:r>
                        <a:rPr lang="en-US" sz="1900" spc="-80">
                          <a:latin typeface="Arial"/>
                          <a:cs typeface="Arial"/>
                        </a:rPr>
                        <a:t>size,</a:t>
                      </a:r>
                      <a:r>
                        <a:rPr lang="en-US" sz="1900" spc="-110">
                          <a:latin typeface="Arial"/>
                          <a:cs typeface="Arial"/>
                        </a:rPr>
                        <a:t> </a:t>
                      </a:r>
                      <a:r>
                        <a:rPr lang="en-US" sz="1900" spc="-20">
                          <a:latin typeface="Arial"/>
                          <a:cs typeface="Arial"/>
                        </a:rPr>
                        <a:t>64Mb</a:t>
                      </a:r>
                      <a:r>
                        <a:rPr lang="en-US" sz="1900" spc="-100">
                          <a:latin typeface="Arial"/>
                          <a:cs typeface="Arial"/>
                        </a:rPr>
                        <a:t> </a:t>
                      </a:r>
                      <a:r>
                        <a:rPr lang="en-US" sz="1900" spc="-20">
                          <a:latin typeface="Arial"/>
                          <a:cs typeface="Arial"/>
                        </a:rPr>
                        <a:t>/</a:t>
                      </a:r>
                      <a:r>
                        <a:rPr lang="en-US" sz="1900" spc="-85">
                          <a:latin typeface="Arial"/>
                          <a:cs typeface="Arial"/>
                        </a:rPr>
                        <a:t> </a:t>
                      </a:r>
                      <a:r>
                        <a:rPr lang="en-US" sz="1900" spc="-10">
                          <a:latin typeface="Arial"/>
                          <a:cs typeface="Arial"/>
                        </a:rPr>
                        <a:t>128Mb)</a:t>
                      </a:r>
                      <a:endParaRPr lang="en-US" sz="1900">
                        <a:latin typeface="Arial"/>
                        <a:cs typeface="Arial"/>
                      </a:endParaRPr>
                    </a:p>
                  </a:txBody>
                  <a:tcPr marL="0" marR="0" marT="32078"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3"/>
                  </a:ext>
                </a:extLst>
              </a:tr>
              <a:tr h="918862">
                <a:tc>
                  <a:txBody>
                    <a:bodyPr/>
                    <a:lstStyle/>
                    <a:p>
                      <a:pPr marL="90805">
                        <a:lnSpc>
                          <a:spcPct val="100000"/>
                        </a:lnSpc>
                        <a:spcBef>
                          <a:spcPts val="250"/>
                        </a:spcBef>
                      </a:pPr>
                      <a:r>
                        <a:rPr lang="en-US" sz="1900" spc="-10">
                          <a:latin typeface="Arial"/>
                          <a:cs typeface="Arial"/>
                        </a:rPr>
                        <a:t>Record</a:t>
                      </a:r>
                      <a:endParaRPr lang="en-US" sz="1900">
                        <a:latin typeface="Arial"/>
                        <a:cs typeface="Arial"/>
                      </a:endParaRPr>
                    </a:p>
                  </a:txBody>
                  <a:tcPr marL="0" marR="0" marT="32732"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tc>
                  <a:txBody>
                    <a:bodyPr/>
                    <a:lstStyle/>
                    <a:p>
                      <a:pPr marL="90805" marR="86995" algn="just">
                        <a:lnSpc>
                          <a:spcPct val="100000"/>
                        </a:lnSpc>
                        <a:spcBef>
                          <a:spcPts val="250"/>
                        </a:spcBef>
                      </a:pPr>
                      <a:r>
                        <a:rPr lang="en-US" sz="1900" spc="-100">
                          <a:latin typeface="Arial"/>
                          <a:cs typeface="Arial"/>
                        </a:rPr>
                        <a:t>The</a:t>
                      </a:r>
                      <a:r>
                        <a:rPr lang="en-US" sz="1900" spc="-110">
                          <a:latin typeface="Arial"/>
                          <a:cs typeface="Arial"/>
                        </a:rPr>
                        <a:t> </a:t>
                      </a:r>
                      <a:r>
                        <a:rPr lang="en-US" sz="1900" spc="-30">
                          <a:latin typeface="Arial"/>
                          <a:cs typeface="Arial"/>
                        </a:rPr>
                        <a:t>splits</a:t>
                      </a:r>
                      <a:r>
                        <a:rPr lang="en-US" sz="1900" spc="-130">
                          <a:latin typeface="Arial"/>
                          <a:cs typeface="Arial"/>
                        </a:rPr>
                        <a:t> </a:t>
                      </a:r>
                      <a:r>
                        <a:rPr lang="en-US" sz="1900" spc="-80">
                          <a:latin typeface="Arial"/>
                          <a:cs typeface="Arial"/>
                        </a:rPr>
                        <a:t>is</a:t>
                      </a:r>
                      <a:r>
                        <a:rPr lang="en-US" sz="1900" spc="-125">
                          <a:latin typeface="Arial"/>
                          <a:cs typeface="Arial"/>
                        </a:rPr>
                        <a:t> </a:t>
                      </a:r>
                      <a:r>
                        <a:rPr lang="en-US" sz="1900" spc="-50">
                          <a:latin typeface="Arial"/>
                          <a:cs typeface="Arial"/>
                        </a:rPr>
                        <a:t>read</a:t>
                      </a:r>
                      <a:r>
                        <a:rPr lang="en-US" sz="1900" spc="-114">
                          <a:latin typeface="Arial"/>
                          <a:cs typeface="Arial"/>
                        </a:rPr>
                        <a:t> </a:t>
                      </a:r>
                      <a:r>
                        <a:rPr lang="en-US" sz="1900" spc="25">
                          <a:latin typeface="Arial"/>
                          <a:cs typeface="Arial"/>
                        </a:rPr>
                        <a:t>from</a:t>
                      </a:r>
                      <a:r>
                        <a:rPr lang="en-US" sz="1900" spc="-110">
                          <a:latin typeface="Arial"/>
                          <a:cs typeface="Arial"/>
                        </a:rPr>
                        <a:t> </a:t>
                      </a:r>
                      <a:r>
                        <a:rPr lang="en-US" sz="1900" spc="-40">
                          <a:latin typeface="Arial"/>
                          <a:cs typeface="Arial"/>
                        </a:rPr>
                        <a:t>mapper</a:t>
                      </a:r>
                      <a:r>
                        <a:rPr lang="en-US" sz="1900" spc="-110">
                          <a:latin typeface="Arial"/>
                          <a:cs typeface="Arial"/>
                        </a:rPr>
                        <a:t> </a:t>
                      </a:r>
                      <a:r>
                        <a:rPr lang="en-US" sz="1900" spc="-40">
                          <a:latin typeface="Arial"/>
                          <a:cs typeface="Arial"/>
                        </a:rPr>
                        <a:t>by</a:t>
                      </a:r>
                      <a:r>
                        <a:rPr lang="en-US" sz="1900" spc="-110">
                          <a:latin typeface="Arial"/>
                          <a:cs typeface="Arial"/>
                        </a:rPr>
                        <a:t> </a:t>
                      </a:r>
                      <a:r>
                        <a:rPr lang="en-US" sz="1900">
                          <a:latin typeface="Arial"/>
                          <a:cs typeface="Arial"/>
                        </a:rPr>
                        <a:t>default</a:t>
                      </a:r>
                      <a:r>
                        <a:rPr lang="en-US" sz="1900" spc="-105">
                          <a:latin typeface="Arial"/>
                          <a:cs typeface="Arial"/>
                        </a:rPr>
                        <a:t> </a:t>
                      </a:r>
                      <a:r>
                        <a:rPr lang="en-US" sz="1900" spc="-120">
                          <a:latin typeface="Arial"/>
                          <a:cs typeface="Arial"/>
                        </a:rPr>
                        <a:t>a</a:t>
                      </a:r>
                      <a:r>
                        <a:rPr lang="en-US" sz="1900" spc="-110">
                          <a:latin typeface="Arial"/>
                          <a:cs typeface="Arial"/>
                        </a:rPr>
                        <a:t> </a:t>
                      </a:r>
                      <a:r>
                        <a:rPr lang="en-US" sz="1900" spc="-35">
                          <a:latin typeface="Arial"/>
                          <a:cs typeface="Arial"/>
                        </a:rPr>
                        <a:t>line</a:t>
                      </a:r>
                      <a:r>
                        <a:rPr lang="en-US" sz="1900" spc="-120">
                          <a:latin typeface="Arial"/>
                          <a:cs typeface="Arial"/>
                        </a:rPr>
                        <a:t> </a:t>
                      </a:r>
                      <a:r>
                        <a:rPr lang="en-US" sz="1900" spc="5">
                          <a:latin typeface="Arial"/>
                          <a:cs typeface="Arial"/>
                        </a:rPr>
                        <a:t>at</a:t>
                      </a:r>
                      <a:r>
                        <a:rPr lang="en-US" sz="1900" spc="-105">
                          <a:latin typeface="Arial"/>
                          <a:cs typeface="Arial"/>
                        </a:rPr>
                        <a:t> </a:t>
                      </a:r>
                      <a:r>
                        <a:rPr lang="en-US" sz="1900" spc="5">
                          <a:latin typeface="Arial"/>
                          <a:cs typeface="Arial"/>
                        </a:rPr>
                        <a:t>the</a:t>
                      </a:r>
                      <a:r>
                        <a:rPr lang="en-US" sz="1900" spc="-120">
                          <a:latin typeface="Arial"/>
                          <a:cs typeface="Arial"/>
                        </a:rPr>
                        <a:t> </a:t>
                      </a:r>
                      <a:r>
                        <a:rPr lang="en-US" sz="1900" spc="-5">
                          <a:latin typeface="Arial"/>
                          <a:cs typeface="Arial"/>
                        </a:rPr>
                        <a:t>time:</a:t>
                      </a:r>
                      <a:r>
                        <a:rPr lang="en-US" sz="1900" spc="-110">
                          <a:latin typeface="Arial"/>
                          <a:cs typeface="Arial"/>
                        </a:rPr>
                        <a:t> </a:t>
                      </a:r>
                      <a:r>
                        <a:rPr lang="en-US" sz="1900" spc="-80">
                          <a:latin typeface="Arial"/>
                          <a:cs typeface="Arial"/>
                        </a:rPr>
                        <a:t>each</a:t>
                      </a:r>
                      <a:r>
                        <a:rPr lang="en-US" sz="1900" spc="-120">
                          <a:latin typeface="Arial"/>
                          <a:cs typeface="Arial"/>
                        </a:rPr>
                        <a:t> </a:t>
                      </a:r>
                      <a:r>
                        <a:rPr lang="en-US" sz="1900" spc="-35">
                          <a:latin typeface="Arial"/>
                          <a:cs typeface="Arial"/>
                        </a:rPr>
                        <a:t>line</a:t>
                      </a:r>
                      <a:r>
                        <a:rPr lang="en-US" sz="1900" spc="-125">
                          <a:latin typeface="Arial"/>
                          <a:cs typeface="Arial"/>
                        </a:rPr>
                        <a:t> </a:t>
                      </a:r>
                      <a:r>
                        <a:rPr lang="en-US" sz="1900" spc="-80">
                          <a:latin typeface="Arial"/>
                          <a:cs typeface="Arial"/>
                        </a:rPr>
                        <a:t>is</a:t>
                      </a:r>
                      <a:r>
                        <a:rPr lang="en-US" sz="1900" spc="-125">
                          <a:latin typeface="Arial"/>
                          <a:cs typeface="Arial"/>
                        </a:rPr>
                        <a:t> </a:t>
                      </a:r>
                      <a:r>
                        <a:rPr lang="en-US" sz="1900" spc="-120">
                          <a:latin typeface="Arial"/>
                          <a:cs typeface="Arial"/>
                        </a:rPr>
                        <a:t>a</a:t>
                      </a:r>
                      <a:r>
                        <a:rPr lang="en-US" sz="1900" spc="-110">
                          <a:latin typeface="Arial"/>
                          <a:cs typeface="Arial"/>
                        </a:rPr>
                        <a:t> </a:t>
                      </a:r>
                      <a:r>
                        <a:rPr lang="en-US" sz="1900" spc="-30">
                          <a:latin typeface="Arial"/>
                          <a:cs typeface="Arial"/>
                        </a:rPr>
                        <a:t>record.</a:t>
                      </a:r>
                      <a:r>
                        <a:rPr lang="en-US" sz="1900" spc="-50">
                          <a:latin typeface="Arial"/>
                          <a:cs typeface="Arial"/>
                        </a:rPr>
                        <a:t> </a:t>
                      </a:r>
                      <a:r>
                        <a:rPr lang="en-US" sz="1900" spc="-60">
                          <a:latin typeface="Arial"/>
                          <a:cs typeface="Arial"/>
                        </a:rPr>
                        <a:t>Using</a:t>
                      </a:r>
                      <a:r>
                        <a:rPr lang="en-US" sz="1900" spc="-120">
                          <a:latin typeface="Arial"/>
                          <a:cs typeface="Arial"/>
                        </a:rPr>
                        <a:t> a</a:t>
                      </a:r>
                      <a:r>
                        <a:rPr lang="en-US" sz="1900" spc="-110">
                          <a:latin typeface="Arial"/>
                          <a:cs typeface="Arial"/>
                        </a:rPr>
                        <a:t> </a:t>
                      </a:r>
                      <a:r>
                        <a:rPr lang="en-US" sz="1900" spc="-100">
                          <a:latin typeface="Arial"/>
                          <a:cs typeface="Arial"/>
                        </a:rPr>
                        <a:t>class</a:t>
                      </a:r>
                      <a:r>
                        <a:rPr lang="en-US" sz="1900" spc="-125">
                          <a:latin typeface="Arial"/>
                          <a:cs typeface="Arial"/>
                        </a:rPr>
                        <a:t> </a:t>
                      </a:r>
                      <a:r>
                        <a:rPr lang="en-US" sz="1900" spc="-15">
                          <a:latin typeface="Arial"/>
                          <a:cs typeface="Arial"/>
                        </a:rPr>
                        <a:t>extending</a:t>
                      </a:r>
                      <a:r>
                        <a:rPr lang="en-US" sz="1900" spc="-114">
                          <a:latin typeface="Arial"/>
                          <a:cs typeface="Arial"/>
                        </a:rPr>
                        <a:t> </a:t>
                      </a:r>
                      <a:r>
                        <a:rPr lang="en-US" sz="1900" spc="-35">
                          <a:latin typeface="Arial"/>
                          <a:cs typeface="Arial"/>
                        </a:rPr>
                        <a:t>FileInputFormart,</a:t>
                      </a:r>
                      <a:r>
                        <a:rPr lang="en-US" sz="1900" spc="-105">
                          <a:latin typeface="Arial"/>
                          <a:cs typeface="Arial"/>
                        </a:rPr>
                        <a:t> </a:t>
                      </a:r>
                      <a:r>
                        <a:rPr lang="en-US" sz="1900" spc="5">
                          <a:latin typeface="Arial"/>
                          <a:cs typeface="Arial"/>
                        </a:rPr>
                        <a:t>the</a:t>
                      </a:r>
                      <a:r>
                        <a:rPr lang="en-US" sz="1900" spc="-110">
                          <a:latin typeface="Arial"/>
                          <a:cs typeface="Arial"/>
                        </a:rPr>
                        <a:t> </a:t>
                      </a:r>
                      <a:r>
                        <a:rPr lang="en-US" sz="1900" spc="-25">
                          <a:latin typeface="Arial"/>
                          <a:cs typeface="Arial"/>
                        </a:rPr>
                        <a:t>record</a:t>
                      </a:r>
                      <a:r>
                        <a:rPr lang="en-US" sz="1900" spc="-130">
                          <a:latin typeface="Arial"/>
                          <a:cs typeface="Arial"/>
                        </a:rPr>
                        <a:t> </a:t>
                      </a:r>
                      <a:r>
                        <a:rPr lang="en-US" sz="1900" spc="-80">
                          <a:latin typeface="Arial"/>
                          <a:cs typeface="Arial"/>
                        </a:rPr>
                        <a:t>can</a:t>
                      </a:r>
                      <a:r>
                        <a:rPr lang="en-US" sz="1900" spc="-120">
                          <a:latin typeface="Arial"/>
                          <a:cs typeface="Arial"/>
                        </a:rPr>
                        <a:t> </a:t>
                      </a:r>
                      <a:r>
                        <a:rPr lang="en-US" sz="1900" spc="-45">
                          <a:latin typeface="Arial"/>
                          <a:cs typeface="Arial"/>
                        </a:rPr>
                        <a:t>be</a:t>
                      </a:r>
                      <a:r>
                        <a:rPr lang="en-US" sz="1900" spc="-110">
                          <a:latin typeface="Arial"/>
                          <a:cs typeface="Arial"/>
                        </a:rPr>
                        <a:t> </a:t>
                      </a:r>
                      <a:r>
                        <a:rPr lang="en-US" sz="1900" spc="-50">
                          <a:latin typeface="Arial"/>
                          <a:cs typeface="Arial"/>
                        </a:rPr>
                        <a:t>composed</a:t>
                      </a:r>
                      <a:r>
                        <a:rPr lang="en-US" sz="1900" spc="-150">
                          <a:latin typeface="Arial"/>
                          <a:cs typeface="Arial"/>
                        </a:rPr>
                        <a:t> </a:t>
                      </a:r>
                      <a:r>
                        <a:rPr lang="en-US" sz="1900" spc="-40">
                          <a:latin typeface="Arial"/>
                          <a:cs typeface="Arial"/>
                        </a:rPr>
                        <a:t>by</a:t>
                      </a:r>
                      <a:r>
                        <a:rPr lang="en-US" sz="1900" spc="-110">
                          <a:latin typeface="Arial"/>
                          <a:cs typeface="Arial"/>
                        </a:rPr>
                        <a:t> </a:t>
                      </a:r>
                      <a:r>
                        <a:rPr lang="en-US" sz="1900" spc="-20">
                          <a:latin typeface="Arial"/>
                          <a:cs typeface="Arial"/>
                        </a:rPr>
                        <a:t>more </a:t>
                      </a:r>
                      <a:r>
                        <a:rPr lang="en-US" sz="1900" spc="-10">
                          <a:latin typeface="Arial"/>
                          <a:cs typeface="Arial"/>
                        </a:rPr>
                        <a:t>than</a:t>
                      </a:r>
                      <a:r>
                        <a:rPr lang="en-US" sz="1900" spc="-110">
                          <a:latin typeface="Arial"/>
                          <a:cs typeface="Arial"/>
                        </a:rPr>
                        <a:t> </a:t>
                      </a:r>
                      <a:r>
                        <a:rPr lang="en-US" sz="1900" spc="-45">
                          <a:latin typeface="Arial"/>
                          <a:cs typeface="Arial"/>
                        </a:rPr>
                        <a:t>one</a:t>
                      </a:r>
                      <a:r>
                        <a:rPr lang="en-US" sz="1900" spc="-120">
                          <a:latin typeface="Arial"/>
                          <a:cs typeface="Arial"/>
                        </a:rPr>
                        <a:t> </a:t>
                      </a:r>
                      <a:r>
                        <a:rPr lang="en-US" sz="1900" spc="-35">
                          <a:latin typeface="Arial"/>
                          <a:cs typeface="Arial"/>
                        </a:rPr>
                        <a:t>line</a:t>
                      </a:r>
                      <a:endParaRPr lang="en-US" sz="1900">
                        <a:latin typeface="Arial"/>
                        <a:cs typeface="Arial"/>
                      </a:endParaRPr>
                    </a:p>
                  </a:txBody>
                  <a:tcPr marL="0" marR="0" marT="32732"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8F3FF"/>
                    </a:solidFill>
                  </a:tcPr>
                </a:tc>
                <a:extLst>
                  <a:ext uri="{0D108BD9-81ED-4DB2-BD59-A6C34878D82A}">
                    <a16:rowId xmlns:a16="http://schemas.microsoft.com/office/drawing/2014/main" val="10004"/>
                  </a:ext>
                </a:extLst>
              </a:tr>
              <a:tr h="918862">
                <a:tc>
                  <a:txBody>
                    <a:bodyPr/>
                    <a:lstStyle/>
                    <a:p>
                      <a:pPr marL="90805">
                        <a:lnSpc>
                          <a:spcPct val="100000"/>
                        </a:lnSpc>
                        <a:spcBef>
                          <a:spcPts val="250"/>
                        </a:spcBef>
                      </a:pPr>
                      <a:r>
                        <a:rPr lang="en-US" sz="1900" spc="-10">
                          <a:latin typeface="Arial"/>
                          <a:cs typeface="Arial"/>
                        </a:rPr>
                        <a:t>Partition</a:t>
                      </a:r>
                      <a:endParaRPr lang="en-US" sz="1900">
                        <a:latin typeface="Arial"/>
                        <a:cs typeface="Arial"/>
                      </a:endParaRPr>
                    </a:p>
                  </a:txBody>
                  <a:tcPr marL="0" marR="0" marT="32732"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tc>
                  <a:txBody>
                    <a:bodyPr/>
                    <a:lstStyle/>
                    <a:p>
                      <a:pPr marL="90805" marR="574040">
                        <a:lnSpc>
                          <a:spcPct val="100000"/>
                        </a:lnSpc>
                        <a:spcBef>
                          <a:spcPts val="250"/>
                        </a:spcBef>
                      </a:pPr>
                      <a:r>
                        <a:rPr lang="en-US" sz="1900" spc="-105">
                          <a:latin typeface="Arial"/>
                          <a:cs typeface="Arial"/>
                        </a:rPr>
                        <a:t>The</a:t>
                      </a:r>
                      <a:r>
                        <a:rPr lang="en-US" sz="1900" spc="-80">
                          <a:latin typeface="Arial"/>
                          <a:cs typeface="Arial"/>
                        </a:rPr>
                        <a:t> </a:t>
                      </a:r>
                      <a:r>
                        <a:rPr lang="en-US" sz="1900" spc="-35">
                          <a:latin typeface="Arial"/>
                          <a:cs typeface="Arial"/>
                        </a:rPr>
                        <a:t>set</a:t>
                      </a:r>
                      <a:r>
                        <a:rPr lang="en-US" sz="1900" spc="-80">
                          <a:latin typeface="Arial"/>
                          <a:cs typeface="Arial"/>
                        </a:rPr>
                        <a:t> </a:t>
                      </a:r>
                      <a:r>
                        <a:rPr lang="en-US" sz="1900" spc="50">
                          <a:latin typeface="Arial"/>
                          <a:cs typeface="Arial"/>
                        </a:rPr>
                        <a:t>of</a:t>
                      </a:r>
                      <a:r>
                        <a:rPr lang="en-US" sz="1900" spc="-95">
                          <a:latin typeface="Arial"/>
                          <a:cs typeface="Arial"/>
                        </a:rPr>
                        <a:t> </a:t>
                      </a:r>
                      <a:r>
                        <a:rPr lang="en-US" sz="1900" spc="-35">
                          <a:latin typeface="Arial"/>
                          <a:cs typeface="Arial"/>
                        </a:rPr>
                        <a:t>all</a:t>
                      </a:r>
                      <a:r>
                        <a:rPr lang="en-US" sz="1900" spc="-80">
                          <a:latin typeface="Arial"/>
                          <a:cs typeface="Arial"/>
                        </a:rPr>
                        <a:t> </a:t>
                      </a:r>
                      <a:r>
                        <a:rPr lang="en-US" sz="1900">
                          <a:latin typeface="Arial"/>
                          <a:cs typeface="Arial"/>
                        </a:rPr>
                        <a:t>the</a:t>
                      </a:r>
                      <a:r>
                        <a:rPr lang="en-US" sz="1900" spc="-75">
                          <a:latin typeface="Arial"/>
                          <a:cs typeface="Arial"/>
                        </a:rPr>
                        <a:t> </a:t>
                      </a:r>
                      <a:r>
                        <a:rPr lang="en-US" sz="1900" spc="-85">
                          <a:latin typeface="Arial"/>
                          <a:cs typeface="Arial"/>
                        </a:rPr>
                        <a:t>key-</a:t>
                      </a:r>
                      <a:r>
                        <a:rPr lang="en-US" sz="1900" spc="-65">
                          <a:latin typeface="Arial"/>
                          <a:cs typeface="Arial"/>
                        </a:rPr>
                        <a:t>value</a:t>
                      </a:r>
                      <a:r>
                        <a:rPr lang="en-US" sz="1900" spc="-85">
                          <a:latin typeface="Arial"/>
                          <a:cs typeface="Arial"/>
                        </a:rPr>
                        <a:t> </a:t>
                      </a:r>
                      <a:r>
                        <a:rPr lang="en-US" sz="1900" spc="-55">
                          <a:latin typeface="Arial"/>
                          <a:cs typeface="Arial"/>
                        </a:rPr>
                        <a:t>pairs</a:t>
                      </a:r>
                      <a:r>
                        <a:rPr lang="en-US" sz="1900" spc="-80">
                          <a:latin typeface="Arial"/>
                          <a:cs typeface="Arial"/>
                        </a:rPr>
                        <a:t> </a:t>
                      </a:r>
                      <a:r>
                        <a:rPr lang="en-US" sz="1900">
                          <a:latin typeface="Arial"/>
                          <a:cs typeface="Arial"/>
                        </a:rPr>
                        <a:t>that</a:t>
                      </a:r>
                      <a:r>
                        <a:rPr lang="en-US" sz="1900" spc="-70">
                          <a:latin typeface="Arial"/>
                          <a:cs typeface="Arial"/>
                        </a:rPr>
                        <a:t> </a:t>
                      </a:r>
                      <a:r>
                        <a:rPr lang="en-US" sz="1900">
                          <a:latin typeface="Arial"/>
                          <a:cs typeface="Arial"/>
                        </a:rPr>
                        <a:t>will</a:t>
                      </a:r>
                      <a:r>
                        <a:rPr lang="en-US" sz="1900" spc="-95">
                          <a:latin typeface="Arial"/>
                          <a:cs typeface="Arial"/>
                        </a:rPr>
                        <a:t> </a:t>
                      </a:r>
                      <a:r>
                        <a:rPr lang="en-US" sz="1900" spc="-50">
                          <a:latin typeface="Arial"/>
                          <a:cs typeface="Arial"/>
                        </a:rPr>
                        <a:t>be</a:t>
                      </a:r>
                      <a:r>
                        <a:rPr lang="en-US" sz="1900" spc="-80">
                          <a:latin typeface="Arial"/>
                          <a:cs typeface="Arial"/>
                        </a:rPr>
                        <a:t> </a:t>
                      </a:r>
                      <a:r>
                        <a:rPr lang="en-US" sz="1900" spc="-30">
                          <a:latin typeface="Arial"/>
                          <a:cs typeface="Arial"/>
                        </a:rPr>
                        <a:t>sent</a:t>
                      </a:r>
                      <a:r>
                        <a:rPr lang="en-US" sz="1900" spc="-70">
                          <a:latin typeface="Arial"/>
                          <a:cs typeface="Arial"/>
                        </a:rPr>
                        <a:t> </a:t>
                      </a:r>
                      <a:r>
                        <a:rPr lang="en-US" sz="1900" spc="75">
                          <a:latin typeface="Arial"/>
                          <a:cs typeface="Arial"/>
                        </a:rPr>
                        <a:t>to</a:t>
                      </a:r>
                      <a:r>
                        <a:rPr lang="en-US" sz="1900" spc="-90">
                          <a:latin typeface="Arial"/>
                          <a:cs typeface="Arial"/>
                        </a:rPr>
                        <a:t> </a:t>
                      </a:r>
                      <a:r>
                        <a:rPr lang="en-US" sz="1900" spc="-120">
                          <a:latin typeface="Arial"/>
                          <a:cs typeface="Arial"/>
                        </a:rPr>
                        <a:t>a</a:t>
                      </a:r>
                      <a:r>
                        <a:rPr lang="en-US" sz="1900" spc="-65">
                          <a:latin typeface="Arial"/>
                          <a:cs typeface="Arial"/>
                        </a:rPr>
                        <a:t> </a:t>
                      </a:r>
                      <a:r>
                        <a:rPr lang="en-US" sz="1900" spc="-60">
                          <a:latin typeface="Arial"/>
                          <a:cs typeface="Arial"/>
                        </a:rPr>
                        <a:t>single</a:t>
                      </a:r>
                      <a:r>
                        <a:rPr lang="en-US" sz="1900" spc="-80">
                          <a:latin typeface="Arial"/>
                          <a:cs typeface="Arial"/>
                        </a:rPr>
                        <a:t> </a:t>
                      </a:r>
                      <a:r>
                        <a:rPr lang="en-US" sz="1900" spc="-45">
                          <a:latin typeface="Arial"/>
                          <a:cs typeface="Arial"/>
                        </a:rPr>
                        <a:t>reducer.</a:t>
                      </a:r>
                      <a:r>
                        <a:rPr lang="en-US" sz="1900" spc="-95">
                          <a:latin typeface="Arial"/>
                          <a:cs typeface="Arial"/>
                        </a:rPr>
                        <a:t> </a:t>
                      </a:r>
                      <a:r>
                        <a:rPr lang="en-US" sz="1900" spc="-25">
                          <a:latin typeface="Arial"/>
                          <a:cs typeface="Arial"/>
                        </a:rPr>
                        <a:t>The </a:t>
                      </a:r>
                      <a:r>
                        <a:rPr lang="en-US" sz="1900">
                          <a:latin typeface="Arial"/>
                          <a:cs typeface="Arial"/>
                        </a:rPr>
                        <a:t>default</a:t>
                      </a:r>
                      <a:r>
                        <a:rPr lang="en-US" sz="1900" spc="-90">
                          <a:latin typeface="Arial"/>
                          <a:cs typeface="Arial"/>
                        </a:rPr>
                        <a:t> </a:t>
                      </a:r>
                      <a:r>
                        <a:rPr lang="en-US" sz="1900">
                          <a:latin typeface="Arial"/>
                          <a:cs typeface="Arial"/>
                        </a:rPr>
                        <a:t>partitioner</a:t>
                      </a:r>
                      <a:r>
                        <a:rPr lang="en-US" sz="1900" spc="-100">
                          <a:latin typeface="Arial"/>
                          <a:cs typeface="Arial"/>
                        </a:rPr>
                        <a:t> </a:t>
                      </a:r>
                      <a:r>
                        <a:rPr lang="en-US" sz="1900" spc="-110">
                          <a:latin typeface="Arial"/>
                          <a:cs typeface="Arial"/>
                        </a:rPr>
                        <a:t>uses</a:t>
                      </a:r>
                      <a:r>
                        <a:rPr lang="en-US" sz="1900" spc="-105">
                          <a:latin typeface="Arial"/>
                          <a:cs typeface="Arial"/>
                        </a:rPr>
                        <a:t> </a:t>
                      </a:r>
                      <a:r>
                        <a:rPr lang="en-US" sz="1900" spc="-80">
                          <a:latin typeface="Arial"/>
                          <a:cs typeface="Arial"/>
                        </a:rPr>
                        <a:t>an </a:t>
                      </a:r>
                      <a:r>
                        <a:rPr lang="en-US" sz="1900" spc="-95">
                          <a:latin typeface="Arial"/>
                          <a:cs typeface="Arial"/>
                        </a:rPr>
                        <a:t>hash </a:t>
                      </a:r>
                      <a:r>
                        <a:rPr lang="en-US" sz="1900">
                          <a:latin typeface="Arial"/>
                          <a:cs typeface="Arial"/>
                        </a:rPr>
                        <a:t>function</a:t>
                      </a:r>
                      <a:r>
                        <a:rPr lang="en-US" sz="1900" spc="-95">
                          <a:latin typeface="Arial"/>
                          <a:cs typeface="Arial"/>
                        </a:rPr>
                        <a:t> </a:t>
                      </a:r>
                      <a:r>
                        <a:rPr lang="en-US" sz="1900" spc="-10">
                          <a:latin typeface="Arial"/>
                          <a:cs typeface="Arial"/>
                        </a:rPr>
                        <a:t>on</a:t>
                      </a:r>
                      <a:r>
                        <a:rPr lang="en-US" sz="1900" spc="-95">
                          <a:latin typeface="Arial"/>
                          <a:cs typeface="Arial"/>
                        </a:rPr>
                        <a:t> </a:t>
                      </a:r>
                      <a:r>
                        <a:rPr lang="en-US" sz="1900">
                          <a:latin typeface="Arial"/>
                          <a:cs typeface="Arial"/>
                        </a:rPr>
                        <a:t>the</a:t>
                      </a:r>
                      <a:r>
                        <a:rPr lang="en-US" sz="1900" spc="-95">
                          <a:latin typeface="Arial"/>
                          <a:cs typeface="Arial"/>
                        </a:rPr>
                        <a:t> </a:t>
                      </a:r>
                      <a:r>
                        <a:rPr lang="en-US" sz="1900" spc="-60">
                          <a:latin typeface="Arial"/>
                          <a:cs typeface="Arial"/>
                        </a:rPr>
                        <a:t>key</a:t>
                      </a:r>
                      <a:r>
                        <a:rPr lang="en-US" sz="1900" spc="-90">
                          <a:latin typeface="Arial"/>
                          <a:cs typeface="Arial"/>
                        </a:rPr>
                        <a:t> </a:t>
                      </a:r>
                      <a:r>
                        <a:rPr lang="en-US" sz="1900" spc="75">
                          <a:latin typeface="Arial"/>
                          <a:cs typeface="Arial"/>
                        </a:rPr>
                        <a:t>to</a:t>
                      </a:r>
                      <a:r>
                        <a:rPr lang="en-US" sz="1900" spc="-85">
                          <a:latin typeface="Arial"/>
                          <a:cs typeface="Arial"/>
                        </a:rPr>
                        <a:t> </a:t>
                      </a:r>
                      <a:r>
                        <a:rPr lang="en-US" sz="1900" spc="-30">
                          <a:latin typeface="Arial"/>
                          <a:cs typeface="Arial"/>
                        </a:rPr>
                        <a:t>determine</a:t>
                      </a:r>
                      <a:r>
                        <a:rPr lang="en-US" sz="1900" spc="-95">
                          <a:latin typeface="Arial"/>
                          <a:cs typeface="Arial"/>
                        </a:rPr>
                        <a:t> </a:t>
                      </a:r>
                      <a:r>
                        <a:rPr lang="en-US" sz="1900" spc="75">
                          <a:latin typeface="Arial"/>
                          <a:cs typeface="Arial"/>
                        </a:rPr>
                        <a:t>to</a:t>
                      </a:r>
                      <a:r>
                        <a:rPr lang="en-US" sz="1900" spc="-80">
                          <a:latin typeface="Arial"/>
                          <a:cs typeface="Arial"/>
                        </a:rPr>
                        <a:t> </a:t>
                      </a:r>
                      <a:r>
                        <a:rPr lang="en-US" sz="1900" spc="-10">
                          <a:latin typeface="Arial"/>
                          <a:cs typeface="Arial"/>
                        </a:rPr>
                        <a:t>which </a:t>
                      </a:r>
                      <a:r>
                        <a:rPr lang="en-US" sz="1900" spc="-40">
                          <a:latin typeface="Arial"/>
                          <a:cs typeface="Arial"/>
                        </a:rPr>
                        <a:t>reducer</a:t>
                      </a:r>
                      <a:r>
                        <a:rPr lang="en-US" sz="1900" spc="-95">
                          <a:latin typeface="Arial"/>
                          <a:cs typeface="Arial"/>
                        </a:rPr>
                        <a:t> </a:t>
                      </a:r>
                      <a:r>
                        <a:rPr lang="en-US" sz="1900" spc="-80">
                          <a:latin typeface="Arial"/>
                          <a:cs typeface="Arial"/>
                        </a:rPr>
                        <a:t>send</a:t>
                      </a:r>
                      <a:r>
                        <a:rPr lang="en-US" sz="1900" spc="-100">
                          <a:latin typeface="Arial"/>
                          <a:cs typeface="Arial"/>
                        </a:rPr>
                        <a:t> </a:t>
                      </a:r>
                      <a:r>
                        <a:rPr lang="en-US" sz="1900">
                          <a:latin typeface="Arial"/>
                          <a:cs typeface="Arial"/>
                        </a:rPr>
                        <a:t>the</a:t>
                      </a:r>
                      <a:r>
                        <a:rPr lang="en-US" sz="1900" spc="-80">
                          <a:latin typeface="Arial"/>
                          <a:cs typeface="Arial"/>
                        </a:rPr>
                        <a:t> </a:t>
                      </a:r>
                      <a:r>
                        <a:rPr lang="en-US" sz="1900" spc="-20">
                          <a:latin typeface="Arial"/>
                          <a:cs typeface="Arial"/>
                        </a:rPr>
                        <a:t>data</a:t>
                      </a:r>
                      <a:endParaRPr lang="en-US" sz="1900">
                        <a:latin typeface="Arial"/>
                        <a:cs typeface="Arial"/>
                      </a:endParaRPr>
                    </a:p>
                  </a:txBody>
                  <a:tcPr marL="0" marR="0" marT="32732"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DE4FD"/>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793662" y="386930"/>
            <a:ext cx="10066122" cy="1298448"/>
          </a:xfrm>
          <a:prstGeom prst="rect">
            <a:avLst/>
          </a:prstGeom>
        </p:spPr>
        <p:txBody>
          <a:bodyPr vert="horz" lIns="91440" tIns="45720" rIns="91440" bIns="45720" rtlCol="0" anchor="b">
            <a:normAutofit/>
          </a:bodyPr>
          <a:lstStyle/>
          <a:p>
            <a:pPr marL="1091565"/>
            <a:r>
              <a:rPr lang="en-US" sz="4800" kern="1200" spc="-95">
                <a:solidFill>
                  <a:schemeClr val="tx1"/>
                </a:solidFill>
                <a:latin typeface="+mj-lt"/>
                <a:ea typeface="+mj-ea"/>
                <a:cs typeface="+mj-cs"/>
              </a:rPr>
              <a:t>Map</a:t>
            </a:r>
            <a:r>
              <a:rPr lang="en-US" sz="4800" kern="1200" spc="-245">
                <a:solidFill>
                  <a:schemeClr val="tx1"/>
                </a:solidFill>
                <a:latin typeface="+mj-lt"/>
                <a:ea typeface="+mj-ea"/>
                <a:cs typeface="+mj-cs"/>
              </a:rPr>
              <a:t> </a:t>
            </a:r>
            <a:r>
              <a:rPr lang="en-US" sz="4800" kern="1200" spc="-240">
                <a:solidFill>
                  <a:schemeClr val="tx1"/>
                </a:solidFill>
                <a:latin typeface="+mj-lt"/>
                <a:ea typeface="+mj-ea"/>
                <a:cs typeface="+mj-cs"/>
              </a:rPr>
              <a:t>Reduce</a:t>
            </a:r>
            <a:r>
              <a:rPr lang="en-US" sz="4800" kern="1200" spc="-220">
                <a:solidFill>
                  <a:schemeClr val="tx1"/>
                </a:solidFill>
                <a:latin typeface="+mj-lt"/>
                <a:ea typeface="+mj-ea"/>
                <a:cs typeface="+mj-cs"/>
              </a:rPr>
              <a:t> </a:t>
            </a:r>
            <a:r>
              <a:rPr lang="en-US" sz="4800" kern="1200" spc="-55">
                <a:solidFill>
                  <a:schemeClr val="tx1"/>
                </a:solidFill>
                <a:latin typeface="+mj-lt"/>
                <a:ea typeface="+mj-ea"/>
                <a:cs typeface="+mj-cs"/>
              </a:rPr>
              <a:t>Framework</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p:cNvSpPr txBox="1"/>
          <p:nvPr/>
        </p:nvSpPr>
        <p:spPr>
          <a:xfrm>
            <a:off x="793661" y="2599509"/>
            <a:ext cx="4530898" cy="3639450"/>
          </a:xfrm>
          <a:prstGeom prst="rect">
            <a:avLst/>
          </a:prstGeom>
        </p:spPr>
        <p:txBody>
          <a:bodyPr vert="horz" lIns="91440" tIns="45720" rIns="91440" bIns="45720" rtlCol="0" anchor="ctr">
            <a:normAutofit/>
          </a:bodyPr>
          <a:lstStyle/>
          <a:p>
            <a:pPr marL="12700" indent="-228600">
              <a:lnSpc>
                <a:spcPct val="90000"/>
              </a:lnSpc>
              <a:spcBef>
                <a:spcPts val="700"/>
              </a:spcBef>
              <a:buFont typeface="Arial" panose="020B0604020202020204" pitchFamily="34" charset="0"/>
              <a:buChar char="•"/>
            </a:pPr>
            <a:r>
              <a:rPr lang="en-US" sz="2000"/>
              <a:t>∗</a:t>
            </a:r>
            <a:r>
              <a:rPr lang="en-US" sz="2000" spc="160"/>
              <a:t> </a:t>
            </a:r>
            <a:r>
              <a:rPr lang="en-US" sz="2000" spc="-120"/>
              <a:t>Per</a:t>
            </a:r>
            <a:r>
              <a:rPr lang="en-US" sz="2000" spc="-140"/>
              <a:t> </a:t>
            </a:r>
            <a:r>
              <a:rPr lang="en-US" sz="2000" spc="-40"/>
              <a:t>cluster</a:t>
            </a:r>
            <a:r>
              <a:rPr lang="en-US" sz="2000" spc="-130"/>
              <a:t> </a:t>
            </a:r>
            <a:r>
              <a:rPr lang="en-US" sz="2000" spc="-20"/>
              <a:t>node</a:t>
            </a:r>
            <a:endParaRPr lang="en-US" sz="2000"/>
          </a:p>
          <a:p>
            <a:pPr marL="314325" indent="-228600">
              <a:lnSpc>
                <a:spcPct val="90000"/>
              </a:lnSpc>
              <a:spcBef>
                <a:spcPts val="545"/>
              </a:spcBef>
              <a:buFont typeface="Arial" panose="020B0604020202020204" pitchFamily="34" charset="0"/>
              <a:buChar char="•"/>
            </a:pPr>
            <a:r>
              <a:rPr lang="en-US" sz="2000"/>
              <a:t>∗</a:t>
            </a:r>
            <a:r>
              <a:rPr lang="en-US" sz="2000" spc="385"/>
              <a:t> </a:t>
            </a:r>
            <a:r>
              <a:rPr lang="en-US" sz="2000" spc="-105"/>
              <a:t>Single</a:t>
            </a:r>
            <a:r>
              <a:rPr lang="en-US" sz="2000" spc="-125"/>
              <a:t> </a:t>
            </a:r>
            <a:r>
              <a:rPr lang="en-US" sz="2000" spc="-95"/>
              <a:t>JobTracker</a:t>
            </a:r>
            <a:r>
              <a:rPr lang="en-US" sz="2000" spc="-125"/>
              <a:t> </a:t>
            </a:r>
            <a:r>
              <a:rPr lang="en-US" sz="2000" spc="-25"/>
              <a:t>per</a:t>
            </a:r>
            <a:r>
              <a:rPr lang="en-US" sz="2000" spc="-114"/>
              <a:t> </a:t>
            </a:r>
            <a:r>
              <a:rPr lang="en-US" sz="2000" spc="-10"/>
              <a:t>master</a:t>
            </a:r>
            <a:endParaRPr lang="en-US" sz="2000"/>
          </a:p>
          <a:p>
            <a:pPr marL="869315" marR="5080" indent="-228600">
              <a:lnSpc>
                <a:spcPct val="90000"/>
              </a:lnSpc>
              <a:spcBef>
                <a:spcPts val="490"/>
              </a:spcBef>
              <a:buFont typeface="Arial" panose="020B0604020202020204" pitchFamily="34" charset="0"/>
              <a:buChar char="•"/>
            </a:pPr>
            <a:r>
              <a:rPr lang="en-US" sz="2000"/>
              <a:t>∗</a:t>
            </a:r>
            <a:r>
              <a:rPr lang="en-US" sz="2000" spc="175"/>
              <a:t> </a:t>
            </a:r>
            <a:r>
              <a:rPr lang="en-US" sz="2000" spc="-85"/>
              <a:t>Responsible</a:t>
            </a:r>
            <a:r>
              <a:rPr lang="en-US" sz="2000" spc="-100"/>
              <a:t> </a:t>
            </a:r>
            <a:r>
              <a:rPr lang="en-US" sz="2000" spc="50"/>
              <a:t>for</a:t>
            </a:r>
            <a:r>
              <a:rPr lang="en-US" sz="2000" spc="-120"/>
              <a:t> </a:t>
            </a:r>
            <a:r>
              <a:rPr lang="en-US" sz="2000" spc="-60"/>
              <a:t>scheduling</a:t>
            </a:r>
            <a:r>
              <a:rPr lang="en-US" sz="2000" spc="-80"/>
              <a:t> </a:t>
            </a:r>
            <a:r>
              <a:rPr lang="en-US" sz="2000"/>
              <a:t>the</a:t>
            </a:r>
            <a:r>
              <a:rPr lang="en-US" sz="2000" spc="-100"/>
              <a:t> </a:t>
            </a:r>
            <a:r>
              <a:rPr lang="en-US" sz="2000" spc="-10"/>
              <a:t>jobs’ </a:t>
            </a:r>
            <a:r>
              <a:rPr lang="en-US" sz="2000" spc="-25"/>
              <a:t>component</a:t>
            </a:r>
            <a:r>
              <a:rPr lang="en-US" sz="2000" spc="-105"/>
              <a:t> </a:t>
            </a:r>
            <a:r>
              <a:rPr lang="en-US" sz="2000" spc="-75"/>
              <a:t>tasks</a:t>
            </a:r>
            <a:r>
              <a:rPr lang="en-US" sz="2000" spc="-100"/>
              <a:t> </a:t>
            </a:r>
            <a:r>
              <a:rPr lang="en-US" sz="2000" spc="-10"/>
              <a:t>on</a:t>
            </a:r>
            <a:r>
              <a:rPr lang="en-US" sz="2000" spc="-90"/>
              <a:t> </a:t>
            </a:r>
            <a:r>
              <a:rPr lang="en-US" sz="2000"/>
              <a:t>the</a:t>
            </a:r>
            <a:r>
              <a:rPr lang="en-US" sz="2000" spc="-95"/>
              <a:t> </a:t>
            </a:r>
            <a:r>
              <a:rPr lang="en-US" sz="2000" spc="-10"/>
              <a:t>slaves</a:t>
            </a:r>
            <a:endParaRPr lang="en-US" sz="2000"/>
          </a:p>
          <a:p>
            <a:pPr marL="640715" indent="-228600">
              <a:lnSpc>
                <a:spcPct val="90000"/>
              </a:lnSpc>
              <a:spcBef>
                <a:spcPts val="480"/>
              </a:spcBef>
              <a:buFont typeface="Arial" panose="020B0604020202020204" pitchFamily="34" charset="0"/>
              <a:buChar char="•"/>
            </a:pPr>
            <a:r>
              <a:rPr lang="en-US" sz="2000"/>
              <a:t>∗</a:t>
            </a:r>
            <a:r>
              <a:rPr lang="en-US" sz="2000" spc="135"/>
              <a:t> </a:t>
            </a:r>
            <a:r>
              <a:rPr lang="en-US" sz="2000"/>
              <a:t>Monitors</a:t>
            </a:r>
            <a:r>
              <a:rPr lang="en-US" sz="2000" spc="-120"/>
              <a:t> </a:t>
            </a:r>
            <a:r>
              <a:rPr lang="en-US" sz="2000" spc="-90"/>
              <a:t>slave</a:t>
            </a:r>
            <a:r>
              <a:rPr lang="en-US" sz="2000" spc="-110"/>
              <a:t> </a:t>
            </a:r>
            <a:r>
              <a:rPr lang="en-US" sz="2000" spc="-10"/>
              <a:t>progress</a:t>
            </a:r>
            <a:endParaRPr lang="en-US" sz="2000"/>
          </a:p>
          <a:p>
            <a:pPr marL="640715" indent="-228600">
              <a:lnSpc>
                <a:spcPct val="90000"/>
              </a:lnSpc>
              <a:spcBef>
                <a:spcPts val="484"/>
              </a:spcBef>
              <a:buFont typeface="Arial" panose="020B0604020202020204" pitchFamily="34" charset="0"/>
              <a:buChar char="•"/>
            </a:pPr>
            <a:r>
              <a:rPr lang="en-US" sz="2000"/>
              <a:t>∗</a:t>
            </a:r>
            <a:r>
              <a:rPr lang="en-US" sz="2000" spc="165"/>
              <a:t> </a:t>
            </a:r>
            <a:r>
              <a:rPr lang="en-US" sz="2000" spc="-175"/>
              <a:t>Re-</a:t>
            </a:r>
            <a:r>
              <a:rPr lang="en-US" sz="2000" spc="-35"/>
              <a:t>executing</a:t>
            </a:r>
            <a:r>
              <a:rPr lang="en-US" sz="2000" spc="-120"/>
              <a:t> </a:t>
            </a:r>
            <a:r>
              <a:rPr lang="en-US" sz="2000" spc="-30"/>
              <a:t>failed</a:t>
            </a:r>
            <a:r>
              <a:rPr lang="en-US" sz="2000" spc="-95"/>
              <a:t> </a:t>
            </a:r>
            <a:r>
              <a:rPr lang="en-US" sz="2000" spc="-20"/>
              <a:t>tasks</a:t>
            </a:r>
            <a:endParaRPr lang="en-US" sz="2000"/>
          </a:p>
          <a:p>
            <a:pPr marL="314325" indent="-228600">
              <a:lnSpc>
                <a:spcPct val="90000"/>
              </a:lnSpc>
              <a:spcBef>
                <a:spcPts val="520"/>
              </a:spcBef>
              <a:buFont typeface="Arial" panose="020B0604020202020204" pitchFamily="34" charset="0"/>
              <a:buChar char="•"/>
            </a:pPr>
            <a:r>
              <a:rPr lang="en-US" sz="2000"/>
              <a:t>∗</a:t>
            </a:r>
            <a:r>
              <a:rPr lang="en-US" sz="2000" spc="370"/>
              <a:t> </a:t>
            </a:r>
            <a:r>
              <a:rPr lang="en-US" sz="2000" spc="-95"/>
              <a:t>Single</a:t>
            </a:r>
            <a:r>
              <a:rPr lang="en-US" sz="2000" spc="-135"/>
              <a:t> </a:t>
            </a:r>
            <a:r>
              <a:rPr lang="en-US" sz="2000" spc="-130"/>
              <a:t>TaskTracker</a:t>
            </a:r>
            <a:r>
              <a:rPr lang="en-US" sz="2000" spc="-110"/>
              <a:t> </a:t>
            </a:r>
            <a:r>
              <a:rPr lang="en-US" sz="2000" spc="-25"/>
              <a:t>per</a:t>
            </a:r>
            <a:r>
              <a:rPr lang="en-US" sz="2000" spc="-114"/>
              <a:t> </a:t>
            </a:r>
            <a:r>
              <a:rPr lang="en-US" sz="2000" spc="-10"/>
              <a:t>slave</a:t>
            </a:r>
            <a:endParaRPr lang="en-US" sz="2000"/>
          </a:p>
          <a:p>
            <a:pPr marL="640715" indent="-228600">
              <a:lnSpc>
                <a:spcPct val="90000"/>
              </a:lnSpc>
              <a:spcBef>
                <a:spcPts val="484"/>
              </a:spcBef>
              <a:buFont typeface="Arial" panose="020B0604020202020204" pitchFamily="34" charset="0"/>
              <a:buChar char="•"/>
            </a:pPr>
            <a:r>
              <a:rPr lang="en-US" sz="2000"/>
              <a:t>∗</a:t>
            </a:r>
            <a:r>
              <a:rPr lang="en-US" sz="2000" spc="160"/>
              <a:t> </a:t>
            </a:r>
            <a:r>
              <a:rPr lang="en-US" sz="2000" spc="-75"/>
              <a:t>Execute</a:t>
            </a:r>
            <a:r>
              <a:rPr lang="en-US" sz="2000" spc="-114"/>
              <a:t> </a:t>
            </a:r>
            <a:r>
              <a:rPr lang="en-US" sz="2000"/>
              <a:t>the</a:t>
            </a:r>
            <a:r>
              <a:rPr lang="en-US" sz="2000" spc="-110"/>
              <a:t> </a:t>
            </a:r>
            <a:r>
              <a:rPr lang="en-US" sz="2000" spc="-70"/>
              <a:t>tasks</a:t>
            </a:r>
            <a:r>
              <a:rPr lang="en-US" sz="2000" spc="-114"/>
              <a:t> </a:t>
            </a:r>
            <a:r>
              <a:rPr lang="en-US" sz="2000" spc="-150"/>
              <a:t>as</a:t>
            </a:r>
            <a:r>
              <a:rPr lang="en-US" sz="2000" spc="-105"/>
              <a:t> </a:t>
            </a:r>
            <a:r>
              <a:rPr lang="en-US" sz="2000" spc="-25"/>
              <a:t>directed</a:t>
            </a:r>
            <a:r>
              <a:rPr lang="en-US" sz="2000" spc="-120"/>
              <a:t> </a:t>
            </a:r>
            <a:r>
              <a:rPr lang="en-US" sz="2000" spc="-45"/>
              <a:t>by</a:t>
            </a:r>
            <a:r>
              <a:rPr lang="en-US" sz="2000" spc="-105"/>
              <a:t> </a:t>
            </a:r>
            <a:r>
              <a:rPr lang="en-US" sz="2000" spc="-25"/>
              <a:t>the</a:t>
            </a:r>
            <a:endParaRPr lang="en-US" sz="2000"/>
          </a:p>
          <a:p>
            <a:pPr marL="869315" indent="-228600">
              <a:lnSpc>
                <a:spcPct val="90000"/>
              </a:lnSpc>
              <a:buFont typeface="Arial" panose="020B0604020202020204" pitchFamily="34" charset="0"/>
              <a:buChar char="•"/>
            </a:pPr>
            <a:r>
              <a:rPr lang="en-US" sz="2000" spc="-10"/>
              <a:t>master</a:t>
            </a:r>
            <a:endParaRPr lang="en-US" sz="2000"/>
          </a:p>
        </p:txBody>
      </p:sp>
      <p:pic>
        <p:nvPicPr>
          <p:cNvPr id="4" name="object 4"/>
          <p:cNvPicPr/>
          <p:nvPr/>
        </p:nvPicPr>
        <p:blipFill>
          <a:blip r:embed="rId2" cstate="print"/>
          <a:stretch>
            <a:fillRect/>
          </a:stretch>
        </p:blipFill>
        <p:spPr>
          <a:xfrm>
            <a:off x="5911532" y="3112467"/>
            <a:ext cx="5150277" cy="2457820"/>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043631" y="809898"/>
            <a:ext cx="9942716" cy="1554480"/>
          </a:xfrm>
          <a:prstGeom prst="rect">
            <a:avLst/>
          </a:prstGeom>
        </p:spPr>
        <p:txBody>
          <a:bodyPr vert="horz" lIns="91440" tIns="45720" rIns="91440" bIns="45720" rtlCol="0" anchor="ctr">
            <a:normAutofit/>
          </a:bodyPr>
          <a:lstStyle/>
          <a:p>
            <a:pPr marL="90170"/>
            <a:r>
              <a:rPr lang="en-US" sz="4800" kern="1200" spc="-95">
                <a:solidFill>
                  <a:schemeClr val="tx1"/>
                </a:solidFill>
                <a:latin typeface="+mj-lt"/>
                <a:ea typeface="+mj-ea"/>
                <a:cs typeface="+mj-cs"/>
              </a:rPr>
              <a:t>Map</a:t>
            </a:r>
            <a:r>
              <a:rPr lang="en-US" sz="4800" kern="1200" spc="-235">
                <a:solidFill>
                  <a:schemeClr val="tx1"/>
                </a:solidFill>
                <a:latin typeface="+mj-lt"/>
                <a:ea typeface="+mj-ea"/>
                <a:cs typeface="+mj-cs"/>
              </a:rPr>
              <a:t> </a:t>
            </a:r>
            <a:r>
              <a:rPr lang="en-US" sz="4800" kern="1200" spc="-240">
                <a:solidFill>
                  <a:schemeClr val="tx1"/>
                </a:solidFill>
                <a:latin typeface="+mj-lt"/>
                <a:ea typeface="+mj-ea"/>
                <a:cs typeface="+mj-cs"/>
              </a:rPr>
              <a:t>Reduce</a:t>
            </a:r>
            <a:r>
              <a:rPr lang="en-US" sz="4800" kern="1200" spc="-210">
                <a:solidFill>
                  <a:schemeClr val="tx1"/>
                </a:solidFill>
                <a:latin typeface="+mj-lt"/>
                <a:ea typeface="+mj-ea"/>
                <a:cs typeface="+mj-cs"/>
              </a:rPr>
              <a:t> </a:t>
            </a:r>
            <a:r>
              <a:rPr lang="en-US" sz="4800" kern="1200" spc="-225">
                <a:solidFill>
                  <a:schemeClr val="tx1"/>
                </a:solidFill>
                <a:latin typeface="+mj-lt"/>
                <a:ea typeface="+mj-ea"/>
                <a:cs typeface="+mj-cs"/>
              </a:rPr>
              <a:t>Core</a:t>
            </a:r>
            <a:r>
              <a:rPr lang="en-US" sz="4800" kern="1200" spc="-215">
                <a:solidFill>
                  <a:schemeClr val="tx1"/>
                </a:solidFill>
                <a:latin typeface="+mj-lt"/>
                <a:ea typeface="+mj-ea"/>
                <a:cs typeface="+mj-cs"/>
              </a:rPr>
              <a:t> </a:t>
            </a:r>
            <a:r>
              <a:rPr lang="en-US" sz="4800" kern="1200" spc="-65">
                <a:solidFill>
                  <a:schemeClr val="tx1"/>
                </a:solidFill>
                <a:latin typeface="+mj-lt"/>
                <a:ea typeface="+mj-ea"/>
                <a:cs typeface="+mj-cs"/>
              </a:rPr>
              <a:t>Functionality</a:t>
            </a:r>
            <a:r>
              <a:rPr lang="en-US" sz="4800" kern="1200" spc="-240">
                <a:solidFill>
                  <a:schemeClr val="tx1"/>
                </a:solidFill>
                <a:latin typeface="+mj-lt"/>
                <a:ea typeface="+mj-ea"/>
                <a:cs typeface="+mj-cs"/>
              </a:rPr>
              <a:t> </a:t>
            </a:r>
            <a:r>
              <a:rPr lang="en-US" sz="4800" kern="1200" spc="-25">
                <a:solidFill>
                  <a:schemeClr val="tx1"/>
                </a:solidFill>
                <a:latin typeface="+mj-lt"/>
                <a:ea typeface="+mj-ea"/>
                <a:cs typeface="+mj-cs"/>
              </a:rPr>
              <a:t>II</a:t>
            </a:r>
          </a:p>
        </p:txBody>
      </p:sp>
      <p:sp>
        <p:nvSpPr>
          <p:cNvPr id="2" name="object 2"/>
          <p:cNvSpPr txBox="1"/>
          <p:nvPr/>
        </p:nvSpPr>
        <p:spPr>
          <a:xfrm>
            <a:off x="1045028" y="3017522"/>
            <a:ext cx="9941319" cy="3124658"/>
          </a:xfrm>
          <a:prstGeom prst="rect">
            <a:avLst/>
          </a:prstGeom>
        </p:spPr>
        <p:txBody>
          <a:bodyPr vert="horz" lIns="91440" tIns="45720" rIns="91440" bIns="45720" rtlCol="0" anchor="ctr">
            <a:normAutofit/>
          </a:bodyPr>
          <a:lstStyle/>
          <a:p>
            <a:pPr marL="12700" indent="-228600">
              <a:lnSpc>
                <a:spcPct val="90000"/>
              </a:lnSpc>
              <a:spcBef>
                <a:spcPts val="95"/>
              </a:spcBef>
              <a:buFont typeface="Arial" panose="020B0604020202020204" pitchFamily="34" charset="0"/>
              <a:buChar char="•"/>
            </a:pPr>
            <a:r>
              <a:rPr lang="en-US" sz="1900"/>
              <a:t>∗</a:t>
            </a:r>
            <a:r>
              <a:rPr lang="en-US" sz="1900" spc="330"/>
              <a:t> </a:t>
            </a:r>
            <a:r>
              <a:rPr lang="en-US" sz="1900" spc="-90"/>
              <a:t>Data</a:t>
            </a:r>
            <a:r>
              <a:rPr lang="en-US" sz="1900" spc="-150"/>
              <a:t> </a:t>
            </a:r>
            <a:r>
              <a:rPr lang="en-US" sz="1900" spc="-20"/>
              <a:t>Flow</a:t>
            </a:r>
            <a:endParaRPr lang="en-US" sz="1900"/>
          </a:p>
          <a:p>
            <a:pPr marL="314325" indent="-228600">
              <a:lnSpc>
                <a:spcPct val="90000"/>
              </a:lnSpc>
              <a:spcBef>
                <a:spcPts val="10"/>
              </a:spcBef>
              <a:buFont typeface="Arial" panose="020B0604020202020204" pitchFamily="34" charset="0"/>
              <a:buChar char="•"/>
              <a:tabLst>
                <a:tab pos="588645" algn="l"/>
              </a:tabLst>
            </a:pPr>
            <a:r>
              <a:rPr lang="en-US" sz="1900" spc="-50"/>
              <a:t>∗</a:t>
            </a:r>
            <a:r>
              <a:rPr lang="en-US" sz="1900"/>
              <a:t>	Input</a:t>
            </a:r>
            <a:r>
              <a:rPr lang="en-US" sz="1900" spc="-90"/>
              <a:t> </a:t>
            </a:r>
            <a:r>
              <a:rPr lang="en-US" sz="1900" spc="-50"/>
              <a:t>reader</a:t>
            </a:r>
            <a:r>
              <a:rPr lang="en-US" sz="1900" spc="-85"/>
              <a:t> </a:t>
            </a:r>
            <a:r>
              <a:rPr lang="en-US" sz="1900" spc="-120"/>
              <a:t>–</a:t>
            </a:r>
            <a:r>
              <a:rPr lang="en-US" sz="1900" spc="-95"/>
              <a:t> </a:t>
            </a:r>
            <a:r>
              <a:rPr lang="en-US" sz="1900" spc="-55"/>
              <a:t>divides</a:t>
            </a:r>
            <a:r>
              <a:rPr lang="en-US" sz="1900" spc="-75"/>
              <a:t> </a:t>
            </a:r>
            <a:r>
              <a:rPr lang="en-US" sz="1900"/>
              <a:t>input</a:t>
            </a:r>
            <a:r>
              <a:rPr lang="en-US" sz="1900" spc="-90"/>
              <a:t> </a:t>
            </a:r>
            <a:r>
              <a:rPr lang="en-US" sz="1900"/>
              <a:t>into</a:t>
            </a:r>
            <a:r>
              <a:rPr lang="en-US" sz="1900" spc="-95"/>
              <a:t> </a:t>
            </a:r>
            <a:r>
              <a:rPr lang="en-US" sz="1900" spc="-20"/>
              <a:t>appropriate</a:t>
            </a:r>
            <a:r>
              <a:rPr lang="en-US" sz="1900" spc="-85"/>
              <a:t> </a:t>
            </a:r>
            <a:r>
              <a:rPr lang="en-US" sz="1900" spc="-95"/>
              <a:t>size</a:t>
            </a:r>
            <a:r>
              <a:rPr lang="en-US" sz="1900" spc="-90"/>
              <a:t> </a:t>
            </a:r>
            <a:r>
              <a:rPr lang="en-US" sz="1900" spc="-35"/>
              <a:t>splits</a:t>
            </a:r>
            <a:r>
              <a:rPr lang="en-US" sz="1900" spc="-80"/>
              <a:t> </a:t>
            </a:r>
            <a:r>
              <a:rPr lang="en-US" sz="1900" spc="-25"/>
              <a:t>which</a:t>
            </a:r>
            <a:r>
              <a:rPr lang="en-US" sz="1900" spc="-80"/>
              <a:t> </a:t>
            </a:r>
            <a:r>
              <a:rPr lang="en-US" sz="1900"/>
              <a:t>get</a:t>
            </a:r>
            <a:r>
              <a:rPr lang="en-US" sz="1900" spc="-100"/>
              <a:t> </a:t>
            </a:r>
            <a:r>
              <a:rPr lang="en-US" sz="1900" spc="-90"/>
              <a:t>assigned </a:t>
            </a:r>
            <a:r>
              <a:rPr lang="en-US" sz="1900" spc="80"/>
              <a:t>to</a:t>
            </a:r>
            <a:r>
              <a:rPr lang="en-US" sz="1900" spc="-105"/>
              <a:t> </a:t>
            </a:r>
            <a:r>
              <a:rPr lang="en-US" sz="1900" spc="-140"/>
              <a:t>a</a:t>
            </a:r>
            <a:r>
              <a:rPr lang="en-US" sz="1900" spc="-75"/>
              <a:t> </a:t>
            </a:r>
            <a:r>
              <a:rPr lang="en-US" sz="1900" spc="-25"/>
              <a:t>Map</a:t>
            </a:r>
            <a:endParaRPr lang="en-US" sz="1900"/>
          </a:p>
          <a:p>
            <a:pPr marL="588645" indent="-228600">
              <a:lnSpc>
                <a:spcPct val="90000"/>
              </a:lnSpc>
              <a:buFont typeface="Arial" panose="020B0604020202020204" pitchFamily="34" charset="0"/>
              <a:buChar char="•"/>
            </a:pPr>
            <a:r>
              <a:rPr lang="en-US" sz="1900" spc="-10"/>
              <a:t>function</a:t>
            </a:r>
            <a:endParaRPr lang="en-US" sz="1900"/>
          </a:p>
          <a:p>
            <a:pPr marL="314325" indent="-228600">
              <a:lnSpc>
                <a:spcPct val="90000"/>
              </a:lnSpc>
              <a:buFont typeface="Arial" panose="020B0604020202020204" pitchFamily="34" charset="0"/>
              <a:buChar char="•"/>
              <a:tabLst>
                <a:tab pos="588645" algn="l"/>
              </a:tabLst>
            </a:pPr>
            <a:r>
              <a:rPr lang="en-US" sz="1900" spc="-50"/>
              <a:t>∗</a:t>
            </a:r>
            <a:r>
              <a:rPr lang="en-US" sz="1900"/>
              <a:t>	</a:t>
            </a:r>
            <a:r>
              <a:rPr lang="en-US" sz="1900" spc="-40"/>
              <a:t>Map</a:t>
            </a:r>
            <a:r>
              <a:rPr lang="en-US" sz="1900" spc="-85"/>
              <a:t> </a:t>
            </a:r>
            <a:r>
              <a:rPr lang="en-US" sz="1900"/>
              <a:t>function</a:t>
            </a:r>
            <a:r>
              <a:rPr lang="en-US" sz="1900" spc="-90"/>
              <a:t> </a:t>
            </a:r>
            <a:r>
              <a:rPr lang="en-US" sz="1900" spc="-120"/>
              <a:t>–</a:t>
            </a:r>
            <a:r>
              <a:rPr lang="en-US" sz="1900" spc="-85"/>
              <a:t> </a:t>
            </a:r>
            <a:r>
              <a:rPr lang="en-US" sz="1900" spc="-90"/>
              <a:t>maps</a:t>
            </a:r>
            <a:r>
              <a:rPr lang="en-US" sz="1900" spc="-95"/>
              <a:t> </a:t>
            </a:r>
            <a:r>
              <a:rPr lang="en-US" sz="1900"/>
              <a:t>file</a:t>
            </a:r>
            <a:r>
              <a:rPr lang="en-US" sz="1900" spc="-90"/>
              <a:t> </a:t>
            </a:r>
            <a:r>
              <a:rPr lang="en-US" sz="1900" spc="-35"/>
              <a:t>data</a:t>
            </a:r>
            <a:r>
              <a:rPr lang="en-US" sz="1900" spc="-90"/>
              <a:t> </a:t>
            </a:r>
            <a:r>
              <a:rPr lang="en-US" sz="1900" spc="80"/>
              <a:t>to</a:t>
            </a:r>
            <a:r>
              <a:rPr lang="en-US" sz="1900" spc="-85"/>
              <a:t> </a:t>
            </a:r>
            <a:r>
              <a:rPr lang="en-US" sz="1900" spc="-60"/>
              <a:t>smaller,</a:t>
            </a:r>
            <a:r>
              <a:rPr lang="en-US" sz="1900" spc="-90"/>
              <a:t> </a:t>
            </a:r>
            <a:r>
              <a:rPr lang="en-US" sz="1900" spc="-25"/>
              <a:t>intermediate</a:t>
            </a:r>
            <a:r>
              <a:rPr lang="en-US" sz="1900" spc="-105"/>
              <a:t> </a:t>
            </a:r>
            <a:r>
              <a:rPr lang="en-US" sz="1900" spc="-10"/>
              <a:t>pairs</a:t>
            </a:r>
            <a:endParaRPr lang="en-US" sz="1900"/>
          </a:p>
          <a:p>
            <a:pPr marL="588645" marR="5080" indent="-228600">
              <a:lnSpc>
                <a:spcPct val="90000"/>
              </a:lnSpc>
              <a:spcBef>
                <a:spcPts val="480"/>
              </a:spcBef>
              <a:buFont typeface="Arial" panose="020B0604020202020204" pitchFamily="34" charset="0"/>
              <a:buChar char="•"/>
              <a:tabLst>
                <a:tab pos="588645" algn="l"/>
              </a:tabLst>
            </a:pPr>
            <a:r>
              <a:rPr lang="en-US" sz="1900" spc="-50"/>
              <a:t>∗</a:t>
            </a:r>
            <a:r>
              <a:rPr lang="en-US" sz="1900"/>
              <a:t>	</a:t>
            </a:r>
            <a:r>
              <a:rPr lang="en-US" sz="1900" spc="-10"/>
              <a:t>Partition</a:t>
            </a:r>
            <a:r>
              <a:rPr lang="en-US" sz="1900" spc="-95"/>
              <a:t> </a:t>
            </a:r>
            <a:r>
              <a:rPr lang="en-US" sz="1900"/>
              <a:t>function</a:t>
            </a:r>
            <a:r>
              <a:rPr lang="en-US" sz="1900" spc="-95"/>
              <a:t> </a:t>
            </a:r>
            <a:r>
              <a:rPr lang="en-US" sz="1900" spc="-120"/>
              <a:t>–</a:t>
            </a:r>
            <a:r>
              <a:rPr lang="en-US" sz="1900" spc="-85"/>
              <a:t> </a:t>
            </a:r>
            <a:r>
              <a:rPr lang="en-US" sz="1900" spc="-25"/>
              <a:t>finds</a:t>
            </a:r>
            <a:r>
              <a:rPr lang="en-US" sz="1900" spc="-95"/>
              <a:t> </a:t>
            </a:r>
            <a:r>
              <a:rPr lang="en-US" sz="1900"/>
              <a:t>the</a:t>
            </a:r>
            <a:r>
              <a:rPr lang="en-US" sz="1900" spc="-95"/>
              <a:t> </a:t>
            </a:r>
            <a:r>
              <a:rPr lang="en-US" sz="1900" spc="-10"/>
              <a:t>correct</a:t>
            </a:r>
            <a:r>
              <a:rPr lang="en-US" sz="1900" spc="-90"/>
              <a:t> </a:t>
            </a:r>
            <a:r>
              <a:rPr lang="en-US" sz="1900" spc="-50"/>
              <a:t>reducer</a:t>
            </a:r>
            <a:r>
              <a:rPr lang="en-US" sz="1900" spc="-110"/>
              <a:t> </a:t>
            </a:r>
            <a:r>
              <a:rPr lang="en-US" sz="1900" spc="-50"/>
              <a:t>given</a:t>
            </a:r>
            <a:r>
              <a:rPr lang="en-US" sz="1900" spc="-90"/>
              <a:t> </a:t>
            </a:r>
            <a:r>
              <a:rPr lang="en-US" sz="1900"/>
              <a:t>the</a:t>
            </a:r>
            <a:r>
              <a:rPr lang="en-US" sz="1900" spc="-95"/>
              <a:t> </a:t>
            </a:r>
            <a:r>
              <a:rPr lang="en-US" sz="1900" spc="-75"/>
              <a:t>key</a:t>
            </a:r>
            <a:r>
              <a:rPr lang="en-US" sz="1900" spc="-114"/>
              <a:t> </a:t>
            </a:r>
            <a:r>
              <a:rPr lang="en-US" sz="1900" spc="-65"/>
              <a:t>and</a:t>
            </a:r>
            <a:r>
              <a:rPr lang="en-US" sz="1900" spc="-80"/>
              <a:t> </a:t>
            </a:r>
            <a:r>
              <a:rPr lang="en-US" sz="1900" spc="-35"/>
              <a:t>number</a:t>
            </a:r>
            <a:r>
              <a:rPr lang="en-US" sz="1900" spc="-90"/>
              <a:t> </a:t>
            </a:r>
            <a:r>
              <a:rPr lang="en-US" sz="1900" spc="65"/>
              <a:t>of</a:t>
            </a:r>
            <a:r>
              <a:rPr lang="en-US" sz="1900" spc="-105"/>
              <a:t> </a:t>
            </a:r>
            <a:r>
              <a:rPr lang="en-US" sz="1900" spc="-10"/>
              <a:t>reducers, </a:t>
            </a:r>
            <a:r>
              <a:rPr lang="en-US" sz="1900" spc="-20"/>
              <a:t>returns</a:t>
            </a:r>
            <a:r>
              <a:rPr lang="en-US" sz="1900" spc="-75"/>
              <a:t> </a:t>
            </a:r>
            <a:r>
              <a:rPr lang="en-US" sz="1900"/>
              <a:t>the</a:t>
            </a:r>
            <a:r>
              <a:rPr lang="en-US" sz="1900" spc="-80"/>
              <a:t> </a:t>
            </a:r>
            <a:r>
              <a:rPr lang="en-US" sz="1900" spc="-60"/>
              <a:t>desired</a:t>
            </a:r>
            <a:r>
              <a:rPr lang="en-US" sz="1900" spc="-95"/>
              <a:t> </a:t>
            </a:r>
            <a:r>
              <a:rPr lang="en-US" sz="1900" spc="-110"/>
              <a:t>Reduce</a:t>
            </a:r>
            <a:r>
              <a:rPr lang="en-US" sz="1900" spc="-85"/>
              <a:t> </a:t>
            </a:r>
            <a:r>
              <a:rPr lang="en-US" sz="1900" spc="-20"/>
              <a:t>node</a:t>
            </a:r>
            <a:endParaRPr lang="en-US" sz="1900"/>
          </a:p>
          <a:p>
            <a:pPr marL="314325" indent="-228600">
              <a:lnSpc>
                <a:spcPct val="90000"/>
              </a:lnSpc>
              <a:buFont typeface="Arial" panose="020B0604020202020204" pitchFamily="34" charset="0"/>
              <a:buChar char="•"/>
              <a:tabLst>
                <a:tab pos="588645" algn="l"/>
              </a:tabLst>
            </a:pPr>
            <a:r>
              <a:rPr lang="en-US" sz="1900" spc="-50"/>
              <a:t>∗</a:t>
            </a:r>
            <a:r>
              <a:rPr lang="en-US" sz="1900"/>
              <a:t>	</a:t>
            </a:r>
            <a:r>
              <a:rPr lang="en-US" sz="1900" spc="-90"/>
              <a:t>Compare</a:t>
            </a:r>
            <a:r>
              <a:rPr lang="en-US" sz="1900" spc="-100"/>
              <a:t> </a:t>
            </a:r>
            <a:r>
              <a:rPr lang="en-US" sz="1900"/>
              <a:t>function</a:t>
            </a:r>
            <a:r>
              <a:rPr lang="en-US" sz="1900" spc="-85"/>
              <a:t> </a:t>
            </a:r>
            <a:r>
              <a:rPr lang="en-US" sz="1900" spc="-120"/>
              <a:t>–</a:t>
            </a:r>
            <a:r>
              <a:rPr lang="en-US" sz="1900" spc="-80"/>
              <a:t> </a:t>
            </a:r>
            <a:r>
              <a:rPr lang="en-US" sz="1900"/>
              <a:t>input</a:t>
            </a:r>
            <a:r>
              <a:rPr lang="en-US" sz="1900" spc="-75"/>
              <a:t> </a:t>
            </a:r>
            <a:r>
              <a:rPr lang="en-US" sz="1900" spc="60"/>
              <a:t>for</a:t>
            </a:r>
            <a:r>
              <a:rPr lang="en-US" sz="1900" spc="-95"/>
              <a:t> </a:t>
            </a:r>
            <a:r>
              <a:rPr lang="en-US" sz="1900" spc="-105"/>
              <a:t>Reduce</a:t>
            </a:r>
            <a:r>
              <a:rPr lang="en-US" sz="1900" spc="-85"/>
              <a:t> </a:t>
            </a:r>
            <a:r>
              <a:rPr lang="en-US" sz="1900" spc="-95"/>
              <a:t>is</a:t>
            </a:r>
            <a:r>
              <a:rPr lang="en-US" sz="1900" spc="-85"/>
              <a:t> </a:t>
            </a:r>
            <a:r>
              <a:rPr lang="en-US" sz="1900" spc="-30"/>
              <a:t>pulled</a:t>
            </a:r>
            <a:r>
              <a:rPr lang="en-US" sz="1900" spc="-75"/>
              <a:t> </a:t>
            </a:r>
            <a:r>
              <a:rPr lang="en-US" sz="1900"/>
              <a:t>from</a:t>
            </a:r>
            <a:r>
              <a:rPr lang="en-US" sz="1900" spc="-95"/>
              <a:t> </a:t>
            </a:r>
            <a:r>
              <a:rPr lang="en-US" sz="1900"/>
              <a:t>the</a:t>
            </a:r>
            <a:r>
              <a:rPr lang="en-US" sz="1900" spc="-90"/>
              <a:t> </a:t>
            </a:r>
            <a:r>
              <a:rPr lang="en-US" sz="1900" spc="-30"/>
              <a:t>Map</a:t>
            </a:r>
            <a:r>
              <a:rPr lang="en-US" sz="1900" spc="-80"/>
              <a:t> </a:t>
            </a:r>
            <a:r>
              <a:rPr lang="en-US" sz="1900" spc="-25"/>
              <a:t>intermediate</a:t>
            </a:r>
            <a:r>
              <a:rPr lang="en-US" sz="1900" spc="-100"/>
              <a:t> </a:t>
            </a:r>
            <a:r>
              <a:rPr lang="en-US" sz="1900" spc="-10"/>
              <a:t>output</a:t>
            </a:r>
            <a:endParaRPr lang="en-US" sz="1900"/>
          </a:p>
          <a:p>
            <a:pPr marL="588645" indent="-228600">
              <a:lnSpc>
                <a:spcPct val="90000"/>
              </a:lnSpc>
              <a:buFont typeface="Arial" panose="020B0604020202020204" pitchFamily="34" charset="0"/>
              <a:buChar char="•"/>
            </a:pPr>
            <a:r>
              <a:rPr lang="en-US" sz="1900" spc="-65"/>
              <a:t>and</a:t>
            </a:r>
            <a:r>
              <a:rPr lang="en-US" sz="1900" spc="-90"/>
              <a:t> </a:t>
            </a:r>
            <a:r>
              <a:rPr lang="en-US" sz="1900" spc="-20"/>
              <a:t>sorted</a:t>
            </a:r>
            <a:r>
              <a:rPr lang="en-US" sz="1900" spc="-110"/>
              <a:t> </a:t>
            </a:r>
            <a:r>
              <a:rPr lang="en-US" sz="1900" spc="-50"/>
              <a:t>according</a:t>
            </a:r>
            <a:r>
              <a:rPr lang="en-US" sz="1900" spc="-95"/>
              <a:t> </a:t>
            </a:r>
            <a:r>
              <a:rPr lang="en-US" sz="1900" spc="80"/>
              <a:t>to</a:t>
            </a:r>
            <a:r>
              <a:rPr lang="en-US" sz="1900" spc="-100"/>
              <a:t> </a:t>
            </a:r>
            <a:r>
              <a:rPr lang="en-US" sz="1900"/>
              <a:t>the</a:t>
            </a:r>
            <a:r>
              <a:rPr lang="en-US" sz="1900" spc="-110"/>
              <a:t> </a:t>
            </a:r>
            <a:r>
              <a:rPr lang="en-US" sz="1900" spc="-55"/>
              <a:t>compare</a:t>
            </a:r>
            <a:r>
              <a:rPr lang="en-US" sz="1900" spc="-100"/>
              <a:t> </a:t>
            </a:r>
            <a:r>
              <a:rPr lang="en-US" sz="1900" spc="-10"/>
              <a:t>function</a:t>
            </a:r>
            <a:endParaRPr lang="en-US" sz="1900"/>
          </a:p>
          <a:p>
            <a:pPr marL="588645" marR="685800" indent="-228600">
              <a:lnSpc>
                <a:spcPct val="90000"/>
              </a:lnSpc>
              <a:spcBef>
                <a:spcPts val="465"/>
              </a:spcBef>
              <a:buFont typeface="Arial" panose="020B0604020202020204" pitchFamily="34" charset="0"/>
              <a:buChar char="•"/>
              <a:tabLst>
                <a:tab pos="588645" algn="l"/>
              </a:tabLst>
            </a:pPr>
            <a:r>
              <a:rPr lang="en-US" sz="1900" spc="-50"/>
              <a:t>∗</a:t>
            </a:r>
            <a:r>
              <a:rPr lang="en-US" sz="1900"/>
              <a:t>	</a:t>
            </a:r>
            <a:r>
              <a:rPr lang="en-US" sz="1900" spc="-110"/>
              <a:t>Reduce</a:t>
            </a:r>
            <a:r>
              <a:rPr lang="en-US" sz="1900" spc="-95"/>
              <a:t> </a:t>
            </a:r>
            <a:r>
              <a:rPr lang="en-US" sz="1900"/>
              <a:t>function</a:t>
            </a:r>
            <a:r>
              <a:rPr lang="en-US" sz="1900" spc="-95"/>
              <a:t> </a:t>
            </a:r>
            <a:r>
              <a:rPr lang="en-US" sz="1900" spc="-120"/>
              <a:t>–</a:t>
            </a:r>
            <a:r>
              <a:rPr lang="en-US" sz="1900" spc="-95"/>
              <a:t> </a:t>
            </a:r>
            <a:r>
              <a:rPr lang="en-US" sz="1900" spc="-60"/>
              <a:t>takes</a:t>
            </a:r>
            <a:r>
              <a:rPr lang="en-US" sz="1900" spc="-100"/>
              <a:t> </a:t>
            </a:r>
            <a:r>
              <a:rPr lang="en-US" sz="1900" spc="-25"/>
              <a:t>intermediate</a:t>
            </a:r>
            <a:r>
              <a:rPr lang="en-US" sz="1900" spc="-110"/>
              <a:t> </a:t>
            </a:r>
            <a:r>
              <a:rPr lang="en-US" sz="1900" spc="-85"/>
              <a:t>values</a:t>
            </a:r>
            <a:r>
              <a:rPr lang="en-US" sz="1900" spc="-70"/>
              <a:t> </a:t>
            </a:r>
            <a:r>
              <a:rPr lang="en-US" sz="1900" spc="-65"/>
              <a:t>and</a:t>
            </a:r>
            <a:r>
              <a:rPr lang="en-US" sz="1900" spc="-80"/>
              <a:t> </a:t>
            </a:r>
            <a:r>
              <a:rPr lang="en-US" sz="1900" spc="-70"/>
              <a:t>reduces</a:t>
            </a:r>
            <a:r>
              <a:rPr lang="en-US" sz="1900" spc="-90"/>
              <a:t> </a:t>
            </a:r>
            <a:r>
              <a:rPr lang="en-US" sz="1900" spc="80"/>
              <a:t>to</a:t>
            </a:r>
            <a:r>
              <a:rPr lang="en-US" sz="1900" spc="-110"/>
              <a:t> </a:t>
            </a:r>
            <a:r>
              <a:rPr lang="en-US" sz="1900" spc="-140"/>
              <a:t>a</a:t>
            </a:r>
            <a:r>
              <a:rPr lang="en-US" sz="1900" spc="-80"/>
              <a:t> </a:t>
            </a:r>
            <a:r>
              <a:rPr lang="en-US" sz="1900" spc="-60"/>
              <a:t>smaller</a:t>
            </a:r>
            <a:r>
              <a:rPr lang="en-US" sz="1900" spc="-85"/>
              <a:t> </a:t>
            </a:r>
            <a:r>
              <a:rPr lang="en-US" sz="1900" spc="-10"/>
              <a:t>solution </a:t>
            </a:r>
            <a:r>
              <a:rPr lang="en-US" sz="1900" spc="-65"/>
              <a:t>handed</a:t>
            </a:r>
            <a:r>
              <a:rPr lang="en-US" sz="1900" spc="-85"/>
              <a:t> </a:t>
            </a:r>
            <a:r>
              <a:rPr lang="en-US" sz="1900" spc="-75"/>
              <a:t>back</a:t>
            </a:r>
            <a:r>
              <a:rPr lang="en-US" sz="1900" spc="-110"/>
              <a:t> </a:t>
            </a:r>
            <a:r>
              <a:rPr lang="en-US" sz="1900" spc="80"/>
              <a:t>to</a:t>
            </a:r>
            <a:r>
              <a:rPr lang="en-US" sz="1900" spc="-100"/>
              <a:t> </a:t>
            </a:r>
            <a:r>
              <a:rPr lang="en-US" sz="1900"/>
              <a:t>the</a:t>
            </a:r>
            <a:r>
              <a:rPr lang="en-US" sz="1900" spc="-100"/>
              <a:t> </a:t>
            </a:r>
            <a:r>
              <a:rPr lang="en-US" sz="1900" spc="-10"/>
              <a:t>framework</a:t>
            </a:r>
            <a:endParaRPr lang="en-US" sz="1900"/>
          </a:p>
          <a:p>
            <a:pPr marL="314325" indent="-228600">
              <a:lnSpc>
                <a:spcPct val="90000"/>
              </a:lnSpc>
              <a:spcBef>
                <a:spcPts val="15"/>
              </a:spcBef>
              <a:buFont typeface="Arial" panose="020B0604020202020204" pitchFamily="34" charset="0"/>
              <a:buChar char="•"/>
              <a:tabLst>
                <a:tab pos="588645" algn="l"/>
              </a:tabLst>
            </a:pPr>
            <a:r>
              <a:rPr lang="en-US" sz="1900" spc="-50"/>
              <a:t>∗</a:t>
            </a:r>
            <a:r>
              <a:rPr lang="en-US" sz="1900"/>
              <a:t>	Output</a:t>
            </a:r>
            <a:r>
              <a:rPr lang="en-US" sz="1900" spc="-70"/>
              <a:t> </a:t>
            </a:r>
            <a:r>
              <a:rPr lang="en-US" sz="1900"/>
              <a:t>writer</a:t>
            </a:r>
            <a:r>
              <a:rPr lang="en-US" sz="1900" spc="-70"/>
              <a:t> </a:t>
            </a:r>
            <a:r>
              <a:rPr lang="en-US" sz="1900" spc="-120"/>
              <a:t>–</a:t>
            </a:r>
            <a:r>
              <a:rPr lang="en-US" sz="1900" spc="-60"/>
              <a:t> </a:t>
            </a:r>
            <a:r>
              <a:rPr lang="en-US" sz="1900"/>
              <a:t>writes</a:t>
            </a:r>
            <a:r>
              <a:rPr lang="en-US" sz="1900" spc="-65"/>
              <a:t> </a:t>
            </a:r>
            <a:r>
              <a:rPr lang="en-US" sz="1900"/>
              <a:t>file</a:t>
            </a:r>
            <a:r>
              <a:rPr lang="en-US" sz="1900" spc="-70"/>
              <a:t> </a:t>
            </a:r>
            <a:r>
              <a:rPr lang="en-US" sz="1900" spc="-10"/>
              <a:t>output</a:t>
            </a:r>
            <a:endParaRPr lang="en-US" sz="19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Freeform: Shape 9">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Freeform: Shape 11">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2059305"/>
            <a:r>
              <a:rPr lang="en-US" sz="3400" kern="1200" spc="-280">
                <a:solidFill>
                  <a:schemeClr val="tx1"/>
                </a:solidFill>
                <a:latin typeface="+mj-lt"/>
                <a:ea typeface="+mj-ea"/>
                <a:cs typeface="+mj-cs"/>
              </a:rPr>
              <a:t>Rack</a:t>
            </a:r>
            <a:r>
              <a:rPr lang="en-US" sz="3400" kern="1200" spc="-275">
                <a:solidFill>
                  <a:schemeClr val="tx1"/>
                </a:solidFill>
                <a:latin typeface="+mj-lt"/>
                <a:ea typeface="+mj-ea"/>
                <a:cs typeface="+mj-cs"/>
              </a:rPr>
              <a:t> </a:t>
            </a:r>
            <a:r>
              <a:rPr lang="en-US" sz="3400" kern="1200" spc="-155">
                <a:solidFill>
                  <a:schemeClr val="tx1"/>
                </a:solidFill>
                <a:latin typeface="+mj-lt"/>
                <a:ea typeface="+mj-ea"/>
                <a:cs typeface="+mj-cs"/>
              </a:rPr>
              <a:t>Awareness</a:t>
            </a:r>
          </a:p>
        </p:txBody>
      </p:sp>
      <p:sp>
        <p:nvSpPr>
          <p:cNvPr id="20" name="Rectangle 19">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object 3"/>
          <p:cNvPicPr/>
          <p:nvPr/>
        </p:nvPicPr>
        <p:blipFill>
          <a:blip r:embed="rId2" cstate="print"/>
          <a:stretch>
            <a:fillRect/>
          </a:stretch>
        </p:blipFill>
        <p:spPr>
          <a:xfrm>
            <a:off x="5414356" y="1344925"/>
            <a:ext cx="6408836" cy="4016897"/>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0CEED20-A22C-4FC3-BC0E-F4FE53FD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1113810" y="2825248"/>
            <a:ext cx="4036334" cy="2387600"/>
          </a:xfrm>
          <a:prstGeom prst="rect">
            <a:avLst/>
          </a:prstGeom>
        </p:spPr>
        <p:txBody>
          <a:bodyPr vert="horz" lIns="91440" tIns="45720" rIns="91440" bIns="45720" rtlCol="0" anchor="t">
            <a:normAutofit/>
          </a:bodyPr>
          <a:lstStyle/>
          <a:p>
            <a:pPr marL="1719580"/>
            <a:r>
              <a:rPr lang="en-US" sz="4600" kern="1200">
                <a:solidFill>
                  <a:schemeClr val="tx1"/>
                </a:solidFill>
                <a:latin typeface="+mj-lt"/>
                <a:ea typeface="+mj-ea"/>
                <a:cs typeface="+mj-cs"/>
              </a:rPr>
              <a:t>Input</a:t>
            </a:r>
            <a:r>
              <a:rPr lang="en-US" sz="4600" kern="1200" spc="-220">
                <a:solidFill>
                  <a:schemeClr val="tx1"/>
                </a:solidFill>
                <a:latin typeface="+mj-lt"/>
                <a:ea typeface="+mj-ea"/>
                <a:cs typeface="+mj-cs"/>
              </a:rPr>
              <a:t> </a:t>
            </a:r>
            <a:r>
              <a:rPr lang="en-US" sz="4600" kern="1200" spc="-160">
                <a:solidFill>
                  <a:schemeClr val="tx1"/>
                </a:solidFill>
                <a:latin typeface="+mj-lt"/>
                <a:ea typeface="+mj-ea"/>
                <a:cs typeface="+mj-cs"/>
              </a:rPr>
              <a:t>and</a:t>
            </a:r>
            <a:r>
              <a:rPr lang="en-US" sz="4600" kern="1200" spc="-190">
                <a:solidFill>
                  <a:schemeClr val="tx1"/>
                </a:solidFill>
                <a:latin typeface="+mj-lt"/>
                <a:ea typeface="+mj-ea"/>
                <a:cs typeface="+mj-cs"/>
              </a:rPr>
              <a:t> </a:t>
            </a:r>
            <a:r>
              <a:rPr lang="en-US" sz="4600" kern="1200">
                <a:solidFill>
                  <a:schemeClr val="tx1"/>
                </a:solidFill>
                <a:latin typeface="+mj-lt"/>
                <a:ea typeface="+mj-ea"/>
                <a:cs typeface="+mj-cs"/>
              </a:rPr>
              <a:t>Output</a:t>
            </a:r>
            <a:r>
              <a:rPr lang="en-US" sz="4600" kern="1200" spc="-215">
                <a:solidFill>
                  <a:schemeClr val="tx1"/>
                </a:solidFill>
                <a:latin typeface="+mj-lt"/>
                <a:ea typeface="+mj-ea"/>
                <a:cs typeface="+mj-cs"/>
              </a:rPr>
              <a:t> </a:t>
            </a:r>
            <a:r>
              <a:rPr lang="en-US" sz="4600" kern="1200" spc="-25">
                <a:solidFill>
                  <a:schemeClr val="tx1"/>
                </a:solidFill>
                <a:latin typeface="+mj-lt"/>
                <a:ea typeface="+mj-ea"/>
                <a:cs typeface="+mj-cs"/>
              </a:rPr>
              <a:t>II</a:t>
            </a:r>
          </a:p>
        </p:txBody>
      </p:sp>
      <p:grpSp>
        <p:nvGrpSpPr>
          <p:cNvPr id="10" name="Group 9">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849524"/>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679732"/>
            <a:ext cx="6009366" cy="542388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object 3"/>
          <p:cNvPicPr/>
          <p:nvPr/>
        </p:nvPicPr>
        <p:blipFill>
          <a:blip r:embed="rId2" cstate="print"/>
          <a:stretch>
            <a:fillRect/>
          </a:stretch>
        </p:blipFill>
        <p:spPr>
          <a:xfrm>
            <a:off x="5922492" y="1490484"/>
            <a:ext cx="5536001" cy="3802375"/>
          </a:xfrm>
          <a:prstGeom prst="rect">
            <a:avLst/>
          </a:prstGeom>
        </p:spPr>
      </p:pic>
      <p:sp>
        <p:nvSpPr>
          <p:cNvPr id="17" name="Rectangle 1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687568" y="6355073"/>
            <a:ext cx="6007608"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Freeform: Shape 21">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4" name="Freeform: Shape 23">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621792" y="1161288"/>
            <a:ext cx="3602736" cy="4526280"/>
          </a:xfrm>
          <a:prstGeom prst="rect">
            <a:avLst/>
          </a:prstGeom>
        </p:spPr>
        <p:txBody>
          <a:bodyPr vert="horz" lIns="91440" tIns="45720" rIns="91440" bIns="45720" rtlCol="0" anchor="ctr">
            <a:normAutofit/>
          </a:bodyPr>
          <a:lstStyle/>
          <a:p>
            <a:pPr marL="2832100"/>
            <a:r>
              <a:rPr lang="en-US" sz="2200" kern="1200" spc="-245">
                <a:solidFill>
                  <a:schemeClr val="tx1"/>
                </a:solidFill>
                <a:latin typeface="+mj-lt"/>
                <a:ea typeface="+mj-ea"/>
                <a:cs typeface="+mj-cs"/>
              </a:rPr>
              <a:t>Bad</a:t>
            </a:r>
            <a:r>
              <a:rPr lang="en-US" sz="2200" kern="1200" spc="-254">
                <a:solidFill>
                  <a:schemeClr val="tx1"/>
                </a:solidFill>
                <a:latin typeface="+mj-lt"/>
                <a:ea typeface="+mj-ea"/>
                <a:cs typeface="+mj-cs"/>
              </a:rPr>
              <a:t> </a:t>
            </a:r>
            <a:r>
              <a:rPr lang="en-US" sz="2200" kern="1200" spc="-10">
                <a:solidFill>
                  <a:schemeClr val="tx1"/>
                </a:solidFill>
                <a:latin typeface="+mj-lt"/>
                <a:ea typeface="+mj-ea"/>
                <a:cs typeface="+mj-cs"/>
              </a:rPr>
              <a:t>Input</a:t>
            </a:r>
          </a:p>
        </p:txBody>
      </p:sp>
      <p:sp>
        <p:nvSpPr>
          <p:cNvPr id="26" name="Rectangle 25">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6" name="object 2">
            <a:extLst>
              <a:ext uri="{FF2B5EF4-FFF2-40B4-BE49-F238E27FC236}">
                <a16:creationId xmlns:a16="http://schemas.microsoft.com/office/drawing/2014/main" id="{8F1ACF54-7824-5184-F9BC-4BE0A8C57815}"/>
              </a:ext>
            </a:extLst>
          </p:cNvPr>
          <p:cNvGraphicFramePr/>
          <p:nvPr>
            <p:extLst>
              <p:ext uri="{D42A27DB-BD31-4B8C-83A1-F6EECF244321}">
                <p14:modId xmlns:p14="http://schemas.microsoft.com/office/powerpoint/2010/main" val="409535704"/>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Freeform: Shape 10">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621792" y="1161288"/>
            <a:ext cx="3602736" cy="4526280"/>
          </a:xfrm>
          <a:prstGeom prst="rect">
            <a:avLst/>
          </a:prstGeom>
        </p:spPr>
        <p:txBody>
          <a:bodyPr vert="horz" lIns="91440" tIns="45720" rIns="91440" bIns="45720" rtlCol="0" anchor="ctr">
            <a:normAutofit/>
          </a:bodyPr>
          <a:lstStyle/>
          <a:p>
            <a:pPr marL="12700"/>
            <a:r>
              <a:rPr lang="en-US" sz="4000" kern="1200" spc="-95">
                <a:solidFill>
                  <a:schemeClr val="tx1"/>
                </a:solidFill>
                <a:latin typeface="+mj-lt"/>
                <a:ea typeface="+mj-ea"/>
                <a:cs typeface="+mj-cs"/>
              </a:rPr>
              <a:t>Map</a:t>
            </a:r>
            <a:r>
              <a:rPr lang="en-US" sz="4000" kern="1200" spc="-235">
                <a:solidFill>
                  <a:schemeClr val="tx1"/>
                </a:solidFill>
                <a:latin typeface="+mj-lt"/>
                <a:ea typeface="+mj-ea"/>
                <a:cs typeface="+mj-cs"/>
              </a:rPr>
              <a:t> </a:t>
            </a:r>
            <a:r>
              <a:rPr lang="en-US" sz="4000" kern="1200" spc="-240">
                <a:solidFill>
                  <a:schemeClr val="tx1"/>
                </a:solidFill>
                <a:latin typeface="+mj-lt"/>
                <a:ea typeface="+mj-ea"/>
                <a:cs typeface="+mj-cs"/>
              </a:rPr>
              <a:t>Reduce</a:t>
            </a:r>
            <a:r>
              <a:rPr lang="en-US" sz="4000" kern="1200" spc="-210">
                <a:solidFill>
                  <a:schemeClr val="tx1"/>
                </a:solidFill>
                <a:latin typeface="+mj-lt"/>
                <a:ea typeface="+mj-ea"/>
                <a:cs typeface="+mj-cs"/>
              </a:rPr>
              <a:t> </a:t>
            </a:r>
            <a:r>
              <a:rPr lang="en-US" sz="4000" kern="1200" spc="-225">
                <a:solidFill>
                  <a:schemeClr val="tx1"/>
                </a:solidFill>
                <a:latin typeface="+mj-lt"/>
                <a:ea typeface="+mj-ea"/>
                <a:cs typeface="+mj-cs"/>
              </a:rPr>
              <a:t>Core</a:t>
            </a:r>
            <a:r>
              <a:rPr lang="en-US" sz="4000" kern="1200" spc="-215">
                <a:solidFill>
                  <a:schemeClr val="tx1"/>
                </a:solidFill>
                <a:latin typeface="+mj-lt"/>
                <a:ea typeface="+mj-ea"/>
                <a:cs typeface="+mj-cs"/>
              </a:rPr>
              <a:t> </a:t>
            </a:r>
            <a:r>
              <a:rPr lang="en-US" sz="4000" kern="1200" spc="-65">
                <a:solidFill>
                  <a:schemeClr val="tx1"/>
                </a:solidFill>
                <a:latin typeface="+mj-lt"/>
                <a:ea typeface="+mj-ea"/>
                <a:cs typeface="+mj-cs"/>
              </a:rPr>
              <a:t>Functionality</a:t>
            </a:r>
            <a:r>
              <a:rPr lang="en-US" sz="4000" kern="1200" spc="-229">
                <a:solidFill>
                  <a:schemeClr val="tx1"/>
                </a:solidFill>
                <a:latin typeface="+mj-lt"/>
                <a:ea typeface="+mj-ea"/>
                <a:cs typeface="+mj-cs"/>
              </a:rPr>
              <a:t> </a:t>
            </a:r>
            <a:r>
              <a:rPr lang="en-US" sz="4000" kern="1200" spc="-25">
                <a:solidFill>
                  <a:schemeClr val="tx1"/>
                </a:solidFill>
                <a:latin typeface="+mj-lt"/>
                <a:ea typeface="+mj-ea"/>
                <a:cs typeface="+mj-cs"/>
              </a:rPr>
              <a:t>III</a:t>
            </a:r>
          </a:p>
        </p:txBody>
      </p:sp>
      <p:sp>
        <p:nvSpPr>
          <p:cNvPr id="15" name="Rectangle 14">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object 2">
            <a:extLst>
              <a:ext uri="{FF2B5EF4-FFF2-40B4-BE49-F238E27FC236}">
                <a16:creationId xmlns:a16="http://schemas.microsoft.com/office/drawing/2014/main" id="{D9486295-0A82-75B3-2104-6F8A2CD2D229}"/>
              </a:ext>
            </a:extLst>
          </p:cNvPr>
          <p:cNvGraphicFramePr/>
          <p:nvPr>
            <p:extLst>
              <p:ext uri="{D42A27DB-BD31-4B8C-83A1-F6EECF244321}">
                <p14:modId xmlns:p14="http://schemas.microsoft.com/office/powerpoint/2010/main" val="3980167756"/>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130802" y="580389"/>
            <a:ext cx="3930015" cy="696595"/>
          </a:xfrm>
          <a:prstGeom prst="rect">
            <a:avLst/>
          </a:prstGeom>
        </p:spPr>
        <p:txBody>
          <a:bodyPr vert="horz" wrap="square" lIns="0" tIns="13335" rIns="0" bIns="0" rtlCol="0">
            <a:spAutoFit/>
          </a:bodyPr>
          <a:lstStyle/>
          <a:p>
            <a:pPr marL="12700">
              <a:lnSpc>
                <a:spcPct val="100000"/>
              </a:lnSpc>
              <a:spcBef>
                <a:spcPts val="105"/>
              </a:spcBef>
            </a:pPr>
            <a:r>
              <a:rPr spc="-45" dirty="0"/>
              <a:t>Distributed</a:t>
            </a:r>
            <a:r>
              <a:rPr spc="-250" dirty="0"/>
              <a:t> </a:t>
            </a:r>
            <a:r>
              <a:rPr spc="-135" dirty="0"/>
              <a:t>Grep</a:t>
            </a:r>
          </a:p>
        </p:txBody>
      </p:sp>
      <p:sp>
        <p:nvSpPr>
          <p:cNvPr id="3" name="object 3"/>
          <p:cNvSpPr txBox="1"/>
          <p:nvPr/>
        </p:nvSpPr>
        <p:spPr>
          <a:xfrm>
            <a:off x="1920239" y="3107435"/>
            <a:ext cx="1143000" cy="1905000"/>
          </a:xfrm>
          <a:prstGeom prst="rect">
            <a:avLst/>
          </a:prstGeom>
          <a:ln w="9144">
            <a:solidFill>
              <a:srgbClr val="000000"/>
            </a:solidFill>
          </a:ln>
        </p:spPr>
        <p:txBody>
          <a:bodyPr vert="horz" wrap="square" lIns="0" tIns="176530" rIns="0" bIns="0" rtlCol="0">
            <a:spAutoFit/>
          </a:bodyPr>
          <a:lstStyle/>
          <a:p>
            <a:pPr>
              <a:lnSpc>
                <a:spcPct val="100000"/>
              </a:lnSpc>
              <a:spcBef>
                <a:spcPts val="1390"/>
              </a:spcBef>
            </a:pPr>
            <a:endParaRPr sz="2000">
              <a:latin typeface="Times New Roman"/>
              <a:cs typeface="Times New Roman"/>
            </a:endParaRPr>
          </a:p>
          <a:p>
            <a:pPr marL="320040" marR="320040" indent="-41275" algn="just">
              <a:lnSpc>
                <a:spcPct val="100000"/>
              </a:lnSpc>
            </a:pPr>
            <a:r>
              <a:rPr sz="2000" spc="-20" dirty="0">
                <a:latin typeface="Arial"/>
                <a:cs typeface="Arial"/>
              </a:rPr>
              <a:t>Very </a:t>
            </a:r>
            <a:r>
              <a:rPr sz="2000" spc="-25" dirty="0">
                <a:latin typeface="Arial"/>
                <a:cs typeface="Arial"/>
              </a:rPr>
              <a:t>big </a:t>
            </a:r>
            <a:r>
              <a:rPr sz="2000" spc="-20" dirty="0">
                <a:latin typeface="Arial"/>
                <a:cs typeface="Arial"/>
              </a:rPr>
              <a:t>data</a:t>
            </a:r>
            <a:endParaRPr sz="2000">
              <a:latin typeface="Arial"/>
              <a:cs typeface="Arial"/>
            </a:endParaRPr>
          </a:p>
        </p:txBody>
      </p:sp>
      <p:sp>
        <p:nvSpPr>
          <p:cNvPr id="4" name="object 4"/>
          <p:cNvSpPr/>
          <p:nvPr/>
        </p:nvSpPr>
        <p:spPr>
          <a:xfrm>
            <a:off x="4315967" y="4326635"/>
            <a:ext cx="1905" cy="228600"/>
          </a:xfrm>
          <a:custGeom>
            <a:avLst/>
            <a:gdLst/>
            <a:ahLst/>
            <a:cxnLst/>
            <a:rect l="l" t="t" r="r" b="b"/>
            <a:pathLst>
              <a:path w="1904" h="228600">
                <a:moveTo>
                  <a:pt x="0" y="0"/>
                </a:moveTo>
                <a:lnTo>
                  <a:pt x="1524" y="228600"/>
                </a:lnTo>
              </a:path>
            </a:pathLst>
          </a:custGeom>
          <a:ln w="76200">
            <a:solidFill>
              <a:srgbClr val="000000"/>
            </a:solidFill>
            <a:prstDash val="sysDot"/>
          </a:ln>
        </p:spPr>
        <p:txBody>
          <a:bodyPr wrap="square" lIns="0" tIns="0" rIns="0" bIns="0" rtlCol="0"/>
          <a:lstStyle/>
          <a:p>
            <a:endParaRPr/>
          </a:p>
        </p:txBody>
      </p:sp>
      <p:sp>
        <p:nvSpPr>
          <p:cNvPr id="5" name="object 5"/>
          <p:cNvSpPr/>
          <p:nvPr/>
        </p:nvSpPr>
        <p:spPr>
          <a:xfrm>
            <a:off x="3186683" y="3908805"/>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6" name="object 6"/>
          <p:cNvSpPr txBox="1"/>
          <p:nvPr/>
        </p:nvSpPr>
        <p:spPr>
          <a:xfrm>
            <a:off x="3749040" y="3107435"/>
            <a:ext cx="1143000" cy="304800"/>
          </a:xfrm>
          <a:prstGeom prst="rect">
            <a:avLst/>
          </a:prstGeom>
          <a:ln w="9144">
            <a:solidFill>
              <a:srgbClr val="000000"/>
            </a:solidFill>
          </a:ln>
        </p:spPr>
        <p:txBody>
          <a:bodyPr vert="horz" wrap="square" lIns="0" tIns="21590" rIns="0" bIns="0" rtlCol="0">
            <a:spAutoFit/>
          </a:bodyPr>
          <a:lstStyle/>
          <a:p>
            <a:pPr marL="90805">
              <a:lnSpc>
                <a:spcPct val="100000"/>
              </a:lnSpc>
              <a:spcBef>
                <a:spcPts val="170"/>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7" name="object 7"/>
          <p:cNvSpPr txBox="1"/>
          <p:nvPr/>
        </p:nvSpPr>
        <p:spPr>
          <a:xfrm>
            <a:off x="3749040" y="3488435"/>
            <a:ext cx="1143000" cy="304800"/>
          </a:xfrm>
          <a:prstGeom prst="rect">
            <a:avLst/>
          </a:prstGeom>
          <a:ln w="9144">
            <a:solidFill>
              <a:srgbClr val="000000"/>
            </a:solidFill>
          </a:ln>
        </p:spPr>
        <p:txBody>
          <a:bodyPr vert="horz" wrap="square" lIns="0" tIns="21590" rIns="0" bIns="0" rtlCol="0">
            <a:spAutoFit/>
          </a:bodyPr>
          <a:lstStyle/>
          <a:p>
            <a:pPr marL="90805">
              <a:lnSpc>
                <a:spcPct val="100000"/>
              </a:lnSpc>
              <a:spcBef>
                <a:spcPts val="170"/>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8" name="object 8"/>
          <p:cNvSpPr txBox="1"/>
          <p:nvPr/>
        </p:nvSpPr>
        <p:spPr>
          <a:xfrm>
            <a:off x="3749040" y="3869435"/>
            <a:ext cx="1143000" cy="304800"/>
          </a:xfrm>
          <a:prstGeom prst="rect">
            <a:avLst/>
          </a:prstGeom>
          <a:ln w="9144">
            <a:solidFill>
              <a:srgbClr val="000000"/>
            </a:solidFill>
          </a:ln>
        </p:spPr>
        <p:txBody>
          <a:bodyPr vert="horz" wrap="square" lIns="0" tIns="12065" rIns="0" bIns="0" rtlCol="0">
            <a:spAutoFit/>
          </a:bodyPr>
          <a:lstStyle/>
          <a:p>
            <a:pPr marL="97155">
              <a:lnSpc>
                <a:spcPct val="100000"/>
              </a:lnSpc>
              <a:spcBef>
                <a:spcPts val="95"/>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9" name="object 9"/>
          <p:cNvSpPr txBox="1"/>
          <p:nvPr/>
        </p:nvSpPr>
        <p:spPr>
          <a:xfrm>
            <a:off x="3749040" y="4707635"/>
            <a:ext cx="1143000" cy="304800"/>
          </a:xfrm>
          <a:prstGeom prst="rect">
            <a:avLst/>
          </a:prstGeom>
          <a:ln w="9144">
            <a:solidFill>
              <a:srgbClr val="000000"/>
            </a:solidFill>
          </a:ln>
        </p:spPr>
        <p:txBody>
          <a:bodyPr vert="horz" wrap="square" lIns="0" tIns="7620" rIns="0" bIns="0" rtlCol="0">
            <a:spAutoFit/>
          </a:bodyPr>
          <a:lstStyle/>
          <a:p>
            <a:pPr marL="90805">
              <a:lnSpc>
                <a:spcPct val="100000"/>
              </a:lnSpc>
              <a:spcBef>
                <a:spcPts val="60"/>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10" name="object 10"/>
          <p:cNvSpPr txBox="1"/>
          <p:nvPr/>
        </p:nvSpPr>
        <p:spPr>
          <a:xfrm>
            <a:off x="5482209" y="2965852"/>
            <a:ext cx="551180" cy="1169670"/>
          </a:xfrm>
          <a:prstGeom prst="rect">
            <a:avLst/>
          </a:prstGeom>
        </p:spPr>
        <p:txBody>
          <a:bodyPr vert="horz" wrap="square" lIns="0" tIns="12700" rIns="0" bIns="0" rtlCol="0">
            <a:spAutoFit/>
          </a:bodyPr>
          <a:lstStyle/>
          <a:p>
            <a:pPr marL="28575" marR="5080" indent="-15875" algn="just">
              <a:lnSpc>
                <a:spcPct val="125000"/>
              </a:lnSpc>
              <a:spcBef>
                <a:spcPts val="100"/>
              </a:spcBef>
            </a:pPr>
            <a:r>
              <a:rPr sz="2000" spc="-20" dirty="0">
                <a:latin typeface="Arial"/>
                <a:cs typeface="Arial"/>
              </a:rPr>
              <a:t>grep grep grep</a:t>
            </a:r>
            <a:endParaRPr sz="2000">
              <a:latin typeface="Arial"/>
              <a:cs typeface="Arial"/>
            </a:endParaRPr>
          </a:p>
        </p:txBody>
      </p:sp>
      <p:sp>
        <p:nvSpPr>
          <p:cNvPr id="11" name="object 11"/>
          <p:cNvSpPr txBox="1"/>
          <p:nvPr/>
        </p:nvSpPr>
        <p:spPr>
          <a:xfrm>
            <a:off x="5498084" y="4642865"/>
            <a:ext cx="535305" cy="330835"/>
          </a:xfrm>
          <a:prstGeom prst="rect">
            <a:avLst/>
          </a:prstGeom>
        </p:spPr>
        <p:txBody>
          <a:bodyPr vert="horz" wrap="square" lIns="0" tIns="12700" rIns="0" bIns="0" rtlCol="0">
            <a:spAutoFit/>
          </a:bodyPr>
          <a:lstStyle/>
          <a:p>
            <a:pPr marL="12700">
              <a:lnSpc>
                <a:spcPct val="100000"/>
              </a:lnSpc>
              <a:spcBef>
                <a:spcPts val="100"/>
              </a:spcBef>
            </a:pPr>
            <a:r>
              <a:rPr sz="2000" spc="-20" dirty="0">
                <a:latin typeface="Arial"/>
                <a:cs typeface="Arial"/>
              </a:rPr>
              <a:t>grep</a:t>
            </a:r>
            <a:endParaRPr sz="2000">
              <a:latin typeface="Arial"/>
              <a:cs typeface="Arial"/>
            </a:endParaRPr>
          </a:p>
        </p:txBody>
      </p:sp>
      <p:sp>
        <p:nvSpPr>
          <p:cNvPr id="12" name="object 12"/>
          <p:cNvSpPr/>
          <p:nvPr/>
        </p:nvSpPr>
        <p:spPr>
          <a:xfrm>
            <a:off x="7211568" y="4326635"/>
            <a:ext cx="1905" cy="228600"/>
          </a:xfrm>
          <a:custGeom>
            <a:avLst/>
            <a:gdLst/>
            <a:ahLst/>
            <a:cxnLst/>
            <a:rect l="l" t="t" r="r" b="b"/>
            <a:pathLst>
              <a:path w="1904" h="228600">
                <a:moveTo>
                  <a:pt x="0" y="0"/>
                </a:moveTo>
                <a:lnTo>
                  <a:pt x="1524" y="228600"/>
                </a:lnTo>
              </a:path>
            </a:pathLst>
          </a:custGeom>
          <a:ln w="76200">
            <a:solidFill>
              <a:srgbClr val="000000"/>
            </a:solidFill>
            <a:prstDash val="sysDot"/>
          </a:ln>
        </p:spPr>
        <p:txBody>
          <a:bodyPr wrap="square" lIns="0" tIns="0" rIns="0" bIns="0" rtlCol="0"/>
          <a:lstStyle/>
          <a:p>
            <a:endParaRPr/>
          </a:p>
        </p:txBody>
      </p:sp>
      <p:sp>
        <p:nvSpPr>
          <p:cNvPr id="13" name="object 13"/>
          <p:cNvSpPr/>
          <p:nvPr/>
        </p:nvSpPr>
        <p:spPr>
          <a:xfrm>
            <a:off x="4968240" y="3223005"/>
            <a:ext cx="457200" cy="76200"/>
          </a:xfrm>
          <a:custGeom>
            <a:avLst/>
            <a:gdLst/>
            <a:ahLst/>
            <a:cxnLst/>
            <a:rect l="l" t="t" r="r" b="b"/>
            <a:pathLst>
              <a:path w="457200" h="76200">
                <a:moveTo>
                  <a:pt x="381127" y="0"/>
                </a:moveTo>
                <a:lnTo>
                  <a:pt x="381025" y="30479"/>
                </a:lnTo>
                <a:lnTo>
                  <a:pt x="380999" y="38353"/>
                </a:lnTo>
                <a:lnTo>
                  <a:pt x="380873" y="76199"/>
                </a:lnTo>
                <a:lnTo>
                  <a:pt x="444905" y="44449"/>
                </a:lnTo>
                <a:lnTo>
                  <a:pt x="393700" y="44449"/>
                </a:lnTo>
                <a:lnTo>
                  <a:pt x="393700" y="31749"/>
                </a:lnTo>
                <a:lnTo>
                  <a:pt x="444101" y="31749"/>
                </a:lnTo>
                <a:lnTo>
                  <a:pt x="381127" y="0"/>
                </a:lnTo>
                <a:close/>
              </a:path>
              <a:path w="457200" h="76200">
                <a:moveTo>
                  <a:pt x="0" y="30479"/>
                </a:moveTo>
                <a:lnTo>
                  <a:pt x="0" y="43179"/>
                </a:lnTo>
                <a:lnTo>
                  <a:pt x="393699" y="44449"/>
                </a:lnTo>
                <a:lnTo>
                  <a:pt x="380978" y="44449"/>
                </a:lnTo>
                <a:lnTo>
                  <a:pt x="381021" y="31749"/>
                </a:lnTo>
                <a:lnTo>
                  <a:pt x="393699" y="31749"/>
                </a:lnTo>
                <a:lnTo>
                  <a:pt x="0" y="30479"/>
                </a:lnTo>
                <a:close/>
              </a:path>
              <a:path w="457200" h="76200">
                <a:moveTo>
                  <a:pt x="444101" y="31749"/>
                </a:moveTo>
                <a:lnTo>
                  <a:pt x="393700" y="31749"/>
                </a:lnTo>
                <a:lnTo>
                  <a:pt x="393700" y="44449"/>
                </a:lnTo>
                <a:lnTo>
                  <a:pt x="444905" y="44449"/>
                </a:lnTo>
                <a:lnTo>
                  <a:pt x="457200" y="38353"/>
                </a:lnTo>
                <a:lnTo>
                  <a:pt x="444101" y="31749"/>
                </a:lnTo>
                <a:close/>
              </a:path>
            </a:pathLst>
          </a:custGeom>
          <a:solidFill>
            <a:srgbClr val="000000"/>
          </a:solidFill>
        </p:spPr>
        <p:txBody>
          <a:bodyPr wrap="square" lIns="0" tIns="0" rIns="0" bIns="0" rtlCol="0"/>
          <a:lstStyle/>
          <a:p>
            <a:endParaRPr/>
          </a:p>
        </p:txBody>
      </p:sp>
      <p:sp>
        <p:nvSpPr>
          <p:cNvPr id="14" name="object 14"/>
          <p:cNvSpPr/>
          <p:nvPr/>
        </p:nvSpPr>
        <p:spPr>
          <a:xfrm>
            <a:off x="4968240" y="3604005"/>
            <a:ext cx="457200" cy="76200"/>
          </a:xfrm>
          <a:custGeom>
            <a:avLst/>
            <a:gdLst/>
            <a:ahLst/>
            <a:cxnLst/>
            <a:rect l="l" t="t" r="r" b="b"/>
            <a:pathLst>
              <a:path w="457200" h="76200">
                <a:moveTo>
                  <a:pt x="381127" y="0"/>
                </a:moveTo>
                <a:lnTo>
                  <a:pt x="381025" y="30479"/>
                </a:lnTo>
                <a:lnTo>
                  <a:pt x="380999" y="38353"/>
                </a:lnTo>
                <a:lnTo>
                  <a:pt x="380873" y="76199"/>
                </a:lnTo>
                <a:lnTo>
                  <a:pt x="444905" y="44449"/>
                </a:lnTo>
                <a:lnTo>
                  <a:pt x="393700" y="44449"/>
                </a:lnTo>
                <a:lnTo>
                  <a:pt x="393700" y="31749"/>
                </a:lnTo>
                <a:lnTo>
                  <a:pt x="444101" y="31749"/>
                </a:lnTo>
                <a:lnTo>
                  <a:pt x="381127" y="0"/>
                </a:lnTo>
                <a:close/>
              </a:path>
              <a:path w="457200" h="76200">
                <a:moveTo>
                  <a:pt x="0" y="30479"/>
                </a:moveTo>
                <a:lnTo>
                  <a:pt x="0" y="43179"/>
                </a:lnTo>
                <a:lnTo>
                  <a:pt x="393699" y="44449"/>
                </a:lnTo>
                <a:lnTo>
                  <a:pt x="380978" y="44449"/>
                </a:lnTo>
                <a:lnTo>
                  <a:pt x="381021" y="31749"/>
                </a:lnTo>
                <a:lnTo>
                  <a:pt x="393699" y="31749"/>
                </a:lnTo>
                <a:lnTo>
                  <a:pt x="0" y="30479"/>
                </a:lnTo>
                <a:close/>
              </a:path>
              <a:path w="457200" h="76200">
                <a:moveTo>
                  <a:pt x="444101" y="31749"/>
                </a:moveTo>
                <a:lnTo>
                  <a:pt x="393700" y="31749"/>
                </a:lnTo>
                <a:lnTo>
                  <a:pt x="393700" y="44449"/>
                </a:lnTo>
                <a:lnTo>
                  <a:pt x="444905" y="44449"/>
                </a:lnTo>
                <a:lnTo>
                  <a:pt x="457200" y="38353"/>
                </a:lnTo>
                <a:lnTo>
                  <a:pt x="444101" y="31749"/>
                </a:lnTo>
                <a:close/>
              </a:path>
            </a:pathLst>
          </a:custGeom>
          <a:solidFill>
            <a:srgbClr val="000000"/>
          </a:solidFill>
        </p:spPr>
        <p:txBody>
          <a:bodyPr wrap="square" lIns="0" tIns="0" rIns="0" bIns="0" rtlCol="0"/>
          <a:lstStyle/>
          <a:p>
            <a:endParaRPr/>
          </a:p>
        </p:txBody>
      </p:sp>
      <p:sp>
        <p:nvSpPr>
          <p:cNvPr id="15" name="object 15"/>
          <p:cNvSpPr/>
          <p:nvPr/>
        </p:nvSpPr>
        <p:spPr>
          <a:xfrm>
            <a:off x="4968240" y="3985005"/>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16" name="object 16"/>
          <p:cNvSpPr/>
          <p:nvPr/>
        </p:nvSpPr>
        <p:spPr>
          <a:xfrm>
            <a:off x="4968240" y="4823205"/>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17" name="object 17"/>
          <p:cNvSpPr/>
          <p:nvPr/>
        </p:nvSpPr>
        <p:spPr>
          <a:xfrm>
            <a:off x="6111240" y="3218433"/>
            <a:ext cx="457200" cy="76200"/>
          </a:xfrm>
          <a:custGeom>
            <a:avLst/>
            <a:gdLst/>
            <a:ahLst/>
            <a:cxnLst/>
            <a:rect l="l" t="t" r="r" b="b"/>
            <a:pathLst>
              <a:path w="457200" h="76200">
                <a:moveTo>
                  <a:pt x="381127" y="0"/>
                </a:moveTo>
                <a:lnTo>
                  <a:pt x="381025" y="30479"/>
                </a:lnTo>
                <a:lnTo>
                  <a:pt x="380999" y="38353"/>
                </a:lnTo>
                <a:lnTo>
                  <a:pt x="380873" y="76199"/>
                </a:lnTo>
                <a:lnTo>
                  <a:pt x="444905" y="44449"/>
                </a:lnTo>
                <a:lnTo>
                  <a:pt x="393700" y="44449"/>
                </a:lnTo>
                <a:lnTo>
                  <a:pt x="393700" y="31749"/>
                </a:lnTo>
                <a:lnTo>
                  <a:pt x="444101" y="31749"/>
                </a:lnTo>
                <a:lnTo>
                  <a:pt x="381127" y="0"/>
                </a:lnTo>
                <a:close/>
              </a:path>
              <a:path w="457200" h="76200">
                <a:moveTo>
                  <a:pt x="0" y="30479"/>
                </a:moveTo>
                <a:lnTo>
                  <a:pt x="0" y="43179"/>
                </a:lnTo>
                <a:lnTo>
                  <a:pt x="393699" y="44449"/>
                </a:lnTo>
                <a:lnTo>
                  <a:pt x="380978" y="44449"/>
                </a:lnTo>
                <a:lnTo>
                  <a:pt x="381021" y="31749"/>
                </a:lnTo>
                <a:lnTo>
                  <a:pt x="393699" y="31749"/>
                </a:lnTo>
                <a:lnTo>
                  <a:pt x="0" y="30479"/>
                </a:lnTo>
                <a:close/>
              </a:path>
              <a:path w="457200" h="76200">
                <a:moveTo>
                  <a:pt x="444101" y="31749"/>
                </a:moveTo>
                <a:lnTo>
                  <a:pt x="393700" y="31749"/>
                </a:lnTo>
                <a:lnTo>
                  <a:pt x="393700" y="44449"/>
                </a:lnTo>
                <a:lnTo>
                  <a:pt x="444905" y="44449"/>
                </a:lnTo>
                <a:lnTo>
                  <a:pt x="457200" y="38353"/>
                </a:lnTo>
                <a:lnTo>
                  <a:pt x="444101" y="31749"/>
                </a:lnTo>
                <a:close/>
              </a:path>
            </a:pathLst>
          </a:custGeom>
          <a:solidFill>
            <a:srgbClr val="000000"/>
          </a:solidFill>
        </p:spPr>
        <p:txBody>
          <a:bodyPr wrap="square" lIns="0" tIns="0" rIns="0" bIns="0" rtlCol="0"/>
          <a:lstStyle/>
          <a:p>
            <a:endParaRPr/>
          </a:p>
        </p:txBody>
      </p:sp>
      <p:sp>
        <p:nvSpPr>
          <p:cNvPr id="18" name="object 18"/>
          <p:cNvSpPr/>
          <p:nvPr/>
        </p:nvSpPr>
        <p:spPr>
          <a:xfrm>
            <a:off x="6111240" y="3599434"/>
            <a:ext cx="457200" cy="76200"/>
          </a:xfrm>
          <a:custGeom>
            <a:avLst/>
            <a:gdLst/>
            <a:ahLst/>
            <a:cxnLst/>
            <a:rect l="l" t="t" r="r" b="b"/>
            <a:pathLst>
              <a:path w="457200" h="76200">
                <a:moveTo>
                  <a:pt x="381127" y="0"/>
                </a:moveTo>
                <a:lnTo>
                  <a:pt x="381025" y="30479"/>
                </a:lnTo>
                <a:lnTo>
                  <a:pt x="380999" y="38353"/>
                </a:lnTo>
                <a:lnTo>
                  <a:pt x="380873" y="76199"/>
                </a:lnTo>
                <a:lnTo>
                  <a:pt x="444905" y="44449"/>
                </a:lnTo>
                <a:lnTo>
                  <a:pt x="393700" y="44449"/>
                </a:lnTo>
                <a:lnTo>
                  <a:pt x="393700" y="31749"/>
                </a:lnTo>
                <a:lnTo>
                  <a:pt x="444101" y="31749"/>
                </a:lnTo>
                <a:lnTo>
                  <a:pt x="381127" y="0"/>
                </a:lnTo>
                <a:close/>
              </a:path>
              <a:path w="457200" h="76200">
                <a:moveTo>
                  <a:pt x="0" y="30479"/>
                </a:moveTo>
                <a:lnTo>
                  <a:pt x="0" y="43179"/>
                </a:lnTo>
                <a:lnTo>
                  <a:pt x="393699" y="44449"/>
                </a:lnTo>
                <a:lnTo>
                  <a:pt x="380978" y="44449"/>
                </a:lnTo>
                <a:lnTo>
                  <a:pt x="381021" y="31749"/>
                </a:lnTo>
                <a:lnTo>
                  <a:pt x="393699" y="31749"/>
                </a:lnTo>
                <a:lnTo>
                  <a:pt x="0" y="30479"/>
                </a:lnTo>
                <a:close/>
              </a:path>
              <a:path w="457200" h="76200">
                <a:moveTo>
                  <a:pt x="444101" y="31749"/>
                </a:moveTo>
                <a:lnTo>
                  <a:pt x="393700" y="31749"/>
                </a:lnTo>
                <a:lnTo>
                  <a:pt x="393700" y="44449"/>
                </a:lnTo>
                <a:lnTo>
                  <a:pt x="444905" y="44449"/>
                </a:lnTo>
                <a:lnTo>
                  <a:pt x="457200" y="38353"/>
                </a:lnTo>
                <a:lnTo>
                  <a:pt x="444101" y="31749"/>
                </a:lnTo>
                <a:close/>
              </a:path>
            </a:pathLst>
          </a:custGeom>
          <a:solidFill>
            <a:srgbClr val="000000"/>
          </a:solidFill>
        </p:spPr>
        <p:txBody>
          <a:bodyPr wrap="square" lIns="0" tIns="0" rIns="0" bIns="0" rtlCol="0"/>
          <a:lstStyle/>
          <a:p>
            <a:endParaRPr/>
          </a:p>
        </p:txBody>
      </p:sp>
      <p:sp>
        <p:nvSpPr>
          <p:cNvPr id="19" name="object 19"/>
          <p:cNvSpPr/>
          <p:nvPr/>
        </p:nvSpPr>
        <p:spPr>
          <a:xfrm>
            <a:off x="6111240" y="3980434"/>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20" name="object 20"/>
          <p:cNvSpPr/>
          <p:nvPr/>
        </p:nvSpPr>
        <p:spPr>
          <a:xfrm>
            <a:off x="6111240" y="4818634"/>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21" name="object 21"/>
          <p:cNvSpPr txBox="1"/>
          <p:nvPr/>
        </p:nvSpPr>
        <p:spPr>
          <a:xfrm>
            <a:off x="6644640" y="3107435"/>
            <a:ext cx="1143000" cy="304800"/>
          </a:xfrm>
          <a:prstGeom prst="rect">
            <a:avLst/>
          </a:prstGeom>
          <a:ln w="9144">
            <a:solidFill>
              <a:srgbClr val="000000"/>
            </a:solidFill>
          </a:ln>
        </p:spPr>
        <p:txBody>
          <a:bodyPr vert="horz" wrap="square" lIns="0" tIns="12065" rIns="0" bIns="0" rtlCol="0">
            <a:spAutoFit/>
          </a:bodyPr>
          <a:lstStyle/>
          <a:p>
            <a:pPr marL="148590">
              <a:lnSpc>
                <a:spcPct val="100000"/>
              </a:lnSpc>
              <a:spcBef>
                <a:spcPts val="95"/>
              </a:spcBef>
            </a:pPr>
            <a:r>
              <a:rPr sz="1800" spc="-10" dirty="0">
                <a:latin typeface="Arial"/>
                <a:cs typeface="Arial"/>
              </a:rPr>
              <a:t>matches</a:t>
            </a:r>
            <a:endParaRPr sz="1800">
              <a:latin typeface="Arial"/>
              <a:cs typeface="Arial"/>
            </a:endParaRPr>
          </a:p>
        </p:txBody>
      </p:sp>
      <p:sp>
        <p:nvSpPr>
          <p:cNvPr id="22" name="object 22"/>
          <p:cNvSpPr txBox="1"/>
          <p:nvPr/>
        </p:nvSpPr>
        <p:spPr>
          <a:xfrm>
            <a:off x="6644640" y="3488435"/>
            <a:ext cx="1143000" cy="304800"/>
          </a:xfrm>
          <a:prstGeom prst="rect">
            <a:avLst/>
          </a:prstGeom>
          <a:ln w="9144">
            <a:solidFill>
              <a:srgbClr val="000000"/>
            </a:solidFill>
          </a:ln>
        </p:spPr>
        <p:txBody>
          <a:bodyPr vert="horz" wrap="square" lIns="0" tIns="26670" rIns="0" bIns="0" rtlCol="0">
            <a:spAutoFit/>
          </a:bodyPr>
          <a:lstStyle/>
          <a:p>
            <a:pPr marL="148590">
              <a:lnSpc>
                <a:spcPct val="100000"/>
              </a:lnSpc>
              <a:spcBef>
                <a:spcPts val="210"/>
              </a:spcBef>
            </a:pPr>
            <a:r>
              <a:rPr sz="1800" spc="-10" dirty="0">
                <a:latin typeface="Arial"/>
                <a:cs typeface="Arial"/>
              </a:rPr>
              <a:t>matches</a:t>
            </a:r>
            <a:endParaRPr sz="1800">
              <a:latin typeface="Arial"/>
              <a:cs typeface="Arial"/>
            </a:endParaRPr>
          </a:p>
        </p:txBody>
      </p:sp>
      <p:sp>
        <p:nvSpPr>
          <p:cNvPr id="23" name="object 23"/>
          <p:cNvSpPr txBox="1"/>
          <p:nvPr/>
        </p:nvSpPr>
        <p:spPr>
          <a:xfrm>
            <a:off x="6644640" y="3869435"/>
            <a:ext cx="1143000" cy="304800"/>
          </a:xfrm>
          <a:prstGeom prst="rect">
            <a:avLst/>
          </a:prstGeom>
          <a:ln w="9144">
            <a:solidFill>
              <a:srgbClr val="000000"/>
            </a:solidFill>
          </a:ln>
        </p:spPr>
        <p:txBody>
          <a:bodyPr vert="horz" wrap="square" lIns="0" tIns="12065" rIns="0" bIns="0" rtlCol="0">
            <a:spAutoFit/>
          </a:bodyPr>
          <a:lstStyle/>
          <a:p>
            <a:pPr marL="158115">
              <a:lnSpc>
                <a:spcPct val="100000"/>
              </a:lnSpc>
              <a:spcBef>
                <a:spcPts val="95"/>
              </a:spcBef>
            </a:pPr>
            <a:r>
              <a:rPr sz="1800" spc="-10" dirty="0">
                <a:latin typeface="Arial"/>
                <a:cs typeface="Arial"/>
              </a:rPr>
              <a:t>matches</a:t>
            </a:r>
            <a:endParaRPr sz="1800">
              <a:latin typeface="Arial"/>
              <a:cs typeface="Arial"/>
            </a:endParaRPr>
          </a:p>
        </p:txBody>
      </p:sp>
      <p:sp>
        <p:nvSpPr>
          <p:cNvPr id="24" name="object 24"/>
          <p:cNvSpPr txBox="1"/>
          <p:nvPr/>
        </p:nvSpPr>
        <p:spPr>
          <a:xfrm>
            <a:off x="6644640" y="4707635"/>
            <a:ext cx="1143000" cy="304800"/>
          </a:xfrm>
          <a:prstGeom prst="rect">
            <a:avLst/>
          </a:prstGeom>
          <a:ln w="9144">
            <a:solidFill>
              <a:srgbClr val="000000"/>
            </a:solidFill>
          </a:ln>
        </p:spPr>
        <p:txBody>
          <a:bodyPr vert="horz" wrap="square" lIns="0" tIns="22225" rIns="0" bIns="0" rtlCol="0">
            <a:spAutoFit/>
          </a:bodyPr>
          <a:lstStyle/>
          <a:p>
            <a:pPr marL="186690">
              <a:lnSpc>
                <a:spcPct val="100000"/>
              </a:lnSpc>
              <a:spcBef>
                <a:spcPts val="175"/>
              </a:spcBef>
            </a:pPr>
            <a:r>
              <a:rPr sz="1800" spc="-10" dirty="0">
                <a:latin typeface="Arial"/>
                <a:cs typeface="Arial"/>
              </a:rPr>
              <a:t>matches</a:t>
            </a:r>
            <a:endParaRPr sz="1800">
              <a:latin typeface="Arial"/>
              <a:cs typeface="Arial"/>
            </a:endParaRPr>
          </a:p>
        </p:txBody>
      </p:sp>
      <p:sp>
        <p:nvSpPr>
          <p:cNvPr id="25" name="object 25"/>
          <p:cNvSpPr txBox="1"/>
          <p:nvPr/>
        </p:nvSpPr>
        <p:spPr>
          <a:xfrm>
            <a:off x="8258936" y="3804284"/>
            <a:ext cx="365760" cy="330835"/>
          </a:xfrm>
          <a:prstGeom prst="rect">
            <a:avLst/>
          </a:prstGeom>
        </p:spPr>
        <p:txBody>
          <a:bodyPr vert="horz" wrap="square" lIns="0" tIns="12700" rIns="0" bIns="0" rtlCol="0">
            <a:spAutoFit/>
          </a:bodyPr>
          <a:lstStyle/>
          <a:p>
            <a:pPr marL="12700">
              <a:lnSpc>
                <a:spcPct val="100000"/>
              </a:lnSpc>
              <a:spcBef>
                <a:spcPts val="100"/>
              </a:spcBef>
            </a:pPr>
            <a:r>
              <a:rPr sz="2000" i="1" spc="-25" dirty="0">
                <a:latin typeface="Arial"/>
                <a:cs typeface="Arial"/>
              </a:rPr>
              <a:t>cat</a:t>
            </a:r>
            <a:endParaRPr sz="2000">
              <a:latin typeface="Arial"/>
              <a:cs typeface="Arial"/>
            </a:endParaRPr>
          </a:p>
        </p:txBody>
      </p:sp>
      <p:sp>
        <p:nvSpPr>
          <p:cNvPr id="26" name="object 26"/>
          <p:cNvSpPr/>
          <p:nvPr/>
        </p:nvSpPr>
        <p:spPr>
          <a:xfrm>
            <a:off x="7863840" y="3937634"/>
            <a:ext cx="304800" cy="76200"/>
          </a:xfrm>
          <a:custGeom>
            <a:avLst/>
            <a:gdLst/>
            <a:ahLst/>
            <a:cxnLst/>
            <a:rect l="l" t="t" r="r" b="b"/>
            <a:pathLst>
              <a:path w="304800" h="76200">
                <a:moveTo>
                  <a:pt x="228727" y="0"/>
                </a:moveTo>
                <a:lnTo>
                  <a:pt x="228346" y="76199"/>
                </a:lnTo>
                <a:lnTo>
                  <a:pt x="292701" y="44449"/>
                </a:lnTo>
                <a:lnTo>
                  <a:pt x="241300" y="44449"/>
                </a:lnTo>
                <a:lnTo>
                  <a:pt x="241300" y="31749"/>
                </a:lnTo>
                <a:lnTo>
                  <a:pt x="291493" y="31749"/>
                </a:lnTo>
                <a:lnTo>
                  <a:pt x="228727" y="0"/>
                </a:lnTo>
                <a:close/>
              </a:path>
              <a:path w="304800" h="76200">
                <a:moveTo>
                  <a:pt x="0" y="30606"/>
                </a:moveTo>
                <a:lnTo>
                  <a:pt x="0" y="43306"/>
                </a:lnTo>
                <a:lnTo>
                  <a:pt x="241299" y="44449"/>
                </a:lnTo>
                <a:lnTo>
                  <a:pt x="228504" y="44449"/>
                </a:lnTo>
                <a:lnTo>
                  <a:pt x="228568" y="31749"/>
                </a:lnTo>
                <a:lnTo>
                  <a:pt x="241299" y="31749"/>
                </a:lnTo>
                <a:lnTo>
                  <a:pt x="0" y="30606"/>
                </a:lnTo>
                <a:close/>
              </a:path>
              <a:path w="304800" h="76200">
                <a:moveTo>
                  <a:pt x="291493" y="31749"/>
                </a:moveTo>
                <a:lnTo>
                  <a:pt x="241300" y="31749"/>
                </a:lnTo>
                <a:lnTo>
                  <a:pt x="241300" y="44449"/>
                </a:lnTo>
                <a:lnTo>
                  <a:pt x="292701" y="44449"/>
                </a:lnTo>
                <a:lnTo>
                  <a:pt x="304800" y="38480"/>
                </a:lnTo>
                <a:lnTo>
                  <a:pt x="291493" y="31749"/>
                </a:lnTo>
                <a:close/>
              </a:path>
            </a:pathLst>
          </a:custGeom>
          <a:solidFill>
            <a:srgbClr val="000000"/>
          </a:solidFill>
        </p:spPr>
        <p:txBody>
          <a:bodyPr wrap="square" lIns="0" tIns="0" rIns="0" bIns="0" rtlCol="0"/>
          <a:lstStyle/>
          <a:p>
            <a:endParaRPr/>
          </a:p>
        </p:txBody>
      </p:sp>
      <p:sp>
        <p:nvSpPr>
          <p:cNvPr id="27" name="object 27"/>
          <p:cNvSpPr/>
          <p:nvPr/>
        </p:nvSpPr>
        <p:spPr>
          <a:xfrm>
            <a:off x="8778240" y="3937634"/>
            <a:ext cx="304800" cy="76200"/>
          </a:xfrm>
          <a:custGeom>
            <a:avLst/>
            <a:gdLst/>
            <a:ahLst/>
            <a:cxnLst/>
            <a:rect l="l" t="t" r="r" b="b"/>
            <a:pathLst>
              <a:path w="304800" h="76200">
                <a:moveTo>
                  <a:pt x="228727" y="0"/>
                </a:moveTo>
                <a:lnTo>
                  <a:pt x="228346" y="76199"/>
                </a:lnTo>
                <a:lnTo>
                  <a:pt x="292701" y="44449"/>
                </a:lnTo>
                <a:lnTo>
                  <a:pt x="241300" y="44449"/>
                </a:lnTo>
                <a:lnTo>
                  <a:pt x="241300" y="31749"/>
                </a:lnTo>
                <a:lnTo>
                  <a:pt x="291493" y="31749"/>
                </a:lnTo>
                <a:lnTo>
                  <a:pt x="228727" y="0"/>
                </a:lnTo>
                <a:close/>
              </a:path>
              <a:path w="304800" h="76200">
                <a:moveTo>
                  <a:pt x="0" y="30606"/>
                </a:moveTo>
                <a:lnTo>
                  <a:pt x="0" y="43306"/>
                </a:lnTo>
                <a:lnTo>
                  <a:pt x="241299" y="44449"/>
                </a:lnTo>
                <a:lnTo>
                  <a:pt x="228504" y="44449"/>
                </a:lnTo>
                <a:lnTo>
                  <a:pt x="228568" y="31749"/>
                </a:lnTo>
                <a:lnTo>
                  <a:pt x="241299" y="31749"/>
                </a:lnTo>
                <a:lnTo>
                  <a:pt x="0" y="30606"/>
                </a:lnTo>
                <a:close/>
              </a:path>
              <a:path w="304800" h="76200">
                <a:moveTo>
                  <a:pt x="291493" y="31749"/>
                </a:moveTo>
                <a:lnTo>
                  <a:pt x="241300" y="31749"/>
                </a:lnTo>
                <a:lnTo>
                  <a:pt x="241300" y="44449"/>
                </a:lnTo>
                <a:lnTo>
                  <a:pt x="292701" y="44449"/>
                </a:lnTo>
                <a:lnTo>
                  <a:pt x="304800" y="38480"/>
                </a:lnTo>
                <a:lnTo>
                  <a:pt x="291493" y="31749"/>
                </a:lnTo>
                <a:close/>
              </a:path>
            </a:pathLst>
          </a:custGeom>
          <a:solidFill>
            <a:srgbClr val="000000"/>
          </a:solidFill>
        </p:spPr>
        <p:txBody>
          <a:bodyPr wrap="square" lIns="0" tIns="0" rIns="0" bIns="0" rtlCol="0"/>
          <a:lstStyle/>
          <a:p>
            <a:endParaRPr/>
          </a:p>
        </p:txBody>
      </p:sp>
      <p:sp>
        <p:nvSpPr>
          <p:cNvPr id="28" name="object 28"/>
          <p:cNvSpPr txBox="1"/>
          <p:nvPr/>
        </p:nvSpPr>
        <p:spPr>
          <a:xfrm>
            <a:off x="9177528" y="3640835"/>
            <a:ext cx="1143000" cy="685800"/>
          </a:xfrm>
          <a:prstGeom prst="rect">
            <a:avLst/>
          </a:prstGeom>
          <a:ln w="9144">
            <a:solidFill>
              <a:srgbClr val="000000"/>
            </a:solidFill>
          </a:ln>
        </p:spPr>
        <p:txBody>
          <a:bodyPr vert="horz" wrap="square" lIns="0" tIns="55244" rIns="0" bIns="0" rtlCol="0">
            <a:spAutoFit/>
          </a:bodyPr>
          <a:lstStyle/>
          <a:p>
            <a:pPr marL="102870" marR="106045" indent="320040">
              <a:lnSpc>
                <a:spcPct val="100000"/>
              </a:lnSpc>
              <a:spcBef>
                <a:spcPts val="434"/>
              </a:spcBef>
            </a:pPr>
            <a:r>
              <a:rPr sz="1800" b="1" spc="-25" dirty="0">
                <a:latin typeface="Arial"/>
                <a:cs typeface="Arial"/>
              </a:rPr>
              <a:t>All </a:t>
            </a:r>
            <a:r>
              <a:rPr sz="1800" b="1" spc="-10" dirty="0">
                <a:latin typeface="Arial"/>
                <a:cs typeface="Arial"/>
              </a:rPr>
              <a:t>matches</a:t>
            </a:r>
            <a:endParaRPr sz="1800">
              <a:latin typeface="Arial"/>
              <a:cs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3280028" y="580389"/>
            <a:ext cx="5627370" cy="696595"/>
          </a:xfrm>
          <a:prstGeom prst="rect">
            <a:avLst/>
          </a:prstGeom>
        </p:spPr>
        <p:txBody>
          <a:bodyPr vert="horz" wrap="square" lIns="0" tIns="13335" rIns="0" bIns="0" rtlCol="0">
            <a:spAutoFit/>
          </a:bodyPr>
          <a:lstStyle/>
          <a:p>
            <a:pPr marL="12700">
              <a:lnSpc>
                <a:spcPct val="100000"/>
              </a:lnSpc>
              <a:spcBef>
                <a:spcPts val="105"/>
              </a:spcBef>
            </a:pPr>
            <a:r>
              <a:rPr spc="-45" dirty="0"/>
              <a:t>Distributed</a:t>
            </a:r>
            <a:r>
              <a:rPr spc="-245" dirty="0"/>
              <a:t> </a:t>
            </a:r>
            <a:r>
              <a:rPr spc="-100" dirty="0"/>
              <a:t>Word</a:t>
            </a:r>
            <a:r>
              <a:rPr spc="-245" dirty="0"/>
              <a:t> </a:t>
            </a:r>
            <a:r>
              <a:rPr spc="-50" dirty="0"/>
              <a:t>Count</a:t>
            </a:r>
          </a:p>
        </p:txBody>
      </p:sp>
      <p:sp>
        <p:nvSpPr>
          <p:cNvPr id="3" name="object 3"/>
          <p:cNvSpPr txBox="1"/>
          <p:nvPr/>
        </p:nvSpPr>
        <p:spPr>
          <a:xfrm>
            <a:off x="1959864" y="3172967"/>
            <a:ext cx="1143000" cy="1905000"/>
          </a:xfrm>
          <a:prstGeom prst="rect">
            <a:avLst/>
          </a:prstGeom>
          <a:ln w="9144">
            <a:solidFill>
              <a:srgbClr val="000000"/>
            </a:solidFill>
          </a:ln>
        </p:spPr>
        <p:txBody>
          <a:bodyPr vert="horz" wrap="square" lIns="0" tIns="175895" rIns="0" bIns="0" rtlCol="0">
            <a:spAutoFit/>
          </a:bodyPr>
          <a:lstStyle/>
          <a:p>
            <a:pPr>
              <a:lnSpc>
                <a:spcPct val="100000"/>
              </a:lnSpc>
              <a:spcBef>
                <a:spcPts val="1385"/>
              </a:spcBef>
            </a:pPr>
            <a:endParaRPr sz="2000">
              <a:latin typeface="Times New Roman"/>
              <a:cs typeface="Times New Roman"/>
            </a:endParaRPr>
          </a:p>
          <a:p>
            <a:pPr marL="320675" marR="318770" indent="-41275" algn="just">
              <a:lnSpc>
                <a:spcPct val="100000"/>
              </a:lnSpc>
            </a:pPr>
            <a:r>
              <a:rPr sz="2000" spc="-20" dirty="0">
                <a:latin typeface="Arial"/>
                <a:cs typeface="Arial"/>
              </a:rPr>
              <a:t>Very </a:t>
            </a:r>
            <a:r>
              <a:rPr sz="2000" spc="-25" dirty="0">
                <a:latin typeface="Arial"/>
                <a:cs typeface="Arial"/>
              </a:rPr>
              <a:t>big </a:t>
            </a:r>
            <a:r>
              <a:rPr sz="2000" spc="-20" dirty="0">
                <a:latin typeface="Arial"/>
                <a:cs typeface="Arial"/>
              </a:rPr>
              <a:t>data</a:t>
            </a:r>
            <a:endParaRPr sz="2000">
              <a:latin typeface="Arial"/>
              <a:cs typeface="Arial"/>
            </a:endParaRPr>
          </a:p>
        </p:txBody>
      </p:sp>
      <p:sp>
        <p:nvSpPr>
          <p:cNvPr id="4" name="object 4"/>
          <p:cNvSpPr/>
          <p:nvPr/>
        </p:nvSpPr>
        <p:spPr>
          <a:xfrm>
            <a:off x="4355591" y="4392167"/>
            <a:ext cx="1905" cy="228600"/>
          </a:xfrm>
          <a:custGeom>
            <a:avLst/>
            <a:gdLst/>
            <a:ahLst/>
            <a:cxnLst/>
            <a:rect l="l" t="t" r="r" b="b"/>
            <a:pathLst>
              <a:path w="1904" h="228600">
                <a:moveTo>
                  <a:pt x="0" y="0"/>
                </a:moveTo>
                <a:lnTo>
                  <a:pt x="1524" y="228599"/>
                </a:lnTo>
              </a:path>
            </a:pathLst>
          </a:custGeom>
          <a:ln w="76200">
            <a:solidFill>
              <a:srgbClr val="000000"/>
            </a:solidFill>
            <a:prstDash val="sysDot"/>
          </a:ln>
        </p:spPr>
        <p:txBody>
          <a:bodyPr wrap="square" lIns="0" tIns="0" rIns="0" bIns="0" rtlCol="0"/>
          <a:lstStyle/>
          <a:p>
            <a:endParaRPr/>
          </a:p>
        </p:txBody>
      </p:sp>
      <p:sp>
        <p:nvSpPr>
          <p:cNvPr id="5" name="object 5"/>
          <p:cNvSpPr/>
          <p:nvPr/>
        </p:nvSpPr>
        <p:spPr>
          <a:xfrm>
            <a:off x="3226307" y="3974338"/>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6" name="object 6"/>
          <p:cNvSpPr txBox="1"/>
          <p:nvPr/>
        </p:nvSpPr>
        <p:spPr>
          <a:xfrm>
            <a:off x="3788664" y="3172967"/>
            <a:ext cx="1143000" cy="304800"/>
          </a:xfrm>
          <a:prstGeom prst="rect">
            <a:avLst/>
          </a:prstGeom>
          <a:ln w="9144">
            <a:solidFill>
              <a:srgbClr val="000000"/>
            </a:solidFill>
          </a:ln>
        </p:spPr>
        <p:txBody>
          <a:bodyPr vert="horz" wrap="square" lIns="0" tIns="20955" rIns="0" bIns="0" rtlCol="0">
            <a:spAutoFit/>
          </a:bodyPr>
          <a:lstStyle/>
          <a:p>
            <a:pPr marL="92075">
              <a:lnSpc>
                <a:spcPct val="100000"/>
              </a:lnSpc>
              <a:spcBef>
                <a:spcPts val="165"/>
              </a:spcBef>
            </a:pPr>
            <a:r>
              <a:rPr sz="1800" dirty="0">
                <a:latin typeface="Arial"/>
                <a:cs typeface="Arial"/>
              </a:rPr>
              <a:t>Split</a:t>
            </a:r>
            <a:r>
              <a:rPr sz="1800" spc="-30" dirty="0">
                <a:latin typeface="Arial"/>
                <a:cs typeface="Arial"/>
              </a:rPr>
              <a:t> </a:t>
            </a:r>
            <a:r>
              <a:rPr sz="1800" spc="-20" dirty="0">
                <a:latin typeface="Arial"/>
                <a:cs typeface="Arial"/>
              </a:rPr>
              <a:t>data</a:t>
            </a:r>
            <a:endParaRPr sz="1800">
              <a:latin typeface="Arial"/>
              <a:cs typeface="Arial"/>
            </a:endParaRPr>
          </a:p>
        </p:txBody>
      </p:sp>
      <p:sp>
        <p:nvSpPr>
          <p:cNvPr id="7" name="object 7"/>
          <p:cNvSpPr txBox="1"/>
          <p:nvPr/>
        </p:nvSpPr>
        <p:spPr>
          <a:xfrm>
            <a:off x="3788664" y="3553967"/>
            <a:ext cx="1143000" cy="304800"/>
          </a:xfrm>
          <a:prstGeom prst="rect">
            <a:avLst/>
          </a:prstGeom>
          <a:ln w="9144">
            <a:solidFill>
              <a:srgbClr val="000000"/>
            </a:solidFill>
          </a:ln>
        </p:spPr>
        <p:txBody>
          <a:bodyPr vert="horz" wrap="square" lIns="0" tIns="20955" rIns="0" bIns="0" rtlCol="0">
            <a:spAutoFit/>
          </a:bodyPr>
          <a:lstStyle/>
          <a:p>
            <a:pPr marL="92075">
              <a:lnSpc>
                <a:spcPct val="100000"/>
              </a:lnSpc>
              <a:spcBef>
                <a:spcPts val="165"/>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8" name="object 8"/>
          <p:cNvSpPr txBox="1"/>
          <p:nvPr/>
        </p:nvSpPr>
        <p:spPr>
          <a:xfrm>
            <a:off x="3788664" y="3934967"/>
            <a:ext cx="1143000" cy="304800"/>
          </a:xfrm>
          <a:prstGeom prst="rect">
            <a:avLst/>
          </a:prstGeom>
          <a:ln w="9144">
            <a:solidFill>
              <a:srgbClr val="000000"/>
            </a:solidFill>
          </a:ln>
        </p:spPr>
        <p:txBody>
          <a:bodyPr vert="horz" wrap="square" lIns="0" tIns="11430" rIns="0" bIns="0" rtlCol="0">
            <a:spAutoFit/>
          </a:bodyPr>
          <a:lstStyle/>
          <a:p>
            <a:pPr marL="98425">
              <a:lnSpc>
                <a:spcPct val="100000"/>
              </a:lnSpc>
              <a:spcBef>
                <a:spcPts val="90"/>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9" name="object 9"/>
          <p:cNvSpPr txBox="1"/>
          <p:nvPr/>
        </p:nvSpPr>
        <p:spPr>
          <a:xfrm>
            <a:off x="3788664" y="4773167"/>
            <a:ext cx="1143000" cy="304800"/>
          </a:xfrm>
          <a:prstGeom prst="rect">
            <a:avLst/>
          </a:prstGeom>
          <a:ln w="9144">
            <a:solidFill>
              <a:srgbClr val="000000"/>
            </a:solidFill>
          </a:ln>
        </p:spPr>
        <p:txBody>
          <a:bodyPr vert="horz" wrap="square" lIns="0" tIns="6985" rIns="0" bIns="0" rtlCol="0">
            <a:spAutoFit/>
          </a:bodyPr>
          <a:lstStyle/>
          <a:p>
            <a:pPr marL="92075">
              <a:lnSpc>
                <a:spcPct val="100000"/>
              </a:lnSpc>
              <a:spcBef>
                <a:spcPts val="55"/>
              </a:spcBef>
            </a:pPr>
            <a:r>
              <a:rPr sz="1800" dirty="0">
                <a:latin typeface="Arial"/>
                <a:cs typeface="Arial"/>
              </a:rPr>
              <a:t>Split</a:t>
            </a:r>
            <a:r>
              <a:rPr sz="1800" spc="-35" dirty="0">
                <a:latin typeface="Arial"/>
                <a:cs typeface="Arial"/>
              </a:rPr>
              <a:t> </a:t>
            </a:r>
            <a:r>
              <a:rPr sz="1800" spc="-20" dirty="0">
                <a:latin typeface="Arial"/>
                <a:cs typeface="Arial"/>
              </a:rPr>
              <a:t>data</a:t>
            </a:r>
            <a:endParaRPr sz="1800">
              <a:latin typeface="Arial"/>
              <a:cs typeface="Arial"/>
            </a:endParaRPr>
          </a:p>
        </p:txBody>
      </p:sp>
      <p:sp>
        <p:nvSpPr>
          <p:cNvPr id="10" name="object 10"/>
          <p:cNvSpPr txBox="1"/>
          <p:nvPr/>
        </p:nvSpPr>
        <p:spPr>
          <a:xfrm>
            <a:off x="5522467" y="3031337"/>
            <a:ext cx="665480" cy="1169035"/>
          </a:xfrm>
          <a:prstGeom prst="rect">
            <a:avLst/>
          </a:prstGeom>
        </p:spPr>
        <p:txBody>
          <a:bodyPr vert="horz" wrap="square" lIns="0" tIns="12700" rIns="0" bIns="0" rtlCol="0">
            <a:spAutoFit/>
          </a:bodyPr>
          <a:lstStyle/>
          <a:p>
            <a:pPr marL="28575" marR="5080" indent="-15875" algn="just">
              <a:lnSpc>
                <a:spcPct val="125000"/>
              </a:lnSpc>
              <a:spcBef>
                <a:spcPts val="100"/>
              </a:spcBef>
            </a:pPr>
            <a:r>
              <a:rPr sz="2000" spc="-10" dirty="0">
                <a:latin typeface="Arial"/>
                <a:cs typeface="Arial"/>
              </a:rPr>
              <a:t>count count count</a:t>
            </a:r>
            <a:endParaRPr sz="2000">
              <a:latin typeface="Arial"/>
              <a:cs typeface="Arial"/>
            </a:endParaRPr>
          </a:p>
        </p:txBody>
      </p:sp>
      <p:sp>
        <p:nvSpPr>
          <p:cNvPr id="11" name="object 11"/>
          <p:cNvSpPr txBox="1"/>
          <p:nvPr/>
        </p:nvSpPr>
        <p:spPr>
          <a:xfrm>
            <a:off x="5538342" y="4707382"/>
            <a:ext cx="648970" cy="330835"/>
          </a:xfrm>
          <a:prstGeom prst="rect">
            <a:avLst/>
          </a:prstGeom>
        </p:spPr>
        <p:txBody>
          <a:bodyPr vert="horz" wrap="square" lIns="0" tIns="12700" rIns="0" bIns="0" rtlCol="0">
            <a:spAutoFit/>
          </a:bodyPr>
          <a:lstStyle/>
          <a:p>
            <a:pPr marL="12700">
              <a:lnSpc>
                <a:spcPct val="100000"/>
              </a:lnSpc>
              <a:spcBef>
                <a:spcPts val="100"/>
              </a:spcBef>
            </a:pPr>
            <a:r>
              <a:rPr sz="2000" spc="-10" dirty="0">
                <a:latin typeface="Arial"/>
                <a:cs typeface="Arial"/>
              </a:rPr>
              <a:t>count</a:t>
            </a:r>
            <a:endParaRPr sz="2000">
              <a:latin typeface="Arial"/>
              <a:cs typeface="Arial"/>
            </a:endParaRPr>
          </a:p>
        </p:txBody>
      </p:sp>
      <p:sp>
        <p:nvSpPr>
          <p:cNvPr id="12" name="object 12"/>
          <p:cNvSpPr/>
          <p:nvPr/>
        </p:nvSpPr>
        <p:spPr>
          <a:xfrm>
            <a:off x="7251192" y="4392167"/>
            <a:ext cx="1905" cy="228600"/>
          </a:xfrm>
          <a:custGeom>
            <a:avLst/>
            <a:gdLst/>
            <a:ahLst/>
            <a:cxnLst/>
            <a:rect l="l" t="t" r="r" b="b"/>
            <a:pathLst>
              <a:path w="1904" h="228600">
                <a:moveTo>
                  <a:pt x="0" y="0"/>
                </a:moveTo>
                <a:lnTo>
                  <a:pt x="1524" y="228599"/>
                </a:lnTo>
              </a:path>
            </a:pathLst>
          </a:custGeom>
          <a:ln w="76200">
            <a:solidFill>
              <a:srgbClr val="000000"/>
            </a:solidFill>
            <a:prstDash val="sysDot"/>
          </a:ln>
        </p:spPr>
        <p:txBody>
          <a:bodyPr wrap="square" lIns="0" tIns="0" rIns="0" bIns="0" rtlCol="0"/>
          <a:lstStyle/>
          <a:p>
            <a:endParaRPr/>
          </a:p>
        </p:txBody>
      </p:sp>
      <p:sp>
        <p:nvSpPr>
          <p:cNvPr id="13" name="object 13"/>
          <p:cNvSpPr/>
          <p:nvPr/>
        </p:nvSpPr>
        <p:spPr>
          <a:xfrm>
            <a:off x="5007864" y="3288538"/>
            <a:ext cx="457200" cy="76200"/>
          </a:xfrm>
          <a:custGeom>
            <a:avLst/>
            <a:gdLst/>
            <a:ahLst/>
            <a:cxnLst/>
            <a:rect l="l" t="t" r="r" b="b"/>
            <a:pathLst>
              <a:path w="457200" h="76200">
                <a:moveTo>
                  <a:pt x="381127" y="0"/>
                </a:moveTo>
                <a:lnTo>
                  <a:pt x="381025" y="30479"/>
                </a:lnTo>
                <a:lnTo>
                  <a:pt x="380999" y="38353"/>
                </a:lnTo>
                <a:lnTo>
                  <a:pt x="380873" y="76199"/>
                </a:lnTo>
                <a:lnTo>
                  <a:pt x="444905" y="44449"/>
                </a:lnTo>
                <a:lnTo>
                  <a:pt x="393700" y="44449"/>
                </a:lnTo>
                <a:lnTo>
                  <a:pt x="393700" y="31749"/>
                </a:lnTo>
                <a:lnTo>
                  <a:pt x="444101" y="31749"/>
                </a:lnTo>
                <a:lnTo>
                  <a:pt x="381127" y="0"/>
                </a:lnTo>
                <a:close/>
              </a:path>
              <a:path w="457200" h="76200">
                <a:moveTo>
                  <a:pt x="0" y="30479"/>
                </a:moveTo>
                <a:lnTo>
                  <a:pt x="0" y="43179"/>
                </a:lnTo>
                <a:lnTo>
                  <a:pt x="393699" y="44449"/>
                </a:lnTo>
                <a:lnTo>
                  <a:pt x="380978" y="44449"/>
                </a:lnTo>
                <a:lnTo>
                  <a:pt x="381021" y="31749"/>
                </a:lnTo>
                <a:lnTo>
                  <a:pt x="393699" y="31749"/>
                </a:lnTo>
                <a:lnTo>
                  <a:pt x="0" y="30479"/>
                </a:lnTo>
                <a:close/>
              </a:path>
              <a:path w="457200" h="76200">
                <a:moveTo>
                  <a:pt x="444101" y="31749"/>
                </a:moveTo>
                <a:lnTo>
                  <a:pt x="393700" y="31749"/>
                </a:lnTo>
                <a:lnTo>
                  <a:pt x="393700" y="44449"/>
                </a:lnTo>
                <a:lnTo>
                  <a:pt x="444905" y="44449"/>
                </a:lnTo>
                <a:lnTo>
                  <a:pt x="457200" y="38353"/>
                </a:lnTo>
                <a:lnTo>
                  <a:pt x="444101" y="31749"/>
                </a:lnTo>
                <a:close/>
              </a:path>
            </a:pathLst>
          </a:custGeom>
          <a:solidFill>
            <a:srgbClr val="000000"/>
          </a:solidFill>
        </p:spPr>
        <p:txBody>
          <a:bodyPr wrap="square" lIns="0" tIns="0" rIns="0" bIns="0" rtlCol="0"/>
          <a:lstStyle/>
          <a:p>
            <a:endParaRPr/>
          </a:p>
        </p:txBody>
      </p:sp>
      <p:sp>
        <p:nvSpPr>
          <p:cNvPr id="14" name="object 14"/>
          <p:cNvSpPr/>
          <p:nvPr/>
        </p:nvSpPr>
        <p:spPr>
          <a:xfrm>
            <a:off x="5007864" y="3669538"/>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15" name="object 15"/>
          <p:cNvSpPr/>
          <p:nvPr/>
        </p:nvSpPr>
        <p:spPr>
          <a:xfrm>
            <a:off x="5007864" y="4050538"/>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16" name="object 16"/>
          <p:cNvSpPr/>
          <p:nvPr/>
        </p:nvSpPr>
        <p:spPr>
          <a:xfrm>
            <a:off x="5007864" y="4888738"/>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17" name="object 17"/>
          <p:cNvSpPr/>
          <p:nvPr/>
        </p:nvSpPr>
        <p:spPr>
          <a:xfrm>
            <a:off x="6150864" y="3283965"/>
            <a:ext cx="457200" cy="76200"/>
          </a:xfrm>
          <a:custGeom>
            <a:avLst/>
            <a:gdLst/>
            <a:ahLst/>
            <a:cxnLst/>
            <a:rect l="l" t="t" r="r" b="b"/>
            <a:pathLst>
              <a:path w="457200" h="76200">
                <a:moveTo>
                  <a:pt x="381127" y="0"/>
                </a:moveTo>
                <a:lnTo>
                  <a:pt x="381025" y="30479"/>
                </a:lnTo>
                <a:lnTo>
                  <a:pt x="380999" y="38353"/>
                </a:lnTo>
                <a:lnTo>
                  <a:pt x="380873" y="76199"/>
                </a:lnTo>
                <a:lnTo>
                  <a:pt x="444905" y="44449"/>
                </a:lnTo>
                <a:lnTo>
                  <a:pt x="393700" y="44449"/>
                </a:lnTo>
                <a:lnTo>
                  <a:pt x="393700" y="31749"/>
                </a:lnTo>
                <a:lnTo>
                  <a:pt x="444101" y="31749"/>
                </a:lnTo>
                <a:lnTo>
                  <a:pt x="381127" y="0"/>
                </a:lnTo>
                <a:close/>
              </a:path>
              <a:path w="457200" h="76200">
                <a:moveTo>
                  <a:pt x="0" y="30479"/>
                </a:moveTo>
                <a:lnTo>
                  <a:pt x="0" y="43179"/>
                </a:lnTo>
                <a:lnTo>
                  <a:pt x="393699" y="44449"/>
                </a:lnTo>
                <a:lnTo>
                  <a:pt x="380978" y="44449"/>
                </a:lnTo>
                <a:lnTo>
                  <a:pt x="381021" y="31749"/>
                </a:lnTo>
                <a:lnTo>
                  <a:pt x="393699" y="31749"/>
                </a:lnTo>
                <a:lnTo>
                  <a:pt x="0" y="30479"/>
                </a:lnTo>
                <a:close/>
              </a:path>
              <a:path w="457200" h="76200">
                <a:moveTo>
                  <a:pt x="444101" y="31749"/>
                </a:moveTo>
                <a:lnTo>
                  <a:pt x="393700" y="31749"/>
                </a:lnTo>
                <a:lnTo>
                  <a:pt x="393700" y="44449"/>
                </a:lnTo>
                <a:lnTo>
                  <a:pt x="444905" y="44449"/>
                </a:lnTo>
                <a:lnTo>
                  <a:pt x="457200" y="38353"/>
                </a:lnTo>
                <a:lnTo>
                  <a:pt x="444101" y="31749"/>
                </a:lnTo>
                <a:close/>
              </a:path>
            </a:pathLst>
          </a:custGeom>
          <a:solidFill>
            <a:srgbClr val="000000"/>
          </a:solidFill>
        </p:spPr>
        <p:txBody>
          <a:bodyPr wrap="square" lIns="0" tIns="0" rIns="0" bIns="0" rtlCol="0"/>
          <a:lstStyle/>
          <a:p>
            <a:endParaRPr/>
          </a:p>
        </p:txBody>
      </p:sp>
      <p:sp>
        <p:nvSpPr>
          <p:cNvPr id="18" name="object 18"/>
          <p:cNvSpPr/>
          <p:nvPr/>
        </p:nvSpPr>
        <p:spPr>
          <a:xfrm>
            <a:off x="6150864" y="3664965"/>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19" name="object 19"/>
          <p:cNvSpPr/>
          <p:nvPr/>
        </p:nvSpPr>
        <p:spPr>
          <a:xfrm>
            <a:off x="6150864" y="4045965"/>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20" name="object 20"/>
          <p:cNvSpPr/>
          <p:nvPr/>
        </p:nvSpPr>
        <p:spPr>
          <a:xfrm>
            <a:off x="6150864" y="4884165"/>
            <a:ext cx="457200" cy="76200"/>
          </a:xfrm>
          <a:custGeom>
            <a:avLst/>
            <a:gdLst/>
            <a:ahLst/>
            <a:cxnLst/>
            <a:rect l="l" t="t" r="r" b="b"/>
            <a:pathLst>
              <a:path w="457200" h="76200">
                <a:moveTo>
                  <a:pt x="381127" y="0"/>
                </a:moveTo>
                <a:lnTo>
                  <a:pt x="381025" y="30480"/>
                </a:lnTo>
                <a:lnTo>
                  <a:pt x="380999" y="38354"/>
                </a:lnTo>
                <a:lnTo>
                  <a:pt x="380873" y="76200"/>
                </a:lnTo>
                <a:lnTo>
                  <a:pt x="444905" y="44450"/>
                </a:lnTo>
                <a:lnTo>
                  <a:pt x="393700" y="44450"/>
                </a:lnTo>
                <a:lnTo>
                  <a:pt x="393700" y="31750"/>
                </a:lnTo>
                <a:lnTo>
                  <a:pt x="444101" y="31750"/>
                </a:lnTo>
                <a:lnTo>
                  <a:pt x="381127" y="0"/>
                </a:lnTo>
                <a:close/>
              </a:path>
              <a:path w="457200" h="76200">
                <a:moveTo>
                  <a:pt x="0" y="30480"/>
                </a:moveTo>
                <a:lnTo>
                  <a:pt x="0" y="43180"/>
                </a:lnTo>
                <a:lnTo>
                  <a:pt x="393699" y="44450"/>
                </a:lnTo>
                <a:lnTo>
                  <a:pt x="380978" y="44450"/>
                </a:lnTo>
                <a:lnTo>
                  <a:pt x="381021" y="31750"/>
                </a:lnTo>
                <a:lnTo>
                  <a:pt x="393699" y="31750"/>
                </a:lnTo>
                <a:lnTo>
                  <a:pt x="0" y="30480"/>
                </a:lnTo>
                <a:close/>
              </a:path>
              <a:path w="457200" h="76200">
                <a:moveTo>
                  <a:pt x="444101" y="31750"/>
                </a:moveTo>
                <a:lnTo>
                  <a:pt x="393700" y="31750"/>
                </a:lnTo>
                <a:lnTo>
                  <a:pt x="393700" y="44450"/>
                </a:lnTo>
                <a:lnTo>
                  <a:pt x="444905" y="44450"/>
                </a:lnTo>
                <a:lnTo>
                  <a:pt x="457200" y="38354"/>
                </a:lnTo>
                <a:lnTo>
                  <a:pt x="444101" y="31750"/>
                </a:lnTo>
                <a:close/>
              </a:path>
            </a:pathLst>
          </a:custGeom>
          <a:solidFill>
            <a:srgbClr val="000000"/>
          </a:solidFill>
        </p:spPr>
        <p:txBody>
          <a:bodyPr wrap="square" lIns="0" tIns="0" rIns="0" bIns="0" rtlCol="0"/>
          <a:lstStyle/>
          <a:p>
            <a:endParaRPr/>
          </a:p>
        </p:txBody>
      </p:sp>
      <p:sp>
        <p:nvSpPr>
          <p:cNvPr id="21" name="object 21"/>
          <p:cNvSpPr txBox="1"/>
          <p:nvPr/>
        </p:nvSpPr>
        <p:spPr>
          <a:xfrm>
            <a:off x="6684264" y="3172967"/>
            <a:ext cx="1143000" cy="304800"/>
          </a:xfrm>
          <a:prstGeom prst="rect">
            <a:avLst/>
          </a:prstGeom>
          <a:ln w="9144">
            <a:solidFill>
              <a:srgbClr val="000000"/>
            </a:solidFill>
          </a:ln>
        </p:spPr>
        <p:txBody>
          <a:bodyPr vert="horz" wrap="square" lIns="0" tIns="11430" rIns="0" bIns="0" rtlCol="0">
            <a:spAutoFit/>
          </a:bodyPr>
          <a:lstStyle/>
          <a:p>
            <a:pPr marL="244475">
              <a:lnSpc>
                <a:spcPct val="100000"/>
              </a:lnSpc>
              <a:spcBef>
                <a:spcPts val="90"/>
              </a:spcBef>
            </a:pPr>
            <a:r>
              <a:rPr sz="1800" spc="-10" dirty="0">
                <a:latin typeface="Arial"/>
                <a:cs typeface="Arial"/>
              </a:rPr>
              <a:t>count</a:t>
            </a:r>
            <a:endParaRPr sz="1800">
              <a:latin typeface="Arial"/>
              <a:cs typeface="Arial"/>
            </a:endParaRPr>
          </a:p>
        </p:txBody>
      </p:sp>
      <p:sp>
        <p:nvSpPr>
          <p:cNvPr id="22" name="object 22"/>
          <p:cNvSpPr txBox="1"/>
          <p:nvPr/>
        </p:nvSpPr>
        <p:spPr>
          <a:xfrm>
            <a:off x="6684264" y="3553967"/>
            <a:ext cx="1143000" cy="304800"/>
          </a:xfrm>
          <a:prstGeom prst="rect">
            <a:avLst/>
          </a:prstGeom>
          <a:ln w="9144">
            <a:solidFill>
              <a:srgbClr val="000000"/>
            </a:solidFill>
          </a:ln>
        </p:spPr>
        <p:txBody>
          <a:bodyPr vert="horz" wrap="square" lIns="0" tIns="26034" rIns="0" bIns="0" rtlCol="0">
            <a:spAutoFit/>
          </a:bodyPr>
          <a:lstStyle/>
          <a:p>
            <a:pPr marL="244475">
              <a:lnSpc>
                <a:spcPct val="100000"/>
              </a:lnSpc>
              <a:spcBef>
                <a:spcPts val="204"/>
              </a:spcBef>
            </a:pPr>
            <a:r>
              <a:rPr sz="1800" spc="-10" dirty="0">
                <a:latin typeface="Arial"/>
                <a:cs typeface="Arial"/>
              </a:rPr>
              <a:t>count</a:t>
            </a:r>
            <a:endParaRPr sz="1800">
              <a:latin typeface="Arial"/>
              <a:cs typeface="Arial"/>
            </a:endParaRPr>
          </a:p>
        </p:txBody>
      </p:sp>
      <p:sp>
        <p:nvSpPr>
          <p:cNvPr id="23" name="object 23"/>
          <p:cNvSpPr txBox="1"/>
          <p:nvPr/>
        </p:nvSpPr>
        <p:spPr>
          <a:xfrm>
            <a:off x="6684264" y="3934967"/>
            <a:ext cx="1143000" cy="304800"/>
          </a:xfrm>
          <a:prstGeom prst="rect">
            <a:avLst/>
          </a:prstGeom>
          <a:ln w="9144">
            <a:solidFill>
              <a:srgbClr val="000000"/>
            </a:solidFill>
          </a:ln>
        </p:spPr>
        <p:txBody>
          <a:bodyPr vert="horz" wrap="square" lIns="0" tIns="11430" rIns="0" bIns="0" rtlCol="0">
            <a:spAutoFit/>
          </a:bodyPr>
          <a:lstStyle/>
          <a:p>
            <a:pPr marL="254000">
              <a:lnSpc>
                <a:spcPct val="100000"/>
              </a:lnSpc>
              <a:spcBef>
                <a:spcPts val="90"/>
              </a:spcBef>
            </a:pPr>
            <a:r>
              <a:rPr sz="1800" spc="-10" dirty="0">
                <a:latin typeface="Arial"/>
                <a:cs typeface="Arial"/>
              </a:rPr>
              <a:t>count</a:t>
            </a:r>
            <a:endParaRPr sz="1800">
              <a:latin typeface="Arial"/>
              <a:cs typeface="Arial"/>
            </a:endParaRPr>
          </a:p>
        </p:txBody>
      </p:sp>
      <p:sp>
        <p:nvSpPr>
          <p:cNvPr id="24" name="object 24"/>
          <p:cNvSpPr txBox="1"/>
          <p:nvPr/>
        </p:nvSpPr>
        <p:spPr>
          <a:xfrm>
            <a:off x="6684264" y="4773167"/>
            <a:ext cx="1143000" cy="304800"/>
          </a:xfrm>
          <a:prstGeom prst="rect">
            <a:avLst/>
          </a:prstGeom>
          <a:ln w="9144">
            <a:solidFill>
              <a:srgbClr val="000000"/>
            </a:solidFill>
          </a:ln>
        </p:spPr>
        <p:txBody>
          <a:bodyPr vert="horz" wrap="square" lIns="0" tIns="21590" rIns="0" bIns="0" rtlCol="0">
            <a:spAutoFit/>
          </a:bodyPr>
          <a:lstStyle/>
          <a:p>
            <a:pPr marL="282575">
              <a:lnSpc>
                <a:spcPct val="100000"/>
              </a:lnSpc>
              <a:spcBef>
                <a:spcPts val="170"/>
              </a:spcBef>
            </a:pPr>
            <a:r>
              <a:rPr sz="1800" spc="-10" dirty="0">
                <a:latin typeface="Arial"/>
                <a:cs typeface="Arial"/>
              </a:rPr>
              <a:t>count</a:t>
            </a:r>
            <a:endParaRPr sz="1800">
              <a:latin typeface="Arial"/>
              <a:cs typeface="Arial"/>
            </a:endParaRPr>
          </a:p>
        </p:txBody>
      </p:sp>
      <p:sp>
        <p:nvSpPr>
          <p:cNvPr id="25" name="object 25"/>
          <p:cNvSpPr txBox="1"/>
          <p:nvPr/>
        </p:nvSpPr>
        <p:spPr>
          <a:xfrm>
            <a:off x="8135873" y="3868623"/>
            <a:ext cx="748030" cy="331470"/>
          </a:xfrm>
          <a:prstGeom prst="rect">
            <a:avLst/>
          </a:prstGeom>
        </p:spPr>
        <p:txBody>
          <a:bodyPr vert="horz" wrap="square" lIns="0" tIns="13335" rIns="0" bIns="0" rtlCol="0">
            <a:spAutoFit/>
          </a:bodyPr>
          <a:lstStyle/>
          <a:p>
            <a:pPr marL="12700">
              <a:lnSpc>
                <a:spcPct val="100000"/>
              </a:lnSpc>
              <a:spcBef>
                <a:spcPts val="105"/>
              </a:spcBef>
            </a:pPr>
            <a:r>
              <a:rPr sz="2000" spc="-10" dirty="0">
                <a:latin typeface="Arial"/>
                <a:cs typeface="Arial"/>
              </a:rPr>
              <a:t>merge</a:t>
            </a:r>
            <a:endParaRPr sz="2000">
              <a:latin typeface="Arial"/>
              <a:cs typeface="Arial"/>
            </a:endParaRPr>
          </a:p>
        </p:txBody>
      </p:sp>
      <p:pic>
        <p:nvPicPr>
          <p:cNvPr id="26" name="object 26"/>
          <p:cNvPicPr/>
          <p:nvPr/>
        </p:nvPicPr>
        <p:blipFill>
          <a:blip r:embed="rId2" cstate="print"/>
          <a:stretch>
            <a:fillRect/>
          </a:stretch>
        </p:blipFill>
        <p:spPr>
          <a:xfrm>
            <a:off x="7903464" y="4003040"/>
            <a:ext cx="228600" cy="76200"/>
          </a:xfrm>
          <a:prstGeom prst="rect">
            <a:avLst/>
          </a:prstGeom>
        </p:spPr>
      </p:pic>
      <p:pic>
        <p:nvPicPr>
          <p:cNvPr id="27" name="object 27"/>
          <p:cNvPicPr/>
          <p:nvPr/>
        </p:nvPicPr>
        <p:blipFill>
          <a:blip r:embed="rId2" cstate="print"/>
          <a:stretch>
            <a:fillRect/>
          </a:stretch>
        </p:blipFill>
        <p:spPr>
          <a:xfrm>
            <a:off x="8894064" y="4003040"/>
            <a:ext cx="228600" cy="76200"/>
          </a:xfrm>
          <a:prstGeom prst="rect">
            <a:avLst/>
          </a:prstGeom>
        </p:spPr>
      </p:pic>
      <p:sp>
        <p:nvSpPr>
          <p:cNvPr id="28" name="object 28"/>
          <p:cNvSpPr txBox="1"/>
          <p:nvPr/>
        </p:nvSpPr>
        <p:spPr>
          <a:xfrm>
            <a:off x="9218676" y="3706367"/>
            <a:ext cx="1143000" cy="685800"/>
          </a:xfrm>
          <a:prstGeom prst="rect">
            <a:avLst/>
          </a:prstGeom>
          <a:ln w="9144">
            <a:solidFill>
              <a:srgbClr val="000000"/>
            </a:solidFill>
          </a:ln>
        </p:spPr>
        <p:txBody>
          <a:bodyPr vert="horz" wrap="square" lIns="0" tIns="54610" rIns="0" bIns="0" rtlCol="0">
            <a:spAutoFit/>
          </a:bodyPr>
          <a:lstStyle/>
          <a:p>
            <a:pPr marL="152400">
              <a:lnSpc>
                <a:spcPct val="100000"/>
              </a:lnSpc>
              <a:spcBef>
                <a:spcPts val="430"/>
              </a:spcBef>
            </a:pPr>
            <a:r>
              <a:rPr sz="1800" b="1" spc="-10" dirty="0">
                <a:latin typeface="Arial"/>
                <a:cs typeface="Arial"/>
              </a:rPr>
              <a:t>merged</a:t>
            </a:r>
            <a:endParaRPr sz="1800">
              <a:latin typeface="Arial"/>
              <a:cs typeface="Arial"/>
            </a:endParaRPr>
          </a:p>
          <a:p>
            <a:pPr marL="253365">
              <a:lnSpc>
                <a:spcPct val="100000"/>
              </a:lnSpc>
            </a:pPr>
            <a:r>
              <a:rPr sz="1800" b="1" spc="-10" dirty="0">
                <a:latin typeface="Arial"/>
                <a:cs typeface="Arial"/>
              </a:rPr>
              <a:t>count</a:t>
            </a:r>
            <a:endParaRPr sz="1800">
              <a:latin typeface="Arial"/>
              <a:cs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88340" y="4266144"/>
            <a:ext cx="4843780" cy="1232535"/>
          </a:xfrm>
          <a:prstGeom prst="rect">
            <a:avLst/>
          </a:prstGeom>
        </p:spPr>
        <p:txBody>
          <a:bodyPr vert="horz" wrap="square" lIns="0" tIns="48895" rIns="0" bIns="0" rtlCol="0">
            <a:spAutoFit/>
          </a:bodyPr>
          <a:lstStyle/>
          <a:p>
            <a:pPr marL="12700">
              <a:lnSpc>
                <a:spcPct val="100000"/>
              </a:lnSpc>
              <a:spcBef>
                <a:spcPts val="385"/>
              </a:spcBef>
            </a:pPr>
            <a:r>
              <a:rPr sz="2400" dirty="0">
                <a:solidFill>
                  <a:srgbClr val="30B6FC"/>
                </a:solidFill>
                <a:latin typeface="Geneva"/>
                <a:cs typeface="Geneva"/>
              </a:rPr>
              <a:t>∗</a:t>
            </a:r>
            <a:r>
              <a:rPr sz="2400" spc="114" dirty="0">
                <a:solidFill>
                  <a:srgbClr val="30B6FC"/>
                </a:solidFill>
                <a:latin typeface="Geneva"/>
                <a:cs typeface="Geneva"/>
              </a:rPr>
              <a:t> </a:t>
            </a:r>
            <a:r>
              <a:rPr sz="2400" spc="-25" dirty="0">
                <a:solidFill>
                  <a:srgbClr val="063D86"/>
                </a:solidFill>
                <a:latin typeface="Arial"/>
                <a:cs typeface="Arial"/>
              </a:rPr>
              <a:t>Map</a:t>
            </a:r>
            <a:endParaRPr sz="2400">
              <a:latin typeface="Arial"/>
              <a:cs typeface="Arial"/>
            </a:endParaRPr>
          </a:p>
          <a:p>
            <a:pPr marL="314325">
              <a:lnSpc>
                <a:spcPct val="100000"/>
              </a:lnSpc>
              <a:spcBef>
                <a:spcPts val="285"/>
              </a:spcBef>
            </a:pPr>
            <a:r>
              <a:rPr sz="2400" dirty="0">
                <a:solidFill>
                  <a:srgbClr val="30B6FC"/>
                </a:solidFill>
                <a:latin typeface="Geneva"/>
                <a:cs typeface="Geneva"/>
              </a:rPr>
              <a:t>∗</a:t>
            </a:r>
            <a:r>
              <a:rPr sz="2400" spc="190" dirty="0">
                <a:solidFill>
                  <a:srgbClr val="30B6FC"/>
                </a:solidFill>
                <a:latin typeface="Geneva"/>
                <a:cs typeface="Geneva"/>
              </a:rPr>
              <a:t> </a:t>
            </a:r>
            <a:r>
              <a:rPr sz="2400" spc="-75" dirty="0">
                <a:solidFill>
                  <a:srgbClr val="063D86"/>
                </a:solidFill>
                <a:latin typeface="Arial"/>
                <a:cs typeface="Arial"/>
              </a:rPr>
              <a:t>Accepts</a:t>
            </a:r>
            <a:r>
              <a:rPr sz="2400" spc="-120" dirty="0">
                <a:solidFill>
                  <a:srgbClr val="063D86"/>
                </a:solidFill>
                <a:latin typeface="Arial"/>
                <a:cs typeface="Arial"/>
              </a:rPr>
              <a:t> </a:t>
            </a:r>
            <a:r>
              <a:rPr sz="2400" i="1" dirty="0">
                <a:solidFill>
                  <a:srgbClr val="063D86"/>
                </a:solidFill>
                <a:latin typeface="Arial"/>
                <a:cs typeface="Arial"/>
              </a:rPr>
              <a:t>input</a:t>
            </a:r>
            <a:r>
              <a:rPr sz="2400" i="1" spc="-145" dirty="0">
                <a:solidFill>
                  <a:srgbClr val="063D86"/>
                </a:solidFill>
                <a:latin typeface="Arial"/>
                <a:cs typeface="Arial"/>
              </a:rPr>
              <a:t> </a:t>
            </a:r>
            <a:r>
              <a:rPr sz="2400" spc="-80" dirty="0">
                <a:solidFill>
                  <a:srgbClr val="063D86"/>
                </a:solidFill>
                <a:latin typeface="Arial"/>
                <a:cs typeface="Arial"/>
              </a:rPr>
              <a:t>key/value</a:t>
            </a:r>
            <a:r>
              <a:rPr sz="2400" spc="-130" dirty="0">
                <a:solidFill>
                  <a:srgbClr val="063D86"/>
                </a:solidFill>
                <a:latin typeface="Arial"/>
                <a:cs typeface="Arial"/>
              </a:rPr>
              <a:t> </a:t>
            </a:r>
            <a:r>
              <a:rPr sz="2400" spc="-20" dirty="0">
                <a:solidFill>
                  <a:srgbClr val="063D86"/>
                </a:solidFill>
                <a:latin typeface="Arial"/>
                <a:cs typeface="Arial"/>
              </a:rPr>
              <a:t>pair</a:t>
            </a:r>
            <a:endParaRPr sz="2400">
              <a:latin typeface="Arial"/>
              <a:cs typeface="Arial"/>
            </a:endParaRPr>
          </a:p>
          <a:p>
            <a:pPr marL="314325">
              <a:lnSpc>
                <a:spcPct val="100000"/>
              </a:lnSpc>
              <a:spcBef>
                <a:spcPts val="290"/>
              </a:spcBef>
            </a:pPr>
            <a:r>
              <a:rPr sz="2400" dirty="0">
                <a:solidFill>
                  <a:srgbClr val="30B6FC"/>
                </a:solidFill>
                <a:latin typeface="Geneva"/>
                <a:cs typeface="Geneva"/>
              </a:rPr>
              <a:t>∗</a:t>
            </a:r>
            <a:r>
              <a:rPr sz="2400" spc="204" dirty="0">
                <a:solidFill>
                  <a:srgbClr val="30B6FC"/>
                </a:solidFill>
                <a:latin typeface="Geneva"/>
                <a:cs typeface="Geneva"/>
              </a:rPr>
              <a:t> </a:t>
            </a:r>
            <a:r>
              <a:rPr sz="2400" spc="-90" dirty="0">
                <a:solidFill>
                  <a:srgbClr val="063D86"/>
                </a:solidFill>
                <a:latin typeface="Arial"/>
                <a:cs typeface="Arial"/>
              </a:rPr>
              <a:t>Emits</a:t>
            </a:r>
            <a:r>
              <a:rPr sz="2400" spc="-130" dirty="0">
                <a:solidFill>
                  <a:srgbClr val="063D86"/>
                </a:solidFill>
                <a:latin typeface="Arial"/>
                <a:cs typeface="Arial"/>
              </a:rPr>
              <a:t> </a:t>
            </a:r>
            <a:r>
              <a:rPr sz="2400" i="1" spc="-50" dirty="0">
                <a:solidFill>
                  <a:srgbClr val="063D86"/>
                </a:solidFill>
                <a:latin typeface="Arial"/>
                <a:cs typeface="Arial"/>
              </a:rPr>
              <a:t>intermediate</a:t>
            </a:r>
            <a:r>
              <a:rPr sz="2400" i="1" spc="-135" dirty="0">
                <a:solidFill>
                  <a:srgbClr val="063D86"/>
                </a:solidFill>
                <a:latin typeface="Arial"/>
                <a:cs typeface="Arial"/>
              </a:rPr>
              <a:t> </a:t>
            </a:r>
            <a:r>
              <a:rPr sz="2400" spc="-80" dirty="0">
                <a:solidFill>
                  <a:srgbClr val="063D86"/>
                </a:solidFill>
                <a:latin typeface="Arial"/>
                <a:cs typeface="Arial"/>
              </a:rPr>
              <a:t>key/value</a:t>
            </a:r>
            <a:r>
              <a:rPr sz="2400" spc="-120" dirty="0">
                <a:solidFill>
                  <a:srgbClr val="063D86"/>
                </a:solidFill>
                <a:latin typeface="Arial"/>
                <a:cs typeface="Arial"/>
              </a:rPr>
              <a:t> </a:t>
            </a:r>
            <a:r>
              <a:rPr sz="2400" spc="-20" dirty="0">
                <a:solidFill>
                  <a:srgbClr val="063D86"/>
                </a:solidFill>
                <a:latin typeface="Arial"/>
                <a:cs typeface="Arial"/>
              </a:rPr>
              <a:t>pair</a:t>
            </a:r>
            <a:endParaRPr sz="2400">
              <a:latin typeface="Arial"/>
              <a:cs typeface="Arial"/>
            </a:endParaRPr>
          </a:p>
        </p:txBody>
      </p:sp>
      <p:sp>
        <p:nvSpPr>
          <p:cNvPr id="3" name="object 3" descr="$PPTXTitle"/>
          <p:cNvSpPr txBox="1">
            <a:spLocks noGrp="1"/>
          </p:cNvSpPr>
          <p:nvPr>
            <p:ph type="title"/>
          </p:nvPr>
        </p:nvSpPr>
        <p:spPr>
          <a:xfrm>
            <a:off x="4403597" y="580389"/>
            <a:ext cx="3383279" cy="696595"/>
          </a:xfrm>
          <a:prstGeom prst="rect">
            <a:avLst/>
          </a:prstGeom>
        </p:spPr>
        <p:txBody>
          <a:bodyPr vert="horz" wrap="square" lIns="0" tIns="13335" rIns="0" bIns="0" rtlCol="0">
            <a:spAutoFit/>
          </a:bodyPr>
          <a:lstStyle/>
          <a:p>
            <a:pPr marL="12700">
              <a:lnSpc>
                <a:spcPct val="100000"/>
              </a:lnSpc>
              <a:spcBef>
                <a:spcPts val="105"/>
              </a:spcBef>
            </a:pPr>
            <a:r>
              <a:rPr spc="-95" dirty="0"/>
              <a:t>Map</a:t>
            </a:r>
            <a:r>
              <a:rPr spc="-270" dirty="0"/>
              <a:t> </a:t>
            </a:r>
            <a:r>
              <a:rPr spc="-365" dirty="0"/>
              <a:t>+</a:t>
            </a:r>
            <a:r>
              <a:rPr spc="-254" dirty="0"/>
              <a:t> </a:t>
            </a:r>
            <a:r>
              <a:rPr spc="-190" dirty="0"/>
              <a:t>Reduce</a:t>
            </a:r>
          </a:p>
        </p:txBody>
      </p:sp>
      <p:sp>
        <p:nvSpPr>
          <p:cNvPr id="4" name="object 4"/>
          <p:cNvSpPr/>
          <p:nvPr/>
        </p:nvSpPr>
        <p:spPr>
          <a:xfrm>
            <a:off x="1740407" y="1801367"/>
            <a:ext cx="1143000" cy="1905000"/>
          </a:xfrm>
          <a:custGeom>
            <a:avLst/>
            <a:gdLst/>
            <a:ahLst/>
            <a:cxnLst/>
            <a:rect l="l" t="t" r="r" b="b"/>
            <a:pathLst>
              <a:path w="1143000" h="1905000">
                <a:moveTo>
                  <a:pt x="1143000" y="0"/>
                </a:moveTo>
                <a:lnTo>
                  <a:pt x="0" y="0"/>
                </a:lnTo>
                <a:lnTo>
                  <a:pt x="0" y="1904999"/>
                </a:lnTo>
                <a:lnTo>
                  <a:pt x="1143000" y="1904999"/>
                </a:lnTo>
                <a:lnTo>
                  <a:pt x="1143000" y="0"/>
                </a:lnTo>
                <a:close/>
              </a:path>
            </a:pathLst>
          </a:custGeom>
          <a:solidFill>
            <a:srgbClr val="FFFFFF"/>
          </a:solidFill>
        </p:spPr>
        <p:txBody>
          <a:bodyPr wrap="square" lIns="0" tIns="0" rIns="0" bIns="0" rtlCol="0"/>
          <a:lstStyle/>
          <a:p>
            <a:endParaRPr/>
          </a:p>
        </p:txBody>
      </p:sp>
      <p:sp>
        <p:nvSpPr>
          <p:cNvPr id="5" name="object 5"/>
          <p:cNvSpPr/>
          <p:nvPr/>
        </p:nvSpPr>
        <p:spPr>
          <a:xfrm>
            <a:off x="8979407" y="1801367"/>
            <a:ext cx="1143000" cy="1905000"/>
          </a:xfrm>
          <a:custGeom>
            <a:avLst/>
            <a:gdLst/>
            <a:ahLst/>
            <a:cxnLst/>
            <a:rect l="l" t="t" r="r" b="b"/>
            <a:pathLst>
              <a:path w="1143000" h="1905000">
                <a:moveTo>
                  <a:pt x="1143000" y="0"/>
                </a:moveTo>
                <a:lnTo>
                  <a:pt x="0" y="0"/>
                </a:lnTo>
                <a:lnTo>
                  <a:pt x="0" y="1904999"/>
                </a:lnTo>
                <a:lnTo>
                  <a:pt x="1143000" y="1904999"/>
                </a:lnTo>
                <a:lnTo>
                  <a:pt x="1143000" y="0"/>
                </a:lnTo>
                <a:close/>
              </a:path>
            </a:pathLst>
          </a:custGeom>
          <a:solidFill>
            <a:srgbClr val="FFFFFF"/>
          </a:solidFill>
        </p:spPr>
        <p:txBody>
          <a:bodyPr wrap="square" lIns="0" tIns="0" rIns="0" bIns="0" rtlCol="0"/>
          <a:lstStyle/>
          <a:p>
            <a:endParaRPr/>
          </a:p>
        </p:txBody>
      </p:sp>
      <p:grpSp>
        <p:nvGrpSpPr>
          <p:cNvPr id="6" name="object 6"/>
          <p:cNvGrpSpPr/>
          <p:nvPr/>
        </p:nvGrpSpPr>
        <p:grpSpPr>
          <a:xfrm>
            <a:off x="3006851" y="1568005"/>
            <a:ext cx="5925820" cy="2447925"/>
            <a:chOff x="3006851" y="1568005"/>
            <a:chExt cx="5925820" cy="2447925"/>
          </a:xfrm>
        </p:grpSpPr>
        <p:sp>
          <p:nvSpPr>
            <p:cNvPr id="7" name="object 7"/>
            <p:cNvSpPr/>
            <p:nvPr/>
          </p:nvSpPr>
          <p:spPr>
            <a:xfrm>
              <a:off x="3569207" y="1801367"/>
              <a:ext cx="1143000" cy="304800"/>
            </a:xfrm>
            <a:custGeom>
              <a:avLst/>
              <a:gdLst/>
              <a:ahLst/>
              <a:cxnLst/>
              <a:rect l="l" t="t" r="r" b="b"/>
              <a:pathLst>
                <a:path w="1143000" h="304800">
                  <a:moveTo>
                    <a:pt x="1143000" y="0"/>
                  </a:moveTo>
                  <a:lnTo>
                    <a:pt x="0" y="0"/>
                  </a:lnTo>
                  <a:lnTo>
                    <a:pt x="0" y="304800"/>
                  </a:lnTo>
                  <a:lnTo>
                    <a:pt x="1143000" y="304800"/>
                  </a:lnTo>
                  <a:lnTo>
                    <a:pt x="1143000" y="0"/>
                  </a:lnTo>
                  <a:close/>
                </a:path>
              </a:pathLst>
            </a:custGeom>
            <a:solidFill>
              <a:srgbClr val="FFFFFF"/>
            </a:solidFill>
          </p:spPr>
          <p:txBody>
            <a:bodyPr wrap="square" lIns="0" tIns="0" rIns="0" bIns="0" rtlCol="0"/>
            <a:lstStyle/>
            <a:p>
              <a:endParaRPr/>
            </a:p>
          </p:txBody>
        </p:sp>
        <p:sp>
          <p:nvSpPr>
            <p:cNvPr id="8" name="object 8"/>
            <p:cNvSpPr/>
            <p:nvPr/>
          </p:nvSpPr>
          <p:spPr>
            <a:xfrm>
              <a:off x="3569207" y="1801367"/>
              <a:ext cx="1143000" cy="304800"/>
            </a:xfrm>
            <a:custGeom>
              <a:avLst/>
              <a:gdLst/>
              <a:ahLst/>
              <a:cxnLst/>
              <a:rect l="l" t="t" r="r" b="b"/>
              <a:pathLst>
                <a:path w="1143000" h="304800">
                  <a:moveTo>
                    <a:pt x="0" y="304800"/>
                  </a:moveTo>
                  <a:lnTo>
                    <a:pt x="1143000" y="304800"/>
                  </a:lnTo>
                  <a:lnTo>
                    <a:pt x="1143000" y="0"/>
                  </a:lnTo>
                  <a:lnTo>
                    <a:pt x="0" y="0"/>
                  </a:lnTo>
                  <a:lnTo>
                    <a:pt x="0" y="304800"/>
                  </a:lnTo>
                  <a:close/>
                </a:path>
              </a:pathLst>
            </a:custGeom>
            <a:ln w="9144">
              <a:solidFill>
                <a:srgbClr val="000000"/>
              </a:solidFill>
            </a:ln>
          </p:spPr>
          <p:txBody>
            <a:bodyPr wrap="square" lIns="0" tIns="0" rIns="0" bIns="0" rtlCol="0"/>
            <a:lstStyle/>
            <a:p>
              <a:endParaRPr/>
            </a:p>
          </p:txBody>
        </p:sp>
        <p:sp>
          <p:nvSpPr>
            <p:cNvPr id="9" name="object 9"/>
            <p:cNvSpPr/>
            <p:nvPr/>
          </p:nvSpPr>
          <p:spPr>
            <a:xfrm>
              <a:off x="3569207" y="2182367"/>
              <a:ext cx="1143000" cy="304800"/>
            </a:xfrm>
            <a:custGeom>
              <a:avLst/>
              <a:gdLst/>
              <a:ahLst/>
              <a:cxnLst/>
              <a:rect l="l" t="t" r="r" b="b"/>
              <a:pathLst>
                <a:path w="1143000" h="304800">
                  <a:moveTo>
                    <a:pt x="1143000" y="0"/>
                  </a:moveTo>
                  <a:lnTo>
                    <a:pt x="0" y="0"/>
                  </a:lnTo>
                  <a:lnTo>
                    <a:pt x="0" y="304800"/>
                  </a:lnTo>
                  <a:lnTo>
                    <a:pt x="1143000" y="304800"/>
                  </a:lnTo>
                  <a:lnTo>
                    <a:pt x="1143000" y="0"/>
                  </a:lnTo>
                  <a:close/>
                </a:path>
              </a:pathLst>
            </a:custGeom>
            <a:solidFill>
              <a:srgbClr val="FFFFFF"/>
            </a:solidFill>
          </p:spPr>
          <p:txBody>
            <a:bodyPr wrap="square" lIns="0" tIns="0" rIns="0" bIns="0" rtlCol="0"/>
            <a:lstStyle/>
            <a:p>
              <a:endParaRPr/>
            </a:p>
          </p:txBody>
        </p:sp>
        <p:sp>
          <p:nvSpPr>
            <p:cNvPr id="10" name="object 10"/>
            <p:cNvSpPr/>
            <p:nvPr/>
          </p:nvSpPr>
          <p:spPr>
            <a:xfrm>
              <a:off x="3569207" y="2182367"/>
              <a:ext cx="1143000" cy="304800"/>
            </a:xfrm>
            <a:custGeom>
              <a:avLst/>
              <a:gdLst/>
              <a:ahLst/>
              <a:cxnLst/>
              <a:rect l="l" t="t" r="r" b="b"/>
              <a:pathLst>
                <a:path w="1143000" h="304800">
                  <a:moveTo>
                    <a:pt x="0" y="304800"/>
                  </a:moveTo>
                  <a:lnTo>
                    <a:pt x="1143000" y="304800"/>
                  </a:lnTo>
                  <a:lnTo>
                    <a:pt x="1143000" y="0"/>
                  </a:lnTo>
                  <a:lnTo>
                    <a:pt x="0" y="0"/>
                  </a:lnTo>
                  <a:lnTo>
                    <a:pt x="0" y="304800"/>
                  </a:lnTo>
                  <a:close/>
                </a:path>
              </a:pathLst>
            </a:custGeom>
            <a:ln w="9144">
              <a:solidFill>
                <a:srgbClr val="000000"/>
              </a:solidFill>
            </a:ln>
          </p:spPr>
          <p:txBody>
            <a:bodyPr wrap="square" lIns="0" tIns="0" rIns="0" bIns="0" rtlCol="0"/>
            <a:lstStyle/>
            <a:p>
              <a:endParaRPr/>
            </a:p>
          </p:txBody>
        </p:sp>
        <p:sp>
          <p:nvSpPr>
            <p:cNvPr id="11" name="object 11"/>
            <p:cNvSpPr/>
            <p:nvPr/>
          </p:nvSpPr>
          <p:spPr>
            <a:xfrm>
              <a:off x="3569207" y="2563367"/>
              <a:ext cx="1143000" cy="304800"/>
            </a:xfrm>
            <a:custGeom>
              <a:avLst/>
              <a:gdLst/>
              <a:ahLst/>
              <a:cxnLst/>
              <a:rect l="l" t="t" r="r" b="b"/>
              <a:pathLst>
                <a:path w="1143000" h="304800">
                  <a:moveTo>
                    <a:pt x="1143000" y="0"/>
                  </a:moveTo>
                  <a:lnTo>
                    <a:pt x="0" y="0"/>
                  </a:lnTo>
                  <a:lnTo>
                    <a:pt x="0" y="304800"/>
                  </a:lnTo>
                  <a:lnTo>
                    <a:pt x="1143000" y="304800"/>
                  </a:lnTo>
                  <a:lnTo>
                    <a:pt x="1143000" y="0"/>
                  </a:lnTo>
                  <a:close/>
                </a:path>
              </a:pathLst>
            </a:custGeom>
            <a:solidFill>
              <a:srgbClr val="FFFFFF"/>
            </a:solidFill>
          </p:spPr>
          <p:txBody>
            <a:bodyPr wrap="square" lIns="0" tIns="0" rIns="0" bIns="0" rtlCol="0"/>
            <a:lstStyle/>
            <a:p>
              <a:endParaRPr/>
            </a:p>
          </p:txBody>
        </p:sp>
        <p:sp>
          <p:nvSpPr>
            <p:cNvPr id="12" name="object 12"/>
            <p:cNvSpPr/>
            <p:nvPr/>
          </p:nvSpPr>
          <p:spPr>
            <a:xfrm>
              <a:off x="3569207" y="2563367"/>
              <a:ext cx="1143000" cy="1143000"/>
            </a:xfrm>
            <a:custGeom>
              <a:avLst/>
              <a:gdLst/>
              <a:ahLst/>
              <a:cxnLst/>
              <a:rect l="l" t="t" r="r" b="b"/>
              <a:pathLst>
                <a:path w="1143000" h="1143000">
                  <a:moveTo>
                    <a:pt x="0" y="304800"/>
                  </a:moveTo>
                  <a:lnTo>
                    <a:pt x="1143000" y="304800"/>
                  </a:lnTo>
                  <a:lnTo>
                    <a:pt x="1143000" y="0"/>
                  </a:lnTo>
                  <a:lnTo>
                    <a:pt x="0" y="0"/>
                  </a:lnTo>
                  <a:lnTo>
                    <a:pt x="0" y="304800"/>
                  </a:lnTo>
                  <a:close/>
                </a:path>
                <a:path w="1143000" h="1143000">
                  <a:moveTo>
                    <a:pt x="0" y="1143000"/>
                  </a:moveTo>
                  <a:lnTo>
                    <a:pt x="1143000" y="1143000"/>
                  </a:lnTo>
                  <a:lnTo>
                    <a:pt x="1143000" y="838200"/>
                  </a:lnTo>
                  <a:lnTo>
                    <a:pt x="0" y="838200"/>
                  </a:lnTo>
                  <a:lnTo>
                    <a:pt x="0" y="1143000"/>
                  </a:lnTo>
                  <a:close/>
                </a:path>
              </a:pathLst>
            </a:custGeom>
            <a:ln w="9144">
              <a:solidFill>
                <a:srgbClr val="000000"/>
              </a:solidFill>
            </a:ln>
          </p:spPr>
          <p:txBody>
            <a:bodyPr wrap="square" lIns="0" tIns="0" rIns="0" bIns="0" rtlCol="0"/>
            <a:lstStyle/>
            <a:p>
              <a:endParaRPr/>
            </a:p>
          </p:txBody>
        </p:sp>
        <p:sp>
          <p:nvSpPr>
            <p:cNvPr id="13" name="object 13"/>
            <p:cNvSpPr/>
            <p:nvPr/>
          </p:nvSpPr>
          <p:spPr>
            <a:xfrm>
              <a:off x="4136135" y="3020567"/>
              <a:ext cx="1905" cy="228600"/>
            </a:xfrm>
            <a:custGeom>
              <a:avLst/>
              <a:gdLst/>
              <a:ahLst/>
              <a:cxnLst/>
              <a:rect l="l" t="t" r="r" b="b"/>
              <a:pathLst>
                <a:path w="1904" h="228600">
                  <a:moveTo>
                    <a:pt x="0" y="0"/>
                  </a:moveTo>
                  <a:lnTo>
                    <a:pt x="1524" y="228600"/>
                  </a:lnTo>
                </a:path>
              </a:pathLst>
            </a:custGeom>
            <a:ln w="76200">
              <a:solidFill>
                <a:srgbClr val="000000"/>
              </a:solidFill>
              <a:prstDash val="sysDot"/>
            </a:ln>
          </p:spPr>
          <p:txBody>
            <a:bodyPr wrap="square" lIns="0" tIns="0" rIns="0" bIns="0" rtlCol="0"/>
            <a:lstStyle/>
            <a:p>
              <a:endParaRPr/>
            </a:p>
          </p:txBody>
        </p:sp>
        <p:sp>
          <p:nvSpPr>
            <p:cNvPr id="14" name="object 14"/>
            <p:cNvSpPr/>
            <p:nvPr/>
          </p:nvSpPr>
          <p:spPr>
            <a:xfrm>
              <a:off x="6464807" y="1801367"/>
              <a:ext cx="1143000" cy="304800"/>
            </a:xfrm>
            <a:custGeom>
              <a:avLst/>
              <a:gdLst/>
              <a:ahLst/>
              <a:cxnLst/>
              <a:rect l="l" t="t" r="r" b="b"/>
              <a:pathLst>
                <a:path w="1143000" h="304800">
                  <a:moveTo>
                    <a:pt x="1142999" y="0"/>
                  </a:moveTo>
                  <a:lnTo>
                    <a:pt x="0" y="0"/>
                  </a:lnTo>
                  <a:lnTo>
                    <a:pt x="0" y="304800"/>
                  </a:lnTo>
                  <a:lnTo>
                    <a:pt x="1142999" y="304800"/>
                  </a:lnTo>
                  <a:lnTo>
                    <a:pt x="1142999" y="0"/>
                  </a:lnTo>
                  <a:close/>
                </a:path>
              </a:pathLst>
            </a:custGeom>
            <a:solidFill>
              <a:srgbClr val="FFFFFF"/>
            </a:solidFill>
          </p:spPr>
          <p:txBody>
            <a:bodyPr wrap="square" lIns="0" tIns="0" rIns="0" bIns="0" rtlCol="0"/>
            <a:lstStyle/>
            <a:p>
              <a:endParaRPr/>
            </a:p>
          </p:txBody>
        </p:sp>
        <p:sp>
          <p:nvSpPr>
            <p:cNvPr id="15" name="object 15"/>
            <p:cNvSpPr/>
            <p:nvPr/>
          </p:nvSpPr>
          <p:spPr>
            <a:xfrm>
              <a:off x="6464807" y="1801367"/>
              <a:ext cx="1143000" cy="304800"/>
            </a:xfrm>
            <a:custGeom>
              <a:avLst/>
              <a:gdLst/>
              <a:ahLst/>
              <a:cxnLst/>
              <a:rect l="l" t="t" r="r" b="b"/>
              <a:pathLst>
                <a:path w="1143000" h="304800">
                  <a:moveTo>
                    <a:pt x="0" y="304800"/>
                  </a:moveTo>
                  <a:lnTo>
                    <a:pt x="1142999" y="304800"/>
                  </a:lnTo>
                  <a:lnTo>
                    <a:pt x="1142999" y="0"/>
                  </a:lnTo>
                  <a:lnTo>
                    <a:pt x="0" y="0"/>
                  </a:lnTo>
                  <a:lnTo>
                    <a:pt x="0" y="304800"/>
                  </a:lnTo>
                  <a:close/>
                </a:path>
              </a:pathLst>
            </a:custGeom>
            <a:ln w="9144">
              <a:solidFill>
                <a:srgbClr val="000000"/>
              </a:solidFill>
            </a:ln>
          </p:spPr>
          <p:txBody>
            <a:bodyPr wrap="square" lIns="0" tIns="0" rIns="0" bIns="0" rtlCol="0"/>
            <a:lstStyle/>
            <a:p>
              <a:endParaRPr/>
            </a:p>
          </p:txBody>
        </p:sp>
        <p:sp>
          <p:nvSpPr>
            <p:cNvPr id="16" name="object 16"/>
            <p:cNvSpPr/>
            <p:nvPr/>
          </p:nvSpPr>
          <p:spPr>
            <a:xfrm>
              <a:off x="6464807" y="2182367"/>
              <a:ext cx="1143000" cy="304800"/>
            </a:xfrm>
            <a:custGeom>
              <a:avLst/>
              <a:gdLst/>
              <a:ahLst/>
              <a:cxnLst/>
              <a:rect l="l" t="t" r="r" b="b"/>
              <a:pathLst>
                <a:path w="1143000" h="304800">
                  <a:moveTo>
                    <a:pt x="1142999" y="0"/>
                  </a:moveTo>
                  <a:lnTo>
                    <a:pt x="0" y="0"/>
                  </a:lnTo>
                  <a:lnTo>
                    <a:pt x="0" y="304800"/>
                  </a:lnTo>
                  <a:lnTo>
                    <a:pt x="1142999" y="304800"/>
                  </a:lnTo>
                  <a:lnTo>
                    <a:pt x="1142999" y="0"/>
                  </a:lnTo>
                  <a:close/>
                </a:path>
              </a:pathLst>
            </a:custGeom>
            <a:solidFill>
              <a:srgbClr val="FFFFFF"/>
            </a:solidFill>
          </p:spPr>
          <p:txBody>
            <a:bodyPr wrap="square" lIns="0" tIns="0" rIns="0" bIns="0" rtlCol="0"/>
            <a:lstStyle/>
            <a:p>
              <a:endParaRPr/>
            </a:p>
          </p:txBody>
        </p:sp>
        <p:sp>
          <p:nvSpPr>
            <p:cNvPr id="17" name="object 17"/>
            <p:cNvSpPr/>
            <p:nvPr/>
          </p:nvSpPr>
          <p:spPr>
            <a:xfrm>
              <a:off x="6464807" y="2182367"/>
              <a:ext cx="1143000" cy="304800"/>
            </a:xfrm>
            <a:custGeom>
              <a:avLst/>
              <a:gdLst/>
              <a:ahLst/>
              <a:cxnLst/>
              <a:rect l="l" t="t" r="r" b="b"/>
              <a:pathLst>
                <a:path w="1143000" h="304800">
                  <a:moveTo>
                    <a:pt x="0" y="304800"/>
                  </a:moveTo>
                  <a:lnTo>
                    <a:pt x="1142999" y="304800"/>
                  </a:lnTo>
                  <a:lnTo>
                    <a:pt x="1142999" y="0"/>
                  </a:lnTo>
                  <a:lnTo>
                    <a:pt x="0" y="0"/>
                  </a:lnTo>
                  <a:lnTo>
                    <a:pt x="0" y="304800"/>
                  </a:lnTo>
                  <a:close/>
                </a:path>
              </a:pathLst>
            </a:custGeom>
            <a:ln w="9144">
              <a:solidFill>
                <a:srgbClr val="000000"/>
              </a:solidFill>
            </a:ln>
          </p:spPr>
          <p:txBody>
            <a:bodyPr wrap="square" lIns="0" tIns="0" rIns="0" bIns="0" rtlCol="0"/>
            <a:lstStyle/>
            <a:p>
              <a:endParaRPr/>
            </a:p>
          </p:txBody>
        </p:sp>
        <p:sp>
          <p:nvSpPr>
            <p:cNvPr id="18" name="object 18"/>
            <p:cNvSpPr/>
            <p:nvPr/>
          </p:nvSpPr>
          <p:spPr>
            <a:xfrm>
              <a:off x="6464807" y="2563367"/>
              <a:ext cx="1143000" cy="304800"/>
            </a:xfrm>
            <a:custGeom>
              <a:avLst/>
              <a:gdLst/>
              <a:ahLst/>
              <a:cxnLst/>
              <a:rect l="l" t="t" r="r" b="b"/>
              <a:pathLst>
                <a:path w="1143000" h="304800">
                  <a:moveTo>
                    <a:pt x="1142999" y="0"/>
                  </a:moveTo>
                  <a:lnTo>
                    <a:pt x="0" y="0"/>
                  </a:lnTo>
                  <a:lnTo>
                    <a:pt x="0" y="304800"/>
                  </a:lnTo>
                  <a:lnTo>
                    <a:pt x="1142999" y="304800"/>
                  </a:lnTo>
                  <a:lnTo>
                    <a:pt x="1142999" y="0"/>
                  </a:lnTo>
                  <a:close/>
                </a:path>
              </a:pathLst>
            </a:custGeom>
            <a:solidFill>
              <a:srgbClr val="FFFFFF"/>
            </a:solidFill>
          </p:spPr>
          <p:txBody>
            <a:bodyPr wrap="square" lIns="0" tIns="0" rIns="0" bIns="0" rtlCol="0"/>
            <a:lstStyle/>
            <a:p>
              <a:endParaRPr/>
            </a:p>
          </p:txBody>
        </p:sp>
        <p:sp>
          <p:nvSpPr>
            <p:cNvPr id="19" name="object 19"/>
            <p:cNvSpPr/>
            <p:nvPr/>
          </p:nvSpPr>
          <p:spPr>
            <a:xfrm>
              <a:off x="6464807" y="2563367"/>
              <a:ext cx="1143000" cy="1143000"/>
            </a:xfrm>
            <a:custGeom>
              <a:avLst/>
              <a:gdLst/>
              <a:ahLst/>
              <a:cxnLst/>
              <a:rect l="l" t="t" r="r" b="b"/>
              <a:pathLst>
                <a:path w="1143000" h="1143000">
                  <a:moveTo>
                    <a:pt x="0" y="304800"/>
                  </a:moveTo>
                  <a:lnTo>
                    <a:pt x="1142999" y="304800"/>
                  </a:lnTo>
                  <a:lnTo>
                    <a:pt x="1142999" y="0"/>
                  </a:lnTo>
                  <a:lnTo>
                    <a:pt x="0" y="0"/>
                  </a:lnTo>
                  <a:lnTo>
                    <a:pt x="0" y="304800"/>
                  </a:lnTo>
                  <a:close/>
                </a:path>
                <a:path w="1143000" h="1143000">
                  <a:moveTo>
                    <a:pt x="0" y="1143000"/>
                  </a:moveTo>
                  <a:lnTo>
                    <a:pt x="1142999" y="1143000"/>
                  </a:lnTo>
                  <a:lnTo>
                    <a:pt x="1142999" y="838200"/>
                  </a:lnTo>
                  <a:lnTo>
                    <a:pt x="0" y="838200"/>
                  </a:lnTo>
                  <a:lnTo>
                    <a:pt x="0" y="1143000"/>
                  </a:lnTo>
                  <a:close/>
                </a:path>
              </a:pathLst>
            </a:custGeom>
            <a:ln w="9144">
              <a:solidFill>
                <a:srgbClr val="000000"/>
              </a:solidFill>
            </a:ln>
          </p:spPr>
          <p:txBody>
            <a:bodyPr wrap="square" lIns="0" tIns="0" rIns="0" bIns="0" rtlCol="0"/>
            <a:lstStyle/>
            <a:p>
              <a:endParaRPr/>
            </a:p>
          </p:txBody>
        </p:sp>
        <p:sp>
          <p:nvSpPr>
            <p:cNvPr id="20" name="object 20"/>
            <p:cNvSpPr/>
            <p:nvPr/>
          </p:nvSpPr>
          <p:spPr>
            <a:xfrm>
              <a:off x="7031736" y="3020567"/>
              <a:ext cx="1905" cy="228600"/>
            </a:xfrm>
            <a:custGeom>
              <a:avLst/>
              <a:gdLst/>
              <a:ahLst/>
              <a:cxnLst/>
              <a:rect l="l" t="t" r="r" b="b"/>
              <a:pathLst>
                <a:path w="1904" h="228600">
                  <a:moveTo>
                    <a:pt x="0" y="0"/>
                  </a:moveTo>
                  <a:lnTo>
                    <a:pt x="1524" y="228600"/>
                  </a:lnTo>
                </a:path>
              </a:pathLst>
            </a:custGeom>
            <a:ln w="76200">
              <a:solidFill>
                <a:srgbClr val="000000"/>
              </a:solidFill>
              <a:prstDash val="sysDot"/>
            </a:ln>
          </p:spPr>
          <p:txBody>
            <a:bodyPr wrap="square" lIns="0" tIns="0" rIns="0" bIns="0" rtlCol="0"/>
            <a:lstStyle/>
            <a:p>
              <a:endParaRPr/>
            </a:p>
          </p:txBody>
        </p:sp>
        <p:sp>
          <p:nvSpPr>
            <p:cNvPr id="21" name="object 21"/>
            <p:cNvSpPr/>
            <p:nvPr/>
          </p:nvSpPr>
          <p:spPr>
            <a:xfrm>
              <a:off x="3006852" y="1912365"/>
              <a:ext cx="5925820" cy="1681480"/>
            </a:xfrm>
            <a:custGeom>
              <a:avLst/>
              <a:gdLst/>
              <a:ahLst/>
              <a:cxnLst/>
              <a:rect l="l" t="t" r="r" b="b"/>
              <a:pathLst>
                <a:path w="5925820" h="1681479">
                  <a:moveTo>
                    <a:pt x="457200" y="728726"/>
                  </a:moveTo>
                  <a:lnTo>
                    <a:pt x="444093" y="722122"/>
                  </a:lnTo>
                  <a:lnTo>
                    <a:pt x="393700" y="696722"/>
                  </a:lnTo>
                  <a:lnTo>
                    <a:pt x="393700" y="734822"/>
                  </a:lnTo>
                  <a:lnTo>
                    <a:pt x="380974" y="734822"/>
                  </a:lnTo>
                  <a:lnTo>
                    <a:pt x="393700" y="734822"/>
                  </a:lnTo>
                  <a:lnTo>
                    <a:pt x="393700" y="696722"/>
                  </a:lnTo>
                  <a:lnTo>
                    <a:pt x="381127" y="690372"/>
                  </a:lnTo>
                  <a:lnTo>
                    <a:pt x="381025" y="720852"/>
                  </a:lnTo>
                  <a:lnTo>
                    <a:pt x="381012" y="722083"/>
                  </a:lnTo>
                  <a:lnTo>
                    <a:pt x="0" y="720852"/>
                  </a:lnTo>
                  <a:lnTo>
                    <a:pt x="0" y="733552"/>
                  </a:lnTo>
                  <a:lnTo>
                    <a:pt x="380961" y="734783"/>
                  </a:lnTo>
                  <a:lnTo>
                    <a:pt x="380873" y="766572"/>
                  </a:lnTo>
                  <a:lnTo>
                    <a:pt x="444893" y="734822"/>
                  </a:lnTo>
                  <a:lnTo>
                    <a:pt x="457200" y="728726"/>
                  </a:lnTo>
                  <a:close/>
                </a:path>
                <a:path w="5925820" h="1681479">
                  <a:moveTo>
                    <a:pt x="2238756" y="1643126"/>
                  </a:moveTo>
                  <a:lnTo>
                    <a:pt x="2225649" y="1636522"/>
                  </a:lnTo>
                  <a:lnTo>
                    <a:pt x="2175256" y="1611122"/>
                  </a:lnTo>
                  <a:lnTo>
                    <a:pt x="2175256" y="1649222"/>
                  </a:lnTo>
                  <a:lnTo>
                    <a:pt x="2162530" y="1649222"/>
                  </a:lnTo>
                  <a:lnTo>
                    <a:pt x="2175256" y="1649222"/>
                  </a:lnTo>
                  <a:lnTo>
                    <a:pt x="2175256" y="1611122"/>
                  </a:lnTo>
                  <a:lnTo>
                    <a:pt x="2162683" y="1604772"/>
                  </a:lnTo>
                  <a:lnTo>
                    <a:pt x="2162581" y="1635252"/>
                  </a:lnTo>
                  <a:lnTo>
                    <a:pt x="2162568" y="1636483"/>
                  </a:lnTo>
                  <a:lnTo>
                    <a:pt x="1781556" y="1635252"/>
                  </a:lnTo>
                  <a:lnTo>
                    <a:pt x="1781556" y="1647952"/>
                  </a:lnTo>
                  <a:lnTo>
                    <a:pt x="2162518" y="1649183"/>
                  </a:lnTo>
                  <a:lnTo>
                    <a:pt x="2162429" y="1680972"/>
                  </a:lnTo>
                  <a:lnTo>
                    <a:pt x="2226449" y="1649222"/>
                  </a:lnTo>
                  <a:lnTo>
                    <a:pt x="2238756" y="1643126"/>
                  </a:lnTo>
                  <a:close/>
                </a:path>
                <a:path w="5925820" h="1681479">
                  <a:moveTo>
                    <a:pt x="2238756" y="804926"/>
                  </a:moveTo>
                  <a:lnTo>
                    <a:pt x="2225649" y="798322"/>
                  </a:lnTo>
                  <a:lnTo>
                    <a:pt x="2175256" y="772922"/>
                  </a:lnTo>
                  <a:lnTo>
                    <a:pt x="2175256" y="811022"/>
                  </a:lnTo>
                  <a:lnTo>
                    <a:pt x="2162530" y="811022"/>
                  </a:lnTo>
                  <a:lnTo>
                    <a:pt x="2175256" y="811022"/>
                  </a:lnTo>
                  <a:lnTo>
                    <a:pt x="2175256" y="772922"/>
                  </a:lnTo>
                  <a:lnTo>
                    <a:pt x="2162683" y="766572"/>
                  </a:lnTo>
                  <a:lnTo>
                    <a:pt x="2162581" y="797052"/>
                  </a:lnTo>
                  <a:lnTo>
                    <a:pt x="2162568" y="798283"/>
                  </a:lnTo>
                  <a:lnTo>
                    <a:pt x="1781556" y="797052"/>
                  </a:lnTo>
                  <a:lnTo>
                    <a:pt x="1781556" y="809752"/>
                  </a:lnTo>
                  <a:lnTo>
                    <a:pt x="2162518" y="810983"/>
                  </a:lnTo>
                  <a:lnTo>
                    <a:pt x="2162429" y="842772"/>
                  </a:lnTo>
                  <a:lnTo>
                    <a:pt x="2226449" y="811022"/>
                  </a:lnTo>
                  <a:lnTo>
                    <a:pt x="2238756" y="804926"/>
                  </a:lnTo>
                  <a:close/>
                </a:path>
                <a:path w="5925820" h="1681479">
                  <a:moveTo>
                    <a:pt x="2238756" y="423926"/>
                  </a:moveTo>
                  <a:lnTo>
                    <a:pt x="2225649" y="417322"/>
                  </a:lnTo>
                  <a:lnTo>
                    <a:pt x="2175256" y="391922"/>
                  </a:lnTo>
                  <a:lnTo>
                    <a:pt x="2175256" y="430022"/>
                  </a:lnTo>
                  <a:lnTo>
                    <a:pt x="2162530" y="430022"/>
                  </a:lnTo>
                  <a:lnTo>
                    <a:pt x="2175256" y="430022"/>
                  </a:lnTo>
                  <a:lnTo>
                    <a:pt x="2175256" y="391922"/>
                  </a:lnTo>
                  <a:lnTo>
                    <a:pt x="2162683" y="385572"/>
                  </a:lnTo>
                  <a:lnTo>
                    <a:pt x="2162581" y="416052"/>
                  </a:lnTo>
                  <a:lnTo>
                    <a:pt x="2162568" y="417283"/>
                  </a:lnTo>
                  <a:lnTo>
                    <a:pt x="1781556" y="416052"/>
                  </a:lnTo>
                  <a:lnTo>
                    <a:pt x="1781556" y="428752"/>
                  </a:lnTo>
                  <a:lnTo>
                    <a:pt x="2162518" y="429983"/>
                  </a:lnTo>
                  <a:lnTo>
                    <a:pt x="2162429" y="461772"/>
                  </a:lnTo>
                  <a:lnTo>
                    <a:pt x="2226449" y="430022"/>
                  </a:lnTo>
                  <a:lnTo>
                    <a:pt x="2238756" y="423926"/>
                  </a:lnTo>
                  <a:close/>
                </a:path>
                <a:path w="5925820" h="1681479">
                  <a:moveTo>
                    <a:pt x="2238756" y="42926"/>
                  </a:moveTo>
                  <a:lnTo>
                    <a:pt x="2225649" y="36322"/>
                  </a:lnTo>
                  <a:lnTo>
                    <a:pt x="2175256" y="10922"/>
                  </a:lnTo>
                  <a:lnTo>
                    <a:pt x="2175256" y="49022"/>
                  </a:lnTo>
                  <a:lnTo>
                    <a:pt x="2162530" y="49022"/>
                  </a:lnTo>
                  <a:lnTo>
                    <a:pt x="2175256" y="49022"/>
                  </a:lnTo>
                  <a:lnTo>
                    <a:pt x="2175256" y="10922"/>
                  </a:lnTo>
                  <a:lnTo>
                    <a:pt x="2162683" y="4572"/>
                  </a:lnTo>
                  <a:lnTo>
                    <a:pt x="2162581" y="35052"/>
                  </a:lnTo>
                  <a:lnTo>
                    <a:pt x="2162568" y="36283"/>
                  </a:lnTo>
                  <a:lnTo>
                    <a:pt x="1781556" y="35052"/>
                  </a:lnTo>
                  <a:lnTo>
                    <a:pt x="1781556" y="47752"/>
                  </a:lnTo>
                  <a:lnTo>
                    <a:pt x="2162518" y="48983"/>
                  </a:lnTo>
                  <a:lnTo>
                    <a:pt x="2162429" y="80772"/>
                  </a:lnTo>
                  <a:lnTo>
                    <a:pt x="2226449" y="49022"/>
                  </a:lnTo>
                  <a:lnTo>
                    <a:pt x="2238756" y="42926"/>
                  </a:lnTo>
                  <a:close/>
                </a:path>
                <a:path w="5925820" h="1681479">
                  <a:moveTo>
                    <a:pt x="3381756" y="1638566"/>
                  </a:moveTo>
                  <a:lnTo>
                    <a:pt x="3368649" y="1631962"/>
                  </a:lnTo>
                  <a:lnTo>
                    <a:pt x="3318256" y="1606550"/>
                  </a:lnTo>
                  <a:lnTo>
                    <a:pt x="3318256" y="1644662"/>
                  </a:lnTo>
                  <a:lnTo>
                    <a:pt x="3305530" y="1644662"/>
                  </a:lnTo>
                  <a:lnTo>
                    <a:pt x="3318256" y="1644662"/>
                  </a:lnTo>
                  <a:lnTo>
                    <a:pt x="3318256" y="1606550"/>
                  </a:lnTo>
                  <a:lnTo>
                    <a:pt x="3305683" y="1600200"/>
                  </a:lnTo>
                  <a:lnTo>
                    <a:pt x="3305581" y="1630692"/>
                  </a:lnTo>
                  <a:lnTo>
                    <a:pt x="3305568" y="1631924"/>
                  </a:lnTo>
                  <a:lnTo>
                    <a:pt x="2924556" y="1630692"/>
                  </a:lnTo>
                  <a:lnTo>
                    <a:pt x="2924556" y="1643392"/>
                  </a:lnTo>
                  <a:lnTo>
                    <a:pt x="3305518" y="1644624"/>
                  </a:lnTo>
                  <a:lnTo>
                    <a:pt x="3305429" y="1676412"/>
                  </a:lnTo>
                  <a:lnTo>
                    <a:pt x="3369449" y="1644662"/>
                  </a:lnTo>
                  <a:lnTo>
                    <a:pt x="3381756" y="1638566"/>
                  </a:lnTo>
                  <a:close/>
                </a:path>
                <a:path w="5925820" h="1681479">
                  <a:moveTo>
                    <a:pt x="3381756" y="800354"/>
                  </a:moveTo>
                  <a:lnTo>
                    <a:pt x="3368649" y="793750"/>
                  </a:lnTo>
                  <a:lnTo>
                    <a:pt x="3318256" y="768350"/>
                  </a:lnTo>
                  <a:lnTo>
                    <a:pt x="3318256" y="806450"/>
                  </a:lnTo>
                  <a:lnTo>
                    <a:pt x="3305530" y="806450"/>
                  </a:lnTo>
                  <a:lnTo>
                    <a:pt x="3318256" y="806450"/>
                  </a:lnTo>
                  <a:lnTo>
                    <a:pt x="3318256" y="768350"/>
                  </a:lnTo>
                  <a:lnTo>
                    <a:pt x="3305683" y="762000"/>
                  </a:lnTo>
                  <a:lnTo>
                    <a:pt x="3305581" y="792480"/>
                  </a:lnTo>
                  <a:lnTo>
                    <a:pt x="3305568" y="793711"/>
                  </a:lnTo>
                  <a:lnTo>
                    <a:pt x="2924556" y="792480"/>
                  </a:lnTo>
                  <a:lnTo>
                    <a:pt x="2924556" y="805180"/>
                  </a:lnTo>
                  <a:lnTo>
                    <a:pt x="3305518" y="806411"/>
                  </a:lnTo>
                  <a:lnTo>
                    <a:pt x="3305429" y="838200"/>
                  </a:lnTo>
                  <a:lnTo>
                    <a:pt x="3369449" y="806450"/>
                  </a:lnTo>
                  <a:lnTo>
                    <a:pt x="3381756" y="800354"/>
                  </a:lnTo>
                  <a:close/>
                </a:path>
                <a:path w="5925820" h="1681479">
                  <a:moveTo>
                    <a:pt x="3381756" y="419354"/>
                  </a:moveTo>
                  <a:lnTo>
                    <a:pt x="3368649" y="412750"/>
                  </a:lnTo>
                  <a:lnTo>
                    <a:pt x="3318256" y="387350"/>
                  </a:lnTo>
                  <a:lnTo>
                    <a:pt x="3318256" y="425450"/>
                  </a:lnTo>
                  <a:lnTo>
                    <a:pt x="3305530" y="425450"/>
                  </a:lnTo>
                  <a:lnTo>
                    <a:pt x="3318256" y="425450"/>
                  </a:lnTo>
                  <a:lnTo>
                    <a:pt x="3318256" y="387350"/>
                  </a:lnTo>
                  <a:lnTo>
                    <a:pt x="3305683" y="381000"/>
                  </a:lnTo>
                  <a:lnTo>
                    <a:pt x="3305581" y="411480"/>
                  </a:lnTo>
                  <a:lnTo>
                    <a:pt x="3305568" y="412711"/>
                  </a:lnTo>
                  <a:lnTo>
                    <a:pt x="2924556" y="411480"/>
                  </a:lnTo>
                  <a:lnTo>
                    <a:pt x="2924556" y="424180"/>
                  </a:lnTo>
                  <a:lnTo>
                    <a:pt x="3305518" y="425411"/>
                  </a:lnTo>
                  <a:lnTo>
                    <a:pt x="3305429" y="457200"/>
                  </a:lnTo>
                  <a:lnTo>
                    <a:pt x="3369449" y="425450"/>
                  </a:lnTo>
                  <a:lnTo>
                    <a:pt x="3381756" y="419354"/>
                  </a:lnTo>
                  <a:close/>
                </a:path>
                <a:path w="5925820" h="1681479">
                  <a:moveTo>
                    <a:pt x="3381756" y="38354"/>
                  </a:moveTo>
                  <a:lnTo>
                    <a:pt x="3368649" y="31750"/>
                  </a:lnTo>
                  <a:lnTo>
                    <a:pt x="3318256" y="6350"/>
                  </a:lnTo>
                  <a:lnTo>
                    <a:pt x="3318256" y="44450"/>
                  </a:lnTo>
                  <a:lnTo>
                    <a:pt x="3305530" y="44450"/>
                  </a:lnTo>
                  <a:lnTo>
                    <a:pt x="3318256" y="44450"/>
                  </a:lnTo>
                  <a:lnTo>
                    <a:pt x="3318256" y="6350"/>
                  </a:lnTo>
                  <a:lnTo>
                    <a:pt x="3305683" y="0"/>
                  </a:lnTo>
                  <a:lnTo>
                    <a:pt x="3305581" y="30480"/>
                  </a:lnTo>
                  <a:lnTo>
                    <a:pt x="3305568" y="31711"/>
                  </a:lnTo>
                  <a:lnTo>
                    <a:pt x="2924556" y="30480"/>
                  </a:lnTo>
                  <a:lnTo>
                    <a:pt x="2924556" y="43180"/>
                  </a:lnTo>
                  <a:lnTo>
                    <a:pt x="3305518" y="44411"/>
                  </a:lnTo>
                  <a:lnTo>
                    <a:pt x="3305429" y="76200"/>
                  </a:lnTo>
                  <a:lnTo>
                    <a:pt x="3369449" y="44450"/>
                  </a:lnTo>
                  <a:lnTo>
                    <a:pt x="3381756" y="38354"/>
                  </a:lnTo>
                  <a:close/>
                </a:path>
                <a:path w="5925820" h="1681479">
                  <a:moveTo>
                    <a:pt x="4981956" y="757682"/>
                  </a:moveTo>
                  <a:lnTo>
                    <a:pt x="4968646" y="750951"/>
                  </a:lnTo>
                  <a:lnTo>
                    <a:pt x="4905883" y="719201"/>
                  </a:lnTo>
                  <a:lnTo>
                    <a:pt x="4905718" y="750900"/>
                  </a:lnTo>
                  <a:lnTo>
                    <a:pt x="4677156" y="749808"/>
                  </a:lnTo>
                  <a:lnTo>
                    <a:pt x="4677156" y="762508"/>
                  </a:lnTo>
                  <a:lnTo>
                    <a:pt x="4905654" y="763600"/>
                  </a:lnTo>
                  <a:lnTo>
                    <a:pt x="4918456" y="763651"/>
                  </a:lnTo>
                  <a:lnTo>
                    <a:pt x="4905654" y="763651"/>
                  </a:lnTo>
                  <a:lnTo>
                    <a:pt x="4905502" y="795401"/>
                  </a:lnTo>
                  <a:lnTo>
                    <a:pt x="4969853" y="763651"/>
                  </a:lnTo>
                  <a:lnTo>
                    <a:pt x="4981956" y="757682"/>
                  </a:lnTo>
                  <a:close/>
                </a:path>
                <a:path w="5925820" h="1681479">
                  <a:moveTo>
                    <a:pt x="5925312" y="757682"/>
                  </a:moveTo>
                  <a:lnTo>
                    <a:pt x="5912002" y="750951"/>
                  </a:lnTo>
                  <a:lnTo>
                    <a:pt x="5849239" y="719201"/>
                  </a:lnTo>
                  <a:lnTo>
                    <a:pt x="5849074" y="750900"/>
                  </a:lnTo>
                  <a:lnTo>
                    <a:pt x="5620512" y="749808"/>
                  </a:lnTo>
                  <a:lnTo>
                    <a:pt x="5620512" y="762508"/>
                  </a:lnTo>
                  <a:lnTo>
                    <a:pt x="5849010" y="763600"/>
                  </a:lnTo>
                  <a:lnTo>
                    <a:pt x="5861812" y="763651"/>
                  </a:lnTo>
                  <a:lnTo>
                    <a:pt x="5849010" y="763651"/>
                  </a:lnTo>
                  <a:lnTo>
                    <a:pt x="5848858" y="795401"/>
                  </a:lnTo>
                  <a:lnTo>
                    <a:pt x="5913209" y="763651"/>
                  </a:lnTo>
                  <a:lnTo>
                    <a:pt x="5925312" y="757682"/>
                  </a:lnTo>
                  <a:close/>
                </a:path>
              </a:pathLst>
            </a:custGeom>
            <a:solidFill>
              <a:srgbClr val="000000"/>
            </a:solidFill>
          </p:spPr>
          <p:txBody>
            <a:bodyPr wrap="square" lIns="0" tIns="0" rIns="0" bIns="0" rtlCol="0"/>
            <a:lstStyle/>
            <a:p>
              <a:endParaRPr/>
            </a:p>
          </p:txBody>
        </p:sp>
        <p:sp>
          <p:nvSpPr>
            <p:cNvPr id="22" name="object 22"/>
            <p:cNvSpPr/>
            <p:nvPr/>
          </p:nvSpPr>
          <p:spPr>
            <a:xfrm>
              <a:off x="3340607" y="1572767"/>
              <a:ext cx="5410200" cy="2438400"/>
            </a:xfrm>
            <a:custGeom>
              <a:avLst/>
              <a:gdLst/>
              <a:ahLst/>
              <a:cxnLst/>
              <a:rect l="l" t="t" r="r" b="b"/>
              <a:pathLst>
                <a:path w="5410200" h="2438400">
                  <a:moveTo>
                    <a:pt x="5410199" y="0"/>
                  </a:moveTo>
                  <a:lnTo>
                    <a:pt x="0" y="0"/>
                  </a:lnTo>
                  <a:lnTo>
                    <a:pt x="0" y="2438399"/>
                  </a:lnTo>
                  <a:lnTo>
                    <a:pt x="5410199" y="2438399"/>
                  </a:lnTo>
                  <a:lnTo>
                    <a:pt x="5410199" y="0"/>
                  </a:lnTo>
                  <a:close/>
                </a:path>
              </a:pathLst>
            </a:custGeom>
            <a:solidFill>
              <a:srgbClr val="30B6FC">
                <a:alpha val="67057"/>
              </a:srgbClr>
            </a:solidFill>
          </p:spPr>
          <p:txBody>
            <a:bodyPr wrap="square" lIns="0" tIns="0" rIns="0" bIns="0" rtlCol="0"/>
            <a:lstStyle/>
            <a:p>
              <a:endParaRPr/>
            </a:p>
          </p:txBody>
        </p:sp>
        <p:sp>
          <p:nvSpPr>
            <p:cNvPr id="23" name="object 23"/>
            <p:cNvSpPr/>
            <p:nvPr/>
          </p:nvSpPr>
          <p:spPr>
            <a:xfrm>
              <a:off x="3340607" y="1572767"/>
              <a:ext cx="5410200" cy="2438400"/>
            </a:xfrm>
            <a:custGeom>
              <a:avLst/>
              <a:gdLst/>
              <a:ahLst/>
              <a:cxnLst/>
              <a:rect l="l" t="t" r="r" b="b"/>
              <a:pathLst>
                <a:path w="5410200" h="2438400">
                  <a:moveTo>
                    <a:pt x="0" y="2438399"/>
                  </a:moveTo>
                  <a:lnTo>
                    <a:pt x="5410199" y="2438399"/>
                  </a:lnTo>
                  <a:lnTo>
                    <a:pt x="5410199" y="0"/>
                  </a:lnTo>
                  <a:lnTo>
                    <a:pt x="0" y="0"/>
                  </a:lnTo>
                  <a:lnTo>
                    <a:pt x="0" y="2438399"/>
                  </a:lnTo>
                  <a:close/>
                </a:path>
              </a:pathLst>
            </a:custGeom>
            <a:ln w="9143">
              <a:solidFill>
                <a:srgbClr val="000000"/>
              </a:solidFill>
            </a:ln>
          </p:spPr>
          <p:txBody>
            <a:bodyPr wrap="square" lIns="0" tIns="0" rIns="0" bIns="0" rtlCol="0"/>
            <a:lstStyle/>
            <a:p>
              <a:endParaRPr/>
            </a:p>
          </p:txBody>
        </p:sp>
      </p:grpSp>
      <p:sp>
        <p:nvSpPr>
          <p:cNvPr id="24" name="object 24"/>
          <p:cNvSpPr txBox="1"/>
          <p:nvPr/>
        </p:nvSpPr>
        <p:spPr>
          <a:xfrm>
            <a:off x="1740407" y="1801367"/>
            <a:ext cx="1143000" cy="1905000"/>
          </a:xfrm>
          <a:prstGeom prst="rect">
            <a:avLst/>
          </a:prstGeom>
          <a:ln w="9144">
            <a:solidFill>
              <a:srgbClr val="000000"/>
            </a:solidFill>
          </a:ln>
        </p:spPr>
        <p:txBody>
          <a:bodyPr vert="horz" wrap="square" lIns="0" tIns="166370" rIns="0" bIns="0" rtlCol="0">
            <a:spAutoFit/>
          </a:bodyPr>
          <a:lstStyle/>
          <a:p>
            <a:pPr>
              <a:lnSpc>
                <a:spcPct val="100000"/>
              </a:lnSpc>
              <a:spcBef>
                <a:spcPts val="1310"/>
              </a:spcBef>
            </a:pPr>
            <a:endParaRPr sz="2000">
              <a:latin typeface="Times New Roman"/>
              <a:cs typeface="Times New Roman"/>
            </a:endParaRPr>
          </a:p>
          <a:p>
            <a:pPr marL="326390" marR="327025" indent="-22860" algn="just">
              <a:lnSpc>
                <a:spcPct val="100000"/>
              </a:lnSpc>
            </a:pPr>
            <a:r>
              <a:rPr sz="2000" spc="-50" dirty="0">
                <a:latin typeface="Arial"/>
                <a:cs typeface="Arial"/>
              </a:rPr>
              <a:t>Very </a:t>
            </a:r>
            <a:r>
              <a:rPr sz="2000" spc="-25" dirty="0">
                <a:latin typeface="Arial"/>
                <a:cs typeface="Arial"/>
              </a:rPr>
              <a:t>big </a:t>
            </a:r>
            <a:r>
              <a:rPr sz="2000" spc="-40" dirty="0">
                <a:latin typeface="Arial"/>
                <a:cs typeface="Arial"/>
              </a:rPr>
              <a:t>data</a:t>
            </a:r>
            <a:endParaRPr sz="2000">
              <a:latin typeface="Arial"/>
              <a:cs typeface="Arial"/>
            </a:endParaRPr>
          </a:p>
        </p:txBody>
      </p:sp>
      <p:sp>
        <p:nvSpPr>
          <p:cNvPr id="25" name="object 25"/>
          <p:cNvSpPr txBox="1"/>
          <p:nvPr/>
        </p:nvSpPr>
        <p:spPr>
          <a:xfrm>
            <a:off x="8979407" y="1801367"/>
            <a:ext cx="1143000" cy="1905000"/>
          </a:xfrm>
          <a:prstGeom prst="rect">
            <a:avLst/>
          </a:prstGeom>
          <a:ln w="9144">
            <a:solidFill>
              <a:srgbClr val="000000"/>
            </a:solidFill>
          </a:ln>
        </p:spPr>
        <p:txBody>
          <a:bodyPr vert="horz" wrap="square" lIns="0" tIns="0" rIns="0" bIns="0" rtlCol="0">
            <a:spAutoFit/>
          </a:bodyPr>
          <a:lstStyle/>
          <a:p>
            <a:pPr>
              <a:lnSpc>
                <a:spcPct val="100000"/>
              </a:lnSpc>
            </a:pPr>
            <a:endParaRPr sz="2000">
              <a:latin typeface="Times New Roman"/>
              <a:cs typeface="Times New Roman"/>
            </a:endParaRPr>
          </a:p>
          <a:p>
            <a:pPr>
              <a:lnSpc>
                <a:spcPct val="100000"/>
              </a:lnSpc>
              <a:spcBef>
                <a:spcPts val="910"/>
              </a:spcBef>
            </a:pPr>
            <a:endParaRPr sz="2000">
              <a:latin typeface="Times New Roman"/>
              <a:cs typeface="Times New Roman"/>
            </a:endParaRPr>
          </a:p>
          <a:p>
            <a:pPr marL="203200">
              <a:lnSpc>
                <a:spcPct val="100000"/>
              </a:lnSpc>
            </a:pPr>
            <a:r>
              <a:rPr sz="2000" spc="-10" dirty="0">
                <a:latin typeface="Arial"/>
                <a:cs typeface="Arial"/>
              </a:rPr>
              <a:t>Result</a:t>
            </a:r>
            <a:endParaRPr sz="2000">
              <a:latin typeface="Arial"/>
              <a:cs typeface="Arial"/>
            </a:endParaRPr>
          </a:p>
        </p:txBody>
      </p:sp>
      <p:sp>
        <p:nvSpPr>
          <p:cNvPr id="26" name="object 26"/>
          <p:cNvSpPr txBox="1"/>
          <p:nvPr/>
        </p:nvSpPr>
        <p:spPr>
          <a:xfrm>
            <a:off x="5274564" y="1801367"/>
            <a:ext cx="609600" cy="1905000"/>
          </a:xfrm>
          <a:prstGeom prst="rect">
            <a:avLst/>
          </a:prstGeom>
          <a:solidFill>
            <a:srgbClr val="FFFFFF"/>
          </a:solidFill>
          <a:ln w="9144">
            <a:solidFill>
              <a:srgbClr val="000000"/>
            </a:solidFill>
          </a:ln>
        </p:spPr>
        <p:txBody>
          <a:bodyPr vert="horz" wrap="square" lIns="0" tIns="118110" rIns="0" bIns="0" rtlCol="0">
            <a:spAutoFit/>
          </a:bodyPr>
          <a:lstStyle/>
          <a:p>
            <a:pPr>
              <a:lnSpc>
                <a:spcPct val="100000"/>
              </a:lnSpc>
              <a:spcBef>
                <a:spcPts val="930"/>
              </a:spcBef>
            </a:pPr>
            <a:endParaRPr sz="2000">
              <a:latin typeface="Times New Roman"/>
              <a:cs typeface="Times New Roman"/>
            </a:endParaRPr>
          </a:p>
          <a:p>
            <a:pPr marL="205104" marR="209550" indent="-30480" algn="just">
              <a:lnSpc>
                <a:spcPct val="100000"/>
              </a:lnSpc>
              <a:spcBef>
                <a:spcPts val="5"/>
              </a:spcBef>
            </a:pPr>
            <a:r>
              <a:rPr sz="2000" spc="-50" dirty="0">
                <a:latin typeface="Arial"/>
                <a:cs typeface="Arial"/>
              </a:rPr>
              <a:t>M A P</a:t>
            </a:r>
            <a:endParaRPr sz="2000">
              <a:latin typeface="Arial"/>
              <a:cs typeface="Arial"/>
            </a:endParaRPr>
          </a:p>
        </p:txBody>
      </p:sp>
      <p:sp>
        <p:nvSpPr>
          <p:cNvPr id="27" name="object 27"/>
          <p:cNvSpPr txBox="1"/>
          <p:nvPr/>
        </p:nvSpPr>
        <p:spPr>
          <a:xfrm>
            <a:off x="7988807" y="1801367"/>
            <a:ext cx="609600" cy="1905000"/>
          </a:xfrm>
          <a:prstGeom prst="rect">
            <a:avLst/>
          </a:prstGeom>
          <a:solidFill>
            <a:srgbClr val="FFFFFF"/>
          </a:solidFill>
          <a:ln w="9144">
            <a:solidFill>
              <a:srgbClr val="000000"/>
            </a:solidFill>
          </a:ln>
        </p:spPr>
        <p:txBody>
          <a:bodyPr vert="horz" wrap="square" lIns="0" tIns="13970" rIns="0" bIns="0" rtlCol="0">
            <a:spAutoFit/>
          </a:bodyPr>
          <a:lstStyle/>
          <a:p>
            <a:pPr marL="210185" marR="217804" indent="10160" algn="just">
              <a:lnSpc>
                <a:spcPct val="100000"/>
              </a:lnSpc>
              <a:spcBef>
                <a:spcPts val="110"/>
              </a:spcBef>
            </a:pPr>
            <a:r>
              <a:rPr sz="2000" spc="-200" dirty="0">
                <a:latin typeface="Arial"/>
                <a:cs typeface="Arial"/>
              </a:rPr>
              <a:t>R </a:t>
            </a:r>
            <a:r>
              <a:rPr sz="2000" spc="-360" dirty="0">
                <a:latin typeface="Arial"/>
                <a:cs typeface="Arial"/>
              </a:rPr>
              <a:t>E</a:t>
            </a:r>
            <a:r>
              <a:rPr sz="2000" spc="-120" dirty="0">
                <a:latin typeface="Arial"/>
                <a:cs typeface="Arial"/>
              </a:rPr>
              <a:t> D U </a:t>
            </a:r>
            <a:r>
              <a:rPr sz="2000" spc="-415" dirty="0">
                <a:latin typeface="Arial"/>
                <a:cs typeface="Arial"/>
              </a:rPr>
              <a:t>C</a:t>
            </a:r>
            <a:r>
              <a:rPr sz="2000" spc="500" dirty="0">
                <a:latin typeface="Arial"/>
                <a:cs typeface="Arial"/>
              </a:rPr>
              <a:t> </a:t>
            </a:r>
            <a:r>
              <a:rPr sz="2000" spc="-360" dirty="0">
                <a:latin typeface="Arial"/>
                <a:cs typeface="Arial"/>
              </a:rPr>
              <a:t>E</a:t>
            </a:r>
            <a:endParaRPr sz="2000">
              <a:latin typeface="Arial"/>
              <a:cs typeface="Arial"/>
            </a:endParaRPr>
          </a:p>
        </p:txBody>
      </p:sp>
      <p:sp>
        <p:nvSpPr>
          <p:cNvPr id="28" name="object 28"/>
          <p:cNvSpPr/>
          <p:nvPr/>
        </p:nvSpPr>
        <p:spPr>
          <a:xfrm>
            <a:off x="6236208" y="2029967"/>
            <a:ext cx="1524000" cy="1447800"/>
          </a:xfrm>
          <a:custGeom>
            <a:avLst/>
            <a:gdLst/>
            <a:ahLst/>
            <a:cxnLst/>
            <a:rect l="l" t="t" r="r" b="b"/>
            <a:pathLst>
              <a:path w="1524000" h="1447800">
                <a:moveTo>
                  <a:pt x="1523999" y="0"/>
                </a:moveTo>
                <a:lnTo>
                  <a:pt x="0" y="0"/>
                </a:lnTo>
                <a:lnTo>
                  <a:pt x="0" y="1447800"/>
                </a:lnTo>
                <a:lnTo>
                  <a:pt x="1523999" y="1447800"/>
                </a:lnTo>
                <a:lnTo>
                  <a:pt x="1523999" y="0"/>
                </a:lnTo>
                <a:close/>
              </a:path>
            </a:pathLst>
          </a:custGeom>
          <a:solidFill>
            <a:srgbClr val="FFFFFF"/>
          </a:solidFill>
        </p:spPr>
        <p:txBody>
          <a:bodyPr wrap="square" lIns="0" tIns="0" rIns="0" bIns="0" rtlCol="0"/>
          <a:lstStyle/>
          <a:p>
            <a:endParaRPr/>
          </a:p>
        </p:txBody>
      </p:sp>
      <p:sp>
        <p:nvSpPr>
          <p:cNvPr id="29" name="object 29"/>
          <p:cNvSpPr txBox="1"/>
          <p:nvPr/>
        </p:nvSpPr>
        <p:spPr>
          <a:xfrm>
            <a:off x="6236208" y="2029967"/>
            <a:ext cx="1524000" cy="1447800"/>
          </a:xfrm>
          <a:prstGeom prst="rect">
            <a:avLst/>
          </a:prstGeom>
          <a:ln w="9144">
            <a:solidFill>
              <a:srgbClr val="000000"/>
            </a:solidFill>
          </a:ln>
        </p:spPr>
        <p:txBody>
          <a:bodyPr vert="horz" wrap="square" lIns="0" tIns="41910" rIns="0" bIns="0" rtlCol="0">
            <a:spAutoFit/>
          </a:bodyPr>
          <a:lstStyle/>
          <a:p>
            <a:pPr>
              <a:lnSpc>
                <a:spcPct val="100000"/>
              </a:lnSpc>
              <a:spcBef>
                <a:spcPts val="330"/>
              </a:spcBef>
            </a:pPr>
            <a:endParaRPr sz="2000">
              <a:latin typeface="Times New Roman"/>
              <a:cs typeface="Times New Roman"/>
            </a:endParaRPr>
          </a:p>
          <a:p>
            <a:pPr marL="69850" algn="ctr">
              <a:lnSpc>
                <a:spcPct val="100000"/>
              </a:lnSpc>
              <a:spcBef>
                <a:spcPts val="5"/>
              </a:spcBef>
            </a:pPr>
            <a:r>
              <a:rPr sz="2000" spc="-10" dirty="0">
                <a:latin typeface="Arial"/>
                <a:cs typeface="Arial"/>
              </a:rPr>
              <a:t>Partitioning</a:t>
            </a:r>
            <a:endParaRPr sz="2000">
              <a:latin typeface="Arial"/>
              <a:cs typeface="Arial"/>
            </a:endParaRPr>
          </a:p>
          <a:p>
            <a:pPr marL="69215" algn="ctr">
              <a:lnSpc>
                <a:spcPct val="100000"/>
              </a:lnSpc>
            </a:pPr>
            <a:r>
              <a:rPr sz="2000" spc="-10" dirty="0">
                <a:latin typeface="Arial"/>
                <a:cs typeface="Arial"/>
              </a:rPr>
              <a:t>Function</a:t>
            </a:r>
            <a:endParaRPr sz="2000">
              <a:latin typeface="Arial"/>
              <a:cs typeface="Arial"/>
            </a:endParaRPr>
          </a:p>
        </p:txBody>
      </p:sp>
      <p:sp>
        <p:nvSpPr>
          <p:cNvPr id="30" name="object 30"/>
          <p:cNvSpPr txBox="1"/>
          <p:nvPr/>
        </p:nvSpPr>
        <p:spPr>
          <a:xfrm>
            <a:off x="5976620" y="4266144"/>
            <a:ext cx="4793615" cy="1562100"/>
          </a:xfrm>
          <a:prstGeom prst="rect">
            <a:avLst/>
          </a:prstGeom>
        </p:spPr>
        <p:txBody>
          <a:bodyPr vert="horz" wrap="square" lIns="0" tIns="48895" rIns="0" bIns="0" rtlCol="0">
            <a:spAutoFit/>
          </a:bodyPr>
          <a:lstStyle/>
          <a:p>
            <a:pPr marL="12700">
              <a:lnSpc>
                <a:spcPct val="100000"/>
              </a:lnSpc>
              <a:spcBef>
                <a:spcPts val="385"/>
              </a:spcBef>
            </a:pPr>
            <a:r>
              <a:rPr sz="2400" dirty="0">
                <a:solidFill>
                  <a:srgbClr val="30B6FC"/>
                </a:solidFill>
                <a:latin typeface="Geneva"/>
                <a:cs typeface="Geneva"/>
              </a:rPr>
              <a:t>∗</a:t>
            </a:r>
            <a:r>
              <a:rPr sz="2400" spc="114" dirty="0">
                <a:solidFill>
                  <a:srgbClr val="30B6FC"/>
                </a:solidFill>
                <a:latin typeface="Geneva"/>
                <a:cs typeface="Geneva"/>
              </a:rPr>
              <a:t> </a:t>
            </a:r>
            <a:r>
              <a:rPr sz="2400" spc="-10" dirty="0">
                <a:solidFill>
                  <a:srgbClr val="063D86"/>
                </a:solidFill>
                <a:latin typeface="Arial"/>
                <a:cs typeface="Arial"/>
              </a:rPr>
              <a:t>Reduce</a:t>
            </a:r>
            <a:endParaRPr sz="2400">
              <a:latin typeface="Arial"/>
              <a:cs typeface="Arial"/>
            </a:endParaRPr>
          </a:p>
          <a:p>
            <a:pPr marL="314325">
              <a:lnSpc>
                <a:spcPts val="2735"/>
              </a:lnSpc>
              <a:spcBef>
                <a:spcPts val="285"/>
              </a:spcBef>
            </a:pPr>
            <a:r>
              <a:rPr sz="2400" dirty="0">
                <a:solidFill>
                  <a:srgbClr val="30B6FC"/>
                </a:solidFill>
                <a:latin typeface="Geneva"/>
                <a:cs typeface="Geneva"/>
              </a:rPr>
              <a:t>∗</a:t>
            </a:r>
            <a:r>
              <a:rPr sz="2400" spc="190" dirty="0">
                <a:solidFill>
                  <a:srgbClr val="30B6FC"/>
                </a:solidFill>
                <a:latin typeface="Geneva"/>
                <a:cs typeface="Geneva"/>
              </a:rPr>
              <a:t> </a:t>
            </a:r>
            <a:r>
              <a:rPr sz="2400" spc="-75" dirty="0">
                <a:solidFill>
                  <a:srgbClr val="063D86"/>
                </a:solidFill>
                <a:latin typeface="Arial"/>
                <a:cs typeface="Arial"/>
              </a:rPr>
              <a:t>Accepts</a:t>
            </a:r>
            <a:r>
              <a:rPr sz="2400" spc="-114" dirty="0">
                <a:solidFill>
                  <a:srgbClr val="063D86"/>
                </a:solidFill>
                <a:latin typeface="Arial"/>
                <a:cs typeface="Arial"/>
              </a:rPr>
              <a:t> </a:t>
            </a:r>
            <a:r>
              <a:rPr sz="2400" spc="-20" dirty="0">
                <a:solidFill>
                  <a:srgbClr val="063D86"/>
                </a:solidFill>
                <a:latin typeface="Arial"/>
                <a:cs typeface="Arial"/>
              </a:rPr>
              <a:t>intermediate</a:t>
            </a:r>
            <a:r>
              <a:rPr sz="2400" spc="-130" dirty="0">
                <a:solidFill>
                  <a:srgbClr val="063D86"/>
                </a:solidFill>
                <a:latin typeface="Arial"/>
                <a:cs typeface="Arial"/>
              </a:rPr>
              <a:t> </a:t>
            </a:r>
            <a:r>
              <a:rPr sz="2400" spc="-25" dirty="0">
                <a:solidFill>
                  <a:srgbClr val="063D86"/>
                </a:solidFill>
                <a:latin typeface="Arial"/>
                <a:cs typeface="Arial"/>
              </a:rPr>
              <a:t>key/value*</a:t>
            </a:r>
            <a:endParaRPr sz="2400">
              <a:latin typeface="Arial"/>
              <a:cs typeface="Arial"/>
            </a:endParaRPr>
          </a:p>
          <a:p>
            <a:pPr marL="588645">
              <a:lnSpc>
                <a:spcPts val="2735"/>
              </a:lnSpc>
            </a:pPr>
            <a:r>
              <a:rPr sz="2400" spc="-20" dirty="0">
                <a:solidFill>
                  <a:srgbClr val="063D86"/>
                </a:solidFill>
                <a:latin typeface="Arial"/>
                <a:cs typeface="Arial"/>
              </a:rPr>
              <a:t>pair</a:t>
            </a:r>
            <a:endParaRPr sz="2400">
              <a:latin typeface="Arial"/>
              <a:cs typeface="Arial"/>
            </a:endParaRPr>
          </a:p>
          <a:p>
            <a:pPr marL="314325">
              <a:lnSpc>
                <a:spcPct val="100000"/>
              </a:lnSpc>
              <a:spcBef>
                <a:spcPts val="290"/>
              </a:spcBef>
            </a:pPr>
            <a:r>
              <a:rPr sz="2400" dirty="0">
                <a:solidFill>
                  <a:srgbClr val="30B6FC"/>
                </a:solidFill>
                <a:latin typeface="Geneva"/>
                <a:cs typeface="Geneva"/>
              </a:rPr>
              <a:t>∗</a:t>
            </a:r>
            <a:r>
              <a:rPr sz="2400" spc="265" dirty="0">
                <a:solidFill>
                  <a:srgbClr val="30B6FC"/>
                </a:solidFill>
                <a:latin typeface="Geneva"/>
                <a:cs typeface="Geneva"/>
              </a:rPr>
              <a:t> </a:t>
            </a:r>
            <a:r>
              <a:rPr sz="2400" spc="-90" dirty="0">
                <a:solidFill>
                  <a:srgbClr val="063D86"/>
                </a:solidFill>
                <a:latin typeface="Arial"/>
                <a:cs typeface="Arial"/>
              </a:rPr>
              <a:t>Emits</a:t>
            </a:r>
            <a:r>
              <a:rPr sz="2400" spc="-100" dirty="0">
                <a:solidFill>
                  <a:srgbClr val="063D86"/>
                </a:solidFill>
                <a:latin typeface="Arial"/>
                <a:cs typeface="Arial"/>
              </a:rPr>
              <a:t> </a:t>
            </a:r>
            <a:r>
              <a:rPr sz="2400" dirty="0">
                <a:solidFill>
                  <a:srgbClr val="063D86"/>
                </a:solidFill>
                <a:latin typeface="Arial"/>
                <a:cs typeface="Arial"/>
              </a:rPr>
              <a:t>output</a:t>
            </a:r>
            <a:r>
              <a:rPr sz="2400" spc="-85" dirty="0">
                <a:solidFill>
                  <a:srgbClr val="063D86"/>
                </a:solidFill>
                <a:latin typeface="Arial"/>
                <a:cs typeface="Arial"/>
              </a:rPr>
              <a:t> </a:t>
            </a:r>
            <a:r>
              <a:rPr sz="2400" spc="-80" dirty="0">
                <a:solidFill>
                  <a:srgbClr val="063D86"/>
                </a:solidFill>
                <a:latin typeface="Arial"/>
                <a:cs typeface="Arial"/>
              </a:rPr>
              <a:t>key/value</a:t>
            </a:r>
            <a:r>
              <a:rPr sz="2400" spc="-75" dirty="0">
                <a:solidFill>
                  <a:srgbClr val="063D86"/>
                </a:solidFill>
                <a:latin typeface="Arial"/>
                <a:cs typeface="Arial"/>
              </a:rPr>
              <a:t> </a:t>
            </a:r>
            <a:r>
              <a:rPr sz="2400" spc="-20" dirty="0">
                <a:solidFill>
                  <a:srgbClr val="063D86"/>
                </a:solidFill>
                <a:latin typeface="Arial"/>
                <a:cs typeface="Arial"/>
              </a:rPr>
              <a:t>pair</a:t>
            </a:r>
            <a:endParaRPr sz="2400">
              <a:latin typeface="Arial"/>
              <a:cs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1153618" y="1239927"/>
            <a:ext cx="4008586" cy="4680583"/>
          </a:xfrm>
          <a:prstGeom prst="rect">
            <a:avLst/>
          </a:prstGeom>
        </p:spPr>
        <p:txBody>
          <a:bodyPr vert="horz" lIns="91440" tIns="45720" rIns="91440" bIns="45720" rtlCol="0" anchor="ctr">
            <a:normAutofit/>
          </a:bodyPr>
          <a:lstStyle/>
          <a:p>
            <a:pPr marL="12700"/>
            <a:r>
              <a:rPr lang="en-US" sz="5200" kern="1200" spc="-165">
                <a:solidFill>
                  <a:schemeClr val="tx1"/>
                </a:solidFill>
                <a:latin typeface="+mj-lt"/>
                <a:ea typeface="+mj-ea"/>
                <a:cs typeface="+mj-cs"/>
              </a:rPr>
              <a:t>Example:</a:t>
            </a:r>
            <a:r>
              <a:rPr lang="en-US" sz="5200" kern="1200" spc="-260">
                <a:solidFill>
                  <a:schemeClr val="tx1"/>
                </a:solidFill>
                <a:latin typeface="+mj-lt"/>
                <a:ea typeface="+mj-ea"/>
                <a:cs typeface="+mj-cs"/>
              </a:rPr>
              <a:t> </a:t>
            </a:r>
            <a:r>
              <a:rPr lang="en-US" sz="5200" kern="1200" spc="-90">
                <a:solidFill>
                  <a:schemeClr val="tx1"/>
                </a:solidFill>
                <a:latin typeface="+mj-lt"/>
                <a:ea typeface="+mj-ea"/>
                <a:cs typeface="+mj-cs"/>
              </a:rPr>
              <a:t>Counting</a:t>
            </a:r>
            <a:r>
              <a:rPr lang="en-US" sz="5200" kern="1200" spc="-240">
                <a:solidFill>
                  <a:schemeClr val="tx1"/>
                </a:solidFill>
                <a:latin typeface="+mj-lt"/>
                <a:ea typeface="+mj-ea"/>
                <a:cs typeface="+mj-cs"/>
              </a:rPr>
              <a:t> </a:t>
            </a:r>
            <a:r>
              <a:rPr lang="en-US" sz="5200" kern="1200" spc="-60">
                <a:solidFill>
                  <a:schemeClr val="tx1"/>
                </a:solidFill>
                <a:latin typeface="+mj-lt"/>
                <a:ea typeface="+mj-ea"/>
                <a:cs typeface="+mj-cs"/>
              </a:rPr>
              <a:t>Word</a:t>
            </a:r>
          </a:p>
        </p:txBody>
      </p:sp>
      <p:sp>
        <p:nvSpPr>
          <p:cNvPr id="2" name="object 2"/>
          <p:cNvSpPr txBox="1"/>
          <p:nvPr/>
        </p:nvSpPr>
        <p:spPr>
          <a:xfrm>
            <a:off x="6291923" y="1239927"/>
            <a:ext cx="4971824" cy="4680583"/>
          </a:xfrm>
          <a:prstGeom prst="rect">
            <a:avLst/>
          </a:prstGeom>
        </p:spPr>
        <p:txBody>
          <a:bodyPr vert="horz" lIns="91440" tIns="45720" rIns="91440" bIns="45720" rtlCol="0" anchor="ctr">
            <a:normAutofit/>
          </a:bodyPr>
          <a:lstStyle/>
          <a:p>
            <a:pPr marL="12700" indent="-228600">
              <a:lnSpc>
                <a:spcPct val="90000"/>
              </a:lnSpc>
              <a:spcBef>
                <a:spcPts val="409"/>
              </a:spcBef>
              <a:buFont typeface="Arial" panose="020B0604020202020204" pitchFamily="34" charset="0"/>
              <a:buChar char="•"/>
            </a:pPr>
            <a:r>
              <a:rPr lang="en-US" sz="2000"/>
              <a:t>∗</a:t>
            </a:r>
            <a:r>
              <a:rPr lang="en-US" sz="2000" spc="160"/>
              <a:t> </a:t>
            </a:r>
            <a:r>
              <a:rPr lang="en-US" sz="2000" spc="-85"/>
              <a:t>Two</a:t>
            </a:r>
            <a:r>
              <a:rPr lang="en-US" sz="2000" spc="-140"/>
              <a:t> </a:t>
            </a:r>
            <a:r>
              <a:rPr lang="en-US" sz="2000"/>
              <a:t>input</a:t>
            </a:r>
            <a:r>
              <a:rPr lang="en-US" sz="2000" spc="-145"/>
              <a:t> </a:t>
            </a:r>
            <a:r>
              <a:rPr lang="en-US" sz="2000" spc="-10"/>
              <a:t>files</a:t>
            </a:r>
            <a:endParaRPr lang="en-US" sz="2000"/>
          </a:p>
          <a:p>
            <a:pPr marL="314325" indent="-228600">
              <a:lnSpc>
                <a:spcPct val="90000"/>
              </a:lnSpc>
              <a:spcBef>
                <a:spcPts val="285"/>
              </a:spcBef>
              <a:buFont typeface="Arial" panose="020B0604020202020204" pitchFamily="34" charset="0"/>
              <a:buChar char="•"/>
            </a:pPr>
            <a:r>
              <a:rPr lang="en-US" sz="2000"/>
              <a:t>∗</a:t>
            </a:r>
            <a:r>
              <a:rPr lang="en-US" sz="2000" spc="360"/>
              <a:t> </a:t>
            </a:r>
            <a:r>
              <a:rPr lang="en-US" sz="2000"/>
              <a:t>Input</a:t>
            </a:r>
            <a:r>
              <a:rPr lang="en-US" sz="2000" spc="-114"/>
              <a:t> </a:t>
            </a:r>
            <a:r>
              <a:rPr lang="en-US" sz="2000" spc="-60"/>
              <a:t>&lt;filename,</a:t>
            </a:r>
            <a:r>
              <a:rPr lang="en-US" sz="2000" spc="-135"/>
              <a:t> </a:t>
            </a:r>
            <a:r>
              <a:rPr lang="en-US" sz="2000"/>
              <a:t>file</a:t>
            </a:r>
            <a:r>
              <a:rPr lang="en-US" sz="2000" spc="-125"/>
              <a:t> </a:t>
            </a:r>
            <a:r>
              <a:rPr lang="en-US" sz="2000" spc="-20"/>
              <a:t>text&gt;</a:t>
            </a:r>
            <a:endParaRPr lang="en-US" sz="2000"/>
          </a:p>
          <a:p>
            <a:pPr marL="314325" indent="-228600">
              <a:lnSpc>
                <a:spcPct val="90000"/>
              </a:lnSpc>
              <a:spcBef>
                <a:spcPts val="265"/>
              </a:spcBef>
              <a:buFont typeface="Arial" panose="020B0604020202020204" pitchFamily="34" charset="0"/>
              <a:buChar char="•"/>
            </a:pPr>
            <a:r>
              <a:rPr lang="en-US" sz="2000"/>
              <a:t>∗</a:t>
            </a:r>
            <a:r>
              <a:rPr lang="en-US" sz="2000" spc="360"/>
              <a:t> </a:t>
            </a:r>
            <a:r>
              <a:rPr lang="en-US" sz="2000" spc="-140"/>
              <a:t>Parses</a:t>
            </a:r>
            <a:r>
              <a:rPr lang="en-US" sz="2000" spc="-130"/>
              <a:t> </a:t>
            </a:r>
            <a:r>
              <a:rPr lang="en-US" sz="2000"/>
              <a:t>file</a:t>
            </a:r>
            <a:r>
              <a:rPr lang="en-US" sz="2000" spc="-125"/>
              <a:t> </a:t>
            </a:r>
            <a:r>
              <a:rPr lang="en-US" sz="2000" spc="-85"/>
              <a:t>and</a:t>
            </a:r>
            <a:r>
              <a:rPr lang="en-US" sz="2000" spc="-140"/>
              <a:t> </a:t>
            </a:r>
            <a:r>
              <a:rPr lang="en-US" sz="2000" spc="-40"/>
              <a:t>emits</a:t>
            </a:r>
            <a:r>
              <a:rPr lang="en-US" sz="2000" spc="-120"/>
              <a:t> </a:t>
            </a:r>
            <a:r>
              <a:rPr lang="en-US" sz="2000" spc="-25"/>
              <a:t>&lt;word,</a:t>
            </a:r>
            <a:r>
              <a:rPr lang="en-US" sz="2000" spc="-120"/>
              <a:t> </a:t>
            </a:r>
            <a:r>
              <a:rPr lang="en-US" sz="2000" spc="-45"/>
              <a:t>count&gt;</a:t>
            </a:r>
            <a:r>
              <a:rPr lang="en-US" sz="2000" spc="-140"/>
              <a:t> </a:t>
            </a:r>
            <a:r>
              <a:rPr lang="en-US" sz="2000" spc="-25"/>
              <a:t>pairs</a:t>
            </a:r>
            <a:endParaRPr lang="en-US" sz="2000"/>
          </a:p>
          <a:p>
            <a:pPr marL="640715" indent="-228600">
              <a:lnSpc>
                <a:spcPct val="90000"/>
              </a:lnSpc>
              <a:spcBef>
                <a:spcPts val="250"/>
              </a:spcBef>
              <a:buFont typeface="Arial" panose="020B0604020202020204" pitchFamily="34" charset="0"/>
              <a:buChar char="•"/>
            </a:pPr>
            <a:r>
              <a:rPr lang="en-US" sz="2000"/>
              <a:t>∗</a:t>
            </a:r>
            <a:r>
              <a:rPr lang="en-US" sz="2000" spc="250"/>
              <a:t> </a:t>
            </a:r>
            <a:r>
              <a:rPr lang="en-US" sz="2000" spc="-75"/>
              <a:t>file1:</a:t>
            </a:r>
            <a:r>
              <a:rPr lang="en-US" sz="2000" spc="-70"/>
              <a:t> </a:t>
            </a:r>
            <a:r>
              <a:rPr lang="en-US" sz="2000"/>
              <a:t>“hello</a:t>
            </a:r>
            <a:r>
              <a:rPr lang="en-US" sz="2000" spc="-40"/>
              <a:t> </a:t>
            </a:r>
            <a:r>
              <a:rPr lang="en-US" sz="2000"/>
              <a:t>world</a:t>
            </a:r>
            <a:r>
              <a:rPr lang="en-US" sz="2000" spc="-55"/>
              <a:t> </a:t>
            </a:r>
            <a:r>
              <a:rPr lang="en-US" sz="2000" spc="-25"/>
              <a:t>hello</a:t>
            </a:r>
            <a:r>
              <a:rPr lang="en-US" sz="2000" spc="-55"/>
              <a:t> </a:t>
            </a:r>
            <a:r>
              <a:rPr lang="en-US" sz="2000" spc="45"/>
              <a:t>moon”</a:t>
            </a:r>
            <a:endParaRPr lang="en-US" sz="2000"/>
          </a:p>
          <a:p>
            <a:pPr marL="640715" indent="-228600">
              <a:lnSpc>
                <a:spcPct val="90000"/>
              </a:lnSpc>
              <a:spcBef>
                <a:spcPts val="240"/>
              </a:spcBef>
              <a:buFont typeface="Arial" panose="020B0604020202020204" pitchFamily="34" charset="0"/>
              <a:buChar char="•"/>
            </a:pPr>
            <a:r>
              <a:rPr lang="en-US" sz="2000"/>
              <a:t>∗</a:t>
            </a:r>
            <a:r>
              <a:rPr lang="en-US" sz="2000" spc="220"/>
              <a:t> </a:t>
            </a:r>
            <a:r>
              <a:rPr lang="en-US" sz="2000" spc="-40"/>
              <a:t>file2:</a:t>
            </a:r>
            <a:r>
              <a:rPr lang="en-US" sz="2000" spc="-80"/>
              <a:t> </a:t>
            </a:r>
            <a:r>
              <a:rPr lang="en-US" sz="2000"/>
              <a:t>“goodbye</a:t>
            </a:r>
            <a:r>
              <a:rPr lang="en-US" sz="2000" spc="-95"/>
              <a:t> </a:t>
            </a:r>
            <a:r>
              <a:rPr lang="en-US" sz="2000"/>
              <a:t>world</a:t>
            </a:r>
            <a:r>
              <a:rPr lang="en-US" sz="2000" spc="-75"/>
              <a:t> </a:t>
            </a:r>
            <a:r>
              <a:rPr lang="en-US" sz="2000" spc="-10"/>
              <a:t>goodnight</a:t>
            </a:r>
            <a:r>
              <a:rPr lang="en-US" sz="2000" spc="-80"/>
              <a:t> </a:t>
            </a:r>
            <a:r>
              <a:rPr lang="en-US" sz="2000" spc="40"/>
              <a:t>moon”</a:t>
            </a:r>
            <a:endParaRPr lang="en-US" sz="2000"/>
          </a:p>
          <a:p>
            <a:pPr marL="12700" indent="-228600">
              <a:lnSpc>
                <a:spcPct val="90000"/>
              </a:lnSpc>
              <a:spcBef>
                <a:spcPts val="260"/>
              </a:spcBef>
              <a:buFont typeface="Arial" panose="020B0604020202020204" pitchFamily="34" charset="0"/>
              <a:buChar char="•"/>
            </a:pPr>
            <a:r>
              <a:rPr lang="en-US" sz="2000"/>
              <a:t>∗</a:t>
            </a:r>
            <a:r>
              <a:rPr lang="en-US" sz="2000" spc="130"/>
              <a:t> </a:t>
            </a:r>
            <a:r>
              <a:rPr lang="en-US" sz="2000" spc="-95"/>
              <a:t>Three</a:t>
            </a:r>
            <a:r>
              <a:rPr lang="en-US" sz="2000" spc="-135"/>
              <a:t> </a:t>
            </a:r>
            <a:r>
              <a:rPr lang="en-US" sz="2000" spc="-10"/>
              <a:t>operations</a:t>
            </a:r>
            <a:endParaRPr lang="en-US" sz="2000"/>
          </a:p>
          <a:p>
            <a:pPr marL="314325" indent="-228600">
              <a:lnSpc>
                <a:spcPct val="90000"/>
              </a:lnSpc>
              <a:spcBef>
                <a:spcPts val="285"/>
              </a:spcBef>
              <a:buFont typeface="Arial" panose="020B0604020202020204" pitchFamily="34" charset="0"/>
              <a:buChar char="•"/>
            </a:pPr>
            <a:r>
              <a:rPr lang="en-US" sz="2000"/>
              <a:t>∗</a:t>
            </a:r>
            <a:r>
              <a:rPr lang="en-US" sz="2000" spc="305"/>
              <a:t> </a:t>
            </a:r>
            <a:r>
              <a:rPr lang="en-US" sz="2000" spc="-25"/>
              <a:t>Map</a:t>
            </a:r>
            <a:endParaRPr lang="en-US" sz="2000"/>
          </a:p>
          <a:p>
            <a:pPr marL="314325" indent="-228600">
              <a:lnSpc>
                <a:spcPct val="90000"/>
              </a:lnSpc>
              <a:spcBef>
                <a:spcPts val="265"/>
              </a:spcBef>
              <a:buFont typeface="Arial" panose="020B0604020202020204" pitchFamily="34" charset="0"/>
              <a:buChar char="•"/>
            </a:pPr>
            <a:r>
              <a:rPr lang="en-US" sz="2000"/>
              <a:t>∗</a:t>
            </a:r>
            <a:r>
              <a:rPr lang="en-US" sz="2000" spc="305"/>
              <a:t> </a:t>
            </a:r>
            <a:r>
              <a:rPr lang="en-US" sz="2000" spc="-10"/>
              <a:t>Combine</a:t>
            </a:r>
            <a:endParaRPr lang="en-US" sz="2000"/>
          </a:p>
          <a:p>
            <a:pPr marL="314325" indent="-228600">
              <a:lnSpc>
                <a:spcPct val="90000"/>
              </a:lnSpc>
              <a:spcBef>
                <a:spcPts val="265"/>
              </a:spcBef>
              <a:buFont typeface="Arial" panose="020B0604020202020204" pitchFamily="34" charset="0"/>
              <a:buChar char="•"/>
            </a:pPr>
            <a:r>
              <a:rPr lang="en-US" sz="2000"/>
              <a:t>∗</a:t>
            </a:r>
            <a:r>
              <a:rPr lang="en-US" sz="2000" spc="300"/>
              <a:t> </a:t>
            </a:r>
            <a:r>
              <a:rPr lang="en-US" sz="2000" spc="-10"/>
              <a:t>Reduce</a:t>
            </a:r>
            <a:endParaRPr lang="en-US" sz="20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762001" y="5074024"/>
            <a:ext cx="10109199" cy="598032"/>
          </a:xfrm>
          <a:prstGeom prst="rect">
            <a:avLst/>
          </a:prstGeom>
        </p:spPr>
        <p:txBody>
          <a:bodyPr vert="horz" lIns="91440" tIns="45720" rIns="91440" bIns="45720" rtlCol="0" anchor="ctr">
            <a:normAutofit/>
          </a:bodyPr>
          <a:lstStyle/>
          <a:p>
            <a:pPr marL="12700"/>
            <a:r>
              <a:rPr lang="en-US" sz="3600" kern="1200">
                <a:solidFill>
                  <a:schemeClr val="tx1"/>
                </a:solidFill>
                <a:latin typeface="+mj-lt"/>
                <a:ea typeface="+mj-ea"/>
                <a:cs typeface="+mj-cs"/>
              </a:rPr>
              <a:t>Output</a:t>
            </a:r>
            <a:r>
              <a:rPr lang="en-US" sz="3600" kern="1200" spc="-215">
                <a:solidFill>
                  <a:schemeClr val="tx1"/>
                </a:solidFill>
                <a:latin typeface="+mj-lt"/>
                <a:ea typeface="+mj-ea"/>
                <a:cs typeface="+mj-cs"/>
              </a:rPr>
              <a:t> </a:t>
            </a:r>
            <a:r>
              <a:rPr lang="en-US" sz="3600" kern="1200" spc="-45">
                <a:solidFill>
                  <a:schemeClr val="tx1"/>
                </a:solidFill>
                <a:latin typeface="+mj-lt"/>
                <a:ea typeface="+mj-ea"/>
                <a:cs typeface="+mj-cs"/>
              </a:rPr>
              <a:t>per</a:t>
            </a:r>
            <a:r>
              <a:rPr lang="en-US" sz="3600" kern="1200" spc="-190">
                <a:solidFill>
                  <a:schemeClr val="tx1"/>
                </a:solidFill>
                <a:latin typeface="+mj-lt"/>
                <a:ea typeface="+mj-ea"/>
                <a:cs typeface="+mj-cs"/>
              </a:rPr>
              <a:t> </a:t>
            </a:r>
            <a:r>
              <a:rPr lang="en-US" sz="3600" kern="1200" spc="-105">
                <a:solidFill>
                  <a:schemeClr val="tx1"/>
                </a:solidFill>
                <a:latin typeface="+mj-lt"/>
                <a:ea typeface="+mj-ea"/>
                <a:cs typeface="+mj-cs"/>
              </a:rPr>
              <a:t>Step</a:t>
            </a:r>
          </a:p>
        </p:txBody>
      </p:sp>
      <p:sp>
        <p:nvSpPr>
          <p:cNvPr id="4" name="object 4"/>
          <p:cNvSpPr txBox="1"/>
          <p:nvPr/>
        </p:nvSpPr>
        <p:spPr>
          <a:xfrm>
            <a:off x="762001" y="5672059"/>
            <a:ext cx="10109199" cy="547765"/>
          </a:xfrm>
          <a:prstGeom prst="rect">
            <a:avLst/>
          </a:prstGeom>
        </p:spPr>
        <p:txBody>
          <a:bodyPr vert="horz" lIns="91440" tIns="45720" rIns="91440" bIns="45720" rtlCol="0" anchor="t">
            <a:normAutofit fontScale="25000" lnSpcReduction="20000"/>
          </a:bodyPr>
          <a:lstStyle/>
          <a:p>
            <a:pPr>
              <a:lnSpc>
                <a:spcPct val="90000"/>
              </a:lnSpc>
              <a:spcBef>
                <a:spcPts val="1000"/>
              </a:spcBef>
              <a:buClr>
                <a:srgbClr val="30B6FC"/>
              </a:buClr>
              <a:buSzPct val="90625"/>
              <a:tabLst>
                <a:tab pos="286385" algn="l"/>
              </a:tabLst>
            </a:pPr>
            <a:r>
              <a:rPr lang="en-US" sz="500" kern="1200" spc="-85">
                <a:solidFill>
                  <a:schemeClr val="tx1"/>
                </a:solidFill>
                <a:latin typeface="+mn-lt"/>
                <a:ea typeface="+mn-ea"/>
                <a:cs typeface="+mn-cs"/>
              </a:rPr>
              <a:t>Second</a:t>
            </a:r>
            <a:r>
              <a:rPr lang="en-US" sz="500" kern="1200" spc="-20">
                <a:solidFill>
                  <a:schemeClr val="tx1"/>
                </a:solidFill>
                <a:latin typeface="+mn-lt"/>
                <a:ea typeface="+mn-ea"/>
                <a:cs typeface="+mn-cs"/>
              </a:rPr>
              <a:t> Map:</a:t>
            </a:r>
            <a:endParaRPr lang="en-US" sz="500" kern="1200">
              <a:solidFill>
                <a:schemeClr val="tx1"/>
              </a:solidFill>
              <a:latin typeface="+mn-lt"/>
              <a:ea typeface="+mn-ea"/>
              <a:cs typeface="+mn-cs"/>
            </a:endParaRPr>
          </a:p>
          <a:p>
            <a:pPr>
              <a:lnSpc>
                <a:spcPct val="90000"/>
              </a:lnSpc>
              <a:spcBef>
                <a:spcPts val="1000"/>
              </a:spcBef>
            </a:pPr>
            <a:r>
              <a:rPr lang="en-US" sz="500" kern="1200" spc="-150">
                <a:solidFill>
                  <a:schemeClr val="tx1"/>
                </a:solidFill>
                <a:latin typeface="+mn-lt"/>
                <a:ea typeface="+mn-ea"/>
                <a:cs typeface="+mn-cs"/>
              </a:rPr>
              <a:t>&lt;</a:t>
            </a:r>
            <a:r>
              <a:rPr lang="en-US" sz="500" kern="1200" spc="-70">
                <a:solidFill>
                  <a:schemeClr val="tx1"/>
                </a:solidFill>
                <a:latin typeface="+mn-lt"/>
                <a:ea typeface="+mn-ea"/>
                <a:cs typeface="+mn-cs"/>
              </a:rPr>
              <a:t> </a:t>
            </a:r>
            <a:r>
              <a:rPr lang="en-US" sz="500" kern="1200" spc="-35">
                <a:solidFill>
                  <a:schemeClr val="tx1"/>
                </a:solidFill>
                <a:latin typeface="+mn-lt"/>
                <a:ea typeface="+mn-ea"/>
                <a:cs typeface="+mn-cs"/>
              </a:rPr>
              <a:t>goodbye,</a:t>
            </a:r>
            <a:r>
              <a:rPr lang="en-US" sz="500" kern="1200" spc="-55">
                <a:solidFill>
                  <a:schemeClr val="tx1"/>
                </a:solidFill>
                <a:latin typeface="+mn-lt"/>
                <a:ea typeface="+mn-ea"/>
                <a:cs typeface="+mn-cs"/>
              </a:rPr>
              <a:t> </a:t>
            </a:r>
            <a:r>
              <a:rPr lang="en-US" sz="500" kern="1200" spc="-340">
                <a:solidFill>
                  <a:schemeClr val="tx1"/>
                </a:solidFill>
                <a:latin typeface="+mn-lt"/>
                <a:ea typeface="+mn-ea"/>
                <a:cs typeface="+mn-cs"/>
              </a:rPr>
              <a:t>1</a:t>
            </a:r>
            <a:r>
              <a:rPr lang="en-US" sz="500" kern="1200" spc="-80">
                <a:solidFill>
                  <a:schemeClr val="tx1"/>
                </a:solidFill>
                <a:latin typeface="+mn-lt"/>
                <a:ea typeface="+mn-ea"/>
                <a:cs typeface="+mn-cs"/>
              </a:rPr>
              <a:t> </a:t>
            </a:r>
            <a:r>
              <a:rPr lang="en-US" sz="500" kern="1200" spc="-50">
                <a:solidFill>
                  <a:schemeClr val="tx1"/>
                </a:solidFill>
                <a:latin typeface="+mn-lt"/>
                <a:ea typeface="+mn-ea"/>
                <a:cs typeface="+mn-cs"/>
              </a:rPr>
              <a:t>&gt;</a:t>
            </a:r>
            <a:endParaRPr lang="en-US" sz="500" kern="1200">
              <a:solidFill>
                <a:schemeClr val="tx1"/>
              </a:solidFill>
              <a:latin typeface="+mn-lt"/>
              <a:ea typeface="+mn-ea"/>
              <a:cs typeface="+mn-cs"/>
            </a:endParaRPr>
          </a:p>
          <a:p>
            <a:pPr>
              <a:lnSpc>
                <a:spcPct val="90000"/>
              </a:lnSpc>
              <a:spcBef>
                <a:spcPts val="1000"/>
              </a:spcBef>
            </a:pPr>
            <a:r>
              <a:rPr lang="en-US" sz="500" kern="1200" spc="-150">
                <a:solidFill>
                  <a:schemeClr val="tx1"/>
                </a:solidFill>
                <a:latin typeface="+mn-lt"/>
                <a:ea typeface="+mn-ea"/>
                <a:cs typeface="+mn-cs"/>
              </a:rPr>
              <a:t>&lt;</a:t>
            </a:r>
            <a:r>
              <a:rPr lang="en-US" sz="500" kern="1200" spc="-75">
                <a:solidFill>
                  <a:schemeClr val="tx1"/>
                </a:solidFill>
                <a:latin typeface="+mn-lt"/>
                <a:ea typeface="+mn-ea"/>
                <a:cs typeface="+mn-cs"/>
              </a:rPr>
              <a:t> </a:t>
            </a:r>
            <a:r>
              <a:rPr lang="en-US" sz="500" kern="1200">
                <a:solidFill>
                  <a:schemeClr val="tx1"/>
                </a:solidFill>
                <a:latin typeface="+mn-lt"/>
                <a:ea typeface="+mn-ea"/>
                <a:cs typeface="+mn-cs"/>
              </a:rPr>
              <a:t>world,</a:t>
            </a:r>
            <a:r>
              <a:rPr lang="en-US" sz="500" kern="1200" spc="-80">
                <a:solidFill>
                  <a:schemeClr val="tx1"/>
                </a:solidFill>
                <a:latin typeface="+mn-lt"/>
                <a:ea typeface="+mn-ea"/>
                <a:cs typeface="+mn-cs"/>
              </a:rPr>
              <a:t> </a:t>
            </a:r>
            <a:r>
              <a:rPr lang="en-US" sz="500" kern="1200" spc="-340">
                <a:solidFill>
                  <a:schemeClr val="tx1"/>
                </a:solidFill>
                <a:latin typeface="+mn-lt"/>
                <a:ea typeface="+mn-ea"/>
                <a:cs typeface="+mn-cs"/>
              </a:rPr>
              <a:t>1</a:t>
            </a:r>
            <a:r>
              <a:rPr lang="en-US" sz="500" kern="1200" spc="-75">
                <a:solidFill>
                  <a:schemeClr val="tx1"/>
                </a:solidFill>
                <a:latin typeface="+mn-lt"/>
                <a:ea typeface="+mn-ea"/>
                <a:cs typeface="+mn-cs"/>
              </a:rPr>
              <a:t> </a:t>
            </a:r>
            <a:r>
              <a:rPr lang="en-US" sz="500" kern="1200" spc="-50">
                <a:solidFill>
                  <a:schemeClr val="tx1"/>
                </a:solidFill>
                <a:latin typeface="+mn-lt"/>
                <a:ea typeface="+mn-ea"/>
                <a:cs typeface="+mn-cs"/>
              </a:rPr>
              <a:t>&gt;</a:t>
            </a:r>
            <a:endParaRPr lang="en-US" sz="500" kern="1200">
              <a:solidFill>
                <a:schemeClr val="tx1"/>
              </a:solidFill>
              <a:latin typeface="+mn-lt"/>
              <a:ea typeface="+mn-ea"/>
              <a:cs typeface="+mn-cs"/>
            </a:endParaRPr>
          </a:p>
          <a:p>
            <a:pPr>
              <a:lnSpc>
                <a:spcPct val="90000"/>
              </a:lnSpc>
              <a:spcBef>
                <a:spcPts val="1000"/>
              </a:spcBef>
            </a:pPr>
            <a:r>
              <a:rPr lang="en-US" sz="500" kern="1200" spc="-150">
                <a:solidFill>
                  <a:schemeClr val="tx1"/>
                </a:solidFill>
                <a:latin typeface="+mn-lt"/>
                <a:ea typeface="+mn-ea"/>
                <a:cs typeface="+mn-cs"/>
              </a:rPr>
              <a:t>&lt;</a:t>
            </a:r>
            <a:r>
              <a:rPr lang="en-US" sz="500" kern="1200" spc="-80">
                <a:solidFill>
                  <a:schemeClr val="tx1"/>
                </a:solidFill>
                <a:latin typeface="+mn-lt"/>
                <a:ea typeface="+mn-ea"/>
                <a:cs typeface="+mn-cs"/>
              </a:rPr>
              <a:t> </a:t>
            </a:r>
            <a:r>
              <a:rPr lang="en-US" sz="500" kern="1200" spc="-10">
                <a:solidFill>
                  <a:schemeClr val="tx1"/>
                </a:solidFill>
                <a:latin typeface="+mn-lt"/>
                <a:ea typeface="+mn-ea"/>
                <a:cs typeface="+mn-cs"/>
              </a:rPr>
              <a:t>goodnight,</a:t>
            </a:r>
            <a:r>
              <a:rPr lang="en-US" sz="500" kern="1200" spc="-75">
                <a:solidFill>
                  <a:schemeClr val="tx1"/>
                </a:solidFill>
                <a:latin typeface="+mn-lt"/>
                <a:ea typeface="+mn-ea"/>
                <a:cs typeface="+mn-cs"/>
              </a:rPr>
              <a:t> </a:t>
            </a:r>
            <a:r>
              <a:rPr lang="en-US" sz="500" kern="1200" spc="-340">
                <a:solidFill>
                  <a:schemeClr val="tx1"/>
                </a:solidFill>
                <a:latin typeface="+mn-lt"/>
                <a:ea typeface="+mn-ea"/>
                <a:cs typeface="+mn-cs"/>
              </a:rPr>
              <a:t>1</a:t>
            </a:r>
            <a:r>
              <a:rPr lang="en-US" sz="500" kern="1200" spc="-80">
                <a:solidFill>
                  <a:schemeClr val="tx1"/>
                </a:solidFill>
                <a:latin typeface="+mn-lt"/>
                <a:ea typeface="+mn-ea"/>
                <a:cs typeface="+mn-cs"/>
              </a:rPr>
              <a:t> </a:t>
            </a:r>
            <a:r>
              <a:rPr lang="en-US" sz="500" kern="1200" spc="-50">
                <a:solidFill>
                  <a:schemeClr val="tx1"/>
                </a:solidFill>
                <a:latin typeface="+mn-lt"/>
                <a:ea typeface="+mn-ea"/>
                <a:cs typeface="+mn-cs"/>
              </a:rPr>
              <a:t>&gt;</a:t>
            </a:r>
            <a:endParaRPr lang="en-US" sz="500" kern="1200">
              <a:solidFill>
                <a:schemeClr val="tx1"/>
              </a:solidFill>
              <a:latin typeface="+mn-lt"/>
              <a:ea typeface="+mn-ea"/>
              <a:cs typeface="+mn-cs"/>
            </a:endParaRPr>
          </a:p>
          <a:p>
            <a:pPr>
              <a:lnSpc>
                <a:spcPct val="90000"/>
              </a:lnSpc>
              <a:spcBef>
                <a:spcPts val="1000"/>
              </a:spcBef>
            </a:pPr>
            <a:r>
              <a:rPr lang="en-US" sz="500" kern="1200" spc="-150">
                <a:solidFill>
                  <a:schemeClr val="tx1"/>
                </a:solidFill>
                <a:latin typeface="+mn-lt"/>
                <a:ea typeface="+mn-ea"/>
                <a:cs typeface="+mn-cs"/>
              </a:rPr>
              <a:t>&lt;</a:t>
            </a:r>
            <a:r>
              <a:rPr lang="en-US" sz="500" kern="1200" spc="-90">
                <a:solidFill>
                  <a:schemeClr val="tx1"/>
                </a:solidFill>
                <a:latin typeface="+mn-lt"/>
                <a:ea typeface="+mn-ea"/>
                <a:cs typeface="+mn-cs"/>
              </a:rPr>
              <a:t> </a:t>
            </a:r>
            <a:r>
              <a:rPr lang="en-US" sz="500" kern="1200" spc="-20">
                <a:solidFill>
                  <a:schemeClr val="tx1"/>
                </a:solidFill>
                <a:latin typeface="+mn-lt"/>
                <a:ea typeface="+mn-ea"/>
                <a:cs typeface="+mn-cs"/>
              </a:rPr>
              <a:t>moon,</a:t>
            </a:r>
            <a:r>
              <a:rPr lang="en-US" sz="500" kern="1200" spc="-75">
                <a:solidFill>
                  <a:schemeClr val="tx1"/>
                </a:solidFill>
                <a:latin typeface="+mn-lt"/>
                <a:ea typeface="+mn-ea"/>
                <a:cs typeface="+mn-cs"/>
              </a:rPr>
              <a:t> </a:t>
            </a:r>
            <a:r>
              <a:rPr lang="en-US" sz="500" kern="1200" spc="-340">
                <a:solidFill>
                  <a:schemeClr val="tx1"/>
                </a:solidFill>
                <a:latin typeface="+mn-lt"/>
                <a:ea typeface="+mn-ea"/>
                <a:cs typeface="+mn-cs"/>
              </a:rPr>
              <a:t>1</a:t>
            </a:r>
            <a:r>
              <a:rPr lang="en-US" sz="500" kern="1200" spc="-95">
                <a:solidFill>
                  <a:schemeClr val="tx1"/>
                </a:solidFill>
                <a:latin typeface="+mn-lt"/>
                <a:ea typeface="+mn-ea"/>
                <a:cs typeface="+mn-cs"/>
              </a:rPr>
              <a:t> </a:t>
            </a:r>
            <a:r>
              <a:rPr lang="en-US" sz="500" kern="1200" spc="-50">
                <a:solidFill>
                  <a:schemeClr val="tx1"/>
                </a:solidFill>
                <a:latin typeface="+mn-lt"/>
                <a:ea typeface="+mn-ea"/>
                <a:cs typeface="+mn-cs"/>
              </a:rPr>
              <a:t>&gt;</a:t>
            </a:r>
            <a:endParaRPr lang="en-US" sz="500" kern="1200">
              <a:solidFill>
                <a:schemeClr val="tx1"/>
              </a:solidFill>
              <a:latin typeface="+mn-lt"/>
              <a:ea typeface="+mn-ea"/>
              <a:cs typeface="+mn-cs"/>
            </a:endParaRPr>
          </a:p>
        </p:txBody>
      </p:sp>
      <p:pic>
        <p:nvPicPr>
          <p:cNvPr id="13" name="Picture 12" descr="World map with flight paths">
            <a:extLst>
              <a:ext uri="{FF2B5EF4-FFF2-40B4-BE49-F238E27FC236}">
                <a16:creationId xmlns:a16="http://schemas.microsoft.com/office/drawing/2014/main" id="{0F35692B-CFF1-5ACB-574A-F7BA6D63936E}"/>
              </a:ext>
            </a:extLst>
          </p:cNvPr>
          <p:cNvPicPr>
            <a:picLocks noChangeAspect="1"/>
          </p:cNvPicPr>
          <p:nvPr/>
        </p:nvPicPr>
        <p:blipFill>
          <a:blip r:embed="rId2"/>
          <a:srcRect l="13053" r="20499"/>
          <a:stretch>
            <a:fillRect/>
          </a:stretch>
        </p:blipFill>
        <p:spPr>
          <a:xfrm>
            <a:off x="20" y="3"/>
            <a:ext cx="4062634" cy="4172786"/>
          </a:xfrm>
          <a:prstGeom prst="rect">
            <a:avLst/>
          </a:prstGeom>
        </p:spPr>
      </p:pic>
      <p:cxnSp>
        <p:nvCxnSpPr>
          <p:cNvPr id="14" name="Straight Connector 13">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object 2"/>
          <p:cNvSpPr txBox="1"/>
          <p:nvPr/>
        </p:nvSpPr>
        <p:spPr>
          <a:xfrm>
            <a:off x="4572000" y="152400"/>
            <a:ext cx="3048000" cy="6839693"/>
          </a:xfrm>
          <a:prstGeom prst="rect">
            <a:avLst/>
          </a:prstGeom>
        </p:spPr>
        <p:txBody>
          <a:bodyPr vert="horz" wrap="square" lIns="0" tIns="12065" rIns="0" bIns="0" rtlCol="0">
            <a:spAutoFit/>
          </a:bodyPr>
          <a:lstStyle/>
          <a:p>
            <a:pPr marL="12700">
              <a:spcBef>
                <a:spcPts val="95"/>
              </a:spcBef>
              <a:tabLst>
                <a:tab pos="286385" algn="l"/>
              </a:tabLst>
            </a:pPr>
            <a:r>
              <a:rPr sz="2400" spc="-50" dirty="0">
                <a:solidFill>
                  <a:srgbClr val="30B6FC"/>
                </a:solidFill>
                <a:latin typeface="Geneva"/>
                <a:cs typeface="Geneva"/>
              </a:rPr>
              <a:t>∗</a:t>
            </a:r>
            <a:r>
              <a:rPr sz="2400" dirty="0">
                <a:solidFill>
                  <a:srgbClr val="30B6FC"/>
                </a:solidFill>
                <a:latin typeface="Geneva"/>
                <a:cs typeface="Geneva"/>
              </a:rPr>
              <a:t>	</a:t>
            </a:r>
            <a:r>
              <a:rPr sz="2400" spc="-25" dirty="0">
                <a:solidFill>
                  <a:srgbClr val="063D86"/>
                </a:solidFill>
                <a:latin typeface="Arial"/>
                <a:cs typeface="Arial"/>
              </a:rPr>
              <a:t>Map</a:t>
            </a:r>
            <a:endParaRPr sz="2400" dirty="0">
              <a:latin typeface="Arial"/>
              <a:cs typeface="Arial"/>
            </a:endParaRPr>
          </a:p>
          <a:p>
            <a:pPr marL="314325">
              <a:spcBef>
                <a:spcPts val="15"/>
              </a:spcBef>
              <a:tabLst>
                <a:tab pos="588645" algn="l"/>
              </a:tabLst>
            </a:pPr>
            <a:r>
              <a:rPr sz="2400" spc="-50" dirty="0">
                <a:solidFill>
                  <a:srgbClr val="30B6FC"/>
                </a:solidFill>
                <a:latin typeface="Geneva"/>
                <a:cs typeface="Geneva"/>
              </a:rPr>
              <a:t>∗</a:t>
            </a:r>
            <a:r>
              <a:rPr sz="2400" dirty="0">
                <a:solidFill>
                  <a:srgbClr val="30B6FC"/>
                </a:solidFill>
                <a:latin typeface="Geneva"/>
                <a:cs typeface="Geneva"/>
              </a:rPr>
              <a:t>	</a:t>
            </a:r>
            <a:r>
              <a:rPr sz="2400" spc="-45" dirty="0">
                <a:solidFill>
                  <a:srgbClr val="063D86"/>
                </a:solidFill>
                <a:latin typeface="Arial"/>
                <a:cs typeface="Arial"/>
              </a:rPr>
              <a:t>First</a:t>
            </a:r>
            <a:r>
              <a:rPr sz="2400" spc="-75" dirty="0">
                <a:solidFill>
                  <a:srgbClr val="063D86"/>
                </a:solidFill>
                <a:latin typeface="Arial"/>
                <a:cs typeface="Arial"/>
              </a:rPr>
              <a:t> </a:t>
            </a:r>
            <a:r>
              <a:rPr sz="2400" spc="-20" dirty="0">
                <a:solidFill>
                  <a:srgbClr val="063D86"/>
                </a:solidFill>
                <a:latin typeface="Arial"/>
                <a:cs typeface="Arial"/>
              </a:rPr>
              <a:t>Map:</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25" dirty="0">
                <a:solidFill>
                  <a:srgbClr val="063D86"/>
                </a:solidFill>
                <a:latin typeface="Arial"/>
                <a:cs typeface="Arial"/>
              </a:rPr>
              <a:t>hello,</a:t>
            </a:r>
            <a:r>
              <a:rPr sz="2400" spc="-75" dirty="0">
                <a:solidFill>
                  <a:srgbClr val="063D86"/>
                </a:solidFill>
                <a:latin typeface="Arial"/>
                <a:cs typeface="Arial"/>
              </a:rPr>
              <a:t> </a:t>
            </a:r>
            <a:r>
              <a:rPr sz="2400" spc="-340" dirty="0">
                <a:solidFill>
                  <a:srgbClr val="063D86"/>
                </a:solidFill>
                <a:latin typeface="Arial"/>
                <a:cs typeface="Arial"/>
              </a:rPr>
              <a:t>1</a:t>
            </a:r>
            <a:r>
              <a:rPr sz="2400" spc="-9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75" dirty="0">
                <a:solidFill>
                  <a:srgbClr val="063D86"/>
                </a:solidFill>
                <a:latin typeface="Arial"/>
                <a:cs typeface="Arial"/>
              </a:rPr>
              <a:t> </a:t>
            </a:r>
            <a:r>
              <a:rPr sz="2400" dirty="0">
                <a:solidFill>
                  <a:srgbClr val="063D86"/>
                </a:solidFill>
                <a:latin typeface="Arial"/>
                <a:cs typeface="Arial"/>
              </a:rPr>
              <a:t>world,</a:t>
            </a:r>
            <a:r>
              <a:rPr sz="2400" spc="-80" dirty="0">
                <a:solidFill>
                  <a:srgbClr val="063D86"/>
                </a:solidFill>
                <a:latin typeface="Arial"/>
                <a:cs typeface="Arial"/>
              </a:rPr>
              <a:t> </a:t>
            </a:r>
            <a:r>
              <a:rPr sz="2400" spc="-340" dirty="0">
                <a:solidFill>
                  <a:srgbClr val="063D86"/>
                </a:solidFill>
                <a:latin typeface="Arial"/>
                <a:cs typeface="Arial"/>
              </a:rPr>
              <a:t>1</a:t>
            </a:r>
            <a:r>
              <a:rPr sz="2400" spc="-7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25" dirty="0">
                <a:solidFill>
                  <a:srgbClr val="063D86"/>
                </a:solidFill>
                <a:latin typeface="Arial"/>
                <a:cs typeface="Arial"/>
              </a:rPr>
              <a:t>hello,</a:t>
            </a:r>
            <a:r>
              <a:rPr sz="2400" spc="-75" dirty="0">
                <a:solidFill>
                  <a:srgbClr val="063D86"/>
                </a:solidFill>
                <a:latin typeface="Arial"/>
                <a:cs typeface="Arial"/>
              </a:rPr>
              <a:t> </a:t>
            </a:r>
            <a:r>
              <a:rPr sz="2400" spc="-340" dirty="0">
                <a:solidFill>
                  <a:srgbClr val="063D86"/>
                </a:solidFill>
                <a:latin typeface="Arial"/>
                <a:cs typeface="Arial"/>
              </a:rPr>
              <a:t>1</a:t>
            </a:r>
            <a:r>
              <a:rPr sz="2400" spc="-9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25" dirty="0">
                <a:solidFill>
                  <a:srgbClr val="063D86"/>
                </a:solidFill>
                <a:latin typeface="Arial"/>
                <a:cs typeface="Arial"/>
              </a:rPr>
              <a:t>moon,</a:t>
            </a:r>
            <a:r>
              <a:rPr sz="2400" spc="-65" dirty="0">
                <a:solidFill>
                  <a:srgbClr val="063D86"/>
                </a:solidFill>
                <a:latin typeface="Arial"/>
                <a:cs typeface="Arial"/>
              </a:rPr>
              <a:t> </a:t>
            </a:r>
            <a:r>
              <a:rPr sz="2400" spc="-340" dirty="0">
                <a:solidFill>
                  <a:srgbClr val="063D86"/>
                </a:solidFill>
                <a:latin typeface="Arial"/>
                <a:cs typeface="Arial"/>
              </a:rPr>
              <a:t>1</a:t>
            </a:r>
            <a:r>
              <a:rPr sz="2400" spc="-9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12700">
              <a:spcBef>
                <a:spcPts val="730"/>
              </a:spcBef>
              <a:tabLst>
                <a:tab pos="286385" algn="l"/>
              </a:tabLst>
            </a:pPr>
            <a:r>
              <a:rPr sz="2400" spc="-50" dirty="0">
                <a:solidFill>
                  <a:srgbClr val="30B6FC"/>
                </a:solidFill>
                <a:latin typeface="Geneva"/>
                <a:cs typeface="Geneva"/>
              </a:rPr>
              <a:t>∗</a:t>
            </a:r>
            <a:r>
              <a:rPr sz="2400" dirty="0">
                <a:solidFill>
                  <a:srgbClr val="30B6FC"/>
                </a:solidFill>
                <a:latin typeface="Geneva"/>
                <a:cs typeface="Geneva"/>
              </a:rPr>
              <a:t>	</a:t>
            </a:r>
            <a:r>
              <a:rPr sz="2400" spc="-10" dirty="0">
                <a:solidFill>
                  <a:srgbClr val="063D86"/>
                </a:solidFill>
                <a:latin typeface="Arial"/>
                <a:cs typeface="Arial"/>
              </a:rPr>
              <a:t>Combine</a:t>
            </a:r>
            <a:endParaRPr sz="2400" dirty="0">
              <a:latin typeface="Arial"/>
              <a:cs typeface="Arial"/>
            </a:endParaRPr>
          </a:p>
          <a:p>
            <a:pPr marL="314325">
              <a:spcBef>
                <a:spcPts val="10"/>
              </a:spcBef>
              <a:tabLst>
                <a:tab pos="588645" algn="l"/>
              </a:tabLst>
            </a:pPr>
            <a:r>
              <a:rPr sz="2400" spc="-50" dirty="0">
                <a:solidFill>
                  <a:srgbClr val="30B6FC"/>
                </a:solidFill>
                <a:latin typeface="Geneva"/>
                <a:cs typeface="Geneva"/>
              </a:rPr>
              <a:t>∗</a:t>
            </a:r>
            <a:r>
              <a:rPr sz="2400" dirty="0">
                <a:solidFill>
                  <a:srgbClr val="30B6FC"/>
                </a:solidFill>
                <a:latin typeface="Geneva"/>
                <a:cs typeface="Geneva"/>
              </a:rPr>
              <a:t>	</a:t>
            </a:r>
            <a:r>
              <a:rPr sz="2400" spc="-45" dirty="0">
                <a:solidFill>
                  <a:srgbClr val="063D86"/>
                </a:solidFill>
                <a:latin typeface="Arial"/>
                <a:cs typeface="Arial"/>
              </a:rPr>
              <a:t>First</a:t>
            </a:r>
            <a:r>
              <a:rPr sz="2400" spc="-75" dirty="0">
                <a:solidFill>
                  <a:srgbClr val="063D86"/>
                </a:solidFill>
                <a:latin typeface="Arial"/>
                <a:cs typeface="Arial"/>
              </a:rPr>
              <a:t> </a:t>
            </a:r>
            <a:r>
              <a:rPr sz="2400" spc="-20" dirty="0">
                <a:solidFill>
                  <a:srgbClr val="063D86"/>
                </a:solidFill>
                <a:latin typeface="Arial"/>
                <a:cs typeface="Arial"/>
              </a:rPr>
              <a:t>Map:</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25" dirty="0">
                <a:solidFill>
                  <a:srgbClr val="063D86"/>
                </a:solidFill>
                <a:latin typeface="Arial"/>
                <a:cs typeface="Arial"/>
              </a:rPr>
              <a:t>moon,</a:t>
            </a:r>
            <a:r>
              <a:rPr sz="2400" spc="-65" dirty="0">
                <a:solidFill>
                  <a:srgbClr val="063D86"/>
                </a:solidFill>
                <a:latin typeface="Arial"/>
                <a:cs typeface="Arial"/>
              </a:rPr>
              <a:t> </a:t>
            </a:r>
            <a:r>
              <a:rPr sz="2400" spc="-340" dirty="0">
                <a:solidFill>
                  <a:srgbClr val="063D86"/>
                </a:solidFill>
                <a:latin typeface="Arial"/>
                <a:cs typeface="Arial"/>
              </a:rPr>
              <a:t>1</a:t>
            </a:r>
            <a:r>
              <a:rPr sz="2400" spc="-9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75" dirty="0">
                <a:solidFill>
                  <a:srgbClr val="063D86"/>
                </a:solidFill>
                <a:latin typeface="Arial"/>
                <a:cs typeface="Arial"/>
              </a:rPr>
              <a:t> </a:t>
            </a:r>
            <a:r>
              <a:rPr sz="2400" dirty="0">
                <a:solidFill>
                  <a:srgbClr val="063D86"/>
                </a:solidFill>
                <a:latin typeface="Arial"/>
                <a:cs typeface="Arial"/>
              </a:rPr>
              <a:t>world,</a:t>
            </a:r>
            <a:r>
              <a:rPr sz="2400" spc="-80" dirty="0">
                <a:solidFill>
                  <a:srgbClr val="063D86"/>
                </a:solidFill>
                <a:latin typeface="Arial"/>
                <a:cs typeface="Arial"/>
              </a:rPr>
              <a:t> </a:t>
            </a:r>
            <a:r>
              <a:rPr sz="2400" spc="-340" dirty="0">
                <a:solidFill>
                  <a:srgbClr val="063D86"/>
                </a:solidFill>
                <a:latin typeface="Arial"/>
                <a:cs typeface="Arial"/>
              </a:rPr>
              <a:t>1</a:t>
            </a:r>
            <a:r>
              <a:rPr sz="2400" spc="-7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25" dirty="0">
                <a:solidFill>
                  <a:srgbClr val="063D86"/>
                </a:solidFill>
                <a:latin typeface="Arial"/>
                <a:cs typeface="Arial"/>
              </a:rPr>
              <a:t>hello,</a:t>
            </a:r>
            <a:r>
              <a:rPr sz="2400" spc="-70" dirty="0">
                <a:solidFill>
                  <a:srgbClr val="063D86"/>
                </a:solidFill>
                <a:latin typeface="Arial"/>
                <a:cs typeface="Arial"/>
              </a:rPr>
              <a:t> </a:t>
            </a:r>
            <a:r>
              <a:rPr sz="2400" spc="-160" dirty="0">
                <a:solidFill>
                  <a:srgbClr val="063D86"/>
                </a:solidFill>
                <a:latin typeface="Arial"/>
                <a:cs typeface="Arial"/>
              </a:rPr>
              <a:t>2</a:t>
            </a:r>
            <a:r>
              <a:rPr sz="2400" spc="-8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12700">
              <a:spcBef>
                <a:spcPts val="730"/>
              </a:spcBef>
              <a:tabLst>
                <a:tab pos="286385" algn="l"/>
              </a:tabLst>
            </a:pPr>
            <a:r>
              <a:rPr sz="2400" spc="-50" dirty="0">
                <a:solidFill>
                  <a:srgbClr val="30B6FC"/>
                </a:solidFill>
                <a:latin typeface="Geneva"/>
                <a:cs typeface="Geneva"/>
              </a:rPr>
              <a:t>∗</a:t>
            </a:r>
            <a:r>
              <a:rPr sz="2400" dirty="0">
                <a:solidFill>
                  <a:srgbClr val="30B6FC"/>
                </a:solidFill>
                <a:latin typeface="Geneva"/>
                <a:cs typeface="Geneva"/>
              </a:rPr>
              <a:t>	</a:t>
            </a:r>
            <a:r>
              <a:rPr sz="2400" spc="-10" dirty="0">
                <a:solidFill>
                  <a:srgbClr val="063D86"/>
                </a:solidFill>
                <a:latin typeface="Arial"/>
                <a:cs typeface="Arial"/>
              </a:rPr>
              <a:t>Reduce</a:t>
            </a:r>
            <a:endParaRPr sz="2400" dirty="0">
              <a:latin typeface="Arial"/>
              <a:cs typeface="Arial"/>
            </a:endParaRPr>
          </a:p>
          <a:p>
            <a:pPr marL="314325">
              <a:spcBef>
                <a:spcPts val="15"/>
              </a:spcBef>
              <a:tabLst>
                <a:tab pos="588645" algn="l"/>
              </a:tabLst>
            </a:pPr>
            <a:r>
              <a:rPr sz="2400" spc="-50" dirty="0">
                <a:solidFill>
                  <a:srgbClr val="30B6FC"/>
                </a:solidFill>
                <a:latin typeface="Geneva"/>
                <a:cs typeface="Geneva"/>
              </a:rPr>
              <a:t>∗</a:t>
            </a:r>
            <a:r>
              <a:rPr sz="2400" dirty="0">
                <a:solidFill>
                  <a:srgbClr val="30B6FC"/>
                </a:solidFill>
                <a:latin typeface="Geneva"/>
                <a:cs typeface="Geneva"/>
              </a:rPr>
              <a:t>	</a:t>
            </a:r>
            <a:r>
              <a:rPr sz="2400" spc="-45" dirty="0">
                <a:solidFill>
                  <a:srgbClr val="063D86"/>
                </a:solidFill>
                <a:latin typeface="Arial"/>
                <a:cs typeface="Arial"/>
              </a:rPr>
              <a:t>First</a:t>
            </a:r>
            <a:r>
              <a:rPr sz="2400" spc="-75" dirty="0">
                <a:solidFill>
                  <a:srgbClr val="063D86"/>
                </a:solidFill>
                <a:latin typeface="Arial"/>
                <a:cs typeface="Arial"/>
              </a:rPr>
              <a:t> </a:t>
            </a:r>
            <a:r>
              <a:rPr sz="2400" spc="-20" dirty="0">
                <a:solidFill>
                  <a:srgbClr val="063D86"/>
                </a:solidFill>
                <a:latin typeface="Arial"/>
                <a:cs typeface="Arial"/>
              </a:rPr>
              <a:t>Map:</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30" dirty="0">
                <a:solidFill>
                  <a:srgbClr val="063D86"/>
                </a:solidFill>
                <a:latin typeface="Arial"/>
                <a:cs typeface="Arial"/>
              </a:rPr>
              <a:t>goodbye,</a:t>
            </a:r>
            <a:r>
              <a:rPr sz="2400" spc="-70" dirty="0">
                <a:solidFill>
                  <a:srgbClr val="063D86"/>
                </a:solidFill>
                <a:latin typeface="Arial"/>
                <a:cs typeface="Arial"/>
              </a:rPr>
              <a:t> </a:t>
            </a:r>
            <a:r>
              <a:rPr sz="2400" spc="-340" dirty="0">
                <a:solidFill>
                  <a:srgbClr val="063D86"/>
                </a:solidFill>
                <a:latin typeface="Arial"/>
                <a:cs typeface="Arial"/>
              </a:rPr>
              <a:t>1</a:t>
            </a:r>
            <a:r>
              <a:rPr sz="2400" spc="-9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10" dirty="0">
                <a:solidFill>
                  <a:srgbClr val="063D86"/>
                </a:solidFill>
                <a:latin typeface="Arial"/>
                <a:cs typeface="Arial"/>
              </a:rPr>
              <a:t>goodnight,</a:t>
            </a:r>
            <a:r>
              <a:rPr sz="2400" spc="-70" dirty="0">
                <a:solidFill>
                  <a:srgbClr val="063D86"/>
                </a:solidFill>
                <a:latin typeface="Arial"/>
                <a:cs typeface="Arial"/>
              </a:rPr>
              <a:t> </a:t>
            </a:r>
            <a:r>
              <a:rPr sz="2400" spc="-340" dirty="0">
                <a:solidFill>
                  <a:srgbClr val="063D86"/>
                </a:solidFill>
                <a:latin typeface="Arial"/>
                <a:cs typeface="Arial"/>
              </a:rPr>
              <a:t>1</a:t>
            </a:r>
            <a:r>
              <a:rPr sz="2400" spc="-8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85" dirty="0">
                <a:solidFill>
                  <a:srgbClr val="063D86"/>
                </a:solidFill>
                <a:latin typeface="Arial"/>
                <a:cs typeface="Arial"/>
              </a:rPr>
              <a:t> </a:t>
            </a:r>
            <a:r>
              <a:rPr sz="2400" spc="-25" dirty="0">
                <a:solidFill>
                  <a:srgbClr val="063D86"/>
                </a:solidFill>
                <a:latin typeface="Arial"/>
                <a:cs typeface="Arial"/>
              </a:rPr>
              <a:t>moon,</a:t>
            </a:r>
            <a:r>
              <a:rPr sz="2400" spc="-60" dirty="0">
                <a:solidFill>
                  <a:srgbClr val="063D86"/>
                </a:solidFill>
                <a:latin typeface="Arial"/>
                <a:cs typeface="Arial"/>
              </a:rPr>
              <a:t> </a:t>
            </a:r>
            <a:r>
              <a:rPr sz="2400" spc="-160" dirty="0">
                <a:solidFill>
                  <a:srgbClr val="063D86"/>
                </a:solidFill>
                <a:latin typeface="Arial"/>
                <a:cs typeface="Arial"/>
              </a:rPr>
              <a:t>2</a:t>
            </a:r>
            <a:r>
              <a:rPr sz="2400" spc="-10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75" dirty="0">
                <a:solidFill>
                  <a:srgbClr val="063D86"/>
                </a:solidFill>
                <a:latin typeface="Arial"/>
                <a:cs typeface="Arial"/>
              </a:rPr>
              <a:t> </a:t>
            </a:r>
            <a:r>
              <a:rPr sz="2400" dirty="0">
                <a:solidFill>
                  <a:srgbClr val="063D86"/>
                </a:solidFill>
                <a:latin typeface="Arial"/>
                <a:cs typeface="Arial"/>
              </a:rPr>
              <a:t>world,</a:t>
            </a:r>
            <a:r>
              <a:rPr sz="2400" spc="-75" dirty="0">
                <a:solidFill>
                  <a:srgbClr val="063D86"/>
                </a:solidFill>
                <a:latin typeface="Arial"/>
                <a:cs typeface="Arial"/>
              </a:rPr>
              <a:t> </a:t>
            </a:r>
            <a:r>
              <a:rPr sz="2400" spc="-160" dirty="0">
                <a:solidFill>
                  <a:srgbClr val="063D86"/>
                </a:solidFill>
                <a:latin typeface="Arial"/>
                <a:cs typeface="Arial"/>
              </a:rPr>
              <a:t>2</a:t>
            </a:r>
            <a:r>
              <a:rPr sz="2400" spc="-8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588645"/>
            <a:r>
              <a:rPr sz="2400" spc="-150" dirty="0">
                <a:solidFill>
                  <a:srgbClr val="063D86"/>
                </a:solidFill>
                <a:latin typeface="Arial"/>
                <a:cs typeface="Arial"/>
              </a:rPr>
              <a:t>&lt;</a:t>
            </a:r>
            <a:r>
              <a:rPr sz="2400" spc="-80" dirty="0">
                <a:solidFill>
                  <a:srgbClr val="063D86"/>
                </a:solidFill>
                <a:latin typeface="Arial"/>
                <a:cs typeface="Arial"/>
              </a:rPr>
              <a:t> </a:t>
            </a:r>
            <a:r>
              <a:rPr sz="2400" spc="-30" dirty="0">
                <a:solidFill>
                  <a:srgbClr val="063D86"/>
                </a:solidFill>
                <a:latin typeface="Arial"/>
                <a:cs typeface="Arial"/>
              </a:rPr>
              <a:t>hello,</a:t>
            </a:r>
            <a:r>
              <a:rPr sz="2400" spc="-70" dirty="0">
                <a:solidFill>
                  <a:srgbClr val="063D86"/>
                </a:solidFill>
                <a:latin typeface="Arial"/>
                <a:cs typeface="Arial"/>
              </a:rPr>
              <a:t> </a:t>
            </a:r>
            <a:r>
              <a:rPr sz="2400" spc="-160" dirty="0">
                <a:solidFill>
                  <a:srgbClr val="063D86"/>
                </a:solidFill>
                <a:latin typeface="Arial"/>
                <a:cs typeface="Arial"/>
              </a:rPr>
              <a:t>2</a:t>
            </a:r>
            <a:r>
              <a:rPr sz="2400" spc="-8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p:txBody>
      </p:sp>
      <p:sp>
        <p:nvSpPr>
          <p:cNvPr id="5" name="object 5"/>
          <p:cNvSpPr txBox="1"/>
          <p:nvPr/>
        </p:nvSpPr>
        <p:spPr>
          <a:xfrm>
            <a:off x="7772400" y="2086396"/>
            <a:ext cx="3657600" cy="1858842"/>
          </a:xfrm>
          <a:prstGeom prst="rect">
            <a:avLst/>
          </a:prstGeom>
        </p:spPr>
        <p:txBody>
          <a:bodyPr vert="horz" wrap="square" lIns="0" tIns="12065" rIns="0" bIns="0" rtlCol="0">
            <a:spAutoFit/>
          </a:bodyPr>
          <a:lstStyle/>
          <a:p>
            <a:pPr marL="286385" indent="-273685">
              <a:spcBef>
                <a:spcPts val="95"/>
              </a:spcBef>
              <a:buClr>
                <a:srgbClr val="30B6FC"/>
              </a:buClr>
              <a:buSzPct val="90625"/>
              <a:buFont typeface="Wingdings 2"/>
              <a:buChar char=""/>
              <a:tabLst>
                <a:tab pos="286385" algn="l"/>
              </a:tabLst>
            </a:pPr>
            <a:r>
              <a:rPr sz="2400" spc="-85" dirty="0">
                <a:solidFill>
                  <a:srgbClr val="063D86"/>
                </a:solidFill>
                <a:latin typeface="Arial"/>
                <a:cs typeface="Arial"/>
              </a:rPr>
              <a:t>Second</a:t>
            </a:r>
            <a:r>
              <a:rPr sz="2400" spc="-20" dirty="0">
                <a:solidFill>
                  <a:srgbClr val="063D86"/>
                </a:solidFill>
                <a:latin typeface="Arial"/>
                <a:cs typeface="Arial"/>
              </a:rPr>
              <a:t> Map:</a:t>
            </a:r>
            <a:endParaRPr sz="2400" dirty="0">
              <a:latin typeface="Arial"/>
              <a:cs typeface="Arial"/>
            </a:endParaRPr>
          </a:p>
          <a:p>
            <a:pPr marL="287020"/>
            <a:r>
              <a:rPr sz="2400" spc="-150" dirty="0">
                <a:solidFill>
                  <a:srgbClr val="063D86"/>
                </a:solidFill>
                <a:latin typeface="Arial"/>
                <a:cs typeface="Arial"/>
              </a:rPr>
              <a:t>&lt;</a:t>
            </a:r>
            <a:r>
              <a:rPr sz="2400" spc="-70" dirty="0">
                <a:solidFill>
                  <a:srgbClr val="063D86"/>
                </a:solidFill>
                <a:latin typeface="Arial"/>
                <a:cs typeface="Arial"/>
              </a:rPr>
              <a:t> </a:t>
            </a:r>
            <a:r>
              <a:rPr sz="2400" spc="-35" dirty="0">
                <a:solidFill>
                  <a:srgbClr val="063D86"/>
                </a:solidFill>
                <a:latin typeface="Arial"/>
                <a:cs typeface="Arial"/>
              </a:rPr>
              <a:t>goodbye,</a:t>
            </a:r>
            <a:r>
              <a:rPr sz="2400" spc="-55" dirty="0">
                <a:solidFill>
                  <a:srgbClr val="063D86"/>
                </a:solidFill>
                <a:latin typeface="Arial"/>
                <a:cs typeface="Arial"/>
              </a:rPr>
              <a:t> </a:t>
            </a:r>
            <a:r>
              <a:rPr sz="2400" spc="-340" dirty="0">
                <a:solidFill>
                  <a:srgbClr val="063D86"/>
                </a:solidFill>
                <a:latin typeface="Arial"/>
                <a:cs typeface="Arial"/>
              </a:rPr>
              <a:t>1</a:t>
            </a:r>
            <a:r>
              <a:rPr sz="2400" spc="-8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287020"/>
            <a:r>
              <a:rPr sz="2400" spc="-150" dirty="0">
                <a:solidFill>
                  <a:srgbClr val="063D86"/>
                </a:solidFill>
                <a:latin typeface="Arial"/>
                <a:cs typeface="Arial"/>
              </a:rPr>
              <a:t>&lt;</a:t>
            </a:r>
            <a:r>
              <a:rPr sz="2400" spc="-75" dirty="0">
                <a:solidFill>
                  <a:srgbClr val="063D86"/>
                </a:solidFill>
                <a:latin typeface="Arial"/>
                <a:cs typeface="Arial"/>
              </a:rPr>
              <a:t> </a:t>
            </a:r>
            <a:r>
              <a:rPr sz="2400" dirty="0">
                <a:solidFill>
                  <a:srgbClr val="063D86"/>
                </a:solidFill>
                <a:latin typeface="Arial"/>
                <a:cs typeface="Arial"/>
              </a:rPr>
              <a:t>world,</a:t>
            </a:r>
            <a:r>
              <a:rPr sz="2400" spc="-80" dirty="0">
                <a:solidFill>
                  <a:srgbClr val="063D86"/>
                </a:solidFill>
                <a:latin typeface="Arial"/>
                <a:cs typeface="Arial"/>
              </a:rPr>
              <a:t> </a:t>
            </a:r>
            <a:r>
              <a:rPr sz="2400" spc="-340" dirty="0">
                <a:solidFill>
                  <a:srgbClr val="063D86"/>
                </a:solidFill>
                <a:latin typeface="Arial"/>
                <a:cs typeface="Arial"/>
              </a:rPr>
              <a:t>1</a:t>
            </a:r>
            <a:r>
              <a:rPr sz="2400" spc="-7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287020"/>
            <a:r>
              <a:rPr sz="2400" spc="-150" dirty="0">
                <a:solidFill>
                  <a:srgbClr val="063D86"/>
                </a:solidFill>
                <a:latin typeface="Arial"/>
                <a:cs typeface="Arial"/>
              </a:rPr>
              <a:t>&lt;</a:t>
            </a:r>
            <a:r>
              <a:rPr sz="2400" spc="-80" dirty="0">
                <a:solidFill>
                  <a:srgbClr val="063D86"/>
                </a:solidFill>
                <a:latin typeface="Arial"/>
                <a:cs typeface="Arial"/>
              </a:rPr>
              <a:t> </a:t>
            </a:r>
            <a:r>
              <a:rPr sz="2400" spc="-10" dirty="0">
                <a:solidFill>
                  <a:srgbClr val="063D86"/>
                </a:solidFill>
                <a:latin typeface="Arial"/>
                <a:cs typeface="Arial"/>
              </a:rPr>
              <a:t>goodnight,</a:t>
            </a:r>
            <a:r>
              <a:rPr sz="2400" spc="-75" dirty="0">
                <a:solidFill>
                  <a:srgbClr val="063D86"/>
                </a:solidFill>
                <a:latin typeface="Arial"/>
                <a:cs typeface="Arial"/>
              </a:rPr>
              <a:t> </a:t>
            </a:r>
            <a:r>
              <a:rPr sz="2400" spc="-340" dirty="0">
                <a:solidFill>
                  <a:srgbClr val="063D86"/>
                </a:solidFill>
                <a:latin typeface="Arial"/>
                <a:cs typeface="Arial"/>
              </a:rPr>
              <a:t>1</a:t>
            </a:r>
            <a:r>
              <a:rPr sz="2400" spc="-80"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a:p>
            <a:pPr marL="287020"/>
            <a:r>
              <a:rPr sz="2400" spc="-150" dirty="0">
                <a:solidFill>
                  <a:srgbClr val="063D86"/>
                </a:solidFill>
                <a:latin typeface="Arial"/>
                <a:cs typeface="Arial"/>
              </a:rPr>
              <a:t>&lt;</a:t>
            </a:r>
            <a:r>
              <a:rPr sz="2400" spc="-90" dirty="0">
                <a:solidFill>
                  <a:srgbClr val="063D86"/>
                </a:solidFill>
                <a:latin typeface="Arial"/>
                <a:cs typeface="Arial"/>
              </a:rPr>
              <a:t> </a:t>
            </a:r>
            <a:r>
              <a:rPr sz="2400" spc="-20" dirty="0">
                <a:solidFill>
                  <a:srgbClr val="063D86"/>
                </a:solidFill>
                <a:latin typeface="Arial"/>
                <a:cs typeface="Arial"/>
              </a:rPr>
              <a:t>moon,</a:t>
            </a:r>
            <a:r>
              <a:rPr sz="2400" spc="-75" dirty="0">
                <a:solidFill>
                  <a:srgbClr val="063D86"/>
                </a:solidFill>
                <a:latin typeface="Arial"/>
                <a:cs typeface="Arial"/>
              </a:rPr>
              <a:t> </a:t>
            </a:r>
            <a:r>
              <a:rPr sz="2400" spc="-340" dirty="0">
                <a:solidFill>
                  <a:srgbClr val="063D86"/>
                </a:solidFill>
                <a:latin typeface="Arial"/>
                <a:cs typeface="Arial"/>
              </a:rPr>
              <a:t>1</a:t>
            </a:r>
            <a:r>
              <a:rPr sz="2400" spc="-95" dirty="0">
                <a:solidFill>
                  <a:srgbClr val="063D86"/>
                </a:solidFill>
                <a:latin typeface="Arial"/>
                <a:cs typeface="Arial"/>
              </a:rPr>
              <a:t> </a:t>
            </a:r>
            <a:r>
              <a:rPr sz="2400" spc="-50" dirty="0">
                <a:solidFill>
                  <a:srgbClr val="063D86"/>
                </a:solidFill>
                <a:latin typeface="Arial"/>
                <a:cs typeface="Arial"/>
              </a:rPr>
              <a:t>&gt;</a:t>
            </a:r>
            <a:endParaRPr sz="2400" dirty="0">
              <a:latin typeface="Arial"/>
              <a:cs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B47FC9C-2ED3-4100-A4EF-E8CDFEE10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object 2" descr="$PPTXTitle"/>
          <p:cNvSpPr txBox="1">
            <a:spLocks noGrp="1"/>
          </p:cNvSpPr>
          <p:nvPr>
            <p:ph type="title"/>
          </p:nvPr>
        </p:nvSpPr>
        <p:spPr>
          <a:xfrm>
            <a:off x="838200" y="5358141"/>
            <a:ext cx="10515600" cy="942664"/>
          </a:xfrm>
          <a:prstGeom prst="rect">
            <a:avLst/>
          </a:prstGeom>
        </p:spPr>
        <p:txBody>
          <a:bodyPr vert="horz" lIns="0" tIns="13335" rIns="0" bIns="0" rtlCol="0">
            <a:normAutofit/>
          </a:bodyPr>
          <a:lstStyle/>
          <a:p>
            <a:pPr marL="2832100" algn="ctr">
              <a:spcBef>
                <a:spcPts val="105"/>
              </a:spcBef>
            </a:pPr>
            <a:r>
              <a:rPr lang="en-US" sz="5200" spc="-120"/>
              <a:t>Combiner</a:t>
            </a:r>
          </a:p>
        </p:txBody>
      </p:sp>
      <p:pic>
        <p:nvPicPr>
          <p:cNvPr id="3" name="object 3" descr="https://farm3.static.flickr.com/2374/3529959828_0b689d1d5c_o.png"/>
          <p:cNvPicPr/>
          <p:nvPr/>
        </p:nvPicPr>
        <p:blipFill>
          <a:blip r:embed="rId2" cstate="print"/>
          <a:stretch>
            <a:fillRect/>
          </a:stretch>
        </p:blipFill>
        <p:spPr>
          <a:xfrm>
            <a:off x="2222161" y="557189"/>
            <a:ext cx="7747677" cy="4629236"/>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12700"/>
            <a:r>
              <a:rPr lang="en-US" sz="4800" kern="1200" spc="-20">
                <a:solidFill>
                  <a:schemeClr val="tx1"/>
                </a:solidFill>
                <a:latin typeface="+mj-lt"/>
                <a:ea typeface="+mj-ea"/>
                <a:cs typeface="+mj-cs"/>
              </a:rPr>
              <a:t>Partitioner</a:t>
            </a:r>
            <a:r>
              <a:rPr lang="en-US" sz="4800" kern="1200" spc="-245">
                <a:solidFill>
                  <a:schemeClr val="tx1"/>
                </a:solidFill>
                <a:latin typeface="+mj-lt"/>
                <a:ea typeface="+mj-ea"/>
                <a:cs typeface="+mj-cs"/>
              </a:rPr>
              <a:t> </a:t>
            </a:r>
            <a:r>
              <a:rPr lang="en-US" sz="4800" kern="1200" spc="-160">
                <a:solidFill>
                  <a:schemeClr val="tx1"/>
                </a:solidFill>
                <a:latin typeface="+mj-lt"/>
                <a:ea typeface="+mj-ea"/>
                <a:cs typeface="+mj-cs"/>
              </a:rPr>
              <a:t>and</a:t>
            </a:r>
            <a:r>
              <a:rPr lang="en-US" sz="4800" kern="1200" spc="-245">
                <a:solidFill>
                  <a:schemeClr val="tx1"/>
                </a:solidFill>
                <a:latin typeface="+mj-lt"/>
                <a:ea typeface="+mj-ea"/>
                <a:cs typeface="+mj-cs"/>
              </a:rPr>
              <a:t> </a:t>
            </a:r>
            <a:r>
              <a:rPr lang="en-US" sz="4800" kern="1200" spc="-20">
                <a:solidFill>
                  <a:schemeClr val="tx1"/>
                </a:solidFill>
                <a:latin typeface="+mj-lt"/>
                <a:ea typeface="+mj-ea"/>
                <a:cs typeface="+mj-cs"/>
              </a:rPr>
              <a:t>Sort</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object 3" descr="https://farm3.static.flickr.com/2275/3529146683_c8247ff6db_o.png"/>
          <p:cNvPicPr/>
          <p:nvPr/>
        </p:nvPicPr>
        <p:blipFill>
          <a:blip r:embed="rId2" cstate="print"/>
          <a:stretch>
            <a:fillRect/>
          </a:stretch>
        </p:blipFill>
        <p:spPr>
          <a:xfrm>
            <a:off x="5465375" y="625684"/>
            <a:ext cx="6306798" cy="545538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4ECDE7A-6944-466D-8FFE-149A29BA6B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B3420082-9415-44EC-802E-C77D71D59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12700">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55A52C45-1FCB-4636-A80F-2849B8226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ctrTitle"/>
          </p:nvPr>
        </p:nvSpPr>
        <p:spPr>
          <a:xfrm>
            <a:off x="1115568" y="548640"/>
            <a:ext cx="10168128" cy="1179576"/>
          </a:xfrm>
          <a:prstGeom prst="rect">
            <a:avLst/>
          </a:prstGeom>
        </p:spPr>
        <p:txBody>
          <a:bodyPr vert="horz" lIns="91440" tIns="45720" rIns="91440" bIns="45720" rtlCol="0" anchor="ctr">
            <a:normAutofit/>
          </a:bodyPr>
          <a:lstStyle/>
          <a:p>
            <a:pPr marL="12700"/>
            <a:r>
              <a:rPr lang="en-US" sz="4000" spc="-75">
                <a:solidFill>
                  <a:schemeClr val="tx1"/>
                </a:solidFill>
                <a:latin typeface="+mj-lt"/>
                <a:cs typeface="+mj-cs"/>
              </a:rPr>
              <a:t>Main</a:t>
            </a:r>
            <a:r>
              <a:rPr lang="en-US" sz="4000" spc="-270">
                <a:solidFill>
                  <a:schemeClr val="tx1"/>
                </a:solidFill>
                <a:latin typeface="+mj-lt"/>
                <a:cs typeface="+mj-cs"/>
              </a:rPr>
              <a:t> </a:t>
            </a:r>
            <a:r>
              <a:rPr lang="en-US" sz="4000" spc="-250">
                <a:solidFill>
                  <a:schemeClr val="tx1"/>
                </a:solidFill>
                <a:latin typeface="+mj-lt"/>
                <a:cs typeface="+mj-cs"/>
              </a:rPr>
              <a:t>Run</a:t>
            </a:r>
            <a:r>
              <a:rPr lang="en-US" sz="4000" spc="-254">
                <a:solidFill>
                  <a:schemeClr val="tx1"/>
                </a:solidFill>
                <a:latin typeface="+mj-lt"/>
                <a:cs typeface="+mj-cs"/>
              </a:rPr>
              <a:t> </a:t>
            </a:r>
            <a:r>
              <a:rPr lang="en-US" sz="4000">
                <a:solidFill>
                  <a:schemeClr val="tx1"/>
                </a:solidFill>
                <a:latin typeface="+mj-lt"/>
                <a:cs typeface="+mj-cs"/>
              </a:rPr>
              <a:t>Method:</a:t>
            </a:r>
            <a:r>
              <a:rPr lang="en-US" sz="4000" spc="-265">
                <a:solidFill>
                  <a:schemeClr val="tx1"/>
                </a:solidFill>
                <a:latin typeface="+mj-lt"/>
                <a:cs typeface="+mj-cs"/>
              </a:rPr>
              <a:t> </a:t>
            </a:r>
            <a:r>
              <a:rPr lang="en-US" sz="4000" spc="-145">
                <a:solidFill>
                  <a:schemeClr val="tx1"/>
                </a:solidFill>
                <a:latin typeface="+mj-lt"/>
                <a:cs typeface="+mj-cs"/>
              </a:rPr>
              <a:t>Pseudocode</a:t>
            </a:r>
          </a:p>
        </p:txBody>
      </p:sp>
      <p:sp>
        <p:nvSpPr>
          <p:cNvPr id="15" name="Rectangle 14">
            <a:extLst>
              <a:ext uri="{FF2B5EF4-FFF2-40B4-BE49-F238E27FC236}">
                <a16:creationId xmlns:a16="http://schemas.microsoft.com/office/drawing/2014/main" id="{768EB4DD-3704-43AD-92B3-C4E0C6EA92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7079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object 3"/>
          <p:cNvPicPr/>
          <p:nvPr/>
        </p:nvPicPr>
        <p:blipFill>
          <a:blip r:embed="rId2" cstate="print"/>
          <a:srcRect r="-6" b="3238"/>
          <a:stretch>
            <a:fillRect/>
          </a:stretch>
        </p:blipFill>
        <p:spPr>
          <a:xfrm>
            <a:off x="908304" y="2478024"/>
            <a:ext cx="6009855" cy="3694176"/>
          </a:xfrm>
          <a:prstGeom prst="rect">
            <a:avLst/>
          </a:prstGeom>
        </p:spPr>
      </p:pic>
      <p:sp>
        <p:nvSpPr>
          <p:cNvPr id="4" name="object 4"/>
          <p:cNvSpPr txBox="1"/>
          <p:nvPr/>
        </p:nvSpPr>
        <p:spPr>
          <a:xfrm>
            <a:off x="7411453" y="2478024"/>
            <a:ext cx="3872243" cy="3694176"/>
          </a:xfrm>
          <a:prstGeom prst="rect">
            <a:avLst/>
          </a:prstGeom>
        </p:spPr>
        <p:txBody>
          <a:bodyPr vert="horz" lIns="91440" tIns="45720" rIns="91440" bIns="45720" rtlCol="0" anchor="ctr">
            <a:normAutofit/>
          </a:bodyPr>
          <a:lstStyle/>
          <a:p>
            <a:pPr marL="12700" marR="5080" indent="-228600">
              <a:lnSpc>
                <a:spcPct val="90000"/>
              </a:lnSpc>
              <a:spcBef>
                <a:spcPts val="100"/>
              </a:spcBef>
              <a:buFont typeface="Arial" panose="020B0604020202020204" pitchFamily="34" charset="0"/>
              <a:buChar char="•"/>
            </a:pPr>
            <a:r>
              <a:rPr lang="en-US"/>
              <a:t>For</a:t>
            </a:r>
            <a:r>
              <a:rPr lang="en-US" spc="-50"/>
              <a:t> </a:t>
            </a:r>
            <a:r>
              <a:rPr lang="en-US"/>
              <a:t>the</a:t>
            </a:r>
            <a:r>
              <a:rPr lang="en-US" spc="-50"/>
              <a:t> </a:t>
            </a:r>
            <a:r>
              <a:rPr lang="en-US"/>
              <a:t>Hadoop</a:t>
            </a:r>
            <a:r>
              <a:rPr lang="en-US" spc="-45"/>
              <a:t> </a:t>
            </a:r>
            <a:r>
              <a:rPr lang="en-US"/>
              <a:t>Code</a:t>
            </a:r>
            <a:r>
              <a:rPr lang="en-US" spc="-50"/>
              <a:t> </a:t>
            </a:r>
            <a:r>
              <a:rPr lang="en-US"/>
              <a:t>of</a:t>
            </a:r>
            <a:r>
              <a:rPr lang="en-US" spc="-50"/>
              <a:t> </a:t>
            </a:r>
            <a:r>
              <a:rPr lang="en-US"/>
              <a:t>RDD</a:t>
            </a:r>
            <a:r>
              <a:rPr lang="en-US" spc="-45"/>
              <a:t> </a:t>
            </a:r>
            <a:r>
              <a:rPr lang="en-US" spc="55"/>
              <a:t>on</a:t>
            </a:r>
            <a:r>
              <a:rPr lang="en-US" spc="-50"/>
              <a:t> </a:t>
            </a:r>
            <a:r>
              <a:rPr lang="en-US" spc="-10"/>
              <a:t>Spark</a:t>
            </a:r>
            <a:r>
              <a:rPr lang="en-US" spc="-50"/>
              <a:t> </a:t>
            </a:r>
            <a:r>
              <a:rPr lang="en-US" spc="-20"/>
              <a:t>please</a:t>
            </a:r>
            <a:r>
              <a:rPr lang="en-US" spc="-45"/>
              <a:t> </a:t>
            </a:r>
            <a:r>
              <a:rPr lang="en-US" spc="-35"/>
              <a:t>see</a:t>
            </a:r>
            <a:r>
              <a:rPr lang="en-US" spc="-50"/>
              <a:t> </a:t>
            </a:r>
            <a:r>
              <a:rPr lang="en-US" spc="-10"/>
              <a:t>below </a:t>
            </a:r>
            <a:r>
              <a:rPr lang="en-US" spc="-10">
                <a:hlinkClick r:id="rId3"/>
              </a:rPr>
              <a:t>https://drive.google.com/drive/folders/1nGsrNeJwtDa7C2hAEmcbB_VdPQk3QgCJ</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363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0" tIns="13335" rIns="0" bIns="0" rtlCol="0" anchor="ctr">
            <a:normAutofit/>
          </a:bodyPr>
          <a:lstStyle/>
          <a:p>
            <a:pPr marL="425450" algn="ctr">
              <a:spcBef>
                <a:spcPts val="105"/>
              </a:spcBef>
            </a:pPr>
            <a:r>
              <a:rPr lang="en-US" sz="2600" spc="-75">
                <a:solidFill>
                  <a:srgbClr val="FFFFFF"/>
                </a:solidFill>
              </a:rPr>
              <a:t>Main</a:t>
            </a:r>
            <a:r>
              <a:rPr lang="en-US" sz="2600" spc="-270">
                <a:solidFill>
                  <a:srgbClr val="FFFFFF"/>
                </a:solidFill>
              </a:rPr>
              <a:t> </a:t>
            </a:r>
            <a:r>
              <a:rPr lang="en-US" sz="2600" spc="-250">
                <a:solidFill>
                  <a:srgbClr val="FFFFFF"/>
                </a:solidFill>
              </a:rPr>
              <a:t>Run</a:t>
            </a:r>
            <a:r>
              <a:rPr lang="en-US" sz="2600" spc="-254">
                <a:solidFill>
                  <a:srgbClr val="FFFFFF"/>
                </a:solidFill>
              </a:rPr>
              <a:t> </a:t>
            </a:r>
            <a:r>
              <a:rPr lang="en-US" sz="2600">
                <a:solidFill>
                  <a:srgbClr val="FFFFFF"/>
                </a:solidFill>
              </a:rPr>
              <a:t>Method:</a:t>
            </a:r>
            <a:r>
              <a:rPr lang="en-US" sz="2600" spc="-265">
                <a:solidFill>
                  <a:srgbClr val="FFFFFF"/>
                </a:solidFill>
              </a:rPr>
              <a:t> </a:t>
            </a:r>
            <a:r>
              <a:rPr lang="en-US" sz="2600" spc="-260">
                <a:solidFill>
                  <a:srgbClr val="FFFFFF"/>
                </a:solidFill>
              </a:rPr>
              <a:t>The</a:t>
            </a:r>
            <a:r>
              <a:rPr lang="en-US" sz="2600" spc="-275">
                <a:solidFill>
                  <a:srgbClr val="FFFFFF"/>
                </a:solidFill>
              </a:rPr>
              <a:t> </a:t>
            </a:r>
            <a:r>
              <a:rPr lang="en-US" sz="2600" spc="-140">
                <a:solidFill>
                  <a:srgbClr val="FFFFFF"/>
                </a:solidFill>
              </a:rPr>
              <a:t>Engine</a:t>
            </a:r>
          </a:p>
        </p:txBody>
      </p:sp>
      <p:pic>
        <p:nvPicPr>
          <p:cNvPr id="3" name="object 3"/>
          <p:cNvPicPr/>
          <p:nvPr/>
        </p:nvPicPr>
        <p:blipFill>
          <a:blip r:embed="rId2" cstate="print"/>
          <a:stretch>
            <a:fillRect/>
          </a:stretch>
        </p:blipFill>
        <p:spPr>
          <a:xfrm>
            <a:off x="4367700" y="961812"/>
            <a:ext cx="6529999" cy="4930987"/>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1115568" y="548640"/>
            <a:ext cx="10168128" cy="1179576"/>
          </a:xfrm>
          <a:prstGeom prst="rect">
            <a:avLst/>
          </a:prstGeom>
        </p:spPr>
        <p:txBody>
          <a:bodyPr vert="horz" lIns="91440" tIns="45720" rIns="91440" bIns="45720" rtlCol="0" anchor="ctr">
            <a:normAutofit/>
          </a:bodyPr>
          <a:lstStyle/>
          <a:p>
            <a:pPr marL="2690495"/>
            <a:r>
              <a:rPr lang="en-US" sz="4000" kern="1200" spc="-150">
                <a:solidFill>
                  <a:schemeClr val="tx1"/>
                </a:solidFill>
                <a:latin typeface="+mj-lt"/>
                <a:ea typeface="+mj-ea"/>
                <a:cs typeface="+mj-cs"/>
              </a:rPr>
              <a:t>Job</a:t>
            </a:r>
            <a:r>
              <a:rPr lang="en-US" sz="4000" kern="1200" spc="-250">
                <a:solidFill>
                  <a:schemeClr val="tx1"/>
                </a:solidFill>
                <a:latin typeface="+mj-lt"/>
                <a:ea typeface="+mj-ea"/>
                <a:cs typeface="+mj-cs"/>
              </a:rPr>
              <a:t> </a:t>
            </a:r>
            <a:r>
              <a:rPr lang="en-US" sz="4000" kern="1200" spc="-105">
                <a:solidFill>
                  <a:schemeClr val="tx1"/>
                </a:solidFill>
                <a:latin typeface="+mj-lt"/>
                <a:ea typeface="+mj-ea"/>
                <a:cs typeface="+mj-cs"/>
              </a:rPr>
              <a:t>Details</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object 2"/>
          <p:cNvSpPr txBox="1"/>
          <p:nvPr/>
        </p:nvSpPr>
        <p:spPr>
          <a:xfrm>
            <a:off x="1115568" y="2481943"/>
            <a:ext cx="10168128" cy="3695020"/>
          </a:xfrm>
          <a:prstGeom prst="rect">
            <a:avLst/>
          </a:prstGeom>
        </p:spPr>
        <p:txBody>
          <a:bodyPr vert="horz" lIns="91440" tIns="45720" rIns="91440" bIns="45720" rtlCol="0">
            <a:normAutofit/>
          </a:bodyPr>
          <a:lstStyle/>
          <a:p>
            <a:pPr marL="12700" indent="-228600">
              <a:lnSpc>
                <a:spcPct val="90000"/>
              </a:lnSpc>
              <a:spcBef>
                <a:spcPts val="95"/>
              </a:spcBef>
              <a:buFont typeface="Arial" panose="020B0604020202020204" pitchFamily="34" charset="0"/>
              <a:buChar char="•"/>
              <a:tabLst>
                <a:tab pos="286385" algn="l"/>
              </a:tabLst>
            </a:pPr>
            <a:r>
              <a:rPr lang="en-US" sz="2000" spc="-50"/>
              <a:t>∗</a:t>
            </a:r>
            <a:r>
              <a:rPr lang="en-US" sz="2000"/>
              <a:t>	</a:t>
            </a:r>
            <a:r>
              <a:rPr lang="en-US" sz="2000" spc="-65"/>
              <a:t>Job</a:t>
            </a:r>
            <a:r>
              <a:rPr lang="en-US" sz="2000" spc="-110"/>
              <a:t> </a:t>
            </a:r>
            <a:r>
              <a:rPr lang="en-US" sz="2000" spc="-70"/>
              <a:t>sets</a:t>
            </a:r>
            <a:r>
              <a:rPr lang="en-US" sz="2000" spc="-90"/>
              <a:t> </a:t>
            </a:r>
            <a:r>
              <a:rPr lang="en-US" sz="2000"/>
              <a:t>the</a:t>
            </a:r>
            <a:r>
              <a:rPr lang="en-US" sz="2000" spc="-100"/>
              <a:t> </a:t>
            </a:r>
            <a:r>
              <a:rPr lang="en-US" sz="2000" spc="-35"/>
              <a:t>overall</a:t>
            </a:r>
            <a:r>
              <a:rPr lang="en-US" sz="2000" spc="-90"/>
              <a:t> </a:t>
            </a:r>
            <a:r>
              <a:rPr lang="en-US" sz="2000" spc="-85"/>
              <a:t>MapReduce </a:t>
            </a:r>
            <a:r>
              <a:rPr lang="en-US" sz="2000" spc="-20"/>
              <a:t>job</a:t>
            </a:r>
            <a:r>
              <a:rPr lang="en-US" sz="2000" spc="-105"/>
              <a:t> </a:t>
            </a:r>
            <a:r>
              <a:rPr lang="en-US" sz="2000" spc="-10"/>
              <a:t>configuration</a:t>
            </a:r>
            <a:endParaRPr lang="en-US" sz="2000"/>
          </a:p>
          <a:p>
            <a:pPr marL="12700" indent="-228600">
              <a:lnSpc>
                <a:spcPct val="90000"/>
              </a:lnSpc>
              <a:buFont typeface="Arial" panose="020B0604020202020204" pitchFamily="34" charset="0"/>
              <a:buChar char="•"/>
              <a:tabLst>
                <a:tab pos="286385" algn="l"/>
              </a:tabLst>
            </a:pPr>
            <a:r>
              <a:rPr lang="en-US" sz="2000" spc="-50"/>
              <a:t>∗</a:t>
            </a:r>
            <a:r>
              <a:rPr lang="en-US" sz="2000"/>
              <a:t>	</a:t>
            </a:r>
            <a:r>
              <a:rPr lang="en-US" sz="2000" spc="-65"/>
              <a:t>Job</a:t>
            </a:r>
            <a:r>
              <a:rPr lang="en-US" sz="2000" spc="-105"/>
              <a:t> </a:t>
            </a:r>
            <a:r>
              <a:rPr lang="en-US" sz="2000" spc="-90"/>
              <a:t>is</a:t>
            </a:r>
            <a:r>
              <a:rPr lang="en-US" sz="2000" spc="-105"/>
              <a:t> </a:t>
            </a:r>
            <a:r>
              <a:rPr lang="en-US" sz="2000" spc="-45"/>
              <a:t>specified</a:t>
            </a:r>
            <a:r>
              <a:rPr lang="en-US" sz="2000" spc="-60"/>
              <a:t> </a:t>
            </a:r>
            <a:r>
              <a:rPr lang="en-US" sz="2000" spc="-45"/>
              <a:t>client-</a:t>
            </a:r>
            <a:r>
              <a:rPr lang="en-US" sz="2000" spc="-20"/>
              <a:t>side</a:t>
            </a:r>
            <a:endParaRPr lang="en-US" sz="2000"/>
          </a:p>
          <a:p>
            <a:pPr marL="12700" indent="-228600">
              <a:lnSpc>
                <a:spcPct val="90000"/>
              </a:lnSpc>
              <a:buFont typeface="Arial" panose="020B0604020202020204" pitchFamily="34" charset="0"/>
              <a:buChar char="•"/>
              <a:tabLst>
                <a:tab pos="286385" algn="l"/>
              </a:tabLst>
            </a:pPr>
            <a:r>
              <a:rPr lang="en-US" sz="2000" spc="-50"/>
              <a:t>∗</a:t>
            </a:r>
            <a:r>
              <a:rPr lang="en-US" sz="2000"/>
              <a:t>	</a:t>
            </a:r>
            <a:r>
              <a:rPr lang="en-US" sz="2000" spc="-75"/>
              <a:t>Primary</a:t>
            </a:r>
            <a:r>
              <a:rPr lang="en-US" sz="2000" spc="-55"/>
              <a:t> </a:t>
            </a:r>
            <a:r>
              <a:rPr lang="en-US" sz="2000" spc="-30"/>
              <a:t>interface</a:t>
            </a:r>
            <a:r>
              <a:rPr lang="en-US" sz="2000" spc="-75"/>
              <a:t> </a:t>
            </a:r>
            <a:r>
              <a:rPr lang="en-US" sz="2000"/>
              <a:t>for</a:t>
            </a:r>
            <a:r>
              <a:rPr lang="en-US" sz="2000" spc="-70"/>
              <a:t> </a:t>
            </a:r>
            <a:r>
              <a:rPr lang="en-US" sz="2000" spc="-145"/>
              <a:t>a</a:t>
            </a:r>
            <a:r>
              <a:rPr lang="en-US" sz="2000" spc="-90"/>
              <a:t> </a:t>
            </a:r>
            <a:r>
              <a:rPr lang="en-US" sz="2000" spc="-70"/>
              <a:t>user</a:t>
            </a:r>
            <a:r>
              <a:rPr lang="en-US" sz="2000" spc="-85"/>
              <a:t> </a:t>
            </a:r>
            <a:r>
              <a:rPr lang="en-US" sz="2000" spc="70"/>
              <a:t>to</a:t>
            </a:r>
            <a:r>
              <a:rPr lang="en-US" sz="2000" spc="-80"/>
              <a:t> </a:t>
            </a:r>
            <a:r>
              <a:rPr lang="en-US" sz="2000" spc="-60"/>
              <a:t>describe </a:t>
            </a:r>
            <a:r>
              <a:rPr lang="en-US" sz="2000" spc="-145"/>
              <a:t>a</a:t>
            </a:r>
            <a:r>
              <a:rPr lang="en-US" sz="2000" spc="-80"/>
              <a:t> </a:t>
            </a:r>
            <a:r>
              <a:rPr lang="en-US" sz="2000" spc="-90"/>
              <a:t>MapReduce </a:t>
            </a:r>
            <a:r>
              <a:rPr lang="en-US" sz="2000" spc="-20"/>
              <a:t>job</a:t>
            </a:r>
            <a:r>
              <a:rPr lang="en-US" sz="2000" spc="-90"/>
              <a:t> </a:t>
            </a:r>
            <a:r>
              <a:rPr lang="en-US" sz="2000" spc="70"/>
              <a:t>to</a:t>
            </a:r>
            <a:r>
              <a:rPr lang="en-US" sz="2000" spc="-90"/>
              <a:t> </a:t>
            </a:r>
            <a:r>
              <a:rPr lang="en-US" sz="2000"/>
              <a:t>the</a:t>
            </a:r>
            <a:r>
              <a:rPr lang="en-US" sz="2000" spc="-85"/>
              <a:t> </a:t>
            </a:r>
            <a:r>
              <a:rPr lang="en-US" sz="2000" spc="-65"/>
              <a:t>Hadoop</a:t>
            </a:r>
            <a:r>
              <a:rPr lang="en-US" sz="2000" spc="-80"/>
              <a:t> </a:t>
            </a:r>
            <a:r>
              <a:rPr lang="en-US" sz="2000" spc="-10"/>
              <a:t>framework</a:t>
            </a:r>
            <a:r>
              <a:rPr lang="en-US" sz="2000" spc="-75"/>
              <a:t> </a:t>
            </a:r>
            <a:r>
              <a:rPr lang="en-US" sz="2000" spc="-25"/>
              <a:t>for</a:t>
            </a:r>
            <a:endParaRPr lang="en-US" sz="2000"/>
          </a:p>
          <a:p>
            <a:pPr marL="286385" indent="-228600">
              <a:lnSpc>
                <a:spcPct val="90000"/>
              </a:lnSpc>
              <a:buFont typeface="Arial" panose="020B0604020202020204" pitchFamily="34" charset="0"/>
              <a:buChar char="•"/>
            </a:pPr>
            <a:r>
              <a:rPr lang="en-US" sz="2000" spc="-10"/>
              <a:t>execution</a:t>
            </a:r>
            <a:endParaRPr lang="en-US" sz="2000"/>
          </a:p>
          <a:p>
            <a:pPr marL="12700" indent="-228600">
              <a:lnSpc>
                <a:spcPct val="90000"/>
              </a:lnSpc>
              <a:buFont typeface="Arial" panose="020B0604020202020204" pitchFamily="34" charset="0"/>
              <a:buChar char="•"/>
              <a:tabLst>
                <a:tab pos="286385" algn="l"/>
              </a:tabLst>
            </a:pPr>
            <a:r>
              <a:rPr lang="en-US" sz="2000" spc="-50"/>
              <a:t>∗</a:t>
            </a:r>
            <a:r>
              <a:rPr lang="en-US" sz="2000"/>
              <a:t>	</a:t>
            </a:r>
            <a:r>
              <a:rPr lang="en-US" sz="2000" spc="-100"/>
              <a:t>Used</a:t>
            </a:r>
            <a:r>
              <a:rPr lang="en-US" sz="2000" spc="-80"/>
              <a:t> </a:t>
            </a:r>
            <a:r>
              <a:rPr lang="en-US" sz="2000" spc="70"/>
              <a:t>to</a:t>
            </a:r>
            <a:r>
              <a:rPr lang="en-US" sz="2000" spc="-95"/>
              <a:t> </a:t>
            </a:r>
            <a:r>
              <a:rPr lang="en-US" sz="2000" spc="-10"/>
              <a:t>specify</a:t>
            </a:r>
            <a:endParaRPr lang="en-US" sz="2000"/>
          </a:p>
          <a:p>
            <a:pPr marL="314325" indent="-228600">
              <a:lnSpc>
                <a:spcPct val="90000"/>
              </a:lnSpc>
              <a:spcBef>
                <a:spcPts val="5"/>
              </a:spcBef>
              <a:buFont typeface="Arial" panose="020B0604020202020204" pitchFamily="34" charset="0"/>
              <a:buChar char="•"/>
              <a:tabLst>
                <a:tab pos="588645" algn="l"/>
              </a:tabLst>
            </a:pPr>
            <a:r>
              <a:rPr lang="en-US" sz="2000" spc="-50"/>
              <a:t>∗</a:t>
            </a:r>
            <a:r>
              <a:rPr lang="en-US" sz="2000"/>
              <a:t>	</a:t>
            </a:r>
            <a:r>
              <a:rPr lang="en-US" sz="2000" spc="-10"/>
              <a:t>Mapper</a:t>
            </a:r>
            <a:endParaRPr lang="en-US" sz="2000"/>
          </a:p>
          <a:p>
            <a:pPr marL="314325" indent="-228600">
              <a:lnSpc>
                <a:spcPct val="90000"/>
              </a:lnSpc>
              <a:spcBef>
                <a:spcPts val="5"/>
              </a:spcBef>
              <a:buFont typeface="Arial" panose="020B0604020202020204" pitchFamily="34" charset="0"/>
              <a:buChar char="•"/>
              <a:tabLst>
                <a:tab pos="588645" algn="l"/>
              </a:tabLst>
            </a:pPr>
            <a:r>
              <a:rPr lang="en-US" sz="2000" spc="-50"/>
              <a:t>∗</a:t>
            </a:r>
            <a:r>
              <a:rPr lang="en-US" sz="2000"/>
              <a:t>	</a:t>
            </a:r>
            <a:r>
              <a:rPr lang="en-US" sz="2000" spc="-55"/>
              <a:t>Combiner</a:t>
            </a:r>
            <a:r>
              <a:rPr lang="en-US" sz="2000" spc="-25"/>
              <a:t> </a:t>
            </a:r>
            <a:r>
              <a:rPr lang="en-US" sz="2000"/>
              <a:t>(if</a:t>
            </a:r>
            <a:r>
              <a:rPr lang="en-US" sz="2000" spc="-40"/>
              <a:t> </a:t>
            </a:r>
            <a:r>
              <a:rPr lang="en-US" sz="2000" spc="-20"/>
              <a:t>any)</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10"/>
              <a:t>Partitioner</a:t>
            </a:r>
            <a:r>
              <a:rPr lang="en-US" sz="2000" spc="-75"/>
              <a:t> </a:t>
            </a:r>
            <a:r>
              <a:rPr lang="en-US" sz="2000" spc="50"/>
              <a:t>(to</a:t>
            </a:r>
            <a:r>
              <a:rPr lang="en-US" sz="2000" spc="-75"/>
              <a:t> </a:t>
            </a:r>
            <a:r>
              <a:rPr lang="en-US" sz="2000"/>
              <a:t>partition</a:t>
            </a:r>
            <a:r>
              <a:rPr lang="en-US" sz="2000" spc="-60"/>
              <a:t> key</a:t>
            </a:r>
            <a:r>
              <a:rPr lang="en-US" sz="2000" spc="-75"/>
              <a:t> </a:t>
            </a:r>
            <a:r>
              <a:rPr lang="en-US" sz="2000" spc="-10"/>
              <a:t>space)</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10"/>
              <a:t>Reducer</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10"/>
              <a:t>InputFormat</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10"/>
              <a:t>OutputFormat</a:t>
            </a:r>
            <a:endParaRPr lang="en-US" sz="2000"/>
          </a:p>
          <a:p>
            <a:pPr marL="314325" indent="-228600">
              <a:lnSpc>
                <a:spcPct val="90000"/>
              </a:lnSpc>
              <a:buFont typeface="Arial" panose="020B0604020202020204" pitchFamily="34" charset="0"/>
              <a:buChar char="•"/>
              <a:tabLst>
                <a:tab pos="588645" algn="l"/>
              </a:tabLst>
            </a:pPr>
            <a:r>
              <a:rPr lang="en-US" sz="2000" spc="-50"/>
              <a:t>∗</a:t>
            </a:r>
            <a:r>
              <a:rPr lang="en-US" sz="2000"/>
              <a:t>	</a:t>
            </a:r>
            <a:r>
              <a:rPr lang="en-US" sz="2000" spc="-50"/>
              <a:t>Many</a:t>
            </a:r>
            <a:r>
              <a:rPr lang="en-US" sz="2000" spc="-90"/>
              <a:t> </a:t>
            </a:r>
            <a:r>
              <a:rPr lang="en-US" sz="2000" spc="-65"/>
              <a:t>user</a:t>
            </a:r>
            <a:r>
              <a:rPr lang="en-US" sz="2000" spc="-95"/>
              <a:t> </a:t>
            </a:r>
            <a:r>
              <a:rPr lang="en-US" sz="2000" spc="-20"/>
              <a:t>options;</a:t>
            </a:r>
            <a:r>
              <a:rPr lang="en-US" sz="2000" spc="-75"/>
              <a:t> </a:t>
            </a:r>
            <a:r>
              <a:rPr lang="en-US" sz="2000" spc="-30"/>
              <a:t>high</a:t>
            </a:r>
            <a:r>
              <a:rPr lang="en-US" sz="2000" spc="-80"/>
              <a:t> </a:t>
            </a:r>
            <a:r>
              <a:rPr lang="en-US" sz="2000" spc="-10"/>
              <a:t>customizability</a:t>
            </a:r>
            <a:endParaRPr lang="en-US" sz="20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808638" y="386930"/>
            <a:ext cx="9236700" cy="1188950"/>
          </a:xfrm>
          <a:prstGeom prst="rect">
            <a:avLst/>
          </a:prstGeom>
        </p:spPr>
        <p:txBody>
          <a:bodyPr vert="horz" lIns="0" tIns="13335" rIns="0" bIns="0" rtlCol="0" anchor="b">
            <a:normAutofit/>
          </a:bodyPr>
          <a:lstStyle/>
          <a:p>
            <a:pPr marL="2477135">
              <a:spcBef>
                <a:spcPts val="105"/>
              </a:spcBef>
            </a:pPr>
            <a:r>
              <a:rPr lang="en-US" sz="5400" spc="-150"/>
              <a:t>Job</a:t>
            </a:r>
            <a:r>
              <a:rPr lang="en-US" sz="5400" spc="-245"/>
              <a:t> </a:t>
            </a:r>
            <a:r>
              <a:rPr lang="en-US" sz="5400" spc="-120"/>
              <a:t>Details</a:t>
            </a:r>
            <a:r>
              <a:rPr lang="en-US" sz="5400" spc="-265"/>
              <a:t> </a:t>
            </a:r>
            <a:r>
              <a:rPr lang="en-US" sz="5400" spc="-25"/>
              <a:t>II</a:t>
            </a:r>
          </a:p>
        </p:txBody>
      </p:sp>
      <p:grpSp>
        <p:nvGrpSpPr>
          <p:cNvPr id="13" name="Group 12">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p:cNvSpPr txBox="1">
            <a:spLocks noGrp="1"/>
          </p:cNvSpPr>
          <p:nvPr>
            <p:ph idx="1"/>
          </p:nvPr>
        </p:nvSpPr>
        <p:spPr>
          <a:xfrm>
            <a:off x="793660" y="2599509"/>
            <a:ext cx="10143668" cy="3435531"/>
          </a:xfrm>
          <a:prstGeom prst="rect">
            <a:avLst/>
          </a:prstGeom>
        </p:spPr>
        <p:txBody>
          <a:bodyPr vert="horz" lIns="0" tIns="85090" rIns="0" bIns="0" rtlCol="0" anchor="ctr">
            <a:normAutofit/>
          </a:bodyPr>
          <a:lstStyle/>
          <a:p>
            <a:pPr marL="12700">
              <a:spcBef>
                <a:spcPts val="670"/>
              </a:spcBef>
            </a:pPr>
            <a:r>
              <a:rPr lang="en-US" sz="2400">
                <a:latin typeface="Geneva"/>
                <a:cs typeface="Geneva"/>
              </a:rPr>
              <a:t>∗</a:t>
            </a:r>
            <a:r>
              <a:rPr lang="en-US" sz="2400" spc="165">
                <a:latin typeface="Geneva"/>
                <a:cs typeface="Geneva"/>
              </a:rPr>
              <a:t> </a:t>
            </a:r>
            <a:r>
              <a:rPr lang="en-US" sz="2400" spc="-105"/>
              <a:t>Jobs</a:t>
            </a:r>
            <a:r>
              <a:rPr lang="en-US" sz="2400" spc="-145"/>
              <a:t> </a:t>
            </a:r>
            <a:r>
              <a:rPr lang="en-US" sz="2400" spc="-114"/>
              <a:t>can</a:t>
            </a:r>
            <a:r>
              <a:rPr lang="en-US" sz="2400" spc="-135"/>
              <a:t> </a:t>
            </a:r>
            <a:r>
              <a:rPr lang="en-US" sz="2400" spc="-75"/>
              <a:t>be</a:t>
            </a:r>
            <a:r>
              <a:rPr lang="en-US" sz="2400" spc="-130"/>
              <a:t> </a:t>
            </a:r>
            <a:r>
              <a:rPr lang="en-US" sz="2400" spc="-10"/>
              <a:t>monitored</a:t>
            </a:r>
            <a:r>
              <a:rPr lang="en-US" sz="2400" spc="-140"/>
              <a:t> </a:t>
            </a:r>
            <a:r>
              <a:rPr lang="en-US" sz="2400" spc="-65"/>
              <a:t>by</a:t>
            </a:r>
            <a:r>
              <a:rPr lang="en-US" sz="2400" spc="-140"/>
              <a:t> </a:t>
            </a:r>
            <a:r>
              <a:rPr lang="en-US" sz="2400" spc="-10"/>
              <a:t>users</a:t>
            </a:r>
            <a:endParaRPr lang="en-US" sz="2400">
              <a:latin typeface="Geneva"/>
              <a:cs typeface="Geneva"/>
            </a:endParaRPr>
          </a:p>
          <a:p>
            <a:pPr marL="12700">
              <a:spcBef>
                <a:spcPts val="580"/>
              </a:spcBef>
            </a:pPr>
            <a:r>
              <a:rPr lang="en-US" sz="2400">
                <a:latin typeface="Geneva"/>
                <a:cs typeface="Geneva"/>
              </a:rPr>
              <a:t>∗</a:t>
            </a:r>
            <a:r>
              <a:rPr lang="en-US" sz="2400" spc="200">
                <a:latin typeface="Geneva"/>
                <a:cs typeface="Geneva"/>
              </a:rPr>
              <a:t> </a:t>
            </a:r>
            <a:r>
              <a:rPr lang="en-US" sz="2400" spc="-125"/>
              <a:t>Users</a:t>
            </a:r>
            <a:r>
              <a:rPr lang="en-US" sz="2400" spc="-135"/>
              <a:t> </a:t>
            </a:r>
            <a:r>
              <a:rPr lang="en-US" sz="2400" spc="-110"/>
              <a:t>can</a:t>
            </a:r>
            <a:r>
              <a:rPr lang="en-US" sz="2400" spc="-120"/>
              <a:t> </a:t>
            </a:r>
            <a:r>
              <a:rPr lang="en-US" sz="2400" spc="-80"/>
              <a:t>chain</a:t>
            </a:r>
            <a:r>
              <a:rPr lang="en-US" sz="2400" spc="-110"/>
              <a:t> </a:t>
            </a:r>
            <a:r>
              <a:rPr lang="en-US" sz="2400" spc="-105"/>
              <a:t>MapReduce</a:t>
            </a:r>
            <a:r>
              <a:rPr lang="en-US" sz="2400" spc="-90"/>
              <a:t> </a:t>
            </a:r>
            <a:r>
              <a:rPr lang="en-US" sz="2400" spc="-60"/>
              <a:t>jobs</a:t>
            </a:r>
            <a:r>
              <a:rPr lang="en-US" sz="2400" spc="-135"/>
              <a:t> </a:t>
            </a:r>
            <a:r>
              <a:rPr lang="en-US" sz="2400"/>
              <a:t>together</a:t>
            </a:r>
            <a:r>
              <a:rPr lang="en-US" sz="2400" spc="-114"/>
              <a:t> </a:t>
            </a:r>
            <a:r>
              <a:rPr lang="en-US" sz="2400" spc="100"/>
              <a:t>to</a:t>
            </a:r>
            <a:r>
              <a:rPr lang="en-US" sz="2400" spc="-120"/>
              <a:t> </a:t>
            </a:r>
            <a:r>
              <a:rPr lang="en-US" sz="2400" spc="-80"/>
              <a:t>accomplish</a:t>
            </a:r>
            <a:r>
              <a:rPr lang="en-US" sz="2400" spc="-120"/>
              <a:t> </a:t>
            </a:r>
            <a:r>
              <a:rPr lang="en-US" sz="2400" spc="-45"/>
              <a:t>complex</a:t>
            </a:r>
            <a:r>
              <a:rPr lang="en-US" sz="2400" spc="-110"/>
              <a:t> </a:t>
            </a:r>
            <a:r>
              <a:rPr lang="en-US" sz="2400" spc="-10"/>
              <a:t>tasks</a:t>
            </a:r>
            <a:endParaRPr lang="en-US" sz="2400">
              <a:latin typeface="Geneva"/>
              <a:cs typeface="Geneva"/>
            </a:endParaRPr>
          </a:p>
          <a:p>
            <a:pPr marL="286385"/>
            <a:r>
              <a:rPr lang="en-US" sz="2400" spc="-25"/>
              <a:t>which</a:t>
            </a:r>
            <a:r>
              <a:rPr lang="en-US" sz="2400" spc="-130"/>
              <a:t> </a:t>
            </a:r>
            <a:r>
              <a:rPr lang="en-US" sz="2400" spc="-40"/>
              <a:t>cannot</a:t>
            </a:r>
            <a:r>
              <a:rPr lang="en-US" sz="2400" spc="-130"/>
              <a:t> </a:t>
            </a:r>
            <a:r>
              <a:rPr lang="en-US" sz="2400" spc="-75"/>
              <a:t>be</a:t>
            </a:r>
            <a:r>
              <a:rPr lang="en-US" sz="2400" spc="-114"/>
              <a:t> </a:t>
            </a:r>
            <a:r>
              <a:rPr lang="en-US" sz="2400" spc="-45"/>
              <a:t>done</a:t>
            </a:r>
            <a:r>
              <a:rPr lang="en-US" sz="2400" spc="-125"/>
              <a:t> </a:t>
            </a:r>
            <a:r>
              <a:rPr lang="en-US" sz="2400" spc="50"/>
              <a:t>with</a:t>
            </a:r>
            <a:r>
              <a:rPr lang="en-US" sz="2400" spc="-135"/>
              <a:t> </a:t>
            </a:r>
            <a:r>
              <a:rPr lang="en-US" sz="2400" spc="-170"/>
              <a:t>a</a:t>
            </a:r>
            <a:r>
              <a:rPr lang="en-US" sz="2400" spc="-140"/>
              <a:t> </a:t>
            </a:r>
            <a:r>
              <a:rPr lang="en-US" sz="2400" spc="-75"/>
              <a:t>single</a:t>
            </a:r>
            <a:r>
              <a:rPr lang="en-US" sz="2400" spc="-130"/>
              <a:t> </a:t>
            </a:r>
            <a:r>
              <a:rPr lang="en-US" sz="2400" spc="-100"/>
              <a:t>MapReduce</a:t>
            </a:r>
            <a:r>
              <a:rPr lang="en-US" sz="2400" spc="-120"/>
              <a:t> </a:t>
            </a:r>
            <a:r>
              <a:rPr lang="en-US" sz="2400" spc="-25"/>
              <a:t>job</a:t>
            </a:r>
            <a:endParaRPr lang="en-US" sz="2400"/>
          </a:p>
          <a:p>
            <a:pPr marL="314325">
              <a:spcBef>
                <a:spcPts val="550"/>
              </a:spcBef>
            </a:pPr>
            <a:r>
              <a:rPr lang="en-US" sz="2400">
                <a:latin typeface="Geneva"/>
                <a:cs typeface="Geneva"/>
              </a:rPr>
              <a:t>∗</a:t>
            </a:r>
            <a:r>
              <a:rPr lang="en-US" sz="2400" spc="340">
                <a:latin typeface="Geneva"/>
                <a:cs typeface="Geneva"/>
              </a:rPr>
              <a:t> </a:t>
            </a:r>
            <a:r>
              <a:rPr lang="en-US" sz="2400" spc="-90"/>
              <a:t>make</a:t>
            </a:r>
            <a:r>
              <a:rPr lang="en-US" sz="2400" spc="-135"/>
              <a:t> </a:t>
            </a:r>
            <a:r>
              <a:rPr lang="en-US" sz="2400" spc="-130"/>
              <a:t>use</a:t>
            </a:r>
            <a:r>
              <a:rPr lang="en-US" sz="2400" spc="-125"/>
              <a:t> </a:t>
            </a:r>
            <a:r>
              <a:rPr lang="en-US" sz="2400" spc="60"/>
              <a:t>of</a:t>
            </a:r>
            <a:r>
              <a:rPr lang="en-US" sz="2400" spc="-130"/>
              <a:t> </a:t>
            </a:r>
            <a:r>
              <a:rPr lang="en-US" sz="2400" spc="-10"/>
              <a:t>Job.waitForCompletion()</a:t>
            </a:r>
          </a:p>
          <a:p>
            <a:pPr marL="314325">
              <a:spcBef>
                <a:spcPts val="525"/>
              </a:spcBef>
            </a:pPr>
            <a:r>
              <a:rPr lang="en-US" sz="2400">
                <a:latin typeface="Geneva"/>
                <a:cs typeface="Geneva"/>
              </a:rPr>
              <a:t>∗</a:t>
            </a:r>
            <a:r>
              <a:rPr lang="en-US" sz="2400" spc="310">
                <a:latin typeface="Geneva"/>
                <a:cs typeface="Geneva"/>
              </a:rPr>
              <a:t> </a:t>
            </a:r>
            <a:r>
              <a:rPr lang="en-US" sz="2400" spc="-80"/>
              <a:t>and</a:t>
            </a:r>
            <a:r>
              <a:rPr lang="en-US" sz="2400" spc="-145"/>
              <a:t> </a:t>
            </a:r>
            <a:r>
              <a:rPr lang="en-US" sz="2400" spc="-10"/>
              <a:t>Job.submit()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1050925"/>
            <a:r>
              <a:rPr lang="en-US" sz="3400" kern="1200" spc="-95">
                <a:solidFill>
                  <a:schemeClr val="tx1"/>
                </a:solidFill>
                <a:latin typeface="+mj-lt"/>
                <a:ea typeface="+mj-ea"/>
                <a:cs typeface="+mj-cs"/>
              </a:rPr>
              <a:t>Map</a:t>
            </a:r>
            <a:r>
              <a:rPr lang="en-US" sz="3400" kern="1200" spc="-260">
                <a:solidFill>
                  <a:schemeClr val="tx1"/>
                </a:solidFill>
                <a:latin typeface="+mj-lt"/>
                <a:ea typeface="+mj-ea"/>
                <a:cs typeface="+mj-cs"/>
              </a:rPr>
              <a:t> </a:t>
            </a:r>
            <a:r>
              <a:rPr lang="en-US" sz="3400" kern="1200" spc="-245">
                <a:solidFill>
                  <a:schemeClr val="tx1"/>
                </a:solidFill>
                <a:latin typeface="+mj-lt"/>
                <a:ea typeface="+mj-ea"/>
                <a:cs typeface="+mj-cs"/>
              </a:rPr>
              <a:t>class</a:t>
            </a:r>
            <a:r>
              <a:rPr lang="en-US" sz="3400" kern="1200" spc="-265">
                <a:solidFill>
                  <a:schemeClr val="tx1"/>
                </a:solidFill>
                <a:latin typeface="+mj-lt"/>
                <a:ea typeface="+mj-ea"/>
                <a:cs typeface="+mj-cs"/>
              </a:rPr>
              <a:t> </a:t>
            </a:r>
            <a:r>
              <a:rPr lang="en-US" sz="3400" kern="1200" spc="114">
                <a:solidFill>
                  <a:schemeClr val="tx1"/>
                </a:solidFill>
                <a:latin typeface="+mj-lt"/>
                <a:ea typeface="+mj-ea"/>
                <a:cs typeface="+mj-cs"/>
              </a:rPr>
              <a:t>for</a:t>
            </a:r>
            <a:r>
              <a:rPr lang="en-US" sz="3400" kern="1200" spc="-260">
                <a:solidFill>
                  <a:schemeClr val="tx1"/>
                </a:solidFill>
                <a:latin typeface="+mj-lt"/>
                <a:ea typeface="+mj-ea"/>
                <a:cs typeface="+mj-cs"/>
              </a:rPr>
              <a:t> </a:t>
            </a:r>
            <a:r>
              <a:rPr lang="en-US" sz="3400" kern="1200" spc="-10">
                <a:solidFill>
                  <a:schemeClr val="tx1"/>
                </a:solidFill>
                <a:latin typeface="+mj-lt"/>
                <a:ea typeface="+mj-ea"/>
                <a:cs typeface="+mj-cs"/>
              </a:rPr>
              <a:t>WordCount</a:t>
            </a:r>
          </a:p>
          <a:p>
            <a:pPr marL="12700"/>
            <a:r>
              <a:rPr lang="en-US" sz="3400" kern="1200" spc="-20">
                <a:solidFill>
                  <a:schemeClr val="tx1"/>
                </a:solidFill>
                <a:latin typeface="+mj-lt"/>
                <a:ea typeface="+mj-ea"/>
                <a:cs typeface="+mj-cs"/>
                <a:hlinkClick r:id="rId2"/>
              </a:rPr>
              <a:t>https://colab.research.google.com/drive/17ExNzsO_R_YSy5V-</a:t>
            </a:r>
            <a:r>
              <a:rPr lang="en-US" sz="3400" kern="1200" spc="-10">
                <a:solidFill>
                  <a:schemeClr val="tx1"/>
                </a:solidFill>
                <a:latin typeface="+mj-lt"/>
                <a:ea typeface="+mj-ea"/>
                <a:cs typeface="+mj-cs"/>
                <a:hlinkClick r:id="rId2"/>
              </a:rPr>
              <a:t>bZDhvNdQqieZJPv6</a:t>
            </a:r>
            <a:endParaRPr lang="en-US" sz="3400" kern="1200">
              <a:solidFill>
                <a:schemeClr val="tx1"/>
              </a:solidFill>
              <a:latin typeface="+mj-lt"/>
              <a:ea typeface="+mj-ea"/>
              <a:cs typeface="+mj-cs"/>
            </a:endParaRPr>
          </a:p>
        </p:txBody>
      </p:sp>
      <p:sp>
        <p:nvSpPr>
          <p:cNvPr id="10" name="Rectangle 9">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2" name="object 2"/>
          <p:cNvPicPr/>
          <p:nvPr/>
        </p:nvPicPr>
        <p:blipFill>
          <a:blip r:embed="rId3" cstate="print"/>
          <a:stretch>
            <a:fillRect/>
          </a:stretch>
        </p:blipFill>
        <p:spPr>
          <a:xfrm>
            <a:off x="4864608" y="1268072"/>
            <a:ext cx="6846363" cy="4170601"/>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5154929" y="580389"/>
            <a:ext cx="1885950" cy="696595"/>
          </a:xfrm>
          <a:prstGeom prst="rect">
            <a:avLst/>
          </a:prstGeom>
        </p:spPr>
        <p:txBody>
          <a:bodyPr vert="horz" wrap="square" lIns="0" tIns="13335" rIns="0" bIns="0" rtlCol="0">
            <a:spAutoFit/>
          </a:bodyPr>
          <a:lstStyle/>
          <a:p>
            <a:pPr marL="12700">
              <a:lnSpc>
                <a:spcPct val="100000"/>
              </a:lnSpc>
              <a:spcBef>
                <a:spcPts val="105"/>
              </a:spcBef>
            </a:pPr>
            <a:r>
              <a:rPr lang="en-US" spc="-45"/>
              <a:t>Mapper</a:t>
            </a:r>
            <a:endParaRPr lang="en-US" spc="-45" dirty="0"/>
          </a:p>
        </p:txBody>
      </p:sp>
      <p:graphicFrame>
        <p:nvGraphicFramePr>
          <p:cNvPr id="19" name="object 2">
            <a:extLst>
              <a:ext uri="{FF2B5EF4-FFF2-40B4-BE49-F238E27FC236}">
                <a16:creationId xmlns:a16="http://schemas.microsoft.com/office/drawing/2014/main" id="{2C942BCF-4EA2-49EB-203F-311B39108E68}"/>
              </a:ext>
            </a:extLst>
          </p:cNvPr>
          <p:cNvGraphicFramePr/>
          <p:nvPr>
            <p:extLst>
              <p:ext uri="{D42A27DB-BD31-4B8C-83A1-F6EECF244321}">
                <p14:modId xmlns:p14="http://schemas.microsoft.com/office/powerpoint/2010/main" val="112518528"/>
              </p:ext>
            </p:extLst>
          </p:nvPr>
        </p:nvGraphicFramePr>
        <p:xfrm>
          <a:off x="1143000" y="2133600"/>
          <a:ext cx="9422130" cy="41389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1113810" y="2960716"/>
            <a:ext cx="4036334" cy="2387600"/>
          </a:xfrm>
          <a:prstGeom prst="rect">
            <a:avLst/>
          </a:prstGeom>
        </p:spPr>
        <p:txBody>
          <a:bodyPr vert="horz" lIns="91440" tIns="45720" rIns="91440" bIns="45720" rtlCol="0" anchor="t">
            <a:normAutofit/>
          </a:bodyPr>
          <a:lstStyle/>
          <a:p>
            <a:pPr marL="12700"/>
            <a:r>
              <a:rPr lang="en-US" sz="5400" kern="1200" spc="-484">
                <a:solidFill>
                  <a:schemeClr val="tx1"/>
                </a:solidFill>
                <a:latin typeface="+mj-lt"/>
                <a:ea typeface="+mj-ea"/>
                <a:cs typeface="+mj-cs"/>
              </a:rPr>
              <a:t>HDFS</a:t>
            </a:r>
            <a:r>
              <a:rPr lang="en-US" sz="5400" kern="1200" spc="-285">
                <a:solidFill>
                  <a:schemeClr val="tx1"/>
                </a:solidFill>
                <a:latin typeface="+mj-lt"/>
                <a:ea typeface="+mj-ea"/>
                <a:cs typeface="+mj-cs"/>
              </a:rPr>
              <a:t> </a:t>
            </a:r>
            <a:r>
              <a:rPr lang="en-US" sz="5400" kern="1200" spc="-165">
                <a:solidFill>
                  <a:schemeClr val="tx1"/>
                </a:solidFill>
                <a:latin typeface="+mj-lt"/>
                <a:ea typeface="+mj-ea"/>
                <a:cs typeface="+mj-cs"/>
              </a:rPr>
              <a:t>Command</a:t>
            </a:r>
          </a:p>
        </p:txBody>
      </p:sp>
      <p:grpSp>
        <p:nvGrpSpPr>
          <p:cNvPr id="10" name="Group 9">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object 3"/>
          <p:cNvPicPr/>
          <p:nvPr/>
        </p:nvPicPr>
        <p:blipFill>
          <a:blip r:embed="rId2" cstate="print"/>
          <a:stretch>
            <a:fillRect/>
          </a:stretch>
        </p:blipFill>
        <p:spPr>
          <a:xfrm>
            <a:off x="5922492" y="1295504"/>
            <a:ext cx="5536001" cy="4208238"/>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43EDA6-F13D-D401-7AD6-93E86ABB0A0C}"/>
              </a:ext>
            </a:extLst>
          </p:cNvPr>
          <p:cNvPicPr>
            <a:picLocks noChangeAspect="1"/>
          </p:cNvPicPr>
          <p:nvPr/>
        </p:nvPicPr>
        <p:blipFill>
          <a:blip r:embed="rId2">
            <a:duotone>
              <a:schemeClr val="bg2">
                <a:shade val="45000"/>
                <a:satMod val="135000"/>
              </a:schemeClr>
              <a:prstClr val="white"/>
            </a:duotone>
          </a:blip>
          <a:srcRect/>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bject 3" descr="$PPTXTitle"/>
          <p:cNvSpPr txBox="1">
            <a:spLocks noGrp="1"/>
          </p:cNvSpPr>
          <p:nvPr>
            <p:ph type="title"/>
          </p:nvPr>
        </p:nvSpPr>
        <p:spPr>
          <a:xfrm>
            <a:off x="838200" y="365125"/>
            <a:ext cx="10515600" cy="1325563"/>
          </a:xfrm>
          <a:prstGeom prst="rect">
            <a:avLst/>
          </a:prstGeom>
        </p:spPr>
        <p:txBody>
          <a:bodyPr vert="horz" lIns="0" tIns="13335" rIns="0" bIns="0" rtlCol="0">
            <a:normAutofit/>
          </a:bodyPr>
          <a:lstStyle/>
          <a:p>
            <a:pPr marL="1904364">
              <a:spcBef>
                <a:spcPts val="105"/>
              </a:spcBef>
            </a:pPr>
            <a:r>
              <a:rPr spc="-70" dirty="0"/>
              <a:t>How</a:t>
            </a:r>
            <a:r>
              <a:rPr spc="-254" dirty="0"/>
              <a:t> </a:t>
            </a:r>
            <a:r>
              <a:rPr spc="-114" dirty="0"/>
              <a:t>Many</a:t>
            </a:r>
            <a:r>
              <a:rPr spc="-245" dirty="0"/>
              <a:t> </a:t>
            </a:r>
            <a:r>
              <a:rPr spc="-325" dirty="0"/>
              <a:t>Maps?</a:t>
            </a:r>
            <a:endParaRPr lang="en-US" spc="-325"/>
          </a:p>
        </p:txBody>
      </p:sp>
      <p:graphicFrame>
        <p:nvGraphicFramePr>
          <p:cNvPr id="5" name="object 2">
            <a:extLst>
              <a:ext uri="{FF2B5EF4-FFF2-40B4-BE49-F238E27FC236}">
                <a16:creationId xmlns:a16="http://schemas.microsoft.com/office/drawing/2014/main" id="{997580CE-88D5-4501-4512-306C33BFB9F0}"/>
              </a:ext>
            </a:extLst>
          </p:cNvPr>
          <p:cNvGraphicFramePr>
            <a:graphicFrameLocks noGrp="1"/>
          </p:cNvGraphicFramePr>
          <p:nvPr>
            <p:ph idx="1"/>
            <p:extLst>
              <p:ext uri="{D42A27DB-BD31-4B8C-83A1-F6EECF244321}">
                <p14:modId xmlns:p14="http://schemas.microsoft.com/office/powerpoint/2010/main" val="18334905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object 4" descr="$PPTXTitle"/>
          <p:cNvSpPr txBox="1">
            <a:spLocks noGrp="1"/>
          </p:cNvSpPr>
          <p:nvPr>
            <p:ph type="title"/>
          </p:nvPr>
        </p:nvSpPr>
        <p:spPr>
          <a:xfrm>
            <a:off x="762001" y="5074024"/>
            <a:ext cx="10109199" cy="598032"/>
          </a:xfrm>
          <a:prstGeom prst="rect">
            <a:avLst/>
          </a:prstGeom>
        </p:spPr>
        <p:txBody>
          <a:bodyPr vert="horz" lIns="91440" tIns="45720" rIns="91440" bIns="45720" rtlCol="0" anchor="ctr">
            <a:normAutofit/>
          </a:bodyPr>
          <a:lstStyle/>
          <a:p>
            <a:pPr marL="2282190"/>
            <a:r>
              <a:rPr lang="en-US" sz="3600" kern="1200" spc="-185">
                <a:solidFill>
                  <a:schemeClr val="tx1"/>
                </a:solidFill>
                <a:latin typeface="+mj-lt"/>
                <a:ea typeface="+mj-ea"/>
                <a:cs typeface="+mj-cs"/>
              </a:rPr>
              <a:t>Combine</a:t>
            </a:r>
            <a:r>
              <a:rPr lang="en-US" sz="3600" kern="1200" spc="-240">
                <a:solidFill>
                  <a:schemeClr val="tx1"/>
                </a:solidFill>
                <a:latin typeface="+mj-lt"/>
                <a:ea typeface="+mj-ea"/>
                <a:cs typeface="+mj-cs"/>
              </a:rPr>
              <a:t> </a:t>
            </a:r>
            <a:r>
              <a:rPr lang="en-US" sz="3600" kern="1200" spc="-365">
                <a:solidFill>
                  <a:schemeClr val="tx1"/>
                </a:solidFill>
                <a:latin typeface="+mj-lt"/>
                <a:ea typeface="+mj-ea"/>
                <a:cs typeface="+mj-cs"/>
              </a:rPr>
              <a:t>Class</a:t>
            </a:r>
          </a:p>
        </p:txBody>
      </p:sp>
      <p:sp>
        <p:nvSpPr>
          <p:cNvPr id="3" name="object 3"/>
          <p:cNvSpPr txBox="1"/>
          <p:nvPr/>
        </p:nvSpPr>
        <p:spPr>
          <a:xfrm>
            <a:off x="762001" y="5672059"/>
            <a:ext cx="10109199" cy="547765"/>
          </a:xfrm>
          <a:prstGeom prst="rect">
            <a:avLst/>
          </a:prstGeom>
        </p:spPr>
        <p:txBody>
          <a:bodyPr vert="horz" lIns="91440" tIns="45720" rIns="91440" bIns="45720" rtlCol="0" anchor="t">
            <a:normAutofit fontScale="25000" lnSpcReduction="20000"/>
          </a:bodyPr>
          <a:lstStyle/>
          <a:p>
            <a:pPr>
              <a:lnSpc>
                <a:spcPct val="90000"/>
              </a:lnSpc>
              <a:spcBef>
                <a:spcPts val="1000"/>
              </a:spcBef>
            </a:pPr>
            <a:r>
              <a:rPr lang="en-US" sz="500" kern="1200">
                <a:solidFill>
                  <a:schemeClr val="tx1"/>
                </a:solidFill>
                <a:latin typeface="+mn-lt"/>
                <a:ea typeface="+mn-ea"/>
                <a:cs typeface="+mn-cs"/>
              </a:rPr>
              <a:t>∗</a:t>
            </a:r>
            <a:r>
              <a:rPr lang="en-US" sz="500" kern="1200" spc="330">
                <a:solidFill>
                  <a:schemeClr val="tx1"/>
                </a:solidFill>
                <a:latin typeface="+mn-lt"/>
                <a:ea typeface="+mn-ea"/>
                <a:cs typeface="+mn-cs"/>
              </a:rPr>
              <a:t> </a:t>
            </a:r>
            <a:r>
              <a:rPr lang="en-US" sz="500" kern="1200" spc="-60">
                <a:solidFill>
                  <a:schemeClr val="tx1"/>
                </a:solidFill>
                <a:latin typeface="+mn-lt"/>
                <a:ea typeface="+mn-ea"/>
                <a:cs typeface="+mn-cs"/>
              </a:rPr>
              <a:t>First</a:t>
            </a:r>
            <a:r>
              <a:rPr lang="en-US" sz="500" kern="1200" spc="-150">
                <a:solidFill>
                  <a:schemeClr val="tx1"/>
                </a:solidFill>
                <a:latin typeface="+mn-lt"/>
                <a:ea typeface="+mn-ea"/>
                <a:cs typeface="+mn-cs"/>
              </a:rPr>
              <a:t> </a:t>
            </a:r>
            <a:r>
              <a:rPr lang="en-US" sz="500" kern="1200" spc="-20">
                <a:solidFill>
                  <a:schemeClr val="tx1"/>
                </a:solidFill>
                <a:latin typeface="+mn-lt"/>
                <a:ea typeface="+mn-ea"/>
                <a:cs typeface="+mn-cs"/>
              </a:rPr>
              <a:t>Map:</a:t>
            </a:r>
            <a:endParaRPr lang="en-US" sz="500" kern="1200">
              <a:solidFill>
                <a:schemeClr val="tx1"/>
              </a:solidFill>
              <a:latin typeface="+mn-lt"/>
              <a:ea typeface="+mn-ea"/>
              <a:cs typeface="+mn-cs"/>
            </a:endParaRPr>
          </a:p>
          <a:p>
            <a:pPr>
              <a:lnSpc>
                <a:spcPct val="90000"/>
              </a:lnSpc>
              <a:spcBef>
                <a:spcPts val="1000"/>
              </a:spcBef>
            </a:pPr>
            <a:r>
              <a:rPr lang="en-US" sz="500" kern="1200" spc="-204">
                <a:solidFill>
                  <a:schemeClr val="tx1"/>
                </a:solidFill>
                <a:latin typeface="+mn-lt"/>
                <a:ea typeface="+mn-ea"/>
                <a:cs typeface="+mn-cs"/>
              </a:rPr>
              <a:t>&lt;</a:t>
            </a:r>
            <a:r>
              <a:rPr lang="en-US" sz="500" kern="1200" spc="-125">
                <a:solidFill>
                  <a:schemeClr val="tx1"/>
                </a:solidFill>
                <a:latin typeface="+mn-lt"/>
                <a:ea typeface="+mn-ea"/>
                <a:cs typeface="+mn-cs"/>
              </a:rPr>
              <a:t> </a:t>
            </a:r>
            <a:r>
              <a:rPr lang="en-US" sz="500" kern="1200" spc="-35">
                <a:solidFill>
                  <a:schemeClr val="tx1"/>
                </a:solidFill>
                <a:latin typeface="+mn-lt"/>
                <a:ea typeface="+mn-ea"/>
                <a:cs typeface="+mn-cs"/>
              </a:rPr>
              <a:t>moon,</a:t>
            </a:r>
            <a:r>
              <a:rPr lang="en-US" sz="500" kern="1200" spc="-165">
                <a:solidFill>
                  <a:schemeClr val="tx1"/>
                </a:solidFill>
                <a:latin typeface="+mn-lt"/>
                <a:ea typeface="+mn-ea"/>
                <a:cs typeface="+mn-cs"/>
              </a:rPr>
              <a:t> </a:t>
            </a:r>
            <a:r>
              <a:rPr lang="en-US" sz="500" kern="1200" spc="-509">
                <a:solidFill>
                  <a:schemeClr val="tx1"/>
                </a:solidFill>
                <a:latin typeface="+mn-lt"/>
                <a:ea typeface="+mn-ea"/>
                <a:cs typeface="+mn-cs"/>
              </a:rPr>
              <a:t>1</a:t>
            </a:r>
            <a:r>
              <a:rPr lang="en-US" sz="500" kern="1200" spc="-130">
                <a:solidFill>
                  <a:schemeClr val="tx1"/>
                </a:solidFill>
                <a:latin typeface="+mn-lt"/>
                <a:ea typeface="+mn-ea"/>
                <a:cs typeface="+mn-cs"/>
              </a:rPr>
              <a:t> </a:t>
            </a:r>
            <a:r>
              <a:rPr lang="en-US" sz="500" kern="1200" spc="-80">
                <a:solidFill>
                  <a:schemeClr val="tx1"/>
                </a:solidFill>
                <a:latin typeface="+mn-lt"/>
                <a:ea typeface="+mn-ea"/>
                <a:cs typeface="+mn-cs"/>
              </a:rPr>
              <a:t>&gt;</a:t>
            </a:r>
            <a:endParaRPr lang="en-US" sz="500" kern="1200">
              <a:solidFill>
                <a:schemeClr val="tx1"/>
              </a:solidFill>
              <a:latin typeface="+mn-lt"/>
              <a:ea typeface="+mn-ea"/>
              <a:cs typeface="+mn-cs"/>
            </a:endParaRPr>
          </a:p>
          <a:p>
            <a:pPr>
              <a:lnSpc>
                <a:spcPct val="90000"/>
              </a:lnSpc>
              <a:spcBef>
                <a:spcPts val="1000"/>
              </a:spcBef>
            </a:pPr>
            <a:r>
              <a:rPr lang="en-US" sz="500" kern="1200" spc="-204">
                <a:solidFill>
                  <a:schemeClr val="tx1"/>
                </a:solidFill>
                <a:latin typeface="+mn-lt"/>
                <a:ea typeface="+mn-ea"/>
                <a:cs typeface="+mn-cs"/>
              </a:rPr>
              <a:t>&lt;</a:t>
            </a:r>
            <a:r>
              <a:rPr lang="en-US" sz="500" kern="1200" spc="-114">
                <a:solidFill>
                  <a:schemeClr val="tx1"/>
                </a:solidFill>
                <a:latin typeface="+mn-lt"/>
                <a:ea typeface="+mn-ea"/>
                <a:cs typeface="+mn-cs"/>
              </a:rPr>
              <a:t> </a:t>
            </a:r>
            <a:r>
              <a:rPr lang="en-US" sz="500" kern="1200">
                <a:solidFill>
                  <a:schemeClr val="tx1"/>
                </a:solidFill>
                <a:latin typeface="+mn-lt"/>
                <a:ea typeface="+mn-ea"/>
                <a:cs typeface="+mn-cs"/>
              </a:rPr>
              <a:t>world,</a:t>
            </a:r>
            <a:r>
              <a:rPr lang="en-US" sz="500" kern="1200" spc="-135">
                <a:solidFill>
                  <a:schemeClr val="tx1"/>
                </a:solidFill>
                <a:latin typeface="+mn-lt"/>
                <a:ea typeface="+mn-ea"/>
                <a:cs typeface="+mn-cs"/>
              </a:rPr>
              <a:t> </a:t>
            </a:r>
            <a:r>
              <a:rPr lang="en-US" sz="500" kern="1200" spc="-509">
                <a:solidFill>
                  <a:schemeClr val="tx1"/>
                </a:solidFill>
                <a:latin typeface="+mn-lt"/>
                <a:ea typeface="+mn-ea"/>
                <a:cs typeface="+mn-cs"/>
              </a:rPr>
              <a:t>1</a:t>
            </a:r>
            <a:r>
              <a:rPr lang="en-US" sz="500" kern="1200" spc="-120">
                <a:solidFill>
                  <a:schemeClr val="tx1"/>
                </a:solidFill>
                <a:latin typeface="+mn-lt"/>
                <a:ea typeface="+mn-ea"/>
                <a:cs typeface="+mn-cs"/>
              </a:rPr>
              <a:t> </a:t>
            </a:r>
            <a:r>
              <a:rPr lang="en-US" sz="500" kern="1200" spc="-50">
                <a:solidFill>
                  <a:schemeClr val="tx1"/>
                </a:solidFill>
                <a:latin typeface="+mn-lt"/>
                <a:ea typeface="+mn-ea"/>
                <a:cs typeface="+mn-cs"/>
              </a:rPr>
              <a:t>&gt;</a:t>
            </a:r>
            <a:endParaRPr lang="en-US" sz="500" kern="1200">
              <a:solidFill>
                <a:schemeClr val="tx1"/>
              </a:solidFill>
              <a:latin typeface="+mn-lt"/>
              <a:ea typeface="+mn-ea"/>
              <a:cs typeface="+mn-cs"/>
            </a:endParaRPr>
          </a:p>
          <a:p>
            <a:pPr>
              <a:lnSpc>
                <a:spcPct val="90000"/>
              </a:lnSpc>
              <a:spcBef>
                <a:spcPts val="1000"/>
              </a:spcBef>
            </a:pPr>
            <a:r>
              <a:rPr lang="en-US" sz="500" kern="1200" spc="-204">
                <a:solidFill>
                  <a:schemeClr val="tx1"/>
                </a:solidFill>
                <a:latin typeface="+mn-lt"/>
                <a:ea typeface="+mn-ea"/>
                <a:cs typeface="+mn-cs"/>
              </a:rPr>
              <a:t>&lt;</a:t>
            </a:r>
            <a:r>
              <a:rPr lang="en-US" sz="500" kern="1200" spc="-125">
                <a:solidFill>
                  <a:schemeClr val="tx1"/>
                </a:solidFill>
                <a:latin typeface="+mn-lt"/>
                <a:ea typeface="+mn-ea"/>
                <a:cs typeface="+mn-cs"/>
              </a:rPr>
              <a:t> </a:t>
            </a:r>
            <a:r>
              <a:rPr lang="en-US" sz="500" kern="1200" spc="-40">
                <a:solidFill>
                  <a:schemeClr val="tx1"/>
                </a:solidFill>
                <a:latin typeface="+mn-lt"/>
                <a:ea typeface="+mn-ea"/>
                <a:cs typeface="+mn-cs"/>
              </a:rPr>
              <a:t>hello,</a:t>
            </a:r>
            <a:r>
              <a:rPr lang="en-US" sz="500" kern="1200" spc="-145">
                <a:solidFill>
                  <a:schemeClr val="tx1"/>
                </a:solidFill>
                <a:latin typeface="+mn-lt"/>
                <a:ea typeface="+mn-ea"/>
                <a:cs typeface="+mn-cs"/>
              </a:rPr>
              <a:t> </a:t>
            </a:r>
            <a:r>
              <a:rPr lang="en-US" sz="500" kern="1200" spc="-250">
                <a:solidFill>
                  <a:schemeClr val="tx1"/>
                </a:solidFill>
                <a:latin typeface="+mn-lt"/>
                <a:ea typeface="+mn-ea"/>
                <a:cs typeface="+mn-cs"/>
              </a:rPr>
              <a:t>2</a:t>
            </a:r>
            <a:r>
              <a:rPr lang="en-US" sz="500" kern="1200" spc="-114">
                <a:solidFill>
                  <a:schemeClr val="tx1"/>
                </a:solidFill>
                <a:latin typeface="+mn-lt"/>
                <a:ea typeface="+mn-ea"/>
                <a:cs typeface="+mn-cs"/>
              </a:rPr>
              <a:t> </a:t>
            </a:r>
            <a:r>
              <a:rPr lang="en-US" sz="500" kern="1200" spc="-50">
                <a:solidFill>
                  <a:schemeClr val="tx1"/>
                </a:solidFill>
                <a:latin typeface="+mn-lt"/>
                <a:ea typeface="+mn-ea"/>
                <a:cs typeface="+mn-cs"/>
              </a:rPr>
              <a:t>&gt;</a:t>
            </a:r>
            <a:endParaRPr lang="en-US" sz="500" kern="1200">
              <a:solidFill>
                <a:schemeClr val="tx1"/>
              </a:solidFill>
              <a:latin typeface="+mn-lt"/>
              <a:ea typeface="+mn-ea"/>
              <a:cs typeface="+mn-cs"/>
            </a:endParaRPr>
          </a:p>
        </p:txBody>
      </p:sp>
      <p:pic>
        <p:nvPicPr>
          <p:cNvPr id="7" name="Picture 6" descr="World map with flight paths">
            <a:extLst>
              <a:ext uri="{FF2B5EF4-FFF2-40B4-BE49-F238E27FC236}">
                <a16:creationId xmlns:a16="http://schemas.microsoft.com/office/drawing/2014/main" id="{C5C5CB26-B767-453E-AA11-2DB9F8FBD842}"/>
              </a:ext>
            </a:extLst>
          </p:cNvPr>
          <p:cNvPicPr>
            <a:picLocks noChangeAspect="1"/>
          </p:cNvPicPr>
          <p:nvPr/>
        </p:nvPicPr>
        <p:blipFill>
          <a:blip r:embed="rId2"/>
          <a:srcRect l="13053" r="20499"/>
          <a:stretch>
            <a:fillRect/>
          </a:stretch>
        </p:blipFill>
        <p:spPr>
          <a:xfrm>
            <a:off x="20" y="3"/>
            <a:ext cx="4062634" cy="4172786"/>
          </a:xfrm>
          <a:prstGeom prst="rect">
            <a:avLst/>
          </a:prstGeom>
        </p:spPr>
      </p:pic>
      <p:cxnSp>
        <p:nvCxnSpPr>
          <p:cNvPr id="11" name="Straight Connector 10">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 name="object 2"/>
          <p:cNvSpPr txBox="1"/>
          <p:nvPr/>
        </p:nvSpPr>
        <p:spPr>
          <a:xfrm>
            <a:off x="4323793" y="514749"/>
            <a:ext cx="7611109" cy="1342390"/>
          </a:xfrm>
          <a:prstGeom prst="rect">
            <a:avLst/>
          </a:prstGeom>
        </p:spPr>
        <p:txBody>
          <a:bodyPr vert="horz" wrap="square" lIns="0" tIns="85090" rIns="0" bIns="0" rtlCol="0">
            <a:spAutoFit/>
          </a:bodyPr>
          <a:lstStyle/>
          <a:p>
            <a:pPr marL="12700">
              <a:spcBef>
                <a:spcPts val="670"/>
              </a:spcBef>
            </a:pPr>
            <a:r>
              <a:rPr sz="2400" dirty="0">
                <a:solidFill>
                  <a:srgbClr val="30B6FC"/>
                </a:solidFill>
                <a:latin typeface="Geneva"/>
                <a:cs typeface="Geneva"/>
              </a:rPr>
              <a:t>∗</a:t>
            </a:r>
            <a:r>
              <a:rPr sz="2400" spc="180" dirty="0">
                <a:solidFill>
                  <a:srgbClr val="30B6FC"/>
                </a:solidFill>
                <a:latin typeface="Geneva"/>
                <a:cs typeface="Geneva"/>
              </a:rPr>
              <a:t> </a:t>
            </a:r>
            <a:r>
              <a:rPr sz="2400" spc="-95" dirty="0">
                <a:solidFill>
                  <a:srgbClr val="063D86"/>
                </a:solidFill>
                <a:latin typeface="Arial"/>
                <a:cs typeface="Arial"/>
              </a:rPr>
              <a:t>Specifies</a:t>
            </a:r>
            <a:r>
              <a:rPr sz="2400" spc="-125" dirty="0">
                <a:solidFill>
                  <a:srgbClr val="063D86"/>
                </a:solidFill>
                <a:latin typeface="Arial"/>
                <a:cs typeface="Arial"/>
              </a:rPr>
              <a:t> </a:t>
            </a:r>
            <a:r>
              <a:rPr sz="2400" dirty="0">
                <a:solidFill>
                  <a:srgbClr val="063D86"/>
                </a:solidFill>
                <a:latin typeface="Arial"/>
                <a:cs typeface="Arial"/>
              </a:rPr>
              <a:t>how</a:t>
            </a:r>
            <a:r>
              <a:rPr sz="2400" spc="-145" dirty="0">
                <a:solidFill>
                  <a:srgbClr val="063D86"/>
                </a:solidFill>
                <a:latin typeface="Arial"/>
                <a:cs typeface="Arial"/>
              </a:rPr>
              <a:t> </a:t>
            </a:r>
            <a:r>
              <a:rPr sz="2400" spc="100" dirty="0">
                <a:solidFill>
                  <a:srgbClr val="063D86"/>
                </a:solidFill>
                <a:latin typeface="Arial"/>
                <a:cs typeface="Arial"/>
              </a:rPr>
              <a:t>to</a:t>
            </a:r>
            <a:r>
              <a:rPr sz="2400" spc="-130" dirty="0">
                <a:solidFill>
                  <a:srgbClr val="063D86"/>
                </a:solidFill>
                <a:latin typeface="Arial"/>
                <a:cs typeface="Arial"/>
              </a:rPr>
              <a:t> </a:t>
            </a:r>
            <a:r>
              <a:rPr sz="2400" spc="-60" dirty="0">
                <a:solidFill>
                  <a:srgbClr val="063D86"/>
                </a:solidFill>
                <a:latin typeface="Arial"/>
                <a:cs typeface="Arial"/>
              </a:rPr>
              <a:t>combine</a:t>
            </a:r>
            <a:r>
              <a:rPr sz="2400" spc="-114" dirty="0">
                <a:solidFill>
                  <a:srgbClr val="063D86"/>
                </a:solidFill>
                <a:latin typeface="Arial"/>
                <a:cs typeface="Arial"/>
              </a:rPr>
              <a:t> </a:t>
            </a:r>
            <a:r>
              <a:rPr sz="2400" dirty="0">
                <a:solidFill>
                  <a:srgbClr val="063D86"/>
                </a:solidFill>
                <a:latin typeface="Arial"/>
                <a:cs typeface="Arial"/>
              </a:rPr>
              <a:t>the</a:t>
            </a:r>
            <a:r>
              <a:rPr sz="2400" spc="-130" dirty="0">
                <a:solidFill>
                  <a:srgbClr val="063D86"/>
                </a:solidFill>
                <a:latin typeface="Arial"/>
                <a:cs typeface="Arial"/>
              </a:rPr>
              <a:t> </a:t>
            </a:r>
            <a:r>
              <a:rPr sz="2400" spc="-105" dirty="0">
                <a:solidFill>
                  <a:srgbClr val="063D86"/>
                </a:solidFill>
                <a:latin typeface="Arial"/>
                <a:cs typeface="Arial"/>
              </a:rPr>
              <a:t>maps</a:t>
            </a:r>
            <a:r>
              <a:rPr sz="2400" spc="-135" dirty="0">
                <a:solidFill>
                  <a:srgbClr val="063D86"/>
                </a:solidFill>
                <a:latin typeface="Arial"/>
                <a:cs typeface="Arial"/>
              </a:rPr>
              <a:t> </a:t>
            </a:r>
            <a:r>
              <a:rPr sz="2400" spc="65" dirty="0">
                <a:solidFill>
                  <a:srgbClr val="063D86"/>
                </a:solidFill>
                <a:latin typeface="Arial"/>
                <a:cs typeface="Arial"/>
              </a:rPr>
              <a:t>for</a:t>
            </a:r>
            <a:r>
              <a:rPr sz="2400" spc="-150" dirty="0">
                <a:solidFill>
                  <a:srgbClr val="063D86"/>
                </a:solidFill>
                <a:latin typeface="Arial"/>
                <a:cs typeface="Arial"/>
              </a:rPr>
              <a:t> </a:t>
            </a:r>
            <a:r>
              <a:rPr sz="2400" spc="-65" dirty="0">
                <a:solidFill>
                  <a:srgbClr val="063D86"/>
                </a:solidFill>
                <a:latin typeface="Arial"/>
                <a:cs typeface="Arial"/>
              </a:rPr>
              <a:t>local</a:t>
            </a:r>
            <a:r>
              <a:rPr sz="2400" spc="-130" dirty="0">
                <a:solidFill>
                  <a:srgbClr val="063D86"/>
                </a:solidFill>
                <a:latin typeface="Arial"/>
                <a:cs typeface="Arial"/>
              </a:rPr>
              <a:t> </a:t>
            </a:r>
            <a:r>
              <a:rPr sz="2400" spc="-10" dirty="0">
                <a:solidFill>
                  <a:srgbClr val="063D86"/>
                </a:solidFill>
                <a:latin typeface="Arial"/>
                <a:cs typeface="Arial"/>
              </a:rPr>
              <a:t>aggregation</a:t>
            </a:r>
            <a:endParaRPr lang="en-US" sz="2400" dirty="0">
              <a:latin typeface="Arial"/>
              <a:cs typeface="Arial"/>
            </a:endParaRPr>
          </a:p>
          <a:p>
            <a:pPr marL="12700">
              <a:spcBef>
                <a:spcPts val="580"/>
              </a:spcBef>
            </a:pPr>
            <a:r>
              <a:rPr sz="2400" dirty="0">
                <a:solidFill>
                  <a:srgbClr val="30B6FC"/>
                </a:solidFill>
                <a:latin typeface="Geneva"/>
                <a:cs typeface="Geneva"/>
              </a:rPr>
              <a:t>∗</a:t>
            </a:r>
            <a:r>
              <a:rPr sz="2400" spc="175" dirty="0">
                <a:solidFill>
                  <a:srgbClr val="30B6FC"/>
                </a:solidFill>
                <a:latin typeface="Geneva"/>
                <a:cs typeface="Geneva"/>
              </a:rPr>
              <a:t> </a:t>
            </a:r>
            <a:r>
              <a:rPr sz="2400" spc="-20" dirty="0">
                <a:solidFill>
                  <a:srgbClr val="063D86"/>
                </a:solidFill>
                <a:latin typeface="Arial"/>
                <a:cs typeface="Arial"/>
              </a:rPr>
              <a:t>In</a:t>
            </a:r>
            <a:r>
              <a:rPr sz="2400" spc="-140" dirty="0">
                <a:solidFill>
                  <a:srgbClr val="063D86"/>
                </a:solidFill>
                <a:latin typeface="Arial"/>
                <a:cs typeface="Arial"/>
              </a:rPr>
              <a:t> </a:t>
            </a:r>
            <a:r>
              <a:rPr sz="2400" spc="-20" dirty="0">
                <a:solidFill>
                  <a:srgbClr val="063D86"/>
                </a:solidFill>
                <a:latin typeface="Arial"/>
                <a:cs typeface="Arial"/>
              </a:rPr>
              <a:t>this</a:t>
            </a:r>
            <a:r>
              <a:rPr sz="2400" spc="-140" dirty="0">
                <a:solidFill>
                  <a:srgbClr val="063D86"/>
                </a:solidFill>
                <a:latin typeface="Arial"/>
                <a:cs typeface="Arial"/>
              </a:rPr>
              <a:t> </a:t>
            </a:r>
            <a:r>
              <a:rPr sz="2400" spc="-65" dirty="0">
                <a:solidFill>
                  <a:srgbClr val="063D86"/>
                </a:solidFill>
                <a:latin typeface="Arial"/>
                <a:cs typeface="Arial"/>
              </a:rPr>
              <a:t>example,</a:t>
            </a:r>
            <a:r>
              <a:rPr sz="2400" spc="-140" dirty="0">
                <a:solidFill>
                  <a:srgbClr val="063D86"/>
                </a:solidFill>
                <a:latin typeface="Arial"/>
                <a:cs typeface="Arial"/>
              </a:rPr>
              <a:t> </a:t>
            </a:r>
            <a:r>
              <a:rPr sz="2400" spc="90" dirty="0">
                <a:solidFill>
                  <a:srgbClr val="063D86"/>
                </a:solidFill>
                <a:latin typeface="Arial"/>
                <a:cs typeface="Arial"/>
              </a:rPr>
              <a:t>it</a:t>
            </a:r>
            <a:r>
              <a:rPr sz="2400" spc="-130" dirty="0">
                <a:solidFill>
                  <a:srgbClr val="063D86"/>
                </a:solidFill>
                <a:latin typeface="Arial"/>
                <a:cs typeface="Arial"/>
              </a:rPr>
              <a:t> </a:t>
            </a:r>
            <a:r>
              <a:rPr sz="2400" spc="-110" dirty="0">
                <a:solidFill>
                  <a:srgbClr val="063D86"/>
                </a:solidFill>
                <a:latin typeface="Arial"/>
                <a:cs typeface="Arial"/>
              </a:rPr>
              <a:t>is</a:t>
            </a:r>
            <a:r>
              <a:rPr sz="2400" spc="-145" dirty="0">
                <a:solidFill>
                  <a:srgbClr val="063D86"/>
                </a:solidFill>
                <a:latin typeface="Arial"/>
                <a:cs typeface="Arial"/>
              </a:rPr>
              <a:t> </a:t>
            </a:r>
            <a:r>
              <a:rPr sz="2400" dirty="0">
                <a:solidFill>
                  <a:srgbClr val="063D86"/>
                </a:solidFill>
                <a:latin typeface="Arial"/>
                <a:cs typeface="Arial"/>
              </a:rPr>
              <a:t>the</a:t>
            </a:r>
            <a:r>
              <a:rPr sz="2400" spc="-140" dirty="0">
                <a:solidFill>
                  <a:srgbClr val="063D86"/>
                </a:solidFill>
                <a:latin typeface="Arial"/>
                <a:cs typeface="Arial"/>
              </a:rPr>
              <a:t> same</a:t>
            </a:r>
            <a:r>
              <a:rPr sz="2400" spc="-135" dirty="0">
                <a:solidFill>
                  <a:srgbClr val="063D86"/>
                </a:solidFill>
                <a:latin typeface="Arial"/>
                <a:cs typeface="Arial"/>
              </a:rPr>
              <a:t> </a:t>
            </a:r>
            <a:r>
              <a:rPr sz="2400" spc="-195" dirty="0">
                <a:solidFill>
                  <a:srgbClr val="063D86"/>
                </a:solidFill>
                <a:latin typeface="Arial"/>
                <a:cs typeface="Arial"/>
              </a:rPr>
              <a:t>as</a:t>
            </a:r>
            <a:r>
              <a:rPr sz="2400" spc="-140" dirty="0">
                <a:solidFill>
                  <a:srgbClr val="063D86"/>
                </a:solidFill>
                <a:latin typeface="Arial"/>
                <a:cs typeface="Arial"/>
              </a:rPr>
              <a:t> </a:t>
            </a:r>
            <a:r>
              <a:rPr sz="2400" dirty="0">
                <a:solidFill>
                  <a:srgbClr val="063D86"/>
                </a:solidFill>
                <a:latin typeface="Arial"/>
                <a:cs typeface="Arial"/>
              </a:rPr>
              <a:t>the</a:t>
            </a:r>
            <a:r>
              <a:rPr sz="2400" spc="-130" dirty="0">
                <a:solidFill>
                  <a:srgbClr val="063D86"/>
                </a:solidFill>
                <a:latin typeface="Arial"/>
                <a:cs typeface="Arial"/>
              </a:rPr>
              <a:t> </a:t>
            </a:r>
            <a:r>
              <a:rPr sz="2400" spc="-125" dirty="0">
                <a:solidFill>
                  <a:srgbClr val="063D86"/>
                </a:solidFill>
                <a:latin typeface="Arial"/>
                <a:cs typeface="Arial"/>
              </a:rPr>
              <a:t>Reduce</a:t>
            </a:r>
            <a:r>
              <a:rPr sz="2400" spc="-114" dirty="0">
                <a:solidFill>
                  <a:srgbClr val="063D86"/>
                </a:solidFill>
                <a:latin typeface="Arial"/>
                <a:cs typeface="Arial"/>
              </a:rPr>
              <a:t> </a:t>
            </a:r>
            <a:r>
              <a:rPr sz="2400" spc="-10" dirty="0">
                <a:solidFill>
                  <a:srgbClr val="063D86"/>
                </a:solidFill>
                <a:latin typeface="Arial"/>
                <a:cs typeface="Arial"/>
              </a:rPr>
              <a:t>class</a:t>
            </a:r>
            <a:endParaRPr lang="en-US" sz="2400" dirty="0">
              <a:latin typeface="Arial"/>
              <a:cs typeface="Arial"/>
            </a:endParaRPr>
          </a:p>
          <a:p>
            <a:pPr marL="12700">
              <a:spcBef>
                <a:spcPts val="575"/>
              </a:spcBef>
            </a:pPr>
            <a:r>
              <a:rPr sz="2400" dirty="0">
                <a:solidFill>
                  <a:srgbClr val="30B6FC"/>
                </a:solidFill>
                <a:latin typeface="Geneva"/>
                <a:cs typeface="Geneva"/>
              </a:rPr>
              <a:t>∗</a:t>
            </a:r>
            <a:r>
              <a:rPr sz="2400" spc="210" dirty="0">
                <a:solidFill>
                  <a:srgbClr val="30B6FC"/>
                </a:solidFill>
                <a:latin typeface="Geneva"/>
                <a:cs typeface="Geneva"/>
              </a:rPr>
              <a:t> </a:t>
            </a:r>
            <a:r>
              <a:rPr sz="2400" dirty="0">
                <a:solidFill>
                  <a:srgbClr val="063D86"/>
                </a:solidFill>
                <a:latin typeface="Arial"/>
                <a:cs typeface="Arial"/>
              </a:rPr>
              <a:t>Output</a:t>
            </a:r>
            <a:r>
              <a:rPr sz="2400" spc="-100" dirty="0">
                <a:solidFill>
                  <a:srgbClr val="063D86"/>
                </a:solidFill>
                <a:latin typeface="Arial"/>
                <a:cs typeface="Arial"/>
              </a:rPr>
              <a:t> </a:t>
            </a:r>
            <a:r>
              <a:rPr sz="2400" dirty="0">
                <a:solidFill>
                  <a:srgbClr val="063D86"/>
                </a:solidFill>
                <a:latin typeface="Arial"/>
                <a:cs typeface="Arial"/>
              </a:rPr>
              <a:t>after</a:t>
            </a:r>
            <a:r>
              <a:rPr sz="2400" spc="-105" dirty="0">
                <a:solidFill>
                  <a:srgbClr val="063D86"/>
                </a:solidFill>
                <a:latin typeface="Arial"/>
                <a:cs typeface="Arial"/>
              </a:rPr>
              <a:t> </a:t>
            </a:r>
            <a:r>
              <a:rPr sz="2400" spc="-35" dirty="0">
                <a:solidFill>
                  <a:srgbClr val="063D86"/>
                </a:solidFill>
                <a:latin typeface="Arial"/>
                <a:cs typeface="Arial"/>
              </a:rPr>
              <a:t>running</a:t>
            </a:r>
            <a:r>
              <a:rPr sz="2400" spc="-100" dirty="0">
                <a:solidFill>
                  <a:srgbClr val="063D86"/>
                </a:solidFill>
                <a:latin typeface="Arial"/>
                <a:cs typeface="Arial"/>
              </a:rPr>
              <a:t> </a:t>
            </a:r>
            <a:r>
              <a:rPr sz="2400" spc="-10" dirty="0">
                <a:solidFill>
                  <a:srgbClr val="063D86"/>
                </a:solidFill>
                <a:latin typeface="Arial"/>
                <a:cs typeface="Arial"/>
              </a:rPr>
              <a:t>combiner:</a:t>
            </a:r>
            <a:endParaRPr lang="en-US" sz="2400" dirty="0">
              <a:latin typeface="Arial"/>
              <a:cs typeface="Arial"/>
            </a:endParaRPr>
          </a:p>
        </p:txBody>
      </p:sp>
      <p:sp>
        <p:nvSpPr>
          <p:cNvPr id="5" name="object 5"/>
          <p:cNvSpPr txBox="1"/>
          <p:nvPr/>
        </p:nvSpPr>
        <p:spPr>
          <a:xfrm>
            <a:off x="5988276" y="2466507"/>
            <a:ext cx="3536724" cy="1858842"/>
          </a:xfrm>
          <a:prstGeom prst="rect">
            <a:avLst/>
          </a:prstGeom>
        </p:spPr>
        <p:txBody>
          <a:bodyPr vert="horz" wrap="square" lIns="0" tIns="12065" rIns="0" bIns="0" rtlCol="0">
            <a:spAutoFit/>
          </a:bodyPr>
          <a:lstStyle/>
          <a:p>
            <a:pPr marL="12700">
              <a:spcBef>
                <a:spcPts val="95"/>
              </a:spcBef>
            </a:pPr>
            <a:r>
              <a:rPr sz="2400" dirty="0">
                <a:solidFill>
                  <a:srgbClr val="30B6FC"/>
                </a:solidFill>
                <a:latin typeface="Geneva"/>
                <a:cs typeface="Geneva"/>
              </a:rPr>
              <a:t>∗</a:t>
            </a:r>
            <a:r>
              <a:rPr sz="2400" spc="345" dirty="0">
                <a:solidFill>
                  <a:srgbClr val="30B6FC"/>
                </a:solidFill>
                <a:latin typeface="Geneva"/>
                <a:cs typeface="Geneva"/>
              </a:rPr>
              <a:t> </a:t>
            </a:r>
            <a:r>
              <a:rPr sz="2400" spc="-120" dirty="0">
                <a:solidFill>
                  <a:srgbClr val="063D86"/>
                </a:solidFill>
                <a:latin typeface="Arial"/>
                <a:cs typeface="Arial"/>
              </a:rPr>
              <a:t>Second</a:t>
            </a:r>
            <a:r>
              <a:rPr sz="2400" spc="-140" dirty="0">
                <a:solidFill>
                  <a:srgbClr val="063D86"/>
                </a:solidFill>
                <a:latin typeface="Arial"/>
                <a:cs typeface="Arial"/>
              </a:rPr>
              <a:t> </a:t>
            </a:r>
            <a:r>
              <a:rPr sz="2400" spc="-20" dirty="0">
                <a:solidFill>
                  <a:srgbClr val="063D86"/>
                </a:solidFill>
                <a:latin typeface="Arial"/>
                <a:cs typeface="Arial"/>
              </a:rPr>
              <a:t>Map:</a:t>
            </a:r>
            <a:endParaRPr lang="en-US" sz="2400" dirty="0">
              <a:latin typeface="Arial"/>
              <a:cs typeface="Arial"/>
            </a:endParaRPr>
          </a:p>
          <a:p>
            <a:pPr marL="287020"/>
            <a:r>
              <a:rPr sz="2400" spc="-190" dirty="0">
                <a:solidFill>
                  <a:srgbClr val="063D86"/>
                </a:solidFill>
                <a:latin typeface="Arial"/>
                <a:cs typeface="Arial"/>
              </a:rPr>
              <a:t>&lt;</a:t>
            </a:r>
            <a:r>
              <a:rPr sz="2400" spc="-125" dirty="0">
                <a:solidFill>
                  <a:srgbClr val="063D86"/>
                </a:solidFill>
                <a:latin typeface="Arial"/>
                <a:cs typeface="Arial"/>
              </a:rPr>
              <a:t> </a:t>
            </a:r>
            <a:r>
              <a:rPr sz="2400" spc="-50" dirty="0">
                <a:solidFill>
                  <a:srgbClr val="063D86"/>
                </a:solidFill>
                <a:latin typeface="Arial"/>
                <a:cs typeface="Arial"/>
              </a:rPr>
              <a:t>goodbye,</a:t>
            </a:r>
            <a:r>
              <a:rPr sz="2400" spc="-114" dirty="0">
                <a:solidFill>
                  <a:srgbClr val="063D86"/>
                </a:solidFill>
                <a:latin typeface="Arial"/>
                <a:cs typeface="Arial"/>
              </a:rPr>
              <a:t> </a:t>
            </a:r>
            <a:r>
              <a:rPr sz="2400" spc="-470" dirty="0">
                <a:solidFill>
                  <a:srgbClr val="063D86"/>
                </a:solidFill>
                <a:latin typeface="Arial"/>
                <a:cs typeface="Arial"/>
              </a:rPr>
              <a:t>1</a:t>
            </a:r>
            <a:r>
              <a:rPr sz="2400" spc="-114" dirty="0">
                <a:solidFill>
                  <a:srgbClr val="063D86"/>
                </a:solidFill>
                <a:latin typeface="Arial"/>
                <a:cs typeface="Arial"/>
              </a:rPr>
              <a:t> </a:t>
            </a:r>
            <a:r>
              <a:rPr sz="2400" spc="-50" dirty="0">
                <a:solidFill>
                  <a:srgbClr val="063D86"/>
                </a:solidFill>
                <a:latin typeface="Arial"/>
                <a:cs typeface="Arial"/>
              </a:rPr>
              <a:t>&gt;</a:t>
            </a:r>
            <a:endParaRPr lang="en-US" sz="2400" dirty="0">
              <a:latin typeface="Arial"/>
              <a:cs typeface="Arial"/>
            </a:endParaRPr>
          </a:p>
          <a:p>
            <a:pPr marL="287020"/>
            <a:r>
              <a:rPr sz="2400" spc="-190" dirty="0">
                <a:solidFill>
                  <a:srgbClr val="063D86"/>
                </a:solidFill>
                <a:latin typeface="Arial"/>
                <a:cs typeface="Arial"/>
              </a:rPr>
              <a:t>&lt;</a:t>
            </a:r>
            <a:r>
              <a:rPr sz="2400" spc="-120" dirty="0">
                <a:solidFill>
                  <a:srgbClr val="063D86"/>
                </a:solidFill>
                <a:latin typeface="Arial"/>
                <a:cs typeface="Arial"/>
              </a:rPr>
              <a:t> </a:t>
            </a:r>
            <a:r>
              <a:rPr sz="2400" dirty="0">
                <a:solidFill>
                  <a:srgbClr val="063D86"/>
                </a:solidFill>
                <a:latin typeface="Arial"/>
                <a:cs typeface="Arial"/>
              </a:rPr>
              <a:t>world,</a:t>
            </a:r>
            <a:r>
              <a:rPr sz="2400" spc="-110" dirty="0">
                <a:solidFill>
                  <a:srgbClr val="063D86"/>
                </a:solidFill>
                <a:latin typeface="Arial"/>
                <a:cs typeface="Arial"/>
              </a:rPr>
              <a:t> </a:t>
            </a:r>
            <a:r>
              <a:rPr sz="2400" spc="-470" dirty="0">
                <a:solidFill>
                  <a:srgbClr val="063D86"/>
                </a:solidFill>
                <a:latin typeface="Arial"/>
                <a:cs typeface="Arial"/>
              </a:rPr>
              <a:t>1</a:t>
            </a:r>
            <a:r>
              <a:rPr sz="2400" spc="-110" dirty="0">
                <a:solidFill>
                  <a:srgbClr val="063D86"/>
                </a:solidFill>
                <a:latin typeface="Arial"/>
                <a:cs typeface="Arial"/>
              </a:rPr>
              <a:t> </a:t>
            </a:r>
            <a:r>
              <a:rPr sz="2400" spc="-50" dirty="0">
                <a:solidFill>
                  <a:srgbClr val="063D86"/>
                </a:solidFill>
                <a:latin typeface="Arial"/>
                <a:cs typeface="Arial"/>
              </a:rPr>
              <a:t>&gt;</a:t>
            </a:r>
            <a:endParaRPr lang="en-US" sz="2400" dirty="0">
              <a:latin typeface="Arial"/>
              <a:cs typeface="Arial"/>
            </a:endParaRPr>
          </a:p>
          <a:p>
            <a:pPr marL="287020"/>
            <a:r>
              <a:rPr sz="2400" spc="-190" dirty="0">
                <a:solidFill>
                  <a:srgbClr val="063D86"/>
                </a:solidFill>
                <a:latin typeface="Arial"/>
                <a:cs typeface="Arial"/>
              </a:rPr>
              <a:t>&lt;</a:t>
            </a:r>
            <a:r>
              <a:rPr sz="2400" spc="-105" dirty="0">
                <a:solidFill>
                  <a:srgbClr val="063D86"/>
                </a:solidFill>
                <a:latin typeface="Arial"/>
                <a:cs typeface="Arial"/>
              </a:rPr>
              <a:t> </a:t>
            </a:r>
            <a:r>
              <a:rPr sz="2400" spc="-20" dirty="0">
                <a:solidFill>
                  <a:srgbClr val="063D86"/>
                </a:solidFill>
                <a:latin typeface="Arial"/>
                <a:cs typeface="Arial"/>
              </a:rPr>
              <a:t>goodnight,</a:t>
            </a:r>
            <a:r>
              <a:rPr sz="2400" spc="-110" dirty="0">
                <a:solidFill>
                  <a:srgbClr val="063D86"/>
                </a:solidFill>
                <a:latin typeface="Arial"/>
                <a:cs typeface="Arial"/>
              </a:rPr>
              <a:t> </a:t>
            </a:r>
            <a:r>
              <a:rPr sz="2400" spc="-470" dirty="0">
                <a:solidFill>
                  <a:srgbClr val="063D86"/>
                </a:solidFill>
                <a:latin typeface="Arial"/>
                <a:cs typeface="Arial"/>
              </a:rPr>
              <a:t>1</a:t>
            </a:r>
            <a:r>
              <a:rPr sz="2400" spc="-95" dirty="0">
                <a:solidFill>
                  <a:srgbClr val="063D86"/>
                </a:solidFill>
                <a:latin typeface="Arial"/>
                <a:cs typeface="Arial"/>
              </a:rPr>
              <a:t> </a:t>
            </a:r>
            <a:r>
              <a:rPr sz="2400" spc="-75" dirty="0">
                <a:solidFill>
                  <a:srgbClr val="063D86"/>
                </a:solidFill>
                <a:latin typeface="Arial"/>
                <a:cs typeface="Arial"/>
              </a:rPr>
              <a:t>&gt;</a:t>
            </a:r>
            <a:endParaRPr lang="en-US" sz="2400" dirty="0">
              <a:latin typeface="Arial"/>
              <a:cs typeface="Arial"/>
            </a:endParaRPr>
          </a:p>
          <a:p>
            <a:pPr marL="287020"/>
            <a:r>
              <a:rPr sz="2400" spc="-190" dirty="0">
                <a:solidFill>
                  <a:srgbClr val="063D86"/>
                </a:solidFill>
                <a:latin typeface="Arial"/>
                <a:cs typeface="Arial"/>
              </a:rPr>
              <a:t>&lt;</a:t>
            </a:r>
            <a:r>
              <a:rPr sz="2400" spc="-130" dirty="0">
                <a:solidFill>
                  <a:srgbClr val="063D86"/>
                </a:solidFill>
                <a:latin typeface="Arial"/>
                <a:cs typeface="Arial"/>
              </a:rPr>
              <a:t> </a:t>
            </a:r>
            <a:r>
              <a:rPr sz="2400" spc="-40" dirty="0">
                <a:solidFill>
                  <a:srgbClr val="063D86"/>
                </a:solidFill>
                <a:latin typeface="Arial"/>
                <a:cs typeface="Arial"/>
              </a:rPr>
              <a:t>moon,</a:t>
            </a:r>
            <a:r>
              <a:rPr sz="2400" spc="-125" dirty="0">
                <a:solidFill>
                  <a:srgbClr val="063D86"/>
                </a:solidFill>
                <a:latin typeface="Arial"/>
                <a:cs typeface="Arial"/>
              </a:rPr>
              <a:t> </a:t>
            </a:r>
            <a:r>
              <a:rPr sz="2400" spc="-470" dirty="0">
                <a:solidFill>
                  <a:srgbClr val="063D86"/>
                </a:solidFill>
                <a:latin typeface="Arial"/>
                <a:cs typeface="Arial"/>
              </a:rPr>
              <a:t>1</a:t>
            </a:r>
            <a:r>
              <a:rPr sz="2400" spc="-125" dirty="0">
                <a:solidFill>
                  <a:srgbClr val="063D86"/>
                </a:solidFill>
                <a:latin typeface="Arial"/>
                <a:cs typeface="Arial"/>
              </a:rPr>
              <a:t> </a:t>
            </a:r>
            <a:r>
              <a:rPr sz="2400" spc="-50" dirty="0">
                <a:solidFill>
                  <a:srgbClr val="063D86"/>
                </a:solidFill>
                <a:latin typeface="Arial"/>
                <a:cs typeface="Arial"/>
              </a:rPr>
              <a:t>&gt;</a:t>
            </a:r>
            <a:endParaRPr lang="en-US" sz="2400" dirty="0">
              <a:latin typeface="Arial"/>
              <a:cs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C3F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bject 2" descr="$PPTXTitle"/>
          <p:cNvSpPr txBox="1">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0" tIns="13335" rIns="0" bIns="0" rtlCol="0" anchor="ctr">
            <a:normAutofit/>
          </a:bodyPr>
          <a:lstStyle/>
          <a:p>
            <a:pPr marL="614045" algn="ctr">
              <a:spcBef>
                <a:spcPts val="105"/>
              </a:spcBef>
            </a:pPr>
            <a:r>
              <a:rPr lang="en-US" sz="2200" spc="-235">
                <a:solidFill>
                  <a:srgbClr val="FFFFFF"/>
                </a:solidFill>
              </a:rPr>
              <a:t>Reduce</a:t>
            </a:r>
            <a:r>
              <a:rPr lang="en-US" sz="2200" spc="-254">
                <a:solidFill>
                  <a:srgbClr val="FFFFFF"/>
                </a:solidFill>
              </a:rPr>
              <a:t> </a:t>
            </a:r>
            <a:r>
              <a:rPr lang="en-US" sz="2200" spc="-355">
                <a:solidFill>
                  <a:srgbClr val="FFFFFF"/>
                </a:solidFill>
              </a:rPr>
              <a:t>Class</a:t>
            </a:r>
            <a:r>
              <a:rPr lang="en-US" sz="2200" spc="-270">
                <a:solidFill>
                  <a:srgbClr val="FFFFFF"/>
                </a:solidFill>
              </a:rPr>
              <a:t> </a:t>
            </a:r>
            <a:r>
              <a:rPr lang="en-US" sz="2200" spc="114">
                <a:solidFill>
                  <a:srgbClr val="FFFFFF"/>
                </a:solidFill>
              </a:rPr>
              <a:t>for</a:t>
            </a:r>
            <a:r>
              <a:rPr lang="en-US" sz="2200" spc="-270">
                <a:solidFill>
                  <a:srgbClr val="FFFFFF"/>
                </a:solidFill>
              </a:rPr>
              <a:t> </a:t>
            </a:r>
            <a:r>
              <a:rPr lang="en-US" sz="2200" spc="-70">
                <a:solidFill>
                  <a:srgbClr val="FFFFFF"/>
                </a:solidFill>
              </a:rPr>
              <a:t>WordCount</a:t>
            </a:r>
          </a:p>
        </p:txBody>
      </p:sp>
      <p:pic>
        <p:nvPicPr>
          <p:cNvPr id="3" name="object 3"/>
          <p:cNvPicPr/>
          <p:nvPr/>
        </p:nvPicPr>
        <p:blipFill>
          <a:blip r:embed="rId2" cstate="print"/>
          <a:stretch>
            <a:fillRect/>
          </a:stretch>
        </p:blipFill>
        <p:spPr>
          <a:xfrm>
            <a:off x="4038600" y="1288735"/>
            <a:ext cx="7188199" cy="4277141"/>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prstGeom prst="rect">
            <a:avLst/>
          </a:prstGeom>
        </p:spPr>
        <p:txBody>
          <a:bodyPr vert="horz" wrap="square" lIns="0" tIns="13335" rIns="0" bIns="0" rtlCol="0">
            <a:spAutoFit/>
          </a:bodyPr>
          <a:lstStyle/>
          <a:p>
            <a:pPr marL="2996565">
              <a:lnSpc>
                <a:spcPct val="100000"/>
              </a:lnSpc>
              <a:spcBef>
                <a:spcPts val="105"/>
              </a:spcBef>
            </a:pPr>
            <a:r>
              <a:rPr spc="-160" dirty="0"/>
              <a:t>Reducer</a:t>
            </a:r>
          </a:p>
        </p:txBody>
      </p:sp>
      <p:graphicFrame>
        <p:nvGraphicFramePr>
          <p:cNvPr id="5" name="object 2">
            <a:extLst>
              <a:ext uri="{FF2B5EF4-FFF2-40B4-BE49-F238E27FC236}">
                <a16:creationId xmlns:a16="http://schemas.microsoft.com/office/drawing/2014/main" id="{E12F167D-FB48-42B4-5F57-C9506A4A8239}"/>
              </a:ext>
            </a:extLst>
          </p:cNvPr>
          <p:cNvGraphicFramePr>
            <a:graphicFrameLocks noGrp="1"/>
          </p:cNvGraphicFramePr>
          <p:nvPr>
            <p:ph idx="1"/>
            <p:extLst>
              <p:ext uri="{D42A27DB-BD31-4B8C-83A1-F6EECF244321}">
                <p14:modId xmlns:p14="http://schemas.microsoft.com/office/powerpoint/2010/main" val="4254679124"/>
              </p:ext>
            </p:extLst>
          </p:nvPr>
        </p:nvGraphicFramePr>
        <p:xfrm>
          <a:off x="990600" y="1981200"/>
          <a:ext cx="9906000" cy="41421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025EFD5-738C-41B9-87FE-0C00E211B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6" name="Picture 5">
            <a:extLst>
              <a:ext uri="{FF2B5EF4-FFF2-40B4-BE49-F238E27FC236}">
                <a16:creationId xmlns:a16="http://schemas.microsoft.com/office/drawing/2014/main" id="{1269B215-302A-B164-213D-7514AA48C403}"/>
              </a:ext>
            </a:extLst>
          </p:cNvPr>
          <p:cNvPicPr>
            <a:picLocks noChangeAspect="1"/>
          </p:cNvPicPr>
          <p:nvPr/>
        </p:nvPicPr>
        <p:blipFill>
          <a:blip r:embed="rId2"/>
          <a:srcRect l="2068" r="-3" b="-3"/>
          <a:stretch>
            <a:fillRect/>
          </a:stretch>
        </p:blipFill>
        <p:spPr>
          <a:xfrm>
            <a:off x="858284" y="1165109"/>
            <a:ext cx="4261337" cy="4351338"/>
          </a:xfrm>
          <a:custGeom>
            <a:avLst/>
            <a:gdLst/>
            <a:ahLst/>
            <a:cxnLst/>
            <a:rect l="l" t="t" r="r" b="b"/>
            <a:pathLst>
              <a:path w="4114800" h="5712488">
                <a:moveTo>
                  <a:pt x="133155" y="0"/>
                </a:moveTo>
                <a:lnTo>
                  <a:pt x="3981645" y="0"/>
                </a:lnTo>
                <a:cubicBezTo>
                  <a:pt x="4055184" y="0"/>
                  <a:pt x="4114800" y="59616"/>
                  <a:pt x="4114800" y="133155"/>
                </a:cubicBezTo>
                <a:lnTo>
                  <a:pt x="4114800" y="5579333"/>
                </a:lnTo>
                <a:cubicBezTo>
                  <a:pt x="4114800" y="5652872"/>
                  <a:pt x="4055184" y="5712488"/>
                  <a:pt x="3981645" y="5712488"/>
                </a:cubicBezTo>
                <a:lnTo>
                  <a:pt x="133155" y="5712488"/>
                </a:lnTo>
                <a:cubicBezTo>
                  <a:pt x="59616" y="5712488"/>
                  <a:pt x="0" y="5652872"/>
                  <a:pt x="0" y="5579333"/>
                </a:cubicBezTo>
                <a:lnTo>
                  <a:pt x="0" y="133155"/>
                </a:lnTo>
                <a:cubicBezTo>
                  <a:pt x="0" y="59616"/>
                  <a:pt x="59616" y="0"/>
                  <a:pt x="133155" y="0"/>
                </a:cubicBezTo>
                <a:close/>
              </a:path>
            </a:pathLst>
          </a:custGeom>
        </p:spPr>
      </p:pic>
      <p:sp>
        <p:nvSpPr>
          <p:cNvPr id="12" name="!!Arc">
            <a:extLst>
              <a:ext uri="{FF2B5EF4-FFF2-40B4-BE49-F238E27FC236}">
                <a16:creationId xmlns:a16="http://schemas.microsoft.com/office/drawing/2014/main" id="{835EF3DD-7D43-4A27-8967-A92FD8CC9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3531" y="407987"/>
            <a:ext cx="2987899" cy="2987899"/>
          </a:xfrm>
          <a:prstGeom prst="arc">
            <a:avLst>
              <a:gd name="adj1" fmla="val 16200000"/>
              <a:gd name="adj2" fmla="val 2563720"/>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5827048" y="444272"/>
            <a:ext cx="5721484" cy="1325563"/>
          </a:xfrm>
          <a:prstGeom prst="rect">
            <a:avLst/>
          </a:prstGeom>
        </p:spPr>
        <p:txBody>
          <a:bodyPr vert="horz" lIns="91440" tIns="45720" rIns="91440" bIns="45720" rtlCol="0" anchor="ctr">
            <a:normAutofit/>
          </a:bodyPr>
          <a:lstStyle/>
          <a:p>
            <a:pPr marL="2414270"/>
            <a:r>
              <a:rPr lang="en-US" spc="-110"/>
              <a:t>Observations</a:t>
            </a:r>
          </a:p>
        </p:txBody>
      </p:sp>
      <p:graphicFrame>
        <p:nvGraphicFramePr>
          <p:cNvPr id="5" name="object 2">
            <a:extLst>
              <a:ext uri="{FF2B5EF4-FFF2-40B4-BE49-F238E27FC236}">
                <a16:creationId xmlns:a16="http://schemas.microsoft.com/office/drawing/2014/main" id="{78260797-272F-1AE0-7459-E12C3D09DFDC}"/>
              </a:ext>
            </a:extLst>
          </p:cNvPr>
          <p:cNvGraphicFramePr/>
          <p:nvPr>
            <p:extLst>
              <p:ext uri="{D42A27DB-BD31-4B8C-83A1-F6EECF244321}">
                <p14:modId xmlns:p14="http://schemas.microsoft.com/office/powerpoint/2010/main" val="240686465"/>
              </p:ext>
            </p:extLst>
          </p:nvPr>
        </p:nvGraphicFramePr>
        <p:xfrm>
          <a:off x="5827048" y="1904772"/>
          <a:ext cx="5721484"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025EFD5-738C-41B9-87FE-0C00E211B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6" name="Picture 5">
            <a:extLst>
              <a:ext uri="{FF2B5EF4-FFF2-40B4-BE49-F238E27FC236}">
                <a16:creationId xmlns:a16="http://schemas.microsoft.com/office/drawing/2014/main" id="{70D7C73D-1B17-5DF7-5B18-7543A8DAC0FE}"/>
              </a:ext>
            </a:extLst>
          </p:cNvPr>
          <p:cNvPicPr>
            <a:picLocks noChangeAspect="1"/>
          </p:cNvPicPr>
          <p:nvPr/>
        </p:nvPicPr>
        <p:blipFill>
          <a:blip r:embed="rId2"/>
          <a:srcRect l="33870" r="21327" b="1"/>
          <a:stretch>
            <a:fillRect/>
          </a:stretch>
        </p:blipFill>
        <p:spPr>
          <a:xfrm>
            <a:off x="858284" y="1165109"/>
            <a:ext cx="4261337" cy="4351338"/>
          </a:xfrm>
          <a:custGeom>
            <a:avLst/>
            <a:gdLst/>
            <a:ahLst/>
            <a:cxnLst/>
            <a:rect l="l" t="t" r="r" b="b"/>
            <a:pathLst>
              <a:path w="4114800" h="5712488">
                <a:moveTo>
                  <a:pt x="133155" y="0"/>
                </a:moveTo>
                <a:lnTo>
                  <a:pt x="3981645" y="0"/>
                </a:lnTo>
                <a:cubicBezTo>
                  <a:pt x="4055184" y="0"/>
                  <a:pt x="4114800" y="59616"/>
                  <a:pt x="4114800" y="133155"/>
                </a:cubicBezTo>
                <a:lnTo>
                  <a:pt x="4114800" y="5579333"/>
                </a:lnTo>
                <a:cubicBezTo>
                  <a:pt x="4114800" y="5652872"/>
                  <a:pt x="4055184" y="5712488"/>
                  <a:pt x="3981645" y="5712488"/>
                </a:cubicBezTo>
                <a:lnTo>
                  <a:pt x="133155" y="5712488"/>
                </a:lnTo>
                <a:cubicBezTo>
                  <a:pt x="59616" y="5712488"/>
                  <a:pt x="0" y="5652872"/>
                  <a:pt x="0" y="5579333"/>
                </a:cubicBezTo>
                <a:lnTo>
                  <a:pt x="0" y="133155"/>
                </a:lnTo>
                <a:cubicBezTo>
                  <a:pt x="0" y="59616"/>
                  <a:pt x="59616" y="0"/>
                  <a:pt x="133155" y="0"/>
                </a:cubicBezTo>
                <a:close/>
              </a:path>
            </a:pathLst>
          </a:custGeom>
        </p:spPr>
      </p:pic>
      <p:sp>
        <p:nvSpPr>
          <p:cNvPr id="12" name="!!Arc">
            <a:extLst>
              <a:ext uri="{FF2B5EF4-FFF2-40B4-BE49-F238E27FC236}">
                <a16:creationId xmlns:a16="http://schemas.microsoft.com/office/drawing/2014/main" id="{835EF3DD-7D43-4A27-8967-A92FD8CC9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73531" y="407987"/>
            <a:ext cx="2987899" cy="2987899"/>
          </a:xfrm>
          <a:prstGeom prst="arc">
            <a:avLst>
              <a:gd name="adj1" fmla="val 16200000"/>
              <a:gd name="adj2" fmla="val 2563720"/>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object 3" descr="$PPTXTitle"/>
          <p:cNvSpPr txBox="1">
            <a:spLocks noGrp="1"/>
          </p:cNvSpPr>
          <p:nvPr>
            <p:ph type="title"/>
          </p:nvPr>
        </p:nvSpPr>
        <p:spPr>
          <a:xfrm>
            <a:off x="5827048" y="444272"/>
            <a:ext cx="5721484" cy="1325563"/>
          </a:xfrm>
          <a:prstGeom prst="rect">
            <a:avLst/>
          </a:prstGeom>
        </p:spPr>
        <p:txBody>
          <a:bodyPr vert="horz" lIns="91440" tIns="45720" rIns="91440" bIns="45720" rtlCol="0" anchor="ctr">
            <a:normAutofit/>
          </a:bodyPr>
          <a:lstStyle/>
          <a:p>
            <a:pPr marL="2576195"/>
            <a:r>
              <a:rPr lang="en-US" spc="-170"/>
              <a:t>Conclusions</a:t>
            </a:r>
          </a:p>
        </p:txBody>
      </p:sp>
      <p:graphicFrame>
        <p:nvGraphicFramePr>
          <p:cNvPr id="5" name="object 2">
            <a:extLst>
              <a:ext uri="{FF2B5EF4-FFF2-40B4-BE49-F238E27FC236}">
                <a16:creationId xmlns:a16="http://schemas.microsoft.com/office/drawing/2014/main" id="{A275F1A4-2D8A-B683-3395-02C72C036720}"/>
              </a:ext>
            </a:extLst>
          </p:cNvPr>
          <p:cNvGraphicFramePr/>
          <p:nvPr>
            <p:extLst>
              <p:ext uri="{D42A27DB-BD31-4B8C-83A1-F6EECF244321}">
                <p14:modId xmlns:p14="http://schemas.microsoft.com/office/powerpoint/2010/main" val="1658854192"/>
              </p:ext>
            </p:extLst>
          </p:nvPr>
        </p:nvGraphicFramePr>
        <p:xfrm>
          <a:off x="5334000" y="1447800"/>
          <a:ext cx="6214532" cy="48083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object 3" descr="$PPTXTitle"/>
          <p:cNvSpPr txBox="1">
            <a:spLocks noGrp="1"/>
          </p:cNvSpPr>
          <p:nvPr>
            <p:ph type="title"/>
          </p:nvPr>
        </p:nvSpPr>
        <p:spPr>
          <a:xfrm>
            <a:off x="838200" y="365125"/>
            <a:ext cx="5393361" cy="1325563"/>
          </a:xfrm>
          <a:prstGeom prst="rect">
            <a:avLst/>
          </a:prstGeom>
        </p:spPr>
        <p:txBody>
          <a:bodyPr vert="horz" lIns="91440" tIns="45720" rIns="91440" bIns="45720" rtlCol="0" anchor="ctr">
            <a:normAutofit/>
          </a:bodyPr>
          <a:lstStyle/>
          <a:p>
            <a:pPr marL="2668905"/>
            <a:r>
              <a:rPr lang="en-US" spc="-40"/>
              <a:t>Limitations</a:t>
            </a:r>
          </a:p>
        </p:txBody>
      </p:sp>
      <p:pic>
        <p:nvPicPr>
          <p:cNvPr id="6" name="Picture 5">
            <a:extLst>
              <a:ext uri="{FF2B5EF4-FFF2-40B4-BE49-F238E27FC236}">
                <a16:creationId xmlns:a16="http://schemas.microsoft.com/office/drawing/2014/main" id="{12088C96-EFB7-B074-BDC0-DB4008FD18DD}"/>
              </a:ext>
            </a:extLst>
          </p:cNvPr>
          <p:cNvPicPr>
            <a:picLocks noChangeAspect="1"/>
          </p:cNvPicPr>
          <p:nvPr/>
        </p:nvPicPr>
        <p:blipFill>
          <a:blip r:embed="rId2"/>
          <a:srcRect l="16603" r="16646"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12"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4"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5" name="object 2">
            <a:extLst>
              <a:ext uri="{FF2B5EF4-FFF2-40B4-BE49-F238E27FC236}">
                <a16:creationId xmlns:a16="http://schemas.microsoft.com/office/drawing/2014/main" id="{59F64C0C-3044-732A-E7B5-4AE367F67A5E}"/>
              </a:ext>
            </a:extLst>
          </p:cNvPr>
          <p:cNvGraphicFramePr/>
          <p:nvPr>
            <p:extLst>
              <p:ext uri="{D42A27DB-BD31-4B8C-83A1-F6EECF244321}">
                <p14:modId xmlns:p14="http://schemas.microsoft.com/office/powerpoint/2010/main" val="4180850477"/>
              </p:ext>
            </p:extLst>
          </p:nvPr>
        </p:nvGraphicFramePr>
        <p:xfrm>
          <a:off x="838200" y="1371600"/>
          <a:ext cx="5943600" cy="48053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object 2" descr="$PPTXTitle"/>
          <p:cNvSpPr txBox="1">
            <a:spLocks noGrp="1"/>
          </p:cNvSpPr>
          <p:nvPr>
            <p:ph type="title"/>
          </p:nvPr>
        </p:nvSpPr>
        <p:spPr>
          <a:xfrm>
            <a:off x="477981" y="1122363"/>
            <a:ext cx="4023360" cy="3204134"/>
          </a:xfrm>
          <a:prstGeom prst="rect">
            <a:avLst/>
          </a:prstGeom>
        </p:spPr>
        <p:txBody>
          <a:bodyPr vert="horz" lIns="91440" tIns="45720" rIns="91440" bIns="45720" rtlCol="0" anchor="b">
            <a:normAutofit/>
          </a:bodyPr>
          <a:lstStyle/>
          <a:p>
            <a:pPr marL="12700"/>
            <a:r>
              <a:rPr lang="en-US" sz="4800" kern="1200" spc="-484">
                <a:solidFill>
                  <a:schemeClr val="tx1"/>
                </a:solidFill>
                <a:latin typeface="+mj-lt"/>
                <a:ea typeface="+mj-ea"/>
                <a:cs typeface="+mj-cs"/>
              </a:rPr>
              <a:t>HDFS</a:t>
            </a:r>
            <a:r>
              <a:rPr lang="en-US" sz="4800" kern="1200" spc="-285">
                <a:solidFill>
                  <a:schemeClr val="tx1"/>
                </a:solidFill>
                <a:latin typeface="+mj-lt"/>
                <a:ea typeface="+mj-ea"/>
                <a:cs typeface="+mj-cs"/>
              </a:rPr>
              <a:t> </a:t>
            </a:r>
            <a:r>
              <a:rPr lang="en-US" sz="4800" kern="1200" spc="-165">
                <a:solidFill>
                  <a:schemeClr val="tx1"/>
                </a:solidFill>
                <a:latin typeface="+mj-lt"/>
                <a:ea typeface="+mj-ea"/>
                <a:cs typeface="+mj-cs"/>
              </a:rPr>
              <a:t>Command</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object 3"/>
          <p:cNvPicPr/>
          <p:nvPr/>
        </p:nvPicPr>
        <p:blipFill>
          <a:blip r:embed="rId2" cstate="print"/>
          <a:stretch>
            <a:fillRect/>
          </a:stretch>
        </p:blipFill>
        <p:spPr>
          <a:xfrm>
            <a:off x="5257800" y="304800"/>
            <a:ext cx="6453171" cy="60198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746950" y="4482"/>
            <a:ext cx="10515600" cy="1325563"/>
          </a:xfrm>
          <a:prstGeom prst="rect">
            <a:avLst/>
          </a:prstGeom>
        </p:spPr>
        <p:txBody>
          <a:bodyPr vert="horz" wrap="square" lIns="0" tIns="13335" rIns="0" bIns="0" rtlCol="0">
            <a:spAutoFit/>
          </a:bodyPr>
          <a:lstStyle/>
          <a:p>
            <a:pPr marL="1308100">
              <a:lnSpc>
                <a:spcPct val="100000"/>
              </a:lnSpc>
              <a:spcBef>
                <a:spcPts val="105"/>
              </a:spcBef>
            </a:pPr>
            <a:r>
              <a:rPr spc="-105" dirty="0"/>
              <a:t>Hadoop</a:t>
            </a:r>
            <a:r>
              <a:rPr spc="-260" dirty="0"/>
              <a:t> </a:t>
            </a:r>
            <a:r>
              <a:rPr spc="-935" dirty="0"/>
              <a:t>1</a:t>
            </a:r>
            <a:r>
              <a:rPr spc="-270" dirty="0"/>
              <a:t> </a:t>
            </a:r>
            <a:r>
              <a:rPr spc="-195" dirty="0"/>
              <a:t>vs.</a:t>
            </a:r>
            <a:r>
              <a:rPr spc="-254" dirty="0"/>
              <a:t> </a:t>
            </a:r>
            <a:r>
              <a:rPr spc="-120" dirty="0"/>
              <a:t>Hadoop</a:t>
            </a:r>
            <a:r>
              <a:rPr spc="-260" dirty="0"/>
              <a:t> </a:t>
            </a:r>
            <a:r>
              <a:rPr spc="-470" dirty="0"/>
              <a:t>2</a:t>
            </a:r>
          </a:p>
        </p:txBody>
      </p:sp>
      <p:sp>
        <p:nvSpPr>
          <p:cNvPr id="3" name="object 3"/>
          <p:cNvSpPr/>
          <p:nvPr/>
        </p:nvSpPr>
        <p:spPr>
          <a:xfrm>
            <a:off x="1650733" y="2728416"/>
            <a:ext cx="9298305" cy="523240"/>
          </a:xfrm>
          <a:custGeom>
            <a:avLst/>
            <a:gdLst/>
            <a:ahLst/>
            <a:cxnLst/>
            <a:rect l="l" t="t" r="r" b="b"/>
            <a:pathLst>
              <a:path w="9298305" h="523239">
                <a:moveTo>
                  <a:pt x="9297797" y="0"/>
                </a:moveTo>
                <a:lnTo>
                  <a:pt x="4458728" y="0"/>
                </a:lnTo>
                <a:lnTo>
                  <a:pt x="454444" y="0"/>
                </a:lnTo>
                <a:lnTo>
                  <a:pt x="0" y="0"/>
                </a:lnTo>
                <a:lnTo>
                  <a:pt x="0" y="522909"/>
                </a:lnTo>
                <a:lnTo>
                  <a:pt x="454418" y="522909"/>
                </a:lnTo>
                <a:lnTo>
                  <a:pt x="4458728" y="522909"/>
                </a:lnTo>
                <a:lnTo>
                  <a:pt x="9297797" y="522909"/>
                </a:lnTo>
                <a:lnTo>
                  <a:pt x="9297797" y="0"/>
                </a:lnTo>
                <a:close/>
              </a:path>
            </a:pathLst>
          </a:custGeom>
          <a:solidFill>
            <a:srgbClr val="FFFFFF"/>
          </a:solidFill>
        </p:spPr>
        <p:txBody>
          <a:bodyPr wrap="square" lIns="0" tIns="0" rIns="0" bIns="0" rtlCol="0"/>
          <a:lstStyle/>
          <a:p>
            <a:endParaRPr/>
          </a:p>
        </p:txBody>
      </p:sp>
      <p:graphicFrame>
        <p:nvGraphicFramePr>
          <p:cNvPr id="4" name="object 4"/>
          <p:cNvGraphicFramePr>
            <a:graphicFrameLocks noGrp="1"/>
          </p:cNvGraphicFramePr>
          <p:nvPr>
            <p:extLst>
              <p:ext uri="{D42A27DB-BD31-4B8C-83A1-F6EECF244321}">
                <p14:modId xmlns:p14="http://schemas.microsoft.com/office/powerpoint/2010/main" val="917386274"/>
              </p:ext>
            </p:extLst>
          </p:nvPr>
        </p:nvGraphicFramePr>
        <p:xfrm>
          <a:off x="1158050" y="914400"/>
          <a:ext cx="9875900" cy="6280337"/>
        </p:xfrm>
        <a:graphic>
          <a:graphicData uri="http://schemas.openxmlformats.org/drawingml/2006/table">
            <a:tbl>
              <a:tblPr firstRow="1" bandRow="1">
                <a:tableStyleId>{2D5ABB26-0587-4C30-8999-92F81FD0307C}</a:tableStyleId>
              </a:tblPr>
              <a:tblGrid>
                <a:gridCol w="482902">
                  <a:extLst>
                    <a:ext uri="{9D8B030D-6E8A-4147-A177-3AD203B41FA5}">
                      <a16:colId xmlns:a16="http://schemas.microsoft.com/office/drawing/2014/main" val="20000"/>
                    </a:ext>
                  </a:extLst>
                </a:gridCol>
                <a:gridCol w="4253051">
                  <a:extLst>
                    <a:ext uri="{9D8B030D-6E8A-4147-A177-3AD203B41FA5}">
                      <a16:colId xmlns:a16="http://schemas.microsoft.com/office/drawing/2014/main" val="20001"/>
                    </a:ext>
                  </a:extLst>
                </a:gridCol>
                <a:gridCol w="5139947">
                  <a:extLst>
                    <a:ext uri="{9D8B030D-6E8A-4147-A177-3AD203B41FA5}">
                      <a16:colId xmlns:a16="http://schemas.microsoft.com/office/drawing/2014/main" val="20002"/>
                    </a:ext>
                  </a:extLst>
                </a:gridCol>
              </a:tblGrid>
              <a:tr h="231912">
                <a:tc>
                  <a:txBody>
                    <a:bodyPr/>
                    <a:lstStyle/>
                    <a:p>
                      <a:pPr marL="1270" algn="ctr">
                        <a:lnSpc>
                          <a:spcPct val="100000"/>
                        </a:lnSpc>
                      </a:pPr>
                      <a:r>
                        <a:rPr sz="1400" b="1" spc="-25" dirty="0">
                          <a:solidFill>
                            <a:srgbClr val="FFFFFF"/>
                          </a:solidFill>
                          <a:latin typeface="Arial" panose="020B0604020202020204" pitchFamily="34" charset="0"/>
                          <a:cs typeface="Arial" panose="020B0604020202020204" pitchFamily="34" charset="0"/>
                        </a:rPr>
                        <a:t>No</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solidFill>
                      <a:srgbClr val="4F81BC"/>
                    </a:solidFill>
                  </a:tcPr>
                </a:tc>
                <a:tc>
                  <a:txBody>
                    <a:bodyPr/>
                    <a:lstStyle/>
                    <a:p>
                      <a:pPr marL="1270" algn="ctr">
                        <a:lnSpc>
                          <a:spcPct val="100000"/>
                        </a:lnSpc>
                      </a:pPr>
                      <a:r>
                        <a:rPr sz="1400" b="1" spc="-10" dirty="0">
                          <a:solidFill>
                            <a:srgbClr val="FFFFFF"/>
                          </a:solidFill>
                          <a:latin typeface="Arial" panose="020B0604020202020204" pitchFamily="34" charset="0"/>
                          <a:cs typeface="Arial" panose="020B0604020202020204" pitchFamily="34" charset="0"/>
                        </a:rPr>
                        <a:t>Hadoop1</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solidFill>
                      <a:srgbClr val="4F81BC"/>
                    </a:solidFill>
                  </a:tcPr>
                </a:tc>
                <a:tc>
                  <a:txBody>
                    <a:bodyPr/>
                    <a:lstStyle/>
                    <a:p>
                      <a:pPr marL="2540" algn="ctr">
                        <a:lnSpc>
                          <a:spcPct val="100000"/>
                        </a:lnSpc>
                      </a:pPr>
                      <a:r>
                        <a:rPr sz="1400" b="1" spc="-10" dirty="0">
                          <a:solidFill>
                            <a:srgbClr val="FFFFFF"/>
                          </a:solidFill>
                          <a:latin typeface="Arial" panose="020B0604020202020204" pitchFamily="34" charset="0"/>
                          <a:cs typeface="Arial" panose="020B0604020202020204" pitchFamily="34" charset="0"/>
                        </a:rPr>
                        <a:t>Hadoop2</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solidFill>
                      <a:srgbClr val="4F81BC"/>
                    </a:solidFill>
                  </a:tcPr>
                </a:tc>
                <a:extLst>
                  <a:ext uri="{0D108BD9-81ED-4DB2-BD59-A6C34878D82A}">
                    <a16:rowId xmlns:a16="http://schemas.microsoft.com/office/drawing/2014/main" val="10000"/>
                  </a:ext>
                </a:extLst>
              </a:tr>
              <a:tr h="318675">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1</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B w="12700">
                      <a:solidFill>
                        <a:srgbClr val="4F81BC"/>
                      </a:solidFill>
                      <a:prstDash val="solid"/>
                    </a:lnB>
                    <a:solidFill>
                      <a:srgbClr val="D2DFED"/>
                    </a:solidFill>
                  </a:tcPr>
                </a:tc>
                <a:tc>
                  <a:txBody>
                    <a:bodyPr/>
                    <a:lstStyle/>
                    <a:p>
                      <a:pPr marL="40005">
                        <a:lnSpc>
                          <a:spcPct val="100000"/>
                        </a:lnSpc>
                      </a:pPr>
                      <a:r>
                        <a:rPr sz="1400" spc="-35" dirty="0">
                          <a:solidFill>
                            <a:srgbClr val="333333"/>
                          </a:solidFill>
                          <a:latin typeface="Arial" panose="020B0604020202020204" pitchFamily="34" charset="0"/>
                          <a:cs typeface="Arial" panose="020B0604020202020204" pitchFamily="34" charset="0"/>
                        </a:rPr>
                        <a:t>Supports</a:t>
                      </a:r>
                      <a:r>
                        <a:rPr sz="1400" spc="-65" dirty="0">
                          <a:solidFill>
                            <a:srgbClr val="333333"/>
                          </a:solidFill>
                          <a:latin typeface="Arial" panose="020B0604020202020204" pitchFamily="34" charset="0"/>
                          <a:cs typeface="Arial" panose="020B0604020202020204" pitchFamily="34" charset="0"/>
                        </a:rPr>
                        <a:t> </a:t>
                      </a:r>
                      <a:r>
                        <a:rPr sz="1400" spc="-55" dirty="0">
                          <a:solidFill>
                            <a:srgbClr val="333333"/>
                          </a:solidFill>
                          <a:latin typeface="Arial" panose="020B0604020202020204" pitchFamily="34" charset="0"/>
                          <a:cs typeface="Arial" panose="020B0604020202020204" pitchFamily="34" charset="0"/>
                        </a:rPr>
                        <a:t>MapReduce</a:t>
                      </a:r>
                      <a:r>
                        <a:rPr sz="1400" spc="-6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(MR)</a:t>
                      </a:r>
                      <a:r>
                        <a:rPr sz="1400" spc="-1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processing</a:t>
                      </a:r>
                      <a:r>
                        <a:rPr sz="1400" spc="-4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model</a:t>
                      </a:r>
                      <a:r>
                        <a:rPr sz="1400" spc="-1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only. </a:t>
                      </a:r>
                      <a:r>
                        <a:rPr sz="1400" spc="-65" dirty="0">
                          <a:solidFill>
                            <a:srgbClr val="333333"/>
                          </a:solidFill>
                          <a:latin typeface="Arial" panose="020B0604020202020204" pitchFamily="34" charset="0"/>
                          <a:cs typeface="Arial" panose="020B0604020202020204" pitchFamily="34" charset="0"/>
                        </a:rPr>
                        <a:t>Does</a:t>
                      </a:r>
                      <a:r>
                        <a:rPr sz="1400" spc="-2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not</a:t>
                      </a:r>
                      <a:endParaRPr sz="1400" dirty="0">
                        <a:latin typeface="Arial" panose="020B0604020202020204" pitchFamily="34" charset="0"/>
                        <a:cs typeface="Arial" panose="020B0604020202020204" pitchFamily="34" charset="0"/>
                      </a:endParaRPr>
                    </a:p>
                    <a:p>
                      <a:pPr marL="40005">
                        <a:lnSpc>
                          <a:spcPct val="100000"/>
                        </a:lnSpc>
                      </a:pPr>
                      <a:r>
                        <a:rPr sz="1400" spc="-10" dirty="0">
                          <a:solidFill>
                            <a:srgbClr val="333333"/>
                          </a:solidFill>
                          <a:latin typeface="Arial" panose="020B0604020202020204" pitchFamily="34" charset="0"/>
                          <a:cs typeface="Arial" panose="020B0604020202020204" pitchFamily="34" charset="0"/>
                        </a:rPr>
                        <a:t>support</a:t>
                      </a:r>
                      <a:r>
                        <a:rPr sz="1400" spc="-50"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non-</a:t>
                      </a:r>
                      <a:r>
                        <a:rPr sz="1400" spc="-70" dirty="0">
                          <a:solidFill>
                            <a:srgbClr val="333333"/>
                          </a:solidFill>
                          <a:latin typeface="Arial" panose="020B0604020202020204" pitchFamily="34" charset="0"/>
                          <a:cs typeface="Arial" panose="020B0604020202020204" pitchFamily="34" charset="0"/>
                        </a:rPr>
                        <a:t>MR</a:t>
                      </a:r>
                      <a:r>
                        <a:rPr sz="1400" spc="-1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tools</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B w="12700">
                      <a:solidFill>
                        <a:srgbClr val="4F81BC"/>
                      </a:solidFill>
                      <a:prstDash val="solid"/>
                    </a:lnB>
                    <a:solidFill>
                      <a:srgbClr val="D2DFED"/>
                    </a:solidFill>
                  </a:tcPr>
                </a:tc>
                <a:tc>
                  <a:txBody>
                    <a:bodyPr/>
                    <a:lstStyle/>
                    <a:p>
                      <a:pPr marL="40640">
                        <a:lnSpc>
                          <a:spcPct val="100000"/>
                        </a:lnSpc>
                      </a:pPr>
                      <a:r>
                        <a:rPr sz="1400" dirty="0">
                          <a:solidFill>
                            <a:srgbClr val="333333"/>
                          </a:solidFill>
                          <a:latin typeface="Arial" panose="020B0604020202020204" pitchFamily="34" charset="0"/>
                          <a:cs typeface="Arial" panose="020B0604020202020204" pitchFamily="34" charset="0"/>
                        </a:rPr>
                        <a:t>Allows</a:t>
                      </a:r>
                      <a:r>
                        <a:rPr sz="1400" spc="-3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dirty="0">
                          <a:solidFill>
                            <a:srgbClr val="333333"/>
                          </a:solidFill>
                          <a:latin typeface="Arial" panose="020B0604020202020204" pitchFamily="34" charset="0"/>
                          <a:cs typeface="Arial" panose="020B0604020202020204" pitchFamily="34" charset="0"/>
                        </a:rPr>
                        <a:t> work</a:t>
                      </a:r>
                      <a:r>
                        <a:rPr sz="1400" spc="-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in</a:t>
                      </a:r>
                      <a:r>
                        <a:rPr sz="1400" spc="-1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MR</a:t>
                      </a:r>
                      <a:r>
                        <a:rPr sz="1400" dirty="0">
                          <a:solidFill>
                            <a:srgbClr val="333333"/>
                          </a:solidFill>
                          <a:latin typeface="Arial" panose="020B0604020202020204" pitchFamily="34" charset="0"/>
                          <a:cs typeface="Arial" panose="020B0604020202020204" pitchFamily="34" charset="0"/>
                        </a:rPr>
                        <a:t> </a:t>
                      </a:r>
                      <a:r>
                        <a:rPr sz="1400" spc="-95" dirty="0">
                          <a:solidFill>
                            <a:srgbClr val="333333"/>
                          </a:solidFill>
                          <a:latin typeface="Arial" panose="020B0604020202020204" pitchFamily="34" charset="0"/>
                          <a:cs typeface="Arial" panose="020B0604020202020204" pitchFamily="34" charset="0"/>
                        </a:rPr>
                        <a:t>as</a:t>
                      </a:r>
                      <a:r>
                        <a:rPr sz="1400" spc="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well</a:t>
                      </a:r>
                      <a:r>
                        <a:rPr sz="1400" spc="-5" dirty="0">
                          <a:solidFill>
                            <a:srgbClr val="333333"/>
                          </a:solidFill>
                          <a:latin typeface="Arial" panose="020B0604020202020204" pitchFamily="34" charset="0"/>
                          <a:cs typeface="Arial" panose="020B0604020202020204" pitchFamily="34" charset="0"/>
                        </a:rPr>
                        <a:t> </a:t>
                      </a:r>
                      <a:r>
                        <a:rPr sz="1400" spc="-90" dirty="0">
                          <a:solidFill>
                            <a:srgbClr val="333333"/>
                          </a:solidFill>
                          <a:latin typeface="Arial" panose="020B0604020202020204" pitchFamily="34" charset="0"/>
                          <a:cs typeface="Arial" panose="020B0604020202020204" pitchFamily="34" charset="0"/>
                        </a:rPr>
                        <a:t>as</a:t>
                      </a:r>
                      <a:r>
                        <a:rPr sz="1400" spc="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other</a:t>
                      </a:r>
                      <a:r>
                        <a:rPr sz="1400" spc="-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distributed computing</a:t>
                      </a:r>
                      <a:r>
                        <a:rPr sz="1400" spc="-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models</a:t>
                      </a:r>
                      <a:r>
                        <a:rPr sz="1400" spc="-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like</a:t>
                      </a:r>
                      <a:endParaRPr sz="1400">
                        <a:latin typeface="Arial" panose="020B0604020202020204" pitchFamily="34" charset="0"/>
                        <a:cs typeface="Arial" panose="020B0604020202020204" pitchFamily="34" charset="0"/>
                      </a:endParaRPr>
                    </a:p>
                    <a:p>
                      <a:pPr marL="40640" marR="31750">
                        <a:lnSpc>
                          <a:spcPct val="100000"/>
                        </a:lnSpc>
                        <a:tabLst>
                          <a:tab pos="572135" algn="l"/>
                          <a:tab pos="1111885" algn="l"/>
                          <a:tab pos="1701800" algn="l"/>
                          <a:tab pos="2399665" algn="l"/>
                          <a:tab pos="3012440" algn="l"/>
                          <a:tab pos="3776345" algn="l"/>
                          <a:tab pos="4159885" algn="l"/>
                          <a:tab pos="4391660" algn="l"/>
                        </a:tabLst>
                      </a:pPr>
                      <a:r>
                        <a:rPr sz="1400" spc="-10" dirty="0">
                          <a:solidFill>
                            <a:srgbClr val="333333"/>
                          </a:solidFill>
                          <a:latin typeface="Arial" panose="020B0604020202020204" pitchFamily="34" charset="0"/>
                          <a:cs typeface="Arial" panose="020B0604020202020204" pitchFamily="34" charset="0"/>
                        </a:rPr>
                        <a:t>Spark,</a:t>
                      </a:r>
                      <a:r>
                        <a:rPr sz="140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Hama,</a:t>
                      </a:r>
                      <a:r>
                        <a:rPr sz="140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Giraph,</a:t>
                      </a:r>
                      <a:r>
                        <a:rPr sz="140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Message</a:t>
                      </a:r>
                      <a:r>
                        <a:rPr sz="140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Passing</a:t>
                      </a:r>
                      <a:r>
                        <a:rPr sz="140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Interface)</a:t>
                      </a:r>
                      <a:r>
                        <a:rPr sz="140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MPI</a:t>
                      </a:r>
                      <a:r>
                        <a:rPr sz="140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&amp;</a:t>
                      </a:r>
                      <a:r>
                        <a:rPr sz="1400" dirty="0">
                          <a:solidFill>
                            <a:srgbClr val="333333"/>
                          </a:solidFill>
                          <a:latin typeface="Arial" panose="020B0604020202020204" pitchFamily="34" charset="0"/>
                          <a:cs typeface="Arial" panose="020B0604020202020204" pitchFamily="34" charset="0"/>
                        </a:rPr>
                        <a:t>	</a:t>
                      </a:r>
                      <a:r>
                        <a:rPr sz="1400" spc="-90" dirty="0">
                          <a:solidFill>
                            <a:srgbClr val="333333"/>
                          </a:solidFill>
                          <a:latin typeface="Arial" panose="020B0604020202020204" pitchFamily="34" charset="0"/>
                          <a:cs typeface="Arial" panose="020B0604020202020204" pitchFamily="34" charset="0"/>
                        </a:rPr>
                        <a:t>HBase </a:t>
                      </a:r>
                      <a:r>
                        <a:rPr sz="1400" spc="-10" dirty="0">
                          <a:solidFill>
                            <a:srgbClr val="333333"/>
                          </a:solidFill>
                          <a:latin typeface="Arial" panose="020B0604020202020204" pitchFamily="34" charset="0"/>
                          <a:cs typeface="Arial" panose="020B0604020202020204" pitchFamily="34" charset="0"/>
                        </a:rPr>
                        <a:t>coprocessors.</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B w="12700">
                      <a:solidFill>
                        <a:srgbClr val="4F81BC"/>
                      </a:solidFill>
                      <a:prstDash val="solid"/>
                    </a:lnB>
                    <a:solidFill>
                      <a:srgbClr val="D2DFED"/>
                    </a:solidFill>
                  </a:tcPr>
                </a:tc>
                <a:extLst>
                  <a:ext uri="{0D108BD9-81ED-4DB2-BD59-A6C34878D82A}">
                    <a16:rowId xmlns:a16="http://schemas.microsoft.com/office/drawing/2014/main" val="10001"/>
                  </a:ext>
                </a:extLst>
              </a:tr>
              <a:tr h="553228">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2</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FFFFFF"/>
                    </a:solidFill>
                  </a:tcPr>
                </a:tc>
                <a:tc>
                  <a:txBody>
                    <a:bodyPr/>
                    <a:lstStyle/>
                    <a:p>
                      <a:pPr marL="40005">
                        <a:lnSpc>
                          <a:spcPct val="100000"/>
                        </a:lnSpc>
                      </a:pPr>
                      <a:r>
                        <a:rPr sz="1400" spc="-70" dirty="0">
                          <a:solidFill>
                            <a:srgbClr val="333333"/>
                          </a:solidFill>
                          <a:latin typeface="Arial" panose="020B0604020202020204" pitchFamily="34" charset="0"/>
                          <a:cs typeface="Arial" panose="020B0604020202020204" pitchFamily="34" charset="0"/>
                        </a:rPr>
                        <a:t>MR</a:t>
                      </a:r>
                      <a:r>
                        <a:rPr sz="1400" spc="-1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does</a:t>
                      </a:r>
                      <a:r>
                        <a:rPr sz="1400" spc="-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both</a:t>
                      </a:r>
                      <a:r>
                        <a:rPr sz="1400" spc="-2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processing</a:t>
                      </a:r>
                      <a:r>
                        <a:rPr sz="1400" spc="-30"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and</a:t>
                      </a:r>
                      <a:r>
                        <a:rPr sz="1400" spc="-15"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cluster-</a:t>
                      </a:r>
                      <a:r>
                        <a:rPr sz="1400" spc="-40" dirty="0">
                          <a:solidFill>
                            <a:srgbClr val="333333"/>
                          </a:solidFill>
                          <a:latin typeface="Arial" panose="020B0604020202020204" pitchFamily="34" charset="0"/>
                          <a:cs typeface="Arial" panose="020B0604020202020204" pitchFamily="34" charset="0"/>
                        </a:rPr>
                        <a:t>resource</a:t>
                      </a:r>
                      <a:r>
                        <a:rPr sz="1400" spc="-5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management.</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FFFFFF"/>
                    </a:solidFill>
                  </a:tcPr>
                </a:tc>
                <a:tc>
                  <a:txBody>
                    <a:bodyPr/>
                    <a:lstStyle/>
                    <a:p>
                      <a:pPr marL="40640">
                        <a:lnSpc>
                          <a:spcPct val="100000"/>
                        </a:lnSpc>
                      </a:pPr>
                      <a:r>
                        <a:rPr sz="1400" spc="-114" dirty="0">
                          <a:solidFill>
                            <a:srgbClr val="333333"/>
                          </a:solidFill>
                          <a:latin typeface="Arial" panose="020B0604020202020204" pitchFamily="34" charset="0"/>
                          <a:cs typeface="Arial" panose="020B0604020202020204" pitchFamily="34" charset="0"/>
                        </a:rPr>
                        <a:t>YARN</a:t>
                      </a:r>
                      <a:r>
                        <a:rPr sz="1400" spc="-45"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(Yet</a:t>
                      </a:r>
                      <a:r>
                        <a:rPr sz="1400" spc="-4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Another</a:t>
                      </a:r>
                      <a:r>
                        <a:rPr sz="1400" spc="-50" dirty="0">
                          <a:solidFill>
                            <a:srgbClr val="333333"/>
                          </a:solidFill>
                          <a:latin typeface="Arial" panose="020B0604020202020204" pitchFamily="34" charset="0"/>
                          <a:cs typeface="Arial" panose="020B0604020202020204" pitchFamily="34" charset="0"/>
                        </a:rPr>
                        <a:t> </a:t>
                      </a:r>
                      <a:r>
                        <a:rPr sz="1400" spc="-60" dirty="0">
                          <a:solidFill>
                            <a:srgbClr val="333333"/>
                          </a:solidFill>
                          <a:latin typeface="Arial" panose="020B0604020202020204" pitchFamily="34" charset="0"/>
                          <a:cs typeface="Arial" panose="020B0604020202020204" pitchFamily="34" charset="0"/>
                        </a:rPr>
                        <a:t>Resource</a:t>
                      </a:r>
                      <a:r>
                        <a:rPr sz="1400" spc="-7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Negotiator)</a:t>
                      </a:r>
                      <a:r>
                        <a:rPr sz="1400" spc="-3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does </a:t>
                      </a:r>
                      <a:r>
                        <a:rPr sz="1400" spc="-25" dirty="0">
                          <a:solidFill>
                            <a:srgbClr val="333333"/>
                          </a:solidFill>
                          <a:latin typeface="Arial" panose="020B0604020202020204" pitchFamily="34" charset="0"/>
                          <a:cs typeface="Arial" panose="020B0604020202020204" pitchFamily="34" charset="0"/>
                        </a:rPr>
                        <a:t>cluster</a:t>
                      </a:r>
                      <a:r>
                        <a:rPr sz="1400" spc="-7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resource</a:t>
                      </a:r>
                      <a:endParaRPr sz="1400">
                        <a:latin typeface="Arial" panose="020B0604020202020204" pitchFamily="34" charset="0"/>
                        <a:cs typeface="Arial" panose="020B0604020202020204" pitchFamily="34" charset="0"/>
                      </a:endParaRPr>
                    </a:p>
                    <a:p>
                      <a:pPr marL="40640">
                        <a:lnSpc>
                          <a:spcPct val="100000"/>
                        </a:lnSpc>
                      </a:pPr>
                      <a:r>
                        <a:rPr sz="1400" spc="-35" dirty="0">
                          <a:solidFill>
                            <a:srgbClr val="333333"/>
                          </a:solidFill>
                          <a:latin typeface="Arial" panose="020B0604020202020204" pitchFamily="34" charset="0"/>
                          <a:cs typeface="Arial" panose="020B0604020202020204" pitchFamily="34" charset="0"/>
                        </a:rPr>
                        <a:t>management</a:t>
                      </a:r>
                      <a:r>
                        <a:rPr sz="1400" spc="-15"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and</a:t>
                      </a:r>
                      <a:r>
                        <a:rPr sz="1400" spc="-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processing</a:t>
                      </a:r>
                      <a:r>
                        <a:rPr sz="1400" spc="-35" dirty="0">
                          <a:solidFill>
                            <a:srgbClr val="333333"/>
                          </a:solidFill>
                          <a:latin typeface="Arial" panose="020B0604020202020204" pitchFamily="34" charset="0"/>
                          <a:cs typeface="Arial" panose="020B0604020202020204" pitchFamily="34" charset="0"/>
                        </a:rPr>
                        <a:t> </a:t>
                      </a:r>
                      <a:r>
                        <a:rPr sz="1400" spc="-55" dirty="0">
                          <a:solidFill>
                            <a:srgbClr val="333333"/>
                          </a:solidFill>
                          <a:latin typeface="Arial" panose="020B0604020202020204" pitchFamily="34" charset="0"/>
                          <a:cs typeface="Arial" panose="020B0604020202020204" pitchFamily="34" charset="0"/>
                        </a:rPr>
                        <a:t>is</a:t>
                      </a:r>
                      <a:r>
                        <a:rPr sz="1400" spc="-25" dirty="0">
                          <a:solidFill>
                            <a:srgbClr val="333333"/>
                          </a:solidFill>
                          <a:latin typeface="Arial" panose="020B0604020202020204" pitchFamily="34" charset="0"/>
                          <a:cs typeface="Arial" panose="020B0604020202020204" pitchFamily="34" charset="0"/>
                        </a:rPr>
                        <a:t> done</a:t>
                      </a:r>
                      <a:r>
                        <a:rPr sz="1400" spc="-10"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using</a:t>
                      </a:r>
                      <a:r>
                        <a:rPr sz="1400" spc="-3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different</a:t>
                      </a:r>
                      <a:r>
                        <a:rPr sz="1400" spc="-2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processing</a:t>
                      </a:r>
                      <a:r>
                        <a:rPr sz="1400" spc="-3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models.</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FFFFFF"/>
                    </a:solidFill>
                  </a:tcPr>
                </a:tc>
                <a:extLst>
                  <a:ext uri="{0D108BD9-81ED-4DB2-BD59-A6C34878D82A}">
                    <a16:rowId xmlns:a16="http://schemas.microsoft.com/office/drawing/2014/main" val="10002"/>
                  </a:ext>
                </a:extLst>
              </a:tr>
              <a:tr h="387192">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3</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005">
                        <a:lnSpc>
                          <a:spcPct val="100000"/>
                        </a:lnSpc>
                      </a:pPr>
                      <a:r>
                        <a:rPr sz="1400" spc="-95" dirty="0">
                          <a:solidFill>
                            <a:srgbClr val="333333"/>
                          </a:solidFill>
                          <a:latin typeface="Arial" panose="020B0604020202020204" pitchFamily="34" charset="0"/>
                          <a:cs typeface="Arial" panose="020B0604020202020204" pitchFamily="34" charset="0"/>
                        </a:rPr>
                        <a:t>Has</a:t>
                      </a:r>
                      <a:r>
                        <a:rPr sz="1400" spc="-4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limited</a:t>
                      </a:r>
                      <a:r>
                        <a:rPr sz="1400" spc="-45" dirty="0">
                          <a:solidFill>
                            <a:srgbClr val="333333"/>
                          </a:solidFill>
                          <a:latin typeface="Arial" panose="020B0604020202020204" pitchFamily="34" charset="0"/>
                          <a:cs typeface="Arial" panose="020B0604020202020204" pitchFamily="34" charset="0"/>
                        </a:rPr>
                        <a:t> scaling</a:t>
                      </a:r>
                      <a:r>
                        <a:rPr sz="1400" spc="-5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3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nodes. </a:t>
                      </a:r>
                      <a:r>
                        <a:rPr sz="1400" spc="-20" dirty="0">
                          <a:solidFill>
                            <a:srgbClr val="333333"/>
                          </a:solidFill>
                          <a:latin typeface="Arial" panose="020B0604020202020204" pitchFamily="34" charset="0"/>
                          <a:cs typeface="Arial" panose="020B0604020202020204" pitchFamily="34" charset="0"/>
                        </a:rPr>
                        <a:t>Limited</a:t>
                      </a:r>
                      <a:r>
                        <a:rPr sz="1400" spc="-6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4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4000</a:t>
                      </a:r>
                      <a:r>
                        <a:rPr sz="1400" spc="-45"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nodes</a:t>
                      </a:r>
                      <a:r>
                        <a:rPr sz="1400" spc="-3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per</a:t>
                      </a:r>
                      <a:endParaRPr sz="1400" dirty="0">
                        <a:latin typeface="Arial" panose="020B0604020202020204" pitchFamily="34" charset="0"/>
                        <a:cs typeface="Arial" panose="020B0604020202020204" pitchFamily="34" charset="0"/>
                      </a:endParaRPr>
                    </a:p>
                    <a:p>
                      <a:pPr marL="40005">
                        <a:lnSpc>
                          <a:spcPct val="100000"/>
                        </a:lnSpc>
                      </a:pPr>
                      <a:r>
                        <a:rPr sz="1400" spc="-10" dirty="0">
                          <a:solidFill>
                            <a:srgbClr val="333333"/>
                          </a:solidFill>
                          <a:latin typeface="Arial" panose="020B0604020202020204" pitchFamily="34" charset="0"/>
                          <a:cs typeface="Arial" panose="020B0604020202020204" pitchFamily="34" charset="0"/>
                        </a:rPr>
                        <a:t>cluster</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640">
                        <a:lnSpc>
                          <a:spcPct val="100000"/>
                        </a:lnSpc>
                      </a:pPr>
                      <a:r>
                        <a:rPr sz="1400" spc="-95" dirty="0">
                          <a:solidFill>
                            <a:srgbClr val="333333"/>
                          </a:solidFill>
                          <a:latin typeface="Arial" panose="020B0604020202020204" pitchFamily="34" charset="0"/>
                          <a:cs typeface="Arial" panose="020B0604020202020204" pitchFamily="34" charset="0"/>
                        </a:rPr>
                        <a:t>Has</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better</a:t>
                      </a:r>
                      <a:r>
                        <a:rPr sz="1400" spc="-55" dirty="0">
                          <a:solidFill>
                            <a:srgbClr val="333333"/>
                          </a:solidFill>
                          <a:latin typeface="Arial" panose="020B0604020202020204" pitchFamily="34" charset="0"/>
                          <a:cs typeface="Arial" panose="020B0604020202020204" pitchFamily="34" charset="0"/>
                        </a:rPr>
                        <a:t> </a:t>
                      </a:r>
                      <a:r>
                        <a:rPr sz="1400" spc="-30" dirty="0">
                          <a:solidFill>
                            <a:srgbClr val="333333"/>
                          </a:solidFill>
                          <a:latin typeface="Arial" panose="020B0604020202020204" pitchFamily="34" charset="0"/>
                          <a:cs typeface="Arial" panose="020B0604020202020204" pitchFamily="34" charset="0"/>
                        </a:rPr>
                        <a:t>scalability.</a:t>
                      </a:r>
                      <a:r>
                        <a:rPr sz="1400" spc="-65" dirty="0">
                          <a:solidFill>
                            <a:srgbClr val="333333"/>
                          </a:solidFill>
                          <a:latin typeface="Arial" panose="020B0604020202020204" pitchFamily="34" charset="0"/>
                          <a:cs typeface="Arial" panose="020B0604020202020204" pitchFamily="34" charset="0"/>
                        </a:rPr>
                        <a:t> Scalable</a:t>
                      </a:r>
                      <a:r>
                        <a:rPr sz="1400" spc="-5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up</a:t>
                      </a:r>
                      <a:r>
                        <a:rPr sz="1400" spc="-5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45" dirty="0">
                          <a:solidFill>
                            <a:srgbClr val="333333"/>
                          </a:solidFill>
                          <a:latin typeface="Arial" panose="020B0604020202020204" pitchFamily="34" charset="0"/>
                          <a:cs typeface="Arial" panose="020B0604020202020204" pitchFamily="34" charset="0"/>
                        </a:rPr>
                        <a:t> </a:t>
                      </a:r>
                      <a:r>
                        <a:rPr sz="1400" spc="-60" dirty="0">
                          <a:solidFill>
                            <a:srgbClr val="333333"/>
                          </a:solidFill>
                          <a:latin typeface="Arial" panose="020B0604020202020204" pitchFamily="34" charset="0"/>
                          <a:cs typeface="Arial" panose="020B0604020202020204" pitchFamily="34" charset="0"/>
                        </a:rPr>
                        <a:t>10000</a:t>
                      </a:r>
                      <a:r>
                        <a:rPr sz="1400" spc="-2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nodes</a:t>
                      </a:r>
                      <a:r>
                        <a:rPr sz="1400" spc="-2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per</a:t>
                      </a:r>
                      <a:r>
                        <a:rPr sz="1400" spc="-5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cluster</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extLst>
                  <a:ext uri="{0D108BD9-81ED-4DB2-BD59-A6C34878D82A}">
                    <a16:rowId xmlns:a16="http://schemas.microsoft.com/office/drawing/2014/main" val="10003"/>
                  </a:ext>
                </a:extLst>
              </a:tr>
              <a:tr h="414753">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4</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005">
                        <a:lnSpc>
                          <a:spcPct val="100000"/>
                        </a:lnSpc>
                      </a:pPr>
                      <a:r>
                        <a:rPr sz="1400" spc="-35" dirty="0">
                          <a:solidFill>
                            <a:srgbClr val="333333"/>
                          </a:solidFill>
                          <a:latin typeface="Arial" panose="020B0604020202020204" pitchFamily="34" charset="0"/>
                          <a:cs typeface="Arial" panose="020B0604020202020204" pitchFamily="34" charset="0"/>
                        </a:rPr>
                        <a:t>Works</a:t>
                      </a:r>
                      <a:r>
                        <a:rPr sz="1400" spc="-5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on</a:t>
                      </a:r>
                      <a:r>
                        <a:rPr sz="1400" spc="-5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concepts</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3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slots</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t>
                      </a:r>
                      <a:r>
                        <a:rPr sz="1400" spc="-3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slots</a:t>
                      </a:r>
                      <a:r>
                        <a:rPr sz="1400" spc="-3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can</a:t>
                      </a:r>
                      <a:r>
                        <a:rPr sz="1400" spc="-4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run</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either</a:t>
                      </a:r>
                      <a:r>
                        <a:rPr sz="1400" spc="-45" dirty="0">
                          <a:solidFill>
                            <a:srgbClr val="333333"/>
                          </a:solidFill>
                          <a:latin typeface="Arial" panose="020B0604020202020204" pitchFamily="34" charset="0"/>
                          <a:cs typeface="Arial" panose="020B0604020202020204" pitchFamily="34" charset="0"/>
                        </a:rPr>
                        <a:t> </a:t>
                      </a:r>
                      <a:r>
                        <a:rPr sz="1400" spc="-80" dirty="0">
                          <a:solidFill>
                            <a:srgbClr val="333333"/>
                          </a:solidFill>
                          <a:latin typeface="Arial" panose="020B0604020202020204" pitchFamily="34" charset="0"/>
                          <a:cs typeface="Arial" panose="020B0604020202020204" pitchFamily="34" charset="0"/>
                        </a:rPr>
                        <a:t>a</a:t>
                      </a:r>
                      <a:r>
                        <a:rPr sz="1400" spc="-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Map</a:t>
                      </a:r>
                      <a:r>
                        <a:rPr sz="1400" spc="-3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task</a:t>
                      </a:r>
                      <a:endParaRPr sz="1400">
                        <a:latin typeface="Arial" panose="020B0604020202020204" pitchFamily="34" charset="0"/>
                        <a:cs typeface="Arial" panose="020B0604020202020204" pitchFamily="34" charset="0"/>
                      </a:endParaRPr>
                    </a:p>
                    <a:p>
                      <a:pPr marL="40005">
                        <a:lnSpc>
                          <a:spcPct val="100000"/>
                        </a:lnSpc>
                      </a:pPr>
                      <a:r>
                        <a:rPr sz="1400" dirty="0">
                          <a:solidFill>
                            <a:srgbClr val="333333"/>
                          </a:solidFill>
                          <a:latin typeface="Arial" panose="020B0604020202020204" pitchFamily="34" charset="0"/>
                          <a:cs typeface="Arial" panose="020B0604020202020204" pitchFamily="34" charset="0"/>
                        </a:rPr>
                        <a:t>or</a:t>
                      </a:r>
                      <a:r>
                        <a:rPr sz="1400" spc="-35" dirty="0">
                          <a:solidFill>
                            <a:srgbClr val="333333"/>
                          </a:solidFill>
                          <a:latin typeface="Arial" panose="020B0604020202020204" pitchFamily="34" charset="0"/>
                          <a:cs typeface="Arial" panose="020B0604020202020204" pitchFamily="34" charset="0"/>
                        </a:rPr>
                        <a:t> </a:t>
                      </a:r>
                      <a:r>
                        <a:rPr sz="1400" spc="-85" dirty="0">
                          <a:solidFill>
                            <a:srgbClr val="333333"/>
                          </a:solidFill>
                          <a:latin typeface="Arial" panose="020B0604020202020204" pitchFamily="34" charset="0"/>
                          <a:cs typeface="Arial" panose="020B0604020202020204" pitchFamily="34" charset="0"/>
                        </a:rPr>
                        <a:t>a</a:t>
                      </a:r>
                      <a:r>
                        <a:rPr sz="1400" spc="-55" dirty="0">
                          <a:solidFill>
                            <a:srgbClr val="333333"/>
                          </a:solidFill>
                          <a:latin typeface="Arial" panose="020B0604020202020204" pitchFamily="34" charset="0"/>
                          <a:cs typeface="Arial" panose="020B0604020202020204" pitchFamily="34" charset="0"/>
                        </a:rPr>
                        <a:t> </a:t>
                      </a:r>
                      <a:r>
                        <a:rPr sz="1400" spc="-65" dirty="0">
                          <a:solidFill>
                            <a:srgbClr val="333333"/>
                          </a:solidFill>
                          <a:latin typeface="Arial" panose="020B0604020202020204" pitchFamily="34" charset="0"/>
                          <a:cs typeface="Arial" panose="020B0604020202020204" pitchFamily="34" charset="0"/>
                        </a:rPr>
                        <a:t>Reduce</a:t>
                      </a:r>
                      <a:r>
                        <a:rPr sz="1400" spc="-60"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task</a:t>
                      </a:r>
                      <a:r>
                        <a:rPr sz="1400" spc="-5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only.</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640">
                        <a:lnSpc>
                          <a:spcPct val="100000"/>
                        </a:lnSpc>
                      </a:pPr>
                      <a:r>
                        <a:rPr sz="1400" spc="-45" dirty="0">
                          <a:solidFill>
                            <a:srgbClr val="333333"/>
                          </a:solidFill>
                          <a:latin typeface="Arial" panose="020B0604020202020204" pitchFamily="34" charset="0"/>
                          <a:cs typeface="Arial" panose="020B0604020202020204" pitchFamily="34" charset="0"/>
                        </a:rPr>
                        <a:t>Works</a:t>
                      </a:r>
                      <a:r>
                        <a:rPr sz="1400" spc="-3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on</a:t>
                      </a:r>
                      <a:r>
                        <a:rPr sz="1400" spc="-35" dirty="0">
                          <a:solidFill>
                            <a:srgbClr val="333333"/>
                          </a:solidFill>
                          <a:latin typeface="Arial" panose="020B0604020202020204" pitchFamily="34" charset="0"/>
                          <a:cs typeface="Arial" panose="020B0604020202020204" pitchFamily="34" charset="0"/>
                        </a:rPr>
                        <a:t> concepts</a:t>
                      </a:r>
                      <a:r>
                        <a:rPr sz="1400" spc="-5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20"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containers.</a:t>
                      </a:r>
                      <a:r>
                        <a:rPr sz="1400" spc="-45" dirty="0">
                          <a:solidFill>
                            <a:srgbClr val="333333"/>
                          </a:solidFill>
                          <a:latin typeface="Arial" panose="020B0604020202020204" pitchFamily="34" charset="0"/>
                          <a:cs typeface="Arial" panose="020B0604020202020204" pitchFamily="34" charset="0"/>
                        </a:rPr>
                        <a:t> Using</a:t>
                      </a:r>
                      <a:r>
                        <a:rPr sz="1400" spc="-15" dirty="0">
                          <a:solidFill>
                            <a:srgbClr val="333333"/>
                          </a:solidFill>
                          <a:latin typeface="Arial" panose="020B0604020202020204" pitchFamily="34" charset="0"/>
                          <a:cs typeface="Arial" panose="020B0604020202020204" pitchFamily="34" charset="0"/>
                        </a:rPr>
                        <a:t> </a:t>
                      </a:r>
                      <a:r>
                        <a:rPr sz="1400" spc="-30" dirty="0">
                          <a:solidFill>
                            <a:srgbClr val="333333"/>
                          </a:solidFill>
                          <a:latin typeface="Arial" panose="020B0604020202020204" pitchFamily="34" charset="0"/>
                          <a:cs typeface="Arial" panose="020B0604020202020204" pitchFamily="34" charset="0"/>
                        </a:rPr>
                        <a:t>containers </a:t>
                      </a:r>
                      <a:r>
                        <a:rPr sz="1400" spc="-60" dirty="0">
                          <a:solidFill>
                            <a:srgbClr val="333333"/>
                          </a:solidFill>
                          <a:latin typeface="Arial" panose="020B0604020202020204" pitchFamily="34" charset="0"/>
                          <a:cs typeface="Arial" panose="020B0604020202020204" pitchFamily="34" charset="0"/>
                        </a:rPr>
                        <a:t>can</a:t>
                      </a:r>
                      <a:r>
                        <a:rPr sz="1400" spc="-5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run</a:t>
                      </a:r>
                      <a:r>
                        <a:rPr sz="1400" spc="-30"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generic</a:t>
                      </a:r>
                      <a:r>
                        <a:rPr sz="1400" spc="-2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tasks.</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extLst>
                  <a:ext uri="{0D108BD9-81ED-4DB2-BD59-A6C34878D82A}">
                    <a16:rowId xmlns:a16="http://schemas.microsoft.com/office/drawing/2014/main" val="10004"/>
                  </a:ext>
                </a:extLst>
              </a:tr>
              <a:tr h="287705">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5</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005">
                        <a:lnSpc>
                          <a:spcPct val="100000"/>
                        </a:lnSpc>
                      </a:pPr>
                      <a:r>
                        <a:rPr sz="1400" spc="-65" dirty="0">
                          <a:solidFill>
                            <a:srgbClr val="333333"/>
                          </a:solidFill>
                          <a:latin typeface="Arial" panose="020B0604020202020204" pitchFamily="34" charset="0"/>
                          <a:cs typeface="Arial" panose="020B0604020202020204" pitchFamily="34" charset="0"/>
                        </a:rPr>
                        <a:t>A</a:t>
                      </a:r>
                      <a:r>
                        <a:rPr sz="1400" spc="-60"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single</a:t>
                      </a:r>
                      <a:r>
                        <a:rPr sz="1400" spc="-5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Namenode</a:t>
                      </a:r>
                      <a:r>
                        <a:rPr sz="1400" spc="-2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6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manage </a:t>
                      </a:r>
                      <a:r>
                        <a:rPr sz="1400" dirty="0">
                          <a:solidFill>
                            <a:srgbClr val="333333"/>
                          </a:solidFill>
                          <a:latin typeface="Arial" panose="020B0604020202020204" pitchFamily="34" charset="0"/>
                          <a:cs typeface="Arial" panose="020B0604020202020204" pitchFamily="34" charset="0"/>
                        </a:rPr>
                        <a:t>the</a:t>
                      </a:r>
                      <a:r>
                        <a:rPr sz="1400" spc="-6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entire</a:t>
                      </a:r>
                      <a:r>
                        <a:rPr sz="1400" spc="-5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namespace.</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640">
                        <a:lnSpc>
                          <a:spcPct val="100000"/>
                        </a:lnSpc>
                      </a:pPr>
                      <a:r>
                        <a:rPr sz="1400" dirty="0">
                          <a:solidFill>
                            <a:srgbClr val="333333"/>
                          </a:solidFill>
                          <a:latin typeface="Arial" panose="020B0604020202020204" pitchFamily="34" charset="0"/>
                          <a:cs typeface="Arial" panose="020B0604020202020204" pitchFamily="34" charset="0"/>
                        </a:rPr>
                        <a:t>Multiple</a:t>
                      </a:r>
                      <a:r>
                        <a:rPr sz="1400" spc="-6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Namenode</a:t>
                      </a:r>
                      <a:r>
                        <a:rPr sz="1400" spc="-3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servers</a:t>
                      </a:r>
                      <a:r>
                        <a:rPr sz="1400" spc="-3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manage</a:t>
                      </a:r>
                      <a:r>
                        <a:rPr sz="1400" spc="-2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multiple</a:t>
                      </a:r>
                      <a:r>
                        <a:rPr sz="1400" spc="-6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namespaces.</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extLst>
                  <a:ext uri="{0D108BD9-81ED-4DB2-BD59-A6C34878D82A}">
                    <a16:rowId xmlns:a16="http://schemas.microsoft.com/office/drawing/2014/main" val="10005"/>
                  </a:ext>
                </a:extLst>
              </a:tr>
              <a:tr h="580788">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6</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005">
                        <a:lnSpc>
                          <a:spcPct val="100000"/>
                        </a:lnSpc>
                      </a:pPr>
                      <a:r>
                        <a:rPr sz="1400" dirty="0">
                          <a:solidFill>
                            <a:srgbClr val="333333"/>
                          </a:solidFill>
                          <a:latin typeface="Arial" panose="020B0604020202020204" pitchFamily="34" charset="0"/>
                          <a:cs typeface="Arial" panose="020B0604020202020204" pitchFamily="34" charset="0"/>
                        </a:rPr>
                        <a:t>Has</a:t>
                      </a:r>
                      <a:r>
                        <a:rPr sz="1400" spc="445" dirty="0">
                          <a:solidFill>
                            <a:srgbClr val="333333"/>
                          </a:solidFill>
                          <a:latin typeface="Arial" panose="020B0604020202020204" pitchFamily="34" charset="0"/>
                          <a:cs typeface="Arial" panose="020B0604020202020204" pitchFamily="34" charset="0"/>
                        </a:rPr>
                        <a:t> </a:t>
                      </a:r>
                      <a:r>
                        <a:rPr sz="1400" spc="-65" dirty="0">
                          <a:solidFill>
                            <a:srgbClr val="333333"/>
                          </a:solidFill>
                          <a:latin typeface="Arial" panose="020B0604020202020204" pitchFamily="34" charset="0"/>
                          <a:cs typeface="Arial" panose="020B0604020202020204" pitchFamily="34" charset="0"/>
                        </a:rPr>
                        <a:t>Single-</a:t>
                      </a:r>
                      <a:r>
                        <a:rPr sz="1400" spc="-35" dirty="0">
                          <a:solidFill>
                            <a:srgbClr val="333333"/>
                          </a:solidFill>
                          <a:latin typeface="Arial" panose="020B0604020202020204" pitchFamily="34" charset="0"/>
                          <a:cs typeface="Arial" panose="020B0604020202020204" pitchFamily="34" charset="0"/>
                        </a:rPr>
                        <a:t>Point-</a:t>
                      </a:r>
                      <a:r>
                        <a:rPr sz="1400" spc="-20" dirty="0">
                          <a:solidFill>
                            <a:srgbClr val="333333"/>
                          </a:solidFill>
                          <a:latin typeface="Arial" panose="020B0604020202020204" pitchFamily="34" charset="0"/>
                          <a:cs typeface="Arial" panose="020B0604020202020204" pitchFamily="34" charset="0"/>
                        </a:rPr>
                        <a:t>of-</a:t>
                      </a:r>
                      <a:r>
                        <a:rPr sz="1400" dirty="0">
                          <a:solidFill>
                            <a:srgbClr val="333333"/>
                          </a:solidFill>
                          <a:latin typeface="Arial" panose="020B0604020202020204" pitchFamily="34" charset="0"/>
                          <a:cs typeface="Arial" panose="020B0604020202020204" pitchFamily="34" charset="0"/>
                        </a:rPr>
                        <a:t>Failure</a:t>
                      </a:r>
                      <a:r>
                        <a:rPr sz="1400" spc="44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(SPOF)</a:t>
                      </a:r>
                      <a:r>
                        <a:rPr sz="1400" spc="45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t>
                      </a:r>
                      <a:r>
                        <a:rPr sz="1400" spc="44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because</a:t>
                      </a:r>
                      <a:r>
                        <a:rPr sz="1400" spc="44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45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single</a:t>
                      </a:r>
                      <a:endParaRPr sz="1400">
                        <a:latin typeface="Arial" panose="020B0604020202020204" pitchFamily="34" charset="0"/>
                        <a:cs typeface="Arial" panose="020B0604020202020204" pitchFamily="34" charset="0"/>
                      </a:endParaRPr>
                    </a:p>
                    <a:p>
                      <a:pPr marL="40005" marR="31750">
                        <a:lnSpc>
                          <a:spcPct val="100000"/>
                        </a:lnSpc>
                      </a:pPr>
                      <a:r>
                        <a:rPr sz="1400" spc="-25" dirty="0">
                          <a:solidFill>
                            <a:srgbClr val="333333"/>
                          </a:solidFill>
                          <a:latin typeface="Arial" panose="020B0604020202020204" pitchFamily="34" charset="0"/>
                          <a:cs typeface="Arial" panose="020B0604020202020204" pitchFamily="34" charset="0"/>
                        </a:rPr>
                        <a:t>Namenode-</a:t>
                      </a:r>
                      <a:r>
                        <a:rPr sz="1400" spc="20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and</a:t>
                      </a:r>
                      <a:r>
                        <a:rPr sz="1400" spc="2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in</a:t>
                      </a:r>
                      <a:r>
                        <a:rPr sz="1400" spc="204"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the</a:t>
                      </a:r>
                      <a:r>
                        <a:rPr sz="1400" spc="20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case</a:t>
                      </a:r>
                      <a:r>
                        <a:rPr sz="1400" spc="20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21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Namenode</a:t>
                      </a:r>
                      <a:r>
                        <a:rPr sz="1400" spc="2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failure,</a:t>
                      </a:r>
                      <a:r>
                        <a:rPr sz="1400" spc="204"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needs </a:t>
                      </a:r>
                      <a:r>
                        <a:rPr sz="1400" spc="-40" dirty="0">
                          <a:solidFill>
                            <a:srgbClr val="333333"/>
                          </a:solidFill>
                          <a:latin typeface="Arial" panose="020B0604020202020204" pitchFamily="34" charset="0"/>
                          <a:cs typeface="Arial" panose="020B0604020202020204" pitchFamily="34" charset="0"/>
                        </a:rPr>
                        <a:t>manual</a:t>
                      </a:r>
                      <a:r>
                        <a:rPr sz="1400" spc="-6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intervention</a:t>
                      </a:r>
                      <a:r>
                        <a:rPr sz="1400" spc="-6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7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overcome.</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640">
                        <a:lnSpc>
                          <a:spcPct val="100000"/>
                        </a:lnSpc>
                      </a:pPr>
                      <a:r>
                        <a:rPr sz="1400" spc="-60" dirty="0">
                          <a:solidFill>
                            <a:srgbClr val="333333"/>
                          </a:solidFill>
                          <a:latin typeface="Arial" panose="020B0604020202020204" pitchFamily="34" charset="0"/>
                          <a:cs typeface="Arial" panose="020B0604020202020204" pitchFamily="34" charset="0"/>
                        </a:rPr>
                        <a:t>Has</a:t>
                      </a:r>
                      <a:r>
                        <a:rPr sz="1400" spc="-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feature</a:t>
                      </a:r>
                      <a:r>
                        <a:rPr sz="1400" spc="3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3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overcome</a:t>
                      </a:r>
                      <a:r>
                        <a:rPr sz="1400" spc="30" dirty="0">
                          <a:solidFill>
                            <a:srgbClr val="333333"/>
                          </a:solidFill>
                          <a:latin typeface="Arial" panose="020B0604020202020204" pitchFamily="34" charset="0"/>
                          <a:cs typeface="Arial" panose="020B0604020202020204" pitchFamily="34" charset="0"/>
                        </a:rPr>
                        <a:t> </a:t>
                      </a:r>
                      <a:r>
                        <a:rPr sz="1400" spc="-160" dirty="0">
                          <a:solidFill>
                            <a:srgbClr val="333333"/>
                          </a:solidFill>
                          <a:latin typeface="Arial" panose="020B0604020202020204" pitchFamily="34" charset="0"/>
                          <a:cs typeface="Arial" panose="020B0604020202020204" pitchFamily="34" charset="0"/>
                        </a:rPr>
                        <a:t>SPOF</a:t>
                      </a:r>
                      <a:r>
                        <a:rPr sz="1400" spc="7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with</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3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standby</a:t>
                      </a:r>
                      <a:r>
                        <a:rPr sz="1400" spc="3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Namenode</a:t>
                      </a:r>
                      <a:r>
                        <a:rPr sz="1400" spc="3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and</a:t>
                      </a:r>
                      <a:r>
                        <a:rPr sz="1400" spc="3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in</a:t>
                      </a:r>
                      <a:r>
                        <a:rPr sz="1400" spc="35"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the</a:t>
                      </a:r>
                      <a:endParaRPr sz="1400" dirty="0">
                        <a:latin typeface="Arial" panose="020B0604020202020204" pitchFamily="34" charset="0"/>
                        <a:cs typeface="Arial" panose="020B0604020202020204" pitchFamily="34" charset="0"/>
                      </a:endParaRPr>
                    </a:p>
                    <a:p>
                      <a:pPr marL="40640">
                        <a:lnSpc>
                          <a:spcPct val="100000"/>
                        </a:lnSpc>
                      </a:pPr>
                      <a:r>
                        <a:rPr sz="1400" spc="-80" dirty="0">
                          <a:solidFill>
                            <a:srgbClr val="333333"/>
                          </a:solidFill>
                          <a:latin typeface="Arial" panose="020B0604020202020204" pitchFamily="34" charset="0"/>
                          <a:cs typeface="Arial" panose="020B0604020202020204" pitchFamily="34" charset="0"/>
                        </a:rPr>
                        <a:t>case</a:t>
                      </a:r>
                      <a:r>
                        <a:rPr sz="1400" spc="-5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1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Namenode</a:t>
                      </a:r>
                      <a:r>
                        <a:rPr sz="1400" spc="-20" dirty="0">
                          <a:solidFill>
                            <a:srgbClr val="333333"/>
                          </a:solidFill>
                          <a:latin typeface="Arial" panose="020B0604020202020204" pitchFamily="34" charset="0"/>
                          <a:cs typeface="Arial" panose="020B0604020202020204" pitchFamily="34" charset="0"/>
                        </a:rPr>
                        <a:t> failure,</a:t>
                      </a:r>
                      <a:r>
                        <a:rPr sz="1400" spc="-2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it</a:t>
                      </a:r>
                      <a:r>
                        <a:rPr sz="1400" spc="-35" dirty="0">
                          <a:solidFill>
                            <a:srgbClr val="333333"/>
                          </a:solidFill>
                          <a:latin typeface="Arial" panose="020B0604020202020204" pitchFamily="34" charset="0"/>
                          <a:cs typeface="Arial" panose="020B0604020202020204" pitchFamily="34" charset="0"/>
                        </a:rPr>
                        <a:t> </a:t>
                      </a:r>
                      <a:r>
                        <a:rPr sz="1400" spc="-60" dirty="0">
                          <a:solidFill>
                            <a:srgbClr val="333333"/>
                          </a:solidFill>
                          <a:latin typeface="Arial" panose="020B0604020202020204" pitchFamily="34" charset="0"/>
                          <a:cs typeface="Arial" panose="020B0604020202020204" pitchFamily="34" charset="0"/>
                        </a:rPr>
                        <a:t>is</a:t>
                      </a:r>
                      <a:r>
                        <a:rPr sz="1400" spc="-2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configured</a:t>
                      </a:r>
                      <a:r>
                        <a:rPr sz="1400" spc="-2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for</a:t>
                      </a:r>
                      <a:r>
                        <a:rPr sz="1400" spc="-1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automatic</a:t>
                      </a:r>
                      <a:r>
                        <a:rPr sz="1400" spc="-5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recovery.</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extLst>
                  <a:ext uri="{0D108BD9-81ED-4DB2-BD59-A6C34878D82A}">
                    <a16:rowId xmlns:a16="http://schemas.microsoft.com/office/drawing/2014/main" val="10006"/>
                  </a:ext>
                </a:extLst>
              </a:tr>
              <a:tr h="553228">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7</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005">
                        <a:lnSpc>
                          <a:spcPct val="100000"/>
                        </a:lnSpc>
                      </a:pPr>
                      <a:r>
                        <a:rPr sz="1400" dirty="0">
                          <a:solidFill>
                            <a:srgbClr val="333333"/>
                          </a:solidFill>
                          <a:latin typeface="Arial" panose="020B0604020202020204" pitchFamily="34" charset="0"/>
                          <a:cs typeface="Arial" panose="020B0604020202020204" pitchFamily="34" charset="0"/>
                        </a:rPr>
                        <a:t>MR</a:t>
                      </a:r>
                      <a:r>
                        <a:rPr sz="1400" spc="30"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API</a:t>
                      </a:r>
                      <a:r>
                        <a:rPr sz="1400" spc="3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is</a:t>
                      </a:r>
                      <a:r>
                        <a:rPr sz="1400" spc="2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compatible</a:t>
                      </a:r>
                      <a:r>
                        <a:rPr sz="1400" spc="2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with</a:t>
                      </a:r>
                      <a:r>
                        <a:rPr sz="1400" spc="3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Hadoop1x.</a:t>
                      </a:r>
                      <a:r>
                        <a:rPr sz="1400" spc="3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2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program</a:t>
                      </a:r>
                      <a:r>
                        <a:rPr sz="1400" spc="3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written</a:t>
                      </a:r>
                      <a:r>
                        <a:rPr sz="1400" spc="3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in</a:t>
                      </a:r>
                      <a:endParaRPr sz="1400">
                        <a:latin typeface="Arial" panose="020B0604020202020204" pitchFamily="34" charset="0"/>
                        <a:cs typeface="Arial" panose="020B0604020202020204" pitchFamily="34" charset="0"/>
                      </a:endParaRPr>
                    </a:p>
                    <a:p>
                      <a:pPr marL="40005">
                        <a:lnSpc>
                          <a:spcPct val="100000"/>
                        </a:lnSpc>
                      </a:pPr>
                      <a:r>
                        <a:rPr sz="1400" spc="-65" dirty="0">
                          <a:solidFill>
                            <a:srgbClr val="333333"/>
                          </a:solidFill>
                          <a:latin typeface="Arial" panose="020B0604020202020204" pitchFamily="34" charset="0"/>
                          <a:cs typeface="Arial" panose="020B0604020202020204" pitchFamily="34" charset="0"/>
                        </a:rPr>
                        <a:t>Hadoop1</a:t>
                      </a:r>
                      <a:r>
                        <a:rPr sz="1400" spc="-5"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executes </a:t>
                      </a:r>
                      <a:r>
                        <a:rPr sz="1400" spc="-10" dirty="0">
                          <a:solidFill>
                            <a:srgbClr val="333333"/>
                          </a:solidFill>
                          <a:latin typeface="Arial" panose="020B0604020202020204" pitchFamily="34" charset="0"/>
                          <a:cs typeface="Arial" panose="020B0604020202020204" pitchFamily="34" charset="0"/>
                        </a:rPr>
                        <a:t>in</a:t>
                      </a:r>
                      <a:r>
                        <a:rPr sz="1400" spc="-15" dirty="0">
                          <a:solidFill>
                            <a:srgbClr val="333333"/>
                          </a:solidFill>
                          <a:latin typeface="Arial" panose="020B0604020202020204" pitchFamily="34" charset="0"/>
                          <a:cs typeface="Arial" panose="020B0604020202020204" pitchFamily="34" charset="0"/>
                        </a:rPr>
                        <a:t> </a:t>
                      </a:r>
                      <a:r>
                        <a:rPr sz="1400" spc="-55" dirty="0">
                          <a:solidFill>
                            <a:srgbClr val="333333"/>
                          </a:solidFill>
                          <a:latin typeface="Arial" panose="020B0604020202020204" pitchFamily="34" charset="0"/>
                          <a:cs typeface="Arial" panose="020B0604020202020204" pitchFamily="34" charset="0"/>
                        </a:rPr>
                        <a:t>Hadoop1x</a:t>
                      </a:r>
                      <a:r>
                        <a:rPr sz="1400" spc="-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without</a:t>
                      </a:r>
                      <a:r>
                        <a:rPr sz="1400" spc="-3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any</a:t>
                      </a:r>
                      <a:r>
                        <a:rPr sz="1400" spc="-10" dirty="0">
                          <a:solidFill>
                            <a:srgbClr val="333333"/>
                          </a:solidFill>
                          <a:latin typeface="Arial" panose="020B0604020202020204" pitchFamily="34" charset="0"/>
                          <a:cs typeface="Arial" panose="020B0604020202020204" pitchFamily="34" charset="0"/>
                        </a:rPr>
                        <a:t> additional</a:t>
                      </a:r>
                      <a:r>
                        <a:rPr sz="1400" spc="-3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files.</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640">
                        <a:lnSpc>
                          <a:spcPct val="100000"/>
                        </a:lnSpc>
                      </a:pPr>
                      <a:r>
                        <a:rPr sz="1400" dirty="0">
                          <a:solidFill>
                            <a:srgbClr val="333333"/>
                          </a:solidFill>
                          <a:latin typeface="Arial" panose="020B0604020202020204" pitchFamily="34" charset="0"/>
                          <a:cs typeface="Arial" panose="020B0604020202020204" pitchFamily="34" charset="0"/>
                        </a:rPr>
                        <a:t>MR</a:t>
                      </a:r>
                      <a:r>
                        <a:rPr sz="1400" spc="11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API</a:t>
                      </a:r>
                      <a:r>
                        <a:rPr sz="1400" spc="11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requires</a:t>
                      </a:r>
                      <a:r>
                        <a:rPr sz="1400" spc="1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additional</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files</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for</a:t>
                      </a:r>
                      <a:r>
                        <a:rPr sz="1400" spc="10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program</a:t>
                      </a:r>
                      <a:r>
                        <a:rPr sz="1400" spc="1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written</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in</a:t>
                      </a:r>
                      <a:r>
                        <a:rPr sz="1400" spc="105"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Hadoop1x</a:t>
                      </a:r>
                      <a:r>
                        <a:rPr sz="1400" spc="100"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to</a:t>
                      </a:r>
                      <a:endParaRPr sz="1400" dirty="0">
                        <a:latin typeface="Arial" panose="020B0604020202020204" pitchFamily="34" charset="0"/>
                        <a:cs typeface="Arial" panose="020B0604020202020204" pitchFamily="34" charset="0"/>
                      </a:endParaRPr>
                    </a:p>
                    <a:p>
                      <a:pPr marL="40640">
                        <a:lnSpc>
                          <a:spcPct val="100000"/>
                        </a:lnSpc>
                      </a:pPr>
                      <a:r>
                        <a:rPr sz="1400" spc="-30" dirty="0">
                          <a:solidFill>
                            <a:srgbClr val="333333"/>
                          </a:solidFill>
                          <a:latin typeface="Arial" panose="020B0604020202020204" pitchFamily="34" charset="0"/>
                          <a:cs typeface="Arial" panose="020B0604020202020204" pitchFamily="34" charset="0"/>
                        </a:rPr>
                        <a:t>execute</a:t>
                      </a:r>
                      <a:r>
                        <a:rPr sz="1400" spc="-8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in</a:t>
                      </a:r>
                      <a:r>
                        <a:rPr sz="1400" spc="-5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Hadoop2x.</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extLst>
                  <a:ext uri="{0D108BD9-81ED-4DB2-BD59-A6C34878D82A}">
                    <a16:rowId xmlns:a16="http://schemas.microsoft.com/office/drawing/2014/main" val="10007"/>
                  </a:ext>
                </a:extLst>
              </a:tr>
              <a:tr h="553228">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8</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005">
                        <a:lnSpc>
                          <a:spcPct val="100000"/>
                        </a:lnSpc>
                      </a:pPr>
                      <a:r>
                        <a:rPr sz="1400" spc="-95" dirty="0">
                          <a:solidFill>
                            <a:srgbClr val="333333"/>
                          </a:solidFill>
                          <a:latin typeface="Arial" panose="020B0604020202020204" pitchFamily="34" charset="0"/>
                          <a:cs typeface="Arial" panose="020B0604020202020204" pitchFamily="34" charset="0"/>
                        </a:rPr>
                        <a:t>Has</a:t>
                      </a:r>
                      <a:r>
                        <a:rPr sz="1400" spc="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limitation</a:t>
                      </a:r>
                      <a:r>
                        <a:rPr sz="1400" spc="1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15" dirty="0">
                          <a:solidFill>
                            <a:srgbClr val="333333"/>
                          </a:solidFill>
                          <a:latin typeface="Arial" panose="020B0604020202020204" pitchFamily="34" charset="0"/>
                          <a:cs typeface="Arial" panose="020B0604020202020204" pitchFamily="34" charset="0"/>
                        </a:rPr>
                        <a:t> </a:t>
                      </a:r>
                      <a:r>
                        <a:rPr sz="1400" spc="-35" dirty="0">
                          <a:solidFill>
                            <a:srgbClr val="333333"/>
                          </a:solidFill>
                          <a:latin typeface="Arial" panose="020B0604020202020204" pitchFamily="34" charset="0"/>
                          <a:cs typeface="Arial" panose="020B0604020202020204" pitchFamily="34" charset="0"/>
                        </a:rPr>
                        <a:t>serve</a:t>
                      </a:r>
                      <a:r>
                        <a:rPr sz="1400" spc="10" dirty="0">
                          <a:solidFill>
                            <a:srgbClr val="333333"/>
                          </a:solidFill>
                          <a:latin typeface="Arial" panose="020B0604020202020204" pitchFamily="34" charset="0"/>
                          <a:cs typeface="Arial" panose="020B0604020202020204" pitchFamily="34" charset="0"/>
                        </a:rPr>
                        <a:t> </a:t>
                      </a:r>
                      <a:r>
                        <a:rPr sz="1400" spc="-90" dirty="0">
                          <a:solidFill>
                            <a:srgbClr val="333333"/>
                          </a:solidFill>
                          <a:latin typeface="Arial" panose="020B0604020202020204" pitchFamily="34" charset="0"/>
                          <a:cs typeface="Arial" panose="020B0604020202020204" pitchFamily="34" charset="0"/>
                        </a:rPr>
                        <a:t>as</a:t>
                      </a:r>
                      <a:r>
                        <a:rPr sz="1400" spc="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platform</a:t>
                      </a:r>
                      <a:r>
                        <a:rPr sz="1400" spc="1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for</a:t>
                      </a:r>
                      <a:r>
                        <a:rPr sz="1400" spc="1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event</a:t>
                      </a:r>
                      <a:r>
                        <a:rPr sz="1400" spc="2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processing,</a:t>
                      </a:r>
                      <a:endParaRPr sz="1400">
                        <a:latin typeface="Arial" panose="020B0604020202020204" pitchFamily="34" charset="0"/>
                        <a:cs typeface="Arial" panose="020B0604020202020204" pitchFamily="34" charset="0"/>
                      </a:endParaRPr>
                    </a:p>
                    <a:p>
                      <a:pPr marL="40005">
                        <a:lnSpc>
                          <a:spcPct val="100000"/>
                        </a:lnSpc>
                      </a:pPr>
                      <a:r>
                        <a:rPr sz="1400" spc="-25" dirty="0">
                          <a:solidFill>
                            <a:srgbClr val="333333"/>
                          </a:solidFill>
                          <a:latin typeface="Arial" panose="020B0604020202020204" pitchFamily="34" charset="0"/>
                          <a:cs typeface="Arial" panose="020B0604020202020204" pitchFamily="34" charset="0"/>
                        </a:rPr>
                        <a:t>streaming</a:t>
                      </a:r>
                      <a:r>
                        <a:rPr sz="1400" spc="-40" dirty="0">
                          <a:solidFill>
                            <a:srgbClr val="333333"/>
                          </a:solidFill>
                          <a:latin typeface="Arial" panose="020B0604020202020204" pitchFamily="34" charset="0"/>
                          <a:cs typeface="Arial" panose="020B0604020202020204" pitchFamily="34" charset="0"/>
                        </a:rPr>
                        <a:t> and</a:t>
                      </a:r>
                      <a:r>
                        <a:rPr sz="1400" spc="-3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real-</a:t>
                      </a:r>
                      <a:r>
                        <a:rPr sz="1400" dirty="0">
                          <a:solidFill>
                            <a:srgbClr val="333333"/>
                          </a:solidFill>
                          <a:latin typeface="Arial" panose="020B0604020202020204" pitchFamily="34" charset="0"/>
                          <a:cs typeface="Arial" panose="020B0604020202020204" pitchFamily="34" charset="0"/>
                        </a:rPr>
                        <a:t>time</a:t>
                      </a:r>
                      <a:r>
                        <a:rPr sz="1400" spc="-4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operations.</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640">
                        <a:lnSpc>
                          <a:spcPct val="100000"/>
                        </a:lnSpc>
                      </a:pPr>
                      <a:r>
                        <a:rPr sz="1400" spc="-55" dirty="0">
                          <a:solidFill>
                            <a:srgbClr val="333333"/>
                          </a:solidFill>
                          <a:latin typeface="Arial" panose="020B0604020202020204" pitchFamily="34" charset="0"/>
                          <a:cs typeface="Arial" panose="020B0604020202020204" pitchFamily="34" charset="0"/>
                        </a:rPr>
                        <a:t>Can</a:t>
                      </a:r>
                      <a:r>
                        <a:rPr sz="1400" spc="7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serve</a:t>
                      </a:r>
                      <a:r>
                        <a:rPr sz="1400" spc="75"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as</a:t>
                      </a:r>
                      <a:r>
                        <a:rPr sz="1400" spc="8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6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platform</a:t>
                      </a:r>
                      <a:r>
                        <a:rPr sz="1400" spc="8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for</a:t>
                      </a:r>
                      <a:r>
                        <a:rPr sz="1400" spc="8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a:t>
                      </a:r>
                      <a:r>
                        <a:rPr sz="1400" spc="8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wide</a:t>
                      </a:r>
                      <a:r>
                        <a:rPr sz="1400" spc="7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variety</a:t>
                      </a:r>
                      <a:r>
                        <a:rPr sz="1400" spc="7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of</a:t>
                      </a:r>
                      <a:r>
                        <a:rPr sz="1400" spc="8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data</a:t>
                      </a:r>
                      <a:r>
                        <a:rPr sz="1400" spc="7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analytics-</a:t>
                      </a:r>
                      <a:r>
                        <a:rPr sz="1400" spc="-20" dirty="0">
                          <a:solidFill>
                            <a:srgbClr val="333333"/>
                          </a:solidFill>
                          <a:latin typeface="Arial" panose="020B0604020202020204" pitchFamily="34" charset="0"/>
                          <a:cs typeface="Arial" panose="020B0604020202020204" pitchFamily="34" charset="0"/>
                        </a:rPr>
                        <a:t>possible</a:t>
                      </a:r>
                      <a:r>
                        <a:rPr sz="1400" spc="75" dirty="0">
                          <a:solidFill>
                            <a:srgbClr val="333333"/>
                          </a:solidFill>
                          <a:latin typeface="Arial" panose="020B0604020202020204" pitchFamily="34" charset="0"/>
                          <a:cs typeface="Arial" panose="020B0604020202020204" pitchFamily="34" charset="0"/>
                        </a:rPr>
                        <a:t> </a:t>
                      </a:r>
                      <a:r>
                        <a:rPr sz="1400" spc="25" dirty="0">
                          <a:solidFill>
                            <a:srgbClr val="333333"/>
                          </a:solidFill>
                          <a:latin typeface="Arial" panose="020B0604020202020204" pitchFamily="34" charset="0"/>
                          <a:cs typeface="Arial" panose="020B0604020202020204" pitchFamily="34" charset="0"/>
                        </a:rPr>
                        <a:t>to</a:t>
                      </a:r>
                      <a:endParaRPr sz="1400" dirty="0">
                        <a:latin typeface="Arial" panose="020B0604020202020204" pitchFamily="34" charset="0"/>
                        <a:cs typeface="Arial" panose="020B0604020202020204" pitchFamily="34" charset="0"/>
                      </a:endParaRPr>
                    </a:p>
                    <a:p>
                      <a:pPr marL="40640">
                        <a:lnSpc>
                          <a:spcPct val="100000"/>
                        </a:lnSpc>
                      </a:pPr>
                      <a:r>
                        <a:rPr sz="1400" spc="-10" dirty="0">
                          <a:solidFill>
                            <a:srgbClr val="333333"/>
                          </a:solidFill>
                          <a:latin typeface="Arial" panose="020B0604020202020204" pitchFamily="34" charset="0"/>
                          <a:cs typeface="Arial" panose="020B0604020202020204" pitchFamily="34" charset="0"/>
                        </a:rPr>
                        <a:t>run</a:t>
                      </a:r>
                      <a:r>
                        <a:rPr sz="1400" spc="-30" dirty="0">
                          <a:solidFill>
                            <a:srgbClr val="333333"/>
                          </a:solidFill>
                          <a:latin typeface="Arial" panose="020B0604020202020204" pitchFamily="34" charset="0"/>
                          <a:cs typeface="Arial" panose="020B0604020202020204" pitchFamily="34" charset="0"/>
                        </a:rPr>
                        <a:t> </a:t>
                      </a:r>
                      <a:r>
                        <a:rPr sz="1400" spc="-20" dirty="0">
                          <a:solidFill>
                            <a:srgbClr val="333333"/>
                          </a:solidFill>
                          <a:latin typeface="Arial" panose="020B0604020202020204" pitchFamily="34" charset="0"/>
                          <a:cs typeface="Arial" panose="020B0604020202020204" pitchFamily="34" charset="0"/>
                        </a:rPr>
                        <a:t>event</a:t>
                      </a:r>
                      <a:r>
                        <a:rPr sz="1400" spc="-40" dirty="0">
                          <a:solidFill>
                            <a:srgbClr val="333333"/>
                          </a:solidFill>
                          <a:latin typeface="Arial" panose="020B0604020202020204" pitchFamily="34" charset="0"/>
                          <a:cs typeface="Arial" panose="020B0604020202020204" pitchFamily="34" charset="0"/>
                        </a:rPr>
                        <a:t> </a:t>
                      </a:r>
                      <a:r>
                        <a:rPr sz="1400" spc="-45" dirty="0">
                          <a:solidFill>
                            <a:srgbClr val="333333"/>
                          </a:solidFill>
                          <a:latin typeface="Arial" panose="020B0604020202020204" pitchFamily="34" charset="0"/>
                          <a:cs typeface="Arial" panose="020B0604020202020204" pitchFamily="34" charset="0"/>
                        </a:rPr>
                        <a:t>processing, </a:t>
                      </a:r>
                      <a:r>
                        <a:rPr sz="1400" spc="-25" dirty="0">
                          <a:solidFill>
                            <a:srgbClr val="333333"/>
                          </a:solidFill>
                          <a:latin typeface="Arial" panose="020B0604020202020204" pitchFamily="34" charset="0"/>
                          <a:cs typeface="Arial" panose="020B0604020202020204" pitchFamily="34" charset="0"/>
                        </a:rPr>
                        <a:t>streaming</a:t>
                      </a:r>
                      <a:r>
                        <a:rPr sz="1400" spc="-30"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and</a:t>
                      </a:r>
                      <a:r>
                        <a:rPr sz="1400" spc="-25"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real-</a:t>
                      </a:r>
                      <a:r>
                        <a:rPr sz="1400" dirty="0">
                          <a:solidFill>
                            <a:srgbClr val="333333"/>
                          </a:solidFill>
                          <a:latin typeface="Arial" panose="020B0604020202020204" pitchFamily="34" charset="0"/>
                          <a:cs typeface="Arial" panose="020B0604020202020204" pitchFamily="34" charset="0"/>
                        </a:rPr>
                        <a:t>time</a:t>
                      </a:r>
                      <a:r>
                        <a:rPr sz="1400" spc="-3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operations.</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extLst>
                  <a:ext uri="{0D108BD9-81ED-4DB2-BD59-A6C34878D82A}">
                    <a16:rowId xmlns:a16="http://schemas.microsoft.com/office/drawing/2014/main" val="10008"/>
                  </a:ext>
                </a:extLst>
              </a:tr>
              <a:tr h="414753">
                <a:tc>
                  <a:txBody>
                    <a:bodyPr/>
                    <a:lstStyle/>
                    <a:p>
                      <a:pPr algn="ctr">
                        <a:lnSpc>
                          <a:spcPct val="100000"/>
                        </a:lnSpc>
                      </a:pPr>
                      <a:r>
                        <a:rPr sz="1400" b="1" spc="-50" dirty="0">
                          <a:solidFill>
                            <a:srgbClr val="333333"/>
                          </a:solidFill>
                          <a:latin typeface="Arial" panose="020B0604020202020204" pitchFamily="34" charset="0"/>
                          <a:cs typeface="Arial" panose="020B0604020202020204" pitchFamily="34" charset="0"/>
                        </a:rPr>
                        <a:t>9</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005">
                        <a:lnSpc>
                          <a:spcPct val="100000"/>
                        </a:lnSpc>
                      </a:pPr>
                      <a:r>
                        <a:rPr sz="1400" spc="-65" dirty="0">
                          <a:solidFill>
                            <a:srgbClr val="333333"/>
                          </a:solidFill>
                          <a:latin typeface="Arial" panose="020B0604020202020204" pitchFamily="34" charset="0"/>
                          <a:cs typeface="Arial" panose="020B0604020202020204" pitchFamily="34" charset="0"/>
                        </a:rPr>
                        <a:t>A</a:t>
                      </a:r>
                      <a:r>
                        <a:rPr sz="1400" spc="-70" dirty="0">
                          <a:solidFill>
                            <a:srgbClr val="333333"/>
                          </a:solidFill>
                          <a:latin typeface="Arial" panose="020B0604020202020204" pitchFamily="34" charset="0"/>
                          <a:cs typeface="Arial" panose="020B0604020202020204" pitchFamily="34" charset="0"/>
                        </a:rPr>
                        <a:t> </a:t>
                      </a:r>
                      <a:r>
                        <a:rPr sz="1400" spc="-40" dirty="0">
                          <a:solidFill>
                            <a:srgbClr val="333333"/>
                          </a:solidFill>
                          <a:latin typeface="Arial" panose="020B0604020202020204" pitchFamily="34" charset="0"/>
                          <a:cs typeface="Arial" panose="020B0604020202020204" pitchFamily="34" charset="0"/>
                        </a:rPr>
                        <a:t>Namenode </a:t>
                      </a:r>
                      <a:r>
                        <a:rPr sz="1400" spc="-10" dirty="0">
                          <a:solidFill>
                            <a:srgbClr val="333333"/>
                          </a:solidFill>
                          <a:latin typeface="Arial" panose="020B0604020202020204" pitchFamily="34" charset="0"/>
                          <a:cs typeface="Arial" panose="020B0604020202020204" pitchFamily="34" charset="0"/>
                        </a:rPr>
                        <a:t>failure</a:t>
                      </a:r>
                      <a:r>
                        <a:rPr sz="1400" spc="-8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affects</a:t>
                      </a:r>
                      <a:r>
                        <a:rPr sz="1400" spc="-6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the</a:t>
                      </a:r>
                      <a:r>
                        <a:rPr sz="1400" spc="-7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stack.</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tc>
                  <a:txBody>
                    <a:bodyPr/>
                    <a:lstStyle/>
                    <a:p>
                      <a:pPr marL="40640">
                        <a:lnSpc>
                          <a:spcPct val="100000"/>
                        </a:lnSpc>
                      </a:pPr>
                      <a:r>
                        <a:rPr sz="1400" dirty="0">
                          <a:solidFill>
                            <a:srgbClr val="333333"/>
                          </a:solidFill>
                          <a:latin typeface="Arial" panose="020B0604020202020204" pitchFamily="34" charset="0"/>
                          <a:cs typeface="Arial" panose="020B0604020202020204" pitchFamily="34" charset="0"/>
                        </a:rPr>
                        <a:t>The</a:t>
                      </a:r>
                      <a:r>
                        <a:rPr sz="1400" spc="10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Hadoop</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stack</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t>
                      </a:r>
                      <a:r>
                        <a:rPr sz="1400" spc="10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Hive,</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Pig,</a:t>
                      </a:r>
                      <a:r>
                        <a:rPr sz="1400" spc="105" dirty="0">
                          <a:solidFill>
                            <a:srgbClr val="333333"/>
                          </a:solidFill>
                          <a:latin typeface="Arial" panose="020B0604020202020204" pitchFamily="34" charset="0"/>
                          <a:cs typeface="Arial" panose="020B0604020202020204" pitchFamily="34" charset="0"/>
                        </a:rPr>
                        <a:t> </a:t>
                      </a:r>
                      <a:r>
                        <a:rPr sz="1400" spc="-55" dirty="0">
                          <a:solidFill>
                            <a:srgbClr val="333333"/>
                          </a:solidFill>
                          <a:latin typeface="Arial" panose="020B0604020202020204" pitchFamily="34" charset="0"/>
                          <a:cs typeface="Arial" panose="020B0604020202020204" pitchFamily="34" charset="0"/>
                        </a:rPr>
                        <a:t>HBase</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etc.</a:t>
                      </a:r>
                      <a:r>
                        <a:rPr sz="1400" spc="9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are</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all</a:t>
                      </a:r>
                      <a:r>
                        <a:rPr sz="1400" spc="10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equipped</a:t>
                      </a:r>
                      <a:r>
                        <a:rPr sz="1400" spc="100" dirty="0">
                          <a:solidFill>
                            <a:srgbClr val="333333"/>
                          </a:solidFill>
                          <a:latin typeface="Arial" panose="020B0604020202020204" pitchFamily="34" charset="0"/>
                          <a:cs typeface="Arial" panose="020B0604020202020204" pitchFamily="34" charset="0"/>
                        </a:rPr>
                        <a:t> </a:t>
                      </a:r>
                      <a:r>
                        <a:rPr sz="1400" spc="50" dirty="0">
                          <a:solidFill>
                            <a:srgbClr val="333333"/>
                          </a:solidFill>
                          <a:latin typeface="Arial" panose="020B0604020202020204" pitchFamily="34" charset="0"/>
                          <a:cs typeface="Arial" panose="020B0604020202020204" pitchFamily="34" charset="0"/>
                        </a:rPr>
                        <a:t>to</a:t>
                      </a:r>
                      <a:r>
                        <a:rPr sz="1400" spc="10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handle</a:t>
                      </a:r>
                      <a:endParaRPr sz="1400" dirty="0">
                        <a:latin typeface="Arial" panose="020B0604020202020204" pitchFamily="34" charset="0"/>
                        <a:cs typeface="Arial" panose="020B0604020202020204" pitchFamily="34" charset="0"/>
                      </a:endParaRPr>
                    </a:p>
                    <a:p>
                      <a:pPr marL="40640">
                        <a:lnSpc>
                          <a:spcPct val="100000"/>
                        </a:lnSpc>
                      </a:pPr>
                      <a:r>
                        <a:rPr sz="1400" spc="-45" dirty="0">
                          <a:solidFill>
                            <a:srgbClr val="333333"/>
                          </a:solidFill>
                          <a:latin typeface="Arial" panose="020B0604020202020204" pitchFamily="34" charset="0"/>
                          <a:cs typeface="Arial" panose="020B0604020202020204" pitchFamily="34" charset="0"/>
                        </a:rPr>
                        <a:t>Namenode</a:t>
                      </a:r>
                      <a:r>
                        <a:rPr sz="1400" spc="-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failure.</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solidFill>
                      <a:srgbClr val="D2DFED"/>
                    </a:solidFill>
                  </a:tcPr>
                </a:tc>
                <a:extLst>
                  <a:ext uri="{0D108BD9-81ED-4DB2-BD59-A6C34878D82A}">
                    <a16:rowId xmlns:a16="http://schemas.microsoft.com/office/drawing/2014/main" val="10009"/>
                  </a:ext>
                </a:extLst>
              </a:tr>
              <a:tr h="193596">
                <a:tc>
                  <a:txBody>
                    <a:bodyPr/>
                    <a:lstStyle/>
                    <a:p>
                      <a:pPr algn="ctr">
                        <a:lnSpc>
                          <a:spcPct val="100000"/>
                        </a:lnSpc>
                      </a:pPr>
                      <a:r>
                        <a:rPr sz="1400" b="1" spc="-25" dirty="0">
                          <a:solidFill>
                            <a:srgbClr val="333333"/>
                          </a:solidFill>
                          <a:latin typeface="Arial" panose="020B0604020202020204" pitchFamily="34" charset="0"/>
                          <a:cs typeface="Arial" panose="020B0604020202020204" pitchFamily="34" charset="0"/>
                        </a:rPr>
                        <a:t>10</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005">
                        <a:lnSpc>
                          <a:spcPct val="100000"/>
                        </a:lnSpc>
                      </a:pPr>
                      <a:r>
                        <a:rPr sz="1400" spc="-65" dirty="0">
                          <a:solidFill>
                            <a:srgbClr val="333333"/>
                          </a:solidFill>
                          <a:latin typeface="Arial" panose="020B0604020202020204" pitchFamily="34" charset="0"/>
                          <a:cs typeface="Arial" panose="020B0604020202020204" pitchFamily="34" charset="0"/>
                        </a:rPr>
                        <a:t>Does</a:t>
                      </a:r>
                      <a:r>
                        <a:rPr sz="1400" spc="-2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not</a:t>
                      </a:r>
                      <a:r>
                        <a:rPr sz="1400" spc="-20"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support</a:t>
                      </a:r>
                      <a:r>
                        <a:rPr sz="1400" spc="-60"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Microsoft</a:t>
                      </a:r>
                      <a:r>
                        <a:rPr sz="1400" spc="-10" dirty="0">
                          <a:solidFill>
                            <a:srgbClr val="333333"/>
                          </a:solidFill>
                          <a:latin typeface="Arial" panose="020B0604020202020204" pitchFamily="34" charset="0"/>
                          <a:cs typeface="Arial" panose="020B0604020202020204" pitchFamily="34" charset="0"/>
                        </a:rPr>
                        <a:t> Windows</a:t>
                      </a:r>
                      <a:endParaRPr sz="140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tc>
                  <a:txBody>
                    <a:bodyPr/>
                    <a:lstStyle/>
                    <a:p>
                      <a:pPr marL="40640">
                        <a:lnSpc>
                          <a:spcPct val="100000"/>
                        </a:lnSpc>
                      </a:pPr>
                      <a:r>
                        <a:rPr sz="1400" spc="-35" dirty="0">
                          <a:solidFill>
                            <a:srgbClr val="333333"/>
                          </a:solidFill>
                          <a:latin typeface="Arial" panose="020B0604020202020204" pitchFamily="34" charset="0"/>
                          <a:cs typeface="Arial" panose="020B0604020202020204" pitchFamily="34" charset="0"/>
                        </a:rPr>
                        <a:t>Added</a:t>
                      </a:r>
                      <a:r>
                        <a:rPr sz="1400" spc="-15" dirty="0">
                          <a:solidFill>
                            <a:srgbClr val="333333"/>
                          </a:solidFill>
                          <a:latin typeface="Arial" panose="020B0604020202020204" pitchFamily="34" charset="0"/>
                          <a:cs typeface="Arial" panose="020B0604020202020204" pitchFamily="34" charset="0"/>
                        </a:rPr>
                        <a:t> </a:t>
                      </a:r>
                      <a:r>
                        <a:rPr sz="1400" spc="-10" dirty="0">
                          <a:solidFill>
                            <a:srgbClr val="333333"/>
                          </a:solidFill>
                          <a:latin typeface="Arial" panose="020B0604020202020204" pitchFamily="34" charset="0"/>
                          <a:cs typeface="Arial" panose="020B0604020202020204" pitchFamily="34" charset="0"/>
                        </a:rPr>
                        <a:t>support</a:t>
                      </a:r>
                      <a:r>
                        <a:rPr sz="1400" spc="-55" dirty="0">
                          <a:solidFill>
                            <a:srgbClr val="333333"/>
                          </a:solidFill>
                          <a:latin typeface="Arial" panose="020B0604020202020204" pitchFamily="34" charset="0"/>
                          <a:cs typeface="Arial" panose="020B0604020202020204" pitchFamily="34" charset="0"/>
                        </a:rPr>
                        <a:t> </a:t>
                      </a:r>
                      <a:r>
                        <a:rPr sz="1400" dirty="0">
                          <a:solidFill>
                            <a:srgbClr val="333333"/>
                          </a:solidFill>
                          <a:latin typeface="Arial" panose="020B0604020202020204" pitchFamily="34" charset="0"/>
                          <a:cs typeface="Arial" panose="020B0604020202020204" pitchFamily="34" charset="0"/>
                        </a:rPr>
                        <a:t>for Microsoft</a:t>
                      </a:r>
                      <a:r>
                        <a:rPr sz="1400" spc="-10" dirty="0">
                          <a:solidFill>
                            <a:srgbClr val="333333"/>
                          </a:solidFill>
                          <a:latin typeface="Arial" panose="020B0604020202020204" pitchFamily="34" charset="0"/>
                          <a:cs typeface="Arial" panose="020B0604020202020204" pitchFamily="34" charset="0"/>
                        </a:rPr>
                        <a:t> windows</a:t>
                      </a:r>
                      <a:endParaRPr sz="1400" dirty="0">
                        <a:latin typeface="Arial" panose="020B0604020202020204" pitchFamily="34" charset="0"/>
                        <a:cs typeface="Arial" panose="020B0604020202020204" pitchFamily="34" charset="0"/>
                      </a:endParaRPr>
                    </a:p>
                  </a:txBody>
                  <a:tcPr marL="0" marR="0" marT="0" marB="0">
                    <a:lnL w="12700">
                      <a:solidFill>
                        <a:srgbClr val="4F81BC"/>
                      </a:solidFill>
                      <a:prstDash val="solid"/>
                    </a:lnL>
                    <a:lnR w="12700">
                      <a:solidFill>
                        <a:srgbClr val="4F81BC"/>
                      </a:solidFill>
                      <a:prstDash val="solid"/>
                    </a:lnR>
                    <a:lnT w="12700">
                      <a:solidFill>
                        <a:srgbClr val="4F81BC"/>
                      </a:solidFill>
                      <a:prstDash val="solid"/>
                    </a:lnT>
                    <a:lnB w="12700">
                      <a:solidFill>
                        <a:srgbClr val="4F81BC"/>
                      </a:solidFill>
                      <a:prstDash val="solid"/>
                    </a:lnB>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1866</TotalTime>
  <Words>3132</Words>
  <Application>Microsoft Macintosh PowerPoint</Application>
  <PresentationFormat>Widescreen</PresentationFormat>
  <Paragraphs>485</Paragraphs>
  <Slides>59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Aptos</vt:lpstr>
      <vt:lpstr>Aptos Display</vt:lpstr>
      <vt:lpstr>Arial</vt:lpstr>
      <vt:lpstr>Calibri</vt:lpstr>
      <vt:lpstr>Geneva</vt:lpstr>
      <vt:lpstr>Times New Roman</vt:lpstr>
      <vt:lpstr>Wingdings 2</vt:lpstr>
      <vt:lpstr>Office Theme</vt:lpstr>
      <vt:lpstr>Big Data Analytics (Fall 2025) I Hadoop Ecosystem</vt:lpstr>
      <vt:lpstr>Overview</vt:lpstr>
      <vt:lpstr>What is Big Data</vt:lpstr>
      <vt:lpstr>Opportunity</vt:lpstr>
      <vt:lpstr>Data Engineer Positions</vt:lpstr>
      <vt:lpstr>Collaboration</vt:lpstr>
      <vt:lpstr>Big Data Ecosystem</vt:lpstr>
      <vt:lpstr>Technical Skills</vt:lpstr>
      <vt:lpstr>Overview</vt:lpstr>
      <vt:lpstr>The Origins of HDFS</vt:lpstr>
      <vt:lpstr>Birth of Hadoop</vt:lpstr>
      <vt:lpstr>Cambrian Explosion</vt:lpstr>
      <vt:lpstr>Hadoop Components</vt:lpstr>
      <vt:lpstr>HDFS Design Goal</vt:lpstr>
      <vt:lpstr>Hadoop File System</vt:lpstr>
      <vt:lpstr>HDFS Architecture</vt:lpstr>
      <vt:lpstr>HDFS Read</vt:lpstr>
      <vt:lpstr>HDFS Write</vt:lpstr>
      <vt:lpstr>Namenode and Datanode</vt:lpstr>
      <vt:lpstr>Handle Failures</vt:lpstr>
      <vt:lpstr>Fault Tolerance</vt:lpstr>
      <vt:lpstr>Replica</vt:lpstr>
      <vt:lpstr>Debugging</vt:lpstr>
      <vt:lpstr>Map Reduce Motivation</vt:lpstr>
      <vt:lpstr>Typical Big Data Problem</vt:lpstr>
      <vt:lpstr>Map Reduce Core Functionality</vt:lpstr>
      <vt:lpstr>Map Reduce Overview</vt:lpstr>
      <vt:lpstr>Word Count Example</vt:lpstr>
      <vt:lpstr>Where MapReduce Works</vt:lpstr>
      <vt:lpstr>MapReduce Terms</vt:lpstr>
      <vt:lpstr>Map Reduce Framework</vt:lpstr>
      <vt:lpstr>Map Reduce Core Functionality II</vt:lpstr>
      <vt:lpstr>Rack Awareness</vt:lpstr>
      <vt:lpstr>Input and Output II</vt:lpstr>
      <vt:lpstr>Bad Input</vt:lpstr>
      <vt:lpstr>Map Reduce Core Functionality III</vt:lpstr>
      <vt:lpstr>Distributed Grep</vt:lpstr>
      <vt:lpstr>Distributed Word Count</vt:lpstr>
      <vt:lpstr>Map + Reduce</vt:lpstr>
      <vt:lpstr>Example: Counting Word</vt:lpstr>
      <vt:lpstr>Output per Step</vt:lpstr>
      <vt:lpstr>Combiner</vt:lpstr>
      <vt:lpstr>Partitioner and Sort</vt:lpstr>
      <vt:lpstr>Main Run Method: Pseudocode</vt:lpstr>
      <vt:lpstr>Main Run Method: The Engine</vt:lpstr>
      <vt:lpstr>Job Details</vt:lpstr>
      <vt:lpstr>Job Details II</vt:lpstr>
      <vt:lpstr>Map class for WordCount https://colab.research.google.com/drive/17ExNzsO_R_YSy5V-bZDhvNdQqieZJPv6</vt:lpstr>
      <vt:lpstr>Mapper</vt:lpstr>
      <vt:lpstr>HDFS Command</vt:lpstr>
      <vt:lpstr>How Many Maps?</vt:lpstr>
      <vt:lpstr>Combine Class</vt:lpstr>
      <vt:lpstr>Reduce Class for WordCount</vt:lpstr>
      <vt:lpstr>Reducer</vt:lpstr>
      <vt:lpstr>Observations</vt:lpstr>
      <vt:lpstr>Conclusions</vt:lpstr>
      <vt:lpstr>Limitations</vt:lpstr>
      <vt:lpstr>HDFS Command</vt:lpstr>
      <vt:lpstr>Hadoop 1 vs. Hadoop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Dong</dc:creator>
  <cp:lastModifiedBy>Yu Zhang</cp:lastModifiedBy>
  <cp:revision>6</cp:revision>
  <dcterms:created xsi:type="dcterms:W3CDTF">2025-11-14T22:20:52Z</dcterms:created>
  <dcterms:modified xsi:type="dcterms:W3CDTF">2026-04-29T01:21:33Z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2021-01-08T00:00:00Z</vt:filetime>
  </property>
  <property fmtid="{D5CDD505-2E9C-101B-9397-08002B2CF9AE}" pid="3" name="Creator">
    <vt:lpwstr>Microsoft® PowerPoint® 2013</vt:lpwstr>
  </property>
  <property fmtid="{D5CDD505-2E9C-101B-9397-08002B2CF9AE}" pid="4" name="LastSaved">
    <vt:filetime>2025-11-14T00:00:00Z</vt:filetime>
  </property>
  <property fmtid="{D5CDD505-2E9C-101B-9397-08002B2CF9AE}" pid="5" name="Producer">
    <vt:lpwstr>Microsoft® PowerPoint® 2013</vt:lpwstr>
  </property>
</Properties>
</file>