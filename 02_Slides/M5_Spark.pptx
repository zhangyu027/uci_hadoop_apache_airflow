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92" roundtripDataSignature="AMtx7mjL/5draVf9am2s25hcn7+g0xcg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D63A28-3AF3-44B8-B921-5E860B85DD7A}">
  <a:tblStyle styleId="{42D63A28-3AF3-44B8-B921-5E860B85DD7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slide" Target="slides/slide80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88" Type="http://schemas.openxmlformats.org/officeDocument/2006/relationships/slide" Target="slides/slide82.xml"/><Relationship Id="rId43" Type="http://schemas.openxmlformats.org/officeDocument/2006/relationships/slide" Target="slides/slide37.xml"/><Relationship Id="rId87" Type="http://schemas.openxmlformats.org/officeDocument/2006/relationships/slide" Target="slides/slide8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2" Type="http://customschemas.google.com/relationships/presentationmetadata" Target="metadata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1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1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1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1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1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1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2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2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2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p2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2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2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2" name="Google Shape;462;p2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3" name="Google Shape;473;p2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p2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p2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p3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p3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2" name="Google Shape;532;p3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p3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8" name="Google Shape;548;p3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p3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5" name="Google Shape;565;p3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3" name="Google Shape;573;p3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p3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3" name="Google Shape;593;p3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2" name="Google Shape;602;p4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p4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p4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0" name="Google Shape;630;p4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1" name="Google Shape;651;p4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p4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9" name="Google Shape;669;p4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7" name="Google Shape;677;p4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5" name="Google Shape;685;p4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p4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1" name="Google Shape;711;p5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5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👉 “A scalable, serverless-first pipeline for ingestion, processing, and analytics on GCP.”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4" name="Google Shape;724;p51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5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4" name="Google Shape;744;p5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7" name="Google Shape;757;p5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5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0" name="Google Shape;770;p5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5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3" name="Google Shape;783;p5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5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7" name="Google Shape;797;p5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p5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“Cloud Storage is the foundation of the data lake in GCP.”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2" name="Google Shape;812;p57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3" name="Google Shape;823;p5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“Cloud Storage is the foundation of the data lake in GCP.”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4" name="Google Shape;824;p58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p5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“Cloud Storage is the foundation of the data lake in GCP.”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8" name="Google Shape;838;p59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6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0" name="Google Shape;850;p6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“BigQuery eliminates cluster management unlike Redshift.”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1" name="Google Shape;851;p60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6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p6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“BigQuery eliminates cluster management unlike Redshift.”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3" name="Google Shape;863;p61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6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6" name="Google Shape;876;p6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“BigQuery eliminates cluster management unlike Redshift.”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7" name="Google Shape;877;p62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6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9" name="Google Shape;889;p6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“Dataflow replaces Glue + Lambda for unified processing.”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0" name="Google Shape;890;p63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6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p6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“Dataflow replaces Glue + Lambda for unified processing.”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2" name="Google Shape;902;p64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6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5" name="Google Shape;915;p6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“Dataflow replaces Glue + Lambda for unified processing.”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6" name="Google Shape;916;p65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6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8" name="Google Shape;928;p6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“Dataproc = EMR but faster startup and tighter GCP integration.”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9" name="Google Shape;929;p66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0" name="Google Shape;940;p6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“Dataproc = EMR but faster startup and tighter GCP integration.”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1" name="Google Shape;941;p67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6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5" name="Google Shape;955;p6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“Dataproc = EMR but faster startup and tighter GCP integration.”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6" name="Google Shape;956;p68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6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9" name="Google Shape;969;p6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“Pub/Sub enables real-time data pipelines.”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0" name="Google Shape;970;p69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7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1" name="Google Shape;1001;p7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“Pub/Sub enables real-time data pipelines.”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2" name="Google Shape;1002;p70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7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6" name="Google Shape;1016;p7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“Pub/Sub enables real-time data pipelines.”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7" name="Google Shape;1017;p71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7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0" name="Google Shape;1030;p7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7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2" name="Google Shape;1042;p7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7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5" name="Google Shape;1055;p7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“GCP is more serverless-native, especially with BigQuery and Dataflow.”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6" name="Google Shape;1056;p74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7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3" name="Google Shape;1063;p7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7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4" name="Google Shape;1074;p7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7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0" name="Google Shape;1080;p7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7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6" name="Google Shape;1086;p7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7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2" name="Google Shape;1092;p7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8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8" name="Google Shape;1098;p8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8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4" name="Google Shape;1104;p8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8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0" name="Google Shape;1110;p8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8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6" name="Google Shape;1116;p8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8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2" name="Google Shape;1122;p8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8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8" name="Google Shape;1128;p8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8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8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8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9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9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9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9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9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9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9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9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s3.amazonaws.com/sparkusingpython/bike-share/stations/stations.csv" TargetMode="External"/><Relationship Id="rId4" Type="http://schemas.openxmlformats.org/officeDocument/2006/relationships/hyperlink" Target="https://s3.amazonaws.com/sparkusingpython/bike-share/status/status.csv" TargetMode="External"/><Relationship Id="rId5" Type="http://schemas.openxmlformats.org/officeDocument/2006/relationships/hyperlink" Target="https://s3.amazonaws.com/sparkusingpython/bike-share/trips/trips.csv" TargetMode="External"/><Relationship Id="rId6" Type="http://schemas.openxmlformats.org/officeDocument/2006/relationships/hyperlink" Target="https://s3.amazonaws.com/sparkusingpython/bike-share/weather/weather.csv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jpg"/><Relationship Id="rId4" Type="http://schemas.openxmlformats.org/officeDocument/2006/relationships/image" Target="../media/image13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jpg"/><Relationship Id="rId4" Type="http://schemas.openxmlformats.org/officeDocument/2006/relationships/image" Target="../media/image21.jpg"/><Relationship Id="rId5" Type="http://schemas.openxmlformats.org/officeDocument/2006/relationships/image" Target="../media/image36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2.jpg"/><Relationship Id="rId4" Type="http://schemas.openxmlformats.org/officeDocument/2006/relationships/image" Target="../media/image28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5.jpg"/><Relationship Id="rId4" Type="http://schemas.openxmlformats.org/officeDocument/2006/relationships/image" Target="../media/image24.jpg"/><Relationship Id="rId5" Type="http://schemas.openxmlformats.org/officeDocument/2006/relationships/image" Target="../media/image37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4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2.jpg"/><Relationship Id="rId4" Type="http://schemas.openxmlformats.org/officeDocument/2006/relationships/image" Target="../media/image2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6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9.png"/><Relationship Id="rId4" Type="http://schemas.openxmlformats.org/officeDocument/2006/relationships/image" Target="../media/image59.png"/><Relationship Id="rId5" Type="http://schemas.openxmlformats.org/officeDocument/2006/relationships/image" Target="../media/image4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5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3.png"/><Relationship Id="rId4" Type="http://schemas.openxmlformats.org/officeDocument/2006/relationships/image" Target="../media/image27.png"/><Relationship Id="rId5" Type="http://schemas.openxmlformats.org/officeDocument/2006/relationships/image" Target="../media/image42.png"/><Relationship Id="rId6" Type="http://schemas.openxmlformats.org/officeDocument/2006/relationships/image" Target="../media/image3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2.png"/><Relationship Id="rId4" Type="http://schemas.openxmlformats.org/officeDocument/2006/relationships/image" Target="../media/image38.png"/><Relationship Id="rId5" Type="http://schemas.openxmlformats.org/officeDocument/2006/relationships/image" Target="../media/image55.png"/><Relationship Id="rId6" Type="http://schemas.openxmlformats.org/officeDocument/2006/relationships/image" Target="../media/image4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6.png"/><Relationship Id="rId4" Type="http://schemas.openxmlformats.org/officeDocument/2006/relationships/image" Target="../media/image50.png"/><Relationship Id="rId5" Type="http://schemas.openxmlformats.org/officeDocument/2006/relationships/image" Target="../media/image4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9.png"/><Relationship Id="rId4" Type="http://schemas.openxmlformats.org/officeDocument/2006/relationships/image" Target="../media/image4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7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1.png"/><Relationship Id="rId4" Type="http://schemas.openxmlformats.org/officeDocument/2006/relationships/image" Target="../media/image48.png"/><Relationship Id="rId5" Type="http://schemas.openxmlformats.org/officeDocument/2006/relationships/image" Target="../media/image4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3.png"/><Relationship Id="rId4" Type="http://schemas.openxmlformats.org/officeDocument/2006/relationships/image" Target="../media/image5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2.png"/><Relationship Id="rId4" Type="http://schemas.openxmlformats.org/officeDocument/2006/relationships/image" Target="../media/image53.png"/><Relationship Id="rId5" Type="http://schemas.openxmlformats.org/officeDocument/2006/relationships/image" Target="../media/image5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1.png"/><Relationship Id="rId4" Type="http://schemas.openxmlformats.org/officeDocument/2006/relationships/image" Target="../media/image5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4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70.png"/><Relationship Id="rId4" Type="http://schemas.openxmlformats.org/officeDocument/2006/relationships/image" Target="../media/image60.png"/><Relationship Id="rId5" Type="http://schemas.openxmlformats.org/officeDocument/2006/relationships/image" Target="../media/image64.png"/><Relationship Id="rId6" Type="http://schemas.openxmlformats.org/officeDocument/2006/relationships/image" Target="../media/image79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3.png"/><Relationship Id="rId4" Type="http://schemas.openxmlformats.org/officeDocument/2006/relationships/image" Target="../media/image67.png"/><Relationship Id="rId5" Type="http://schemas.openxmlformats.org/officeDocument/2006/relationships/image" Target="../media/image7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8.png"/><Relationship Id="rId4" Type="http://schemas.openxmlformats.org/officeDocument/2006/relationships/image" Target="../media/image66.png"/><Relationship Id="rId5" Type="http://schemas.openxmlformats.org/officeDocument/2006/relationships/image" Target="../media/image76.png"/><Relationship Id="rId6" Type="http://schemas.openxmlformats.org/officeDocument/2006/relationships/image" Target="../media/image7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8.png"/><Relationship Id="rId4" Type="http://schemas.openxmlformats.org/officeDocument/2006/relationships/image" Target="../media/image73.png"/><Relationship Id="rId5" Type="http://schemas.openxmlformats.org/officeDocument/2006/relationships/image" Target="../media/image72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5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5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69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391886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89" name="Google Shape;89;p1"/>
          <p:cNvSpPr txBox="1"/>
          <p:nvPr>
            <p:ph type="title"/>
          </p:nvPr>
        </p:nvSpPr>
        <p:spPr>
          <a:xfrm>
            <a:off x="1113810" y="2960716"/>
            <a:ext cx="403633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b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Introduction</a:t>
            </a:r>
            <a:endParaRPr/>
          </a:p>
        </p:txBody>
      </p:sp>
      <p:sp>
        <p:nvSpPr>
          <p:cNvPr descr="$PPTXTitle" id="90" name="Google Shape;90;p1"/>
          <p:cNvSpPr txBox="1"/>
          <p:nvPr/>
        </p:nvSpPr>
        <p:spPr>
          <a:xfrm>
            <a:off x="965891" y="1100491"/>
            <a:ext cx="4956600" cy="17098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 Data Analytics (Spring 2026)</a:t>
            </a:r>
            <a:endParaRPr b="1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1"/>
          <p:cNvGrpSpPr/>
          <p:nvPr/>
        </p:nvGrpSpPr>
        <p:grpSpPr>
          <a:xfrm>
            <a:off x="0" y="2984992"/>
            <a:ext cx="731521" cy="673460"/>
            <a:chOff x="3940602" y="308034"/>
            <a:chExt cx="2116791" cy="3428999"/>
          </a:xfrm>
        </p:grpSpPr>
        <p:sp>
          <p:nvSpPr>
            <p:cNvPr id="92" name="Google Shape;92;p1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1"/>
          <p:cNvSpPr/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2492" y="1842623"/>
            <a:ext cx="5536001" cy="311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03" name="Google Shape;103;p2"/>
          <p:cNvSpPr txBox="1"/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13325">
            <a:norm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Outline</a:t>
            </a:r>
            <a:endParaRPr/>
          </a:p>
        </p:txBody>
      </p:sp>
      <p:grpSp>
        <p:nvGrpSpPr>
          <p:cNvPr id="104" name="Google Shape;104;p2"/>
          <p:cNvGrpSpPr/>
          <p:nvPr/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05" name="Google Shape;105;p2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" name="Google Shape;108;p2"/>
          <p:cNvGrpSpPr/>
          <p:nvPr/>
        </p:nvGrpSpPr>
        <p:grpSpPr>
          <a:xfrm>
            <a:off x="831293" y="3186870"/>
            <a:ext cx="10027413" cy="2261822"/>
            <a:chOff x="6029" y="588160"/>
            <a:chExt cx="10027413" cy="2261822"/>
          </a:xfrm>
        </p:grpSpPr>
        <p:sp>
          <p:nvSpPr>
            <p:cNvPr id="109" name="Google Shape;109;p2"/>
            <p:cNvSpPr/>
            <p:nvPr/>
          </p:nvSpPr>
          <p:spPr>
            <a:xfrm>
              <a:off x="6029" y="588160"/>
              <a:ext cx="1884852" cy="2261822"/>
            </a:xfrm>
            <a:prstGeom prst="rect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6029" y="1492889"/>
              <a:ext cx="1884852" cy="1357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186175" spcFirstLastPara="1" rIns="1861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Introducing Spark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6029" y="588160"/>
              <a:ext cx="1884852" cy="904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6029" y="588160"/>
              <a:ext cx="1884852" cy="904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186175" spcFirstLastPara="1" rIns="186175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100"/>
                <a:buFont typeface="Calibri"/>
                <a:buNone/>
              </a:pPr>
              <a:r>
                <a:rPr b="0" i="0" lang="en-US" sz="4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2041669" y="588160"/>
              <a:ext cx="1884852" cy="2261822"/>
            </a:xfrm>
            <a:prstGeom prst="rect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2041669" y="1492889"/>
              <a:ext cx="1884852" cy="1357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186175" spcFirstLastPara="1" rIns="1861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Understanding Spark Architecture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2041669" y="588160"/>
              <a:ext cx="1884852" cy="904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2041669" y="588160"/>
              <a:ext cx="1884852" cy="904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186175" spcFirstLastPara="1" rIns="186175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100"/>
                <a:buFont typeface="Calibri"/>
                <a:buNone/>
              </a:pPr>
              <a:r>
                <a:rPr b="0" i="0" lang="en-US" sz="4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4077309" y="588160"/>
              <a:ext cx="1884852" cy="2261822"/>
            </a:xfrm>
            <a:prstGeom prst="rect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4077309" y="1492889"/>
              <a:ext cx="1884852" cy="1357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186175" spcFirstLastPara="1" rIns="1861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Learning Spark Programming Basics: RDD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4077309" y="588160"/>
              <a:ext cx="1884852" cy="904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4077309" y="588160"/>
              <a:ext cx="1884852" cy="904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186175" spcFirstLastPara="1" rIns="186175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100"/>
                <a:buFont typeface="Calibri"/>
                <a:buNone/>
              </a:pPr>
              <a:r>
                <a:rPr b="0" i="0" lang="en-US" sz="4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6112950" y="588160"/>
              <a:ext cx="1884852" cy="2261822"/>
            </a:xfrm>
            <a:prstGeom prst="rect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6112950" y="1492889"/>
              <a:ext cx="1884852" cy="1357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186175" spcFirstLastPara="1" rIns="1861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Getting Familiar with DataFrames API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6112950" y="588160"/>
              <a:ext cx="1884852" cy="904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6112950" y="588160"/>
              <a:ext cx="1884852" cy="904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186175" spcFirstLastPara="1" rIns="186175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100"/>
                <a:buFont typeface="Calibri"/>
                <a:buNone/>
              </a:pPr>
              <a:r>
                <a:rPr b="0" i="0" lang="en-US" sz="4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8148590" y="588160"/>
              <a:ext cx="1884852" cy="2261822"/>
            </a:xfrm>
            <a:prstGeom prst="rect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8148590" y="1492889"/>
              <a:ext cx="1884852" cy="1357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186175" spcFirstLastPara="1" rIns="1861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Programming SQL with Spark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8148590" y="588160"/>
              <a:ext cx="1884852" cy="904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8148590" y="588160"/>
              <a:ext cx="1884852" cy="904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186175" spcFirstLastPara="1" rIns="186175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100"/>
                <a:buFont typeface="Calibri"/>
                <a:buNone/>
              </a:pPr>
              <a:r>
                <a:rPr b="0" i="0" lang="en-US" sz="4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34" name="Google Shape;134;p3"/>
          <p:cNvSpPr txBox="1"/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27254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Spark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Apache open source project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originally developed at AMPLab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(University of California Berkeley)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1" marL="457200" marR="0" rtl="0" algn="l">
              <a:lnSpc>
                <a:spcPct val="9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Unified, general data processing 	engine that operates across 	varied data workloads and 	platforms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9152" y="2484255"/>
            <a:ext cx="4495037" cy="371424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45" name="Google Shape;145;p4"/>
          <p:cNvSpPr txBox="1"/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232283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vs. Hadoop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Spark: Computing framework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Hadoop: Distributed File System (HDFS) + Computing framework (MR)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1532" y="2860673"/>
            <a:ext cx="5150277" cy="296140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4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55" name="Google Shape;15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21615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Apache Spark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949947" y="1651584"/>
            <a:ext cx="10286365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28600" lvl="0" marL="241300" marR="0" rtl="0" algn="l">
              <a:lnSpc>
                <a:spcPct val="11961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Fast, expressive cluster computing system compatible with Apache Hadoop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965" lvl="1" marL="697865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Works with any Hadoop-supported storage system (HDFS, S3, Avro, …)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3208072" y="4374394"/>
            <a:ext cx="5592300" cy="26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28600" lvl="0" marL="241300" marR="0" rtl="0" algn="l">
              <a:lnSpc>
                <a:spcPct val="11961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In-memory computation model – Fast!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965" lvl="1" marL="697865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Effective for iterative computations and ML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300" marR="0" rtl="0" algn="l">
              <a:lnSpc>
                <a:spcPct val="119615"/>
              </a:lnSpc>
              <a:spcBef>
                <a:spcPts val="365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Elegant Developer APIs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965" lvl="1" marL="697865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Scala, Python, Java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1407147" y="3928694"/>
            <a:ext cx="9499600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27965" lvl="0" marL="2406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environment for data munging, data wrangling, and Machine Learning (ML)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7265636" y="3053342"/>
            <a:ext cx="978534" cy="228600"/>
          </a:xfrm>
          <a:custGeom>
            <a:rect b="b" l="l" r="r" t="t"/>
            <a:pathLst>
              <a:path extrusionOk="0" h="228600" w="978534">
                <a:moveTo>
                  <a:pt x="749655" y="228600"/>
                </a:moveTo>
                <a:lnTo>
                  <a:pt x="749551" y="153454"/>
                </a:lnTo>
                <a:lnTo>
                  <a:pt x="749445" y="77254"/>
                </a:lnTo>
                <a:lnTo>
                  <a:pt x="749338" y="0"/>
                </a:lnTo>
                <a:lnTo>
                  <a:pt x="902120" y="76123"/>
                </a:lnTo>
                <a:lnTo>
                  <a:pt x="806589" y="76123"/>
                </a:lnTo>
                <a:lnTo>
                  <a:pt x="806704" y="152323"/>
                </a:lnTo>
                <a:lnTo>
                  <a:pt x="901683" y="152323"/>
                </a:lnTo>
                <a:lnTo>
                  <a:pt x="749655" y="228600"/>
                </a:lnTo>
                <a:close/>
              </a:path>
              <a:path extrusionOk="0" h="228600" w="978534">
                <a:moveTo>
                  <a:pt x="101" y="153454"/>
                </a:moveTo>
                <a:lnTo>
                  <a:pt x="0" y="77254"/>
                </a:lnTo>
                <a:lnTo>
                  <a:pt x="806589" y="76123"/>
                </a:lnTo>
                <a:lnTo>
                  <a:pt x="749443" y="76123"/>
                </a:lnTo>
                <a:lnTo>
                  <a:pt x="749549" y="152323"/>
                </a:lnTo>
                <a:lnTo>
                  <a:pt x="806703" y="152323"/>
                </a:lnTo>
                <a:lnTo>
                  <a:pt x="101" y="153454"/>
                </a:lnTo>
                <a:close/>
              </a:path>
              <a:path extrusionOk="0" h="228600" w="978534">
                <a:moveTo>
                  <a:pt x="901683" y="152323"/>
                </a:moveTo>
                <a:lnTo>
                  <a:pt x="806704" y="152323"/>
                </a:lnTo>
                <a:lnTo>
                  <a:pt x="806589" y="76123"/>
                </a:lnTo>
                <a:lnTo>
                  <a:pt x="902120" y="76123"/>
                </a:lnTo>
                <a:lnTo>
                  <a:pt x="978103" y="113982"/>
                </a:lnTo>
                <a:lnTo>
                  <a:pt x="901683" y="152323"/>
                </a:lnTo>
                <a:close/>
              </a:path>
            </a:pathLst>
          </a:custGeom>
          <a:solidFill>
            <a:srgbClr val="1171B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8435329" y="2888958"/>
            <a:ext cx="2367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71BD"/>
                </a:solidFill>
                <a:latin typeface="Arial"/>
                <a:ea typeface="Arial"/>
                <a:cs typeface="Arial"/>
                <a:sym typeface="Arial"/>
              </a:rPr>
              <a:t>Up to 100× faster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7187336" y="3425304"/>
            <a:ext cx="978535" cy="228600"/>
          </a:xfrm>
          <a:custGeom>
            <a:rect b="b" l="l" r="r" t="t"/>
            <a:pathLst>
              <a:path extrusionOk="0" h="228600" w="978534">
                <a:moveTo>
                  <a:pt x="749655" y="228600"/>
                </a:moveTo>
                <a:lnTo>
                  <a:pt x="749551" y="153454"/>
                </a:lnTo>
                <a:lnTo>
                  <a:pt x="749445" y="77254"/>
                </a:lnTo>
                <a:lnTo>
                  <a:pt x="749338" y="0"/>
                </a:lnTo>
                <a:lnTo>
                  <a:pt x="902103" y="76111"/>
                </a:lnTo>
                <a:lnTo>
                  <a:pt x="806589" y="76111"/>
                </a:lnTo>
                <a:lnTo>
                  <a:pt x="806691" y="152311"/>
                </a:lnTo>
                <a:lnTo>
                  <a:pt x="901684" y="152311"/>
                </a:lnTo>
                <a:lnTo>
                  <a:pt x="749655" y="228600"/>
                </a:lnTo>
                <a:close/>
              </a:path>
              <a:path extrusionOk="0" h="228600" w="978534">
                <a:moveTo>
                  <a:pt x="101" y="153454"/>
                </a:moveTo>
                <a:lnTo>
                  <a:pt x="0" y="77254"/>
                </a:lnTo>
                <a:lnTo>
                  <a:pt x="806589" y="76111"/>
                </a:lnTo>
                <a:lnTo>
                  <a:pt x="749443" y="76111"/>
                </a:lnTo>
                <a:lnTo>
                  <a:pt x="749549" y="152311"/>
                </a:lnTo>
                <a:lnTo>
                  <a:pt x="806691" y="152311"/>
                </a:lnTo>
                <a:lnTo>
                  <a:pt x="101" y="153454"/>
                </a:lnTo>
                <a:close/>
              </a:path>
              <a:path extrusionOk="0" h="228600" w="978534">
                <a:moveTo>
                  <a:pt x="901684" y="152311"/>
                </a:moveTo>
                <a:lnTo>
                  <a:pt x="806691" y="152311"/>
                </a:lnTo>
                <a:lnTo>
                  <a:pt x="806589" y="76111"/>
                </a:lnTo>
                <a:lnTo>
                  <a:pt x="902103" y="76111"/>
                </a:lnTo>
                <a:lnTo>
                  <a:pt x="978090" y="113969"/>
                </a:lnTo>
                <a:lnTo>
                  <a:pt x="901684" y="152311"/>
                </a:lnTo>
                <a:close/>
              </a:path>
            </a:pathLst>
          </a:custGeom>
          <a:solidFill>
            <a:srgbClr val="1171B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8244166" y="3335858"/>
            <a:ext cx="301117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71BD"/>
                </a:solidFill>
                <a:latin typeface="Arial"/>
                <a:ea typeface="Arial"/>
                <a:cs typeface="Arial"/>
                <a:sym typeface="Arial"/>
              </a:rPr>
              <a:t>Often 2-10× less code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6"/>
          <p:cNvPicPr preferRelativeResize="0"/>
          <p:nvPr/>
        </p:nvPicPr>
        <p:blipFill rotWithShape="1">
          <a:blip r:embed="rId3">
            <a:alphaModFix/>
          </a:blip>
          <a:srcRect b="11872" l="0" r="0" t="3859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7E6E6">
                  <a:alpha val="67843"/>
                </a:srgbClr>
              </a:gs>
              <a:gs pos="10000">
                <a:srgbClr val="E7E6E6">
                  <a:alpha val="67843"/>
                </a:srgbClr>
              </a:gs>
              <a:gs pos="85000">
                <a:srgbClr val="E7E6E6">
                  <a:alpha val="96862"/>
                </a:srgbClr>
              </a:gs>
              <a:gs pos="100000">
                <a:srgbClr val="E7E6E6">
                  <a:alpha val="96862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69" name="Google Shape;16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65620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Uses for Spark</a:t>
            </a:r>
            <a:endParaRPr/>
          </a:p>
        </p:txBody>
      </p:sp>
      <p:grpSp>
        <p:nvGrpSpPr>
          <p:cNvPr id="170" name="Google Shape;170;p6"/>
          <p:cNvGrpSpPr/>
          <p:nvPr/>
        </p:nvGrpSpPr>
        <p:grpSpPr>
          <a:xfrm>
            <a:off x="4300728" y="1219396"/>
            <a:ext cx="3895344" cy="4957369"/>
            <a:chOff x="3462528" y="196"/>
            <a:chExt cx="3895344" cy="4957369"/>
          </a:xfrm>
        </p:grpSpPr>
        <p:sp>
          <p:nvSpPr>
            <p:cNvPr id="171" name="Google Shape;171;p6"/>
            <p:cNvSpPr/>
            <p:nvPr/>
          </p:nvSpPr>
          <p:spPr>
            <a:xfrm>
              <a:off x="3462528" y="196"/>
              <a:ext cx="3895344" cy="59369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6"/>
            <p:cNvSpPr txBox="1"/>
            <p:nvPr/>
          </p:nvSpPr>
          <p:spPr>
            <a:xfrm>
              <a:off x="3491510" y="29178"/>
              <a:ext cx="3837380" cy="535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76200" spcFirstLastPara="1" rIns="762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Extract – Transform – Load (ETL) operations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3462528" y="623578"/>
              <a:ext cx="3895344" cy="59369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6BBDD5"/>
                </a:gs>
                <a:gs pos="50000">
                  <a:srgbClr val="4DB9D6"/>
                </a:gs>
                <a:gs pos="100000">
                  <a:srgbClr val="3DA7C3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6"/>
            <p:cNvSpPr txBox="1"/>
            <p:nvPr/>
          </p:nvSpPr>
          <p:spPr>
            <a:xfrm>
              <a:off x="3491510" y="652560"/>
              <a:ext cx="3837380" cy="535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76200" spcFirstLastPara="1" rIns="762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 access operations, such as SQL queries and visualizations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3462528" y="1246960"/>
              <a:ext cx="3895344" cy="59369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68D0C9"/>
                </a:gs>
                <a:gs pos="50000">
                  <a:srgbClr val="49D1C7"/>
                </a:gs>
                <a:gs pos="100000">
                  <a:srgbClr val="3ABFB6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6"/>
            <p:cNvSpPr txBox="1"/>
            <p:nvPr/>
          </p:nvSpPr>
          <p:spPr>
            <a:xfrm>
              <a:off x="3491510" y="1275942"/>
              <a:ext cx="3837380" cy="535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76200" spcFirstLastPara="1" rIns="762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Predictive analytics and machine learning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3462528" y="1870342"/>
              <a:ext cx="3895344" cy="59369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65CCA8"/>
                </a:gs>
                <a:gs pos="50000">
                  <a:srgbClr val="45CCA0"/>
                </a:gs>
                <a:gs pos="100000">
                  <a:srgbClr val="36BA8E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6"/>
            <p:cNvSpPr txBox="1"/>
            <p:nvPr/>
          </p:nvSpPr>
          <p:spPr>
            <a:xfrm>
              <a:off x="3491510" y="1899324"/>
              <a:ext cx="3837380" cy="535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76200" spcFirstLastPara="1" rIns="762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Text mining and text processing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3462528" y="2493723"/>
              <a:ext cx="3895344" cy="59369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63C788"/>
                </a:gs>
                <a:gs pos="50000">
                  <a:srgbClr val="43C678"/>
                </a:gs>
                <a:gs pos="100000">
                  <a:srgbClr val="35B66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6"/>
            <p:cNvSpPr txBox="1"/>
            <p:nvPr/>
          </p:nvSpPr>
          <p:spPr>
            <a:xfrm>
              <a:off x="3491510" y="2522705"/>
              <a:ext cx="3837380" cy="535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76200" spcFirstLastPara="1" rIns="762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Real-time event processing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3462528" y="3117105"/>
              <a:ext cx="3895344" cy="59369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60C36C"/>
                </a:gs>
                <a:gs pos="50000">
                  <a:srgbClr val="3FC152"/>
                </a:gs>
                <a:gs pos="100000">
                  <a:srgbClr val="32B043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6"/>
            <p:cNvSpPr txBox="1"/>
            <p:nvPr/>
          </p:nvSpPr>
          <p:spPr>
            <a:xfrm>
              <a:off x="3491510" y="3146087"/>
              <a:ext cx="3837380" cy="535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76200" spcFirstLastPara="1" rIns="762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Graph applications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3462528" y="3740487"/>
              <a:ext cx="3895344" cy="59369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69BD5E"/>
                </a:gs>
                <a:gs pos="50000">
                  <a:srgbClr val="51B93E"/>
                </a:gs>
                <a:gs pos="100000">
                  <a:srgbClr val="43A832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6"/>
            <p:cNvSpPr txBox="1"/>
            <p:nvPr/>
          </p:nvSpPr>
          <p:spPr>
            <a:xfrm>
              <a:off x="3491510" y="3769469"/>
              <a:ext cx="3837380" cy="535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76200" spcFirstLastPara="1" rIns="762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Pattern recognition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3462528" y="4363869"/>
              <a:ext cx="3895344" cy="59369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7EB55F"/>
                </a:gs>
                <a:gs pos="50000">
                  <a:srgbClr val="6EB03F"/>
                </a:gs>
                <a:gs pos="100000">
                  <a:srgbClr val="5F9F34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6"/>
            <p:cNvSpPr txBox="1"/>
            <p:nvPr/>
          </p:nvSpPr>
          <p:spPr>
            <a:xfrm>
              <a:off x="3491510" y="4392851"/>
              <a:ext cx="3837380" cy="535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76200" spcFirstLastPara="1" rIns="762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Recommendation engines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7"/>
          <p:cNvPicPr preferRelativeResize="0"/>
          <p:nvPr/>
        </p:nvPicPr>
        <p:blipFill rotWithShape="1">
          <a:blip r:embed="rId3">
            <a:alphaModFix/>
          </a:blip>
          <a:srcRect b="3800" l="0" r="0" t="11931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7E6E6">
                  <a:alpha val="67843"/>
                </a:srgbClr>
              </a:gs>
              <a:gs pos="10000">
                <a:srgbClr val="E7E6E6">
                  <a:alpha val="67843"/>
                </a:srgbClr>
              </a:gs>
              <a:gs pos="85000">
                <a:srgbClr val="E7E6E6">
                  <a:alpha val="96862"/>
                </a:srgbClr>
              </a:gs>
              <a:gs pos="100000">
                <a:srgbClr val="E7E6E6">
                  <a:alpha val="96862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93" name="Google Shape;19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22123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Philosophy</a:t>
            </a:r>
            <a:endParaRPr/>
          </a:p>
        </p:txBody>
      </p:sp>
      <p:grpSp>
        <p:nvGrpSpPr>
          <p:cNvPr id="194" name="Google Shape;194;p7"/>
          <p:cNvGrpSpPr/>
          <p:nvPr/>
        </p:nvGrpSpPr>
        <p:grpSpPr>
          <a:xfrm>
            <a:off x="838200" y="1222301"/>
            <a:ext cx="10515600" cy="4951560"/>
            <a:chOff x="0" y="3101"/>
            <a:chExt cx="10515600" cy="4951560"/>
          </a:xfrm>
        </p:grpSpPr>
        <p:sp>
          <p:nvSpPr>
            <p:cNvPr id="195" name="Google Shape;195;p7"/>
            <p:cNvSpPr/>
            <p:nvPr/>
          </p:nvSpPr>
          <p:spPr>
            <a:xfrm>
              <a:off x="0" y="69413"/>
              <a:ext cx="10515600" cy="110385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rgbClr val="599BD5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7"/>
            <p:cNvSpPr txBox="1"/>
            <p:nvPr/>
          </p:nvSpPr>
          <p:spPr>
            <a:xfrm>
              <a:off x="0" y="69413"/>
              <a:ext cx="10515600" cy="11038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225" lIns="816125" spcFirstLastPara="1" rIns="816125" wrap="square" tIns="153450">
              <a:noAutofit/>
            </a:bodyPr>
            <a:lstStyle/>
            <a:p>
              <a:pPr indent="-228600" lvl="1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Commodity Servers: hundreds of GB memory, multiple cores, multithreading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8600" lvl="1" marL="22860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Directed acyclic graph (DAG)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8600" lvl="1" marL="22860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 memory intermediate results, limited disk I/O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525780" y="3101"/>
              <a:ext cx="7360920" cy="132623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7"/>
            <p:cNvSpPr txBox="1"/>
            <p:nvPr/>
          </p:nvSpPr>
          <p:spPr>
            <a:xfrm>
              <a:off x="532254" y="9575"/>
              <a:ext cx="7347972" cy="119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8225" spcFirstLastPara="1" rIns="278225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Speed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0" y="1263836"/>
              <a:ext cx="10515600" cy="110385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rgbClr val="50C9B6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7"/>
            <p:cNvSpPr txBox="1"/>
            <p:nvPr/>
          </p:nvSpPr>
          <p:spPr>
            <a:xfrm>
              <a:off x="0" y="1263836"/>
              <a:ext cx="10515600" cy="11038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225" lIns="816125" spcFirstLastPara="1" rIns="816125" wrap="square" tIns="153450">
              <a:noAutofit/>
            </a:bodyPr>
            <a:lstStyle/>
            <a:p>
              <a:pPr indent="-228600" lvl="1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Resilient Distributed Dataset (RDD)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8600" lvl="1" marL="22860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DataFrames, Datesets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8600" lvl="1" marL="22860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Transformations and actions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525780" y="1197524"/>
              <a:ext cx="7360920" cy="132623"/>
            </a:xfrm>
            <a:prstGeom prst="roundRect">
              <a:avLst>
                <a:gd fmla="val 16667" name="adj"/>
              </a:avLst>
            </a:prstGeom>
            <a:solidFill>
              <a:srgbClr val="50C9B6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7"/>
            <p:cNvSpPr txBox="1"/>
            <p:nvPr/>
          </p:nvSpPr>
          <p:spPr>
            <a:xfrm>
              <a:off x="532254" y="1203998"/>
              <a:ext cx="7347972" cy="119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8225" spcFirstLastPara="1" rIns="278225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Ease of Use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0" y="2458260"/>
              <a:ext cx="10515600" cy="792508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rgbClr val="48BD62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7"/>
            <p:cNvSpPr txBox="1"/>
            <p:nvPr/>
          </p:nvSpPr>
          <p:spPr>
            <a:xfrm>
              <a:off x="0" y="2458260"/>
              <a:ext cx="10515600" cy="792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225" lIns="816125" spcFirstLastPara="1" rIns="816125" wrap="square" tIns="153450">
              <a:noAutofit/>
            </a:bodyPr>
            <a:lstStyle/>
            <a:p>
              <a:pPr indent="-228600" lvl="1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Scala, Java, Python, SQL, 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8600" lvl="1" marL="22860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Spark SQL, Spark Structured Streaming, Spark MLlib, GraphX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525780" y="2391948"/>
              <a:ext cx="7360920" cy="132623"/>
            </a:xfrm>
            <a:prstGeom prst="roundRect">
              <a:avLst>
                <a:gd fmla="val 16667" name="adj"/>
              </a:avLst>
            </a:prstGeom>
            <a:solidFill>
              <a:srgbClr val="48BD62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7"/>
            <p:cNvSpPr txBox="1"/>
            <p:nvPr/>
          </p:nvSpPr>
          <p:spPr>
            <a:xfrm>
              <a:off x="532254" y="2398422"/>
              <a:ext cx="7347972" cy="119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8225" spcFirstLastPara="1" rIns="278225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Modularity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0" y="3341341"/>
              <a:ext cx="10515600" cy="161332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rgbClr val="6FAB46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7"/>
            <p:cNvSpPr txBox="1"/>
            <p:nvPr/>
          </p:nvSpPr>
          <p:spPr>
            <a:xfrm>
              <a:off x="0" y="3341341"/>
              <a:ext cx="10515600" cy="1613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225" lIns="816125" spcFirstLastPara="1" rIns="816125" wrap="square" tIns="153450">
              <a:noAutofit/>
            </a:bodyPr>
            <a:lstStyle/>
            <a:p>
              <a:pPr indent="-228600" lvl="1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Decouple storage and compute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8600" lvl="1" marL="22860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stored in myriad sources: Hadoop, Cassandra, HBase, MongoDB, Hive, RDBMS, and more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8600" lvl="1" marL="22860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DataFrameReaders and DataFrameWriters: Kafka, Kinesis, Azure Storage, Amazon S3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525780" y="3275029"/>
              <a:ext cx="7360920" cy="132623"/>
            </a:xfrm>
            <a:prstGeom prst="roundRect">
              <a:avLst>
                <a:gd fmla="val 16667" name="adj"/>
              </a:avLst>
            </a:prstGeom>
            <a:solidFill>
              <a:srgbClr val="6FAB46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7"/>
            <p:cNvSpPr txBox="1"/>
            <p:nvPr/>
          </p:nvSpPr>
          <p:spPr>
            <a:xfrm>
              <a:off x="532254" y="3281503"/>
              <a:ext cx="7347972" cy="119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8225" spcFirstLastPara="1" rIns="278225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Extensibility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216" name="Google Shape;216;p8"/>
          <p:cNvSpPr txBox="1"/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37655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Components and Architecture</a:t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Driver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 Manager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Executor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1532" y="2870404"/>
            <a:ext cx="5150277" cy="294194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227" name="Google Shape;227;p9"/>
          <p:cNvSpPr txBox="1"/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Driver</a:t>
            </a:r>
            <a:endParaRPr/>
          </a:p>
        </p:txBody>
      </p:sp>
      <p:grpSp>
        <p:nvGrpSpPr>
          <p:cNvPr id="228" name="Google Shape;228;p9"/>
          <p:cNvGrpSpPr/>
          <p:nvPr/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29" name="Google Shape;229;p9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 rot="10800000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9"/>
          <p:cNvSpPr/>
          <p:nvPr/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793659" y="2203079"/>
            <a:ext cx="10252121" cy="3831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41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Spark Driver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9786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Spark application starts and finishes with Spark Driver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9786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Communicates with cluster manager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9786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Requests resources (CPU, memory, etc.)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9786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Transforms Spark operations into DAG (tasks and stages)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9786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Schedule and distributes tasks across Spark executor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3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SparkSession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9786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Spark Driver is responsible for creating SparkSession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98500" marR="508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single unified entry point (in Spark 1, SparkContext, SQLContext, HiveContext, StreamingContext)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9786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DataFrames and Datasets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9786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from data sources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9786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catalog metadata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0"/>
          <p:cNvPicPr preferRelativeResize="0"/>
          <p:nvPr/>
        </p:nvPicPr>
        <p:blipFill rotWithShape="1">
          <a:blip r:embed="rId3">
            <a:alphaModFix/>
          </a:blip>
          <a:srcRect b="0" l="0" r="0" t="21329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7E6E6">
                  <a:alpha val="67843"/>
                </a:srgbClr>
              </a:gs>
              <a:gs pos="10000">
                <a:srgbClr val="E7E6E6">
                  <a:alpha val="67843"/>
                </a:srgbClr>
              </a:gs>
              <a:gs pos="85000">
                <a:srgbClr val="E7E6E6">
                  <a:alpha val="96862"/>
                </a:srgbClr>
              </a:gs>
              <a:gs pos="100000">
                <a:srgbClr val="E7E6E6">
                  <a:alpha val="96862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239" name="Google Shape;23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5048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Spark Workers and Executors</a:t>
            </a:r>
            <a:endParaRPr/>
          </a:p>
        </p:txBody>
      </p:sp>
      <p:grpSp>
        <p:nvGrpSpPr>
          <p:cNvPr id="240" name="Google Shape;240;p10"/>
          <p:cNvGrpSpPr/>
          <p:nvPr/>
        </p:nvGrpSpPr>
        <p:grpSpPr>
          <a:xfrm>
            <a:off x="838200" y="1825678"/>
            <a:ext cx="10515600" cy="4351231"/>
            <a:chOff x="0" y="53"/>
            <a:chExt cx="10515600" cy="4351231"/>
          </a:xfrm>
        </p:grpSpPr>
        <p:sp>
          <p:nvSpPr>
            <p:cNvPr id="241" name="Google Shape;241;p10"/>
            <p:cNvSpPr/>
            <p:nvPr/>
          </p:nvSpPr>
          <p:spPr>
            <a:xfrm rot="5400000">
              <a:off x="6301587" y="-2303662"/>
              <a:ext cx="1698041" cy="672998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FDEEF">
                <a:alpha val="90196"/>
              </a:srgbClr>
            </a:solidFill>
            <a:ln cap="flat" cmpd="sng" w="12700">
              <a:solidFill>
                <a:srgbClr val="CFDEEF">
                  <a:alpha val="90196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0"/>
            <p:cNvSpPr txBox="1"/>
            <p:nvPr/>
          </p:nvSpPr>
          <p:spPr>
            <a:xfrm>
              <a:off x="3785616" y="295201"/>
              <a:ext cx="6647092" cy="15322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175" lIns="72375" spcFirstLastPara="1" rIns="72375" wrap="square" tIns="361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Runs on each worker node in cluster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Communicate with driver and execute tasks on workers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Many executors work in parallel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0" y="53"/>
              <a:ext cx="3785616" cy="2122552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0"/>
            <p:cNvSpPr txBox="1"/>
            <p:nvPr/>
          </p:nvSpPr>
          <p:spPr>
            <a:xfrm>
              <a:off x="103614" y="103667"/>
              <a:ext cx="3578388" cy="1915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228600" spcFirstLastPara="1" rIns="228600" wrap="square" tIns="114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0"/>
                <a:buFont typeface="Calibri"/>
                <a:buNone/>
              </a:pPr>
              <a:r>
                <a:rPr b="1" i="0" lang="en-US" sz="6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Spark Executor</a:t>
              </a:r>
              <a:endParaRPr b="0" i="0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 rot="5400000">
              <a:off x="6301587" y="-74983"/>
              <a:ext cx="1698041" cy="672998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D3E1CC">
                <a:alpha val="90196"/>
              </a:srgbClr>
            </a:solidFill>
            <a:ln cap="flat" cmpd="sng" w="12700">
              <a:solidFill>
                <a:srgbClr val="D3E1CC">
                  <a:alpha val="90196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0"/>
            <p:cNvSpPr txBox="1"/>
            <p:nvPr/>
          </p:nvSpPr>
          <p:spPr>
            <a:xfrm>
              <a:off x="3785616" y="2523880"/>
              <a:ext cx="6647092" cy="15322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175" lIns="72375" spcFirstLastPara="1" rIns="72375" wrap="square" tIns="361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Hosts executor process (finite or fixed number of executors)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Works and executors are aware only of tasks allocated to them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Driver is responsible for understanding the compete set of tasks and 	dependencies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0"/>
            <p:cNvSpPr/>
            <p:nvPr/>
          </p:nvSpPr>
          <p:spPr>
            <a:xfrm>
              <a:off x="0" y="2228732"/>
              <a:ext cx="3785616" cy="2122552"/>
            </a:xfrm>
            <a:prstGeom prst="roundRect">
              <a:avLst>
                <a:gd fmla="val 16667" name="adj"/>
              </a:avLst>
            </a:prstGeom>
            <a:solidFill>
              <a:srgbClr val="6FAB46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0"/>
            <p:cNvSpPr txBox="1"/>
            <p:nvPr/>
          </p:nvSpPr>
          <p:spPr>
            <a:xfrm>
              <a:off x="103614" y="2332346"/>
              <a:ext cx="3578388" cy="1915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228600" spcFirstLastPara="1" rIns="228600" wrap="square" tIns="114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0"/>
                <a:buFont typeface="Calibri"/>
                <a:buNone/>
              </a:pPr>
              <a:r>
                <a:rPr b="1" i="0" lang="en-US" sz="6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Spark Worker</a:t>
              </a:r>
              <a:endParaRPr b="0" i="0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1"/>
          <p:cNvPicPr preferRelativeResize="0"/>
          <p:nvPr/>
        </p:nvPicPr>
        <p:blipFill rotWithShape="1">
          <a:blip r:embed="rId3">
            <a:alphaModFix/>
          </a:blip>
          <a:srcRect b="10178" l="0" r="0" t="5552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7E6E6">
                  <a:alpha val="67843"/>
                </a:srgbClr>
              </a:gs>
              <a:gs pos="10000">
                <a:srgbClr val="E7E6E6">
                  <a:alpha val="67843"/>
                </a:srgbClr>
              </a:gs>
              <a:gs pos="85000">
                <a:srgbClr val="E7E6E6">
                  <a:alpha val="96862"/>
                </a:srgbClr>
              </a:gs>
              <a:gs pos="100000">
                <a:srgbClr val="E7E6E6">
                  <a:alpha val="96862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255" name="Google Shape;2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Spark Master and Cluster Master</a:t>
            </a:r>
            <a:endParaRPr/>
          </a:p>
        </p:txBody>
      </p:sp>
      <p:grpSp>
        <p:nvGrpSpPr>
          <p:cNvPr id="256" name="Google Shape;256;p11"/>
          <p:cNvGrpSpPr/>
          <p:nvPr/>
        </p:nvGrpSpPr>
        <p:grpSpPr>
          <a:xfrm>
            <a:off x="838200" y="1827749"/>
            <a:ext cx="10515600" cy="4347088"/>
            <a:chOff x="0" y="2124"/>
            <a:chExt cx="10515600" cy="4347088"/>
          </a:xfrm>
        </p:grpSpPr>
        <p:sp>
          <p:nvSpPr>
            <p:cNvPr id="257" name="Google Shape;257;p11"/>
            <p:cNvSpPr/>
            <p:nvPr/>
          </p:nvSpPr>
          <p:spPr>
            <a:xfrm rot="5400000">
              <a:off x="6589693" y="-2661723"/>
              <a:ext cx="1121829" cy="672998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F7D5CB">
                <a:alpha val="90196"/>
              </a:srgbClr>
            </a:solidFill>
            <a:ln cap="flat" cmpd="sng" w="12700">
              <a:solidFill>
                <a:srgbClr val="F7D5CB">
                  <a:alpha val="90196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1"/>
            <p:cNvSpPr txBox="1"/>
            <p:nvPr/>
          </p:nvSpPr>
          <p:spPr>
            <a:xfrm>
              <a:off x="3785616" y="197117"/>
              <a:ext cx="6675221" cy="10123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60950" spcFirstLastPara="1" rIns="60950" wrap="square" tIns="304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Central processes that monitor, reserve, and allocate distributed cluster 	resources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Can be separate process (distributed), or can combine into one (standalone 	mode)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1"/>
            <p:cNvSpPr/>
            <p:nvPr/>
          </p:nvSpPr>
          <p:spPr>
            <a:xfrm>
              <a:off x="0" y="2124"/>
              <a:ext cx="3785616" cy="1402286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1"/>
            <p:cNvSpPr txBox="1"/>
            <p:nvPr/>
          </p:nvSpPr>
          <p:spPr>
            <a:xfrm>
              <a:off x="68454" y="70578"/>
              <a:ext cx="3648708" cy="12653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137150" spcFirstLastPara="1" rIns="137150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Calibri"/>
                <a:buNone/>
              </a:pPr>
              <a:r>
                <a:rPr b="1" i="0" lang="en-US" sz="3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Spark Master and Cluster Master</a:t>
              </a:r>
              <a:endPara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1"/>
            <p:cNvSpPr/>
            <p:nvPr/>
          </p:nvSpPr>
          <p:spPr>
            <a:xfrm rot="5400000">
              <a:off x="6589693" y="-1189322"/>
              <a:ext cx="1121829" cy="672998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0E0E0">
                <a:alpha val="90196"/>
              </a:srgbClr>
            </a:solidFill>
            <a:ln cap="flat" cmpd="sng" w="12700">
              <a:solidFill>
                <a:srgbClr val="E0E0E0">
                  <a:alpha val="90196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1"/>
            <p:cNvSpPr txBox="1"/>
            <p:nvPr/>
          </p:nvSpPr>
          <p:spPr>
            <a:xfrm>
              <a:off x="3785616" y="1669518"/>
              <a:ext cx="6675221" cy="10123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60950" spcFirstLastPara="1" rIns="60950" wrap="square" tIns="304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Requests resources in cluster and makes them available to Spark Driver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Negotiates resources with Worker nodes and track status and monitor process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0" y="1474525"/>
              <a:ext cx="3785616" cy="1402286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1"/>
            <p:cNvSpPr txBox="1"/>
            <p:nvPr/>
          </p:nvSpPr>
          <p:spPr>
            <a:xfrm>
              <a:off x="68454" y="1542979"/>
              <a:ext cx="3648708" cy="12653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137150" spcFirstLastPara="1" rIns="137150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Calibri"/>
                <a:buNone/>
              </a:pPr>
              <a:r>
                <a:rPr b="1" i="0" lang="en-US" sz="3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Spark Master</a:t>
              </a:r>
              <a:endPara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1"/>
            <p:cNvSpPr/>
            <p:nvPr/>
          </p:nvSpPr>
          <p:spPr>
            <a:xfrm rot="5400000">
              <a:off x="6589693" y="283077"/>
              <a:ext cx="1121829" cy="672998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FFE8CA">
                <a:alpha val="90196"/>
              </a:srgbClr>
            </a:solidFill>
            <a:ln cap="flat" cmpd="sng" w="12700">
              <a:solidFill>
                <a:srgbClr val="FFE8CA">
                  <a:alpha val="90196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1"/>
            <p:cNvSpPr txBox="1"/>
            <p:nvPr/>
          </p:nvSpPr>
          <p:spPr>
            <a:xfrm>
              <a:off x="3785616" y="3141918"/>
              <a:ext cx="6675221" cy="10123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60950" spcFirstLastPara="1" rIns="60950" wrap="square" tIns="304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Monitor Worker nodes and reserving resources on these nodes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0" y="2946926"/>
              <a:ext cx="3785616" cy="1402286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1"/>
            <p:cNvSpPr txBox="1"/>
            <p:nvPr/>
          </p:nvSpPr>
          <p:spPr>
            <a:xfrm>
              <a:off x="68454" y="3015380"/>
              <a:ext cx="3648708" cy="12653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137150" spcFirstLastPara="1" rIns="137150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Calibri"/>
                <a:buNone/>
              </a:pPr>
              <a:r>
                <a:rPr b="1" i="0" lang="en-US" sz="3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Cluster Manager</a:t>
              </a:r>
              <a:endPara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274" name="Google Shape;274;p12"/>
          <p:cNvSpPr txBox="1"/>
          <p:nvPr>
            <p:ph type="title"/>
          </p:nvPr>
        </p:nvSpPr>
        <p:spPr>
          <a:xfrm>
            <a:off x="517889" y="4883544"/>
            <a:ext cx="3876086" cy="155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13423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US" sz="2700"/>
              <a:t>Spark Environment</a:t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12"/>
          <p:cNvPicPr preferRelativeResize="0"/>
          <p:nvPr/>
        </p:nvPicPr>
        <p:blipFill rotWithShape="1">
          <a:blip r:embed="rId3">
            <a:alphaModFix/>
          </a:blip>
          <a:srcRect b="7297" l="0" r="-1" t="0"/>
          <a:stretch/>
        </p:blipFill>
        <p:spPr>
          <a:xfrm>
            <a:off x="959205" y="364142"/>
            <a:ext cx="10369645" cy="3867993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2"/>
          <p:cNvSpPr/>
          <p:nvPr/>
        </p:nvSpPr>
        <p:spPr>
          <a:xfrm flipH="1" rot="5400000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5162719" y="4883544"/>
            <a:ext cx="6586915" cy="155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Downloading Apache Spark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35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PySpark Shell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285" name="Google Shape;285;p13"/>
          <p:cNvSpPr txBox="1"/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231013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Application</a:t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41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Jobs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Driver converts Spark application into one or more Spark jobs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Driver transforms each job into a DAG (execution plan)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0" rtl="0" algn="l">
              <a:lnSpc>
                <a:spcPct val="90000"/>
              </a:lnSpc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Stages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Created based on what operations can be performed serially or in parallel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or multi stages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0" rtl="0" algn="l">
              <a:lnSpc>
                <a:spcPct val="90000"/>
              </a:lnSpc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Tasks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 of execution, federated across each Spark executor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task maps to a single core and works on a single partition of 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1532" y="3626061"/>
            <a:ext cx="5150277" cy="1430632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3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7E6E6">
                  <a:alpha val="67843"/>
                </a:srgbClr>
              </a:gs>
              <a:gs pos="10000">
                <a:srgbClr val="E7E6E6">
                  <a:alpha val="67843"/>
                </a:srgbClr>
              </a:gs>
              <a:gs pos="85000">
                <a:srgbClr val="E7E6E6">
                  <a:alpha val="96862"/>
                </a:srgbClr>
              </a:gs>
              <a:gs pos="100000">
                <a:srgbClr val="E7E6E6">
                  <a:alpha val="96862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297" name="Google Shape;297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04838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Spark Programming Basics: Resilient Distributed Datasets</a:t>
            </a:r>
            <a:endParaRPr/>
          </a:p>
        </p:txBody>
      </p:sp>
      <p:grpSp>
        <p:nvGrpSpPr>
          <p:cNvPr id="298" name="Google Shape;298;p14"/>
          <p:cNvGrpSpPr/>
          <p:nvPr/>
        </p:nvGrpSpPr>
        <p:grpSpPr>
          <a:xfrm>
            <a:off x="678560" y="1788167"/>
            <a:ext cx="10974967" cy="4291316"/>
            <a:chOff x="-159640" y="97479"/>
            <a:chExt cx="10974967" cy="4291316"/>
          </a:xfrm>
        </p:grpSpPr>
        <p:sp>
          <p:nvSpPr>
            <p:cNvPr id="299" name="Google Shape;299;p14"/>
            <p:cNvSpPr/>
            <p:nvPr/>
          </p:nvSpPr>
          <p:spPr>
            <a:xfrm>
              <a:off x="5072" y="97479"/>
              <a:ext cx="1944290" cy="777716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4"/>
            <p:cNvSpPr txBox="1"/>
            <p:nvPr/>
          </p:nvSpPr>
          <p:spPr>
            <a:xfrm>
              <a:off x="-159640" y="97537"/>
              <a:ext cx="2273700" cy="77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150" lIns="128000" spcFirstLastPara="1" rIns="128000" wrap="square" tIns="73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RDD: the most basic abstraction in Spark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5072" y="875195"/>
              <a:ext cx="1944290" cy="3513600"/>
            </a:xfrm>
            <a:prstGeom prst="rect">
              <a:avLst/>
            </a:prstGeom>
            <a:solidFill>
              <a:srgbClr val="F7D5CB">
                <a:alpha val="90196"/>
              </a:srgbClr>
            </a:solidFill>
            <a:ln cap="flat" cmpd="sng" w="12700">
              <a:solidFill>
                <a:srgbClr val="F7D5CB">
                  <a:alpha val="90196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2221563" y="97479"/>
              <a:ext cx="1944290" cy="777716"/>
            </a:xfrm>
            <a:prstGeom prst="rect">
              <a:avLst/>
            </a:prstGeom>
            <a:solidFill>
              <a:schemeClr val="accent3"/>
            </a:solidFill>
            <a:ln cap="flat" cmpd="sng" w="12700">
              <a:solidFill>
                <a:schemeClr val="accent3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4"/>
            <p:cNvSpPr txBox="1"/>
            <p:nvPr/>
          </p:nvSpPr>
          <p:spPr>
            <a:xfrm>
              <a:off x="2221563" y="97479"/>
              <a:ext cx="1944290" cy="7777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150" lIns="128000" spcFirstLastPara="1" rIns="128000" wrap="square" tIns="73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Contains Datasets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2221563" y="875195"/>
              <a:ext cx="1944290" cy="3513600"/>
            </a:xfrm>
            <a:prstGeom prst="rect">
              <a:avLst/>
            </a:prstGeom>
            <a:solidFill>
              <a:srgbClr val="E0E0E0">
                <a:alpha val="90196"/>
              </a:srgbClr>
            </a:solidFill>
            <a:ln cap="flat" cmpd="sng" w="12700">
              <a:solidFill>
                <a:srgbClr val="E0E0E0">
                  <a:alpha val="90196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4"/>
            <p:cNvSpPr txBox="1"/>
            <p:nvPr/>
          </p:nvSpPr>
          <p:spPr>
            <a:xfrm>
              <a:off x="2221563" y="875195"/>
              <a:ext cx="1944290" cy="351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4000" lIns="96000" spcFirstLastPara="1" rIns="128000" wrap="square" tIns="960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Initial datasets loaded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Any intermediate datasets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Final resultant datasets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4438054" y="97479"/>
              <a:ext cx="1944290" cy="777716"/>
            </a:xfrm>
            <a:prstGeom prst="rect">
              <a:avLst/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4"/>
            <p:cNvSpPr txBox="1"/>
            <p:nvPr/>
          </p:nvSpPr>
          <p:spPr>
            <a:xfrm>
              <a:off x="4438054" y="97479"/>
              <a:ext cx="1944290" cy="7777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150" lIns="128000" spcFirstLastPara="1" rIns="128000" wrap="square" tIns="73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What a Name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4438054" y="875195"/>
              <a:ext cx="1944290" cy="3513600"/>
            </a:xfrm>
            <a:prstGeom prst="rect">
              <a:avLst/>
            </a:prstGeom>
            <a:solidFill>
              <a:srgbClr val="FFE8CA">
                <a:alpha val="90196"/>
              </a:srgbClr>
            </a:solidFill>
            <a:ln cap="flat" cmpd="sng" w="12700">
              <a:solidFill>
                <a:srgbClr val="FFE8CA">
                  <a:alpha val="90196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4"/>
            <p:cNvSpPr txBox="1"/>
            <p:nvPr/>
          </p:nvSpPr>
          <p:spPr>
            <a:xfrm>
              <a:off x="4438054" y="875195"/>
              <a:ext cx="1944290" cy="351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4000" lIns="96000" spcFirstLastPara="1" rIns="128000" wrap="square" tIns="960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Resilient: Dependencies à Resiliency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Distributed: Partitions à Parallel computation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Datasets: discussed above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Compute function à Iterator[T]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6654546" y="97479"/>
              <a:ext cx="1944290" cy="777716"/>
            </a:xfrm>
            <a:prstGeom prst="rect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4"/>
            <p:cNvSpPr txBox="1"/>
            <p:nvPr/>
          </p:nvSpPr>
          <p:spPr>
            <a:xfrm>
              <a:off x="6654546" y="97479"/>
              <a:ext cx="1944290" cy="7777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150" lIns="128000" spcFirstLastPara="1" rIns="128000" wrap="square" tIns="73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Immutable: cannot be update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6654546" y="875195"/>
              <a:ext cx="1944290" cy="3513600"/>
            </a:xfrm>
            <a:prstGeom prst="rect">
              <a:avLst/>
            </a:prstGeom>
            <a:solidFill>
              <a:srgbClr val="CFDEEF">
                <a:alpha val="90196"/>
              </a:srgbClr>
            </a:solidFill>
            <a:ln cap="flat" cmpd="sng" w="12700">
              <a:solidFill>
                <a:srgbClr val="CFDEEF">
                  <a:alpha val="90196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4"/>
            <p:cNvSpPr/>
            <p:nvPr/>
          </p:nvSpPr>
          <p:spPr>
            <a:xfrm>
              <a:off x="8871037" y="97479"/>
              <a:ext cx="1944290" cy="777716"/>
            </a:xfrm>
            <a:prstGeom prst="rect">
              <a:avLst/>
            </a:prstGeom>
            <a:solidFill>
              <a:schemeClr val="accent6"/>
            </a:solidFill>
            <a:ln cap="flat" cmpd="sng" w="12700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4"/>
            <p:cNvSpPr txBox="1"/>
            <p:nvPr/>
          </p:nvSpPr>
          <p:spPr>
            <a:xfrm>
              <a:off x="8871037" y="97479"/>
              <a:ext cx="1944290" cy="7777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150" lIns="128000" spcFirstLastPara="1" rIns="128000" wrap="square" tIns="73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Lineage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8871037" y="875195"/>
              <a:ext cx="1944290" cy="3513600"/>
            </a:xfrm>
            <a:prstGeom prst="rect">
              <a:avLst/>
            </a:prstGeom>
            <a:solidFill>
              <a:srgbClr val="D4E2CE">
                <a:alpha val="90196"/>
              </a:srgbClr>
            </a:solidFill>
            <a:ln cap="flat" cmpd="sng" w="12700">
              <a:solidFill>
                <a:srgbClr val="D4E2CE">
                  <a:alpha val="90196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321" name="Google Shape;321;p15"/>
          <p:cNvSpPr txBox="1"/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7524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Transformations and Actions</a:t>
            </a:r>
            <a:endParaRPr/>
          </a:p>
        </p:txBody>
      </p:sp>
      <p:sp>
        <p:nvSpPr>
          <p:cNvPr id="322" name="Google Shape;322;p15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Transformations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 Spark DataFrame into new DataFrame without altering original data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select(), filter()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Lazy evaluate results not computed immediately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Rearrange, coalesce and optimize transformations into stages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 triggers lazy evaluation of all recorded transformations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1532" y="3318896"/>
            <a:ext cx="5150277" cy="204496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5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332" name="Google Shape;332;p16"/>
          <p:cNvSpPr txBox="1"/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1</a:t>
            </a:r>
            <a:endParaRPr/>
          </a:p>
        </p:txBody>
      </p:sp>
      <p:grpSp>
        <p:nvGrpSpPr>
          <p:cNvPr id="333" name="Google Shape;333;p16"/>
          <p:cNvGrpSpPr/>
          <p:nvPr/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334" name="Google Shape;334;p16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6"/>
            <p:cNvSpPr/>
            <p:nvPr/>
          </p:nvSpPr>
          <p:spPr>
            <a:xfrm rot="10800000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16"/>
          <p:cNvSpPr/>
          <p:nvPr/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PySpark Program to Search for Errors in Log Files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Loading data into an RDD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a new RDD using a filter transformation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an action to save resultant RDD to disk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42" name="Google Shape;34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16370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Loading Data into RDDs</a:t>
            </a:r>
            <a:endParaRPr/>
          </a:p>
        </p:txBody>
      </p:sp>
      <p:sp>
        <p:nvSpPr>
          <p:cNvPr id="343" name="Google Shape;343;p17"/>
          <p:cNvSpPr txBox="1"/>
          <p:nvPr/>
        </p:nvSpPr>
        <p:spPr>
          <a:xfrm>
            <a:off x="949947" y="1596846"/>
            <a:ext cx="10022853" cy="3359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6500">
            <a:spAutoFit/>
          </a:bodyPr>
          <a:lstStyle/>
          <a:p>
            <a:pPr indent="-227329" lvl="0" marL="2400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Initialize at least one RDD with data from external source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0" marL="240029" marR="5080" rtl="0" algn="l">
              <a:lnSpc>
                <a:spcPct val="100000"/>
              </a:lnSpc>
              <a:spcBef>
                <a:spcPts val="10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RDD is used to create further intermediate RDDs or final RDD 	through series of transformations and actions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0" marL="240029" marR="0" rtl="0" algn="l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RDD can be created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1" marL="69723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Loading data from files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1" marL="69723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Loading data from a data source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1" marL="69723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Loading data programmatically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1" marL="69723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Loading data from a stream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349" name="Google Shape;349;p18"/>
          <p:cNvSpPr txBox="1"/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160147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RDD from Files</a:t>
            </a:r>
            <a:endParaRPr/>
          </a:p>
        </p:txBody>
      </p:sp>
      <p:grpSp>
        <p:nvGrpSpPr>
          <p:cNvPr id="350" name="Google Shape;350;p18"/>
          <p:cNvGrpSpPr/>
          <p:nvPr/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351" name="Google Shape;351;p18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8"/>
            <p:cNvSpPr/>
            <p:nvPr/>
          </p:nvSpPr>
          <p:spPr>
            <a:xfrm rot="10800000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18"/>
          <p:cNvSpPr/>
          <p:nvPr/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Various Formats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Unstructured text files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Semi structured files: JSON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Structured files:	CSV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Serialized binary encoded formats: SequenceFiles, protobufs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Columnar file formats: Parquet, ORC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Locality with RDDs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tries to read data into RDD from nodes close to it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508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local file system: ensure the file is available in the same relative path on 	all worker nodes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9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360" name="Google Shape;360;p19"/>
          <p:cNvSpPr txBox="1"/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108331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Filesystem Schemes and URI</a:t>
            </a:r>
            <a:endParaRPr/>
          </a:p>
        </p:txBody>
      </p:sp>
      <p:sp>
        <p:nvSpPr>
          <p:cNvPr id="361" name="Google Shape;361;p19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Followed by ://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1532" y="3150375"/>
            <a:ext cx="5150277" cy="2382003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9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371" name="Google Shape;371;p20"/>
          <p:cNvSpPr txBox="1"/>
          <p:nvPr>
            <p:ph type="title"/>
          </p:nvPr>
        </p:nvSpPr>
        <p:spPr>
          <a:xfrm>
            <a:off x="838200" y="459863"/>
            <a:ext cx="10515600" cy="1004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524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Methods for Creating RDD from Files</a:t>
            </a:r>
            <a:endParaRPr/>
          </a:p>
        </p:txBody>
      </p:sp>
      <p:sp>
        <p:nvSpPr>
          <p:cNvPr id="372" name="Google Shape;372;p20"/>
          <p:cNvSpPr/>
          <p:nvPr/>
        </p:nvSpPr>
        <p:spPr>
          <a:xfrm>
            <a:off x="579496" y="1587970"/>
            <a:ext cx="11033008" cy="4768380"/>
          </a:xfrm>
          <a:prstGeom prst="roundRect">
            <a:avLst>
              <a:gd fmla="val 3174" name="adj"/>
            </a:avLst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3" name="Google Shape;373;p20"/>
          <p:cNvGrpSpPr/>
          <p:nvPr/>
        </p:nvGrpSpPr>
        <p:grpSpPr>
          <a:xfrm>
            <a:off x="838593" y="1897068"/>
            <a:ext cx="10514813" cy="4159022"/>
            <a:chOff x="393" y="96157"/>
            <a:chExt cx="10514813" cy="4159022"/>
          </a:xfrm>
        </p:grpSpPr>
        <p:sp>
          <p:nvSpPr>
            <p:cNvPr id="374" name="Google Shape;374;p20"/>
            <p:cNvSpPr/>
            <p:nvPr/>
          </p:nvSpPr>
          <p:spPr>
            <a:xfrm>
              <a:off x="1020487" y="96157"/>
              <a:ext cx="1098562" cy="10985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0"/>
            <p:cNvSpPr/>
            <p:nvPr/>
          </p:nvSpPr>
          <p:spPr>
            <a:xfrm>
              <a:off x="393" y="1373557"/>
              <a:ext cx="3138750" cy="470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0"/>
            <p:cNvSpPr txBox="1"/>
            <p:nvPr/>
          </p:nvSpPr>
          <p:spPr>
            <a:xfrm>
              <a:off x="393" y="1373557"/>
              <a:ext cx="3138750" cy="470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alibri"/>
                <a:buNone/>
              </a:pPr>
              <a:r>
                <a:rPr b="1" i="0" lang="en-US" sz="3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TextFile()</a:t>
              </a:r>
              <a:endPara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20"/>
            <p:cNvSpPr/>
            <p:nvPr/>
          </p:nvSpPr>
          <p:spPr>
            <a:xfrm>
              <a:off x="393" y="1927550"/>
              <a:ext cx="3138750" cy="23276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0"/>
            <p:cNvSpPr txBox="1"/>
            <p:nvPr/>
          </p:nvSpPr>
          <p:spPr>
            <a:xfrm>
              <a:off x="393" y="1927550"/>
              <a:ext cx="3138750" cy="23276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sc.textFile(name, minPartitions=None, use_unicode=True)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Create RDDs from files, directories, or glob patterns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By default, in HDFS, each block of the file creates a single partition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0"/>
            <p:cNvSpPr/>
            <p:nvPr/>
          </p:nvSpPr>
          <p:spPr>
            <a:xfrm>
              <a:off x="4708518" y="96157"/>
              <a:ext cx="1098562" cy="10985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0"/>
            <p:cNvSpPr/>
            <p:nvPr/>
          </p:nvSpPr>
          <p:spPr>
            <a:xfrm>
              <a:off x="3688425" y="1373557"/>
              <a:ext cx="3138750" cy="470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0"/>
            <p:cNvSpPr txBox="1"/>
            <p:nvPr/>
          </p:nvSpPr>
          <p:spPr>
            <a:xfrm>
              <a:off x="3688425" y="1373557"/>
              <a:ext cx="3138750" cy="470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alibri"/>
                <a:buNone/>
              </a:pPr>
              <a:r>
                <a:rPr b="1" i="0" lang="en-US" sz="3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wholeTextFiles()</a:t>
              </a:r>
              <a:endPara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20"/>
            <p:cNvSpPr/>
            <p:nvPr/>
          </p:nvSpPr>
          <p:spPr>
            <a:xfrm>
              <a:off x="3688425" y="1927550"/>
              <a:ext cx="3138750" cy="23276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0"/>
            <p:cNvSpPr txBox="1"/>
            <p:nvPr/>
          </p:nvSpPr>
          <p:spPr>
            <a:xfrm>
              <a:off x="3688425" y="1927550"/>
              <a:ext cx="3138750" cy="23276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sc.wholeTextFiles(path, minPartitions=None, use_unicode=True)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read a directory containing multiple files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Each file is represented as a record consisting of a key containing the filename and a value containing the contents of the file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0"/>
            <p:cNvSpPr/>
            <p:nvPr/>
          </p:nvSpPr>
          <p:spPr>
            <a:xfrm>
              <a:off x="8396550" y="96157"/>
              <a:ext cx="1098562" cy="10985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0"/>
            <p:cNvSpPr/>
            <p:nvPr/>
          </p:nvSpPr>
          <p:spPr>
            <a:xfrm>
              <a:off x="7376456" y="1373557"/>
              <a:ext cx="3138750" cy="470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0"/>
            <p:cNvSpPr txBox="1"/>
            <p:nvPr/>
          </p:nvSpPr>
          <p:spPr>
            <a:xfrm>
              <a:off x="7376456" y="1373557"/>
              <a:ext cx="3138750" cy="470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alibri"/>
                <a:buNone/>
              </a:pPr>
              <a:r>
                <a:rPr b="1" i="0" lang="en-US" sz="3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Demo 2</a:t>
              </a:r>
              <a:endPara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20"/>
            <p:cNvSpPr/>
            <p:nvPr/>
          </p:nvSpPr>
          <p:spPr>
            <a:xfrm>
              <a:off x="7376456" y="1927550"/>
              <a:ext cx="3138750" cy="23276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0"/>
            <p:cNvSpPr txBox="1"/>
            <p:nvPr/>
          </p:nvSpPr>
          <p:spPr>
            <a:xfrm>
              <a:off x="7376456" y="1927550"/>
              <a:ext cx="3138750" cy="23276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hdfs:///user/XX/data/hdfslog/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93" name="Google Shape;39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152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Creating RDD from JSON</a:t>
            </a:r>
            <a:endParaRPr/>
          </a:p>
        </p:txBody>
      </p:sp>
      <p:sp>
        <p:nvSpPr>
          <p:cNvPr id="394" name="Google Shape;394;p21"/>
          <p:cNvSpPr txBox="1"/>
          <p:nvPr/>
        </p:nvSpPr>
        <p:spPr>
          <a:xfrm>
            <a:off x="949947" y="1596847"/>
            <a:ext cx="9337053" cy="2505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6500">
            <a:spAutoFit/>
          </a:bodyPr>
          <a:lstStyle/>
          <a:p>
            <a:pPr indent="-227329" lvl="0" marL="2400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spark.read.json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0" marL="240029" marR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 3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1" marL="69723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Sample JSON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1" marL="69723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Multiline JSON (need spark 2.2)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1" marL="69723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JSON files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1" marL="69723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all JSON files from a directory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400" name="Google Shape;400;p22"/>
          <p:cNvSpPr txBox="1"/>
          <p:nvPr>
            <p:ph type="title"/>
          </p:nvPr>
        </p:nvSpPr>
        <p:spPr>
          <a:xfrm>
            <a:off x="838200" y="459863"/>
            <a:ext cx="10515600" cy="1004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6700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Creating RDD from CSV</a:t>
            </a:r>
            <a:endParaRPr/>
          </a:p>
        </p:txBody>
      </p:sp>
      <p:sp>
        <p:nvSpPr>
          <p:cNvPr id="401" name="Google Shape;401;p22"/>
          <p:cNvSpPr/>
          <p:nvPr/>
        </p:nvSpPr>
        <p:spPr>
          <a:xfrm>
            <a:off x="579496" y="1587970"/>
            <a:ext cx="11033008" cy="4768380"/>
          </a:xfrm>
          <a:prstGeom prst="roundRect">
            <a:avLst>
              <a:gd fmla="val 3174" name="adj"/>
            </a:avLst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2" name="Google Shape;402;p22"/>
          <p:cNvGrpSpPr/>
          <p:nvPr/>
        </p:nvGrpSpPr>
        <p:grpSpPr>
          <a:xfrm>
            <a:off x="1398000" y="1973010"/>
            <a:ext cx="9396000" cy="4007138"/>
            <a:chOff x="559800" y="172099"/>
            <a:chExt cx="9396000" cy="4007138"/>
          </a:xfrm>
        </p:grpSpPr>
        <p:sp>
          <p:nvSpPr>
            <p:cNvPr id="403" name="Google Shape;403;p22"/>
            <p:cNvSpPr/>
            <p:nvPr/>
          </p:nvSpPr>
          <p:spPr>
            <a:xfrm>
              <a:off x="1963800" y="172099"/>
              <a:ext cx="1512000" cy="151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559800" y="1856406"/>
              <a:ext cx="4320000" cy="6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2"/>
            <p:cNvSpPr txBox="1"/>
            <p:nvPr/>
          </p:nvSpPr>
          <p:spPr>
            <a:xfrm>
              <a:off x="559800" y="1856406"/>
              <a:ext cx="4320000" cy="6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rPr b="1" i="0" lang="en-US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spark.read.csv</a:t>
              </a:r>
              <a:endPara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22"/>
            <p:cNvSpPr/>
            <p:nvPr/>
          </p:nvSpPr>
          <p:spPr>
            <a:xfrm>
              <a:off x="559800" y="2584549"/>
              <a:ext cx="4320000" cy="15946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7039800" y="172099"/>
              <a:ext cx="1512000" cy="151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5635800" y="1856406"/>
              <a:ext cx="4320000" cy="6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2"/>
            <p:cNvSpPr txBox="1"/>
            <p:nvPr/>
          </p:nvSpPr>
          <p:spPr>
            <a:xfrm>
              <a:off x="5635800" y="1856406"/>
              <a:ext cx="4320000" cy="6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rPr b="1" i="0" lang="en-US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Demo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5635800" y="2584549"/>
              <a:ext cx="4320000" cy="15946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2"/>
            <p:cNvSpPr txBox="1"/>
            <p:nvPr/>
          </p:nvSpPr>
          <p:spPr>
            <a:xfrm>
              <a:off x="5635800" y="2584549"/>
              <a:ext cx="4320000" cy="15946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Default read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Read with header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Read with delimiter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Read with specified schema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417" name="Google Shape;417;p23"/>
          <p:cNvSpPr txBox="1"/>
          <p:nvPr>
            <p:ph type="title"/>
          </p:nvPr>
        </p:nvSpPr>
        <p:spPr>
          <a:xfrm>
            <a:off x="838200" y="459863"/>
            <a:ext cx="10515600" cy="1004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69659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Creating RDD Programmatically</a:t>
            </a: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579496" y="1587970"/>
            <a:ext cx="11033008" cy="4768380"/>
          </a:xfrm>
          <a:prstGeom prst="roundRect">
            <a:avLst>
              <a:gd fmla="val 3174" name="adj"/>
            </a:avLst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9" name="Google Shape;419;p23"/>
          <p:cNvGrpSpPr/>
          <p:nvPr/>
        </p:nvGrpSpPr>
        <p:grpSpPr>
          <a:xfrm>
            <a:off x="838200" y="1800911"/>
            <a:ext cx="10515599" cy="4351337"/>
            <a:chOff x="0" y="0"/>
            <a:chExt cx="10515599" cy="4351337"/>
          </a:xfrm>
        </p:grpSpPr>
        <p:sp>
          <p:nvSpPr>
            <p:cNvPr id="420" name="Google Shape;420;p23"/>
            <p:cNvSpPr/>
            <p:nvPr/>
          </p:nvSpPr>
          <p:spPr>
            <a:xfrm>
              <a:off x="0" y="0"/>
              <a:ext cx="8097012" cy="783240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23"/>
            <p:cNvSpPr txBox="1"/>
            <p:nvPr/>
          </p:nvSpPr>
          <p:spPr>
            <a:xfrm>
              <a:off x="22940" y="22940"/>
              <a:ext cx="7160195" cy="737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1" i="0" lang="en-US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Lists, arrays or collections</a:t>
              </a:r>
              <a:endPara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23"/>
            <p:cNvSpPr/>
            <p:nvPr/>
          </p:nvSpPr>
          <p:spPr>
            <a:xfrm>
              <a:off x="604646" y="892024"/>
              <a:ext cx="8097012" cy="783240"/>
            </a:xfrm>
            <a:prstGeom prst="roundRect">
              <a:avLst>
                <a:gd fmla="val 10000" name="adj"/>
              </a:avLst>
            </a:prstGeom>
            <a:solidFill>
              <a:srgbClr val="D77850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3"/>
            <p:cNvSpPr txBox="1"/>
            <p:nvPr/>
          </p:nvSpPr>
          <p:spPr>
            <a:xfrm>
              <a:off x="627586" y="914964"/>
              <a:ext cx="6937378" cy="737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0" i="0" lang="en-US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sc.parallelize(c, numSlices=None)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3"/>
            <p:cNvSpPr/>
            <p:nvPr/>
          </p:nvSpPr>
          <p:spPr>
            <a:xfrm>
              <a:off x="1209293" y="1784048"/>
              <a:ext cx="8097012" cy="783240"/>
            </a:xfrm>
            <a:prstGeom prst="roundRect">
              <a:avLst>
                <a:gd fmla="val 10000" name="adj"/>
              </a:avLst>
            </a:prstGeom>
            <a:solidFill>
              <a:srgbClr val="C47F6E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3"/>
            <p:cNvSpPr txBox="1"/>
            <p:nvPr/>
          </p:nvSpPr>
          <p:spPr>
            <a:xfrm>
              <a:off x="1232233" y="1806988"/>
              <a:ext cx="6937378" cy="737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0" i="0" lang="en-US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sc.range(start, end=None, step=1, numSlices=None)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3"/>
            <p:cNvSpPr/>
            <p:nvPr/>
          </p:nvSpPr>
          <p:spPr>
            <a:xfrm>
              <a:off x="1813940" y="2676072"/>
              <a:ext cx="8097012" cy="783240"/>
            </a:xfrm>
            <a:prstGeom prst="roundRect">
              <a:avLst>
                <a:gd fmla="val 10000" name="adj"/>
              </a:avLst>
            </a:prstGeom>
            <a:solidFill>
              <a:srgbClr val="B38E8A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3"/>
            <p:cNvSpPr txBox="1"/>
            <p:nvPr/>
          </p:nvSpPr>
          <p:spPr>
            <a:xfrm>
              <a:off x="1836880" y="2699012"/>
              <a:ext cx="6937378" cy="737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0" i="0" lang="en-US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Create empty RDD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3"/>
            <p:cNvSpPr/>
            <p:nvPr/>
          </p:nvSpPr>
          <p:spPr>
            <a:xfrm>
              <a:off x="2418587" y="3568097"/>
              <a:ext cx="8097012" cy="783240"/>
            </a:xfrm>
            <a:prstGeom prst="roundRect">
              <a:avLst>
                <a:gd fmla="val 10000" name="adj"/>
              </a:avLst>
            </a:prstGeom>
            <a:solidFill>
              <a:srgbClr val="A4A4A4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23"/>
            <p:cNvSpPr txBox="1"/>
            <p:nvPr/>
          </p:nvSpPr>
          <p:spPr>
            <a:xfrm>
              <a:off x="2441527" y="3591037"/>
              <a:ext cx="6937378" cy="737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1" i="0" lang="en-US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Demo 5</a:t>
              </a:r>
              <a:endPara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23"/>
            <p:cNvSpPr/>
            <p:nvPr/>
          </p:nvSpPr>
          <p:spPr>
            <a:xfrm>
              <a:off x="7587905" y="572200"/>
              <a:ext cx="509106" cy="509106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7D5CB">
                <a:alpha val="90196"/>
              </a:srgbClr>
            </a:solidFill>
            <a:ln cap="flat" cmpd="sng" w="12700">
              <a:solidFill>
                <a:srgbClr val="F7D5CB">
                  <a:alpha val="90196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3"/>
            <p:cNvSpPr txBox="1"/>
            <p:nvPr/>
          </p:nvSpPr>
          <p:spPr>
            <a:xfrm>
              <a:off x="7702454" y="572200"/>
              <a:ext cx="280008" cy="383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200" lIns="29200" spcFirstLastPara="1" rIns="29200" wrap="square" tIns="29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t/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8192552" y="1464225"/>
              <a:ext cx="509106" cy="509106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FD6D1">
                <a:alpha val="90196"/>
              </a:srgbClr>
            </a:solidFill>
            <a:ln cap="flat" cmpd="sng" w="12700">
              <a:solidFill>
                <a:srgbClr val="EFD6D1">
                  <a:alpha val="90196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3"/>
            <p:cNvSpPr txBox="1"/>
            <p:nvPr/>
          </p:nvSpPr>
          <p:spPr>
            <a:xfrm>
              <a:off x="8307101" y="1464225"/>
              <a:ext cx="280008" cy="383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200" lIns="29200" spcFirstLastPara="1" rIns="29200" wrap="square" tIns="29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t/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8797199" y="2343195"/>
              <a:ext cx="509106" cy="509106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8D9D7">
                <a:alpha val="90196"/>
              </a:srgbClr>
            </a:solidFill>
            <a:ln cap="flat" cmpd="sng" w="12700">
              <a:solidFill>
                <a:srgbClr val="E8D9D7">
                  <a:alpha val="90196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3"/>
            <p:cNvSpPr txBox="1"/>
            <p:nvPr/>
          </p:nvSpPr>
          <p:spPr>
            <a:xfrm>
              <a:off x="8911748" y="2343195"/>
              <a:ext cx="280008" cy="383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200" lIns="29200" spcFirstLastPara="1" rIns="29200" wrap="square" tIns="29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t/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9401846" y="3243922"/>
              <a:ext cx="509106" cy="509106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FDFDF">
                <a:alpha val="90196"/>
              </a:srgbClr>
            </a:solidFill>
            <a:ln cap="flat" cmpd="sng" w="12700">
              <a:solidFill>
                <a:srgbClr val="DFDFDF">
                  <a:alpha val="90196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3"/>
            <p:cNvSpPr txBox="1"/>
            <p:nvPr/>
          </p:nvSpPr>
          <p:spPr>
            <a:xfrm>
              <a:off x="9516395" y="3243922"/>
              <a:ext cx="280008" cy="383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200" lIns="29200" spcFirstLastPara="1" rIns="29200" wrap="square" tIns="29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t/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4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443" name="Google Shape;443;p24"/>
          <p:cNvSpPr txBox="1"/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194437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Operations on RDDs</a:t>
            </a:r>
            <a:endParaRPr/>
          </a:p>
        </p:txBody>
      </p:sp>
      <p:sp>
        <p:nvSpPr>
          <p:cNvPr id="444" name="Google Shape;444;p24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41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Transformations vs. Actions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Transformations operate on an RDD and return a new RDD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marR="81406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Actions operate against an RDD and return a value or perform an output operation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Coarse-Grained vs. Fine-Grained Transformations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marR="133350" rtl="0" algn="l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Coarse-Grained operations apply a function against every element in the dataset, and they return a new dataset with the transformations applied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marR="5080" rtl="0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Fine-grained transformations can manipulate a single record or data cell, such as single-row updates in a relational database or put operations in a NoSQL database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7" name="Google Shape;4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5268" y="2484255"/>
            <a:ext cx="4642805" cy="3714244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4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5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454" name="Google Shape;454;p25"/>
          <p:cNvSpPr txBox="1"/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194437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Operations on RDDs</a:t>
            </a:r>
            <a:endParaRPr/>
          </a:p>
        </p:txBody>
      </p:sp>
      <p:grpSp>
        <p:nvGrpSpPr>
          <p:cNvPr id="455" name="Google Shape;455;p25"/>
          <p:cNvGrpSpPr/>
          <p:nvPr/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456" name="Google Shape;456;p25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5"/>
            <p:cNvSpPr/>
            <p:nvPr/>
          </p:nvSpPr>
          <p:spPr>
            <a:xfrm rot="10800000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8" name="Google Shape;458;p25"/>
          <p:cNvSpPr/>
          <p:nvPr/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5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41300" marR="20701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Lazy Evaluation defers processing until an action is called (i.e., when output is required)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Spark to combine operations where possible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marR="5080" rtl="0" algn="l">
              <a:lnSpc>
                <a:spcPct val="90000"/>
              </a:lnSpc>
              <a:spcBef>
                <a:spcPts val="51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processing stages and minimize amount of data transferred between executors (shuffling)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0" rtl="0" algn="l">
              <a:lnSpc>
                <a:spcPct val="90000"/>
              </a:lnSpc>
              <a:spcBef>
                <a:spcPts val="36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 Persistence and Reuse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RDDs are created and exist predominantly in memory on executors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marR="142240" rtl="0" algn="l">
              <a:lnSpc>
                <a:spcPct val="90000"/>
              </a:lnSpc>
              <a:spcBef>
                <a:spcPts val="51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RDDs transform into new RDDs, and are not need for any other operations, they are removed permanently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still needed, it must be reevaluated in its entirety each time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6 and Demo 7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6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465" name="Google Shape;465;p26"/>
          <p:cNvSpPr txBox="1"/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194437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Operations on RDDs</a:t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6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6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406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 Lineage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sequence of transformations that resulted in the RDD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Directed Acyclic Graph (DAG), consisting of dependencies between RDDs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66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Narrow dependencies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transformation where a single output partition can be computed from a single input partition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filter(), contains()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66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 dependencies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from other partitions is read in , combined, and written to disk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groupBy(): force a shuffle of data from each executor’s partitions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orderBy(): require output from other partitions to compute final aggregation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9" name="Google Shape;4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1532" y="3007823"/>
            <a:ext cx="5150277" cy="2667107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6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476" name="Google Shape;476;p27"/>
          <p:cNvSpPr txBox="1"/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200469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Operations on RDDs</a:t>
            </a:r>
            <a:endParaRPr/>
          </a:p>
        </p:txBody>
      </p:sp>
      <p:grpSp>
        <p:nvGrpSpPr>
          <p:cNvPr id="477" name="Google Shape;477;p27"/>
          <p:cNvGrpSpPr/>
          <p:nvPr/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478" name="Google Shape;478;p27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27"/>
            <p:cNvSpPr/>
            <p:nvPr/>
          </p:nvSpPr>
          <p:spPr>
            <a:xfrm rot="10800000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0" name="Google Shape;480;p27"/>
          <p:cNvSpPr/>
          <p:nvPr/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7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Fault tolerance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Immutable RDDs between transformations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163195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RDD with all of its partitions can be reconstructed to the state it was in at 	the time of the failure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Non-deterministic functions can produce different output give the same inputs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the ability to recreate RDDs in a consistent, repeatable state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961390" rtl="0" algn="l">
              <a:lnSpc>
                <a:spcPct val="90000"/>
              </a:lnSpc>
              <a:spcBef>
                <a:spcPts val="103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 plan: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transformations contribute a query plan, and action execute query plan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28"/>
          <p:cNvPicPr preferRelativeResize="0"/>
          <p:nvPr/>
        </p:nvPicPr>
        <p:blipFill rotWithShape="1">
          <a:blip r:embed="rId3">
            <a:alphaModFix/>
          </a:blip>
          <a:srcRect b="0" l="0" r="0" t="8537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7E6E6">
                  <a:alpha val="67843"/>
                </a:srgbClr>
              </a:gs>
              <a:gs pos="10000">
                <a:srgbClr val="E7E6E6">
                  <a:alpha val="67843"/>
                </a:srgbClr>
              </a:gs>
              <a:gs pos="85000">
                <a:srgbClr val="E7E6E6">
                  <a:alpha val="96862"/>
                </a:srgbClr>
              </a:gs>
              <a:gs pos="100000">
                <a:srgbClr val="E7E6E6">
                  <a:alpha val="96862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488" name="Google Shape;488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885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Type of RDD</a:t>
            </a:r>
            <a:endParaRPr/>
          </a:p>
        </p:txBody>
      </p:sp>
      <p:grpSp>
        <p:nvGrpSpPr>
          <p:cNvPr id="489" name="Google Shape;489;p28"/>
          <p:cNvGrpSpPr/>
          <p:nvPr/>
        </p:nvGrpSpPr>
        <p:grpSpPr>
          <a:xfrm>
            <a:off x="841280" y="2412657"/>
            <a:ext cx="10509438" cy="3177272"/>
            <a:chOff x="3080" y="587032"/>
            <a:chExt cx="10509438" cy="3177272"/>
          </a:xfrm>
        </p:grpSpPr>
        <p:sp>
          <p:nvSpPr>
            <p:cNvPr id="490" name="Google Shape;490;p28"/>
            <p:cNvSpPr/>
            <p:nvPr/>
          </p:nvSpPr>
          <p:spPr>
            <a:xfrm>
              <a:off x="3080" y="587032"/>
              <a:ext cx="2444055" cy="1466433"/>
            </a:xfrm>
            <a:prstGeom prst="rect">
              <a:avLst/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28"/>
            <p:cNvSpPr txBox="1"/>
            <p:nvPr/>
          </p:nvSpPr>
          <p:spPr>
            <a:xfrm>
              <a:off x="3080" y="587032"/>
              <a:ext cx="2444055" cy="1466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PairRDD: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Key/Value paris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28"/>
            <p:cNvSpPr/>
            <p:nvPr/>
          </p:nvSpPr>
          <p:spPr>
            <a:xfrm>
              <a:off x="2691541" y="587032"/>
              <a:ext cx="2444055" cy="1466433"/>
            </a:xfrm>
            <a:prstGeom prst="rect">
              <a:avLst/>
            </a:prstGeom>
            <a:solidFill>
              <a:srgbClr val="55B6D0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28"/>
            <p:cNvSpPr txBox="1"/>
            <p:nvPr/>
          </p:nvSpPr>
          <p:spPr>
            <a:xfrm>
              <a:off x="2691541" y="587032"/>
              <a:ext cx="2444055" cy="1466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DoubleRDD: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 collection of double values only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8"/>
            <p:cNvSpPr/>
            <p:nvPr/>
          </p:nvSpPr>
          <p:spPr>
            <a:xfrm>
              <a:off x="5380002" y="587032"/>
              <a:ext cx="2444055" cy="1466433"/>
            </a:xfrm>
            <a:prstGeom prst="rect">
              <a:avLst/>
            </a:prstGeom>
            <a:solidFill>
              <a:srgbClr val="51CBC3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8"/>
            <p:cNvSpPr txBox="1"/>
            <p:nvPr/>
          </p:nvSpPr>
          <p:spPr>
            <a:xfrm>
              <a:off x="5380002" y="587032"/>
              <a:ext cx="2444055" cy="1466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DataFrame: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organized into named and typed columns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8"/>
            <p:cNvSpPr/>
            <p:nvPr/>
          </p:nvSpPr>
          <p:spPr>
            <a:xfrm>
              <a:off x="8068463" y="587032"/>
              <a:ext cx="2444055" cy="1466433"/>
            </a:xfrm>
            <a:prstGeom prst="rect">
              <a:avLst/>
            </a:prstGeom>
            <a:solidFill>
              <a:srgbClr val="4DC69E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28"/>
            <p:cNvSpPr txBox="1"/>
            <p:nvPr/>
          </p:nvSpPr>
          <p:spPr>
            <a:xfrm>
              <a:off x="8068463" y="587032"/>
              <a:ext cx="2444055" cy="1466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SequenceFileRDD: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created from a SequenceFile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28"/>
            <p:cNvSpPr/>
            <p:nvPr/>
          </p:nvSpPr>
          <p:spPr>
            <a:xfrm>
              <a:off x="3080" y="2297871"/>
              <a:ext cx="2444055" cy="1466433"/>
            </a:xfrm>
            <a:prstGeom prst="rect">
              <a:avLst/>
            </a:prstGeom>
            <a:solidFill>
              <a:srgbClr val="4AC17A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28"/>
            <p:cNvSpPr txBox="1"/>
            <p:nvPr/>
          </p:nvSpPr>
          <p:spPr>
            <a:xfrm>
              <a:off x="3080" y="2297871"/>
              <a:ext cx="2444055" cy="1466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HadoopRDD: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provides functionality for reading data stored in HDFS (v1)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28"/>
            <p:cNvSpPr/>
            <p:nvPr/>
          </p:nvSpPr>
          <p:spPr>
            <a:xfrm>
              <a:off x="2691541" y="2297871"/>
              <a:ext cx="2444055" cy="1466433"/>
            </a:xfrm>
            <a:prstGeom prst="rect">
              <a:avLst/>
            </a:prstGeom>
            <a:solidFill>
              <a:srgbClr val="46BC57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8"/>
            <p:cNvSpPr txBox="1"/>
            <p:nvPr/>
          </p:nvSpPr>
          <p:spPr>
            <a:xfrm>
              <a:off x="2691541" y="2297871"/>
              <a:ext cx="2444055" cy="1466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NewHadoopRDD: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(HDFS, Hbase, S3)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8"/>
            <p:cNvSpPr/>
            <p:nvPr/>
          </p:nvSpPr>
          <p:spPr>
            <a:xfrm>
              <a:off x="5380002" y="2297871"/>
              <a:ext cx="2444055" cy="1466433"/>
            </a:xfrm>
            <a:prstGeom prst="rect">
              <a:avLst/>
            </a:prstGeom>
            <a:solidFill>
              <a:srgbClr val="55B445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28"/>
            <p:cNvSpPr txBox="1"/>
            <p:nvPr/>
          </p:nvSpPr>
          <p:spPr>
            <a:xfrm>
              <a:off x="5380002" y="2297871"/>
              <a:ext cx="2444055" cy="1466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JdbcRDD: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from SQL query to a JDBC connection (Scala only)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28"/>
            <p:cNvSpPr/>
            <p:nvPr/>
          </p:nvSpPr>
          <p:spPr>
            <a:xfrm>
              <a:off x="8068463" y="2297871"/>
              <a:ext cx="2444055" cy="1466433"/>
            </a:xfrm>
            <a:prstGeom prst="rect">
              <a:avLst/>
            </a:prstGeom>
            <a:solidFill>
              <a:srgbClr val="6FAB46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8"/>
            <p:cNvSpPr txBox="1"/>
            <p:nvPr/>
          </p:nvSpPr>
          <p:spPr>
            <a:xfrm>
              <a:off x="8068463" y="2297871"/>
              <a:ext cx="2444055" cy="1466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UnionRDD: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results from union() operation against two or more RDDs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511" name="Google Shape;511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63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 Transformations</a:t>
            </a:r>
            <a:endParaRPr/>
          </a:p>
        </p:txBody>
      </p:sp>
      <p:sp>
        <p:nvSpPr>
          <p:cNvPr id="512" name="Google Shape;512;p29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9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RDD.map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(&lt;function&gt;, preservesPartitioning=False)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RDD.flatMap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(&lt;function&gt;, preservesPartitioning=False)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4" marL="240029" marR="0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sentences = sc.parallelize([“I love Spark”])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5" marL="240029" marR="0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words = sentences.flatmap(lamda line: lines.split (“ “))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5" marL="240029" marR="0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Results :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[“I”, “love”, “Spark”]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5" marL="240029" marR="0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RDD.filter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(&lt;function&gt;)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27000" lvl="0" marL="0" marR="0" rtl="0" algn="l">
              <a:lnSpc>
                <a:spcPct val="90000"/>
              </a:lnSpc>
              <a:spcBef>
                <a:spcPts val="79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RDD.distinct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(numPartitions=None)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RDD.groupBy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(&lt;function&gt;, numPartitions=None)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RDD.sortBy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(&lt;keyfunc&gt;, ascending=True, numPartitions=None)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9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519" name="Google Shape;51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24345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 Actions</a:t>
            </a:r>
            <a:endParaRPr/>
          </a:p>
        </p:txBody>
      </p:sp>
      <p:sp>
        <p:nvSpPr>
          <p:cNvPr id="520" name="Google Shape;520;p30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0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RDD.count()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RDD.collect()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RDD.take(n)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RDD.top(n, key=None)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RDD.first()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39700" lvl="0" marL="0" marR="0" rtl="0" algn="l">
              <a:lnSpc>
                <a:spcPct val="90000"/>
              </a:lnSpc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10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527" name="Google Shape;527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24345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 Actions</a:t>
            </a:r>
            <a:endParaRPr/>
          </a:p>
        </p:txBody>
      </p:sp>
      <p:sp>
        <p:nvSpPr>
          <p:cNvPr id="528" name="Google Shape;528;p31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1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RDD.reduce(&lt;function&gt;)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RDD.fold(zeroValue, &lt;function&gt;)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RDD.foreach(&lt;function&gt;)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39700" lvl="0" marL="0" marR="0" rtl="0" algn="l">
              <a:lnSpc>
                <a:spcPct val="90000"/>
              </a:lnSpc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11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535" name="Google Shape;535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1696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Transformations on PairRDD</a:t>
            </a:r>
            <a:endParaRPr/>
          </a:p>
        </p:txBody>
      </p:sp>
      <p:sp>
        <p:nvSpPr>
          <p:cNvPr id="536" name="Google Shape;536;p32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2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1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Dictionary functions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RDD.keys()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RDD.values()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0" rtl="0" algn="l">
              <a:lnSpc>
                <a:spcPct val="90000"/>
              </a:lnSpc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transformations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RDD.keyBy(&lt;function&gt;) &lt;K, V&gt;  &lt;new key, &lt;K, V&gt;&gt;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697865" marR="0" rtl="0" algn="l">
              <a:lnSpc>
                <a:spcPct val="9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RDD.mapValues(&lt;function&gt;)	&lt;K, V&gt;  &lt;K, [new values]&gt;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RDD.flatMapValues(&lt;function&gt;) &lt;K, V&gt;  &lt;K, V1&gt;, &lt;K, V2&gt;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0" rtl="0" algn="l">
              <a:lnSpc>
                <a:spcPct val="90000"/>
              </a:lnSpc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Grouping, aggregation, and sorting operations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RDD.groupByKey(numPartitions=None, partitionFunc=&lt;hash_fn&gt;)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RDD.reduceByKey(&lt;function&gt;, numPartitions=None, partitionFunc=&lt;hash_fn&gt;)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RDD.foldByKey(zeroValue, &lt;function&gt;, numPartitions=None, partitionFunc=&lt;hash_fn&gt;)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RDD.sortByKey(ascending=True, numPartitions=None, keyfunc=&lt;function&gt;)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0" rtl="0" algn="l">
              <a:lnSpc>
                <a:spcPct val="90000"/>
              </a:lnSpc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functions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1" marL="469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543" name="Google Shape;543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94373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Transformations</a:t>
            </a:r>
            <a:endParaRPr/>
          </a:p>
        </p:txBody>
      </p:sp>
      <p:sp>
        <p:nvSpPr>
          <p:cNvPr id="544" name="Google Shape;544;p33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3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RDD.join(&lt;otherRDD&gt;, numPartitions=None)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RDD.leftOuterJoin(&lt;otherRDD&gt;, numPartitions=None)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RDD.rightOuterJoin(&lt;otherRDD&gt;, numPartitions=None)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RDD.fullOuterJoin(&lt;otherRDD&gt;, numPartitions=None)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RDD.cogroup(&lt;otherRDD&gt;, numPartitions=None)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RDD.cartesian(&lt;otherRDD&gt;)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39700" lvl="0" marL="0" marR="0" rtl="0" algn="l">
              <a:lnSpc>
                <a:spcPct val="90000"/>
              </a:lnSpc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13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551" name="Google Shape;551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Exercise 1(Not Applied )</a:t>
            </a:r>
            <a:endParaRPr/>
          </a:p>
        </p:txBody>
      </p:sp>
      <p:sp>
        <p:nvSpPr>
          <p:cNvPr id="552" name="Google Shape;552;p34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4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Joining Datasets in Spark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Bay Area Bike Share Data Challenge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https://s3.amazonaws.com/sparkusingpython/bike-share/stations/stations.csv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https://s3.amazonaws.com/sparkusingpython/bike-share/status/status.csv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https://s3.amazonaws.com/sparkusingpython/bike-share/trips/trips.csv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865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https://s3.amazonaws.com/sparkusingpython/bike-share/weather/weather.csv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Question: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508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average number of bikes available by the hour for one week (February 	22 to February 28) for stations located in the San Jose area only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559" name="Google Shape;559;p35"/>
          <p:cNvSpPr txBox="1"/>
          <p:nvPr>
            <p:ph type="title"/>
          </p:nvPr>
        </p:nvSpPr>
        <p:spPr>
          <a:xfrm>
            <a:off x="638881" y="457200"/>
            <a:ext cx="10909640" cy="1368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94996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b="1" lang="en-US" sz="6600"/>
              <a:t>Exercise 1 More Information</a:t>
            </a:r>
            <a:endParaRPr/>
          </a:p>
        </p:txBody>
      </p:sp>
      <p:sp>
        <p:nvSpPr>
          <p:cNvPr id="560" name="Google Shape;560;p35"/>
          <p:cNvSpPr/>
          <p:nvPr/>
        </p:nvSpPr>
        <p:spPr>
          <a:xfrm>
            <a:off x="4450080" y="1850683"/>
            <a:ext cx="3291840" cy="18288"/>
          </a:xfrm>
          <a:custGeom>
            <a:rect b="b" l="l" r="r" t="t"/>
            <a:pathLst>
              <a:path extrusionOk="0" fill="none" h="18288" w="329184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29184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1" name="Google Shape;56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691003"/>
            <a:ext cx="5614416" cy="3509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4496" y="3144434"/>
            <a:ext cx="5614416" cy="2602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568" name="Google Shape;568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56654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Transformations on Sets</a:t>
            </a:r>
            <a:endParaRPr/>
          </a:p>
        </p:txBody>
      </p:sp>
      <p:sp>
        <p:nvSpPr>
          <p:cNvPr id="569" name="Google Shape;569;p36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6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RDD.union(&lt;otherRDD&gt;)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RDD.intersection(&lt;otherRDD&gt;)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RDD.subtract(&lt;otherRDD&gt;, numPartitions=None)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RDD.subtractByKey(&lt;otherRDD&gt;, numPartitions=None)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39700" lvl="0" marL="0" marR="0" rtl="0" algn="l">
              <a:lnSpc>
                <a:spcPct val="90000"/>
              </a:lnSpc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14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576" name="Google Shape;576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9149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Transformations on Numeric RDD</a:t>
            </a:r>
            <a:endParaRPr/>
          </a:p>
        </p:txBody>
      </p:sp>
      <p:sp>
        <p:nvSpPr>
          <p:cNvPr id="577" name="Google Shape;577;p37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7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RDD.min(key=None)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RDD.max(key=None)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RDD.mean()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RDD.sum()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RDD.stdev()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RDD.variance()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RDD.stats()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39700" lvl="0" marL="0" marR="0" rtl="0" algn="l">
              <a:lnSpc>
                <a:spcPct val="90000"/>
              </a:lnSpc>
              <a:spcBef>
                <a:spcPts val="79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15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584" name="Google Shape;584;p38"/>
          <p:cNvSpPr txBox="1"/>
          <p:nvPr>
            <p:ph type="title"/>
          </p:nvPr>
        </p:nvSpPr>
        <p:spPr>
          <a:xfrm>
            <a:off x="638881" y="457200"/>
            <a:ext cx="10909640" cy="1368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678939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b="1" lang="en-US" sz="6600"/>
              <a:t>Key Merits and Benefits</a:t>
            </a:r>
            <a:endParaRPr/>
          </a:p>
        </p:txBody>
      </p:sp>
      <p:sp>
        <p:nvSpPr>
          <p:cNvPr id="585" name="Google Shape;585;p38"/>
          <p:cNvSpPr txBox="1"/>
          <p:nvPr/>
        </p:nvSpPr>
        <p:spPr>
          <a:xfrm>
            <a:off x="638881" y="1922561"/>
            <a:ext cx="10909643" cy="5526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Expressivity, Simplicity, Composability, Uniformity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8"/>
          <p:cNvSpPr/>
          <p:nvPr/>
        </p:nvSpPr>
        <p:spPr>
          <a:xfrm>
            <a:off x="4450080" y="1850683"/>
            <a:ext cx="3291840" cy="18288"/>
          </a:xfrm>
          <a:custGeom>
            <a:rect b="b" l="l" r="r" t="t"/>
            <a:pathLst>
              <a:path extrusionOk="0" fill="none" h="18288" w="329184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29184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7" name="Google Shape;58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332538"/>
            <a:ext cx="5614416" cy="22259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8" name="Google Shape;588;p38"/>
          <p:cNvGrpSpPr/>
          <p:nvPr/>
        </p:nvGrpSpPr>
        <p:grpSpPr>
          <a:xfrm>
            <a:off x="6254497" y="3676551"/>
            <a:ext cx="5614220" cy="1537818"/>
            <a:chOff x="1778507" y="2183892"/>
            <a:chExt cx="7438764" cy="2037588"/>
          </a:xfrm>
        </p:grpSpPr>
        <p:pic>
          <p:nvPicPr>
            <p:cNvPr id="589" name="Google Shape;589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88663" y="2183892"/>
              <a:ext cx="5428608" cy="20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0" name="Google Shape;590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78507" y="2202180"/>
              <a:ext cx="2010156" cy="20193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596" name="Google Shape;596;p39"/>
          <p:cNvSpPr txBox="1"/>
          <p:nvPr>
            <p:ph type="title"/>
          </p:nvPr>
        </p:nvSpPr>
        <p:spPr>
          <a:xfrm>
            <a:off x="630936" y="502920"/>
            <a:ext cx="34198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10261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endParaRPr/>
          </a:p>
        </p:txBody>
      </p:sp>
      <p:sp>
        <p:nvSpPr>
          <p:cNvPr id="597" name="Google Shape;597;p39"/>
          <p:cNvSpPr/>
          <p:nvPr/>
        </p:nvSpPr>
        <p:spPr>
          <a:xfrm rot="5400000">
            <a:off x="3566159" y="1225296"/>
            <a:ext cx="1554480" cy="18288"/>
          </a:xfrm>
          <a:custGeom>
            <a:rect b="b" l="l" r="r" t="t"/>
            <a:pathLst>
              <a:path extrusionOk="0" fill="none" h="18288" w="155448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extrusionOk="0" h="18288" w="155448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9"/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Pandas?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Distributed in-memory tables with named columns and schemas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5080" rtl="0" algn="l">
              <a:lnSpc>
                <a:spcPct val="90000"/>
              </a:lnSpc>
              <a:spcBef>
                <a:spcPts val="104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column has a specific data type: integer, string, array, map, real, 	date, timestamp, etc.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9" name="Google Shape;59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" y="2361128"/>
            <a:ext cx="10917936" cy="3818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04" name="Google Shape;604;p40"/>
          <p:cNvSpPr txBox="1"/>
          <p:nvPr>
            <p:ph type="title"/>
          </p:nvPr>
        </p:nvSpPr>
        <p:spPr>
          <a:xfrm>
            <a:off x="-1066800" y="252209"/>
            <a:ext cx="12801600" cy="6905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24828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General Data Types vs PySpark Data Types</a:t>
            </a:r>
            <a:endParaRPr b="1"/>
          </a:p>
        </p:txBody>
      </p:sp>
      <p:sp>
        <p:nvSpPr>
          <p:cNvPr id="605" name="Google Shape;605;p40"/>
          <p:cNvSpPr txBox="1"/>
          <p:nvPr/>
        </p:nvSpPr>
        <p:spPr>
          <a:xfrm>
            <a:off x="949947" y="1681429"/>
            <a:ext cx="4612653" cy="443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27329" lvl="0" marL="2400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 DataFrame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6" name="Google Shape;6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349794"/>
            <a:ext cx="5593079" cy="3212806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0"/>
          <p:cNvSpPr txBox="1"/>
          <p:nvPr/>
        </p:nvSpPr>
        <p:spPr>
          <a:xfrm>
            <a:off x="6287033" y="1681429"/>
            <a:ext cx="4984115" cy="443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27329" lvl="0" marL="2400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PySpark Data Types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8" name="Google Shape;60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5767" y="2292094"/>
            <a:ext cx="4984115" cy="3270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13" name="Google Shape;613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33407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Schemas</a:t>
            </a:r>
            <a:endParaRPr/>
          </a:p>
        </p:txBody>
      </p:sp>
      <p:sp>
        <p:nvSpPr>
          <p:cNvPr id="614" name="Google Shape;614;p41"/>
          <p:cNvSpPr txBox="1"/>
          <p:nvPr/>
        </p:nvSpPr>
        <p:spPr>
          <a:xfrm>
            <a:off x="990600" y="1070070"/>
            <a:ext cx="9819005" cy="1640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325">
            <a:spAutoFit/>
          </a:bodyPr>
          <a:lstStyle/>
          <a:p>
            <a:pPr indent="-227329" lvl="0" marL="240029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Schema defines the column names and associated data types for a 	DataFrame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0" marL="240029" marR="0" rtl="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schema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1" marL="69723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schema programmatically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1"/>
          <p:cNvSpPr txBox="1"/>
          <p:nvPr/>
        </p:nvSpPr>
        <p:spPr>
          <a:xfrm>
            <a:off x="1295400" y="4553426"/>
            <a:ext cx="609028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27329" lvl="0" marL="2400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Employ a Data Definition Language (DDL) string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6" name="Google Shape;61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086" y="2830813"/>
            <a:ext cx="7451813" cy="1583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337" y="5084063"/>
            <a:ext cx="4877553" cy="1085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3158" y="5084064"/>
            <a:ext cx="4877553" cy="1283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2"/>
          <p:cNvSpPr/>
          <p:nvPr/>
        </p:nvSpPr>
        <p:spPr>
          <a:xfrm>
            <a:off x="0" y="0"/>
            <a:ext cx="12192000" cy="2877832"/>
          </a:xfrm>
          <a:custGeom>
            <a:rect b="b" l="l" r="r" t="t"/>
            <a:pathLst>
              <a:path extrusionOk="0" h="2877832" w="12192000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625" name="Google Shape;625;p42"/>
          <p:cNvSpPr txBox="1"/>
          <p:nvPr>
            <p:ph type="title"/>
          </p:nvPr>
        </p:nvSpPr>
        <p:spPr>
          <a:xfrm>
            <a:off x="638881" y="390525"/>
            <a:ext cx="10909640" cy="1510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176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00"/>
              <a:buFont typeface="Calibri"/>
              <a:buNone/>
            </a:pPr>
            <a:r>
              <a:rPr b="1" lang="en-US" sz="6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Structured and Complex Data Types</a:t>
            </a:r>
            <a:endParaRPr/>
          </a:p>
        </p:txBody>
      </p:sp>
      <p:sp>
        <p:nvSpPr>
          <p:cNvPr id="626" name="Google Shape;626;p42"/>
          <p:cNvSpPr/>
          <p:nvPr/>
        </p:nvSpPr>
        <p:spPr>
          <a:xfrm>
            <a:off x="3974206" y="1753266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cap="rnd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7" name="Google Shape;62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4788" y="3067050"/>
            <a:ext cx="8279375" cy="3019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633" name="Google Shape;633;p43"/>
          <p:cNvSpPr txBox="1"/>
          <p:nvPr>
            <p:ph type="title"/>
          </p:nvPr>
        </p:nvSpPr>
        <p:spPr>
          <a:xfrm>
            <a:off x="838200" y="459863"/>
            <a:ext cx="10515600" cy="1004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50050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Columns and Expressions</a:t>
            </a:r>
            <a:endParaRPr/>
          </a:p>
        </p:txBody>
      </p:sp>
      <p:sp>
        <p:nvSpPr>
          <p:cNvPr id="634" name="Google Shape;634;p43"/>
          <p:cNvSpPr/>
          <p:nvPr/>
        </p:nvSpPr>
        <p:spPr>
          <a:xfrm>
            <a:off x="579496" y="1587970"/>
            <a:ext cx="11033008" cy="4768380"/>
          </a:xfrm>
          <a:prstGeom prst="roundRect">
            <a:avLst>
              <a:gd fmla="val 3174" name="adj"/>
            </a:avLst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5" name="Google Shape;635;p43"/>
          <p:cNvGrpSpPr/>
          <p:nvPr/>
        </p:nvGrpSpPr>
        <p:grpSpPr>
          <a:xfrm>
            <a:off x="838593" y="2616043"/>
            <a:ext cx="10514813" cy="2721072"/>
            <a:chOff x="393" y="815132"/>
            <a:chExt cx="10514813" cy="2721072"/>
          </a:xfrm>
        </p:grpSpPr>
        <p:sp>
          <p:nvSpPr>
            <p:cNvPr id="636" name="Google Shape;636;p43"/>
            <p:cNvSpPr/>
            <p:nvPr/>
          </p:nvSpPr>
          <p:spPr>
            <a:xfrm>
              <a:off x="393" y="815132"/>
              <a:ext cx="1098562" cy="10985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43"/>
            <p:cNvSpPr/>
            <p:nvPr/>
          </p:nvSpPr>
          <p:spPr>
            <a:xfrm>
              <a:off x="393" y="2030700"/>
              <a:ext cx="3138750" cy="470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3"/>
            <p:cNvSpPr txBox="1"/>
            <p:nvPr/>
          </p:nvSpPr>
          <p:spPr>
            <a:xfrm>
              <a:off x="393" y="2030700"/>
              <a:ext cx="3138750" cy="470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Similar to pandas or RDBMS table: named columns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43"/>
            <p:cNvSpPr/>
            <p:nvPr/>
          </p:nvSpPr>
          <p:spPr>
            <a:xfrm>
              <a:off x="393" y="2555934"/>
              <a:ext cx="3138750" cy="980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43"/>
            <p:cNvSpPr/>
            <p:nvPr/>
          </p:nvSpPr>
          <p:spPr>
            <a:xfrm>
              <a:off x="3688425" y="815132"/>
              <a:ext cx="1098562" cy="10985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3"/>
            <p:cNvSpPr/>
            <p:nvPr/>
          </p:nvSpPr>
          <p:spPr>
            <a:xfrm>
              <a:off x="3688425" y="2030700"/>
              <a:ext cx="3138750" cy="470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43"/>
            <p:cNvSpPr txBox="1"/>
            <p:nvPr/>
          </p:nvSpPr>
          <p:spPr>
            <a:xfrm>
              <a:off x="3688425" y="2030700"/>
              <a:ext cx="3138750" cy="470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Describe a type of field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43"/>
            <p:cNvSpPr/>
            <p:nvPr/>
          </p:nvSpPr>
          <p:spPr>
            <a:xfrm>
              <a:off x="3688425" y="2555934"/>
              <a:ext cx="3138750" cy="980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3"/>
            <p:cNvSpPr/>
            <p:nvPr/>
          </p:nvSpPr>
          <p:spPr>
            <a:xfrm>
              <a:off x="7376456" y="815132"/>
              <a:ext cx="1098562" cy="10985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43"/>
            <p:cNvSpPr/>
            <p:nvPr/>
          </p:nvSpPr>
          <p:spPr>
            <a:xfrm>
              <a:off x="7376456" y="2030700"/>
              <a:ext cx="3138750" cy="470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43"/>
            <p:cNvSpPr txBox="1"/>
            <p:nvPr/>
          </p:nvSpPr>
          <p:spPr>
            <a:xfrm>
              <a:off x="7376456" y="2030700"/>
              <a:ext cx="3138750" cy="470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How to use columns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3"/>
            <p:cNvSpPr/>
            <p:nvPr/>
          </p:nvSpPr>
          <p:spPr>
            <a:xfrm>
              <a:off x="7376456" y="2555934"/>
              <a:ext cx="3138750" cy="980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3"/>
            <p:cNvSpPr txBox="1"/>
            <p:nvPr/>
          </p:nvSpPr>
          <p:spPr>
            <a:xfrm>
              <a:off x="7376456" y="2555934"/>
              <a:ext cx="3138750" cy="980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List all columns by names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Perform operations on values using relational or computational expressions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 logical or mathematical expressions on columns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654" name="Google Shape;654;p44"/>
          <p:cNvSpPr txBox="1"/>
          <p:nvPr>
            <p:ph type="title"/>
          </p:nvPr>
        </p:nvSpPr>
        <p:spPr>
          <a:xfrm>
            <a:off x="640080" y="329184"/>
            <a:ext cx="6894576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374269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Rows</a:t>
            </a:r>
            <a:endParaRPr/>
          </a:p>
        </p:txBody>
      </p:sp>
      <p:sp>
        <p:nvSpPr>
          <p:cNvPr id="655" name="Google Shape;655;p44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4"/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0029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 in DataFrame can’t exist in isolation: each column is part of a row in a record, and all rows together constitute a DataFrame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row object contains one or more columns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column may be of the same data type (e.g., integer or string)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they can have different types (integer, string, map, array, etc.)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7" name="Google Shape;65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766917"/>
            <a:ext cx="4014216" cy="255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3840" y="4547960"/>
            <a:ext cx="3995928" cy="1238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664" name="Google Shape;664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63563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Getting Started with DataFrames</a:t>
            </a:r>
            <a:endParaRPr/>
          </a:p>
        </p:txBody>
      </p:sp>
      <p:sp>
        <p:nvSpPr>
          <p:cNvPr id="665" name="Google Shape;665;p45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45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DataFrame from an existing RDD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DataFrames from JSON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DataFrams from Flat Files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39700" lvl="0" marL="0" marR="0" rtl="0" algn="l">
              <a:lnSpc>
                <a:spcPct val="90000"/>
              </a:lnSpc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Converting DataFrames to RDDs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39700" lvl="0" marL="0" marR="0" rtl="0" algn="l">
              <a:lnSpc>
                <a:spcPct val="90000"/>
              </a:lnSpc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16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672" name="Google Shape;672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27520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DataFrames</a:t>
            </a:r>
            <a:endParaRPr/>
          </a:p>
        </p:txBody>
      </p:sp>
      <p:sp>
        <p:nvSpPr>
          <p:cNvPr id="673" name="Google Shape;673;p46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46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DataFrame Metadata Operations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DataFrame.columns()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DataFrame.dtypes()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DataFrame Operations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DataFrame.show(n=20, truncate=True)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DataFrame.select(*cols)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DataFrame.drop(col)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DataFrame.filter(condition)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723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DataFrame.distinct()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1" marL="457200" marR="0" rtl="0" algn="l">
              <a:lnSpc>
                <a:spcPct val="90000"/>
              </a:lnSpc>
              <a:spcBef>
                <a:spcPts val="35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02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18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680" name="Google Shape;680;p47"/>
          <p:cNvSpPr txBox="1"/>
          <p:nvPr>
            <p:ph type="title"/>
          </p:nvPr>
        </p:nvSpPr>
        <p:spPr>
          <a:xfrm>
            <a:off x="143326" y="639200"/>
            <a:ext cx="40674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10515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Calibri"/>
              <a:buNone/>
            </a:pPr>
            <a:r>
              <a:rPr b="1" lang="en-US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DataFrame Built-in Functions</a:t>
            </a:r>
            <a:endParaRPr/>
          </a:p>
        </p:txBody>
      </p:sp>
      <p:sp>
        <p:nvSpPr>
          <p:cNvPr id="681" name="Google Shape;681;p47"/>
          <p:cNvSpPr/>
          <p:nvPr/>
        </p:nvSpPr>
        <p:spPr>
          <a:xfrm>
            <a:off x="643278" y="4409267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2" name="Google Shape;68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4296" y="770318"/>
            <a:ext cx="7214616" cy="5289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87" name="Google Shape;687;p48"/>
          <p:cNvSpPr txBox="1"/>
          <p:nvPr>
            <p:ph type="title"/>
          </p:nvPr>
        </p:nvSpPr>
        <p:spPr>
          <a:xfrm>
            <a:off x="681025" y="581475"/>
            <a:ext cx="97656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1790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User Defined Functions in DataFrame</a:t>
            </a:r>
            <a:endParaRPr/>
          </a:p>
        </p:txBody>
      </p:sp>
      <p:sp>
        <p:nvSpPr>
          <p:cNvPr id="688" name="Google Shape;688;p48"/>
          <p:cNvSpPr txBox="1"/>
          <p:nvPr/>
        </p:nvSpPr>
        <p:spPr>
          <a:xfrm>
            <a:off x="949947" y="1681429"/>
            <a:ext cx="10477500" cy="389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325">
            <a:spAutoFit/>
          </a:bodyPr>
          <a:lstStyle/>
          <a:p>
            <a:pPr indent="-227329" lvl="0" marL="240029" marR="551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Column-level UDFs to incorporate into Spark programs by using the udf() method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0" marL="240029" marR="0" rtl="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pyspark.sql.functions.udf(func, returnType=StringType)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0" marL="240029" marR="108585" rtl="0" algn="l">
              <a:lnSpc>
                <a:spcPct val="100000"/>
              </a:lnSpc>
              <a:spcBef>
                <a:spcPts val="10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 is a named or anonymous function, using the lambda syntax, that operates on a column within a DataFrame row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0" marL="240029" marR="5080" rtl="0" algn="l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returnType argument specifies the datatype of the object returned from the function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0" marL="2400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 19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9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9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49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9019"/>
                </a:srgbClr>
              </a:gs>
              <a:gs pos="2000">
                <a:srgbClr val="4472C4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9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49"/>
          <p:cNvSpPr/>
          <p:nvPr/>
        </p:nvSpPr>
        <p:spPr>
          <a:xfrm flipH="1" rot="5400000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699" name="Google Shape;699;p49"/>
          <p:cNvSpPr txBox="1"/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35941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Operations on Multiple DataFrames</a:t>
            </a:r>
            <a:endParaRPr/>
          </a:p>
        </p:txBody>
      </p:sp>
      <p:grpSp>
        <p:nvGrpSpPr>
          <p:cNvPr id="700" name="Google Shape;700;p49"/>
          <p:cNvGrpSpPr/>
          <p:nvPr/>
        </p:nvGrpSpPr>
        <p:grpSpPr>
          <a:xfrm>
            <a:off x="4905052" y="793239"/>
            <a:ext cx="6666833" cy="5368321"/>
            <a:chOff x="0" y="42799"/>
            <a:chExt cx="6666833" cy="5368321"/>
          </a:xfrm>
        </p:grpSpPr>
        <p:sp>
          <p:nvSpPr>
            <p:cNvPr id="701" name="Google Shape;701;p49"/>
            <p:cNvSpPr/>
            <p:nvPr/>
          </p:nvSpPr>
          <p:spPr>
            <a:xfrm>
              <a:off x="0" y="42799"/>
              <a:ext cx="6666833" cy="127296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49"/>
            <p:cNvSpPr txBox="1"/>
            <p:nvPr/>
          </p:nvSpPr>
          <p:spPr>
            <a:xfrm>
              <a:off x="62141" y="104940"/>
              <a:ext cx="6542551" cy="11486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DataFrame.join(other, on=None, how=None)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49"/>
            <p:cNvSpPr/>
            <p:nvPr/>
          </p:nvSpPr>
          <p:spPr>
            <a:xfrm>
              <a:off x="0" y="1407919"/>
              <a:ext cx="6666833" cy="127296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D58870"/>
                </a:gs>
                <a:gs pos="50000">
                  <a:srgbClr val="D57755"/>
                </a:gs>
                <a:gs pos="100000">
                  <a:srgbClr val="C26543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49"/>
            <p:cNvSpPr txBox="1"/>
            <p:nvPr/>
          </p:nvSpPr>
          <p:spPr>
            <a:xfrm>
              <a:off x="62141" y="1470060"/>
              <a:ext cx="6542551" cy="11486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DataFrame.orderBy(cols, ascending)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49"/>
            <p:cNvSpPr/>
            <p:nvPr/>
          </p:nvSpPr>
          <p:spPr>
            <a:xfrm>
              <a:off x="0" y="2773040"/>
              <a:ext cx="6666833" cy="127296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F948F"/>
                </a:gs>
                <a:gs pos="50000">
                  <a:srgbClr val="BA857E"/>
                </a:gs>
                <a:gs pos="100000">
                  <a:srgbClr val="A774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49"/>
            <p:cNvSpPr txBox="1"/>
            <p:nvPr/>
          </p:nvSpPr>
          <p:spPr>
            <a:xfrm>
              <a:off x="62141" y="2835181"/>
              <a:ext cx="6542551" cy="11486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DataFrame.groupBy(cols)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49"/>
            <p:cNvSpPr/>
            <p:nvPr/>
          </p:nvSpPr>
          <p:spPr>
            <a:xfrm>
              <a:off x="0" y="4138160"/>
              <a:ext cx="6666833" cy="127296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AEAEAE"/>
                </a:gs>
                <a:gs pos="50000">
                  <a:srgbClr val="A4A4A4"/>
                </a:gs>
                <a:gs pos="100000">
                  <a:srgbClr val="90909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49"/>
            <p:cNvSpPr txBox="1"/>
            <p:nvPr/>
          </p:nvSpPr>
          <p:spPr>
            <a:xfrm>
              <a:off x="62141" y="4200301"/>
              <a:ext cx="6542551" cy="11486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Demo 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0"/>
          <p:cNvSpPr/>
          <p:nvPr/>
        </p:nvSpPr>
        <p:spPr>
          <a:xfrm>
            <a:off x="0" y="0"/>
            <a:ext cx="12192000" cy="6857452"/>
          </a:xfrm>
          <a:prstGeom prst="rect">
            <a:avLst/>
          </a:prstGeom>
          <a:solidFill>
            <a:srgbClr val="404040"/>
          </a:solidFill>
          <a:ln cap="flat" cmpd="sng" w="12700">
            <a:solidFill>
              <a:srgbClr val="31538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50"/>
          <p:cNvSpPr txBox="1"/>
          <p:nvPr>
            <p:ph type="ctrTitle"/>
          </p:nvPr>
        </p:nvSpPr>
        <p:spPr>
          <a:xfrm>
            <a:off x="764949" y="3499076"/>
            <a:ext cx="6053558" cy="2424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GCP Serverless Data Pipeline</a:t>
            </a:r>
            <a:endParaRPr/>
          </a:p>
        </p:txBody>
      </p:sp>
      <p:sp>
        <p:nvSpPr>
          <p:cNvPr id="715" name="Google Shape;715;p50"/>
          <p:cNvSpPr/>
          <p:nvPr/>
        </p:nvSpPr>
        <p:spPr>
          <a:xfrm>
            <a:off x="3476199" y="548"/>
            <a:ext cx="4349752" cy="3142889"/>
          </a:xfrm>
          <a:custGeom>
            <a:rect b="b" l="l" r="r" t="t"/>
            <a:pathLst>
              <a:path extrusionOk="0" h="3142889" w="4349752">
                <a:moveTo>
                  <a:pt x="229420" y="0"/>
                </a:moveTo>
                <a:lnTo>
                  <a:pt x="4120333" y="0"/>
                </a:lnTo>
                <a:lnTo>
                  <a:pt x="4178840" y="121453"/>
                </a:lnTo>
                <a:cubicBezTo>
                  <a:pt x="4288894" y="381652"/>
                  <a:pt x="4349752" y="667725"/>
                  <a:pt x="4349752" y="968013"/>
                </a:cubicBezTo>
                <a:cubicBezTo>
                  <a:pt x="4349752" y="2169164"/>
                  <a:pt x="3376027" y="3142889"/>
                  <a:pt x="2174876" y="3142889"/>
                </a:cubicBezTo>
                <a:cubicBezTo>
                  <a:pt x="973725" y="3142889"/>
                  <a:pt x="0" y="2169164"/>
                  <a:pt x="0" y="968013"/>
                </a:cubicBezTo>
                <a:cubicBezTo>
                  <a:pt x="0" y="667725"/>
                  <a:pt x="60858" y="381652"/>
                  <a:pt x="170913" y="12145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50"/>
          <p:cNvSpPr/>
          <p:nvPr/>
        </p:nvSpPr>
        <p:spPr>
          <a:xfrm>
            <a:off x="7653759" y="1421356"/>
            <a:ext cx="4538241" cy="5436644"/>
          </a:xfrm>
          <a:custGeom>
            <a:rect b="b" l="l" r="r" t="t"/>
            <a:pathLst>
              <a:path extrusionOk="0" h="5436644" w="4538241">
                <a:moveTo>
                  <a:pt x="3084645" y="0"/>
                </a:moveTo>
                <a:cubicBezTo>
                  <a:pt x="3510546" y="0"/>
                  <a:pt x="3916286" y="86315"/>
                  <a:pt x="4285328" y="242407"/>
                </a:cubicBezTo>
                <a:lnTo>
                  <a:pt x="4538241" y="364242"/>
                </a:lnTo>
                <a:lnTo>
                  <a:pt x="4538241" y="5436644"/>
                </a:lnTo>
                <a:lnTo>
                  <a:pt x="1091428" y="5436644"/>
                </a:lnTo>
                <a:lnTo>
                  <a:pt x="903472" y="5265818"/>
                </a:lnTo>
                <a:cubicBezTo>
                  <a:pt x="345261" y="4707608"/>
                  <a:pt x="0" y="3936446"/>
                  <a:pt x="0" y="3084645"/>
                </a:cubicBezTo>
                <a:cubicBezTo>
                  <a:pt x="0" y="1381043"/>
                  <a:pt x="1381043" y="0"/>
                  <a:pt x="308464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50"/>
          <p:cNvSpPr/>
          <p:nvPr/>
        </p:nvSpPr>
        <p:spPr>
          <a:xfrm>
            <a:off x="3639395" y="0"/>
            <a:ext cx="4023360" cy="2980240"/>
          </a:xfrm>
          <a:custGeom>
            <a:rect b="b" l="l" r="r" t="t"/>
            <a:pathLst>
              <a:path extrusionOk="0" h="2980240" w="4023360">
                <a:moveTo>
                  <a:pt x="248676" y="0"/>
                </a:moveTo>
                <a:lnTo>
                  <a:pt x="3774684" y="0"/>
                </a:lnTo>
                <a:lnTo>
                  <a:pt x="3780561" y="9674"/>
                </a:lnTo>
                <a:cubicBezTo>
                  <a:pt x="3935405" y="294716"/>
                  <a:pt x="4023360" y="621366"/>
                  <a:pt x="4023360" y="968560"/>
                </a:cubicBezTo>
                <a:cubicBezTo>
                  <a:pt x="4023360" y="2079580"/>
                  <a:pt x="3122700" y="2980240"/>
                  <a:pt x="2011680" y="2980240"/>
                </a:cubicBezTo>
                <a:cubicBezTo>
                  <a:pt x="900660" y="2980240"/>
                  <a:pt x="0" y="2079580"/>
                  <a:pt x="0" y="968560"/>
                </a:cubicBezTo>
                <a:cubicBezTo>
                  <a:pt x="0" y="621366"/>
                  <a:pt x="87955" y="294716"/>
                  <a:pt x="242799" y="967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50"/>
          <p:cNvSpPr txBox="1"/>
          <p:nvPr>
            <p:ph idx="1" type="subTitle"/>
          </p:nvPr>
        </p:nvSpPr>
        <p:spPr>
          <a:xfrm>
            <a:off x="4215161" y="356187"/>
            <a:ext cx="2878409" cy="1792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270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BigQuery • Dataflow • Dataproc • Pub/Sub • Cloud Storage</a:t>
            </a:r>
            <a:endParaRPr/>
          </a:p>
        </p:txBody>
      </p:sp>
      <p:sp>
        <p:nvSpPr>
          <p:cNvPr id="719" name="Google Shape;719;p50"/>
          <p:cNvSpPr/>
          <p:nvPr/>
        </p:nvSpPr>
        <p:spPr>
          <a:xfrm>
            <a:off x="7816897" y="1584494"/>
            <a:ext cx="4375105" cy="5273507"/>
          </a:xfrm>
          <a:custGeom>
            <a:rect b="b" l="l" r="r" t="t"/>
            <a:pathLst>
              <a:path extrusionOk="0" h="5273507" w="4375105">
                <a:moveTo>
                  <a:pt x="2921508" y="0"/>
                </a:moveTo>
                <a:cubicBezTo>
                  <a:pt x="3425728" y="0"/>
                  <a:pt x="3900114" y="127735"/>
                  <a:pt x="4314072" y="352611"/>
                </a:cubicBezTo>
                <a:lnTo>
                  <a:pt x="4375105" y="389689"/>
                </a:lnTo>
                <a:lnTo>
                  <a:pt x="4375105" y="5273507"/>
                </a:lnTo>
                <a:lnTo>
                  <a:pt x="1193705" y="5273507"/>
                </a:lnTo>
                <a:lnTo>
                  <a:pt x="1063158" y="5175886"/>
                </a:lnTo>
                <a:cubicBezTo>
                  <a:pt x="413861" y="4640038"/>
                  <a:pt x="0" y="3829104"/>
                  <a:pt x="0" y="2921508"/>
                </a:cubicBezTo>
                <a:cubicBezTo>
                  <a:pt x="0" y="1308004"/>
                  <a:pt x="1308004" y="0"/>
                  <a:pt x="292150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50"/>
          <p:cNvSpPr txBox="1"/>
          <p:nvPr/>
        </p:nvSpPr>
        <p:spPr>
          <a:xfrm>
            <a:off x="8386139" y="3143438"/>
            <a:ext cx="3474621" cy="2780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270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GCP Services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ETL 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vs GCP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51"/>
          <p:cNvSpPr/>
          <p:nvPr/>
        </p:nvSpPr>
        <p:spPr>
          <a:xfrm>
            <a:off x="0" y="8313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51"/>
          <p:cNvSpPr txBox="1"/>
          <p:nvPr>
            <p:ph type="title"/>
          </p:nvPr>
        </p:nvSpPr>
        <p:spPr>
          <a:xfrm>
            <a:off x="479394" y="1070800"/>
            <a:ext cx="3939688" cy="5583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End-to-End GCP Architecture</a:t>
            </a:r>
            <a:endParaRPr/>
          </a:p>
        </p:txBody>
      </p:sp>
      <p:cxnSp>
        <p:nvCxnSpPr>
          <p:cNvPr id="728" name="Google Shape;728;p51"/>
          <p:cNvCxnSpPr/>
          <p:nvPr/>
        </p:nvCxnSpPr>
        <p:spPr>
          <a:xfrm>
            <a:off x="4728053" y="1132114"/>
            <a:ext cx="0" cy="5717573"/>
          </a:xfrm>
          <a:prstGeom prst="straightConnector1">
            <a:avLst/>
          </a:prstGeom>
          <a:noFill/>
          <a:ln cap="sq" cmpd="sng" w="25400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</p:cxnSp>
      <p:grpSp>
        <p:nvGrpSpPr>
          <p:cNvPr id="729" name="Google Shape;729;p51"/>
          <p:cNvGrpSpPr/>
          <p:nvPr/>
        </p:nvGrpSpPr>
        <p:grpSpPr>
          <a:xfrm>
            <a:off x="5108535" y="1071482"/>
            <a:ext cx="6245265" cy="5587982"/>
            <a:chOff x="0" y="682"/>
            <a:chExt cx="6245265" cy="5587982"/>
          </a:xfrm>
        </p:grpSpPr>
        <p:sp>
          <p:nvSpPr>
            <p:cNvPr id="730" name="Google Shape;730;p51"/>
            <p:cNvSpPr/>
            <p:nvPr/>
          </p:nvSpPr>
          <p:spPr>
            <a:xfrm>
              <a:off x="0" y="682"/>
              <a:ext cx="6245265" cy="159656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1"/>
            <p:cNvSpPr/>
            <p:nvPr/>
          </p:nvSpPr>
          <p:spPr>
            <a:xfrm>
              <a:off x="482961" y="359909"/>
              <a:ext cx="878111" cy="878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1"/>
            <p:cNvSpPr/>
            <p:nvPr/>
          </p:nvSpPr>
          <p:spPr>
            <a:xfrm>
              <a:off x="1844034" y="682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1"/>
            <p:cNvSpPr txBox="1"/>
            <p:nvPr/>
          </p:nvSpPr>
          <p:spPr>
            <a:xfrm>
              <a:off x="1844034" y="682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950" lIns="168950" spcFirstLastPara="1" rIns="168950" wrap="square" tIns="168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Cloud Storage → Pub/Sub → Dataflow → Dataproc → BigQuery → Looker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1"/>
            <p:cNvSpPr/>
            <p:nvPr/>
          </p:nvSpPr>
          <p:spPr>
            <a:xfrm>
              <a:off x="0" y="1996390"/>
              <a:ext cx="6245265" cy="159656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1"/>
            <p:cNvSpPr/>
            <p:nvPr/>
          </p:nvSpPr>
          <p:spPr>
            <a:xfrm>
              <a:off x="482961" y="2355617"/>
              <a:ext cx="878111" cy="878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1"/>
            <p:cNvSpPr/>
            <p:nvPr/>
          </p:nvSpPr>
          <p:spPr>
            <a:xfrm>
              <a:off x="1844034" y="1996390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1"/>
            <p:cNvSpPr txBox="1"/>
            <p:nvPr/>
          </p:nvSpPr>
          <p:spPr>
            <a:xfrm>
              <a:off x="1844034" y="1996390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950" lIns="168950" spcFirstLastPara="1" rIns="168950" wrap="square" tIns="168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Serverless-first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1"/>
            <p:cNvSpPr/>
            <p:nvPr/>
          </p:nvSpPr>
          <p:spPr>
            <a:xfrm>
              <a:off x="0" y="3992098"/>
              <a:ext cx="6245265" cy="159656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1"/>
            <p:cNvSpPr/>
            <p:nvPr/>
          </p:nvSpPr>
          <p:spPr>
            <a:xfrm>
              <a:off x="482961" y="4351325"/>
              <a:ext cx="878111" cy="878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51"/>
            <p:cNvSpPr/>
            <p:nvPr/>
          </p:nvSpPr>
          <p:spPr>
            <a:xfrm>
              <a:off x="1844034" y="3992098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51"/>
            <p:cNvSpPr txBox="1"/>
            <p:nvPr/>
          </p:nvSpPr>
          <p:spPr>
            <a:xfrm>
              <a:off x="1844034" y="3992098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950" lIns="168950" spcFirstLastPara="1" rIns="168950" wrap="square" tIns="168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Supports batch and streaming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7" name="Google Shape;747;p52"/>
          <p:cNvPicPr preferRelativeResize="0"/>
          <p:nvPr/>
        </p:nvPicPr>
        <p:blipFill rotWithShape="1">
          <a:blip r:embed="rId3">
            <a:alphaModFix/>
          </a:blip>
          <a:srcRect b="2" l="27673" r="20374" t="0"/>
          <a:stretch/>
        </p:blipFill>
        <p:spPr>
          <a:xfrm>
            <a:off x="8529321" y="10"/>
            <a:ext cx="3662680" cy="3401558"/>
          </a:xfrm>
          <a:custGeom>
            <a:rect b="b" l="l" r="r" t="t"/>
            <a:pathLst>
              <a:path extrusionOk="0" h="3401568" w="3662680">
                <a:moveTo>
                  <a:pt x="0" y="0"/>
                </a:moveTo>
                <a:lnTo>
                  <a:pt x="3662680" y="0"/>
                </a:lnTo>
                <a:lnTo>
                  <a:pt x="3662680" y="3401568"/>
                </a:lnTo>
                <a:lnTo>
                  <a:pt x="774527" y="3401568"/>
                </a:lnTo>
                <a:lnTo>
                  <a:pt x="769892" y="3133175"/>
                </a:lnTo>
                <a:cubicBezTo>
                  <a:pt x="732577" y="2055441"/>
                  <a:pt x="492520" y="1056020"/>
                  <a:pt x="104445" y="215033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748" name="Google Shape;748;p52"/>
          <p:cNvPicPr preferRelativeResize="0"/>
          <p:nvPr/>
        </p:nvPicPr>
        <p:blipFill rotWithShape="1">
          <a:blip r:embed="rId4">
            <a:alphaModFix/>
          </a:blip>
          <a:srcRect b="-3" l="0" r="-3" t="2249"/>
          <a:stretch/>
        </p:blipFill>
        <p:spPr>
          <a:xfrm>
            <a:off x="5115314" y="10"/>
            <a:ext cx="4118110" cy="3401558"/>
          </a:xfrm>
          <a:custGeom>
            <a:rect b="b" l="l" r="r" t="t"/>
            <a:pathLst>
              <a:path extrusionOk="0" h="3401568" w="4118110">
                <a:moveTo>
                  <a:pt x="0" y="0"/>
                </a:moveTo>
                <a:lnTo>
                  <a:pt x="3343575" y="0"/>
                </a:lnTo>
                <a:lnTo>
                  <a:pt x="3448028" y="215050"/>
                </a:lnTo>
                <a:cubicBezTo>
                  <a:pt x="3836103" y="1056037"/>
                  <a:pt x="4076161" y="2055458"/>
                  <a:pt x="4113475" y="3133192"/>
                </a:cubicBezTo>
                <a:lnTo>
                  <a:pt x="4118110" y="3401568"/>
                </a:lnTo>
                <a:lnTo>
                  <a:pt x="801224" y="3401568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749" name="Google Shape;749;p52"/>
          <p:cNvPicPr preferRelativeResize="0"/>
          <p:nvPr/>
        </p:nvPicPr>
        <p:blipFill rotWithShape="1">
          <a:blip r:embed="rId5">
            <a:alphaModFix/>
          </a:blip>
          <a:srcRect b="8189" l="0" r="-1" t="0"/>
          <a:stretch/>
        </p:blipFill>
        <p:spPr>
          <a:xfrm>
            <a:off x="5168353" y="3456432"/>
            <a:ext cx="7023646" cy="3401568"/>
          </a:xfrm>
          <a:custGeom>
            <a:rect b="b" l="l" r="r" t="t"/>
            <a:pathLst>
              <a:path extrusionOk="0" h="3401568" w="7023646">
                <a:moveTo>
                  <a:pt x="749132" y="0"/>
                </a:moveTo>
                <a:lnTo>
                  <a:pt x="7023646" y="0"/>
                </a:lnTo>
                <a:lnTo>
                  <a:pt x="7023646" y="3401568"/>
                </a:lnTo>
                <a:lnTo>
                  <a:pt x="0" y="3401568"/>
                </a:lnTo>
                <a:lnTo>
                  <a:pt x="79008" y="3238906"/>
                </a:lnTo>
                <a:cubicBezTo>
                  <a:pt x="502362" y="2321466"/>
                  <a:pt x="749563" y="1215476"/>
                  <a:pt x="749563" y="24956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50" name="Google Shape;750;p52"/>
          <p:cNvSpPr/>
          <p:nvPr/>
        </p:nvSpPr>
        <p:spPr>
          <a:xfrm>
            <a:off x="0" y="0"/>
            <a:ext cx="5927943" cy="6858000"/>
          </a:xfrm>
          <a:custGeom>
            <a:rect b="b" l="l" r="r" t="t"/>
            <a:pathLst>
              <a:path extrusionOk="0" h="6858000" w="5927943">
                <a:moveTo>
                  <a:pt x="0" y="0"/>
                </a:moveTo>
                <a:lnTo>
                  <a:pt x="5129522" y="0"/>
                </a:lnTo>
                <a:lnTo>
                  <a:pt x="5289639" y="323150"/>
                </a:lnTo>
                <a:cubicBezTo>
                  <a:pt x="5692631" y="1223391"/>
                  <a:pt x="5927943" y="2308646"/>
                  <a:pt x="5927943" y="3476847"/>
                </a:cubicBezTo>
                <a:cubicBezTo>
                  <a:pt x="5927943" y="4645048"/>
                  <a:pt x="5692631" y="5730304"/>
                  <a:pt x="5289639" y="6630545"/>
                </a:cubicBezTo>
                <a:lnTo>
                  <a:pt x="517693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52"/>
          <p:cNvSpPr/>
          <p:nvPr/>
        </p:nvSpPr>
        <p:spPr>
          <a:xfrm>
            <a:off x="0" y="0"/>
            <a:ext cx="5917310" cy="6858000"/>
          </a:xfrm>
          <a:custGeom>
            <a:rect b="b" l="l" r="r" t="t"/>
            <a:pathLst>
              <a:path extrusionOk="0" h="6858000" w="5917310">
                <a:moveTo>
                  <a:pt x="0" y="0"/>
                </a:moveTo>
                <a:lnTo>
                  <a:pt x="5118889" y="0"/>
                </a:lnTo>
                <a:lnTo>
                  <a:pt x="5279006" y="323150"/>
                </a:lnTo>
                <a:cubicBezTo>
                  <a:pt x="5681998" y="1223391"/>
                  <a:pt x="5917310" y="2308646"/>
                  <a:pt x="5917310" y="3476847"/>
                </a:cubicBezTo>
                <a:cubicBezTo>
                  <a:pt x="5917310" y="4645048"/>
                  <a:pt x="5681998" y="5730304"/>
                  <a:pt x="5279006" y="6630545"/>
                </a:cubicBezTo>
                <a:lnTo>
                  <a:pt x="516630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52"/>
          <p:cNvSpPr txBox="1"/>
          <p:nvPr/>
        </p:nvSpPr>
        <p:spPr>
          <a:xfrm>
            <a:off x="438912" y="1527048"/>
            <a:ext cx="5020056" cy="27706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GCP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52"/>
          <p:cNvSpPr/>
          <p:nvPr/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52"/>
          <p:cNvSpPr/>
          <p:nvPr/>
        </p:nvSpPr>
        <p:spPr>
          <a:xfrm>
            <a:off x="489098" y="4461119"/>
            <a:ext cx="5019074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0" name="Google Shape;760;p53"/>
          <p:cNvPicPr preferRelativeResize="0"/>
          <p:nvPr/>
        </p:nvPicPr>
        <p:blipFill rotWithShape="1">
          <a:blip r:embed="rId3">
            <a:alphaModFix/>
          </a:blip>
          <a:srcRect b="2" l="17961" r="10974" t="0"/>
          <a:stretch/>
        </p:blipFill>
        <p:spPr>
          <a:xfrm>
            <a:off x="8529321" y="10"/>
            <a:ext cx="3662680" cy="3401558"/>
          </a:xfrm>
          <a:custGeom>
            <a:rect b="b" l="l" r="r" t="t"/>
            <a:pathLst>
              <a:path extrusionOk="0" h="3401568" w="3662680">
                <a:moveTo>
                  <a:pt x="0" y="0"/>
                </a:moveTo>
                <a:lnTo>
                  <a:pt x="3662680" y="0"/>
                </a:lnTo>
                <a:lnTo>
                  <a:pt x="3662680" y="3401568"/>
                </a:lnTo>
                <a:lnTo>
                  <a:pt x="774527" y="3401568"/>
                </a:lnTo>
                <a:lnTo>
                  <a:pt x="769892" y="3133175"/>
                </a:lnTo>
                <a:cubicBezTo>
                  <a:pt x="732577" y="2055441"/>
                  <a:pt x="492520" y="1056020"/>
                  <a:pt x="104445" y="215033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761" name="Google Shape;761;p53"/>
          <p:cNvPicPr preferRelativeResize="0"/>
          <p:nvPr/>
        </p:nvPicPr>
        <p:blipFill rotWithShape="1">
          <a:blip r:embed="rId4">
            <a:alphaModFix/>
          </a:blip>
          <a:srcRect b="-1" l="22287" r="25049" t="0"/>
          <a:stretch/>
        </p:blipFill>
        <p:spPr>
          <a:xfrm>
            <a:off x="5115314" y="10"/>
            <a:ext cx="4118110" cy="3401558"/>
          </a:xfrm>
          <a:custGeom>
            <a:rect b="b" l="l" r="r" t="t"/>
            <a:pathLst>
              <a:path extrusionOk="0" h="3401568" w="4118110">
                <a:moveTo>
                  <a:pt x="0" y="0"/>
                </a:moveTo>
                <a:lnTo>
                  <a:pt x="3343575" y="0"/>
                </a:lnTo>
                <a:lnTo>
                  <a:pt x="3448028" y="215050"/>
                </a:lnTo>
                <a:cubicBezTo>
                  <a:pt x="3836103" y="1056037"/>
                  <a:pt x="4076161" y="2055458"/>
                  <a:pt x="4113475" y="3133192"/>
                </a:cubicBezTo>
                <a:lnTo>
                  <a:pt x="4118110" y="3401568"/>
                </a:lnTo>
                <a:lnTo>
                  <a:pt x="801224" y="3401568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762" name="Google Shape;762;p53"/>
          <p:cNvPicPr preferRelativeResize="0"/>
          <p:nvPr/>
        </p:nvPicPr>
        <p:blipFill rotWithShape="1">
          <a:blip r:embed="rId5">
            <a:alphaModFix/>
          </a:blip>
          <a:srcRect b="25431" l="0" r="-1" t="630"/>
          <a:stretch/>
        </p:blipFill>
        <p:spPr>
          <a:xfrm>
            <a:off x="5168353" y="3456432"/>
            <a:ext cx="7023646" cy="3401568"/>
          </a:xfrm>
          <a:custGeom>
            <a:rect b="b" l="l" r="r" t="t"/>
            <a:pathLst>
              <a:path extrusionOk="0" h="3401568" w="7023646">
                <a:moveTo>
                  <a:pt x="749132" y="0"/>
                </a:moveTo>
                <a:lnTo>
                  <a:pt x="7023646" y="0"/>
                </a:lnTo>
                <a:lnTo>
                  <a:pt x="7023646" y="3401568"/>
                </a:lnTo>
                <a:lnTo>
                  <a:pt x="0" y="3401568"/>
                </a:lnTo>
                <a:lnTo>
                  <a:pt x="79008" y="3238906"/>
                </a:lnTo>
                <a:cubicBezTo>
                  <a:pt x="502362" y="2321466"/>
                  <a:pt x="749563" y="1215476"/>
                  <a:pt x="749563" y="24956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63" name="Google Shape;763;p53"/>
          <p:cNvSpPr/>
          <p:nvPr/>
        </p:nvSpPr>
        <p:spPr>
          <a:xfrm>
            <a:off x="0" y="0"/>
            <a:ext cx="5927943" cy="6858000"/>
          </a:xfrm>
          <a:custGeom>
            <a:rect b="b" l="l" r="r" t="t"/>
            <a:pathLst>
              <a:path extrusionOk="0" h="6858000" w="5927943">
                <a:moveTo>
                  <a:pt x="0" y="0"/>
                </a:moveTo>
                <a:lnTo>
                  <a:pt x="5129522" y="0"/>
                </a:lnTo>
                <a:lnTo>
                  <a:pt x="5289639" y="323150"/>
                </a:lnTo>
                <a:cubicBezTo>
                  <a:pt x="5692631" y="1223391"/>
                  <a:pt x="5927943" y="2308646"/>
                  <a:pt x="5927943" y="3476847"/>
                </a:cubicBezTo>
                <a:cubicBezTo>
                  <a:pt x="5927943" y="4645048"/>
                  <a:pt x="5692631" y="5730304"/>
                  <a:pt x="5289639" y="6630545"/>
                </a:cubicBezTo>
                <a:lnTo>
                  <a:pt x="517693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53"/>
          <p:cNvSpPr/>
          <p:nvPr/>
        </p:nvSpPr>
        <p:spPr>
          <a:xfrm>
            <a:off x="0" y="0"/>
            <a:ext cx="5917310" cy="6858000"/>
          </a:xfrm>
          <a:custGeom>
            <a:rect b="b" l="l" r="r" t="t"/>
            <a:pathLst>
              <a:path extrusionOk="0" h="6858000" w="5917310">
                <a:moveTo>
                  <a:pt x="0" y="0"/>
                </a:moveTo>
                <a:lnTo>
                  <a:pt x="5118889" y="0"/>
                </a:lnTo>
                <a:lnTo>
                  <a:pt x="5279006" y="323150"/>
                </a:lnTo>
                <a:cubicBezTo>
                  <a:pt x="5681998" y="1223391"/>
                  <a:pt x="5917310" y="2308646"/>
                  <a:pt x="5917310" y="3476847"/>
                </a:cubicBezTo>
                <a:cubicBezTo>
                  <a:pt x="5917310" y="4645048"/>
                  <a:pt x="5681998" y="5730304"/>
                  <a:pt x="5279006" y="6630545"/>
                </a:cubicBezTo>
                <a:lnTo>
                  <a:pt x="516630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53"/>
          <p:cNvSpPr txBox="1"/>
          <p:nvPr/>
        </p:nvSpPr>
        <p:spPr>
          <a:xfrm>
            <a:off x="438912" y="1527048"/>
            <a:ext cx="5020056" cy="27706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GCP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53"/>
          <p:cNvSpPr/>
          <p:nvPr/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53"/>
          <p:cNvSpPr/>
          <p:nvPr/>
        </p:nvSpPr>
        <p:spPr>
          <a:xfrm>
            <a:off x="489098" y="4461119"/>
            <a:ext cx="5019074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5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54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54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54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9019"/>
                </a:srgbClr>
              </a:gs>
              <a:gs pos="2000">
                <a:srgbClr val="4472C4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54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54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54"/>
          <p:cNvSpPr txBox="1"/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GCP ETL Pipeline</a:t>
            </a:r>
            <a:endParaRPr/>
          </a:p>
        </p:txBody>
      </p:sp>
      <p:sp>
        <p:nvSpPr>
          <p:cNvPr id="780" name="Google Shape;780;p54"/>
          <p:cNvSpPr txBox="1"/>
          <p:nvPr>
            <p:ph idx="1" type="body"/>
          </p:nvPr>
        </p:nvSpPr>
        <p:spPr>
          <a:xfrm>
            <a:off x="4810259" y="649480"/>
            <a:ext cx="6555347" cy="5546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Ingest → Cloud Storage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Stream → Pub/Sub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Process → Dataflow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Store → BigQuery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-------------------------------------------------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Upload → Cloud Storage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Stream → Pub/Sub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Process → Dataflow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Heavy compute → Dataproc (optional)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Store → BigQuery 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6" name="Google Shape;786;p55"/>
          <p:cNvPicPr preferRelativeResize="0"/>
          <p:nvPr/>
        </p:nvPicPr>
        <p:blipFill rotWithShape="1">
          <a:blip r:embed="rId3">
            <a:alphaModFix/>
          </a:blip>
          <a:srcRect b="-2" l="18241" r="30910" t="0"/>
          <a:stretch/>
        </p:blipFill>
        <p:spPr>
          <a:xfrm>
            <a:off x="5115314" y="10"/>
            <a:ext cx="4118110" cy="3401558"/>
          </a:xfrm>
          <a:custGeom>
            <a:rect b="b" l="l" r="r" t="t"/>
            <a:pathLst>
              <a:path extrusionOk="0" h="3401568" w="4118110">
                <a:moveTo>
                  <a:pt x="0" y="0"/>
                </a:moveTo>
                <a:lnTo>
                  <a:pt x="3343575" y="0"/>
                </a:lnTo>
                <a:lnTo>
                  <a:pt x="3448028" y="215050"/>
                </a:lnTo>
                <a:cubicBezTo>
                  <a:pt x="3836103" y="1056037"/>
                  <a:pt x="4076161" y="2055458"/>
                  <a:pt x="4113475" y="3133192"/>
                </a:cubicBezTo>
                <a:lnTo>
                  <a:pt x="4118110" y="3401568"/>
                </a:lnTo>
                <a:lnTo>
                  <a:pt x="801224" y="3401568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787" name="Google Shape;787;p55"/>
          <p:cNvPicPr preferRelativeResize="0"/>
          <p:nvPr/>
        </p:nvPicPr>
        <p:blipFill rotWithShape="1">
          <a:blip r:embed="rId4">
            <a:alphaModFix/>
          </a:blip>
          <a:srcRect b="1" l="36509" r="28774" t="0"/>
          <a:stretch/>
        </p:blipFill>
        <p:spPr>
          <a:xfrm>
            <a:off x="8530121" y="3456433"/>
            <a:ext cx="3661880" cy="3401568"/>
          </a:xfrm>
          <a:custGeom>
            <a:rect b="b" l="l" r="r" t="t"/>
            <a:pathLst>
              <a:path extrusionOk="0" h="3401568" w="3661880">
                <a:moveTo>
                  <a:pt x="774544" y="0"/>
                </a:moveTo>
                <a:lnTo>
                  <a:pt x="3661880" y="0"/>
                </a:lnTo>
                <a:lnTo>
                  <a:pt x="3661880" y="3401568"/>
                </a:lnTo>
                <a:lnTo>
                  <a:pt x="0" y="3401568"/>
                </a:lnTo>
                <a:lnTo>
                  <a:pt x="104462" y="3186501"/>
                </a:lnTo>
                <a:cubicBezTo>
                  <a:pt x="492537" y="2345513"/>
                  <a:pt x="732594" y="1346092"/>
                  <a:pt x="769909" y="268359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788" name="Google Shape;788;p55"/>
          <p:cNvPicPr preferRelativeResize="0"/>
          <p:nvPr/>
        </p:nvPicPr>
        <p:blipFill rotWithShape="1">
          <a:blip r:embed="rId5">
            <a:alphaModFix/>
          </a:blip>
          <a:srcRect b="-2" l="9168" r="24512" t="0"/>
          <a:stretch/>
        </p:blipFill>
        <p:spPr>
          <a:xfrm>
            <a:off x="5168353" y="3456432"/>
            <a:ext cx="4064598" cy="3401568"/>
          </a:xfrm>
          <a:custGeom>
            <a:rect b="b" l="l" r="r" t="t"/>
            <a:pathLst>
              <a:path extrusionOk="0" h="3401568" w="4064598">
                <a:moveTo>
                  <a:pt x="749132" y="0"/>
                </a:moveTo>
                <a:lnTo>
                  <a:pt x="4064598" y="0"/>
                </a:lnTo>
                <a:lnTo>
                  <a:pt x="4059963" y="268360"/>
                </a:lnTo>
                <a:cubicBezTo>
                  <a:pt x="4022649" y="1346093"/>
                  <a:pt x="3782591" y="2345514"/>
                  <a:pt x="3394516" y="3186502"/>
                </a:cubicBezTo>
                <a:lnTo>
                  <a:pt x="3290055" y="3401568"/>
                </a:lnTo>
                <a:lnTo>
                  <a:pt x="0" y="3401568"/>
                </a:lnTo>
                <a:lnTo>
                  <a:pt x="79008" y="3238906"/>
                </a:lnTo>
                <a:cubicBezTo>
                  <a:pt x="502362" y="2321466"/>
                  <a:pt x="749563" y="1215476"/>
                  <a:pt x="749563" y="24956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89" name="Google Shape;789;p55"/>
          <p:cNvSpPr/>
          <p:nvPr/>
        </p:nvSpPr>
        <p:spPr>
          <a:xfrm>
            <a:off x="0" y="0"/>
            <a:ext cx="5932965" cy="6858000"/>
          </a:xfrm>
          <a:custGeom>
            <a:rect b="b" l="l" r="r" t="t"/>
            <a:pathLst>
              <a:path extrusionOk="0" h="6858000" w="5932965">
                <a:moveTo>
                  <a:pt x="0" y="0"/>
                </a:moveTo>
                <a:lnTo>
                  <a:pt x="5140363" y="0"/>
                </a:lnTo>
                <a:lnTo>
                  <a:pt x="5152943" y="23550"/>
                </a:lnTo>
                <a:cubicBezTo>
                  <a:pt x="5642847" y="987256"/>
                  <a:pt x="5932965" y="2183538"/>
                  <a:pt x="5932965" y="3479505"/>
                </a:cubicBezTo>
                <a:cubicBezTo>
                  <a:pt x="5932965" y="4675783"/>
                  <a:pt x="5685764" y="5787121"/>
                  <a:pt x="5262410" y="6708999"/>
                </a:cubicBezTo>
                <a:lnTo>
                  <a:pt x="519038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55"/>
          <p:cNvSpPr/>
          <p:nvPr/>
        </p:nvSpPr>
        <p:spPr>
          <a:xfrm>
            <a:off x="0" y="0"/>
            <a:ext cx="5922333" cy="6858000"/>
          </a:xfrm>
          <a:custGeom>
            <a:rect b="b" l="l" r="r" t="t"/>
            <a:pathLst>
              <a:path extrusionOk="0" h="6858000" w="5922333">
                <a:moveTo>
                  <a:pt x="0" y="0"/>
                </a:moveTo>
                <a:lnTo>
                  <a:pt x="5129731" y="0"/>
                </a:lnTo>
                <a:lnTo>
                  <a:pt x="5142311" y="23550"/>
                </a:lnTo>
                <a:cubicBezTo>
                  <a:pt x="5632215" y="987256"/>
                  <a:pt x="5922333" y="2183538"/>
                  <a:pt x="5922333" y="3479505"/>
                </a:cubicBezTo>
                <a:cubicBezTo>
                  <a:pt x="5922333" y="4675783"/>
                  <a:pt x="5675132" y="5787121"/>
                  <a:pt x="5251778" y="6708999"/>
                </a:cubicBezTo>
                <a:lnTo>
                  <a:pt x="51797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5"/>
          <p:cNvSpPr/>
          <p:nvPr/>
        </p:nvSpPr>
        <p:spPr>
          <a:xfrm>
            <a:off x="0" y="1016867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55"/>
          <p:cNvSpPr/>
          <p:nvPr/>
        </p:nvSpPr>
        <p:spPr>
          <a:xfrm>
            <a:off x="438911" y="2089941"/>
            <a:ext cx="4970439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55"/>
          <p:cNvSpPr txBox="1"/>
          <p:nvPr/>
        </p:nvSpPr>
        <p:spPr>
          <a:xfrm>
            <a:off x="448056" y="2514600"/>
            <a:ext cx="4922338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GCP ETL 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4" name="Google Shape;794;p55"/>
          <p:cNvPicPr preferRelativeResize="0"/>
          <p:nvPr/>
        </p:nvPicPr>
        <p:blipFill rotWithShape="1">
          <a:blip r:embed="rId6">
            <a:alphaModFix/>
          </a:blip>
          <a:srcRect b="8097" l="0" r="0" t="14588"/>
          <a:stretch/>
        </p:blipFill>
        <p:spPr>
          <a:xfrm>
            <a:off x="8529321" y="10"/>
            <a:ext cx="3662680" cy="3401558"/>
          </a:xfrm>
          <a:custGeom>
            <a:rect b="b" l="l" r="r" t="t"/>
            <a:pathLst>
              <a:path extrusionOk="0" h="3401568" w="3662680">
                <a:moveTo>
                  <a:pt x="0" y="0"/>
                </a:moveTo>
                <a:lnTo>
                  <a:pt x="3662680" y="0"/>
                </a:lnTo>
                <a:lnTo>
                  <a:pt x="3662680" y="3401568"/>
                </a:lnTo>
                <a:lnTo>
                  <a:pt x="774527" y="3401568"/>
                </a:lnTo>
                <a:lnTo>
                  <a:pt x="769892" y="3133175"/>
                </a:lnTo>
                <a:cubicBezTo>
                  <a:pt x="732577" y="2055441"/>
                  <a:pt x="492520" y="1056020"/>
                  <a:pt x="104445" y="215033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0" name="Google Shape;800;p56"/>
          <p:cNvPicPr preferRelativeResize="0"/>
          <p:nvPr/>
        </p:nvPicPr>
        <p:blipFill rotWithShape="1">
          <a:blip r:embed="rId3">
            <a:alphaModFix/>
          </a:blip>
          <a:srcRect b="1" l="7413" r="1" t="0"/>
          <a:stretch/>
        </p:blipFill>
        <p:spPr>
          <a:xfrm>
            <a:off x="3577219" y="10"/>
            <a:ext cx="4979304" cy="3401558"/>
          </a:xfrm>
          <a:custGeom>
            <a:rect b="b" l="l" r="r" t="t"/>
            <a:pathLst>
              <a:path extrusionOk="0" h="3364992" w="4979304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801" name="Google Shape;801;p56"/>
          <p:cNvPicPr preferRelativeResize="0"/>
          <p:nvPr/>
        </p:nvPicPr>
        <p:blipFill rotWithShape="1">
          <a:blip r:embed="rId4">
            <a:alphaModFix/>
          </a:blip>
          <a:srcRect b="0" l="29660" r="21849" t="0"/>
          <a:stretch/>
        </p:blipFill>
        <p:spPr>
          <a:xfrm>
            <a:off x="7822523" y="3456433"/>
            <a:ext cx="4369477" cy="3401568"/>
          </a:xfrm>
          <a:custGeom>
            <a:rect b="b" l="l" r="r" t="t"/>
            <a:pathLst>
              <a:path extrusionOk="0" h="3401568" w="4369477">
                <a:moveTo>
                  <a:pt x="781270" y="0"/>
                </a:moveTo>
                <a:lnTo>
                  <a:pt x="4369477" y="0"/>
                </a:lnTo>
                <a:lnTo>
                  <a:pt x="4369477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802" name="Google Shape;802;p56"/>
          <p:cNvPicPr preferRelativeResize="0"/>
          <p:nvPr/>
        </p:nvPicPr>
        <p:blipFill rotWithShape="1">
          <a:blip r:embed="rId5">
            <a:alphaModFix/>
          </a:blip>
          <a:srcRect b="-2" l="29865" r="11490" t="0"/>
          <a:stretch/>
        </p:blipFill>
        <p:spPr>
          <a:xfrm>
            <a:off x="3630260" y="3456432"/>
            <a:ext cx="4925479" cy="3401568"/>
          </a:xfrm>
          <a:custGeom>
            <a:rect b="b" l="l" r="r" t="t"/>
            <a:pathLst>
              <a:path extrusionOk="0" h="3364992" w="4925479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803" name="Google Shape;803;p56"/>
          <p:cNvSpPr/>
          <p:nvPr/>
        </p:nvSpPr>
        <p:spPr>
          <a:xfrm>
            <a:off x="0" y="0"/>
            <a:ext cx="4397136" cy="6858000"/>
          </a:xfrm>
          <a:custGeom>
            <a:rect b="b" l="l" r="r" t="t"/>
            <a:pathLst>
              <a:path extrusionOk="0" h="6858000" w="4397136">
                <a:moveTo>
                  <a:pt x="0" y="0"/>
                </a:moveTo>
                <a:lnTo>
                  <a:pt x="3599069" y="0"/>
                </a:lnTo>
                <a:lnTo>
                  <a:pt x="3634072" y="58977"/>
                </a:lnTo>
                <a:cubicBezTo>
                  <a:pt x="4105532" y="933006"/>
                  <a:pt x="4397136" y="2140466"/>
                  <a:pt x="4397136" y="3474189"/>
                </a:cubicBezTo>
                <a:cubicBezTo>
                  <a:pt x="4397136" y="4641197"/>
                  <a:pt x="4173877" y="5711534"/>
                  <a:pt x="3802221" y="6546415"/>
                </a:cubicBezTo>
                <a:lnTo>
                  <a:pt x="364946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56"/>
          <p:cNvSpPr/>
          <p:nvPr/>
        </p:nvSpPr>
        <p:spPr>
          <a:xfrm>
            <a:off x="0" y="0"/>
            <a:ext cx="4386504" cy="6858000"/>
          </a:xfrm>
          <a:custGeom>
            <a:rect b="b" l="l" r="r" t="t"/>
            <a:pathLst>
              <a:path extrusionOk="0" h="6858000" w="4386504">
                <a:moveTo>
                  <a:pt x="0" y="0"/>
                </a:moveTo>
                <a:lnTo>
                  <a:pt x="3588437" y="0"/>
                </a:lnTo>
                <a:lnTo>
                  <a:pt x="3623440" y="58977"/>
                </a:lnTo>
                <a:cubicBezTo>
                  <a:pt x="4094900" y="933006"/>
                  <a:pt x="4386504" y="2140466"/>
                  <a:pt x="4386504" y="3474189"/>
                </a:cubicBezTo>
                <a:cubicBezTo>
                  <a:pt x="4386504" y="4641197"/>
                  <a:pt x="4163245" y="5711534"/>
                  <a:pt x="3791589" y="6546415"/>
                </a:cubicBezTo>
                <a:lnTo>
                  <a:pt x="363883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56"/>
          <p:cNvSpPr txBox="1"/>
          <p:nvPr/>
        </p:nvSpPr>
        <p:spPr>
          <a:xfrm>
            <a:off x="438912" y="1508760"/>
            <a:ext cx="3429000" cy="2898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GCP ETL 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56"/>
          <p:cNvSpPr/>
          <p:nvPr/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7" name="Google Shape;807;p56"/>
          <p:cNvPicPr preferRelativeResize="0"/>
          <p:nvPr/>
        </p:nvPicPr>
        <p:blipFill rotWithShape="1">
          <a:blip r:embed="rId6">
            <a:alphaModFix/>
          </a:blip>
          <a:srcRect b="2" l="0" r="28760" t="0"/>
          <a:stretch/>
        </p:blipFill>
        <p:spPr>
          <a:xfrm>
            <a:off x="7845207" y="10"/>
            <a:ext cx="4346795" cy="3401558"/>
          </a:xfrm>
          <a:custGeom>
            <a:rect b="b" l="l" r="r" t="t"/>
            <a:pathLst>
              <a:path extrusionOk="0" h="3401568" w="4346795">
                <a:moveTo>
                  <a:pt x="0" y="0"/>
                </a:moveTo>
                <a:lnTo>
                  <a:pt x="4346795" y="0"/>
                </a:lnTo>
                <a:lnTo>
                  <a:pt x="4346795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808" name="Google Shape;808;p56"/>
          <p:cNvSpPr/>
          <p:nvPr/>
        </p:nvSpPr>
        <p:spPr>
          <a:xfrm>
            <a:off x="438912" y="4544568"/>
            <a:ext cx="3414966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5" name="Google Shape;815;p57"/>
          <p:cNvPicPr preferRelativeResize="0"/>
          <p:nvPr/>
        </p:nvPicPr>
        <p:blipFill rotWithShape="1">
          <a:blip r:embed="rId3">
            <a:alphaModFix/>
          </a:blip>
          <a:srcRect b="0" l="0" r="23585" t="909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57"/>
          <p:cNvSpPr/>
          <p:nvPr/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39"/>
                </a:srgbClr>
              </a:gs>
              <a:gs pos="35000">
                <a:srgbClr val="FFFFFF">
                  <a:alpha val="78039"/>
                </a:srgbClr>
              </a:gs>
              <a:gs pos="5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57"/>
          <p:cNvSpPr txBox="1"/>
          <p:nvPr>
            <p:ph type="title"/>
          </p:nvPr>
        </p:nvSpPr>
        <p:spPr>
          <a:xfrm>
            <a:off x="371094" y="1161288"/>
            <a:ext cx="3438144" cy="1124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Cloud Storage(S3 equivalent)</a:t>
            </a:r>
            <a:endParaRPr/>
          </a:p>
        </p:txBody>
      </p:sp>
      <p:sp>
        <p:nvSpPr>
          <p:cNvPr id="818" name="Google Shape;818;p57"/>
          <p:cNvSpPr/>
          <p:nvPr/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57"/>
          <p:cNvSpPr/>
          <p:nvPr/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cap="flat" cmpd="sng" w="9525">
            <a:solidFill>
              <a:srgbClr val="D5D5D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57"/>
          <p:cNvSpPr txBox="1"/>
          <p:nvPr>
            <p:ph idx="1" type="body"/>
          </p:nvPr>
        </p:nvSpPr>
        <p:spPr>
          <a:xfrm>
            <a:off x="371094" y="2718054"/>
            <a:ext cx="3438906" cy="3207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Data lake layer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Highly durable and scalable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Stores raw and processed data</a:t>
            </a:r>
            <a:endParaRPr/>
          </a:p>
          <a:p>
            <a:pPr indent="-10795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Stores raw &amp; processed data </a:t>
            </a:r>
            <a:endParaRPr/>
          </a:p>
          <a:p>
            <a:pPr indent="-10795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Highly durable &amp; scalable </a:t>
            </a:r>
            <a:endParaRPr/>
          </a:p>
          <a:p>
            <a:pPr indent="-10795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Supports batch &amp; streaming ingestion </a:t>
            </a:r>
            <a:endParaRPr/>
          </a:p>
          <a:p>
            <a:pPr indent="-10795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Equivalent to </a:t>
            </a: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AWS S3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120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-120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58"/>
          <p:cNvSpPr/>
          <p:nvPr/>
        </p:nvSpPr>
        <p:spPr>
          <a:xfrm>
            <a:off x="0" y="0"/>
            <a:ext cx="4959047" cy="6858000"/>
          </a:xfrm>
          <a:custGeom>
            <a:rect b="b" l="l" r="r" t="t"/>
            <a:pathLst>
              <a:path extrusionOk="0" h="6858000" w="4959047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58"/>
          <p:cNvSpPr/>
          <p:nvPr/>
        </p:nvSpPr>
        <p:spPr>
          <a:xfrm>
            <a:off x="0" y="0"/>
            <a:ext cx="4948887" cy="6858000"/>
          </a:xfrm>
          <a:custGeom>
            <a:rect b="b" l="l" r="r" t="t"/>
            <a:pathLst>
              <a:path extrusionOk="0" h="6858000" w="4948887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58"/>
          <p:cNvSpPr txBox="1"/>
          <p:nvPr/>
        </p:nvSpPr>
        <p:spPr>
          <a:xfrm>
            <a:off x="475488" y="1124712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58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1" name="Google Shape;83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6903" y="853932"/>
            <a:ext cx="5989326" cy="2485569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58"/>
          <p:cNvSpPr/>
          <p:nvPr/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3" name="Google Shape;833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1830" y="3827750"/>
            <a:ext cx="2206263" cy="234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5013" y="4359337"/>
            <a:ext cx="2871216" cy="1277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1" name="Google Shape;841;p59"/>
          <p:cNvPicPr preferRelativeResize="0"/>
          <p:nvPr/>
        </p:nvPicPr>
        <p:blipFill rotWithShape="1">
          <a:blip r:embed="rId3">
            <a:alphaModFix/>
          </a:blip>
          <a:srcRect b="-3" l="11699" r="28959" t="0"/>
          <a:stretch/>
        </p:blipFill>
        <p:spPr>
          <a:xfrm>
            <a:off x="7816130" y="-2"/>
            <a:ext cx="4375870" cy="6858000"/>
          </a:xfrm>
          <a:custGeom>
            <a:rect b="b" l="l" r="r" t="t"/>
            <a:pathLst>
              <a:path extrusionOk="0" h="6858000" w="4375870">
                <a:moveTo>
                  <a:pt x="4441" y="0"/>
                </a:moveTo>
                <a:lnTo>
                  <a:pt x="4375870" y="0"/>
                </a:lnTo>
                <a:lnTo>
                  <a:pt x="4375870" y="23"/>
                </a:lnTo>
                <a:lnTo>
                  <a:pt x="4375870" y="6858000"/>
                </a:lnTo>
                <a:lnTo>
                  <a:pt x="0" y="6858000"/>
                </a:lnTo>
                <a:lnTo>
                  <a:pt x="106674" y="6638378"/>
                </a:lnTo>
                <a:cubicBezTo>
                  <a:pt x="530028" y="5720938"/>
                  <a:pt x="777229" y="4614948"/>
                  <a:pt x="777229" y="3424428"/>
                </a:cubicBezTo>
                <a:cubicBezTo>
                  <a:pt x="777229" y="2233909"/>
                  <a:pt x="530028" y="1127919"/>
                  <a:pt x="106674" y="210478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842" name="Google Shape;842;p59"/>
          <p:cNvPicPr preferRelativeResize="0"/>
          <p:nvPr/>
        </p:nvPicPr>
        <p:blipFill rotWithShape="1">
          <a:blip r:embed="rId4">
            <a:alphaModFix/>
          </a:blip>
          <a:srcRect b="0" l="0" r="15712" t="0"/>
          <a:stretch/>
        </p:blipFill>
        <p:spPr>
          <a:xfrm>
            <a:off x="3595404" y="33"/>
            <a:ext cx="4942298" cy="6857999"/>
          </a:xfrm>
          <a:custGeom>
            <a:rect b="b" l="l" r="r" t="t"/>
            <a:pathLst>
              <a:path extrusionOk="0" h="6857999" w="4942298">
                <a:moveTo>
                  <a:pt x="0" y="0"/>
                </a:moveTo>
                <a:lnTo>
                  <a:pt x="4164238" y="0"/>
                </a:lnTo>
                <a:lnTo>
                  <a:pt x="4271743" y="210478"/>
                </a:lnTo>
                <a:cubicBezTo>
                  <a:pt x="4695097" y="1127919"/>
                  <a:pt x="4942298" y="2233909"/>
                  <a:pt x="4942298" y="3424428"/>
                </a:cubicBezTo>
                <a:cubicBezTo>
                  <a:pt x="4942298" y="4614948"/>
                  <a:pt x="4695097" y="5720938"/>
                  <a:pt x="4271743" y="6638378"/>
                </a:cubicBezTo>
                <a:lnTo>
                  <a:pt x="4159568" y="6857999"/>
                </a:lnTo>
                <a:lnTo>
                  <a:pt x="49488" y="6857999"/>
                </a:lnTo>
                <a:lnTo>
                  <a:pt x="119616" y="6721637"/>
                </a:lnTo>
                <a:cubicBezTo>
                  <a:pt x="540124" y="5863919"/>
                  <a:pt x="796416" y="4724528"/>
                  <a:pt x="796416" y="3474162"/>
                </a:cubicBezTo>
                <a:cubicBezTo>
                  <a:pt x="796416" y="2140439"/>
                  <a:pt x="504812" y="932979"/>
                  <a:pt x="33352" y="5895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843" name="Google Shape;843;p59"/>
          <p:cNvSpPr/>
          <p:nvPr/>
        </p:nvSpPr>
        <p:spPr>
          <a:xfrm>
            <a:off x="0" y="0"/>
            <a:ext cx="4397136" cy="6858000"/>
          </a:xfrm>
          <a:custGeom>
            <a:rect b="b" l="l" r="r" t="t"/>
            <a:pathLst>
              <a:path extrusionOk="0" h="6858000" w="4397136">
                <a:moveTo>
                  <a:pt x="0" y="0"/>
                </a:moveTo>
                <a:lnTo>
                  <a:pt x="3599069" y="0"/>
                </a:lnTo>
                <a:lnTo>
                  <a:pt x="3634072" y="58977"/>
                </a:lnTo>
                <a:cubicBezTo>
                  <a:pt x="4105532" y="933006"/>
                  <a:pt x="4397136" y="2140466"/>
                  <a:pt x="4397136" y="3474189"/>
                </a:cubicBezTo>
                <a:cubicBezTo>
                  <a:pt x="4397136" y="4641197"/>
                  <a:pt x="4173877" y="5711534"/>
                  <a:pt x="3802221" y="6546415"/>
                </a:cubicBezTo>
                <a:lnTo>
                  <a:pt x="364946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59"/>
          <p:cNvSpPr/>
          <p:nvPr/>
        </p:nvSpPr>
        <p:spPr>
          <a:xfrm>
            <a:off x="0" y="0"/>
            <a:ext cx="4386504" cy="6858000"/>
          </a:xfrm>
          <a:custGeom>
            <a:rect b="b" l="l" r="r" t="t"/>
            <a:pathLst>
              <a:path extrusionOk="0" h="6858000" w="4386504">
                <a:moveTo>
                  <a:pt x="0" y="0"/>
                </a:moveTo>
                <a:lnTo>
                  <a:pt x="3588437" y="0"/>
                </a:lnTo>
                <a:lnTo>
                  <a:pt x="3623440" y="58977"/>
                </a:lnTo>
                <a:cubicBezTo>
                  <a:pt x="4094900" y="933006"/>
                  <a:pt x="4386504" y="2140466"/>
                  <a:pt x="4386504" y="3474189"/>
                </a:cubicBezTo>
                <a:cubicBezTo>
                  <a:pt x="4386504" y="4641197"/>
                  <a:pt x="4163245" y="5711534"/>
                  <a:pt x="3791589" y="6546415"/>
                </a:cubicBezTo>
                <a:lnTo>
                  <a:pt x="363883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59"/>
          <p:cNvSpPr txBox="1"/>
          <p:nvPr/>
        </p:nvSpPr>
        <p:spPr>
          <a:xfrm>
            <a:off x="438913" y="1511589"/>
            <a:ext cx="3430958" cy="28964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59"/>
          <p:cNvSpPr/>
          <p:nvPr/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47" name="Google Shape;847;p59"/>
          <p:cNvSpPr/>
          <p:nvPr/>
        </p:nvSpPr>
        <p:spPr>
          <a:xfrm>
            <a:off x="438912" y="4544568"/>
            <a:ext cx="3414966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lluminated server room panel" id="854" name="Google Shape;854;p60"/>
          <p:cNvPicPr preferRelativeResize="0"/>
          <p:nvPr/>
        </p:nvPicPr>
        <p:blipFill rotWithShape="1">
          <a:blip r:embed="rId3">
            <a:alphaModFix/>
          </a:blip>
          <a:srcRect b="0" l="0" r="23298" t="909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60"/>
          <p:cNvSpPr/>
          <p:nvPr/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39"/>
                </a:srgbClr>
              </a:gs>
              <a:gs pos="35000">
                <a:srgbClr val="FFFFFF">
                  <a:alpha val="78039"/>
                </a:srgbClr>
              </a:gs>
              <a:gs pos="5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60"/>
          <p:cNvSpPr txBox="1"/>
          <p:nvPr>
            <p:ph type="title"/>
          </p:nvPr>
        </p:nvSpPr>
        <p:spPr>
          <a:xfrm>
            <a:off x="371094" y="1161288"/>
            <a:ext cx="3438144" cy="1124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BigQuery (Redshift equivalent)</a:t>
            </a:r>
            <a:endParaRPr/>
          </a:p>
        </p:txBody>
      </p:sp>
      <p:sp>
        <p:nvSpPr>
          <p:cNvPr id="857" name="Google Shape;857;p60"/>
          <p:cNvSpPr/>
          <p:nvPr/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60"/>
          <p:cNvSpPr/>
          <p:nvPr/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cap="flat" cmpd="sng" w="9525">
            <a:solidFill>
              <a:srgbClr val="D5D5D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60"/>
          <p:cNvSpPr txBox="1"/>
          <p:nvPr>
            <p:ph idx="1" type="body"/>
          </p:nvPr>
        </p:nvSpPr>
        <p:spPr>
          <a:xfrm>
            <a:off x="371094" y="2718054"/>
            <a:ext cx="3438906" cy="3207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Serverless data warehouse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SQL analytics engine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Petabyte-scale performance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Fully managed, serverless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SQL-based analytics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Handles petabyte-scale data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Built-in ML (BigQuery ML)</a:t>
            </a:r>
            <a:endParaRPr/>
          </a:p>
          <a:p>
            <a:pPr indent="-120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-120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61"/>
          <p:cNvSpPr/>
          <p:nvPr/>
        </p:nvSpPr>
        <p:spPr>
          <a:xfrm>
            <a:off x="0" y="0"/>
            <a:ext cx="4959047" cy="6858000"/>
          </a:xfrm>
          <a:custGeom>
            <a:rect b="b" l="l" r="r" t="t"/>
            <a:pathLst>
              <a:path extrusionOk="0" h="6858000" w="4959047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61"/>
          <p:cNvSpPr/>
          <p:nvPr/>
        </p:nvSpPr>
        <p:spPr>
          <a:xfrm>
            <a:off x="0" y="0"/>
            <a:ext cx="4948887" cy="6858000"/>
          </a:xfrm>
          <a:custGeom>
            <a:rect b="b" l="l" r="r" t="t"/>
            <a:pathLst>
              <a:path extrusionOk="0" h="6858000" w="4948887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61"/>
          <p:cNvSpPr txBox="1"/>
          <p:nvPr/>
        </p:nvSpPr>
        <p:spPr>
          <a:xfrm>
            <a:off x="475488" y="1124712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BigQuery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61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0" name="Google Shape;87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6903" y="749119"/>
            <a:ext cx="5989326" cy="2695196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61"/>
          <p:cNvSpPr/>
          <p:nvPr/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2" name="Google Shape;872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9354" y="4018380"/>
            <a:ext cx="2871216" cy="1959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5013" y="4115283"/>
            <a:ext cx="2871216" cy="1765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0" name="Google Shape;880;p62"/>
          <p:cNvPicPr preferRelativeResize="0"/>
          <p:nvPr/>
        </p:nvPicPr>
        <p:blipFill rotWithShape="1">
          <a:blip r:embed="rId3">
            <a:alphaModFix/>
          </a:blip>
          <a:srcRect b="11141" l="0" r="-2" t="7010"/>
          <a:stretch/>
        </p:blipFill>
        <p:spPr>
          <a:xfrm>
            <a:off x="4883025" y="10"/>
            <a:ext cx="7308975" cy="3364982"/>
          </a:xfrm>
          <a:custGeom>
            <a:rect b="b" l="l" r="r" t="t"/>
            <a:pathLst>
              <a:path extrusionOk="0" h="3364992" w="7308975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881" name="Google Shape;881;p62"/>
          <p:cNvPicPr preferRelativeResize="0"/>
          <p:nvPr/>
        </p:nvPicPr>
        <p:blipFill rotWithShape="1">
          <a:blip r:embed="rId4">
            <a:alphaModFix/>
          </a:blip>
          <a:srcRect b="22621" l="0" r="-2" t="0"/>
          <a:stretch/>
        </p:blipFill>
        <p:spPr>
          <a:xfrm>
            <a:off x="4883025" y="3493008"/>
            <a:ext cx="7308975" cy="3364992"/>
          </a:xfrm>
          <a:custGeom>
            <a:rect b="b" l="l" r="r" t="t"/>
            <a:pathLst>
              <a:path extrusionOk="0" h="3364992" w="7308975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882" name="Google Shape;882;p62"/>
          <p:cNvSpPr/>
          <p:nvPr/>
        </p:nvSpPr>
        <p:spPr>
          <a:xfrm>
            <a:off x="0" y="0"/>
            <a:ext cx="6096001" cy="6858000"/>
          </a:xfrm>
          <a:custGeom>
            <a:rect b="b" l="l" r="r" t="t"/>
            <a:pathLst>
              <a:path extrusionOk="0" h="6858000" w="6096001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62"/>
          <p:cNvSpPr/>
          <p:nvPr/>
        </p:nvSpPr>
        <p:spPr>
          <a:xfrm>
            <a:off x="1" y="0"/>
            <a:ext cx="6087332" cy="6858000"/>
          </a:xfrm>
          <a:custGeom>
            <a:rect b="b" l="l" r="r" t="t"/>
            <a:pathLst>
              <a:path extrusionOk="0" h="6858000" w="6087332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62"/>
          <p:cNvSpPr txBox="1"/>
          <p:nvPr/>
        </p:nvSpPr>
        <p:spPr>
          <a:xfrm>
            <a:off x="438912" y="1524659"/>
            <a:ext cx="5019074" cy="2774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BigQuery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62"/>
          <p:cNvSpPr/>
          <p:nvPr/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86" name="Google Shape;886;p62"/>
          <p:cNvSpPr/>
          <p:nvPr/>
        </p:nvSpPr>
        <p:spPr>
          <a:xfrm>
            <a:off x="489098" y="4461119"/>
            <a:ext cx="5019074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fting crane" id="893" name="Google Shape;893;p63"/>
          <p:cNvPicPr preferRelativeResize="0"/>
          <p:nvPr/>
        </p:nvPicPr>
        <p:blipFill rotWithShape="1">
          <a:blip r:embed="rId3">
            <a:alphaModFix/>
          </a:blip>
          <a:srcRect b="0" l="0" r="23298" t="909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63"/>
          <p:cNvSpPr/>
          <p:nvPr/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39"/>
                </a:srgbClr>
              </a:gs>
              <a:gs pos="35000">
                <a:srgbClr val="FFFFFF">
                  <a:alpha val="78039"/>
                </a:srgbClr>
              </a:gs>
              <a:gs pos="5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63"/>
          <p:cNvSpPr txBox="1"/>
          <p:nvPr>
            <p:ph type="title"/>
          </p:nvPr>
        </p:nvSpPr>
        <p:spPr>
          <a:xfrm>
            <a:off x="371094" y="1161288"/>
            <a:ext cx="3438144" cy="1124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800"/>
              <a:t>Dataflow (Glue/Lambda equivalent)</a:t>
            </a:r>
            <a:endParaRPr/>
          </a:p>
        </p:txBody>
      </p:sp>
      <p:sp>
        <p:nvSpPr>
          <p:cNvPr id="896" name="Google Shape;896;p63"/>
          <p:cNvSpPr/>
          <p:nvPr/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63"/>
          <p:cNvSpPr/>
          <p:nvPr/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cap="flat" cmpd="sng" w="9525">
            <a:solidFill>
              <a:srgbClr val="D5D5D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63"/>
          <p:cNvSpPr txBox="1"/>
          <p:nvPr>
            <p:ph idx="1" type="body"/>
          </p:nvPr>
        </p:nvSpPr>
        <p:spPr>
          <a:xfrm>
            <a:off x="371094" y="2718054"/>
            <a:ext cx="3438906" cy="3207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Batch + streaming processing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Apache Beam-based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Auto-scaling ETL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Built on Apache Beam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Supports batch + streaming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Auto-scaling, serverless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ETL + real-time pipelines</a:t>
            </a:r>
            <a:endParaRPr/>
          </a:p>
          <a:p>
            <a:pPr indent="-120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6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64"/>
          <p:cNvSpPr/>
          <p:nvPr/>
        </p:nvSpPr>
        <p:spPr>
          <a:xfrm>
            <a:off x="0" y="0"/>
            <a:ext cx="4959047" cy="6858000"/>
          </a:xfrm>
          <a:custGeom>
            <a:rect b="b" l="l" r="r" t="t"/>
            <a:pathLst>
              <a:path extrusionOk="0" h="6858000" w="4959047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64"/>
          <p:cNvSpPr/>
          <p:nvPr/>
        </p:nvSpPr>
        <p:spPr>
          <a:xfrm>
            <a:off x="0" y="0"/>
            <a:ext cx="4948887" cy="6858000"/>
          </a:xfrm>
          <a:custGeom>
            <a:rect b="b" l="l" r="r" t="t"/>
            <a:pathLst>
              <a:path extrusionOk="0" h="6858000" w="4948887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64"/>
          <p:cNvSpPr txBox="1"/>
          <p:nvPr/>
        </p:nvSpPr>
        <p:spPr>
          <a:xfrm>
            <a:off x="475488" y="1124712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64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9" name="Google Shape;90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6903" y="1138425"/>
            <a:ext cx="5989326" cy="1916584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64"/>
          <p:cNvSpPr/>
          <p:nvPr/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1" name="Google Shape;911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4952" y="3827750"/>
            <a:ext cx="1820020" cy="234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5013" y="4467007"/>
            <a:ext cx="2871216" cy="106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9" name="Google Shape;919;p65"/>
          <p:cNvPicPr preferRelativeResize="0"/>
          <p:nvPr/>
        </p:nvPicPr>
        <p:blipFill rotWithShape="1">
          <a:blip r:embed="rId3">
            <a:alphaModFix/>
          </a:blip>
          <a:srcRect b="5937" l="0" r="-2" t="8007"/>
          <a:stretch/>
        </p:blipFill>
        <p:spPr>
          <a:xfrm>
            <a:off x="4883025" y="10"/>
            <a:ext cx="7308975" cy="3364982"/>
          </a:xfrm>
          <a:custGeom>
            <a:rect b="b" l="l" r="r" t="t"/>
            <a:pathLst>
              <a:path extrusionOk="0" h="3364992" w="7308975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920" name="Google Shape;920;p65"/>
          <p:cNvPicPr preferRelativeResize="0"/>
          <p:nvPr/>
        </p:nvPicPr>
        <p:blipFill rotWithShape="1">
          <a:blip r:embed="rId4">
            <a:alphaModFix/>
          </a:blip>
          <a:srcRect b="1" l="23200" r="14354" t="0"/>
          <a:stretch/>
        </p:blipFill>
        <p:spPr>
          <a:xfrm>
            <a:off x="4883025" y="3493008"/>
            <a:ext cx="7308975" cy="3364992"/>
          </a:xfrm>
          <a:custGeom>
            <a:rect b="b" l="l" r="r" t="t"/>
            <a:pathLst>
              <a:path extrusionOk="0" h="3364992" w="7308975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921" name="Google Shape;921;p65"/>
          <p:cNvSpPr/>
          <p:nvPr/>
        </p:nvSpPr>
        <p:spPr>
          <a:xfrm>
            <a:off x="0" y="0"/>
            <a:ext cx="6096001" cy="6858000"/>
          </a:xfrm>
          <a:custGeom>
            <a:rect b="b" l="l" r="r" t="t"/>
            <a:pathLst>
              <a:path extrusionOk="0" h="6858000" w="6096001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65"/>
          <p:cNvSpPr/>
          <p:nvPr/>
        </p:nvSpPr>
        <p:spPr>
          <a:xfrm>
            <a:off x="1" y="0"/>
            <a:ext cx="6087332" cy="6858000"/>
          </a:xfrm>
          <a:custGeom>
            <a:rect b="b" l="l" r="r" t="t"/>
            <a:pathLst>
              <a:path extrusionOk="0" h="6858000" w="6087332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65"/>
          <p:cNvSpPr txBox="1"/>
          <p:nvPr/>
        </p:nvSpPr>
        <p:spPr>
          <a:xfrm>
            <a:off x="438912" y="1524659"/>
            <a:ext cx="5019074" cy="2774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65"/>
          <p:cNvSpPr/>
          <p:nvPr/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25" name="Google Shape;925;p65"/>
          <p:cNvSpPr/>
          <p:nvPr/>
        </p:nvSpPr>
        <p:spPr>
          <a:xfrm>
            <a:off x="489098" y="4461119"/>
            <a:ext cx="5019074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moke from factory" id="932" name="Google Shape;932;p66"/>
          <p:cNvPicPr preferRelativeResize="0"/>
          <p:nvPr/>
        </p:nvPicPr>
        <p:blipFill rotWithShape="1">
          <a:blip r:embed="rId3">
            <a:alphaModFix/>
          </a:blip>
          <a:srcRect b="-1" l="12853" r="2774" t="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66"/>
          <p:cNvSpPr/>
          <p:nvPr/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39"/>
                </a:srgbClr>
              </a:gs>
              <a:gs pos="35000">
                <a:srgbClr val="FFFFFF">
                  <a:alpha val="78039"/>
                </a:srgbClr>
              </a:gs>
              <a:gs pos="5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66"/>
          <p:cNvSpPr txBox="1"/>
          <p:nvPr>
            <p:ph type="title"/>
          </p:nvPr>
        </p:nvSpPr>
        <p:spPr>
          <a:xfrm>
            <a:off x="371100" y="1732425"/>
            <a:ext cx="41928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Dataproc (EMR equivalent)</a:t>
            </a:r>
            <a:endParaRPr/>
          </a:p>
        </p:txBody>
      </p:sp>
      <p:sp>
        <p:nvSpPr>
          <p:cNvPr id="935" name="Google Shape;935;p66"/>
          <p:cNvSpPr/>
          <p:nvPr/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66"/>
          <p:cNvSpPr/>
          <p:nvPr/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cap="flat" cmpd="sng" w="9525">
            <a:solidFill>
              <a:srgbClr val="D5D5D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66"/>
          <p:cNvSpPr txBox="1"/>
          <p:nvPr>
            <p:ph idx="1" type="body"/>
          </p:nvPr>
        </p:nvSpPr>
        <p:spPr>
          <a:xfrm>
            <a:off x="371094" y="2718054"/>
            <a:ext cx="3438906" cy="3207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Managed Spark/Hadoop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Fast cluster startup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Used for ML workloads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Runs Spark, Hive, Hadoop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Fast cluster startup (~90 sec)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Lower cost than traditional clusters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Used for heavy ML / batch jobs</a:t>
            </a:r>
            <a:endParaRPr/>
          </a:p>
          <a:p>
            <a:pPr indent="-120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-120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4" name="Google Shape;944;p67"/>
          <p:cNvPicPr preferRelativeResize="0"/>
          <p:nvPr/>
        </p:nvPicPr>
        <p:blipFill rotWithShape="1">
          <a:blip r:embed="rId3">
            <a:alphaModFix/>
          </a:blip>
          <a:srcRect b="1" l="24330" r="18581" t="0"/>
          <a:stretch/>
        </p:blipFill>
        <p:spPr>
          <a:xfrm>
            <a:off x="3577219" y="10"/>
            <a:ext cx="4979304" cy="3401558"/>
          </a:xfrm>
          <a:custGeom>
            <a:rect b="b" l="l" r="r" t="t"/>
            <a:pathLst>
              <a:path extrusionOk="0" h="3364992" w="4979304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945" name="Google Shape;945;p67"/>
          <p:cNvPicPr preferRelativeResize="0"/>
          <p:nvPr/>
        </p:nvPicPr>
        <p:blipFill rotWithShape="1">
          <a:blip r:embed="rId4">
            <a:alphaModFix/>
          </a:blip>
          <a:srcRect b="0" l="10182" r="14993" t="0"/>
          <a:stretch/>
        </p:blipFill>
        <p:spPr>
          <a:xfrm>
            <a:off x="7822523" y="3456433"/>
            <a:ext cx="4369477" cy="3401568"/>
          </a:xfrm>
          <a:custGeom>
            <a:rect b="b" l="l" r="r" t="t"/>
            <a:pathLst>
              <a:path extrusionOk="0" h="3401568" w="4369477">
                <a:moveTo>
                  <a:pt x="781270" y="0"/>
                </a:moveTo>
                <a:lnTo>
                  <a:pt x="4369477" y="0"/>
                </a:lnTo>
                <a:lnTo>
                  <a:pt x="4369477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946" name="Google Shape;946;p67"/>
          <p:cNvPicPr preferRelativeResize="0"/>
          <p:nvPr/>
        </p:nvPicPr>
        <p:blipFill rotWithShape="1">
          <a:blip r:embed="rId5">
            <a:alphaModFix/>
          </a:blip>
          <a:srcRect b="722" l="0" r="2" t="7505"/>
          <a:stretch/>
        </p:blipFill>
        <p:spPr>
          <a:xfrm>
            <a:off x="3630260" y="3456432"/>
            <a:ext cx="4925479" cy="3401568"/>
          </a:xfrm>
          <a:custGeom>
            <a:rect b="b" l="l" r="r" t="t"/>
            <a:pathLst>
              <a:path extrusionOk="0" h="3364992" w="4925479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947" name="Google Shape;947;p67"/>
          <p:cNvSpPr/>
          <p:nvPr/>
        </p:nvSpPr>
        <p:spPr>
          <a:xfrm>
            <a:off x="0" y="0"/>
            <a:ext cx="4397136" cy="6858000"/>
          </a:xfrm>
          <a:custGeom>
            <a:rect b="b" l="l" r="r" t="t"/>
            <a:pathLst>
              <a:path extrusionOk="0" h="6858000" w="4397136">
                <a:moveTo>
                  <a:pt x="0" y="0"/>
                </a:moveTo>
                <a:lnTo>
                  <a:pt x="3599069" y="0"/>
                </a:lnTo>
                <a:lnTo>
                  <a:pt x="3634072" y="58977"/>
                </a:lnTo>
                <a:cubicBezTo>
                  <a:pt x="4105532" y="933006"/>
                  <a:pt x="4397136" y="2140466"/>
                  <a:pt x="4397136" y="3474189"/>
                </a:cubicBezTo>
                <a:cubicBezTo>
                  <a:pt x="4397136" y="4641197"/>
                  <a:pt x="4173877" y="5711534"/>
                  <a:pt x="3802221" y="6546415"/>
                </a:cubicBezTo>
                <a:lnTo>
                  <a:pt x="364946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67"/>
          <p:cNvSpPr/>
          <p:nvPr/>
        </p:nvSpPr>
        <p:spPr>
          <a:xfrm>
            <a:off x="0" y="0"/>
            <a:ext cx="4386504" cy="6858000"/>
          </a:xfrm>
          <a:custGeom>
            <a:rect b="b" l="l" r="r" t="t"/>
            <a:pathLst>
              <a:path extrusionOk="0" h="6858000" w="4386504">
                <a:moveTo>
                  <a:pt x="0" y="0"/>
                </a:moveTo>
                <a:lnTo>
                  <a:pt x="3588437" y="0"/>
                </a:lnTo>
                <a:lnTo>
                  <a:pt x="3623440" y="58977"/>
                </a:lnTo>
                <a:cubicBezTo>
                  <a:pt x="4094900" y="933006"/>
                  <a:pt x="4386504" y="2140466"/>
                  <a:pt x="4386504" y="3474189"/>
                </a:cubicBezTo>
                <a:cubicBezTo>
                  <a:pt x="4386504" y="4641197"/>
                  <a:pt x="4163245" y="5711534"/>
                  <a:pt x="3791589" y="6546415"/>
                </a:cubicBezTo>
                <a:lnTo>
                  <a:pt x="363883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67"/>
          <p:cNvSpPr txBox="1"/>
          <p:nvPr/>
        </p:nvSpPr>
        <p:spPr>
          <a:xfrm>
            <a:off x="438900" y="1508750"/>
            <a:ext cx="52482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Dataproc (EMR equivalent)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67"/>
          <p:cNvSpPr/>
          <p:nvPr/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1" name="Google Shape;951;p67"/>
          <p:cNvPicPr preferRelativeResize="0"/>
          <p:nvPr/>
        </p:nvPicPr>
        <p:blipFill rotWithShape="1">
          <a:blip r:embed="rId6">
            <a:alphaModFix/>
          </a:blip>
          <a:srcRect b="1" l="16274" r="25264" t="0"/>
          <a:stretch/>
        </p:blipFill>
        <p:spPr>
          <a:xfrm>
            <a:off x="7845207" y="10"/>
            <a:ext cx="4346795" cy="3401558"/>
          </a:xfrm>
          <a:custGeom>
            <a:rect b="b" l="l" r="r" t="t"/>
            <a:pathLst>
              <a:path extrusionOk="0" h="3401568" w="4346795">
                <a:moveTo>
                  <a:pt x="0" y="0"/>
                </a:moveTo>
                <a:lnTo>
                  <a:pt x="4346795" y="0"/>
                </a:lnTo>
                <a:lnTo>
                  <a:pt x="4346795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952" name="Google Shape;952;p67"/>
          <p:cNvSpPr/>
          <p:nvPr/>
        </p:nvSpPr>
        <p:spPr>
          <a:xfrm>
            <a:off x="438912" y="4544568"/>
            <a:ext cx="3414966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9" name="Google Shape;959;p68"/>
          <p:cNvPicPr preferRelativeResize="0"/>
          <p:nvPr/>
        </p:nvPicPr>
        <p:blipFill rotWithShape="1">
          <a:blip r:embed="rId3">
            <a:alphaModFix/>
          </a:blip>
          <a:srcRect b="2" l="15153" r="28856" t="0"/>
          <a:stretch/>
        </p:blipFill>
        <p:spPr>
          <a:xfrm>
            <a:off x="8529321" y="10"/>
            <a:ext cx="3662680" cy="3401558"/>
          </a:xfrm>
          <a:custGeom>
            <a:rect b="b" l="l" r="r" t="t"/>
            <a:pathLst>
              <a:path extrusionOk="0" h="3401568" w="3662680">
                <a:moveTo>
                  <a:pt x="0" y="0"/>
                </a:moveTo>
                <a:lnTo>
                  <a:pt x="3662680" y="0"/>
                </a:lnTo>
                <a:lnTo>
                  <a:pt x="3662680" y="3401568"/>
                </a:lnTo>
                <a:lnTo>
                  <a:pt x="774527" y="3401568"/>
                </a:lnTo>
                <a:lnTo>
                  <a:pt x="769892" y="3133175"/>
                </a:lnTo>
                <a:cubicBezTo>
                  <a:pt x="732577" y="2055441"/>
                  <a:pt x="492520" y="1056020"/>
                  <a:pt x="104445" y="215033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960" name="Google Shape;960;p68"/>
          <p:cNvPicPr preferRelativeResize="0"/>
          <p:nvPr/>
        </p:nvPicPr>
        <p:blipFill rotWithShape="1">
          <a:blip r:embed="rId4">
            <a:alphaModFix/>
          </a:blip>
          <a:srcRect b="10185" l="0" r="-3" t="30"/>
          <a:stretch/>
        </p:blipFill>
        <p:spPr>
          <a:xfrm>
            <a:off x="5115314" y="10"/>
            <a:ext cx="4118110" cy="3401558"/>
          </a:xfrm>
          <a:custGeom>
            <a:rect b="b" l="l" r="r" t="t"/>
            <a:pathLst>
              <a:path extrusionOk="0" h="3401568" w="4118110">
                <a:moveTo>
                  <a:pt x="0" y="0"/>
                </a:moveTo>
                <a:lnTo>
                  <a:pt x="3343575" y="0"/>
                </a:lnTo>
                <a:lnTo>
                  <a:pt x="3448028" y="215050"/>
                </a:lnTo>
                <a:cubicBezTo>
                  <a:pt x="3836103" y="1056037"/>
                  <a:pt x="4076161" y="2055458"/>
                  <a:pt x="4113475" y="3133192"/>
                </a:cubicBezTo>
                <a:lnTo>
                  <a:pt x="4118110" y="3401568"/>
                </a:lnTo>
                <a:lnTo>
                  <a:pt x="801224" y="3401568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961" name="Google Shape;961;p68"/>
          <p:cNvPicPr preferRelativeResize="0"/>
          <p:nvPr/>
        </p:nvPicPr>
        <p:blipFill rotWithShape="1">
          <a:blip r:embed="rId5">
            <a:alphaModFix/>
          </a:blip>
          <a:srcRect b="-1" l="0" r="-1" t="13130"/>
          <a:stretch/>
        </p:blipFill>
        <p:spPr>
          <a:xfrm>
            <a:off x="5168353" y="3456432"/>
            <a:ext cx="7023646" cy="3401568"/>
          </a:xfrm>
          <a:custGeom>
            <a:rect b="b" l="l" r="r" t="t"/>
            <a:pathLst>
              <a:path extrusionOk="0" h="3401568" w="7023646">
                <a:moveTo>
                  <a:pt x="749132" y="0"/>
                </a:moveTo>
                <a:lnTo>
                  <a:pt x="7023646" y="0"/>
                </a:lnTo>
                <a:lnTo>
                  <a:pt x="7023646" y="3401568"/>
                </a:lnTo>
                <a:lnTo>
                  <a:pt x="0" y="3401568"/>
                </a:lnTo>
                <a:lnTo>
                  <a:pt x="79008" y="3238906"/>
                </a:lnTo>
                <a:cubicBezTo>
                  <a:pt x="502362" y="2321466"/>
                  <a:pt x="749563" y="1215476"/>
                  <a:pt x="749563" y="24956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962" name="Google Shape;962;p68"/>
          <p:cNvSpPr/>
          <p:nvPr/>
        </p:nvSpPr>
        <p:spPr>
          <a:xfrm>
            <a:off x="0" y="0"/>
            <a:ext cx="5927943" cy="6858000"/>
          </a:xfrm>
          <a:custGeom>
            <a:rect b="b" l="l" r="r" t="t"/>
            <a:pathLst>
              <a:path extrusionOk="0" h="6858000" w="5927943">
                <a:moveTo>
                  <a:pt x="0" y="0"/>
                </a:moveTo>
                <a:lnTo>
                  <a:pt x="5129522" y="0"/>
                </a:lnTo>
                <a:lnTo>
                  <a:pt x="5289639" y="323150"/>
                </a:lnTo>
                <a:cubicBezTo>
                  <a:pt x="5692631" y="1223391"/>
                  <a:pt x="5927943" y="2308646"/>
                  <a:pt x="5927943" y="3476847"/>
                </a:cubicBezTo>
                <a:cubicBezTo>
                  <a:pt x="5927943" y="4645048"/>
                  <a:pt x="5692631" y="5730304"/>
                  <a:pt x="5289639" y="6630545"/>
                </a:cubicBezTo>
                <a:lnTo>
                  <a:pt x="517693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68"/>
          <p:cNvSpPr/>
          <p:nvPr/>
        </p:nvSpPr>
        <p:spPr>
          <a:xfrm>
            <a:off x="0" y="0"/>
            <a:ext cx="5917310" cy="6858000"/>
          </a:xfrm>
          <a:custGeom>
            <a:rect b="b" l="l" r="r" t="t"/>
            <a:pathLst>
              <a:path extrusionOk="0" h="6858000" w="5917310">
                <a:moveTo>
                  <a:pt x="0" y="0"/>
                </a:moveTo>
                <a:lnTo>
                  <a:pt x="5118889" y="0"/>
                </a:lnTo>
                <a:lnTo>
                  <a:pt x="5279006" y="323150"/>
                </a:lnTo>
                <a:cubicBezTo>
                  <a:pt x="5681998" y="1223391"/>
                  <a:pt x="5917310" y="2308646"/>
                  <a:pt x="5917310" y="3476847"/>
                </a:cubicBezTo>
                <a:cubicBezTo>
                  <a:pt x="5917310" y="4645048"/>
                  <a:pt x="5681998" y="5730304"/>
                  <a:pt x="5279006" y="6630545"/>
                </a:cubicBezTo>
                <a:lnTo>
                  <a:pt x="516630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68"/>
          <p:cNvSpPr txBox="1"/>
          <p:nvPr/>
        </p:nvSpPr>
        <p:spPr>
          <a:xfrm>
            <a:off x="438912" y="1527048"/>
            <a:ext cx="5020056" cy="27706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Dataproc (EMR equivalent)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68"/>
          <p:cNvSpPr/>
          <p:nvPr/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68"/>
          <p:cNvSpPr/>
          <p:nvPr/>
        </p:nvSpPr>
        <p:spPr>
          <a:xfrm>
            <a:off x="489098" y="4461119"/>
            <a:ext cx="5019074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9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69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4" name="Google Shape;974;p69"/>
          <p:cNvGrpSpPr/>
          <p:nvPr/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975" name="Google Shape;975;p69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69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7" name="Google Shape;977;p69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978" name="Google Shape;978;p69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69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69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69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69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69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69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5" name="Google Shape;985;p69"/>
          <p:cNvSpPr txBox="1"/>
          <p:nvPr>
            <p:ph type="title"/>
          </p:nvPr>
        </p:nvSpPr>
        <p:spPr>
          <a:xfrm>
            <a:off x="786385" y="841248"/>
            <a:ext cx="5129600" cy="53400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>
                <a:solidFill>
                  <a:schemeClr val="lt1"/>
                </a:solidFill>
              </a:rPr>
              <a:t>Pub/Sub (Kinesis equivalent)</a:t>
            </a:r>
            <a:endParaRPr/>
          </a:p>
        </p:txBody>
      </p:sp>
      <p:grpSp>
        <p:nvGrpSpPr>
          <p:cNvPr id="986" name="Google Shape;986;p69"/>
          <p:cNvGrpSpPr/>
          <p:nvPr/>
        </p:nvGrpSpPr>
        <p:grpSpPr>
          <a:xfrm>
            <a:off x="6525628" y="980715"/>
            <a:ext cx="4828172" cy="4749299"/>
            <a:chOff x="0" y="451327"/>
            <a:chExt cx="4828172" cy="4749299"/>
          </a:xfrm>
        </p:grpSpPr>
        <p:sp>
          <p:nvSpPr>
            <p:cNvPr id="987" name="Google Shape;987;p69"/>
            <p:cNvSpPr/>
            <p:nvPr/>
          </p:nvSpPr>
          <p:spPr>
            <a:xfrm>
              <a:off x="0" y="451327"/>
              <a:ext cx="4828172" cy="719549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69"/>
            <p:cNvSpPr txBox="1"/>
            <p:nvPr/>
          </p:nvSpPr>
          <p:spPr>
            <a:xfrm>
              <a:off x="35125" y="486452"/>
              <a:ext cx="4757922" cy="64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Real-time messaging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69"/>
            <p:cNvSpPr/>
            <p:nvPr/>
          </p:nvSpPr>
          <p:spPr>
            <a:xfrm>
              <a:off x="0" y="1257277"/>
              <a:ext cx="4828172" cy="719549"/>
            </a:xfrm>
            <a:prstGeom prst="roundRect">
              <a:avLst>
                <a:gd fmla="val 16667" name="adj"/>
              </a:avLst>
            </a:prstGeom>
            <a:solidFill>
              <a:srgbClr val="53C1CE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69"/>
            <p:cNvSpPr txBox="1"/>
            <p:nvPr/>
          </p:nvSpPr>
          <p:spPr>
            <a:xfrm>
              <a:off x="35125" y="1292402"/>
              <a:ext cx="4757922" cy="64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Event-driven ingestion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69"/>
            <p:cNvSpPr/>
            <p:nvPr/>
          </p:nvSpPr>
          <p:spPr>
            <a:xfrm>
              <a:off x="0" y="2063227"/>
              <a:ext cx="4828172" cy="719549"/>
            </a:xfrm>
            <a:prstGeom prst="roundRect">
              <a:avLst>
                <a:gd fmla="val 16667" name="adj"/>
              </a:avLst>
            </a:prstGeom>
            <a:solidFill>
              <a:srgbClr val="4EC7A5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69"/>
            <p:cNvSpPr txBox="1"/>
            <p:nvPr/>
          </p:nvSpPr>
          <p:spPr>
            <a:xfrm>
              <a:off x="35125" y="2098352"/>
              <a:ext cx="4757922" cy="64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Decouples systems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69"/>
            <p:cNvSpPr/>
            <p:nvPr/>
          </p:nvSpPr>
          <p:spPr>
            <a:xfrm>
              <a:off x="0" y="2869177"/>
              <a:ext cx="4828172" cy="719549"/>
            </a:xfrm>
            <a:prstGeom prst="roundRect">
              <a:avLst>
                <a:gd fmla="val 16667" name="adj"/>
              </a:avLst>
            </a:prstGeom>
            <a:solidFill>
              <a:srgbClr val="49C073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69"/>
            <p:cNvSpPr txBox="1"/>
            <p:nvPr/>
          </p:nvSpPr>
          <p:spPr>
            <a:xfrm>
              <a:off x="35125" y="2904302"/>
              <a:ext cx="4757922" cy="64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Event-driven ingestion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69"/>
            <p:cNvSpPr/>
            <p:nvPr/>
          </p:nvSpPr>
          <p:spPr>
            <a:xfrm>
              <a:off x="0" y="3675127"/>
              <a:ext cx="4828172" cy="719549"/>
            </a:xfrm>
            <a:prstGeom prst="roundRect">
              <a:avLst>
                <a:gd fmla="val 16667" name="adj"/>
              </a:avLst>
            </a:prstGeom>
            <a:solidFill>
              <a:srgbClr val="49B845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69"/>
            <p:cNvSpPr txBox="1"/>
            <p:nvPr/>
          </p:nvSpPr>
          <p:spPr>
            <a:xfrm>
              <a:off x="35125" y="3710252"/>
              <a:ext cx="4757922" cy="64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Decouples systems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69"/>
            <p:cNvSpPr/>
            <p:nvPr/>
          </p:nvSpPr>
          <p:spPr>
            <a:xfrm>
              <a:off x="0" y="4481077"/>
              <a:ext cx="4828172" cy="719549"/>
            </a:xfrm>
            <a:prstGeom prst="roundRect">
              <a:avLst>
                <a:gd fmla="val 16667" name="adj"/>
              </a:avLst>
            </a:prstGeom>
            <a:solidFill>
              <a:srgbClr val="6FAB46"/>
            </a:solidFill>
            <a:ln cap="flat" cmpd="sng" w="127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69"/>
            <p:cNvSpPr txBox="1"/>
            <p:nvPr/>
          </p:nvSpPr>
          <p:spPr>
            <a:xfrm>
              <a:off x="35125" y="4516202"/>
              <a:ext cx="4757922" cy="64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Scalable streaming backbone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5" name="Google Shape;1005;p70"/>
          <p:cNvPicPr preferRelativeResize="0"/>
          <p:nvPr/>
        </p:nvPicPr>
        <p:blipFill rotWithShape="1">
          <a:blip r:embed="rId3">
            <a:alphaModFix/>
          </a:blip>
          <a:srcRect b="2" l="2706" r="11296" t="0"/>
          <a:stretch/>
        </p:blipFill>
        <p:spPr>
          <a:xfrm>
            <a:off x="3577219" y="10"/>
            <a:ext cx="4979304" cy="3401558"/>
          </a:xfrm>
          <a:custGeom>
            <a:rect b="b" l="l" r="r" t="t"/>
            <a:pathLst>
              <a:path extrusionOk="0" h="3364992" w="4979304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006" name="Google Shape;1006;p70"/>
          <p:cNvPicPr preferRelativeResize="0"/>
          <p:nvPr/>
        </p:nvPicPr>
        <p:blipFill rotWithShape="1">
          <a:blip r:embed="rId4">
            <a:alphaModFix/>
          </a:blip>
          <a:srcRect b="0" l="19702" r="29880" t="0"/>
          <a:stretch/>
        </p:blipFill>
        <p:spPr>
          <a:xfrm>
            <a:off x="7822523" y="3456433"/>
            <a:ext cx="4369477" cy="3401568"/>
          </a:xfrm>
          <a:custGeom>
            <a:rect b="b" l="l" r="r" t="t"/>
            <a:pathLst>
              <a:path extrusionOk="0" h="3401568" w="4369477">
                <a:moveTo>
                  <a:pt x="781270" y="0"/>
                </a:moveTo>
                <a:lnTo>
                  <a:pt x="4369477" y="0"/>
                </a:lnTo>
                <a:lnTo>
                  <a:pt x="4369477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007" name="Google Shape;1007;p70"/>
          <p:cNvPicPr preferRelativeResize="0"/>
          <p:nvPr/>
        </p:nvPicPr>
        <p:blipFill rotWithShape="1">
          <a:blip r:embed="rId5">
            <a:alphaModFix/>
          </a:blip>
          <a:srcRect b="5166" l="0" r="2" t="2137"/>
          <a:stretch/>
        </p:blipFill>
        <p:spPr>
          <a:xfrm>
            <a:off x="3630260" y="3456432"/>
            <a:ext cx="4925479" cy="3401568"/>
          </a:xfrm>
          <a:custGeom>
            <a:rect b="b" l="l" r="r" t="t"/>
            <a:pathLst>
              <a:path extrusionOk="0" h="3364992" w="4925479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08" name="Google Shape;1008;p70"/>
          <p:cNvSpPr/>
          <p:nvPr/>
        </p:nvSpPr>
        <p:spPr>
          <a:xfrm>
            <a:off x="0" y="0"/>
            <a:ext cx="4397136" cy="6858000"/>
          </a:xfrm>
          <a:custGeom>
            <a:rect b="b" l="l" r="r" t="t"/>
            <a:pathLst>
              <a:path extrusionOk="0" h="6858000" w="4397136">
                <a:moveTo>
                  <a:pt x="0" y="0"/>
                </a:moveTo>
                <a:lnTo>
                  <a:pt x="3599069" y="0"/>
                </a:lnTo>
                <a:lnTo>
                  <a:pt x="3634072" y="58977"/>
                </a:lnTo>
                <a:cubicBezTo>
                  <a:pt x="4105532" y="933006"/>
                  <a:pt x="4397136" y="2140466"/>
                  <a:pt x="4397136" y="3474189"/>
                </a:cubicBezTo>
                <a:cubicBezTo>
                  <a:pt x="4397136" y="4641197"/>
                  <a:pt x="4173877" y="5711534"/>
                  <a:pt x="3802221" y="6546415"/>
                </a:cubicBezTo>
                <a:lnTo>
                  <a:pt x="364946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70"/>
          <p:cNvSpPr/>
          <p:nvPr/>
        </p:nvSpPr>
        <p:spPr>
          <a:xfrm>
            <a:off x="0" y="0"/>
            <a:ext cx="4386504" cy="6858000"/>
          </a:xfrm>
          <a:custGeom>
            <a:rect b="b" l="l" r="r" t="t"/>
            <a:pathLst>
              <a:path extrusionOk="0" h="6858000" w="4386504">
                <a:moveTo>
                  <a:pt x="0" y="0"/>
                </a:moveTo>
                <a:lnTo>
                  <a:pt x="3588437" y="0"/>
                </a:lnTo>
                <a:lnTo>
                  <a:pt x="3623440" y="58977"/>
                </a:lnTo>
                <a:cubicBezTo>
                  <a:pt x="4094900" y="933006"/>
                  <a:pt x="4386504" y="2140466"/>
                  <a:pt x="4386504" y="3474189"/>
                </a:cubicBezTo>
                <a:cubicBezTo>
                  <a:pt x="4386504" y="4641197"/>
                  <a:pt x="4163245" y="5711534"/>
                  <a:pt x="3791589" y="6546415"/>
                </a:cubicBezTo>
                <a:lnTo>
                  <a:pt x="363883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70"/>
          <p:cNvSpPr txBox="1"/>
          <p:nvPr/>
        </p:nvSpPr>
        <p:spPr>
          <a:xfrm>
            <a:off x="438912" y="1508760"/>
            <a:ext cx="3429000" cy="2898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Pub/Sub (Kinesis equivalent)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70"/>
          <p:cNvSpPr/>
          <p:nvPr/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2" name="Google Shape;1012;p70"/>
          <p:cNvPicPr preferRelativeResize="0"/>
          <p:nvPr/>
        </p:nvPicPr>
        <p:blipFill rotWithShape="1">
          <a:blip r:embed="rId6">
            <a:alphaModFix/>
          </a:blip>
          <a:srcRect b="-1" l="20946" r="21868" t="0"/>
          <a:stretch/>
        </p:blipFill>
        <p:spPr>
          <a:xfrm>
            <a:off x="7845207" y="10"/>
            <a:ext cx="4346795" cy="3401558"/>
          </a:xfrm>
          <a:custGeom>
            <a:rect b="b" l="l" r="r" t="t"/>
            <a:pathLst>
              <a:path extrusionOk="0" h="3401568" w="4346795">
                <a:moveTo>
                  <a:pt x="0" y="0"/>
                </a:moveTo>
                <a:lnTo>
                  <a:pt x="4346795" y="0"/>
                </a:lnTo>
                <a:lnTo>
                  <a:pt x="4346795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13" name="Google Shape;1013;p70"/>
          <p:cNvSpPr/>
          <p:nvPr/>
        </p:nvSpPr>
        <p:spPr>
          <a:xfrm>
            <a:off x="438912" y="4544568"/>
            <a:ext cx="3414966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7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0" name="Google Shape;1020;p71"/>
          <p:cNvPicPr preferRelativeResize="0"/>
          <p:nvPr/>
        </p:nvPicPr>
        <p:blipFill rotWithShape="1">
          <a:blip r:embed="rId3">
            <a:alphaModFix/>
          </a:blip>
          <a:srcRect b="2" l="7429" r="36850" t="0"/>
          <a:stretch/>
        </p:blipFill>
        <p:spPr>
          <a:xfrm>
            <a:off x="8529321" y="10"/>
            <a:ext cx="3662680" cy="3401558"/>
          </a:xfrm>
          <a:custGeom>
            <a:rect b="b" l="l" r="r" t="t"/>
            <a:pathLst>
              <a:path extrusionOk="0" h="3401568" w="3662680">
                <a:moveTo>
                  <a:pt x="0" y="0"/>
                </a:moveTo>
                <a:lnTo>
                  <a:pt x="3662680" y="0"/>
                </a:lnTo>
                <a:lnTo>
                  <a:pt x="3662680" y="3401568"/>
                </a:lnTo>
                <a:lnTo>
                  <a:pt x="774527" y="3401568"/>
                </a:lnTo>
                <a:lnTo>
                  <a:pt x="769892" y="3133175"/>
                </a:lnTo>
                <a:cubicBezTo>
                  <a:pt x="732577" y="2055441"/>
                  <a:pt x="492520" y="1056020"/>
                  <a:pt x="104445" y="215033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021" name="Google Shape;1021;p71"/>
          <p:cNvPicPr preferRelativeResize="0"/>
          <p:nvPr/>
        </p:nvPicPr>
        <p:blipFill rotWithShape="1">
          <a:blip r:embed="rId4">
            <a:alphaModFix/>
          </a:blip>
          <a:srcRect b="6035" l="0" r="-3" t="2692"/>
          <a:stretch/>
        </p:blipFill>
        <p:spPr>
          <a:xfrm>
            <a:off x="5115314" y="10"/>
            <a:ext cx="4118110" cy="3401558"/>
          </a:xfrm>
          <a:custGeom>
            <a:rect b="b" l="l" r="r" t="t"/>
            <a:pathLst>
              <a:path extrusionOk="0" h="3401568" w="4118110">
                <a:moveTo>
                  <a:pt x="0" y="0"/>
                </a:moveTo>
                <a:lnTo>
                  <a:pt x="3343575" y="0"/>
                </a:lnTo>
                <a:lnTo>
                  <a:pt x="3448028" y="215050"/>
                </a:lnTo>
                <a:cubicBezTo>
                  <a:pt x="3836103" y="1056037"/>
                  <a:pt x="4076161" y="2055458"/>
                  <a:pt x="4113475" y="3133192"/>
                </a:cubicBezTo>
                <a:lnTo>
                  <a:pt x="4118110" y="3401568"/>
                </a:lnTo>
                <a:lnTo>
                  <a:pt x="801224" y="3401568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022" name="Google Shape;1022;p71"/>
          <p:cNvPicPr preferRelativeResize="0"/>
          <p:nvPr/>
        </p:nvPicPr>
        <p:blipFill rotWithShape="1">
          <a:blip r:embed="rId5">
            <a:alphaModFix/>
          </a:blip>
          <a:srcRect b="-1" l="0" r="-1" t="13130"/>
          <a:stretch/>
        </p:blipFill>
        <p:spPr>
          <a:xfrm>
            <a:off x="5168353" y="3456432"/>
            <a:ext cx="7023646" cy="3401568"/>
          </a:xfrm>
          <a:custGeom>
            <a:rect b="b" l="l" r="r" t="t"/>
            <a:pathLst>
              <a:path extrusionOk="0" h="3401568" w="7023646">
                <a:moveTo>
                  <a:pt x="749132" y="0"/>
                </a:moveTo>
                <a:lnTo>
                  <a:pt x="7023646" y="0"/>
                </a:lnTo>
                <a:lnTo>
                  <a:pt x="7023646" y="3401568"/>
                </a:lnTo>
                <a:lnTo>
                  <a:pt x="0" y="3401568"/>
                </a:lnTo>
                <a:lnTo>
                  <a:pt x="79008" y="3238906"/>
                </a:lnTo>
                <a:cubicBezTo>
                  <a:pt x="502362" y="2321466"/>
                  <a:pt x="749563" y="1215476"/>
                  <a:pt x="749563" y="24956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23" name="Google Shape;1023;p71"/>
          <p:cNvSpPr/>
          <p:nvPr/>
        </p:nvSpPr>
        <p:spPr>
          <a:xfrm>
            <a:off x="0" y="0"/>
            <a:ext cx="5927943" cy="6858000"/>
          </a:xfrm>
          <a:custGeom>
            <a:rect b="b" l="l" r="r" t="t"/>
            <a:pathLst>
              <a:path extrusionOk="0" h="6858000" w="5927943">
                <a:moveTo>
                  <a:pt x="0" y="0"/>
                </a:moveTo>
                <a:lnTo>
                  <a:pt x="5129522" y="0"/>
                </a:lnTo>
                <a:lnTo>
                  <a:pt x="5289639" y="323150"/>
                </a:lnTo>
                <a:cubicBezTo>
                  <a:pt x="5692631" y="1223391"/>
                  <a:pt x="5927943" y="2308646"/>
                  <a:pt x="5927943" y="3476847"/>
                </a:cubicBezTo>
                <a:cubicBezTo>
                  <a:pt x="5927943" y="4645048"/>
                  <a:pt x="5692631" y="5730304"/>
                  <a:pt x="5289639" y="6630545"/>
                </a:cubicBezTo>
                <a:lnTo>
                  <a:pt x="517693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71"/>
          <p:cNvSpPr/>
          <p:nvPr/>
        </p:nvSpPr>
        <p:spPr>
          <a:xfrm>
            <a:off x="0" y="0"/>
            <a:ext cx="5917310" cy="6858000"/>
          </a:xfrm>
          <a:custGeom>
            <a:rect b="b" l="l" r="r" t="t"/>
            <a:pathLst>
              <a:path extrusionOk="0" h="6858000" w="5917310">
                <a:moveTo>
                  <a:pt x="0" y="0"/>
                </a:moveTo>
                <a:lnTo>
                  <a:pt x="5118889" y="0"/>
                </a:lnTo>
                <a:lnTo>
                  <a:pt x="5279006" y="323150"/>
                </a:lnTo>
                <a:cubicBezTo>
                  <a:pt x="5681998" y="1223391"/>
                  <a:pt x="5917310" y="2308646"/>
                  <a:pt x="5917310" y="3476847"/>
                </a:cubicBezTo>
                <a:cubicBezTo>
                  <a:pt x="5917310" y="4645048"/>
                  <a:pt x="5681998" y="5730304"/>
                  <a:pt x="5279006" y="6630545"/>
                </a:cubicBezTo>
                <a:lnTo>
                  <a:pt x="516630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71"/>
          <p:cNvSpPr txBox="1"/>
          <p:nvPr/>
        </p:nvSpPr>
        <p:spPr>
          <a:xfrm>
            <a:off x="438912" y="1527048"/>
            <a:ext cx="5020056" cy="27706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Pub/Sub (Kinesis equivalent)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71"/>
          <p:cNvSpPr/>
          <p:nvPr/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71"/>
          <p:cNvSpPr/>
          <p:nvPr/>
        </p:nvSpPr>
        <p:spPr>
          <a:xfrm>
            <a:off x="489098" y="4461119"/>
            <a:ext cx="5019074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ud shaped hard drive with cables" id="1033" name="Google Shape;1033;p72"/>
          <p:cNvPicPr preferRelativeResize="0"/>
          <p:nvPr/>
        </p:nvPicPr>
        <p:blipFill rotWithShape="1">
          <a:blip r:embed="rId3">
            <a:alphaModFix/>
          </a:blip>
          <a:srcRect b="1" l="6371" r="18922" t="0"/>
          <a:stretch/>
        </p:blipFill>
        <p:spPr>
          <a:xfrm>
            <a:off x="3242695" y="10"/>
            <a:ext cx="8949307" cy="6857990"/>
          </a:xfrm>
          <a:custGeom>
            <a:rect b="b" l="l" r="r" t="t"/>
            <a:pathLst>
              <a:path extrusionOk="0" h="6858000" w="8949307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34" name="Google Shape;1034;p72"/>
          <p:cNvSpPr/>
          <p:nvPr/>
        </p:nvSpPr>
        <p:spPr>
          <a:xfrm>
            <a:off x="-1" y="0"/>
            <a:ext cx="4455673" cy="6858000"/>
          </a:xfrm>
          <a:custGeom>
            <a:rect b="b" l="l" r="r" t="t"/>
            <a:pathLst>
              <a:path extrusionOk="0" h="6858000" w="4455673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5D5D5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72"/>
          <p:cNvSpPr/>
          <p:nvPr/>
        </p:nvSpPr>
        <p:spPr>
          <a:xfrm>
            <a:off x="0" y="0"/>
            <a:ext cx="4446529" cy="6858000"/>
          </a:xfrm>
          <a:custGeom>
            <a:rect b="b" l="l" r="r" t="t"/>
            <a:pathLst>
              <a:path extrusionOk="0" h="6858000" w="4446529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72"/>
          <p:cNvSpPr txBox="1"/>
          <p:nvPr>
            <p:ph type="title"/>
          </p:nvPr>
        </p:nvSpPr>
        <p:spPr>
          <a:xfrm>
            <a:off x="371094" y="1161288"/>
            <a:ext cx="3438144" cy="11257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Cloud Functions / Cloud Run (Lambda equivalent)</a:t>
            </a:r>
            <a:endParaRPr/>
          </a:p>
        </p:txBody>
      </p:sp>
      <p:sp>
        <p:nvSpPr>
          <p:cNvPr id="1037" name="Google Shape;1037;p72"/>
          <p:cNvSpPr/>
          <p:nvPr/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72"/>
          <p:cNvSpPr/>
          <p:nvPr/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72"/>
          <p:cNvSpPr txBox="1"/>
          <p:nvPr>
            <p:ph idx="1" type="body"/>
          </p:nvPr>
        </p:nvSpPr>
        <p:spPr>
          <a:xfrm>
            <a:off x="371094" y="2718054"/>
            <a:ext cx="3438906" cy="3207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Serverless compute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Triggered by events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Used for APIs and processing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Triggered by events (Pub/Sub, Storage)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No infrastructure management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Lightweight processing / APIs</a:t>
            </a:r>
            <a:endParaRPr/>
          </a:p>
          <a:p>
            <a:pPr indent="-120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-120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5" name="Google Shape;1045;p73"/>
          <p:cNvPicPr preferRelativeResize="0"/>
          <p:nvPr/>
        </p:nvPicPr>
        <p:blipFill rotWithShape="1">
          <a:blip r:embed="rId3">
            <a:alphaModFix/>
          </a:blip>
          <a:srcRect b="-3" l="20792" r="2756" t="0"/>
          <a:stretch/>
        </p:blipFill>
        <p:spPr>
          <a:xfrm>
            <a:off x="8529321" y="10"/>
            <a:ext cx="3662680" cy="3401558"/>
          </a:xfrm>
          <a:custGeom>
            <a:rect b="b" l="l" r="r" t="t"/>
            <a:pathLst>
              <a:path extrusionOk="0" h="3401568" w="3662680">
                <a:moveTo>
                  <a:pt x="0" y="0"/>
                </a:moveTo>
                <a:lnTo>
                  <a:pt x="3662680" y="0"/>
                </a:lnTo>
                <a:lnTo>
                  <a:pt x="3662680" y="3401568"/>
                </a:lnTo>
                <a:lnTo>
                  <a:pt x="774527" y="3401568"/>
                </a:lnTo>
                <a:lnTo>
                  <a:pt x="769892" y="3133175"/>
                </a:lnTo>
                <a:cubicBezTo>
                  <a:pt x="732577" y="2055441"/>
                  <a:pt x="492520" y="1056020"/>
                  <a:pt x="104445" y="215033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046" name="Google Shape;1046;p73"/>
          <p:cNvPicPr preferRelativeResize="0"/>
          <p:nvPr/>
        </p:nvPicPr>
        <p:blipFill rotWithShape="1">
          <a:blip r:embed="rId4">
            <a:alphaModFix/>
          </a:blip>
          <a:srcRect b="-3" l="19341" r="8320" t="0"/>
          <a:stretch/>
        </p:blipFill>
        <p:spPr>
          <a:xfrm>
            <a:off x="5115314" y="10"/>
            <a:ext cx="4118110" cy="3401558"/>
          </a:xfrm>
          <a:custGeom>
            <a:rect b="b" l="l" r="r" t="t"/>
            <a:pathLst>
              <a:path extrusionOk="0" h="3401568" w="4118110">
                <a:moveTo>
                  <a:pt x="0" y="0"/>
                </a:moveTo>
                <a:lnTo>
                  <a:pt x="3343575" y="0"/>
                </a:lnTo>
                <a:lnTo>
                  <a:pt x="3448028" y="215050"/>
                </a:lnTo>
                <a:cubicBezTo>
                  <a:pt x="3836103" y="1056037"/>
                  <a:pt x="4076161" y="2055458"/>
                  <a:pt x="4113475" y="3133192"/>
                </a:cubicBezTo>
                <a:lnTo>
                  <a:pt x="4118110" y="3401568"/>
                </a:lnTo>
                <a:lnTo>
                  <a:pt x="801224" y="3401568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047" name="Google Shape;1047;p73"/>
          <p:cNvPicPr preferRelativeResize="0"/>
          <p:nvPr/>
        </p:nvPicPr>
        <p:blipFill rotWithShape="1">
          <a:blip r:embed="rId5">
            <a:alphaModFix/>
          </a:blip>
          <a:srcRect b="-1" l="20572" r="19032" t="0"/>
          <a:stretch/>
        </p:blipFill>
        <p:spPr>
          <a:xfrm>
            <a:off x="5168353" y="3456432"/>
            <a:ext cx="7023646" cy="3401568"/>
          </a:xfrm>
          <a:custGeom>
            <a:rect b="b" l="l" r="r" t="t"/>
            <a:pathLst>
              <a:path extrusionOk="0" h="3401568" w="7023646">
                <a:moveTo>
                  <a:pt x="749132" y="0"/>
                </a:moveTo>
                <a:lnTo>
                  <a:pt x="7023646" y="0"/>
                </a:lnTo>
                <a:lnTo>
                  <a:pt x="7023646" y="3401568"/>
                </a:lnTo>
                <a:lnTo>
                  <a:pt x="0" y="3401568"/>
                </a:lnTo>
                <a:lnTo>
                  <a:pt x="79008" y="3238906"/>
                </a:lnTo>
                <a:cubicBezTo>
                  <a:pt x="502362" y="2321466"/>
                  <a:pt x="749563" y="1215476"/>
                  <a:pt x="749563" y="24956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48" name="Google Shape;1048;p73"/>
          <p:cNvSpPr/>
          <p:nvPr/>
        </p:nvSpPr>
        <p:spPr>
          <a:xfrm>
            <a:off x="0" y="0"/>
            <a:ext cx="5932965" cy="6858000"/>
          </a:xfrm>
          <a:custGeom>
            <a:rect b="b" l="l" r="r" t="t"/>
            <a:pathLst>
              <a:path extrusionOk="0" h="6858000" w="5932965">
                <a:moveTo>
                  <a:pt x="0" y="0"/>
                </a:moveTo>
                <a:lnTo>
                  <a:pt x="5140363" y="0"/>
                </a:lnTo>
                <a:lnTo>
                  <a:pt x="5152943" y="23550"/>
                </a:lnTo>
                <a:cubicBezTo>
                  <a:pt x="5642847" y="987256"/>
                  <a:pt x="5932965" y="2183538"/>
                  <a:pt x="5932965" y="3479505"/>
                </a:cubicBezTo>
                <a:cubicBezTo>
                  <a:pt x="5932965" y="4675783"/>
                  <a:pt x="5685764" y="5787121"/>
                  <a:pt x="5262410" y="6708999"/>
                </a:cubicBezTo>
                <a:lnTo>
                  <a:pt x="519038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73"/>
          <p:cNvSpPr/>
          <p:nvPr/>
        </p:nvSpPr>
        <p:spPr>
          <a:xfrm>
            <a:off x="0" y="0"/>
            <a:ext cx="5922333" cy="6858000"/>
          </a:xfrm>
          <a:custGeom>
            <a:rect b="b" l="l" r="r" t="t"/>
            <a:pathLst>
              <a:path extrusionOk="0" h="6858000" w="5922333">
                <a:moveTo>
                  <a:pt x="0" y="0"/>
                </a:moveTo>
                <a:lnTo>
                  <a:pt x="5129731" y="0"/>
                </a:lnTo>
                <a:lnTo>
                  <a:pt x="5142311" y="23550"/>
                </a:lnTo>
                <a:cubicBezTo>
                  <a:pt x="5632215" y="987256"/>
                  <a:pt x="5922333" y="2183538"/>
                  <a:pt x="5922333" y="3479505"/>
                </a:cubicBezTo>
                <a:cubicBezTo>
                  <a:pt x="5922333" y="4675783"/>
                  <a:pt x="5675132" y="5787121"/>
                  <a:pt x="5251778" y="6708999"/>
                </a:cubicBezTo>
                <a:lnTo>
                  <a:pt x="51797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73"/>
          <p:cNvSpPr/>
          <p:nvPr/>
        </p:nvSpPr>
        <p:spPr>
          <a:xfrm>
            <a:off x="0" y="1016867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73"/>
          <p:cNvSpPr/>
          <p:nvPr/>
        </p:nvSpPr>
        <p:spPr>
          <a:xfrm>
            <a:off x="438911" y="2089941"/>
            <a:ext cx="4970439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73"/>
          <p:cNvSpPr txBox="1"/>
          <p:nvPr/>
        </p:nvSpPr>
        <p:spPr>
          <a:xfrm>
            <a:off x="448056" y="2514600"/>
            <a:ext cx="4922338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Functions / Cloud Run (Lambda equivalent)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7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74"/>
          <p:cNvSpPr txBox="1"/>
          <p:nvPr>
            <p:ph type="title"/>
          </p:nvPr>
        </p:nvSpPr>
        <p:spPr>
          <a:xfrm>
            <a:off x="838200" y="184805"/>
            <a:ext cx="10515600" cy="15058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vs GCP</a:t>
            </a:r>
            <a:b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60" name="Google Shape;1060;p74"/>
          <p:cNvGraphicFramePr/>
          <p:nvPr/>
        </p:nvGraphicFramePr>
        <p:xfrm>
          <a:off x="1481176" y="18454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{42D63A28-3AF3-44B8-B921-5E860B85DD7A}</a:tableStyleId>
              </a:tblPr>
              <a:tblGrid>
                <a:gridCol w="3508950"/>
                <a:gridCol w="5717650"/>
              </a:tblGrid>
              <a:tr h="86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lt1"/>
                          </a:solidFill>
                        </a:rPr>
                        <a:t>AWS</a:t>
                      </a:r>
                      <a:endParaRPr sz="1400" u="none" cap="none" strike="noStrike"/>
                    </a:p>
                  </a:txBody>
                  <a:tcPr marT="183650" marB="183650" marR="91825" marL="128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lt1"/>
                          </a:solidFill>
                        </a:rPr>
                        <a:t>GCP</a:t>
                      </a:r>
                      <a:endParaRPr sz="1400" u="none" cap="none" strike="noStrike"/>
                    </a:p>
                  </a:txBody>
                  <a:tcPr marT="183650" marB="183650" marR="91825" marL="128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1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</a:rPr>
                        <a:t>S3 </a:t>
                      </a:r>
                      <a:endParaRPr sz="1400" u="none" cap="none" strike="noStrike"/>
                    </a:p>
                  </a:txBody>
                  <a:tcPr marT="91825" marB="183650" marR="91825" marL="1285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</a:rPr>
                        <a:t>Cloud Storage</a:t>
                      </a:r>
                      <a:endParaRPr sz="1400" u="none" cap="none" strike="noStrike"/>
                    </a:p>
                  </a:txBody>
                  <a:tcPr marT="91825" marB="183650" marR="91825" marL="1285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</a:rPr>
                        <a:t>Glue </a:t>
                      </a:r>
                      <a:endParaRPr sz="1400" u="none" cap="none" strike="noStrike"/>
                    </a:p>
                  </a:txBody>
                  <a:tcPr marT="91825" marB="183650" marR="91825" marL="1285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</a:rPr>
                        <a:t>Dataflow</a:t>
                      </a:r>
                      <a:endParaRPr sz="1400" u="none" cap="none" strike="noStrike"/>
                    </a:p>
                  </a:txBody>
                  <a:tcPr marT="91825" marB="183650" marR="91825" marL="1285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71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</a:rPr>
                        <a:t>Lambda</a:t>
                      </a:r>
                      <a:endParaRPr sz="1400" u="none" cap="none" strike="noStrike"/>
                    </a:p>
                  </a:txBody>
                  <a:tcPr marT="91825" marB="183650" marR="91825" marL="1285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</a:rPr>
                        <a:t>Cloud Functions</a:t>
                      </a:r>
                      <a:endParaRPr sz="1400" u="none" cap="none" strike="noStrike"/>
                    </a:p>
                  </a:txBody>
                  <a:tcPr marT="91825" marB="183650" marR="91825" marL="1285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</a:rPr>
                        <a:t>EMR</a:t>
                      </a:r>
                      <a:endParaRPr sz="1400" u="none" cap="none" strike="noStrike"/>
                    </a:p>
                  </a:txBody>
                  <a:tcPr marT="91825" marB="183650" marR="91825" marL="1285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</a:rPr>
                        <a:t>Dataproc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825" marB="183650" marR="91825" marL="1285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71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</a:rPr>
                        <a:t>Redshift</a:t>
                      </a:r>
                      <a:endParaRPr sz="1400" u="none" cap="none" strike="noStrike"/>
                    </a:p>
                  </a:txBody>
                  <a:tcPr marT="91825" marB="183650" marR="91825" marL="1285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</a:rPr>
                        <a:t>BigQuery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825" marB="183650" marR="91825" marL="1285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7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se-up of hopscotch on a sidewalk" id="1066" name="Google Shape;1066;p75"/>
          <p:cNvPicPr preferRelativeResize="0"/>
          <p:nvPr/>
        </p:nvPicPr>
        <p:blipFill rotWithShape="1">
          <a:blip r:embed="rId3">
            <a:alphaModFix/>
          </a:blip>
          <a:srcRect b="-1" l="11386" r="9950" t="0"/>
          <a:stretch/>
        </p:blipFill>
        <p:spPr>
          <a:xfrm>
            <a:off x="4110127" y="10"/>
            <a:ext cx="8081873" cy="6857990"/>
          </a:xfrm>
          <a:custGeom>
            <a:rect b="b" l="l" r="r" t="t"/>
            <a:pathLst>
              <a:path extrusionOk="0" h="6858000" w="8081873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67" name="Google Shape;1067;p75"/>
          <p:cNvSpPr/>
          <p:nvPr/>
        </p:nvSpPr>
        <p:spPr>
          <a:xfrm>
            <a:off x="0" y="0"/>
            <a:ext cx="4959047" cy="6858000"/>
          </a:xfrm>
          <a:custGeom>
            <a:rect b="b" l="l" r="r" t="t"/>
            <a:pathLst>
              <a:path extrusionOk="0" h="6858000" w="4959047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9EDF1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75"/>
          <p:cNvSpPr/>
          <p:nvPr/>
        </p:nvSpPr>
        <p:spPr>
          <a:xfrm>
            <a:off x="0" y="0"/>
            <a:ext cx="4948887" cy="6858000"/>
          </a:xfrm>
          <a:custGeom>
            <a:rect b="b" l="l" r="r" t="t"/>
            <a:pathLst>
              <a:path extrusionOk="0" h="6858000" w="4948887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75"/>
          <p:cNvSpPr txBox="1"/>
          <p:nvPr>
            <p:ph type="title"/>
          </p:nvPr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END</a:t>
            </a:r>
            <a:endParaRPr/>
          </a:p>
        </p:txBody>
      </p:sp>
      <p:sp>
        <p:nvSpPr>
          <p:cNvPr id="1070" name="Google Shape;1070;p75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75"/>
          <p:cNvSpPr/>
          <p:nvPr/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7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Day 3 — Spark Fundamentals</a:t>
            </a:r>
            <a:endParaRPr/>
          </a:p>
        </p:txBody>
      </p:sp>
      <p:sp>
        <p:nvSpPr>
          <p:cNvPr id="1077" name="Google Shape;1077;p7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 vs DataFrame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Lazy Evaluation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SQL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PySpark Notebook Lab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7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 Fundamentals</a:t>
            </a:r>
            <a:endParaRPr/>
          </a:p>
        </p:txBody>
      </p:sp>
      <p:sp>
        <p:nvSpPr>
          <p:cNvPr id="1083" name="Google Shape;1083;p7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 = Resilient Distributed Dataset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Distributed across cluster nodes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Immutable and fault tolerant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Foundation of Spark processing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7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DataFrame Fundamentals</a:t>
            </a:r>
            <a:endParaRPr/>
          </a:p>
        </p:txBody>
      </p:sp>
      <p:sp>
        <p:nvSpPr>
          <p:cNvPr id="1089" name="Google Shape;1089;p7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Structured distributed table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Schema + column types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Optimized with Catalyst engine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Preferred modern Spark API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7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Lazy Evaluation</a:t>
            </a:r>
            <a:endParaRPr/>
          </a:p>
        </p:txBody>
      </p:sp>
      <p:sp>
        <p:nvSpPr>
          <p:cNvPr id="1095" name="Google Shape;1095;p7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delays execution until action occurs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Transformations build DAG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Actions trigger execution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Improves optimization and performance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8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SQL</a:t>
            </a:r>
            <a:endParaRPr/>
          </a:p>
        </p:txBody>
      </p:sp>
      <p:sp>
        <p:nvSpPr>
          <p:cNvPr id="1101" name="Google Shape;1101;p8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SQL queries on DataFrames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joins and aggregations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Integrates with BI tools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production analytics workflow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8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PySpark Notebook Setup</a:t>
            </a:r>
            <a:endParaRPr/>
          </a:p>
        </p:txBody>
      </p:sp>
      <p:sp>
        <p:nvSpPr>
          <p:cNvPr id="1107" name="Google Shape;1107;p8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 pyspark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SparkSession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CSV datasets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transformations interactively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8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Hands-On Lab — Step 1</a:t>
            </a:r>
            <a:endParaRPr/>
          </a:p>
        </p:txBody>
      </p:sp>
      <p:sp>
        <p:nvSpPr>
          <p:cNvPr id="1113" name="Google Shape;1113;p8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Jupyter Notebook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SparkSession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Spark application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CSV dataset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8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Hands-On Lab — Step 2</a:t>
            </a:r>
            <a:endParaRPr/>
          </a:p>
        </p:txBody>
      </p:sp>
      <p:sp>
        <p:nvSpPr>
          <p:cNvPr id="1119" name="Google Shape;1119;p8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 records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and aggregate sales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Spark SQL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 results with show()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8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Hands-On Lab — Step 3</a:t>
            </a:r>
            <a:endParaRPr/>
          </a:p>
        </p:txBody>
      </p:sp>
      <p:sp>
        <p:nvSpPr>
          <p:cNvPr id="1125" name="Google Shape;1125;p8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 transformed dataset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output CSV or Parquet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Validate results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 code to GitHub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8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Production Spark Best Practices</a:t>
            </a:r>
            <a:endParaRPr/>
          </a:p>
        </p:txBody>
      </p:sp>
      <p:sp>
        <p:nvSpPr>
          <p:cNvPr id="1131" name="Google Shape;1131;p8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DataFrames over RDDs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Partition large datasets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Cache reused DataFrames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 Spark UI and logs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2025-11-14T20:50:49Z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2021-01-23T00:00:00Z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2025-11-14T00:00:00Z</vt:filetime>
  </property>
  <property fmtid="{D5CDD505-2E9C-101B-9397-08002B2CF9AE}" pid="5" name="SourceModified">
    <vt:lpwstr>D:20210123134743+05'47'</vt:lpwstr>
  </property>
</Properties>
</file>