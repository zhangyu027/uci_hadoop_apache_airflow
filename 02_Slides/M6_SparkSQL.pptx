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media/image42.jpg" ContentType="image/jpg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29" r:id="rId33"/>
    <p:sldId id="330" r:id="rId34"/>
    <p:sldId id="331" r:id="rId35"/>
    <p:sldId id="345" r:id="rId36"/>
    <p:sldId id="346" r:id="rId37"/>
    <p:sldId id="347" r:id="rId38"/>
    <p:sldId id="348" r:id="rId39"/>
    <p:sldId id="349" r:id="rId40"/>
    <p:sldId id="350" r:id="rId41"/>
    <p:sldId id="287" r:id="rId42"/>
    <p:sldId id="332" r:id="rId43"/>
    <p:sldId id="333" r:id="rId44"/>
    <p:sldId id="334" r:id="rId45"/>
    <p:sldId id="341" r:id="rId46"/>
    <p:sldId id="342" r:id="rId47"/>
    <p:sldId id="343" r:id="rId48"/>
    <p:sldId id="344" r:id="rId49"/>
    <p:sldId id="335" r:id="rId50"/>
    <p:sldId id="336" r:id="rId51"/>
    <p:sldId id="337" r:id="rId52"/>
    <p:sldId id="311" r:id="rId53"/>
    <p:sldId id="338" r:id="rId54"/>
    <p:sldId id="339" r:id="rId55"/>
    <p:sldId id="340" r:id="rId56"/>
    <p:sldId id="288" r:id="rId57"/>
    <p:sldId id="289" r:id="rId58"/>
    <p:sldId id="290" r:id="rId59"/>
    <p:sldId id="291" r:id="rId60"/>
    <p:sldId id="292" r:id="rId61"/>
    <p:sldId id="293" r:id="rId62"/>
    <p:sldId id="294" r:id="rId63"/>
    <p:sldId id="295" r:id="rId64"/>
    <p:sldId id="296" r:id="rId65"/>
    <p:sldId id="297" r:id="rId66"/>
    <p:sldId id="298" r:id="rId67"/>
    <p:sldId id="299" r:id="rId68"/>
    <p:sldId id="300" r:id="rId69"/>
    <p:sldId id="301" r:id="rId70"/>
    <p:sldId id="302" r:id="rId71"/>
    <p:sldId id="303" r:id="rId72"/>
    <p:sldId id="304" r:id="rId73"/>
    <p:sldId id="305" r:id="rId74"/>
    <p:sldId id="306" r:id="rId75"/>
    <p:sldId id="307" r:id="rId76"/>
    <p:sldId id="308" r:id="rId77"/>
  </p:sldIdLst>
  <p:sldSz cx="9766300" cy="5492750"/>
  <p:notesSz cx="9766300" cy="5492750"/>
  <p:embeddedFontLst>
    <p:embeddedFont>
      <p:font typeface="Aptos Narrow" panose="020B0004020202020204" pitchFamily="34" charset="0"/>
      <p:regular r:id="rId79"/>
      <p:bold r:id="rId80"/>
      <p:italic r:id="rId81"/>
      <p:boldItalic r:id="rId82"/>
    </p:embeddedFont>
    <p:embeddedFont>
      <p:font typeface="Merriweather Sans" pitchFamily="2" charset="77"/>
      <p:regular r:id="rId83"/>
      <p:bold r:id="rId84"/>
      <p:italic r:id="rId85"/>
      <p:boldItalic r:id="rId86"/>
    </p:embeddedFont>
    <p:embeddedFont>
      <p:font typeface="Trebuchet MS" panose="020B0703020202090204" pitchFamily="34" charset="0"/>
      <p:regular r:id="rId87"/>
      <p:bold r:id="rId88"/>
      <p:italic r:id="rId8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0" roundtripDataSignature="AMtx7mggz05+DJP1HTmwCZAkBrZA9p9f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710"/>
  </p:normalViewPr>
  <p:slideViewPr>
    <p:cSldViewPr snapToGrid="0">
      <p:cViewPr varScale="1">
        <p:scale>
          <a:sx n="118" d="100"/>
          <a:sy n="118" d="100"/>
        </p:scale>
        <p:origin x="264" y="20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6.fntdata"/><Relationship Id="rId89" Type="http://schemas.openxmlformats.org/officeDocument/2006/relationships/font" Target="fonts/font11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1.fntdata"/><Relationship Id="rId5" Type="http://schemas.openxmlformats.org/officeDocument/2006/relationships/slide" Target="slides/slide4.xml"/><Relationship Id="rId90" Type="http://customschemas.google.com/relationships/presentationmetadata" Target="meta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2.fntdata"/><Relationship Id="rId85" Type="http://schemas.openxmlformats.org/officeDocument/2006/relationships/font" Target="fonts/font7.fntdata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5.fntdata"/><Relationship Id="rId88" Type="http://schemas.openxmlformats.org/officeDocument/2006/relationships/font" Target="fonts/font10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font" Target="fonts/font3.fntdata"/><Relationship Id="rId86" Type="http://schemas.openxmlformats.org/officeDocument/2006/relationships/font" Target="fonts/font8.fntdata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9.fntdata"/><Relationship Id="rId61" Type="http://schemas.openxmlformats.org/officeDocument/2006/relationships/slide" Target="slides/slide60.xml"/><Relationship Id="rId82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1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4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2763" y="411163"/>
            <a:ext cx="3662362" cy="206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8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9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0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1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2763" y="411163"/>
            <a:ext cx="3662362" cy="206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2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3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4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5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7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2763" y="411163"/>
            <a:ext cx="3662362" cy="206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52763" y="411163"/>
            <a:ext cx="3662362" cy="206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9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0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1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2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3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4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5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6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7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8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9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0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1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2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3:notes"/>
          <p:cNvSpPr txBox="1">
            <a:spLocks noGrp="1"/>
          </p:cNvSpPr>
          <p:nvPr>
            <p:ph type="body" idx="1"/>
          </p:nvPr>
        </p:nvSpPr>
        <p:spPr>
          <a:xfrm>
            <a:off x="976625" y="2609050"/>
            <a:ext cx="7813025" cy="2471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8025" y="411950"/>
            <a:ext cx="6511175" cy="2059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5"/>
          <p:cNvSpPr txBox="1">
            <a:spLocks noGrp="1"/>
          </p:cNvSpPr>
          <p:nvPr>
            <p:ph type="title"/>
          </p:nvPr>
        </p:nvSpPr>
        <p:spPr>
          <a:xfrm>
            <a:off x="223011" y="167538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body" idx="1"/>
          </p:nvPr>
        </p:nvSpPr>
        <p:spPr>
          <a:xfrm>
            <a:off x="399922" y="975512"/>
            <a:ext cx="4700270" cy="178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>
                <a:solidFill>
                  <a:srgbClr val="1D1F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ftr" idx="11"/>
          </p:nvPr>
        </p:nvSpPr>
        <p:spPr>
          <a:xfrm>
            <a:off x="3316224" y="5102352"/>
            <a:ext cx="31211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5"/>
          <p:cNvSpPr txBox="1">
            <a:spLocks noGrp="1"/>
          </p:cNvSpPr>
          <p:nvPr>
            <p:ph type="dt" idx="10"/>
          </p:nvPr>
        </p:nvSpPr>
        <p:spPr>
          <a:xfrm>
            <a:off x="487680" y="5102352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5"/>
          <p:cNvSpPr txBox="1">
            <a:spLocks noGrp="1"/>
          </p:cNvSpPr>
          <p:nvPr>
            <p:ph type="sldNum" idx="12"/>
          </p:nvPr>
        </p:nvSpPr>
        <p:spPr>
          <a:xfrm>
            <a:off x="7022592" y="5102352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6"/>
          <p:cNvSpPr txBox="1">
            <a:spLocks noGrp="1"/>
          </p:cNvSpPr>
          <p:nvPr>
            <p:ph type="title"/>
          </p:nvPr>
        </p:nvSpPr>
        <p:spPr>
          <a:xfrm>
            <a:off x="223011" y="167538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6"/>
          <p:cNvSpPr txBox="1">
            <a:spLocks noGrp="1"/>
          </p:cNvSpPr>
          <p:nvPr>
            <p:ph type="ftr" idx="11"/>
          </p:nvPr>
        </p:nvSpPr>
        <p:spPr>
          <a:xfrm>
            <a:off x="3316224" y="5102352"/>
            <a:ext cx="31211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6"/>
          <p:cNvSpPr txBox="1">
            <a:spLocks noGrp="1"/>
          </p:cNvSpPr>
          <p:nvPr>
            <p:ph type="dt" idx="10"/>
          </p:nvPr>
        </p:nvSpPr>
        <p:spPr>
          <a:xfrm>
            <a:off x="487680" y="5102352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6"/>
          <p:cNvSpPr txBox="1">
            <a:spLocks noGrp="1"/>
          </p:cNvSpPr>
          <p:nvPr>
            <p:ph type="sldNum" idx="12"/>
          </p:nvPr>
        </p:nvSpPr>
        <p:spPr>
          <a:xfrm>
            <a:off x="7022592" y="5102352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78570" y="1554030"/>
            <a:ext cx="917971" cy="95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5528" y="1554030"/>
            <a:ext cx="1243086" cy="95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38476" y="1554030"/>
            <a:ext cx="1281336" cy="95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40549" y="1573212"/>
            <a:ext cx="1281336" cy="76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56680" y="1822582"/>
            <a:ext cx="5737324" cy="767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82948" y="2609056"/>
            <a:ext cx="6205872" cy="46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82948" y="3088613"/>
            <a:ext cx="6425803" cy="1477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5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80989" y="4930113"/>
            <a:ext cx="545045" cy="95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75572" y="4891749"/>
            <a:ext cx="1185713" cy="134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7"/>
          <p:cNvSpPr/>
          <p:nvPr/>
        </p:nvSpPr>
        <p:spPr>
          <a:xfrm>
            <a:off x="2725228" y="3069429"/>
            <a:ext cx="0" cy="978535"/>
          </a:xfrm>
          <a:custGeom>
            <a:avLst/>
            <a:gdLst/>
            <a:ahLst/>
            <a:cxnLst/>
            <a:rect l="l" t="t" r="r" b="b"/>
            <a:pathLst>
              <a:path w="120000" h="978535" extrusionOk="0">
                <a:moveTo>
                  <a:pt x="0" y="978296"/>
                </a:moveTo>
                <a:lnTo>
                  <a:pt x="0" y="0"/>
                </a:lnTo>
              </a:path>
            </a:pathLst>
          </a:custGeom>
          <a:noFill/>
          <a:ln w="19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" name="Google Shape;33;p57"/>
          <p:cNvSpPr/>
          <p:nvPr/>
        </p:nvSpPr>
        <p:spPr>
          <a:xfrm>
            <a:off x="0" y="599711"/>
            <a:ext cx="9753600" cy="29209"/>
          </a:xfrm>
          <a:custGeom>
            <a:avLst/>
            <a:gdLst/>
            <a:ahLst/>
            <a:cxnLst/>
            <a:rect l="l" t="t" r="r" b="b"/>
            <a:pathLst>
              <a:path w="9753600" h="29209" extrusionOk="0">
                <a:moveTo>
                  <a:pt x="9753599" y="28773"/>
                </a:moveTo>
                <a:lnTo>
                  <a:pt x="0" y="28773"/>
                </a:lnTo>
                <a:lnTo>
                  <a:pt x="0" y="0"/>
                </a:lnTo>
                <a:lnTo>
                  <a:pt x="9753599" y="0"/>
                </a:lnTo>
                <a:lnTo>
                  <a:pt x="9753599" y="2877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" name="Google Shape;34;p57"/>
          <p:cNvSpPr/>
          <p:nvPr/>
        </p:nvSpPr>
        <p:spPr>
          <a:xfrm>
            <a:off x="1109215" y="1026516"/>
            <a:ext cx="2428875" cy="0"/>
          </a:xfrm>
          <a:custGeom>
            <a:avLst/>
            <a:gdLst/>
            <a:ahLst/>
            <a:cxnLst/>
            <a:rect l="l" t="t" r="r" b="b"/>
            <a:pathLst>
              <a:path w="2428875" h="120000" extrusionOk="0">
                <a:moveTo>
                  <a:pt x="0" y="0"/>
                </a:moveTo>
                <a:lnTo>
                  <a:pt x="2428800" y="0"/>
                </a:lnTo>
              </a:path>
            </a:pathLst>
          </a:custGeom>
          <a:noFill/>
          <a:ln w="191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" name="Google Shape;35;p57"/>
          <p:cNvSpPr/>
          <p:nvPr/>
        </p:nvSpPr>
        <p:spPr>
          <a:xfrm>
            <a:off x="2658292" y="3222888"/>
            <a:ext cx="1568450" cy="0"/>
          </a:xfrm>
          <a:custGeom>
            <a:avLst/>
            <a:gdLst/>
            <a:ahLst/>
            <a:cxnLst/>
            <a:rect l="l" t="t" r="r" b="b"/>
            <a:pathLst>
              <a:path w="1568450" h="120000" extrusionOk="0">
                <a:moveTo>
                  <a:pt x="0" y="0"/>
                </a:moveTo>
                <a:lnTo>
                  <a:pt x="1568201" y="0"/>
                </a:lnTo>
              </a:path>
            </a:pathLst>
          </a:custGeom>
          <a:noFill/>
          <a:ln w="191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6" name="Google Shape;36;p57"/>
          <p:cNvSpPr/>
          <p:nvPr/>
        </p:nvSpPr>
        <p:spPr>
          <a:xfrm>
            <a:off x="2658292" y="3510622"/>
            <a:ext cx="1568450" cy="0"/>
          </a:xfrm>
          <a:custGeom>
            <a:avLst/>
            <a:gdLst/>
            <a:ahLst/>
            <a:cxnLst/>
            <a:rect l="l" t="t" r="r" b="b"/>
            <a:pathLst>
              <a:path w="1568450" h="120000" extrusionOk="0">
                <a:moveTo>
                  <a:pt x="0" y="0"/>
                </a:moveTo>
                <a:lnTo>
                  <a:pt x="1568201" y="0"/>
                </a:lnTo>
              </a:path>
            </a:pathLst>
          </a:custGeom>
          <a:noFill/>
          <a:ln w="191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" name="Google Shape;37;p57"/>
          <p:cNvSpPr txBox="1">
            <a:spLocks noGrp="1"/>
          </p:cNvSpPr>
          <p:nvPr>
            <p:ph type="title"/>
          </p:nvPr>
        </p:nvSpPr>
        <p:spPr>
          <a:xfrm>
            <a:off x="223011" y="167538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7"/>
          <p:cNvSpPr txBox="1">
            <a:spLocks noGrp="1"/>
          </p:cNvSpPr>
          <p:nvPr>
            <p:ph type="body" idx="1"/>
          </p:nvPr>
        </p:nvSpPr>
        <p:spPr>
          <a:xfrm>
            <a:off x="487680" y="1261872"/>
            <a:ext cx="4242816" cy="362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7"/>
          <p:cNvSpPr txBox="1">
            <a:spLocks noGrp="1"/>
          </p:cNvSpPr>
          <p:nvPr>
            <p:ph type="body" idx="2"/>
          </p:nvPr>
        </p:nvSpPr>
        <p:spPr>
          <a:xfrm>
            <a:off x="5023104" y="1261872"/>
            <a:ext cx="4242816" cy="362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7"/>
          <p:cNvSpPr txBox="1">
            <a:spLocks noGrp="1"/>
          </p:cNvSpPr>
          <p:nvPr>
            <p:ph type="ftr" idx="11"/>
          </p:nvPr>
        </p:nvSpPr>
        <p:spPr>
          <a:xfrm>
            <a:off x="3316224" y="5102352"/>
            <a:ext cx="31211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7"/>
          <p:cNvSpPr txBox="1">
            <a:spLocks noGrp="1"/>
          </p:cNvSpPr>
          <p:nvPr>
            <p:ph type="dt" idx="10"/>
          </p:nvPr>
        </p:nvSpPr>
        <p:spPr>
          <a:xfrm>
            <a:off x="487680" y="5102352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sldNum" idx="12"/>
          </p:nvPr>
        </p:nvSpPr>
        <p:spPr>
          <a:xfrm>
            <a:off x="7022592" y="5102352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 txBox="1">
            <a:spLocks noGrp="1"/>
          </p:cNvSpPr>
          <p:nvPr>
            <p:ph type="ftr" idx="11"/>
          </p:nvPr>
        </p:nvSpPr>
        <p:spPr>
          <a:xfrm>
            <a:off x="3316224" y="5102352"/>
            <a:ext cx="31211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8"/>
          <p:cNvSpPr txBox="1">
            <a:spLocks noGrp="1"/>
          </p:cNvSpPr>
          <p:nvPr>
            <p:ph type="dt" idx="10"/>
          </p:nvPr>
        </p:nvSpPr>
        <p:spPr>
          <a:xfrm>
            <a:off x="487680" y="5102352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8"/>
          <p:cNvSpPr txBox="1">
            <a:spLocks noGrp="1"/>
          </p:cNvSpPr>
          <p:nvPr>
            <p:ph type="sldNum" idx="12"/>
          </p:nvPr>
        </p:nvSpPr>
        <p:spPr>
          <a:xfrm>
            <a:off x="7022592" y="5102352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9"/>
          <p:cNvSpPr/>
          <p:nvPr/>
        </p:nvSpPr>
        <p:spPr>
          <a:xfrm>
            <a:off x="1438935" y="1959927"/>
            <a:ext cx="6826250" cy="757555"/>
          </a:xfrm>
          <a:custGeom>
            <a:avLst/>
            <a:gdLst/>
            <a:ahLst/>
            <a:cxnLst/>
            <a:rect l="l" t="t" r="r" b="b"/>
            <a:pathLst>
              <a:path w="6826250" h="757555" extrusionOk="0">
                <a:moveTo>
                  <a:pt x="3643198" y="0"/>
                </a:moveTo>
                <a:lnTo>
                  <a:pt x="0" y="0"/>
                </a:lnTo>
                <a:lnTo>
                  <a:pt x="0" y="757186"/>
                </a:lnTo>
                <a:lnTo>
                  <a:pt x="3643198" y="757186"/>
                </a:lnTo>
                <a:lnTo>
                  <a:pt x="3643198" y="0"/>
                </a:lnTo>
                <a:close/>
              </a:path>
              <a:path w="6826250" h="757555" extrusionOk="0">
                <a:moveTo>
                  <a:pt x="6825793" y="0"/>
                </a:moveTo>
                <a:lnTo>
                  <a:pt x="3871074" y="0"/>
                </a:lnTo>
                <a:lnTo>
                  <a:pt x="3871074" y="757186"/>
                </a:lnTo>
                <a:lnTo>
                  <a:pt x="6825793" y="757186"/>
                </a:lnTo>
                <a:lnTo>
                  <a:pt x="6825793" y="0"/>
                </a:lnTo>
                <a:close/>
              </a:path>
            </a:pathLst>
          </a:custGeom>
          <a:solidFill>
            <a:srgbClr val="0193D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" name="Google Shape;49;p59"/>
          <p:cNvSpPr txBox="1">
            <a:spLocks noGrp="1"/>
          </p:cNvSpPr>
          <p:nvPr>
            <p:ph type="ctrTitle"/>
          </p:nvPr>
        </p:nvSpPr>
        <p:spPr>
          <a:xfrm>
            <a:off x="1426240" y="1950552"/>
            <a:ext cx="6901119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9"/>
          <p:cNvSpPr txBox="1">
            <a:spLocks noGrp="1"/>
          </p:cNvSpPr>
          <p:nvPr>
            <p:ph type="subTitle" idx="1"/>
          </p:nvPr>
        </p:nvSpPr>
        <p:spPr>
          <a:xfrm>
            <a:off x="1463040" y="3072384"/>
            <a:ext cx="682752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>
                <a:solidFill>
                  <a:srgbClr val="1D1F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9"/>
          <p:cNvSpPr txBox="1">
            <a:spLocks noGrp="1"/>
          </p:cNvSpPr>
          <p:nvPr>
            <p:ph type="ftr" idx="11"/>
          </p:nvPr>
        </p:nvSpPr>
        <p:spPr>
          <a:xfrm>
            <a:off x="3316224" y="5102352"/>
            <a:ext cx="31211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9"/>
          <p:cNvSpPr txBox="1">
            <a:spLocks noGrp="1"/>
          </p:cNvSpPr>
          <p:nvPr>
            <p:ph type="dt" idx="10"/>
          </p:nvPr>
        </p:nvSpPr>
        <p:spPr>
          <a:xfrm>
            <a:off x="487680" y="5102352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9"/>
          <p:cNvSpPr txBox="1">
            <a:spLocks noGrp="1"/>
          </p:cNvSpPr>
          <p:nvPr>
            <p:ph type="sldNum" idx="12"/>
          </p:nvPr>
        </p:nvSpPr>
        <p:spPr>
          <a:xfrm>
            <a:off x="7022592" y="5102352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3011" y="167538"/>
            <a:ext cx="7078345" cy="542328"/>
          </a:xfrm>
        </p:spPr>
        <p:txBody>
          <a:bodyPr lIns="0" tIns="0" rIns="0" bIns="0"/>
          <a:lstStyle>
            <a:lvl1pPr>
              <a:defRPr sz="3524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8315" y="1263333"/>
            <a:ext cx="4248341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9644" y="1263333"/>
            <a:ext cx="4248341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500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4"/>
          <p:cNvSpPr txBox="1">
            <a:spLocks noGrp="1"/>
          </p:cNvSpPr>
          <p:nvPr>
            <p:ph type="title"/>
          </p:nvPr>
        </p:nvSpPr>
        <p:spPr>
          <a:xfrm>
            <a:off x="223011" y="167538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4"/>
          <p:cNvSpPr txBox="1">
            <a:spLocks noGrp="1"/>
          </p:cNvSpPr>
          <p:nvPr>
            <p:ph type="body" idx="1"/>
          </p:nvPr>
        </p:nvSpPr>
        <p:spPr>
          <a:xfrm>
            <a:off x="399922" y="975512"/>
            <a:ext cx="4700270" cy="178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rgbClr val="1D1F2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4"/>
          <p:cNvSpPr txBox="1">
            <a:spLocks noGrp="1"/>
          </p:cNvSpPr>
          <p:nvPr>
            <p:ph type="ftr" idx="11"/>
          </p:nvPr>
        </p:nvSpPr>
        <p:spPr>
          <a:xfrm>
            <a:off x="3316224" y="5102352"/>
            <a:ext cx="31211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54"/>
          <p:cNvSpPr txBox="1">
            <a:spLocks noGrp="1"/>
          </p:cNvSpPr>
          <p:nvPr>
            <p:ph type="dt" idx="10"/>
          </p:nvPr>
        </p:nvSpPr>
        <p:spPr>
          <a:xfrm>
            <a:off x="487680" y="5102352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54"/>
          <p:cNvSpPr txBox="1">
            <a:spLocks noGrp="1"/>
          </p:cNvSpPr>
          <p:nvPr>
            <p:ph type="sldNum" idx="12"/>
          </p:nvPr>
        </p:nvSpPr>
        <p:spPr>
          <a:xfrm>
            <a:off x="7022592" y="5102352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jp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jpg"/><Relationship Id="rId4" Type="http://schemas.openxmlformats.org/officeDocument/2006/relationships/image" Target="../media/image48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rgbClr val="82766A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0" name="Google Shape;60;p1" descr="$PPTXTitle"/>
          <p:cNvSpPr txBox="1"/>
          <p:nvPr/>
        </p:nvSpPr>
        <p:spPr>
          <a:xfrm>
            <a:off x="4135417" y="1251582"/>
            <a:ext cx="4514762" cy="196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2700" marR="508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Big Data Analytics (</a:t>
            </a:r>
            <a:r>
              <a:rPr lang="en-US" sz="35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Spring</a:t>
            </a:r>
            <a:r>
              <a:rPr lang="en-US" sz="3500" b="1" i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202</a:t>
            </a:r>
            <a:r>
              <a:rPr lang="en-US" sz="35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3500" b="1" i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3500" b="1" i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1" descr="Graph"/>
          <p:cNvPicPr preferRelativeResize="0"/>
          <p:nvPr/>
        </p:nvPicPr>
        <p:blipFill rotWithShape="1">
          <a:blip r:embed="rId3">
            <a:alphaModFix/>
          </a:blip>
          <a:srcRect l="28099" r="39365"/>
          <a:stretch/>
        </p:blipFill>
        <p:spPr>
          <a:xfrm>
            <a:off x="-5820" y="10"/>
            <a:ext cx="2859410" cy="5492740"/>
          </a:xfrm>
          <a:custGeom>
            <a:avLst/>
            <a:gdLst/>
            <a:ahLst/>
            <a:cxnLst/>
            <a:rect l="l" t="t" r="r" b="b"/>
            <a:pathLst>
              <a:path w="3569616" h="6858000" extrusionOk="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7" name="Google Shape;67;p2"/>
          <p:cNvSpPr/>
          <p:nvPr/>
        </p:nvSpPr>
        <p:spPr>
          <a:xfrm rot="5400000" flipH="1">
            <a:off x="-1129139" y="1129138"/>
            <a:ext cx="5492750" cy="3234475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8" name="Google Shape;68;p2"/>
          <p:cNvSpPr/>
          <p:nvPr/>
        </p:nvSpPr>
        <p:spPr>
          <a:xfrm rot="5400000" flipH="1">
            <a:off x="-1129140" y="1137257"/>
            <a:ext cx="5492749" cy="323447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9" name="Google Shape;69;p2"/>
          <p:cNvSpPr/>
          <p:nvPr/>
        </p:nvSpPr>
        <p:spPr>
          <a:xfrm rot="5400000" flipH="1">
            <a:off x="615283" y="2873557"/>
            <a:ext cx="2003900" cy="3234479"/>
          </a:xfrm>
          <a:prstGeom prst="rect">
            <a:avLst/>
          </a:prstGeom>
          <a:gradFill>
            <a:gsLst>
              <a:gs pos="0">
                <a:srgbClr val="4F81BD">
                  <a:alpha val="29019"/>
                </a:srgbClr>
              </a:gs>
              <a:gs pos="2000">
                <a:srgbClr val="4F81BD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0" name="Google Shape;70;p2"/>
          <p:cNvSpPr/>
          <p:nvPr/>
        </p:nvSpPr>
        <p:spPr>
          <a:xfrm rot="-964587">
            <a:off x="-401912" y="776672"/>
            <a:ext cx="3124348" cy="3347036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1" name="Google Shape;71;p2"/>
          <p:cNvSpPr/>
          <p:nvPr/>
        </p:nvSpPr>
        <p:spPr>
          <a:xfrm rot="5400000" flipH="1">
            <a:off x="-1129148" y="1129135"/>
            <a:ext cx="5492752" cy="323447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2" name="Google Shape;72;p2" descr="$PPTXTitle"/>
          <p:cNvSpPr txBox="1">
            <a:spLocks noGrp="1"/>
          </p:cNvSpPr>
          <p:nvPr>
            <p:ph type="title"/>
          </p:nvPr>
        </p:nvSpPr>
        <p:spPr>
          <a:xfrm>
            <a:off x="-835464" y="1222375"/>
            <a:ext cx="4349749" cy="191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788137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Spark SQL</a:t>
            </a:r>
            <a:endParaRPr/>
          </a:p>
        </p:txBody>
      </p:sp>
      <p:grpSp>
        <p:nvGrpSpPr>
          <p:cNvPr id="73" name="Google Shape;73;p2"/>
          <p:cNvGrpSpPr/>
          <p:nvPr/>
        </p:nvGrpSpPr>
        <p:grpSpPr>
          <a:xfrm>
            <a:off x="3929151" y="613619"/>
            <a:ext cx="5340411" cy="4343040"/>
            <a:chOff x="0" y="12573"/>
            <a:chExt cx="5340411" cy="4343040"/>
          </a:xfrm>
        </p:grpSpPr>
        <p:sp>
          <p:nvSpPr>
            <p:cNvPr id="74" name="Google Shape;74;p2"/>
            <p:cNvSpPr/>
            <p:nvPr/>
          </p:nvSpPr>
          <p:spPr>
            <a:xfrm>
              <a:off x="0" y="12573"/>
              <a:ext cx="5340411" cy="9734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982D2B"/>
                </a:gs>
                <a:gs pos="80000">
                  <a:srgbClr val="C83D39"/>
                </a:gs>
                <a:gs pos="100000">
                  <a:srgbClr val="CC3A36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 txBox="1"/>
            <p:nvPr/>
          </p:nvSpPr>
          <p:spPr>
            <a:xfrm>
              <a:off x="47519" y="60092"/>
              <a:ext cx="5245373" cy="878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 Spark module for structured data processing</a:t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0" y="1135773"/>
              <a:ext cx="5340411" cy="9734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965E2D"/>
                </a:gs>
                <a:gs pos="80000">
                  <a:srgbClr val="C47B3D"/>
                </a:gs>
                <a:gs pos="100000">
                  <a:srgbClr val="C87C3A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 txBox="1"/>
            <p:nvPr/>
          </p:nvSpPr>
          <p:spPr>
            <a:xfrm>
              <a:off x="47519" y="1183292"/>
              <a:ext cx="5245373" cy="878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Provides programming abstraction called DataFrames</a:t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0" y="2258973"/>
              <a:ext cx="5340411" cy="9734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948A31"/>
                </a:gs>
                <a:gs pos="80000">
                  <a:srgbClr val="C2B542"/>
                </a:gs>
                <a:gs pos="100000">
                  <a:srgbClr val="C6B93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 txBox="1"/>
            <p:nvPr/>
          </p:nvSpPr>
          <p:spPr>
            <a:xfrm>
              <a:off x="47519" y="2306492"/>
              <a:ext cx="5245373" cy="878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 as distributed SQL query engine</a:t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0" y="3382173"/>
              <a:ext cx="5340411" cy="97344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739235"/>
                </a:gs>
                <a:gs pos="80000">
                  <a:srgbClr val="98BF47"/>
                </a:gs>
                <a:gs pos="100000">
                  <a:srgbClr val="99C344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 txBox="1"/>
            <p:nvPr/>
          </p:nvSpPr>
          <p:spPr>
            <a:xfrm>
              <a:off x="47519" y="3429692"/>
              <a:ext cx="5245373" cy="878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n-US"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Enables unmodified Hadoop HIVE queries to run up to 100x faster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87" name="Google Shape;87;p3"/>
          <p:cNvSpPr/>
          <p:nvPr/>
        </p:nvSpPr>
        <p:spPr>
          <a:xfrm rot="5400000" flipH="1">
            <a:off x="-1129139" y="1129138"/>
            <a:ext cx="5492750" cy="3234475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88" name="Google Shape;88;p3"/>
          <p:cNvSpPr/>
          <p:nvPr/>
        </p:nvSpPr>
        <p:spPr>
          <a:xfrm rot="5400000" flipH="1">
            <a:off x="-1129140" y="1137257"/>
            <a:ext cx="5492749" cy="323447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89" name="Google Shape;89;p3"/>
          <p:cNvSpPr/>
          <p:nvPr/>
        </p:nvSpPr>
        <p:spPr>
          <a:xfrm rot="5400000" flipH="1">
            <a:off x="615283" y="2873557"/>
            <a:ext cx="2003900" cy="3234479"/>
          </a:xfrm>
          <a:prstGeom prst="rect">
            <a:avLst/>
          </a:prstGeom>
          <a:gradFill>
            <a:gsLst>
              <a:gs pos="0">
                <a:srgbClr val="4F81BD">
                  <a:alpha val="29019"/>
                </a:srgbClr>
              </a:gs>
              <a:gs pos="2000">
                <a:srgbClr val="4F81BD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90" name="Google Shape;90;p3"/>
          <p:cNvSpPr/>
          <p:nvPr/>
        </p:nvSpPr>
        <p:spPr>
          <a:xfrm rot="-964587">
            <a:off x="-401912" y="776672"/>
            <a:ext cx="3124348" cy="3347036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91" name="Google Shape;91;p3"/>
          <p:cNvSpPr/>
          <p:nvPr/>
        </p:nvSpPr>
        <p:spPr>
          <a:xfrm rot="5400000" flipH="1">
            <a:off x="-1129148" y="1129135"/>
            <a:ext cx="5492752" cy="323447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92" name="Google Shape;92;p3" descr="$PPTXTitle"/>
          <p:cNvSpPr txBox="1">
            <a:spLocks noGrp="1"/>
          </p:cNvSpPr>
          <p:nvPr>
            <p:ph type="title"/>
          </p:nvPr>
        </p:nvSpPr>
        <p:spPr>
          <a:xfrm>
            <a:off x="-694685" y="1348563"/>
            <a:ext cx="3659936" cy="191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857303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Spark SQL Engine</a:t>
            </a:r>
            <a:endParaRPr/>
          </a:p>
        </p:txBody>
      </p:sp>
      <p:grpSp>
        <p:nvGrpSpPr>
          <p:cNvPr id="93" name="Google Shape;93;p3"/>
          <p:cNvGrpSpPr/>
          <p:nvPr/>
        </p:nvGrpSpPr>
        <p:grpSpPr>
          <a:xfrm>
            <a:off x="3929151" y="604079"/>
            <a:ext cx="5340411" cy="4362118"/>
            <a:chOff x="0" y="3033"/>
            <a:chExt cx="5340411" cy="4362118"/>
          </a:xfrm>
        </p:grpSpPr>
        <p:sp>
          <p:nvSpPr>
            <p:cNvPr id="94" name="Google Shape;94;p3"/>
            <p:cNvSpPr/>
            <p:nvPr/>
          </p:nvSpPr>
          <p:spPr>
            <a:xfrm>
              <a:off x="0" y="3033"/>
              <a:ext cx="5340411" cy="71869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982D2B"/>
                </a:gs>
                <a:gs pos="80000">
                  <a:srgbClr val="C83D39"/>
                </a:gs>
                <a:gs pos="100000">
                  <a:srgbClr val="CC3A36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 txBox="1"/>
            <p:nvPr/>
          </p:nvSpPr>
          <p:spPr>
            <a:xfrm>
              <a:off x="35084" y="38117"/>
              <a:ext cx="5270243" cy="648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Unifies Spark components and permits abstraction to DataFrames in Java, Scala, Python, and R</a:t>
              </a: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0" y="731717"/>
              <a:ext cx="5340411" cy="71869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974A2D"/>
                </a:gs>
                <a:gs pos="80000">
                  <a:srgbClr val="C5613C"/>
                </a:gs>
                <a:gs pos="100000">
                  <a:srgbClr val="C96039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 txBox="1"/>
            <p:nvPr/>
          </p:nvSpPr>
          <p:spPr>
            <a:xfrm>
              <a:off x="35084" y="766801"/>
              <a:ext cx="5270243" cy="648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Connects to the Apache Hive metastore and tables</a:t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0" y="1460401"/>
              <a:ext cx="5340411" cy="71869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95672F"/>
                </a:gs>
                <a:gs pos="80000">
                  <a:srgbClr val="C4873E"/>
                </a:gs>
                <a:gs pos="100000">
                  <a:srgbClr val="C8883B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 txBox="1"/>
            <p:nvPr/>
          </p:nvSpPr>
          <p:spPr>
            <a:xfrm>
              <a:off x="35084" y="1495485"/>
              <a:ext cx="5270243" cy="648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Reads and writes structured data with a specific schema from structured file formats and converts data into temporary tables</a:t>
              </a: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0" y="2189085"/>
              <a:ext cx="5340411" cy="71869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948031"/>
                </a:gs>
                <a:gs pos="80000">
                  <a:srgbClr val="C2AA42"/>
                </a:gs>
                <a:gs pos="100000">
                  <a:srgbClr val="C6AC3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 txBox="1"/>
            <p:nvPr/>
          </p:nvSpPr>
          <p:spPr>
            <a:xfrm>
              <a:off x="35084" y="2224169"/>
              <a:ext cx="5270243" cy="648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Offers an interactive Spark SQL shell for quick data exploration</a:t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0" y="2917769"/>
              <a:ext cx="5340411" cy="71869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8D9332"/>
                </a:gs>
                <a:gs pos="80000">
                  <a:srgbClr val="BBC143"/>
                </a:gs>
                <a:gs pos="100000">
                  <a:srgbClr val="BEC540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 txBox="1"/>
            <p:nvPr/>
          </p:nvSpPr>
          <p:spPr>
            <a:xfrm>
              <a:off x="35084" y="2952853"/>
              <a:ext cx="5270243" cy="648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Provides a bridge to (and from) external tools via standard database JDBC/ODBC connectors</a:t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0" y="3646452"/>
              <a:ext cx="5340411" cy="71869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739235"/>
                </a:gs>
                <a:gs pos="80000">
                  <a:srgbClr val="98BF47"/>
                </a:gs>
                <a:gs pos="100000">
                  <a:srgbClr val="99C344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 txBox="1"/>
            <p:nvPr/>
          </p:nvSpPr>
          <p:spPr>
            <a:xfrm>
              <a:off x="35084" y="3681536"/>
              <a:ext cx="5270243" cy="648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Generates optimized query plans and compact code for the JVM, for final execution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11" name="Google Shape;111;p4"/>
          <p:cNvSpPr/>
          <p:nvPr/>
        </p:nvSpPr>
        <p:spPr>
          <a:xfrm rot="5400000" flipH="1">
            <a:off x="-1135110" y="1135109"/>
            <a:ext cx="5507021" cy="323680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12" name="Google Shape;112;p4"/>
          <p:cNvSpPr/>
          <p:nvPr/>
        </p:nvSpPr>
        <p:spPr>
          <a:xfrm rot="-5400000">
            <a:off x="-126709" y="2130608"/>
            <a:ext cx="3488508" cy="3235089"/>
          </a:xfrm>
          <a:prstGeom prst="rect">
            <a:avLst/>
          </a:prstGeom>
          <a:gradFill>
            <a:gsLst>
              <a:gs pos="0">
                <a:srgbClr val="4F81BD">
                  <a:alpha val="50196"/>
                </a:srgbClr>
              </a:gs>
              <a:gs pos="100000">
                <a:srgbClr val="244061">
                  <a:alpha val="0"/>
                </a:srgbClr>
              </a:gs>
            </a:gsLst>
            <a:lin ang="11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13" name="Google Shape;113;p4"/>
          <p:cNvSpPr/>
          <p:nvPr/>
        </p:nvSpPr>
        <p:spPr>
          <a:xfrm rot="-5400000" flipH="1">
            <a:off x="-945539" y="1311777"/>
            <a:ext cx="5492407" cy="2868851"/>
          </a:xfrm>
          <a:prstGeom prst="rect">
            <a:avLst/>
          </a:prstGeom>
          <a:gradFill>
            <a:gsLst>
              <a:gs pos="0">
                <a:srgbClr val="000000">
                  <a:alpha val="58823"/>
                </a:srgbClr>
              </a:gs>
              <a:gs pos="69000">
                <a:srgbClr val="4F81BD">
                  <a:alpha val="0"/>
                </a:srgbClr>
              </a:gs>
              <a:gs pos="100000">
                <a:srgbClr val="4F81BD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14" name="Google Shape;114;p4"/>
          <p:cNvSpPr/>
          <p:nvPr/>
        </p:nvSpPr>
        <p:spPr>
          <a:xfrm rot="6097846">
            <a:off x="-598384" y="961925"/>
            <a:ext cx="3851094" cy="3275192"/>
          </a:xfrm>
          <a:custGeom>
            <a:avLst/>
            <a:gdLst/>
            <a:ahLst/>
            <a:cxnLst/>
            <a:rect l="l" t="t" r="r" b="b"/>
            <a:pathLst>
              <a:path w="4808302" h="4088666" extrusionOk="0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0">
                <a:srgbClr val="93B3D7">
                  <a:alpha val="0"/>
                </a:srgbClr>
              </a:gs>
              <a:gs pos="39000">
                <a:srgbClr val="93B3D7">
                  <a:alpha val="0"/>
                </a:srgbClr>
              </a:gs>
              <a:gs pos="100000">
                <a:srgbClr val="366092">
                  <a:alpha val="25882"/>
                </a:srgbClr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15" name="Google Shape;115;p4" descr="$PPTXTitle"/>
          <p:cNvSpPr txBox="1">
            <a:spLocks noGrp="1"/>
          </p:cNvSpPr>
          <p:nvPr>
            <p:ph type="title"/>
          </p:nvPr>
        </p:nvSpPr>
        <p:spPr>
          <a:xfrm>
            <a:off x="-1690936" y="2172828"/>
            <a:ext cx="5040230" cy="2460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909686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Spark SQL Stacks</a:t>
            </a:r>
            <a:endParaRPr/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3121" y="374199"/>
            <a:ext cx="5235147" cy="4744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22" name="Google Shape;122;p5"/>
          <p:cNvSpPr/>
          <p:nvPr/>
        </p:nvSpPr>
        <p:spPr>
          <a:xfrm rot="5400000" flipH="1">
            <a:off x="-1129139" y="1129138"/>
            <a:ext cx="5492750" cy="3234475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23" name="Google Shape;123;p5"/>
          <p:cNvSpPr/>
          <p:nvPr/>
        </p:nvSpPr>
        <p:spPr>
          <a:xfrm rot="5400000" flipH="1">
            <a:off x="-1129140" y="1137257"/>
            <a:ext cx="5492749" cy="323447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24" name="Google Shape;124;p5"/>
          <p:cNvSpPr/>
          <p:nvPr/>
        </p:nvSpPr>
        <p:spPr>
          <a:xfrm rot="5400000" flipH="1">
            <a:off x="615283" y="2873557"/>
            <a:ext cx="2003900" cy="3234479"/>
          </a:xfrm>
          <a:prstGeom prst="rect">
            <a:avLst/>
          </a:prstGeom>
          <a:gradFill>
            <a:gsLst>
              <a:gs pos="0">
                <a:srgbClr val="4F81BD">
                  <a:alpha val="29019"/>
                </a:srgbClr>
              </a:gs>
              <a:gs pos="2000">
                <a:srgbClr val="4F81BD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25" name="Google Shape;125;p5"/>
          <p:cNvSpPr/>
          <p:nvPr/>
        </p:nvSpPr>
        <p:spPr>
          <a:xfrm rot="-964587">
            <a:off x="-401912" y="776672"/>
            <a:ext cx="3124348" cy="3347036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26" name="Google Shape;126;p5"/>
          <p:cNvSpPr/>
          <p:nvPr/>
        </p:nvSpPr>
        <p:spPr>
          <a:xfrm rot="5400000" flipH="1">
            <a:off x="-1129146" y="1121017"/>
            <a:ext cx="5492752" cy="323447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27" name="Google Shape;127;p5" descr="$PPTXTitle"/>
          <p:cNvSpPr txBox="1">
            <a:spLocks noGrp="1"/>
          </p:cNvSpPr>
          <p:nvPr>
            <p:ph type="title"/>
          </p:nvPr>
        </p:nvSpPr>
        <p:spPr>
          <a:xfrm>
            <a:off x="-1821130" y="421159"/>
            <a:ext cx="4966487" cy="271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775932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Catalyst Optimizer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3670154" y="409521"/>
            <a:ext cx="2584596" cy="4552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92239" marR="4069" lvl="0" indent="-19223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Takes computational query and 	converts into execution plan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412" lvl="1" indent="-228600" algn="l" rtl="0">
              <a:spcBef>
                <a:spcPts val="148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412" lvl="1" indent="-228600" algn="l" rtl="0">
              <a:spcBef>
                <a:spcPts val="1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 Optimization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412" lvl="1" indent="-228600" algn="l" rtl="0">
              <a:spcBef>
                <a:spcPts val="1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 Planning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412" lvl="1" indent="-228600" algn="l" rtl="0">
              <a:spcBef>
                <a:spcPts val="1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 Generation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4298" y="379361"/>
            <a:ext cx="2319888" cy="4743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1"/>
            <a:ext cx="9766300" cy="54927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35" name="Google Shape;135;p6"/>
          <p:cNvSpPr/>
          <p:nvPr/>
        </p:nvSpPr>
        <p:spPr>
          <a:xfrm rot="5400000" flipH="1">
            <a:off x="-1129139" y="1129138"/>
            <a:ext cx="5492750" cy="3234475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36" name="Google Shape;136;p6"/>
          <p:cNvSpPr/>
          <p:nvPr/>
        </p:nvSpPr>
        <p:spPr>
          <a:xfrm rot="5400000" flipH="1">
            <a:off x="-1129140" y="1137257"/>
            <a:ext cx="5492749" cy="323447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37" name="Google Shape;137;p6"/>
          <p:cNvSpPr/>
          <p:nvPr/>
        </p:nvSpPr>
        <p:spPr>
          <a:xfrm rot="5400000" flipH="1">
            <a:off x="615283" y="2873557"/>
            <a:ext cx="2003900" cy="3234479"/>
          </a:xfrm>
          <a:prstGeom prst="rect">
            <a:avLst/>
          </a:prstGeom>
          <a:gradFill>
            <a:gsLst>
              <a:gs pos="0">
                <a:srgbClr val="4F81BD">
                  <a:alpha val="29019"/>
                </a:srgbClr>
              </a:gs>
              <a:gs pos="2000">
                <a:srgbClr val="4F81BD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38" name="Google Shape;138;p6"/>
          <p:cNvSpPr/>
          <p:nvPr/>
        </p:nvSpPr>
        <p:spPr>
          <a:xfrm rot="-964587">
            <a:off x="-401912" y="776672"/>
            <a:ext cx="3124348" cy="3347036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39" name="Google Shape;139;p6"/>
          <p:cNvSpPr/>
          <p:nvPr/>
        </p:nvSpPr>
        <p:spPr>
          <a:xfrm rot="5400000" flipH="1">
            <a:off x="-1129148" y="1129135"/>
            <a:ext cx="5492752" cy="323447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40" name="Google Shape;140;p6" descr="$PPTXTitle"/>
          <p:cNvSpPr txBox="1">
            <a:spLocks noGrp="1"/>
          </p:cNvSpPr>
          <p:nvPr>
            <p:ph type="title"/>
          </p:nvPr>
        </p:nvSpPr>
        <p:spPr>
          <a:xfrm>
            <a:off x="-1746250" y="470027"/>
            <a:ext cx="4684541" cy="271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887309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1: Analysis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3234466" y="520185"/>
            <a:ext cx="2859082" cy="481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92239" lvl="0" indent="-19223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Spark SQL engine generates abstract syntax tree (AST)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412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columns or table names will be resolved by consulting internal Catalog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412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Catalog holds a list of names of columns, data types, functions, tables, etc.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6" descr="Top view of cubes connected with black lines"/>
          <p:cNvPicPr preferRelativeResize="0"/>
          <p:nvPr/>
        </p:nvPicPr>
        <p:blipFill rotWithShape="1">
          <a:blip r:embed="rId3">
            <a:alphaModFix/>
          </a:blip>
          <a:srcRect l="32635" r="22712" b="-1"/>
          <a:stretch/>
        </p:blipFill>
        <p:spPr>
          <a:xfrm>
            <a:off x="6496048" y="10"/>
            <a:ext cx="3270252" cy="5492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0" y="1"/>
            <a:ext cx="9766300" cy="54927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48" name="Google Shape;148;p7"/>
          <p:cNvSpPr/>
          <p:nvPr/>
        </p:nvSpPr>
        <p:spPr>
          <a:xfrm rot="5400000" flipH="1">
            <a:off x="-1129139" y="1129138"/>
            <a:ext cx="5492750" cy="3234475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49" name="Google Shape;149;p7"/>
          <p:cNvSpPr/>
          <p:nvPr/>
        </p:nvSpPr>
        <p:spPr>
          <a:xfrm rot="5400000" flipH="1">
            <a:off x="-1129140" y="1137257"/>
            <a:ext cx="5492749" cy="323447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50" name="Google Shape;150;p7"/>
          <p:cNvSpPr/>
          <p:nvPr/>
        </p:nvSpPr>
        <p:spPr>
          <a:xfrm rot="5400000" flipH="1">
            <a:off x="615283" y="2873557"/>
            <a:ext cx="2003900" cy="3234479"/>
          </a:xfrm>
          <a:prstGeom prst="rect">
            <a:avLst/>
          </a:prstGeom>
          <a:gradFill>
            <a:gsLst>
              <a:gs pos="0">
                <a:srgbClr val="4F81BD">
                  <a:alpha val="29019"/>
                </a:srgbClr>
              </a:gs>
              <a:gs pos="2000">
                <a:srgbClr val="4F81BD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51" name="Google Shape;151;p7"/>
          <p:cNvSpPr/>
          <p:nvPr/>
        </p:nvSpPr>
        <p:spPr>
          <a:xfrm rot="-964587">
            <a:off x="-401912" y="776672"/>
            <a:ext cx="3124348" cy="3347036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52" name="Google Shape;152;p7"/>
          <p:cNvSpPr/>
          <p:nvPr/>
        </p:nvSpPr>
        <p:spPr>
          <a:xfrm rot="5400000" flipH="1">
            <a:off x="-1129148" y="1129135"/>
            <a:ext cx="5492752" cy="323447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53" name="Google Shape;153;p7" descr="$PPTXTitle"/>
          <p:cNvSpPr txBox="1">
            <a:spLocks noGrp="1"/>
          </p:cNvSpPr>
          <p:nvPr>
            <p:ph type="title"/>
          </p:nvPr>
        </p:nvSpPr>
        <p:spPr>
          <a:xfrm>
            <a:off x="-1206752" y="337798"/>
            <a:ext cx="4204487" cy="271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695726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2: Logical Optimization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3670154" y="520185"/>
            <a:ext cx="2423393" cy="444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92239" lvl="0" indent="-19223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standard rule-based optimization approach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412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 set of multiple plans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412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cost to each plan using cost-based optimizer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Layout as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operator</a:t>
            </a: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trees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7" descr="Small tree"/>
          <p:cNvPicPr preferRelativeResize="0"/>
          <p:nvPr/>
        </p:nvPicPr>
        <p:blipFill rotWithShape="1">
          <a:blip r:embed="rId3">
            <a:alphaModFix/>
          </a:blip>
          <a:srcRect l="20793" r="39466"/>
          <a:stretch/>
        </p:blipFill>
        <p:spPr>
          <a:xfrm>
            <a:off x="6496048" y="10"/>
            <a:ext cx="3270252" cy="5492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61" name="Google Shape;161;p8"/>
          <p:cNvSpPr/>
          <p:nvPr/>
        </p:nvSpPr>
        <p:spPr>
          <a:xfrm rot="5400000" flipH="1">
            <a:off x="-1129139" y="1129138"/>
            <a:ext cx="5492750" cy="3234475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62" name="Google Shape;162;p8"/>
          <p:cNvSpPr/>
          <p:nvPr/>
        </p:nvSpPr>
        <p:spPr>
          <a:xfrm rot="5400000" flipH="1">
            <a:off x="-1129140" y="1137257"/>
            <a:ext cx="5492749" cy="323447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63" name="Google Shape;163;p8"/>
          <p:cNvSpPr/>
          <p:nvPr/>
        </p:nvSpPr>
        <p:spPr>
          <a:xfrm rot="5400000" flipH="1">
            <a:off x="615283" y="2873557"/>
            <a:ext cx="2003900" cy="3234479"/>
          </a:xfrm>
          <a:prstGeom prst="rect">
            <a:avLst/>
          </a:prstGeom>
          <a:gradFill>
            <a:gsLst>
              <a:gs pos="0">
                <a:srgbClr val="4F81BD">
                  <a:alpha val="29019"/>
                </a:srgbClr>
              </a:gs>
              <a:gs pos="2000">
                <a:srgbClr val="4F81BD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64" name="Google Shape;164;p8"/>
          <p:cNvSpPr/>
          <p:nvPr/>
        </p:nvSpPr>
        <p:spPr>
          <a:xfrm rot="-964587">
            <a:off x="-401912" y="776672"/>
            <a:ext cx="3124348" cy="3347036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65" name="Google Shape;165;p8"/>
          <p:cNvSpPr/>
          <p:nvPr/>
        </p:nvSpPr>
        <p:spPr>
          <a:xfrm rot="5400000" flipH="1">
            <a:off x="-1129148" y="1129135"/>
            <a:ext cx="5492752" cy="323447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66" name="Google Shape;166;p8" descr="$PPTXTitle"/>
          <p:cNvSpPr txBox="1">
            <a:spLocks noGrp="1"/>
          </p:cNvSpPr>
          <p:nvPr>
            <p:ph type="title"/>
          </p:nvPr>
        </p:nvSpPr>
        <p:spPr>
          <a:xfrm>
            <a:off x="-644734" y="1364777"/>
            <a:ext cx="3769510" cy="191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985103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3: Physical Planning</a:t>
            </a:r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>
            <a:off x="3929151" y="1474738"/>
            <a:ext cx="5340411" cy="2620801"/>
            <a:chOff x="0" y="873692"/>
            <a:chExt cx="5340411" cy="2620801"/>
          </a:xfrm>
        </p:grpSpPr>
        <p:sp>
          <p:nvSpPr>
            <p:cNvPr id="168" name="Google Shape;168;p8"/>
            <p:cNvSpPr/>
            <p:nvPr/>
          </p:nvSpPr>
          <p:spPr>
            <a:xfrm>
              <a:off x="0" y="873692"/>
              <a:ext cx="5340411" cy="1216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982D2B"/>
                </a:gs>
                <a:gs pos="80000">
                  <a:srgbClr val="C83D39"/>
                </a:gs>
                <a:gs pos="100000">
                  <a:srgbClr val="CC3A36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 txBox="1"/>
            <p:nvPr/>
          </p:nvSpPr>
          <p:spPr>
            <a:xfrm>
              <a:off x="59399" y="933091"/>
              <a:ext cx="5221613" cy="1098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Generate an optimal physical plan for the selected logical plan</a:t>
              </a: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0" y="2277693"/>
              <a:ext cx="5340411" cy="1216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739235"/>
                </a:gs>
                <a:gs pos="80000">
                  <a:srgbClr val="98BF47"/>
                </a:gs>
                <a:gs pos="100000">
                  <a:srgbClr val="99C344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 txBox="1"/>
            <p:nvPr/>
          </p:nvSpPr>
          <p:spPr>
            <a:xfrm>
              <a:off x="59399" y="2337092"/>
              <a:ext cx="5221613" cy="1098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 physical operators that match available in Spark execution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9"/>
          <p:cNvGrpSpPr/>
          <p:nvPr/>
        </p:nvGrpSpPr>
        <p:grpSpPr>
          <a:xfrm>
            <a:off x="0" y="0"/>
            <a:ext cx="5981858" cy="5492750"/>
            <a:chOff x="7467600" y="0"/>
            <a:chExt cx="4724400" cy="6858000"/>
          </a:xfrm>
        </p:grpSpPr>
        <p:sp>
          <p:nvSpPr>
            <p:cNvPr id="178" name="Google Shape;178;p9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rgbClr val="FDE9D8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9"/>
          <p:cNvSpPr/>
          <p:nvPr/>
        </p:nvSpPr>
        <p:spPr>
          <a:xfrm>
            <a:off x="0" y="0"/>
            <a:ext cx="5903436" cy="5492750"/>
          </a:xfrm>
          <a:custGeom>
            <a:avLst/>
            <a:gdLst/>
            <a:ahLst/>
            <a:cxnLst/>
            <a:rect l="l" t="t" r="r" b="b"/>
            <a:pathLst>
              <a:path w="7369701" h="6858000" extrusionOk="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rgbClr val="EAF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366236" y="793397"/>
            <a:ext cx="9033827" cy="390595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17500" algn="ctr" rotWithShape="0">
              <a:schemeClr val="dk1">
                <a:alpha val="25098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 descr="$PPTXTitle"/>
          <p:cNvSpPr txBox="1">
            <a:spLocks noGrp="1"/>
          </p:cNvSpPr>
          <p:nvPr>
            <p:ph type="title"/>
          </p:nvPr>
        </p:nvSpPr>
        <p:spPr>
          <a:xfrm>
            <a:off x="366236" y="1342672"/>
            <a:ext cx="3601323" cy="280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88154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4: Code Generation</a:t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4150680" y="1342672"/>
            <a:ext cx="4516911" cy="280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92239" lvl="0" indent="-19223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Tungsten</a:t>
            </a: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412" lvl="1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 efficient Java bytecode to run on each machine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412" marR="4069" lvl="1" indent="-22860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state-of-the-art compiler technology for code generation to speed up execution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1"/>
            <a:ext cx="9766300" cy="54927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89" name="Google Shape;189;p10"/>
          <p:cNvSpPr/>
          <p:nvPr/>
        </p:nvSpPr>
        <p:spPr>
          <a:xfrm rot="5400000" flipH="1">
            <a:off x="-1129139" y="1129138"/>
            <a:ext cx="5492750" cy="3234475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90" name="Google Shape;190;p10"/>
          <p:cNvSpPr/>
          <p:nvPr/>
        </p:nvSpPr>
        <p:spPr>
          <a:xfrm rot="5400000" flipH="1">
            <a:off x="-1129140" y="1137257"/>
            <a:ext cx="5492749" cy="323447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91" name="Google Shape;191;p10"/>
          <p:cNvSpPr/>
          <p:nvPr/>
        </p:nvSpPr>
        <p:spPr>
          <a:xfrm rot="5400000" flipH="1">
            <a:off x="615283" y="2873557"/>
            <a:ext cx="2003900" cy="3234479"/>
          </a:xfrm>
          <a:prstGeom prst="rect">
            <a:avLst/>
          </a:prstGeom>
          <a:gradFill>
            <a:gsLst>
              <a:gs pos="0">
                <a:srgbClr val="4F81BD">
                  <a:alpha val="29019"/>
                </a:srgbClr>
              </a:gs>
              <a:gs pos="2000">
                <a:srgbClr val="4F81BD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92" name="Google Shape;192;p10"/>
          <p:cNvSpPr/>
          <p:nvPr/>
        </p:nvSpPr>
        <p:spPr>
          <a:xfrm rot="-964587">
            <a:off x="-401912" y="776672"/>
            <a:ext cx="3124348" cy="3347036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93" name="Google Shape;193;p10"/>
          <p:cNvSpPr/>
          <p:nvPr/>
        </p:nvSpPr>
        <p:spPr>
          <a:xfrm rot="5400000" flipH="1">
            <a:off x="-1129148" y="1129135"/>
            <a:ext cx="5492752" cy="323447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94" name="Google Shape;194;p10" descr="$PPTXTitle"/>
          <p:cNvSpPr txBox="1">
            <a:spLocks noGrp="1"/>
          </p:cNvSpPr>
          <p:nvPr>
            <p:ph type="title"/>
          </p:nvPr>
        </p:nvSpPr>
        <p:spPr>
          <a:xfrm>
            <a:off x="-435689" y="470027"/>
            <a:ext cx="3373980" cy="271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450446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Query Example</a:t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3670154" y="520185"/>
            <a:ext cx="2423393" cy="444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93257" lvl="0" indent="-19325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SparkSession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920" lvl="1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Provides a unified entry point for programming Spark with structured API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920" lvl="1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Spark functionality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920" lvl="1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sql() method returns a DataFrame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0" descr="Computer script on a screen"/>
          <p:cNvPicPr preferRelativeResize="0"/>
          <p:nvPr/>
        </p:nvPicPr>
        <p:blipFill rotWithShape="1">
          <a:blip r:embed="rId3">
            <a:alphaModFix/>
          </a:blip>
          <a:srcRect l="10243" r="50016"/>
          <a:stretch/>
        </p:blipFill>
        <p:spPr>
          <a:xfrm>
            <a:off x="6496048" y="10"/>
            <a:ext cx="3270252" cy="5492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/>
          <p:nvPr/>
        </p:nvSpPr>
        <p:spPr>
          <a:xfrm>
            <a:off x="0" y="1"/>
            <a:ext cx="9766300" cy="54927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02" name="Google Shape;202;p11"/>
          <p:cNvSpPr/>
          <p:nvPr/>
        </p:nvSpPr>
        <p:spPr>
          <a:xfrm rot="5400000" flipH="1">
            <a:off x="-1129139" y="1129138"/>
            <a:ext cx="5492750" cy="3234475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03" name="Google Shape;203;p11"/>
          <p:cNvSpPr/>
          <p:nvPr/>
        </p:nvSpPr>
        <p:spPr>
          <a:xfrm rot="5400000" flipH="1">
            <a:off x="-1129140" y="1137257"/>
            <a:ext cx="5492749" cy="323447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04" name="Google Shape;204;p11"/>
          <p:cNvSpPr/>
          <p:nvPr/>
        </p:nvSpPr>
        <p:spPr>
          <a:xfrm rot="5400000" flipH="1">
            <a:off x="615283" y="2873557"/>
            <a:ext cx="2003900" cy="3234479"/>
          </a:xfrm>
          <a:prstGeom prst="rect">
            <a:avLst/>
          </a:prstGeom>
          <a:gradFill>
            <a:gsLst>
              <a:gs pos="0">
                <a:srgbClr val="4F81BD">
                  <a:alpha val="29019"/>
                </a:srgbClr>
              </a:gs>
              <a:gs pos="2000">
                <a:srgbClr val="4F81BD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05" name="Google Shape;205;p11"/>
          <p:cNvSpPr/>
          <p:nvPr/>
        </p:nvSpPr>
        <p:spPr>
          <a:xfrm rot="-964587">
            <a:off x="-401912" y="776672"/>
            <a:ext cx="3124348" cy="3347036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06" name="Google Shape;206;p11"/>
          <p:cNvSpPr/>
          <p:nvPr/>
        </p:nvSpPr>
        <p:spPr>
          <a:xfrm rot="5400000" flipH="1">
            <a:off x="-1129148" y="1129135"/>
            <a:ext cx="5492752" cy="323447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07" name="Google Shape;207;p11" descr="$PPTXTitle"/>
          <p:cNvSpPr txBox="1">
            <a:spLocks noGrp="1"/>
          </p:cNvSpPr>
          <p:nvPr>
            <p:ph type="title"/>
          </p:nvPr>
        </p:nvSpPr>
        <p:spPr>
          <a:xfrm>
            <a:off x="-266304" y="507619"/>
            <a:ext cx="2564428" cy="271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450446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Query Example</a:t>
            </a:r>
            <a:endParaRPr/>
          </a:p>
        </p:txBody>
      </p:sp>
      <p:sp>
        <p:nvSpPr>
          <p:cNvPr id="208" name="Google Shape;208;p11"/>
          <p:cNvSpPr txBox="1"/>
          <p:nvPr/>
        </p:nvSpPr>
        <p:spPr>
          <a:xfrm>
            <a:off x="3200452" y="767953"/>
            <a:ext cx="4343400" cy="4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93257" lvl="0" indent="-19325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Airline On-Time Performance and Causes of Flight Delays data set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920" lvl="1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Date: a string like 02190925. When converted, this maps to 02-19 09:25 am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920" lvl="1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Delay: delay in minutes between the scheduled and actual departure times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920" lvl="1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Distance: gives the distance in miles from the origin airport to the destination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920" lvl="1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Origin: origin airport code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920" lvl="1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Destination: destination airport code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3257" lvl="0" indent="-193257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 21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1" descr="Planes on an airport"/>
          <p:cNvPicPr preferRelativeResize="0"/>
          <p:nvPr/>
        </p:nvPicPr>
        <p:blipFill rotWithShape="1">
          <a:blip r:embed="rId3">
            <a:alphaModFix/>
          </a:blip>
          <a:srcRect l="39464" r="19008" b="-1"/>
          <a:stretch/>
        </p:blipFill>
        <p:spPr>
          <a:xfrm>
            <a:off x="7619525" y="8175"/>
            <a:ext cx="2230502" cy="549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15" name="Google Shape;215;p12"/>
          <p:cNvSpPr/>
          <p:nvPr/>
        </p:nvSpPr>
        <p:spPr>
          <a:xfrm flipH="1">
            <a:off x="1" y="0"/>
            <a:ext cx="9766299" cy="1262223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16" name="Google Shape;216;p12"/>
          <p:cNvSpPr/>
          <p:nvPr/>
        </p:nvSpPr>
        <p:spPr>
          <a:xfrm rot="10800000" flipH="1">
            <a:off x="6511553" y="0"/>
            <a:ext cx="3254747" cy="1262589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17" name="Google Shape;217;p12"/>
          <p:cNvSpPr/>
          <p:nvPr/>
        </p:nvSpPr>
        <p:spPr>
          <a:xfrm rot="5400000">
            <a:off x="4251842" y="-4251843"/>
            <a:ext cx="1262616" cy="97663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18" name="Google Shape;218;p12" descr="$PPTXTitle"/>
          <p:cNvSpPr txBox="1">
            <a:spLocks noGrp="1"/>
          </p:cNvSpPr>
          <p:nvPr>
            <p:ph type="title"/>
          </p:nvPr>
        </p:nvSpPr>
        <p:spPr>
          <a:xfrm>
            <a:off x="1098706" y="279415"/>
            <a:ext cx="8045681" cy="70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40162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Tables and Views</a:t>
            </a:r>
            <a:endParaRPr/>
          </a:p>
        </p:txBody>
      </p:sp>
      <p:grpSp>
        <p:nvGrpSpPr>
          <p:cNvPr id="219" name="Google Shape;219;p12"/>
          <p:cNvGrpSpPr/>
          <p:nvPr/>
        </p:nvGrpSpPr>
        <p:grpSpPr>
          <a:xfrm>
            <a:off x="522904" y="1692019"/>
            <a:ext cx="8739668" cy="3358125"/>
            <a:chOff x="6989" y="0"/>
            <a:chExt cx="8739668" cy="3358125"/>
          </a:xfrm>
        </p:grpSpPr>
        <p:sp>
          <p:nvSpPr>
            <p:cNvPr id="220" name="Google Shape;220;p12"/>
            <p:cNvSpPr/>
            <p:nvPr/>
          </p:nvSpPr>
          <p:spPr>
            <a:xfrm>
              <a:off x="6989" y="0"/>
              <a:ext cx="913099" cy="8977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2"/>
            <p:cNvSpPr/>
            <p:nvPr/>
          </p:nvSpPr>
          <p:spPr>
            <a:xfrm>
              <a:off x="6989" y="1039676"/>
              <a:ext cx="2608856" cy="384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2"/>
            <p:cNvSpPr txBox="1"/>
            <p:nvPr/>
          </p:nvSpPr>
          <p:spPr>
            <a:xfrm>
              <a:off x="6989" y="1039676"/>
              <a:ext cx="2608856" cy="384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Arial"/>
                <a:buNone/>
              </a:pPr>
              <a:r>
                <a:rPr lang="en-US" sz="2600" b="1">
                  <a:latin typeface="Calibri"/>
                  <a:ea typeface="Calibri"/>
                  <a:cs typeface="Calibri"/>
                  <a:sym typeface="Calibri"/>
                </a:rPr>
                <a:t>Spark Table</a:t>
              </a:r>
              <a:endParaRPr sz="2600"/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6989" y="1490440"/>
              <a:ext cx="2608856" cy="18676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2"/>
            <p:cNvSpPr txBox="1"/>
            <p:nvPr/>
          </p:nvSpPr>
          <p:spPr>
            <a:xfrm>
              <a:off x="6989" y="1490440"/>
              <a:ext cx="2608856" cy="18676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700"/>
                <a:buFont typeface="Arial"/>
                <a:buNone/>
              </a:pPr>
              <a:r>
                <a:rPr lang="en-US" sz="1700">
                  <a:latin typeface="Calibri"/>
                  <a:ea typeface="Calibri"/>
                  <a:cs typeface="Calibri"/>
                  <a:sym typeface="Calibri"/>
                </a:rPr>
                <a:t>Data:</a:t>
              </a:r>
              <a:endParaRPr/>
            </a:p>
            <a:p>
              <a:pPr marL="0" lvl="0" indent="0" algn="l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SzPts val="1700"/>
                <a:buFont typeface="Arial"/>
                <a:buNone/>
              </a:pPr>
              <a:r>
                <a:rPr lang="en-US" sz="1700">
                  <a:latin typeface="Calibri"/>
                  <a:ea typeface="Calibri"/>
                  <a:cs typeface="Calibri"/>
                  <a:sym typeface="Calibri"/>
                </a:rPr>
                <a:t>Metadata: schema, description, table name, database name, column names, partitions, physical location</a:t>
              </a:r>
              <a:endParaRPr/>
            </a:p>
            <a:p>
              <a:pPr marL="0" lvl="0" indent="0" algn="l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SzPts val="1700"/>
                <a:buFont typeface="Arial"/>
                <a:buNone/>
              </a:pPr>
              <a:r>
                <a:rPr lang="en-US" sz="1700">
                  <a:latin typeface="Calibri"/>
                  <a:ea typeface="Calibri"/>
                  <a:cs typeface="Calibri"/>
                  <a:sym typeface="Calibri"/>
                </a:rPr>
                <a:t>Apache Hive Metastore</a:t>
              </a:r>
              <a:endParaRPr/>
            </a:p>
          </p:txBody>
        </p:sp>
        <p:sp>
          <p:nvSpPr>
            <p:cNvPr id="225" name="Google Shape;225;p12"/>
            <p:cNvSpPr/>
            <p:nvPr/>
          </p:nvSpPr>
          <p:spPr>
            <a:xfrm>
              <a:off x="3072395" y="0"/>
              <a:ext cx="913099" cy="8977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2"/>
            <p:cNvSpPr/>
            <p:nvPr/>
          </p:nvSpPr>
          <p:spPr>
            <a:xfrm>
              <a:off x="3072395" y="1039676"/>
              <a:ext cx="2608856" cy="384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2"/>
            <p:cNvSpPr txBox="1"/>
            <p:nvPr/>
          </p:nvSpPr>
          <p:spPr>
            <a:xfrm>
              <a:off x="3072395" y="1039676"/>
              <a:ext cx="2608856" cy="384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Arial"/>
                <a:buNone/>
              </a:pPr>
              <a:r>
                <a:rPr lang="en-US" sz="2600" b="1">
                  <a:latin typeface="Calibri"/>
                  <a:ea typeface="Calibri"/>
                  <a:cs typeface="Calibri"/>
                  <a:sym typeface="Calibri"/>
                </a:rPr>
                <a:t>Managed Tables</a:t>
              </a:r>
              <a:endParaRPr sz="2600"/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3072395" y="1490440"/>
              <a:ext cx="2608856" cy="18676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2"/>
            <p:cNvSpPr txBox="1"/>
            <p:nvPr/>
          </p:nvSpPr>
          <p:spPr>
            <a:xfrm>
              <a:off x="3072395" y="1490440"/>
              <a:ext cx="2608856" cy="18676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700"/>
                <a:buFont typeface="Arial"/>
                <a:buNone/>
              </a:pPr>
              <a:r>
                <a:rPr lang="en-US" sz="1700">
                  <a:latin typeface="Calibri"/>
                  <a:ea typeface="Calibri"/>
                  <a:cs typeface="Calibri"/>
                  <a:sym typeface="Calibri"/>
                </a:rPr>
                <a:t>Spark manages both metadata and data in the file store</a:t>
              </a:r>
              <a:endParaRPr/>
            </a:p>
            <a:p>
              <a:pPr marL="0" lvl="0" indent="0" algn="l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SzPts val="1700"/>
                <a:buFont typeface="Arial"/>
                <a:buNone/>
              </a:pPr>
              <a:r>
                <a:rPr lang="en-US" sz="1700">
                  <a:latin typeface="Calibri"/>
                  <a:ea typeface="Calibri"/>
                  <a:cs typeface="Calibri"/>
                  <a:sym typeface="Calibri"/>
                </a:rPr>
                <a:t>Local filesystem, HDFS, Amazon S3 or Azure, etc.</a:t>
              </a:r>
              <a:endParaRPr/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6137801" y="0"/>
              <a:ext cx="913099" cy="8977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6137801" y="1039676"/>
              <a:ext cx="2608856" cy="384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2"/>
            <p:cNvSpPr txBox="1"/>
            <p:nvPr/>
          </p:nvSpPr>
          <p:spPr>
            <a:xfrm>
              <a:off x="6137801" y="1039676"/>
              <a:ext cx="2608856" cy="3847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2600"/>
                <a:buFont typeface="Arial"/>
                <a:buNone/>
              </a:pPr>
              <a:r>
                <a:rPr lang="en-US" sz="2600" b="1">
                  <a:latin typeface="Calibri"/>
                  <a:ea typeface="Calibri"/>
                  <a:cs typeface="Calibri"/>
                  <a:sym typeface="Calibri"/>
                </a:rPr>
                <a:t>Unmanaged Tables</a:t>
              </a:r>
              <a:endParaRPr sz="2600"/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6137801" y="1490440"/>
              <a:ext cx="2608856" cy="18676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2"/>
            <p:cNvSpPr txBox="1"/>
            <p:nvPr/>
          </p:nvSpPr>
          <p:spPr>
            <a:xfrm>
              <a:off x="6137801" y="1490440"/>
              <a:ext cx="2608856" cy="18676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700"/>
                <a:buFont typeface="Arial"/>
                <a:buNone/>
              </a:pPr>
              <a:r>
                <a:rPr lang="en-US" sz="1700">
                  <a:latin typeface="Calibri"/>
                  <a:ea typeface="Calibri"/>
                  <a:cs typeface="Calibri"/>
                  <a:sym typeface="Calibri"/>
                </a:rPr>
                <a:t>Spark manages metadata</a:t>
              </a:r>
              <a:endParaRPr/>
            </a:p>
            <a:p>
              <a:pPr marL="0" lvl="0" indent="0" algn="l" rtl="0">
                <a:lnSpc>
                  <a:spcPct val="90000"/>
                </a:lnSpc>
                <a:spcBef>
                  <a:spcPts val="595"/>
                </a:spcBef>
                <a:spcAft>
                  <a:spcPts val="0"/>
                </a:spcAft>
                <a:buSzPts val="1700"/>
                <a:buFont typeface="Arial"/>
                <a:buNone/>
              </a:pPr>
              <a:r>
                <a:rPr lang="en-US" sz="1700">
                  <a:latin typeface="Calibri"/>
                  <a:ea typeface="Calibri"/>
                  <a:cs typeface="Calibri"/>
                  <a:sym typeface="Calibri"/>
                </a:rPr>
                <a:t>You manages data in external data source, for example, Cassandra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41" name="Google Shape;241;p13"/>
          <p:cNvSpPr/>
          <p:nvPr/>
        </p:nvSpPr>
        <p:spPr>
          <a:xfrm rot="5400000" flipH="1">
            <a:off x="-1129139" y="1129138"/>
            <a:ext cx="5492750" cy="3234475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42" name="Google Shape;242;p13"/>
          <p:cNvSpPr/>
          <p:nvPr/>
        </p:nvSpPr>
        <p:spPr>
          <a:xfrm rot="5400000" flipH="1">
            <a:off x="-1129140" y="1137257"/>
            <a:ext cx="5492749" cy="323447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882"/>
                </a:srgbClr>
              </a:gs>
              <a:gs pos="100000">
                <a:srgbClr val="4F81BD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43" name="Google Shape;243;p13"/>
          <p:cNvSpPr/>
          <p:nvPr/>
        </p:nvSpPr>
        <p:spPr>
          <a:xfrm rot="5400000" flipH="1">
            <a:off x="615283" y="2873557"/>
            <a:ext cx="2003900" cy="3234479"/>
          </a:xfrm>
          <a:prstGeom prst="rect">
            <a:avLst/>
          </a:prstGeom>
          <a:gradFill>
            <a:gsLst>
              <a:gs pos="0">
                <a:srgbClr val="4F81BD">
                  <a:alpha val="29019"/>
                </a:srgbClr>
              </a:gs>
              <a:gs pos="2000">
                <a:srgbClr val="4F81BD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44" name="Google Shape;244;p13"/>
          <p:cNvSpPr/>
          <p:nvPr/>
        </p:nvSpPr>
        <p:spPr>
          <a:xfrm rot="-964587">
            <a:off x="-401912" y="776672"/>
            <a:ext cx="3124348" cy="3347036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3137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45" name="Google Shape;245;p13"/>
          <p:cNvSpPr/>
          <p:nvPr/>
        </p:nvSpPr>
        <p:spPr>
          <a:xfrm rot="5400000" flipH="1">
            <a:off x="-1129146" y="1121017"/>
            <a:ext cx="5492752" cy="323447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980"/>
                </a:srgbClr>
              </a:gs>
              <a:gs pos="100000">
                <a:srgbClr val="93B3D7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46" name="Google Shape;246;p13" descr="$PPTXTitle"/>
          <p:cNvSpPr txBox="1">
            <a:spLocks noGrp="1"/>
          </p:cNvSpPr>
          <p:nvPr>
            <p:ph type="title"/>
          </p:nvPr>
        </p:nvSpPr>
        <p:spPr>
          <a:xfrm>
            <a:off x="-1822450" y="470027"/>
            <a:ext cx="4760741" cy="2713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194020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Creating Tables</a:t>
            </a:r>
            <a:endParaRPr/>
          </a:p>
        </p:txBody>
      </p:sp>
      <p:sp>
        <p:nvSpPr>
          <p:cNvPr id="247" name="Google Shape;247;p13"/>
          <p:cNvSpPr txBox="1"/>
          <p:nvPr/>
        </p:nvSpPr>
        <p:spPr>
          <a:xfrm>
            <a:off x="3752751" y="217674"/>
            <a:ext cx="5910600" cy="47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92239" lvl="0" indent="-19223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Managed table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920" marR="4069" lvl="1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TABLE managed_us_delay_flights_tbl ( date STRING,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34057" marR="2379097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INT, distance INT, origin STRING,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34057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destination STRING 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2239" lvl="0" indent="-19223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Unmanaged table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8920" marR="825412" lvl="1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TABLE us_delay_flights_tbl ( date STRING,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34057" marR="2379097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delay INT, distance INT, origin STRING,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34057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destination STRING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59429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csv OPTIONS (PATH ‘/sample.csv’)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114300" algn="l" rtl="0">
              <a:spcBef>
                <a:spcPts val="600"/>
              </a:spcBef>
              <a:spcAft>
                <a:spcPts val="0"/>
              </a:spcAft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2239" lvl="0" indent="-19223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 22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4"/>
          <p:cNvPicPr preferRelativeResize="0"/>
          <p:nvPr/>
        </p:nvPicPr>
        <p:blipFill rotWithShape="1">
          <a:blip r:embed="rId3">
            <a:alphaModFix/>
          </a:blip>
          <a:srcRect r="1" b="12804"/>
          <a:stretch/>
        </p:blipFill>
        <p:spPr>
          <a:xfrm>
            <a:off x="20" y="10"/>
            <a:ext cx="9766280" cy="549274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4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gradFill>
            <a:gsLst>
              <a:gs pos="0">
                <a:srgbClr val="EEECE1">
                  <a:alpha val="67843"/>
                </a:srgbClr>
              </a:gs>
              <a:gs pos="10000">
                <a:srgbClr val="EEECE1">
                  <a:alpha val="67843"/>
                </a:srgbClr>
              </a:gs>
              <a:gs pos="85000">
                <a:srgbClr val="EEECE1">
                  <a:alpha val="96862"/>
                </a:srgbClr>
              </a:gs>
              <a:gs pos="100000">
                <a:srgbClr val="EEECE1">
                  <a:alpha val="96862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54" name="Google Shape;254;p14" descr="$PPTXTitle"/>
          <p:cNvSpPr txBox="1">
            <a:spLocks noGrp="1"/>
          </p:cNvSpPr>
          <p:nvPr>
            <p:ph type="title"/>
          </p:nvPr>
        </p:nvSpPr>
        <p:spPr>
          <a:xfrm>
            <a:off x="671433" y="292438"/>
            <a:ext cx="8423433" cy="1061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975292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Creating Views</a:t>
            </a:r>
            <a:endParaRPr/>
          </a:p>
        </p:txBody>
      </p:sp>
      <p:grpSp>
        <p:nvGrpSpPr>
          <p:cNvPr id="255" name="Google Shape;255;p14"/>
          <p:cNvGrpSpPr/>
          <p:nvPr/>
        </p:nvGrpSpPr>
        <p:grpSpPr>
          <a:xfrm>
            <a:off x="682746" y="1146176"/>
            <a:ext cx="8761090" cy="3801113"/>
            <a:chOff x="11313" y="0"/>
            <a:chExt cx="8761090" cy="3801113"/>
          </a:xfrm>
        </p:grpSpPr>
        <p:sp>
          <p:nvSpPr>
            <p:cNvPr id="256" name="Google Shape;256;p14"/>
            <p:cNvSpPr/>
            <p:nvPr/>
          </p:nvSpPr>
          <p:spPr>
            <a:xfrm>
              <a:off x="11313" y="0"/>
              <a:ext cx="2671064" cy="433536"/>
            </a:xfrm>
            <a:prstGeom prst="rect">
              <a:avLst/>
            </a:prstGeom>
            <a:solidFill>
              <a:srgbClr val="BF504D"/>
            </a:solidFill>
            <a:ln w="25400" cap="flat" cmpd="sng">
              <a:solidFill>
                <a:srgbClr val="BF50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/>
            <p:cNvSpPr txBox="1"/>
            <p:nvPr/>
          </p:nvSpPr>
          <p:spPr>
            <a:xfrm>
              <a:off x="11313" y="0"/>
              <a:ext cx="2671064" cy="433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81275" rIns="142225" bIns="8127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Global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11313" y="433536"/>
              <a:ext cx="2671064" cy="3367577"/>
            </a:xfrm>
            <a:prstGeom prst="rect">
              <a:avLst/>
            </a:prstGeom>
            <a:solidFill>
              <a:srgbClr val="E7CFCF">
                <a:alpha val="90196"/>
              </a:srgbClr>
            </a:solidFill>
            <a:ln w="25400" cap="flat" cmpd="sng">
              <a:solidFill>
                <a:srgbClr val="E7CFCF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/>
            <p:cNvSpPr txBox="1"/>
            <p:nvPr/>
          </p:nvSpPr>
          <p:spPr>
            <a:xfrm>
              <a:off x="11313" y="433536"/>
              <a:ext cx="2671064" cy="33675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42225" bIns="160000" anchor="t" anchorCtr="0">
              <a:noAutofit/>
            </a:bodyPr>
            <a:lstStyle/>
            <a:p>
              <a:pPr marL="22860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2000"/>
                <a:buFont typeface="Arial"/>
                <a:buChar char="•"/>
              </a:pPr>
              <a:r>
                <a:rPr lang="en-US" sz="2000">
                  <a:latin typeface="Arial"/>
                  <a:ea typeface="Arial"/>
                  <a:cs typeface="Arial"/>
                  <a:sym typeface="Arial"/>
                </a:rPr>
                <a:t>Visible across all SparkSessions on a given cluster</a:t>
              </a: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3056326" y="0"/>
              <a:ext cx="2671064" cy="433536"/>
            </a:xfrm>
            <a:prstGeom prst="rect">
              <a:avLst/>
            </a:prstGeom>
            <a:solidFill>
              <a:srgbClr val="BB9952"/>
            </a:solidFill>
            <a:ln w="25400" cap="flat" cmpd="sng">
              <a:solidFill>
                <a:srgbClr val="BB995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 txBox="1"/>
            <p:nvPr/>
          </p:nvSpPr>
          <p:spPr>
            <a:xfrm>
              <a:off x="3056326" y="0"/>
              <a:ext cx="2671064" cy="433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81275" rIns="142225" bIns="8127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Session Scope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3056326" y="433536"/>
              <a:ext cx="2671064" cy="3367577"/>
            </a:xfrm>
            <a:prstGeom prst="rect">
              <a:avLst/>
            </a:prstGeom>
            <a:solidFill>
              <a:srgbClr val="E5DECE">
                <a:alpha val="90196"/>
              </a:srgbClr>
            </a:solidFill>
            <a:ln w="25400" cap="flat" cmpd="sng">
              <a:solidFill>
                <a:srgbClr val="E5DECE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 txBox="1"/>
            <p:nvPr/>
          </p:nvSpPr>
          <p:spPr>
            <a:xfrm>
              <a:off x="3056326" y="433536"/>
              <a:ext cx="2671064" cy="33675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42225" bIns="160000" anchor="t" anchorCtr="0">
              <a:noAutofit/>
            </a:bodyPr>
            <a:lstStyle/>
            <a:p>
              <a:pPr marL="22860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2000"/>
                <a:buFont typeface="Arial"/>
                <a:buChar char="•"/>
              </a:pPr>
              <a:r>
                <a:rPr lang="en-US" sz="2000">
                  <a:latin typeface="Arial"/>
                  <a:ea typeface="Arial"/>
                  <a:cs typeface="Arial"/>
                  <a:sym typeface="Arial"/>
                </a:rPr>
                <a:t>Visible only to a single SparkSession</a:t>
              </a:r>
              <a:endParaRPr/>
            </a:p>
            <a:p>
              <a:pPr marL="22860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SzPts val="2000"/>
                <a:buFont typeface="Arial"/>
                <a:buChar char="•"/>
              </a:pPr>
              <a:r>
                <a:rPr lang="en-US" sz="2000">
                  <a:latin typeface="Arial"/>
                  <a:ea typeface="Arial"/>
                  <a:cs typeface="Arial"/>
                  <a:sym typeface="Arial"/>
                </a:rPr>
                <a:t>Disappear after Spark application terminates</a:t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6101339" y="0"/>
              <a:ext cx="2671064" cy="433536"/>
            </a:xfrm>
            <a:prstGeom prst="rect">
              <a:avLst/>
            </a:prstGeom>
            <a:solidFill>
              <a:srgbClr val="99B958"/>
            </a:solidFill>
            <a:ln w="25400" cap="flat" cmpd="sng">
              <a:solidFill>
                <a:srgbClr val="99B95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 txBox="1"/>
            <p:nvPr/>
          </p:nvSpPr>
          <p:spPr>
            <a:xfrm>
              <a:off x="6101339" y="0"/>
              <a:ext cx="2671064" cy="433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225" tIns="81275" rIns="142225" bIns="8127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SQL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6101339" y="433536"/>
              <a:ext cx="2671064" cy="3367577"/>
            </a:xfrm>
            <a:prstGeom prst="rect">
              <a:avLst/>
            </a:prstGeom>
            <a:solidFill>
              <a:srgbClr val="DCE4CF">
                <a:alpha val="90196"/>
              </a:srgbClr>
            </a:solidFill>
            <a:ln w="25400" cap="flat" cmpd="sng">
              <a:solidFill>
                <a:srgbClr val="DCE4CF">
                  <a:alpha val="9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 txBox="1"/>
            <p:nvPr/>
          </p:nvSpPr>
          <p:spPr>
            <a:xfrm>
              <a:off x="6101339" y="433536"/>
              <a:ext cx="2671064" cy="33675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42225" bIns="160000" anchor="t" anchorCtr="0">
              <a:noAutofit/>
            </a:bodyPr>
            <a:lstStyle/>
            <a:p>
              <a:pPr marL="22860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2000"/>
                <a:buFont typeface="Arial"/>
                <a:buChar char="•"/>
              </a:pPr>
              <a:r>
                <a:rPr lang="en-US" sz="2000">
                  <a:latin typeface="Arial"/>
                  <a:ea typeface="Arial"/>
                  <a:cs typeface="Arial"/>
                  <a:sym typeface="Arial"/>
                </a:rPr>
                <a:t>CREATE OR REPLACE GLOBAL TEMP VIEW us_origin_airport_SFO_global_tmp_view AS SELECT date, delay, origin, destination from us_delay_flights_tbl WHERE</a:t>
              </a:r>
              <a:endParaRPr/>
            </a:p>
            <a:p>
              <a:pPr marL="22860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SzPts val="2000"/>
                <a:buFont typeface="Arial"/>
                <a:buChar char="•"/>
              </a:pPr>
              <a:r>
                <a:rPr lang="en-US" sz="2000">
                  <a:latin typeface="Arial"/>
                  <a:ea typeface="Arial"/>
                  <a:cs typeface="Arial"/>
                  <a:sym typeface="Arial"/>
                </a:rPr>
                <a:t>origin = 'SFO';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5"/>
          <p:cNvPicPr preferRelativeResize="0"/>
          <p:nvPr/>
        </p:nvPicPr>
        <p:blipFill rotWithShape="1">
          <a:blip r:embed="rId3">
            <a:alphaModFix/>
          </a:blip>
          <a:srcRect t="15742" r="1" b="1"/>
          <a:stretch/>
        </p:blipFill>
        <p:spPr>
          <a:xfrm>
            <a:off x="20" y="10"/>
            <a:ext cx="9766280" cy="549274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5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gradFill>
            <a:gsLst>
              <a:gs pos="0">
                <a:srgbClr val="EEECE1">
                  <a:alpha val="67843"/>
                </a:srgbClr>
              </a:gs>
              <a:gs pos="10000">
                <a:srgbClr val="EEECE1">
                  <a:alpha val="67843"/>
                </a:srgbClr>
              </a:gs>
              <a:gs pos="85000">
                <a:srgbClr val="EEECE1">
                  <a:alpha val="96862"/>
                </a:srgbClr>
              </a:gs>
              <a:gs pos="100000">
                <a:srgbClr val="EEECE1">
                  <a:alpha val="96862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74" name="Google Shape;274;p15" descr="$PPTXTitle"/>
          <p:cNvSpPr txBox="1">
            <a:spLocks noGrp="1"/>
          </p:cNvSpPr>
          <p:nvPr>
            <p:ph type="title"/>
          </p:nvPr>
        </p:nvSpPr>
        <p:spPr>
          <a:xfrm>
            <a:off x="671433" y="292438"/>
            <a:ext cx="8423433" cy="1061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975292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Creating Views</a:t>
            </a:r>
            <a:endParaRPr/>
          </a:p>
        </p:txBody>
      </p:sp>
      <p:grpSp>
        <p:nvGrpSpPr>
          <p:cNvPr id="275" name="Google Shape;275;p15"/>
          <p:cNvGrpSpPr/>
          <p:nvPr/>
        </p:nvGrpSpPr>
        <p:grpSpPr>
          <a:xfrm>
            <a:off x="671433" y="1835901"/>
            <a:ext cx="8631317" cy="2421663"/>
            <a:chOff x="0" y="689725"/>
            <a:chExt cx="8631317" cy="2421663"/>
          </a:xfrm>
        </p:grpSpPr>
        <p:sp>
          <p:nvSpPr>
            <p:cNvPr id="276" name="Google Shape;276;p15"/>
            <p:cNvSpPr/>
            <p:nvPr/>
          </p:nvSpPr>
          <p:spPr>
            <a:xfrm>
              <a:off x="0" y="689725"/>
              <a:ext cx="8631317" cy="467086"/>
            </a:xfrm>
            <a:prstGeom prst="roundRect">
              <a:avLst>
                <a:gd name="adj" fmla="val 16667"/>
              </a:avLst>
            </a:prstGeom>
            <a:solidFill>
              <a:srgbClr val="BF504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5"/>
            <p:cNvSpPr txBox="1"/>
            <p:nvPr/>
          </p:nvSpPr>
          <p:spPr>
            <a:xfrm>
              <a:off x="22801" y="712526"/>
              <a:ext cx="8585715" cy="421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SparkSQL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0" y="1156811"/>
              <a:ext cx="8631317" cy="1487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5"/>
            <p:cNvSpPr txBox="1"/>
            <p:nvPr/>
          </p:nvSpPr>
          <p:spPr>
            <a:xfrm>
              <a:off x="0" y="1156811"/>
              <a:ext cx="8631317" cy="1487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025" tIns="25400" rIns="142225" bIns="25400" anchor="t" anchorCtr="0">
              <a:noAutofit/>
            </a:bodyPr>
            <a:lstStyle/>
            <a:p>
              <a:pPr marL="22860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2000"/>
                <a:buFont typeface="Arial"/>
                <a:buChar char="•"/>
              </a:pPr>
              <a:r>
                <a:rPr lang="en-US" sz="2000">
                  <a:latin typeface="Arial"/>
                  <a:ea typeface="Arial"/>
                  <a:cs typeface="Arial"/>
                  <a:sym typeface="Arial"/>
                </a:rPr>
                <a:t>df_sfo = spark.sql(</a:t>
              </a:r>
              <a:r>
                <a:rPr lang="en-US" sz="2000">
                  <a:solidFill>
                    <a:schemeClr val="dk1"/>
                  </a:solidFill>
                </a:rPr>
                <a:t>'"</a:t>
              </a:r>
              <a:r>
                <a:rPr lang="en-US" sz="2000">
                  <a:latin typeface="Arial"/>
                  <a:ea typeface="Arial"/>
                  <a:cs typeface="Arial"/>
                  <a:sym typeface="Arial"/>
                </a:rPr>
                <a:t>SELECT D</a:t>
              </a:r>
              <a:r>
                <a:rPr lang="en-US" sz="2000"/>
                <a:t>ISTINCT </a:t>
              </a:r>
              <a:r>
                <a:rPr lang="en-US" sz="2000">
                  <a:latin typeface="Arial"/>
                  <a:ea typeface="Arial"/>
                  <a:cs typeface="Arial"/>
                  <a:sym typeface="Arial"/>
                </a:rPr>
                <a:t>date, delay, origin, destination FROM us_delay_flights_tbl WHERE origin</a:t>
              </a:r>
              <a:endParaRPr/>
            </a:p>
            <a:p>
              <a:pPr marL="228600" lvl="1" indent="-228600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SzPts val="2000"/>
                <a:buFont typeface="Arial"/>
                <a:buChar char="•"/>
              </a:pPr>
              <a:r>
                <a:rPr lang="en-US" sz="2000">
                  <a:latin typeface="Arial"/>
                  <a:ea typeface="Arial"/>
                  <a:cs typeface="Arial"/>
                  <a:sym typeface="Arial"/>
                </a:rPr>
                <a:t>= 'SFO</a:t>
              </a:r>
              <a:r>
                <a:rPr lang="en-US" sz="2000">
                  <a:solidFill>
                    <a:schemeClr val="dk1"/>
                  </a:solidFill>
                </a:rPr>
                <a:t>' </a:t>
              </a:r>
              <a:r>
                <a:rPr lang="en-US" sz="2000">
                  <a:latin typeface="Arial"/>
                  <a:ea typeface="Arial"/>
                  <a:cs typeface="Arial"/>
                  <a:sym typeface="Arial"/>
                </a:rPr>
                <a:t>'")</a:t>
              </a:r>
              <a:endParaRPr/>
            </a:p>
            <a:p>
              <a:pPr marL="228600" lvl="1" indent="-228600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SzPts val="2000"/>
                <a:buFont typeface="Arial"/>
                <a:buChar char="•"/>
              </a:pPr>
              <a:r>
                <a:rPr lang="en-US" sz="2000">
                  <a:latin typeface="Arial"/>
                  <a:ea typeface="Arial"/>
                  <a:cs typeface="Arial"/>
                  <a:sym typeface="Arial"/>
                </a:rPr>
                <a:t>df_sfo.createOrReplaceGlobalTempView("us_origin_airport_SFO_global_tmp_view")</a:t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0" y="2644302"/>
              <a:ext cx="8631317" cy="467086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5"/>
            <p:cNvSpPr txBox="1"/>
            <p:nvPr/>
          </p:nvSpPr>
          <p:spPr>
            <a:xfrm>
              <a:off x="22801" y="2667103"/>
              <a:ext cx="8585715" cy="421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Demo 23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16"/>
          <p:cNvGrpSpPr/>
          <p:nvPr/>
        </p:nvGrpSpPr>
        <p:grpSpPr>
          <a:xfrm>
            <a:off x="1795145" y="1375016"/>
            <a:ext cx="5110542" cy="3433226"/>
            <a:chOff x="1795145" y="1374383"/>
            <a:chExt cx="5110542" cy="3433226"/>
          </a:xfrm>
        </p:grpSpPr>
        <p:pic>
          <p:nvPicPr>
            <p:cNvPr id="287" name="Google Shape;287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95145" y="1604389"/>
              <a:ext cx="740496" cy="9536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854069" y="1374383"/>
              <a:ext cx="897571" cy="12173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758691" y="4308336"/>
              <a:ext cx="493664" cy="499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1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015229" y="3607117"/>
              <a:ext cx="1890458" cy="11780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1" name="Google Shape;291;p16"/>
          <p:cNvSpPr txBox="1"/>
          <p:nvPr/>
        </p:nvSpPr>
        <p:spPr>
          <a:xfrm>
            <a:off x="161289" y="116992"/>
            <a:ext cx="3039110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Merriweather Sans"/>
                <a:ea typeface="Merriweather Sans"/>
                <a:cs typeface="Merriweather Sans"/>
                <a:sym typeface="Merriweather Sans"/>
              </a:rPr>
              <a:t>Spark SQL Features</a:t>
            </a:r>
            <a:endParaRPr sz="2600"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92" name="Google Shape;292;p16" descr="$PPTXTitle"/>
          <p:cNvSpPr txBox="1">
            <a:spLocks noGrp="1"/>
          </p:cNvSpPr>
          <p:nvPr>
            <p:ph type="title"/>
          </p:nvPr>
        </p:nvSpPr>
        <p:spPr>
          <a:xfrm>
            <a:off x="946658" y="391820"/>
            <a:ext cx="441325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0">
                <a:solidFill>
                  <a:srgbClr val="006B9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6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1492250" y="1178001"/>
            <a:ext cx="796925" cy="0"/>
          </a:xfrm>
          <a:custGeom>
            <a:avLst/>
            <a:gdLst/>
            <a:ahLst/>
            <a:cxnLst/>
            <a:rect l="l" t="t" r="r" b="b"/>
            <a:pathLst>
              <a:path w="796925" h="120000" extrusionOk="0">
                <a:moveTo>
                  <a:pt x="0" y="0"/>
                </a:moveTo>
                <a:lnTo>
                  <a:pt x="796671" y="0"/>
                </a:lnTo>
              </a:path>
            </a:pathLst>
          </a:custGeom>
          <a:noFill/>
          <a:ln w="89800" cap="flat" cmpd="sng">
            <a:solidFill>
              <a:srgbClr val="008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4" name="Google Shape;294;p16"/>
          <p:cNvSpPr txBox="1"/>
          <p:nvPr/>
        </p:nvSpPr>
        <p:spPr>
          <a:xfrm>
            <a:off x="1454150" y="853973"/>
            <a:ext cx="6679565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C1D1E"/>
                </a:solidFill>
                <a:latin typeface="Trebuchet MS"/>
                <a:ea typeface="Trebuchet MS"/>
                <a:cs typeface="Trebuchet MS"/>
                <a:sym typeface="Trebuchet MS"/>
              </a:rPr>
              <a:t>Spark SQL integrates relational processing with Spark's functional programming</a:t>
            </a:r>
            <a:r>
              <a:rPr lang="en-US" sz="2550" baseline="-25000">
                <a:solidFill>
                  <a:srgbClr val="0484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____,</a:t>
            </a:r>
            <a:endParaRPr sz="2550" baseline="-2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5771134" y="1753006"/>
            <a:ext cx="2191385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1">
                <a:solidFill>
                  <a:srgbClr val="121110"/>
                </a:solidFill>
                <a:latin typeface="Arial"/>
                <a:ea typeface="Arial"/>
                <a:cs typeface="Arial"/>
                <a:sym typeface="Arial"/>
              </a:rPr>
              <a:t>Spa</a:t>
            </a:r>
            <a:r>
              <a:rPr lang="en-US" sz="3900" b="1" i="1">
                <a:solidFill>
                  <a:srgbClr val="804717"/>
                </a:solidFill>
                <a:latin typeface="Arial"/>
                <a:ea typeface="Arial"/>
                <a:cs typeface="Arial"/>
                <a:sym typeface="Arial"/>
              </a:rPr>
              <a:t>fK1 </a:t>
            </a:r>
            <a:r>
              <a:rPr lang="en-US" sz="3950">
                <a:solidFill>
                  <a:srgbClr val="1211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</a:t>
            </a:r>
            <a:endParaRPr sz="3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2113533" y="3037357"/>
            <a:ext cx="5358130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C1E1F"/>
                </a:solidFill>
                <a:latin typeface="Trebuchet MS"/>
                <a:ea typeface="Trebuchet MS"/>
                <a:cs typeface="Trebuchet MS"/>
                <a:sym typeface="Trebuchet MS"/>
              </a:rPr>
              <a:t>Spark SQL is used for the structured/semi structured data analysis in Spark</a:t>
            </a:r>
            <a:endParaRPr sz="12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1492250" y="3306994"/>
            <a:ext cx="796925" cy="0"/>
          </a:xfrm>
          <a:custGeom>
            <a:avLst/>
            <a:gdLst/>
            <a:ahLst/>
            <a:cxnLst/>
            <a:rect l="l" t="t" r="r" b="b"/>
            <a:pathLst>
              <a:path w="796925" h="120000" extrusionOk="0">
                <a:moveTo>
                  <a:pt x="0" y="0"/>
                </a:moveTo>
                <a:lnTo>
                  <a:pt x="796607" y="0"/>
                </a:lnTo>
              </a:path>
            </a:pathLst>
          </a:custGeom>
          <a:noFill/>
          <a:ln w="72850" cap="flat" cmpd="sng">
            <a:solidFill>
              <a:srgbClr val="1F81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8" name="Google Shape;298;p16"/>
          <p:cNvSpPr txBox="1"/>
          <p:nvPr/>
        </p:nvSpPr>
        <p:spPr>
          <a:xfrm>
            <a:off x="980313" y="2517927"/>
            <a:ext cx="525145" cy="1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>
                <a:solidFill>
                  <a:srgbClr val="006F9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endParaRPr sz="6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7616697" y="3171977"/>
            <a:ext cx="491490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082AE"/>
                </a:solidFill>
                <a:latin typeface="Trebuchet MS"/>
                <a:ea typeface="Trebuchet MS"/>
                <a:cs typeface="Trebuchet MS"/>
                <a:sym typeface="Trebuchet MS"/>
              </a:rPr>
              <a:t>____,</a:t>
            </a:r>
            <a:endParaRPr sz="12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3001264" y="3494176"/>
            <a:ext cx="1109980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C6EA4"/>
                </a:solidFill>
                <a:latin typeface="Arial"/>
                <a:ea typeface="Arial"/>
                <a:cs typeface="Arial"/>
                <a:sym typeface="Arial"/>
              </a:rPr>
              <a:t>111111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3001264" y="3724173"/>
            <a:ext cx="1109980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C6EA4"/>
                </a:solidFill>
                <a:latin typeface="Arial"/>
                <a:ea typeface="Arial"/>
                <a:cs typeface="Arial"/>
                <a:sym typeface="Arial"/>
              </a:rPr>
              <a:t>111111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3001264" y="3952773"/>
            <a:ext cx="1109980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25883"/>
                </a:solidFill>
                <a:latin typeface="Arial"/>
                <a:ea typeface="Arial"/>
                <a:cs typeface="Arial"/>
                <a:sym typeface="Arial"/>
              </a:rPr>
              <a:t>111111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2999613" y="4178579"/>
            <a:ext cx="74866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225883"/>
                </a:solidFill>
                <a:latin typeface="Arial"/>
                <a:ea typeface="Arial"/>
                <a:cs typeface="Arial"/>
                <a:sym typeface="Arial"/>
              </a:rPr>
              <a:t>1111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4625340" y="3137433"/>
            <a:ext cx="207645" cy="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DF70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4445761" y="3113557"/>
            <a:ext cx="746760" cy="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2D6E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6000">
                <a:solidFill>
                  <a:srgbClr val="B62A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6000">
                <a:solidFill>
                  <a:srgbClr val="0797A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4266184" y="3079775"/>
            <a:ext cx="1111250" cy="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B62A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	</a:t>
            </a:r>
            <a:r>
              <a:rPr lang="en-US" sz="6000">
                <a:solidFill>
                  <a:srgbClr val="2D6E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16"/>
          <p:cNvSpPr txBox="1"/>
          <p:nvPr/>
        </p:nvSpPr>
        <p:spPr>
          <a:xfrm>
            <a:off x="4256404" y="3631082"/>
            <a:ext cx="93726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DF70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3250">
                <a:solidFill>
                  <a:srgbClr val="DF70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	</a:t>
            </a:r>
            <a:r>
              <a:rPr lang="en-US" sz="2450" b="1">
                <a:solidFill>
                  <a:srgbClr val="2D6EA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250">
                <a:solidFill>
                  <a:srgbClr val="2D6E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 sz="32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5167884" y="3593109"/>
            <a:ext cx="20574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rgbClr val="0797A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endParaRPr sz="32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4603750" y="3309264"/>
            <a:ext cx="418465" cy="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50">
                <a:solidFill>
                  <a:srgbClr val="B62A4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■</a:t>
            </a:r>
            <a:r>
              <a:rPr lang="en-US" sz="9000" baseline="-25000">
                <a:solidFill>
                  <a:srgbClr val="DE6F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sz="9000" baseline="-2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4260596" y="3505225"/>
            <a:ext cx="1092835" cy="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285F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9000" baseline="-25000">
                <a:solidFill>
                  <a:srgbClr val="B82C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9000" baseline="-25000">
                <a:solidFill>
                  <a:srgbClr val="0497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•</a:t>
            </a:r>
            <a:r>
              <a:rPr lang="en-US" sz="6000">
                <a:solidFill>
                  <a:srgbClr val="DE6F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4260596" y="3715918"/>
            <a:ext cx="746760" cy="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497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9000" baseline="-25000">
                <a:solidFill>
                  <a:srgbClr val="2152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9000" baseline="-25000">
                <a:solidFill>
                  <a:srgbClr val="B82C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sz="6000">
                <a:solidFill>
                  <a:srgbClr val="2152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 txBox="1"/>
          <p:nvPr/>
        </p:nvSpPr>
        <p:spPr>
          <a:xfrm>
            <a:off x="156918" y="45097"/>
            <a:ext cx="61230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00001"/>
                </a:solidFill>
                <a:latin typeface="Arial"/>
                <a:ea typeface="Arial"/>
                <a:cs typeface="Arial"/>
                <a:sym typeface="Arial"/>
              </a:rPr>
              <a:t>Spark SQL Overview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1015161" y="1275886"/>
            <a:ext cx="29209" cy="0"/>
          </a:xfrm>
          <a:custGeom>
            <a:avLst/>
            <a:gdLst/>
            <a:ahLst/>
            <a:cxnLst/>
            <a:rect l="l" t="t" r="r" b="b"/>
            <a:pathLst>
              <a:path w="29209" h="120000" extrusionOk="0">
                <a:moveTo>
                  <a:pt x="0" y="0"/>
                </a:moveTo>
                <a:lnTo>
                  <a:pt x="28686" y="0"/>
                </a:lnTo>
              </a:path>
            </a:pathLst>
          </a:custGeom>
          <a:noFill/>
          <a:ln w="12775" cap="flat" cmpd="sng">
            <a:solidFill>
              <a:srgbClr val="0897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8" name="Google Shape;318;p17"/>
          <p:cNvSpPr txBox="1"/>
          <p:nvPr/>
        </p:nvSpPr>
        <p:spPr>
          <a:xfrm>
            <a:off x="519468" y="559836"/>
            <a:ext cx="2790825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>
                <a:solidFill>
                  <a:srgbClr val="016E9C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3900">
                <a:solidFill>
                  <a:srgbClr val="0897D6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1200" u="sng">
                <a:solidFill>
                  <a:srgbClr val="312F2D"/>
                </a:solidFill>
                <a:latin typeface="Arial"/>
                <a:ea typeface="Arial"/>
                <a:cs typeface="Arial"/>
                <a:sym typeface="Arial"/>
              </a:rPr>
              <a:t>Performance And Sca</a:t>
            </a:r>
            <a:r>
              <a:rPr lang="en-US" sz="1200" u="sng">
                <a:solidFill>
                  <a:srgbClr val="4F5052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200" u="sng">
                <a:solidFill>
                  <a:srgbClr val="312F2D"/>
                </a:solidFill>
                <a:latin typeface="Arial"/>
                <a:ea typeface="Arial"/>
                <a:cs typeface="Arial"/>
                <a:sym typeface="Arial"/>
              </a:rPr>
              <a:t>abil</a:t>
            </a:r>
            <a:r>
              <a:rPr lang="en-US" sz="1200" u="sng">
                <a:solidFill>
                  <a:srgbClr val="4F5052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1200" u="sng">
                <a:solidFill>
                  <a:srgbClr val="312F2D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2844793" y="1627650"/>
            <a:ext cx="273621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A1F18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en-US" sz="1200" b="1">
                <a:solidFill>
                  <a:srgbClr val="4F505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 b="1">
                <a:solidFill>
                  <a:srgbClr val="2A1F18"/>
                </a:solidFill>
                <a:latin typeface="Arial"/>
                <a:ea typeface="Arial"/>
                <a:cs typeface="Arial"/>
                <a:sym typeface="Arial"/>
              </a:rPr>
              <a:t>Spark SQL </a:t>
            </a:r>
            <a:r>
              <a:rPr lang="en-US" sz="1200" b="1">
                <a:solidFill>
                  <a:srgbClr val="312F2D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r>
              <a:rPr lang="en-US" sz="1200" b="1">
                <a:solidFill>
                  <a:srgbClr val="2A1F18"/>
                </a:solidFill>
                <a:latin typeface="Arial"/>
                <a:ea typeface="Arial"/>
                <a:cs typeface="Arial"/>
                <a:sym typeface="Arial"/>
              </a:rPr>
              <a:t>Hadoop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7376679" y="2004901"/>
            <a:ext cx="716280" cy="36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marR="57785" lvl="0" indent="0" algn="r" rtl="0">
              <a:lnSpc>
                <a:spcPct val="10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6C6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080" lvl="0" indent="0" algn="r" rtl="0">
              <a:lnSpc>
                <a:spcPct val="10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6C6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.....,.,.,��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2286692" y="2583568"/>
            <a:ext cx="685800" cy="179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F50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3000 </a:t>
            </a:r>
            <a:r>
              <a:rPr lang="en-US" sz="1000">
                <a:solidFill>
                  <a:srgbClr val="B5B8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�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2959801" y="2695463"/>
            <a:ext cx="2551430" cy="0"/>
          </a:xfrm>
          <a:custGeom>
            <a:avLst/>
            <a:gdLst/>
            <a:ahLst/>
            <a:cxnLst/>
            <a:rect l="l" t="t" r="r" b="b"/>
            <a:pathLst>
              <a:path w="2551429" h="120000" extrusionOk="0">
                <a:moveTo>
                  <a:pt x="0" y="0"/>
                </a:moveTo>
                <a:lnTo>
                  <a:pt x="2551180" y="0"/>
                </a:lnTo>
              </a:path>
            </a:pathLst>
          </a:custGeom>
          <a:noFill/>
          <a:ln w="9525" cap="flat" cmpd="sng">
            <a:solidFill>
              <a:srgbClr val="B4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3" name="Google Shape;323;p17"/>
          <p:cNvSpPr txBox="1"/>
          <p:nvPr/>
        </p:nvSpPr>
        <p:spPr>
          <a:xfrm>
            <a:off x="2289113" y="3120672"/>
            <a:ext cx="295910" cy="179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F50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2000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17"/>
          <p:cNvSpPr txBox="1"/>
          <p:nvPr/>
        </p:nvSpPr>
        <p:spPr>
          <a:xfrm>
            <a:off x="2277002" y="3398815"/>
            <a:ext cx="294005" cy="179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12F2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000">
                <a:solidFill>
                  <a:srgbClr val="4F50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17"/>
          <p:cNvSpPr txBox="1"/>
          <p:nvPr/>
        </p:nvSpPr>
        <p:spPr>
          <a:xfrm>
            <a:off x="2285894" y="3520302"/>
            <a:ext cx="335280" cy="21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6C6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e'.lr.</a:t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17"/>
          <p:cNvSpPr txBox="1"/>
          <p:nvPr/>
        </p:nvSpPr>
        <p:spPr>
          <a:xfrm>
            <a:off x="2276262" y="3632200"/>
            <a:ext cx="1967230" cy="18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B3F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 </a:t>
            </a:r>
            <a:r>
              <a:rPr lang="en-US" sz="1050">
                <a:solidFill>
                  <a:srgbClr val="C6C6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•,,...</a:t>
            </a:r>
            <a:r>
              <a:rPr lang="en-US" sz="1050">
                <a:solidFill>
                  <a:srgbClr val="90939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1050" u="sng">
                <a:solidFill>
                  <a:srgbClr val="90939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17"/>
          <p:cNvSpPr txBox="1"/>
          <p:nvPr/>
        </p:nvSpPr>
        <p:spPr>
          <a:xfrm>
            <a:off x="2285672" y="3999860"/>
            <a:ext cx="1231265" cy="1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F50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	</a:t>
            </a:r>
            <a:r>
              <a:rPr lang="en-US" sz="800" b="1" i="1">
                <a:solidFill>
                  <a:srgbClr val="B5B8B8"/>
                </a:solidFill>
                <a:latin typeface="Arial"/>
                <a:ea typeface="Arial"/>
                <a:cs typeface="Arial"/>
                <a:sym typeface="Arial"/>
              </a:rPr>
              <a:t>"Ii</a:t>
            </a:r>
            <a:r>
              <a:rPr lang="en-US" sz="800" b="1" i="1">
                <a:solidFill>
                  <a:srgbClr val="909395"/>
                </a:solidFill>
                <a:latin typeface="Arial"/>
                <a:ea typeface="Arial"/>
                <a:cs typeface="Arial"/>
                <a:sym typeface="Arial"/>
              </a:rPr>
              <a:t>-----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7"/>
          <p:cNvSpPr txBox="1"/>
          <p:nvPr/>
        </p:nvSpPr>
        <p:spPr>
          <a:xfrm>
            <a:off x="3936363" y="4751166"/>
            <a:ext cx="13220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3F41"/>
                </a:solidFill>
                <a:latin typeface="Arial"/>
                <a:ea typeface="Arial"/>
                <a:cs typeface="Arial"/>
                <a:sym typeface="Arial"/>
              </a:rPr>
              <a:t>Number Of Iterations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L="285115" lvl="0" indent="0" algn="l" rtl="0">
              <a:lnSpc>
                <a:spcPct val="1038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C6C6C6"/>
                </a:solidFill>
                <a:latin typeface="Arial"/>
                <a:ea typeface="Arial"/>
                <a:cs typeface="Arial"/>
                <a:sym typeface="Arial"/>
              </a:rPr>
              <a:t>" ( .. ,.  ,.	</a:t>
            </a:r>
            <a:r>
              <a:rPr lang="en-US" sz="750" b="1">
                <a:solidFill>
                  <a:srgbClr val="C6C6C6"/>
                </a:solidFill>
                <a:latin typeface="Arial"/>
                <a:ea typeface="Arial"/>
                <a:cs typeface="Arial"/>
                <a:sym typeface="Arial"/>
              </a:rPr>
              <a:t>"t </a:t>
            </a:r>
            <a:r>
              <a:rPr lang="en-US" sz="750">
                <a:solidFill>
                  <a:srgbClr val="C6C6C6"/>
                </a:solidFill>
                <a:latin typeface="Arial"/>
                <a:ea typeface="Arial"/>
                <a:cs typeface="Arial"/>
                <a:sym typeface="Arial"/>
              </a:rPr>
              <a:t>., .... </a:t>
            </a:r>
            <a:r>
              <a:rPr lang="en-US" sz="1050" b="1">
                <a:solidFill>
                  <a:srgbClr val="C6C6C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1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7618323" y="4751167"/>
            <a:ext cx="219075" cy="36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6C6C6"/>
                </a:solidFill>
                <a:latin typeface="Arial"/>
                <a:ea typeface="Arial"/>
                <a:cs typeface="Arial"/>
                <a:sym typeface="Arial"/>
              </a:rPr>
              <a:t>' </a:t>
            </a:r>
            <a:r>
              <a:rPr lang="en-US" sz="2200">
                <a:solidFill>
                  <a:srgbClr val="C6C6C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2300" y="882650"/>
            <a:ext cx="1988939" cy="1496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5805" y="3165342"/>
            <a:ext cx="439861" cy="46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2993" y="3280436"/>
            <a:ext cx="573732" cy="95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7046" y="3242071"/>
            <a:ext cx="1816818" cy="99747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8"/>
          <p:cNvSpPr/>
          <p:nvPr/>
        </p:nvSpPr>
        <p:spPr>
          <a:xfrm>
            <a:off x="0" y="599711"/>
            <a:ext cx="9753600" cy="29209"/>
          </a:xfrm>
          <a:custGeom>
            <a:avLst/>
            <a:gdLst/>
            <a:ahLst/>
            <a:cxnLst/>
            <a:rect l="l" t="t" r="r" b="b"/>
            <a:pathLst>
              <a:path w="9753600" h="29209" extrusionOk="0">
                <a:moveTo>
                  <a:pt x="9753599" y="28773"/>
                </a:moveTo>
                <a:lnTo>
                  <a:pt x="0" y="28773"/>
                </a:lnTo>
                <a:lnTo>
                  <a:pt x="0" y="0"/>
                </a:lnTo>
                <a:lnTo>
                  <a:pt x="9753599" y="0"/>
                </a:lnTo>
                <a:lnTo>
                  <a:pt x="9753599" y="2877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9" name="Google Shape;339;p18"/>
          <p:cNvSpPr/>
          <p:nvPr/>
        </p:nvSpPr>
        <p:spPr>
          <a:xfrm>
            <a:off x="5622576" y="3731218"/>
            <a:ext cx="765175" cy="0"/>
          </a:xfrm>
          <a:custGeom>
            <a:avLst/>
            <a:gdLst/>
            <a:ahLst/>
            <a:cxnLst/>
            <a:rect l="l" t="t" r="r" b="b"/>
            <a:pathLst>
              <a:path w="765175" h="120000" extrusionOk="0">
                <a:moveTo>
                  <a:pt x="0" y="0"/>
                </a:moveTo>
                <a:lnTo>
                  <a:pt x="764976" y="0"/>
                </a:lnTo>
              </a:path>
            </a:pathLst>
          </a:custGeom>
          <a:noFill/>
          <a:ln w="191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0" name="Google Shape;340;p18"/>
          <p:cNvSpPr txBox="1"/>
          <p:nvPr/>
        </p:nvSpPr>
        <p:spPr>
          <a:xfrm>
            <a:off x="158049" y="77082"/>
            <a:ext cx="3862704" cy="40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 b="1">
                <a:solidFill>
                  <a:srgbClr val="010103"/>
                </a:solidFill>
                <a:latin typeface="Arial"/>
                <a:ea typeface="Arial"/>
                <a:cs typeface="Arial"/>
                <a:sym typeface="Arial"/>
              </a:rPr>
              <a:t>Spark SQL Flow Diagram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8"/>
          <p:cNvSpPr txBox="1"/>
          <p:nvPr/>
        </p:nvSpPr>
        <p:spPr>
          <a:xfrm>
            <a:off x="254744" y="863555"/>
            <a:ext cx="2927350" cy="534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63B3B"/>
                </a:solidFill>
                <a:latin typeface="Arial"/>
                <a:ea typeface="Arial"/>
                <a:cs typeface="Arial"/>
                <a:sym typeface="Arial"/>
              </a:rPr>
              <a:t>0	</a:t>
            </a:r>
            <a:r>
              <a:rPr lang="en-US" sz="1250">
                <a:solidFill>
                  <a:srgbClr val="232628"/>
                </a:solidFill>
                <a:latin typeface="Arial"/>
                <a:ea typeface="Arial"/>
                <a:cs typeface="Arial"/>
                <a:sym typeface="Arial"/>
              </a:rPr>
              <a:t>Spark SQ</a:t>
            </a:r>
            <a:r>
              <a:rPr lang="en-US" sz="1250">
                <a:solidFill>
                  <a:srgbClr val="010103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250">
                <a:solidFill>
                  <a:srgbClr val="363B3B"/>
                </a:solidFill>
                <a:latin typeface="Arial"/>
                <a:ea typeface="Arial"/>
                <a:cs typeface="Arial"/>
                <a:sym typeface="Arial"/>
              </a:rPr>
              <a:t>has the following </a:t>
            </a:r>
            <a:r>
              <a:rPr lang="en-US" sz="1250">
                <a:solidFill>
                  <a:srgbClr val="4D4F52"/>
                </a:solidFill>
                <a:latin typeface="Arial"/>
                <a:ea typeface="Arial"/>
                <a:cs typeface="Arial"/>
                <a:sym typeface="Arial"/>
              </a:rPr>
              <a:t>libraries: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marL="52705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50">
                <a:solidFill>
                  <a:srgbClr val="26AADB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Data So</a:t>
            </a:r>
            <a:r>
              <a:rPr lang="en-US" sz="1250">
                <a:solidFill>
                  <a:srgbClr val="52A0BF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ce API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8"/>
          <p:cNvSpPr txBox="1"/>
          <p:nvPr/>
        </p:nvSpPr>
        <p:spPr>
          <a:xfrm>
            <a:off x="296159" y="1381477"/>
            <a:ext cx="1929764" cy="61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54635" lvl="0" indent="-2400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9AC1"/>
              </a:buClr>
              <a:buSzPts val="1250"/>
              <a:buFont typeface="Arial"/>
              <a:buAutoNum type="arabicPeriod" startAt="2"/>
            </a:pP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250">
                <a:solidFill>
                  <a:srgbClr val="52A0B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250">
                <a:solidFill>
                  <a:srgbClr val="52A0B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250">
                <a:solidFill>
                  <a:srgbClr val="44B1D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250">
                <a:solidFill>
                  <a:srgbClr val="52A0B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250">
                <a:solidFill>
                  <a:srgbClr val="52A0BF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marL="262255" lvl="0" indent="-24955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3A9AC1"/>
              </a:buClr>
              <a:buSzPts val="1250"/>
              <a:buFont typeface="Arial"/>
              <a:buAutoNum type="arabicPeriod" startAt="2"/>
            </a:pP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Inte</a:t>
            </a:r>
            <a:r>
              <a:rPr lang="en-US" sz="1250">
                <a:solidFill>
                  <a:srgbClr val="44B1D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prete</a:t>
            </a: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&amp; Opt</a:t>
            </a: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zer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marL="259715" lvl="0" indent="-242570" algn="l" rtl="0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>
                <a:srgbClr val="3A9AC1"/>
              </a:buClr>
              <a:buSzPts val="1250"/>
              <a:buFont typeface="Arial"/>
              <a:buAutoNum type="arabicPeriod" startAt="2"/>
            </a:pP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SOL Serv</a:t>
            </a: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50">
                <a:solidFill>
                  <a:srgbClr val="52A0B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250">
                <a:solidFill>
                  <a:srgbClr val="3A9AC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 txBox="1"/>
          <p:nvPr/>
        </p:nvSpPr>
        <p:spPr>
          <a:xfrm>
            <a:off x="254744" y="2292636"/>
            <a:ext cx="58515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237490" marR="5080" lvl="0" indent="-225425" algn="l" rtl="0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63B3B"/>
                </a:solidFill>
                <a:latin typeface="Arial"/>
                <a:ea typeface="Arial"/>
                <a:cs typeface="Arial"/>
                <a:sym typeface="Arial"/>
              </a:rPr>
              <a:t>0		</a:t>
            </a:r>
            <a:r>
              <a:rPr lang="en-US" sz="1250">
                <a:solidFill>
                  <a:srgbClr val="363B3B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250">
                <a:solidFill>
                  <a:srgbClr val="4D4F52"/>
                </a:solidFill>
                <a:latin typeface="Arial"/>
                <a:ea typeface="Arial"/>
                <a:cs typeface="Arial"/>
                <a:sym typeface="Arial"/>
              </a:rPr>
              <a:t>flow </a:t>
            </a:r>
            <a:r>
              <a:rPr lang="en-US" sz="1250">
                <a:solidFill>
                  <a:srgbClr val="363B3B"/>
                </a:solidFill>
                <a:latin typeface="Arial"/>
                <a:ea typeface="Arial"/>
                <a:cs typeface="Arial"/>
                <a:sym typeface="Arial"/>
              </a:rPr>
              <a:t>diagram represents a </a:t>
            </a:r>
            <a:r>
              <a:rPr lang="en-US" sz="1250">
                <a:solidFill>
                  <a:srgbClr val="232628"/>
                </a:solidFill>
                <a:latin typeface="Arial"/>
                <a:ea typeface="Arial"/>
                <a:cs typeface="Arial"/>
                <a:sym typeface="Arial"/>
              </a:rPr>
              <a:t>Spark SQL process </a:t>
            </a:r>
            <a:r>
              <a:rPr lang="en-US" sz="1250">
                <a:solidFill>
                  <a:srgbClr val="363B3B"/>
                </a:solidFill>
                <a:latin typeface="Arial"/>
                <a:ea typeface="Arial"/>
                <a:cs typeface="Arial"/>
                <a:sym typeface="Arial"/>
              </a:rPr>
              <a:t>using all the four l</a:t>
            </a:r>
            <a:r>
              <a:rPr lang="en-US" sz="1250">
                <a:solidFill>
                  <a:srgbClr val="01010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50">
                <a:solidFill>
                  <a:srgbClr val="232628"/>
                </a:solidFill>
                <a:latin typeface="Arial"/>
                <a:ea typeface="Arial"/>
                <a:cs typeface="Arial"/>
                <a:sym typeface="Arial"/>
              </a:rPr>
              <a:t>bra</a:t>
            </a:r>
            <a:r>
              <a:rPr lang="en-US" sz="1250">
                <a:solidFill>
                  <a:srgbClr val="4D4F52"/>
                </a:solidFill>
                <a:latin typeface="Arial"/>
                <a:ea typeface="Arial"/>
                <a:cs typeface="Arial"/>
                <a:sym typeface="Arial"/>
              </a:rPr>
              <a:t>ries </a:t>
            </a:r>
            <a:r>
              <a:rPr lang="en-US" sz="1250">
                <a:solidFill>
                  <a:srgbClr val="232628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1250">
                <a:solidFill>
                  <a:srgbClr val="363B3B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8"/>
          <p:cNvSpPr txBox="1"/>
          <p:nvPr/>
        </p:nvSpPr>
        <p:spPr>
          <a:xfrm>
            <a:off x="8647950" y="1477389"/>
            <a:ext cx="90296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30835" marR="5080" lvl="0" indent="-318770" algn="l" rtl="0">
              <a:lnSpc>
                <a:spcPct val="100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Data Source AP</a:t>
            </a:r>
            <a:r>
              <a:rPr lang="en-US" sz="1250">
                <a:solidFill>
                  <a:srgbClr val="2A708A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8"/>
          <p:cNvSpPr txBox="1"/>
          <p:nvPr/>
        </p:nvSpPr>
        <p:spPr>
          <a:xfrm>
            <a:off x="7232124" y="2059252"/>
            <a:ext cx="1525905" cy="992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50">
                <a:solidFill>
                  <a:srgbClr val="1579A3"/>
                </a:solidFill>
                <a:latin typeface="Arial"/>
                <a:ea typeface="Arial"/>
                <a:cs typeface="Arial"/>
                <a:sym typeface="Arial"/>
              </a:rPr>
              <a:t>l	</a:t>
            </a:r>
            <a:r>
              <a:rPr lang="en-US" sz="1250">
                <a:solidFill>
                  <a:srgbClr val="2A708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ataF</a:t>
            </a:r>
            <a:r>
              <a:rPr lang="en-US" sz="1250">
                <a:solidFill>
                  <a:srgbClr val="52A0B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ame AP</a:t>
            </a:r>
            <a:r>
              <a:rPr lang="en-US" sz="1250">
                <a:solidFill>
                  <a:srgbClr val="2A708A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 txBox="1"/>
          <p:nvPr/>
        </p:nvSpPr>
        <p:spPr>
          <a:xfrm>
            <a:off x="476007" y="3386027"/>
            <a:ext cx="1351915" cy="7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1">
                <a:solidFill>
                  <a:srgbClr val="232628"/>
                </a:solidFill>
                <a:latin typeface="Arial"/>
                <a:ea typeface="Arial"/>
                <a:cs typeface="Arial"/>
                <a:sym typeface="Arial"/>
              </a:rPr>
              <a:t>Spa</a:t>
            </a:r>
            <a:r>
              <a:rPr lang="en-US" sz="2300" b="1" i="1">
                <a:solidFill>
                  <a:srgbClr val="8E521F"/>
                </a:solidFill>
                <a:latin typeface="Arial"/>
                <a:ea typeface="Arial"/>
                <a:cs typeface="Arial"/>
                <a:sym typeface="Arial"/>
              </a:rPr>
              <a:t>�	</a:t>
            </a:r>
            <a:r>
              <a:rPr lang="en-US" sz="2450" b="1">
                <a:solidFill>
                  <a:srgbClr val="232628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2450">
              <a:latin typeface="Arial"/>
              <a:ea typeface="Arial"/>
              <a:cs typeface="Arial"/>
              <a:sym typeface="Arial"/>
            </a:endParaRPr>
          </a:p>
          <a:p>
            <a:pPr marL="107314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4B1DF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8"/>
          <p:cNvSpPr txBox="1"/>
          <p:nvPr/>
        </p:nvSpPr>
        <p:spPr>
          <a:xfrm>
            <a:off x="2052736" y="3239399"/>
            <a:ext cx="912494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2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 b="1" u="sng">
                <a:solidFill>
                  <a:srgbClr val="232628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450">
              <a:latin typeface="Arial"/>
              <a:ea typeface="Arial"/>
              <a:cs typeface="Arial"/>
              <a:sym typeface="Arial"/>
            </a:endParaRPr>
          </a:p>
          <a:p>
            <a:pPr marL="158115" marR="106680" lvl="0" indent="-114935" algn="l" rtl="0">
              <a:lnSpc>
                <a:spcPct val="100699"/>
              </a:lnSpc>
              <a:spcBef>
                <a:spcPts val="59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Spark SQ</a:t>
            </a:r>
            <a:r>
              <a:rPr lang="en-US" sz="1250">
                <a:solidFill>
                  <a:srgbClr val="2A708A"/>
                </a:solidFill>
                <a:latin typeface="Arial"/>
                <a:ea typeface="Arial"/>
                <a:cs typeface="Arial"/>
                <a:sym typeface="Arial"/>
              </a:rPr>
              <a:t>L </a:t>
            </a: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Serv</a:t>
            </a:r>
            <a:r>
              <a:rPr lang="en-US" sz="1250">
                <a:solidFill>
                  <a:srgbClr val="2A708A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ce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8"/>
          <p:cNvSpPr txBox="1"/>
          <p:nvPr/>
        </p:nvSpPr>
        <p:spPr>
          <a:xfrm>
            <a:off x="3772417" y="3373239"/>
            <a:ext cx="676910" cy="1176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749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7097AA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-635" algn="l" rtl="0">
              <a:lnSpc>
                <a:spcPct val="100099"/>
              </a:lnSpc>
              <a:spcBef>
                <a:spcPts val="147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363B3B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il</a:t>
            </a:r>
            <a:r>
              <a:rPr lang="en-US" sz="1100">
                <a:solidFill>
                  <a:srgbClr val="232628"/>
                </a:solidFill>
                <a:latin typeface="Arial"/>
                <a:ea typeface="Arial"/>
                <a:cs typeface="Arial"/>
                <a:sym typeface="Arial"/>
              </a:rPr>
              <a:t>ient </a:t>
            </a:r>
            <a:r>
              <a:rPr lang="en-US" sz="1100">
                <a:solidFill>
                  <a:srgbClr val="4D4F52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1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100">
                <a:solidFill>
                  <a:srgbClr val="363B3B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100">
                <a:solidFill>
                  <a:srgbClr val="010103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00">
                <a:solidFill>
                  <a:srgbClr val="4D4F52"/>
                </a:solidFill>
                <a:latin typeface="Arial"/>
                <a:ea typeface="Arial"/>
                <a:cs typeface="Arial"/>
                <a:sym typeface="Arial"/>
              </a:rPr>
              <a:t>ributed Dataset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4839897" y="4220366"/>
            <a:ext cx="191770" cy="0"/>
          </a:xfrm>
          <a:custGeom>
            <a:avLst/>
            <a:gdLst/>
            <a:ahLst/>
            <a:cxnLst/>
            <a:rect l="l" t="t" r="r" b="b"/>
            <a:pathLst>
              <a:path w="191770" h="120000" extrusionOk="0">
                <a:moveTo>
                  <a:pt x="0" y="0"/>
                </a:moveTo>
                <a:lnTo>
                  <a:pt x="191244" y="0"/>
                </a:lnTo>
              </a:path>
            </a:pathLst>
          </a:custGeom>
          <a:noFill/>
          <a:ln w="12775" cap="flat" cmpd="sng">
            <a:solidFill>
              <a:srgbClr val="7097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0" name="Google Shape;350;p18"/>
          <p:cNvSpPr txBox="1"/>
          <p:nvPr/>
        </p:nvSpPr>
        <p:spPr>
          <a:xfrm>
            <a:off x="4801798" y="3907146"/>
            <a:ext cx="296545" cy="38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7097AA"/>
                </a:solidFill>
                <a:latin typeface="Arial"/>
                <a:ea typeface="Arial"/>
                <a:cs typeface="Arial"/>
                <a:sym typeface="Arial"/>
              </a:rPr>
              <a:t>..</a:t>
            </a:r>
            <a:r>
              <a:rPr lang="en-US" sz="600" baseline="30000">
                <a:solidFill>
                  <a:srgbClr val="D883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350">
                <a:solidFill>
                  <a:srgbClr val="7097AA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2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8"/>
          <p:cNvSpPr txBox="1"/>
          <p:nvPr/>
        </p:nvSpPr>
        <p:spPr>
          <a:xfrm>
            <a:off x="5585494" y="3792052"/>
            <a:ext cx="993140" cy="42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A708A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nterprete</a:t>
            </a:r>
            <a:r>
              <a:rPr lang="en-US" sz="1250">
                <a:solidFill>
                  <a:srgbClr val="7097AA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300">
                <a:solidFill>
                  <a:srgbClr val="4685A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9685" lvl="0" indent="0" algn="l" rtl="0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Opt</a:t>
            </a:r>
            <a:r>
              <a:rPr lang="en-US" sz="1250">
                <a:solidFill>
                  <a:srgbClr val="7097AA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250">
                <a:solidFill>
                  <a:srgbClr val="52A0B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250">
                <a:solidFill>
                  <a:srgbClr val="4685A1"/>
                </a:solidFill>
                <a:latin typeface="Arial"/>
                <a:ea typeface="Arial"/>
                <a:cs typeface="Arial"/>
                <a:sym typeface="Arial"/>
              </a:rPr>
              <a:t>zer</a:t>
            </a:r>
            <a:endParaRPr sz="12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 txBox="1"/>
          <p:nvPr/>
        </p:nvSpPr>
        <p:spPr>
          <a:xfrm>
            <a:off x="8758394" y="3107884"/>
            <a:ext cx="57975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0" anchor="t" anchorCtr="0">
            <a:spAutoFit/>
          </a:bodyPr>
          <a:lstStyle/>
          <a:p>
            <a:pPr marL="12700" marR="5080" lvl="0" indent="53340" algn="l" rtl="0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32628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US" sz="1100">
                <a:solidFill>
                  <a:srgbClr val="4D4F52"/>
                </a:solidFill>
                <a:latin typeface="Arial"/>
                <a:ea typeface="Arial"/>
                <a:cs typeface="Arial"/>
                <a:sym typeface="Arial"/>
              </a:rPr>
              <a:t>med </a:t>
            </a:r>
            <a:r>
              <a:rPr lang="en-US" sz="1100">
                <a:solidFill>
                  <a:srgbClr val="363B3B"/>
                </a:solidFill>
                <a:latin typeface="Arial"/>
                <a:ea typeface="Arial"/>
                <a:cs typeface="Arial"/>
                <a:sym typeface="Arial"/>
              </a:rPr>
              <a:t>Co</a:t>
            </a:r>
            <a:r>
              <a:rPr lang="en-US" sz="1100">
                <a:solidFill>
                  <a:srgbClr val="010103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100">
                <a:solidFill>
                  <a:srgbClr val="363B3B"/>
                </a:solidFill>
                <a:latin typeface="Arial"/>
                <a:ea typeface="Arial"/>
                <a:cs typeface="Arial"/>
                <a:sym typeface="Arial"/>
              </a:rPr>
              <a:t>umns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7642240" y="5172261"/>
            <a:ext cx="57785" cy="187325"/>
          </a:xfrm>
          <a:custGeom>
            <a:avLst/>
            <a:gdLst/>
            <a:ahLst/>
            <a:cxnLst/>
            <a:rect l="l" t="t" r="r" b="b"/>
            <a:pathLst>
              <a:path w="57784" h="187325" extrusionOk="0">
                <a:moveTo>
                  <a:pt x="57373" y="187170"/>
                </a:moveTo>
                <a:lnTo>
                  <a:pt x="0" y="187170"/>
                </a:lnTo>
                <a:lnTo>
                  <a:pt x="0" y="0"/>
                </a:lnTo>
                <a:lnTo>
                  <a:pt x="57373" y="0"/>
                </a:lnTo>
                <a:lnTo>
                  <a:pt x="57373" y="187170"/>
                </a:lnTo>
                <a:close/>
              </a:path>
            </a:pathLst>
          </a:custGeom>
          <a:solidFill>
            <a:srgbClr val="0793C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4" name="Google Shape;354;p18"/>
          <p:cNvSpPr/>
          <p:nvPr/>
        </p:nvSpPr>
        <p:spPr>
          <a:xfrm>
            <a:off x="8310170" y="5172261"/>
            <a:ext cx="817880" cy="187325"/>
          </a:xfrm>
          <a:custGeom>
            <a:avLst/>
            <a:gdLst/>
            <a:ahLst/>
            <a:cxnLst/>
            <a:rect l="l" t="t" r="r" b="b"/>
            <a:pathLst>
              <a:path w="817879" h="187325" extrusionOk="0">
                <a:moveTo>
                  <a:pt x="817629" y="187170"/>
                </a:moveTo>
                <a:lnTo>
                  <a:pt x="0" y="187170"/>
                </a:lnTo>
                <a:lnTo>
                  <a:pt x="0" y="0"/>
                </a:lnTo>
                <a:lnTo>
                  <a:pt x="817629" y="0"/>
                </a:lnTo>
                <a:lnTo>
                  <a:pt x="817629" y="187170"/>
                </a:lnTo>
                <a:close/>
              </a:path>
            </a:pathLst>
          </a:custGeom>
          <a:solidFill>
            <a:srgbClr val="0793C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5" name="Google Shape;355;p18"/>
          <p:cNvSpPr/>
          <p:nvPr/>
        </p:nvSpPr>
        <p:spPr>
          <a:xfrm>
            <a:off x="9530795" y="5172261"/>
            <a:ext cx="19685" cy="187325"/>
          </a:xfrm>
          <a:custGeom>
            <a:avLst/>
            <a:gdLst/>
            <a:ahLst/>
            <a:cxnLst/>
            <a:rect l="l" t="t" r="r" b="b"/>
            <a:pathLst>
              <a:path w="19684" h="187325" extrusionOk="0">
                <a:moveTo>
                  <a:pt x="19124" y="187170"/>
                </a:moveTo>
                <a:lnTo>
                  <a:pt x="0" y="187170"/>
                </a:lnTo>
                <a:lnTo>
                  <a:pt x="0" y="0"/>
                </a:lnTo>
                <a:lnTo>
                  <a:pt x="19124" y="0"/>
                </a:lnTo>
                <a:lnTo>
                  <a:pt x="19124" y="187170"/>
                </a:lnTo>
                <a:close/>
              </a:path>
            </a:pathLst>
          </a:custGeom>
          <a:solidFill>
            <a:srgbClr val="0793C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19"/>
          <p:cNvGrpSpPr/>
          <p:nvPr/>
        </p:nvGrpSpPr>
        <p:grpSpPr>
          <a:xfrm>
            <a:off x="5658991" y="1661240"/>
            <a:ext cx="4084001" cy="1817636"/>
            <a:chOff x="5435980" y="1318254"/>
            <a:chExt cx="4084001" cy="1817636"/>
          </a:xfrm>
        </p:grpSpPr>
        <p:pic>
          <p:nvPicPr>
            <p:cNvPr id="361" name="Google Shape;361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435980" y="2748695"/>
              <a:ext cx="628299" cy="953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6285" y="1318254"/>
              <a:ext cx="437565" cy="729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477886" y="1677282"/>
              <a:ext cx="953669" cy="2692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1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978650" y="2462702"/>
              <a:ext cx="920010" cy="5497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1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2410" y="2748802"/>
              <a:ext cx="897571" cy="2636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19"/>
            <p:cNvSpPr/>
            <p:nvPr/>
          </p:nvSpPr>
          <p:spPr>
            <a:xfrm>
              <a:off x="6229700" y="2776863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w="120000" h="337185" extrusionOk="0">
                  <a:moveTo>
                    <a:pt x="0" y="336588"/>
                  </a:moveTo>
                  <a:lnTo>
                    <a:pt x="0" y="0"/>
                  </a:lnTo>
                </a:path>
              </a:pathLst>
            </a:custGeom>
            <a:noFill/>
            <a:ln w="16825" cap="flat" cmpd="sng">
              <a:solidFill>
                <a:srgbClr val="4B4B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7371298" y="1994292"/>
              <a:ext cx="1167130" cy="0"/>
            </a:xfrm>
            <a:custGeom>
              <a:avLst/>
              <a:gdLst/>
              <a:ahLst/>
              <a:cxnLst/>
              <a:rect l="l" t="t" r="r" b="b"/>
              <a:pathLst>
                <a:path w="1167129" h="120000" extrusionOk="0">
                  <a:moveTo>
                    <a:pt x="0" y="0"/>
                  </a:moveTo>
                  <a:lnTo>
                    <a:pt x="1166837" y="0"/>
                  </a:lnTo>
                </a:path>
              </a:pathLst>
            </a:custGeom>
            <a:noFill/>
            <a:ln w="168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8" name="Google Shape;368;p19"/>
            <p:cNvSpPr/>
            <p:nvPr/>
          </p:nvSpPr>
          <p:spPr>
            <a:xfrm>
              <a:off x="7954718" y="2748813"/>
              <a:ext cx="549910" cy="0"/>
            </a:xfrm>
            <a:custGeom>
              <a:avLst/>
              <a:gdLst/>
              <a:ahLst/>
              <a:cxnLst/>
              <a:rect l="l" t="t" r="r" b="b"/>
              <a:pathLst>
                <a:path w="549909" h="120000" extrusionOk="0">
                  <a:moveTo>
                    <a:pt x="0" y="0"/>
                  </a:moveTo>
                  <a:lnTo>
                    <a:pt x="549757" y="0"/>
                  </a:lnTo>
                </a:path>
              </a:pathLst>
            </a:custGeom>
            <a:noFill/>
            <a:ln w="11200" cap="flat" cmpd="sng">
              <a:solidFill>
                <a:srgbClr val="3838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9" name="Google Shape;369;p19"/>
            <p:cNvSpPr/>
            <p:nvPr/>
          </p:nvSpPr>
          <p:spPr>
            <a:xfrm>
              <a:off x="6260555" y="2748813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 h="120000" extrusionOk="0">
                  <a:moveTo>
                    <a:pt x="0" y="0"/>
                  </a:moveTo>
                  <a:lnTo>
                    <a:pt x="639521" y="0"/>
                  </a:lnTo>
                </a:path>
              </a:pathLst>
            </a:custGeom>
            <a:noFill/>
            <a:ln w="11200" cap="flat" cmpd="sng">
              <a:solidFill>
                <a:srgbClr val="3838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0" name="Google Shape;370;p19"/>
            <p:cNvSpPr/>
            <p:nvPr/>
          </p:nvSpPr>
          <p:spPr>
            <a:xfrm>
              <a:off x="6327872" y="3135890"/>
              <a:ext cx="505459" cy="0"/>
            </a:xfrm>
            <a:custGeom>
              <a:avLst/>
              <a:gdLst/>
              <a:ahLst/>
              <a:cxnLst/>
              <a:rect l="l" t="t" r="r" b="b"/>
              <a:pathLst>
                <a:path w="505459" h="120000" extrusionOk="0">
                  <a:moveTo>
                    <a:pt x="0" y="0"/>
                  </a:moveTo>
                  <a:lnTo>
                    <a:pt x="504888" y="0"/>
                  </a:lnTo>
                </a:path>
              </a:pathLst>
            </a:custGeom>
            <a:noFill/>
            <a:ln w="11200" cap="flat" cmpd="sng">
              <a:solidFill>
                <a:srgbClr val="6B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1" name="Google Shape;371;p19"/>
            <p:cNvSpPr/>
            <p:nvPr/>
          </p:nvSpPr>
          <p:spPr>
            <a:xfrm>
              <a:off x="8061305" y="3135890"/>
              <a:ext cx="347980" cy="0"/>
            </a:xfrm>
            <a:custGeom>
              <a:avLst/>
              <a:gdLst/>
              <a:ahLst/>
              <a:cxnLst/>
              <a:rect l="l" t="t" r="r" b="b"/>
              <a:pathLst>
                <a:path w="347979" h="120000" extrusionOk="0">
                  <a:moveTo>
                    <a:pt x="0" y="0"/>
                  </a:moveTo>
                  <a:lnTo>
                    <a:pt x="347814" y="0"/>
                  </a:lnTo>
                </a:path>
              </a:pathLst>
            </a:custGeom>
            <a:noFill/>
            <a:ln w="11200" cap="flat" cmpd="sng">
              <a:solidFill>
                <a:srgbClr val="6B6B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72" name="Google Shape;372;p19" descr="$PPTXTitle"/>
          <p:cNvSpPr txBox="1">
            <a:spLocks noGrp="1"/>
          </p:cNvSpPr>
          <p:nvPr>
            <p:ph type="title"/>
          </p:nvPr>
        </p:nvSpPr>
        <p:spPr>
          <a:xfrm>
            <a:off x="223011" y="167538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Spark Streaming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p19"/>
          <p:cNvSpPr txBox="1"/>
          <p:nvPr/>
        </p:nvSpPr>
        <p:spPr>
          <a:xfrm>
            <a:off x="251079" y="1147470"/>
            <a:ext cx="4872990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81E1F"/>
                </a:solidFill>
                <a:latin typeface="Trebuchet MS"/>
                <a:ea typeface="Trebuchet MS"/>
                <a:cs typeface="Trebuchet MS"/>
                <a:sym typeface="Trebuchet MS"/>
              </a:rPr>
              <a:t>0  </a:t>
            </a:r>
            <a:r>
              <a:rPr lang="en-US" sz="1200">
                <a:solidFill>
                  <a:srgbClr val="2C70A1"/>
                </a:solidFill>
                <a:latin typeface="Trebuchet MS"/>
                <a:ea typeface="Trebuchet MS"/>
                <a:cs typeface="Trebuchet MS"/>
                <a:sym typeface="Trebuchet MS"/>
              </a:rPr>
              <a:t>Spa</a:t>
            </a:r>
            <a:r>
              <a:rPr lang="en-US" sz="1200">
                <a:solidFill>
                  <a:srgbClr val="1E618E"/>
                </a:solidFill>
                <a:latin typeface="Trebuchet MS"/>
                <a:ea typeface="Trebuchet MS"/>
                <a:cs typeface="Trebuchet MS"/>
                <a:sym typeface="Trebuchet MS"/>
              </a:rPr>
              <a:t>rk </a:t>
            </a:r>
            <a:r>
              <a:rPr lang="en-US" sz="1200">
                <a:solidFill>
                  <a:srgbClr val="2C70A1"/>
                </a:solidFill>
                <a:latin typeface="Trebuchet MS"/>
                <a:ea typeface="Trebuchet MS"/>
                <a:cs typeface="Trebuchet MS"/>
                <a:sym typeface="Trebuchet MS"/>
              </a:rPr>
              <a:t>Stream</a:t>
            </a:r>
            <a:r>
              <a:rPr lang="en-US" sz="1200">
                <a:solidFill>
                  <a:srgbClr val="346384"/>
                </a:solidFill>
                <a:latin typeface="Trebuchet MS"/>
                <a:ea typeface="Trebuchet MS"/>
                <a:cs typeface="Trebuchet MS"/>
                <a:sym typeface="Trebuchet MS"/>
              </a:rPr>
              <a:t>i</a:t>
            </a:r>
            <a:r>
              <a:rPr lang="en-US" sz="1200">
                <a:solidFill>
                  <a:srgbClr val="2C70A1"/>
                </a:solidFill>
                <a:latin typeface="Trebuchet MS"/>
                <a:ea typeface="Trebuchet MS"/>
                <a:cs typeface="Trebuchet MS"/>
                <a:sym typeface="Trebuchet MS"/>
              </a:rPr>
              <a:t>ng </a:t>
            </a:r>
            <a:r>
              <a:rPr lang="en-US" sz="1200">
                <a:solidFill>
                  <a:srgbClr val="181E1F"/>
                </a:solidFill>
                <a:latin typeface="Trebuchet MS"/>
                <a:ea typeface="Trebuchet MS"/>
                <a:cs typeface="Trebuchet MS"/>
                <a:sym typeface="Trebuchet MS"/>
              </a:rPr>
              <a:t>is used for processing </a:t>
            </a:r>
            <a:r>
              <a:rPr lang="en-US" sz="1200">
                <a:solidFill>
                  <a:srgbClr val="2C70A1"/>
                </a:solidFill>
                <a:latin typeface="Trebuchet MS"/>
                <a:ea typeface="Trebuchet MS"/>
                <a:cs typeface="Trebuchet MS"/>
                <a:sym typeface="Trebuchet MS"/>
              </a:rPr>
              <a:t>real-time stream</a:t>
            </a:r>
            <a:r>
              <a:rPr lang="en-US" sz="1200">
                <a:solidFill>
                  <a:srgbClr val="3B84B4"/>
                </a:solidFill>
                <a:latin typeface="Trebuchet MS"/>
                <a:ea typeface="Trebuchet MS"/>
                <a:cs typeface="Trebuchet MS"/>
                <a:sym typeface="Trebuchet MS"/>
              </a:rPr>
              <a:t>i</a:t>
            </a:r>
            <a:r>
              <a:rPr lang="en-US" sz="1200">
                <a:solidFill>
                  <a:srgbClr val="2C70A1"/>
                </a:solidFill>
                <a:latin typeface="Trebuchet MS"/>
                <a:ea typeface="Trebuchet MS"/>
                <a:cs typeface="Trebuchet MS"/>
                <a:sym typeface="Trebuchet MS"/>
              </a:rPr>
              <a:t>ng data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4" name="Google Shape;374;p19"/>
          <p:cNvSpPr txBox="1"/>
          <p:nvPr/>
        </p:nvSpPr>
        <p:spPr>
          <a:xfrm>
            <a:off x="251079" y="1730908"/>
            <a:ext cx="3330575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71D1E"/>
                </a:solidFill>
                <a:latin typeface="Trebuchet MS"/>
                <a:ea typeface="Trebuchet MS"/>
                <a:cs typeface="Trebuchet MS"/>
                <a:sym typeface="Trebuchet MS"/>
              </a:rPr>
              <a:t>0  It is a useful </a:t>
            </a:r>
            <a:r>
              <a:rPr lang="en-US" sz="1200">
                <a:solidFill>
                  <a:srgbClr val="2F709F"/>
                </a:solidFill>
                <a:latin typeface="Trebuchet MS"/>
                <a:ea typeface="Trebuchet MS"/>
                <a:cs typeface="Trebuchet MS"/>
                <a:sym typeface="Trebuchet MS"/>
              </a:rPr>
              <a:t>addition </a:t>
            </a:r>
            <a:r>
              <a:rPr lang="en-US" sz="1200">
                <a:solidFill>
                  <a:srgbClr val="171D1E"/>
                </a:solidFill>
                <a:latin typeface="Trebuchet MS"/>
                <a:ea typeface="Trebuchet MS"/>
                <a:cs typeface="Trebuchet MS"/>
                <a:sym typeface="Trebuchet MS"/>
              </a:rPr>
              <a:t>to the </a:t>
            </a:r>
            <a:r>
              <a:rPr lang="en-US" sz="1200">
                <a:solidFill>
                  <a:srgbClr val="2F709F"/>
                </a:solidFill>
                <a:latin typeface="Trebuchet MS"/>
                <a:ea typeface="Trebuchet MS"/>
                <a:cs typeface="Trebuchet MS"/>
                <a:sym typeface="Trebuchet MS"/>
              </a:rPr>
              <a:t>core Spark AP!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5" name="Google Shape;375;p19"/>
          <p:cNvSpPr txBox="1"/>
          <p:nvPr/>
        </p:nvSpPr>
        <p:spPr>
          <a:xfrm>
            <a:off x="256666" y="2303932"/>
            <a:ext cx="4602480" cy="419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47650" marR="5080" lvl="0" indent="-234950" algn="l" rtl="0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1D1E"/>
                </a:solidFill>
                <a:latin typeface="Trebuchet MS"/>
                <a:ea typeface="Trebuchet MS"/>
                <a:cs typeface="Trebuchet MS"/>
                <a:sym typeface="Trebuchet MS"/>
              </a:rPr>
              <a:t>0  Spark Streaming enables </a:t>
            </a:r>
            <a:r>
              <a:rPr lang="en-US" sz="1200">
                <a:solidFill>
                  <a:srgbClr val="2D6D9B"/>
                </a:solidFill>
                <a:latin typeface="Trebuchet MS"/>
                <a:ea typeface="Trebuchet MS"/>
                <a:cs typeface="Trebuchet MS"/>
                <a:sym typeface="Trebuchet MS"/>
              </a:rPr>
              <a:t>high-throughput </a:t>
            </a:r>
            <a:r>
              <a:rPr lang="en-US" sz="1200">
                <a:solidFill>
                  <a:srgbClr val="1A1D1E"/>
                </a:solidFill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lang="en-US" sz="1200">
                <a:solidFill>
                  <a:srgbClr val="2D6D9B"/>
                </a:solidFill>
                <a:latin typeface="Trebuchet MS"/>
                <a:ea typeface="Trebuchet MS"/>
                <a:cs typeface="Trebuchet MS"/>
                <a:sym typeface="Trebuchet MS"/>
              </a:rPr>
              <a:t>fa</a:t>
            </a:r>
            <a:r>
              <a:rPr lang="en-US" sz="1200">
                <a:solidFill>
                  <a:srgbClr val="2E7DB7"/>
                </a:solidFill>
                <a:latin typeface="Trebuchet MS"/>
                <a:ea typeface="Trebuchet MS"/>
                <a:cs typeface="Trebuchet MS"/>
                <a:sym typeface="Trebuchet MS"/>
              </a:rPr>
              <a:t>ul</a:t>
            </a:r>
            <a:r>
              <a:rPr lang="en-US" sz="1200">
                <a:solidFill>
                  <a:srgbClr val="2D6D9B"/>
                </a:solidFill>
                <a:latin typeface="Trebuchet MS"/>
                <a:ea typeface="Trebuchet MS"/>
                <a:cs typeface="Trebuchet MS"/>
                <a:sym typeface="Trebuchet MS"/>
              </a:rPr>
              <a:t>t-tolera</a:t>
            </a:r>
            <a:r>
              <a:rPr lang="en-US" sz="1200">
                <a:solidFill>
                  <a:srgbClr val="2E7DB7"/>
                </a:solidFill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lang="en-US" sz="1200">
                <a:solidFill>
                  <a:srgbClr val="2D6D9B"/>
                </a:solidFill>
                <a:latin typeface="Trebuchet MS"/>
                <a:ea typeface="Trebuchet MS"/>
                <a:cs typeface="Trebuchet MS"/>
                <a:sym typeface="Trebuchet MS"/>
              </a:rPr>
              <a:t>t </a:t>
            </a:r>
            <a:r>
              <a:rPr lang="en-US" sz="1200">
                <a:solidFill>
                  <a:srgbClr val="1A1D1E"/>
                </a:solidFill>
                <a:latin typeface="Trebuchet MS"/>
                <a:ea typeface="Trebuchet MS"/>
                <a:cs typeface="Trebuchet MS"/>
                <a:sym typeface="Trebuchet MS"/>
              </a:rPr>
              <a:t>stream processing of live data streams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251079" y="3089046"/>
            <a:ext cx="4553585" cy="41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2729" marR="5080" lvl="0" indent="-240665" algn="l" rtl="0">
              <a:lnSpc>
                <a:spcPct val="106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C1E1E"/>
                </a:solidFill>
                <a:latin typeface="Trebuchet MS"/>
                <a:ea typeface="Trebuchet MS"/>
                <a:cs typeface="Trebuchet MS"/>
                <a:sym typeface="Trebuchet MS"/>
              </a:rPr>
              <a:t>0  The fundamental stream unit is </a:t>
            </a:r>
            <a:r>
              <a:rPr lang="en-US" sz="1200">
                <a:solidFill>
                  <a:srgbClr val="2D6D9B"/>
                </a:solidFill>
                <a:latin typeface="Trebuchet MS"/>
                <a:ea typeface="Trebuchet MS"/>
                <a:cs typeface="Trebuchet MS"/>
                <a:sym typeface="Trebuchet MS"/>
              </a:rPr>
              <a:t>DSt</a:t>
            </a:r>
            <a:r>
              <a:rPr lang="en-US" sz="1200">
                <a:solidFill>
                  <a:srgbClr val="2F84BB"/>
                </a:solidFill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r>
              <a:rPr lang="en-US" sz="1200">
                <a:solidFill>
                  <a:srgbClr val="2D6D9B"/>
                </a:solidFill>
                <a:latin typeface="Trebuchet MS"/>
                <a:ea typeface="Trebuchet MS"/>
                <a:cs typeface="Trebuchet MS"/>
                <a:sym typeface="Trebuchet MS"/>
              </a:rPr>
              <a:t>eam </a:t>
            </a:r>
            <a:r>
              <a:rPr lang="en-US" sz="1200">
                <a:solidFill>
                  <a:srgbClr val="1C1E1E"/>
                </a:solidFill>
                <a:latin typeface="Trebuchet MS"/>
                <a:ea typeface="Trebuchet MS"/>
                <a:cs typeface="Trebuchet MS"/>
                <a:sym typeface="Trebuchet MS"/>
              </a:rPr>
              <a:t>which is basically a series of RDDs to process the real-time data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7" name="Google Shape;377;p19"/>
          <p:cNvSpPr txBox="1"/>
          <p:nvPr/>
        </p:nvSpPr>
        <p:spPr>
          <a:xfrm>
            <a:off x="6090792" y="1249451"/>
            <a:ext cx="1158240" cy="58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175" rIns="0" bIns="0" anchor="t" anchorCtr="0">
            <a:spAutoFit/>
          </a:bodyPr>
          <a:lstStyle/>
          <a:p>
            <a:pPr marL="12700" marR="5080" lvl="0" indent="0" algn="l" rtl="0">
              <a:lnSpc>
                <a:spcPct val="1126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1">
                <a:solidFill>
                  <a:srgbClr val="1C1817"/>
                </a:solidFill>
                <a:latin typeface="Arial"/>
                <a:ea typeface="Arial"/>
                <a:cs typeface="Arial"/>
                <a:sym typeface="Arial"/>
              </a:rPr>
              <a:t>Spo</a:t>
            </a:r>
            <a:r>
              <a:rPr lang="en-US" sz="1900" b="1" i="1">
                <a:solidFill>
                  <a:srgbClr val="844728"/>
                </a:solidFill>
                <a:latin typeface="Arial"/>
                <a:ea typeface="Arial"/>
                <a:cs typeface="Arial"/>
                <a:sym typeface="Arial"/>
              </a:rPr>
              <a:t>fkl </a:t>
            </a:r>
            <a:r>
              <a:rPr lang="en-US" sz="1900" b="1" i="1">
                <a:solidFill>
                  <a:srgbClr val="1C1817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9"/>
          <p:cNvSpPr txBox="1"/>
          <p:nvPr/>
        </p:nvSpPr>
        <p:spPr>
          <a:xfrm>
            <a:off x="6311772" y="2783611"/>
            <a:ext cx="532130" cy="30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marR="5080" lvl="0" indent="100330" algn="l" rtl="0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44444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Spart&lt; Streaming</a:t>
            </a:r>
            <a:endParaRPr sz="9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9" name="Google Shape;379;p19"/>
          <p:cNvSpPr txBox="1"/>
          <p:nvPr/>
        </p:nvSpPr>
        <p:spPr>
          <a:xfrm>
            <a:off x="8037448" y="2783738"/>
            <a:ext cx="379730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225" rIns="0" bIns="0" anchor="t" anchorCtr="0">
            <a:spAutoFit/>
          </a:bodyPr>
          <a:lstStyle/>
          <a:p>
            <a:pPr marL="12700" marR="5080" lvl="0" indent="27940" algn="l" rtl="0">
              <a:lnSpc>
                <a:spcPct val="1147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3E3E3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Spark Engine</a:t>
            </a:r>
            <a:endParaRPr sz="95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0" name="Google Shape;380;p19"/>
          <p:cNvSpPr txBox="1"/>
          <p:nvPr/>
        </p:nvSpPr>
        <p:spPr>
          <a:xfrm>
            <a:off x="6508115" y="3272942"/>
            <a:ext cx="190246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Figure: </a:t>
            </a:r>
            <a:r>
              <a:rPr lang="en-US" sz="1000" i="1">
                <a:solidFill>
                  <a:srgbClr val="2D2D2D"/>
                </a:solidFill>
                <a:latin typeface="Trebuchet MS"/>
                <a:ea typeface="Trebuchet MS"/>
                <a:cs typeface="Trebuchet MS"/>
                <a:sym typeface="Trebuchet MS"/>
              </a:rPr>
              <a:t>Streams In Spark Streaming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0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86" name="Google Shape;386;p20" descr="$PPTXTitle"/>
          <p:cNvSpPr txBox="1">
            <a:spLocks noGrp="1"/>
          </p:cNvSpPr>
          <p:nvPr>
            <p:ph type="title"/>
          </p:nvPr>
        </p:nvSpPr>
        <p:spPr>
          <a:xfrm>
            <a:off x="671433" y="292438"/>
            <a:ext cx="8423433" cy="1061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59806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Introducing Spark Streaming</a:t>
            </a:r>
            <a:endParaRPr/>
          </a:p>
        </p:txBody>
      </p:sp>
      <p:sp>
        <p:nvSpPr>
          <p:cNvPr id="387" name="Google Shape;387;p20"/>
          <p:cNvSpPr/>
          <p:nvPr/>
        </p:nvSpPr>
        <p:spPr>
          <a:xfrm>
            <a:off x="535925" y="1343451"/>
            <a:ext cx="8694449" cy="14647"/>
          </a:xfrm>
          <a:custGeom>
            <a:avLst/>
            <a:gdLst/>
            <a:ahLst/>
            <a:cxnLst/>
            <a:rect l="l" t="t" r="r" b="b"/>
            <a:pathLst>
              <a:path w="8694449" h="14647" fill="none" extrusionOk="0">
                <a:moveTo>
                  <a:pt x="0" y="0"/>
                </a:moveTo>
                <a:cubicBezTo>
                  <a:pt x="162145" y="-28804"/>
                  <a:pt x="311019" y="-12461"/>
                  <a:pt x="581859" y="0"/>
                </a:cubicBezTo>
                <a:cubicBezTo>
                  <a:pt x="852699" y="12461"/>
                  <a:pt x="1112522" y="31991"/>
                  <a:pt x="1250663" y="0"/>
                </a:cubicBezTo>
                <a:cubicBezTo>
                  <a:pt x="1388804" y="-31991"/>
                  <a:pt x="1705603" y="15214"/>
                  <a:pt x="2006411" y="0"/>
                </a:cubicBezTo>
                <a:cubicBezTo>
                  <a:pt x="2307219" y="-15214"/>
                  <a:pt x="2442886" y="13203"/>
                  <a:pt x="2588271" y="0"/>
                </a:cubicBezTo>
                <a:cubicBezTo>
                  <a:pt x="2733656" y="-13203"/>
                  <a:pt x="2946018" y="1392"/>
                  <a:pt x="3257074" y="0"/>
                </a:cubicBezTo>
                <a:cubicBezTo>
                  <a:pt x="3568130" y="-1392"/>
                  <a:pt x="3765049" y="-17408"/>
                  <a:pt x="4099767" y="0"/>
                </a:cubicBezTo>
                <a:cubicBezTo>
                  <a:pt x="4434485" y="17408"/>
                  <a:pt x="4433621" y="15782"/>
                  <a:pt x="4594682" y="0"/>
                </a:cubicBezTo>
                <a:cubicBezTo>
                  <a:pt x="4755743" y="-15782"/>
                  <a:pt x="5027507" y="12175"/>
                  <a:pt x="5350430" y="0"/>
                </a:cubicBezTo>
                <a:cubicBezTo>
                  <a:pt x="5673353" y="-12175"/>
                  <a:pt x="5680975" y="-17519"/>
                  <a:pt x="5845345" y="0"/>
                </a:cubicBezTo>
                <a:cubicBezTo>
                  <a:pt x="6009715" y="17519"/>
                  <a:pt x="6206327" y="-4943"/>
                  <a:pt x="6514149" y="0"/>
                </a:cubicBezTo>
                <a:cubicBezTo>
                  <a:pt x="6821971" y="4943"/>
                  <a:pt x="6944369" y="-37680"/>
                  <a:pt x="7269897" y="0"/>
                </a:cubicBezTo>
                <a:cubicBezTo>
                  <a:pt x="7595425" y="37680"/>
                  <a:pt x="7516962" y="2241"/>
                  <a:pt x="7677867" y="0"/>
                </a:cubicBezTo>
                <a:cubicBezTo>
                  <a:pt x="7838772" y="-2241"/>
                  <a:pt x="7990688" y="7404"/>
                  <a:pt x="8085838" y="0"/>
                </a:cubicBezTo>
                <a:cubicBezTo>
                  <a:pt x="8180988" y="-7404"/>
                  <a:pt x="8558939" y="15726"/>
                  <a:pt x="8694449" y="0"/>
                </a:cubicBezTo>
                <a:cubicBezTo>
                  <a:pt x="8694081" y="5822"/>
                  <a:pt x="8693908" y="7361"/>
                  <a:pt x="8694449" y="14647"/>
                </a:cubicBezTo>
                <a:cubicBezTo>
                  <a:pt x="8387371" y="-2845"/>
                  <a:pt x="8235841" y="-12859"/>
                  <a:pt x="7938701" y="14647"/>
                </a:cubicBezTo>
                <a:cubicBezTo>
                  <a:pt x="7641561" y="42153"/>
                  <a:pt x="7459896" y="39159"/>
                  <a:pt x="7269897" y="14647"/>
                </a:cubicBezTo>
                <a:cubicBezTo>
                  <a:pt x="7079898" y="-9865"/>
                  <a:pt x="6837550" y="1311"/>
                  <a:pt x="6688038" y="14647"/>
                </a:cubicBezTo>
                <a:cubicBezTo>
                  <a:pt x="6538526" y="27983"/>
                  <a:pt x="6202723" y="3336"/>
                  <a:pt x="5932289" y="14647"/>
                </a:cubicBezTo>
                <a:cubicBezTo>
                  <a:pt x="5661855" y="25958"/>
                  <a:pt x="5477655" y="39573"/>
                  <a:pt x="5263486" y="14647"/>
                </a:cubicBezTo>
                <a:cubicBezTo>
                  <a:pt x="5049317" y="-10279"/>
                  <a:pt x="4737808" y="6923"/>
                  <a:pt x="4420793" y="14647"/>
                </a:cubicBezTo>
                <a:cubicBezTo>
                  <a:pt x="4103778" y="22371"/>
                  <a:pt x="3912027" y="4670"/>
                  <a:pt x="3578100" y="14647"/>
                </a:cubicBezTo>
                <a:cubicBezTo>
                  <a:pt x="3244173" y="24624"/>
                  <a:pt x="3041875" y="-22867"/>
                  <a:pt x="2822352" y="14647"/>
                </a:cubicBezTo>
                <a:cubicBezTo>
                  <a:pt x="2602829" y="52161"/>
                  <a:pt x="2331703" y="-11229"/>
                  <a:pt x="2066604" y="14647"/>
                </a:cubicBezTo>
                <a:cubicBezTo>
                  <a:pt x="1801505" y="40523"/>
                  <a:pt x="1521287" y="24462"/>
                  <a:pt x="1310855" y="14647"/>
                </a:cubicBezTo>
                <a:cubicBezTo>
                  <a:pt x="1100423" y="4832"/>
                  <a:pt x="986843" y="28055"/>
                  <a:pt x="815941" y="14647"/>
                </a:cubicBezTo>
                <a:cubicBezTo>
                  <a:pt x="645039" y="1239"/>
                  <a:pt x="289657" y="-7475"/>
                  <a:pt x="0" y="14647"/>
                </a:cubicBezTo>
                <a:cubicBezTo>
                  <a:pt x="226" y="11367"/>
                  <a:pt x="-224" y="4027"/>
                  <a:pt x="0" y="0"/>
                </a:cubicBezTo>
                <a:close/>
              </a:path>
              <a:path w="8694449" h="14647" extrusionOk="0">
                <a:moveTo>
                  <a:pt x="0" y="0"/>
                </a:moveTo>
                <a:cubicBezTo>
                  <a:pt x="119429" y="-12740"/>
                  <a:pt x="303234" y="10059"/>
                  <a:pt x="581859" y="0"/>
                </a:cubicBezTo>
                <a:cubicBezTo>
                  <a:pt x="860484" y="-10059"/>
                  <a:pt x="845958" y="-14377"/>
                  <a:pt x="989830" y="0"/>
                </a:cubicBezTo>
                <a:cubicBezTo>
                  <a:pt x="1133702" y="14377"/>
                  <a:pt x="1623312" y="-34974"/>
                  <a:pt x="1832522" y="0"/>
                </a:cubicBezTo>
                <a:cubicBezTo>
                  <a:pt x="2041732" y="34974"/>
                  <a:pt x="2233237" y="12682"/>
                  <a:pt x="2414382" y="0"/>
                </a:cubicBezTo>
                <a:cubicBezTo>
                  <a:pt x="2595527" y="-12682"/>
                  <a:pt x="2739878" y="-5287"/>
                  <a:pt x="2996241" y="0"/>
                </a:cubicBezTo>
                <a:cubicBezTo>
                  <a:pt x="3252604" y="5287"/>
                  <a:pt x="3472321" y="-2426"/>
                  <a:pt x="3838934" y="0"/>
                </a:cubicBezTo>
                <a:cubicBezTo>
                  <a:pt x="4205547" y="2426"/>
                  <a:pt x="4198686" y="21774"/>
                  <a:pt x="4333848" y="0"/>
                </a:cubicBezTo>
                <a:cubicBezTo>
                  <a:pt x="4469010" y="-21774"/>
                  <a:pt x="4890186" y="-10934"/>
                  <a:pt x="5176541" y="0"/>
                </a:cubicBezTo>
                <a:cubicBezTo>
                  <a:pt x="5462896" y="10934"/>
                  <a:pt x="5778726" y="-34983"/>
                  <a:pt x="6019234" y="0"/>
                </a:cubicBezTo>
                <a:cubicBezTo>
                  <a:pt x="6259742" y="34983"/>
                  <a:pt x="6398931" y="-5529"/>
                  <a:pt x="6688038" y="0"/>
                </a:cubicBezTo>
                <a:cubicBezTo>
                  <a:pt x="6977145" y="5529"/>
                  <a:pt x="7194620" y="-7281"/>
                  <a:pt x="7530730" y="0"/>
                </a:cubicBezTo>
                <a:cubicBezTo>
                  <a:pt x="7866840" y="7281"/>
                  <a:pt x="7893287" y="4079"/>
                  <a:pt x="8112590" y="0"/>
                </a:cubicBezTo>
                <a:cubicBezTo>
                  <a:pt x="8331893" y="-4079"/>
                  <a:pt x="8478633" y="-27372"/>
                  <a:pt x="8694449" y="0"/>
                </a:cubicBezTo>
                <a:cubicBezTo>
                  <a:pt x="8694837" y="6839"/>
                  <a:pt x="8693919" y="10305"/>
                  <a:pt x="8694449" y="14647"/>
                </a:cubicBezTo>
                <a:cubicBezTo>
                  <a:pt x="8431883" y="2023"/>
                  <a:pt x="8278035" y="35547"/>
                  <a:pt x="8025645" y="14647"/>
                </a:cubicBezTo>
                <a:cubicBezTo>
                  <a:pt x="7773255" y="-6253"/>
                  <a:pt x="7549306" y="40900"/>
                  <a:pt x="7356841" y="14647"/>
                </a:cubicBezTo>
                <a:cubicBezTo>
                  <a:pt x="7164376" y="-11606"/>
                  <a:pt x="6750974" y="-18406"/>
                  <a:pt x="6514149" y="14647"/>
                </a:cubicBezTo>
                <a:cubicBezTo>
                  <a:pt x="6277324" y="47700"/>
                  <a:pt x="6027179" y="21286"/>
                  <a:pt x="5845345" y="14647"/>
                </a:cubicBezTo>
                <a:cubicBezTo>
                  <a:pt x="5663511" y="8008"/>
                  <a:pt x="5563200" y="602"/>
                  <a:pt x="5437375" y="14647"/>
                </a:cubicBezTo>
                <a:cubicBezTo>
                  <a:pt x="5311550" y="28693"/>
                  <a:pt x="5178501" y="33222"/>
                  <a:pt x="4942460" y="14647"/>
                </a:cubicBezTo>
                <a:cubicBezTo>
                  <a:pt x="4706420" y="-3928"/>
                  <a:pt x="4292113" y="20781"/>
                  <a:pt x="4099767" y="14647"/>
                </a:cubicBezTo>
                <a:cubicBezTo>
                  <a:pt x="3907421" y="8513"/>
                  <a:pt x="3740436" y="-5461"/>
                  <a:pt x="3430963" y="14647"/>
                </a:cubicBezTo>
                <a:cubicBezTo>
                  <a:pt x="3121490" y="34755"/>
                  <a:pt x="3056979" y="12478"/>
                  <a:pt x="2936049" y="14647"/>
                </a:cubicBezTo>
                <a:cubicBezTo>
                  <a:pt x="2815119" y="16816"/>
                  <a:pt x="2410059" y="29030"/>
                  <a:pt x="2267245" y="14647"/>
                </a:cubicBezTo>
                <a:cubicBezTo>
                  <a:pt x="2124431" y="264"/>
                  <a:pt x="1956755" y="13963"/>
                  <a:pt x="1859274" y="14647"/>
                </a:cubicBezTo>
                <a:cubicBezTo>
                  <a:pt x="1761793" y="15331"/>
                  <a:pt x="1584592" y="26814"/>
                  <a:pt x="1451304" y="14647"/>
                </a:cubicBezTo>
                <a:cubicBezTo>
                  <a:pt x="1318016" y="2481"/>
                  <a:pt x="968868" y="3648"/>
                  <a:pt x="782500" y="14647"/>
                </a:cubicBezTo>
                <a:cubicBezTo>
                  <a:pt x="596132" y="25646"/>
                  <a:pt x="248680" y="-18497"/>
                  <a:pt x="0" y="14647"/>
                </a:cubicBezTo>
                <a:cubicBezTo>
                  <a:pt x="-646" y="10028"/>
                  <a:pt x="-554" y="36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88" name="Google Shape;388;p20"/>
          <p:cNvSpPr txBox="1"/>
          <p:nvPr/>
        </p:nvSpPr>
        <p:spPr>
          <a:xfrm>
            <a:off x="671433" y="1545293"/>
            <a:ext cx="8423433" cy="3405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93257" lvl="0" indent="-19325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processing of endless streams of data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3257" lvl="0" indent="-19325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Goals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92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latency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92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One-time Event Processing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92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Scalability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92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with Spark Core and DataFrame APIs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3257" marR="4069" lvl="0" indent="-19325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 unified programming model for both stream and batch operations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1" descr="$PPTXTitle"/>
          <p:cNvSpPr txBox="1">
            <a:spLocks noGrp="1"/>
          </p:cNvSpPr>
          <p:nvPr>
            <p:ph type="title"/>
          </p:nvPr>
        </p:nvSpPr>
        <p:spPr>
          <a:xfrm>
            <a:off x="692365" y="155575"/>
            <a:ext cx="5669230" cy="4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675" rIns="0" bIns="0" anchor="t" anchorCtr="0">
            <a:spAutoFit/>
          </a:bodyPr>
          <a:lstStyle/>
          <a:p>
            <a:pPr marL="382446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</a:rPr>
              <a:t>Evolution of Spark Stream Engine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761543" y="1348735"/>
            <a:ext cx="3221905" cy="636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275" rIns="0" bIns="0" anchor="t" anchorCtr="0">
            <a:spAutoFit/>
          </a:bodyPr>
          <a:lstStyle/>
          <a:p>
            <a:pPr marL="193257" marR="4069" lvl="0" indent="-183086" algn="l" rtl="0">
              <a:lnSpc>
                <a:spcPct val="108117"/>
              </a:lnSpc>
              <a:spcBef>
                <a:spcPts val="0"/>
              </a:spcBef>
              <a:spcAft>
                <a:spcPts val="0"/>
              </a:spcAft>
              <a:buSzPts val="2082"/>
              <a:buFont typeface="Arial"/>
              <a:buChar char="•"/>
            </a:pPr>
            <a:r>
              <a:rPr lang="en-US" sz="2082">
                <a:latin typeface="Arial"/>
                <a:ea typeface="Arial"/>
                <a:cs typeface="Arial"/>
                <a:sym typeface="Arial"/>
              </a:rPr>
              <a:t>Traditional Record-at-a-time Processing Model</a:t>
            </a:r>
            <a:endParaRPr sz="2082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5138308" y="1348735"/>
            <a:ext cx="3447718" cy="636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275" rIns="0" bIns="0" anchor="t" anchorCtr="0">
            <a:spAutoFit/>
          </a:bodyPr>
          <a:lstStyle/>
          <a:p>
            <a:pPr marL="193257" marR="4069" lvl="0" indent="-183086" algn="l" rtl="0">
              <a:lnSpc>
                <a:spcPct val="108117"/>
              </a:lnSpc>
              <a:spcBef>
                <a:spcPts val="0"/>
              </a:spcBef>
              <a:spcAft>
                <a:spcPts val="0"/>
              </a:spcAft>
              <a:buSzPts val="2082"/>
              <a:buFont typeface="Arial"/>
              <a:buChar char="•"/>
            </a:pPr>
            <a:r>
              <a:rPr lang="en-US" sz="2082">
                <a:latin typeface="Arial"/>
                <a:ea typeface="Arial"/>
                <a:cs typeface="Arial"/>
                <a:sym typeface="Arial"/>
              </a:rPr>
              <a:t>Advent of Micro-Batch Stream Processing</a:t>
            </a:r>
            <a:endParaRPr sz="2082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894" y="2112878"/>
            <a:ext cx="9066699" cy="214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02" name="Google Shape;402;p22" descr="$PPTXTitle"/>
          <p:cNvSpPr txBox="1">
            <a:spLocks noGrp="1"/>
          </p:cNvSpPr>
          <p:nvPr>
            <p:ph type="title"/>
          </p:nvPr>
        </p:nvSpPr>
        <p:spPr>
          <a:xfrm>
            <a:off x="458590" y="191052"/>
            <a:ext cx="8826294" cy="114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017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latin typeface="Calibri"/>
                <a:ea typeface="Calibri"/>
                <a:cs typeface="Calibri"/>
                <a:sym typeface="Calibri"/>
              </a:rPr>
              <a:t>Spark Streaming Architecture</a:t>
            </a: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458590" y="1346792"/>
            <a:ext cx="8789670" cy="14647"/>
          </a:xfrm>
          <a:custGeom>
            <a:avLst/>
            <a:gdLst/>
            <a:ahLst/>
            <a:cxnLst/>
            <a:rect l="l" t="t" r="r" b="b"/>
            <a:pathLst>
              <a:path w="8789670" h="14647" fill="none" extrusionOk="0">
                <a:moveTo>
                  <a:pt x="0" y="0"/>
                </a:moveTo>
                <a:cubicBezTo>
                  <a:pt x="328666" y="7155"/>
                  <a:pt x="562138" y="-11652"/>
                  <a:pt x="764025" y="0"/>
                </a:cubicBezTo>
                <a:cubicBezTo>
                  <a:pt x="965912" y="11652"/>
                  <a:pt x="1233648" y="-38761"/>
                  <a:pt x="1615947" y="0"/>
                </a:cubicBezTo>
                <a:cubicBezTo>
                  <a:pt x="1998246" y="38761"/>
                  <a:pt x="1905172" y="19458"/>
                  <a:pt x="2028385" y="0"/>
                </a:cubicBezTo>
                <a:cubicBezTo>
                  <a:pt x="2151598" y="-19458"/>
                  <a:pt x="2427862" y="-17990"/>
                  <a:pt x="2616617" y="0"/>
                </a:cubicBezTo>
                <a:cubicBezTo>
                  <a:pt x="2805372" y="17990"/>
                  <a:pt x="2839009" y="12197"/>
                  <a:pt x="3029056" y="0"/>
                </a:cubicBezTo>
                <a:cubicBezTo>
                  <a:pt x="3219103" y="-12197"/>
                  <a:pt x="3568147" y="-11656"/>
                  <a:pt x="3705184" y="0"/>
                </a:cubicBezTo>
                <a:cubicBezTo>
                  <a:pt x="3842221" y="11656"/>
                  <a:pt x="4057969" y="-13277"/>
                  <a:pt x="4293416" y="0"/>
                </a:cubicBezTo>
                <a:cubicBezTo>
                  <a:pt x="4528863" y="13277"/>
                  <a:pt x="4821818" y="12465"/>
                  <a:pt x="5057441" y="0"/>
                </a:cubicBezTo>
                <a:cubicBezTo>
                  <a:pt x="5293064" y="-12465"/>
                  <a:pt x="5586319" y="33422"/>
                  <a:pt x="5909363" y="0"/>
                </a:cubicBezTo>
                <a:cubicBezTo>
                  <a:pt x="6232407" y="-33422"/>
                  <a:pt x="6337540" y="-29198"/>
                  <a:pt x="6585491" y="0"/>
                </a:cubicBezTo>
                <a:cubicBezTo>
                  <a:pt x="6833442" y="29198"/>
                  <a:pt x="7121547" y="-25776"/>
                  <a:pt x="7437413" y="0"/>
                </a:cubicBezTo>
                <a:cubicBezTo>
                  <a:pt x="7753279" y="25776"/>
                  <a:pt x="7856093" y="-19167"/>
                  <a:pt x="8113542" y="0"/>
                </a:cubicBezTo>
                <a:cubicBezTo>
                  <a:pt x="8370991" y="19167"/>
                  <a:pt x="8454659" y="24200"/>
                  <a:pt x="8789670" y="0"/>
                </a:cubicBezTo>
                <a:cubicBezTo>
                  <a:pt x="8789729" y="3399"/>
                  <a:pt x="8789848" y="9725"/>
                  <a:pt x="8789670" y="14647"/>
                </a:cubicBezTo>
                <a:cubicBezTo>
                  <a:pt x="8651207" y="5199"/>
                  <a:pt x="8386697" y="-18977"/>
                  <a:pt x="8113542" y="14647"/>
                </a:cubicBezTo>
                <a:cubicBezTo>
                  <a:pt x="7840387" y="48271"/>
                  <a:pt x="7789150" y="32743"/>
                  <a:pt x="7613206" y="14647"/>
                </a:cubicBezTo>
                <a:cubicBezTo>
                  <a:pt x="7437262" y="-3449"/>
                  <a:pt x="7311068" y="29379"/>
                  <a:pt x="7200768" y="14647"/>
                </a:cubicBezTo>
                <a:cubicBezTo>
                  <a:pt x="7090468" y="-85"/>
                  <a:pt x="6864205" y="5833"/>
                  <a:pt x="6612536" y="14647"/>
                </a:cubicBezTo>
                <a:cubicBezTo>
                  <a:pt x="6360867" y="23461"/>
                  <a:pt x="6244565" y="-4131"/>
                  <a:pt x="5936408" y="14647"/>
                </a:cubicBezTo>
                <a:cubicBezTo>
                  <a:pt x="5628251" y="33425"/>
                  <a:pt x="5613244" y="11527"/>
                  <a:pt x="5348176" y="14647"/>
                </a:cubicBezTo>
                <a:cubicBezTo>
                  <a:pt x="5083108" y="17767"/>
                  <a:pt x="4959899" y="10360"/>
                  <a:pt x="4847841" y="14647"/>
                </a:cubicBezTo>
                <a:cubicBezTo>
                  <a:pt x="4735783" y="18934"/>
                  <a:pt x="4374048" y="-18183"/>
                  <a:pt x="3995919" y="14647"/>
                </a:cubicBezTo>
                <a:cubicBezTo>
                  <a:pt x="3617790" y="47477"/>
                  <a:pt x="3490199" y="32443"/>
                  <a:pt x="3319791" y="14647"/>
                </a:cubicBezTo>
                <a:cubicBezTo>
                  <a:pt x="3149383" y="-3149"/>
                  <a:pt x="2906715" y="1697"/>
                  <a:pt x="2555766" y="14647"/>
                </a:cubicBezTo>
                <a:cubicBezTo>
                  <a:pt x="2204818" y="27597"/>
                  <a:pt x="2346199" y="26380"/>
                  <a:pt x="2143327" y="14647"/>
                </a:cubicBezTo>
                <a:cubicBezTo>
                  <a:pt x="1940455" y="2914"/>
                  <a:pt x="1854579" y="5004"/>
                  <a:pt x="1642992" y="14647"/>
                </a:cubicBezTo>
                <a:cubicBezTo>
                  <a:pt x="1431406" y="24290"/>
                  <a:pt x="1260719" y="22698"/>
                  <a:pt x="966864" y="14647"/>
                </a:cubicBezTo>
                <a:cubicBezTo>
                  <a:pt x="673009" y="6596"/>
                  <a:pt x="375730" y="62132"/>
                  <a:pt x="0" y="14647"/>
                </a:cubicBezTo>
                <a:cubicBezTo>
                  <a:pt x="-358" y="7760"/>
                  <a:pt x="572" y="4131"/>
                  <a:pt x="0" y="0"/>
                </a:cubicBezTo>
                <a:close/>
              </a:path>
              <a:path w="8789670" h="14647" extrusionOk="0">
                <a:moveTo>
                  <a:pt x="0" y="0"/>
                </a:moveTo>
                <a:cubicBezTo>
                  <a:pt x="133851" y="19843"/>
                  <a:pt x="320757" y="-11520"/>
                  <a:pt x="500335" y="0"/>
                </a:cubicBezTo>
                <a:cubicBezTo>
                  <a:pt x="679914" y="11520"/>
                  <a:pt x="803259" y="7957"/>
                  <a:pt x="912773" y="0"/>
                </a:cubicBezTo>
                <a:cubicBezTo>
                  <a:pt x="1022287" y="-7957"/>
                  <a:pt x="1237756" y="-17143"/>
                  <a:pt x="1413108" y="0"/>
                </a:cubicBezTo>
                <a:cubicBezTo>
                  <a:pt x="1588461" y="17143"/>
                  <a:pt x="1763098" y="-21370"/>
                  <a:pt x="2089237" y="0"/>
                </a:cubicBezTo>
                <a:cubicBezTo>
                  <a:pt x="2415376" y="21370"/>
                  <a:pt x="2581198" y="-11283"/>
                  <a:pt x="2853262" y="0"/>
                </a:cubicBezTo>
                <a:cubicBezTo>
                  <a:pt x="3125327" y="11283"/>
                  <a:pt x="3369675" y="-8320"/>
                  <a:pt x="3705184" y="0"/>
                </a:cubicBezTo>
                <a:cubicBezTo>
                  <a:pt x="4040693" y="8320"/>
                  <a:pt x="4135129" y="41926"/>
                  <a:pt x="4557106" y="0"/>
                </a:cubicBezTo>
                <a:cubicBezTo>
                  <a:pt x="4979083" y="-41926"/>
                  <a:pt x="4898655" y="-12210"/>
                  <a:pt x="5145338" y="0"/>
                </a:cubicBezTo>
                <a:cubicBezTo>
                  <a:pt x="5392021" y="12210"/>
                  <a:pt x="5693571" y="-10299"/>
                  <a:pt x="5909363" y="0"/>
                </a:cubicBezTo>
                <a:cubicBezTo>
                  <a:pt x="6125155" y="10299"/>
                  <a:pt x="6338031" y="4463"/>
                  <a:pt x="6585491" y="0"/>
                </a:cubicBezTo>
                <a:cubicBezTo>
                  <a:pt x="6832951" y="-4463"/>
                  <a:pt x="6924528" y="-17388"/>
                  <a:pt x="7173723" y="0"/>
                </a:cubicBezTo>
                <a:cubicBezTo>
                  <a:pt x="7422918" y="17388"/>
                  <a:pt x="7724496" y="6455"/>
                  <a:pt x="7937748" y="0"/>
                </a:cubicBezTo>
                <a:cubicBezTo>
                  <a:pt x="8151000" y="-6455"/>
                  <a:pt x="8388519" y="22324"/>
                  <a:pt x="8789670" y="0"/>
                </a:cubicBezTo>
                <a:cubicBezTo>
                  <a:pt x="8790338" y="5915"/>
                  <a:pt x="8790085" y="11687"/>
                  <a:pt x="8789670" y="14647"/>
                </a:cubicBezTo>
                <a:cubicBezTo>
                  <a:pt x="8552961" y="-7361"/>
                  <a:pt x="8436400" y="-7620"/>
                  <a:pt x="8289335" y="14647"/>
                </a:cubicBezTo>
                <a:cubicBezTo>
                  <a:pt x="8142270" y="36914"/>
                  <a:pt x="7623001" y="29078"/>
                  <a:pt x="7437413" y="14647"/>
                </a:cubicBezTo>
                <a:cubicBezTo>
                  <a:pt x="7251825" y="216"/>
                  <a:pt x="7076701" y="685"/>
                  <a:pt x="6937078" y="14647"/>
                </a:cubicBezTo>
                <a:cubicBezTo>
                  <a:pt x="6797455" y="28609"/>
                  <a:pt x="6355614" y="41460"/>
                  <a:pt x="6173053" y="14647"/>
                </a:cubicBezTo>
                <a:cubicBezTo>
                  <a:pt x="5990493" y="-12166"/>
                  <a:pt x="5866524" y="29555"/>
                  <a:pt x="5760614" y="14647"/>
                </a:cubicBezTo>
                <a:cubicBezTo>
                  <a:pt x="5654704" y="-261"/>
                  <a:pt x="5247842" y="41331"/>
                  <a:pt x="5084486" y="14647"/>
                </a:cubicBezTo>
                <a:cubicBezTo>
                  <a:pt x="4921130" y="-12037"/>
                  <a:pt x="4713267" y="14479"/>
                  <a:pt x="4584151" y="14647"/>
                </a:cubicBezTo>
                <a:cubicBezTo>
                  <a:pt x="4455036" y="14815"/>
                  <a:pt x="4018075" y="-24699"/>
                  <a:pt x="3732229" y="14647"/>
                </a:cubicBezTo>
                <a:cubicBezTo>
                  <a:pt x="3446383" y="53993"/>
                  <a:pt x="3448441" y="4169"/>
                  <a:pt x="3319791" y="14647"/>
                </a:cubicBezTo>
                <a:cubicBezTo>
                  <a:pt x="3191141" y="25125"/>
                  <a:pt x="2908560" y="-2236"/>
                  <a:pt x="2643662" y="14647"/>
                </a:cubicBezTo>
                <a:cubicBezTo>
                  <a:pt x="2378764" y="31530"/>
                  <a:pt x="2392235" y="10994"/>
                  <a:pt x="2231224" y="14647"/>
                </a:cubicBezTo>
                <a:cubicBezTo>
                  <a:pt x="2070213" y="18300"/>
                  <a:pt x="1949675" y="29009"/>
                  <a:pt x="1730889" y="14647"/>
                </a:cubicBezTo>
                <a:cubicBezTo>
                  <a:pt x="1512103" y="285"/>
                  <a:pt x="1346878" y="27136"/>
                  <a:pt x="966864" y="14647"/>
                </a:cubicBezTo>
                <a:cubicBezTo>
                  <a:pt x="586850" y="2158"/>
                  <a:pt x="462346" y="56596"/>
                  <a:pt x="0" y="14647"/>
                </a:cubicBezTo>
                <a:cubicBezTo>
                  <a:pt x="-6" y="10053"/>
                  <a:pt x="75" y="3650"/>
                  <a:pt x="0" y="0"/>
                </a:cubicBezTo>
                <a:close/>
              </a:path>
            </a:pathLst>
          </a:custGeom>
          <a:solidFill>
            <a:schemeClr val="accent2">
              <a:alpha val="74901"/>
            </a:schemeClr>
          </a:solidFill>
          <a:ln w="44450" cap="rnd" cmpd="sng">
            <a:solidFill>
              <a:schemeClr val="accent2">
                <a:alpha val="74901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458590" y="1658970"/>
            <a:ext cx="5377835" cy="3299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93257" lvl="0" indent="-19325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Discretized Steams (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Dstreams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9429" marR="4069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Batches if data stored in multiple RDDs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9429" marR="365663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batch represents a time window, typically in seconds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9429" marR="86457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resultant RDDs can be processed using core Spark RDD API and all transformations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5" name="Google Shape;405;p22"/>
          <p:cNvPicPr preferRelativeResize="0"/>
          <p:nvPr/>
        </p:nvPicPr>
        <p:blipFill rotWithShape="1">
          <a:blip r:embed="rId3">
            <a:alphaModFix/>
          </a:blip>
          <a:srcRect l="11416" r="4073" b="-3"/>
          <a:stretch/>
        </p:blipFill>
        <p:spPr>
          <a:xfrm>
            <a:off x="6148521" y="1677119"/>
            <a:ext cx="3156957" cy="3281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11" name="Google Shape;411;p23" descr="$PPTXTitle"/>
          <p:cNvSpPr txBox="1">
            <a:spLocks noGrp="1"/>
          </p:cNvSpPr>
          <p:nvPr>
            <p:ph type="title"/>
          </p:nvPr>
        </p:nvSpPr>
        <p:spPr>
          <a:xfrm>
            <a:off x="458590" y="191052"/>
            <a:ext cx="8826294" cy="114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733869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latin typeface="Calibri"/>
                <a:ea typeface="Calibri"/>
                <a:cs typeface="Calibri"/>
                <a:sym typeface="Calibri"/>
              </a:rPr>
              <a:t>Creating a StreamingContext</a:t>
            </a:r>
            <a:endParaRPr/>
          </a:p>
        </p:txBody>
      </p:sp>
      <p:sp>
        <p:nvSpPr>
          <p:cNvPr id="412" name="Google Shape;412;p23"/>
          <p:cNvSpPr/>
          <p:nvPr/>
        </p:nvSpPr>
        <p:spPr>
          <a:xfrm>
            <a:off x="458590" y="1346792"/>
            <a:ext cx="8789670" cy="14647"/>
          </a:xfrm>
          <a:custGeom>
            <a:avLst/>
            <a:gdLst/>
            <a:ahLst/>
            <a:cxnLst/>
            <a:rect l="l" t="t" r="r" b="b"/>
            <a:pathLst>
              <a:path w="8789670" h="14647" fill="none" extrusionOk="0">
                <a:moveTo>
                  <a:pt x="0" y="0"/>
                </a:moveTo>
                <a:cubicBezTo>
                  <a:pt x="328666" y="7155"/>
                  <a:pt x="562138" y="-11652"/>
                  <a:pt x="764025" y="0"/>
                </a:cubicBezTo>
                <a:cubicBezTo>
                  <a:pt x="965912" y="11652"/>
                  <a:pt x="1233648" y="-38761"/>
                  <a:pt x="1615947" y="0"/>
                </a:cubicBezTo>
                <a:cubicBezTo>
                  <a:pt x="1998246" y="38761"/>
                  <a:pt x="1905172" y="19458"/>
                  <a:pt x="2028385" y="0"/>
                </a:cubicBezTo>
                <a:cubicBezTo>
                  <a:pt x="2151598" y="-19458"/>
                  <a:pt x="2427862" y="-17990"/>
                  <a:pt x="2616617" y="0"/>
                </a:cubicBezTo>
                <a:cubicBezTo>
                  <a:pt x="2805372" y="17990"/>
                  <a:pt x="2839009" y="12197"/>
                  <a:pt x="3029056" y="0"/>
                </a:cubicBezTo>
                <a:cubicBezTo>
                  <a:pt x="3219103" y="-12197"/>
                  <a:pt x="3568147" y="-11656"/>
                  <a:pt x="3705184" y="0"/>
                </a:cubicBezTo>
                <a:cubicBezTo>
                  <a:pt x="3842221" y="11656"/>
                  <a:pt x="4057969" y="-13277"/>
                  <a:pt x="4293416" y="0"/>
                </a:cubicBezTo>
                <a:cubicBezTo>
                  <a:pt x="4528863" y="13277"/>
                  <a:pt x="4821818" y="12465"/>
                  <a:pt x="5057441" y="0"/>
                </a:cubicBezTo>
                <a:cubicBezTo>
                  <a:pt x="5293064" y="-12465"/>
                  <a:pt x="5586319" y="33422"/>
                  <a:pt x="5909363" y="0"/>
                </a:cubicBezTo>
                <a:cubicBezTo>
                  <a:pt x="6232407" y="-33422"/>
                  <a:pt x="6337540" y="-29198"/>
                  <a:pt x="6585491" y="0"/>
                </a:cubicBezTo>
                <a:cubicBezTo>
                  <a:pt x="6833442" y="29198"/>
                  <a:pt x="7121547" y="-25776"/>
                  <a:pt x="7437413" y="0"/>
                </a:cubicBezTo>
                <a:cubicBezTo>
                  <a:pt x="7753279" y="25776"/>
                  <a:pt x="7856093" y="-19167"/>
                  <a:pt x="8113542" y="0"/>
                </a:cubicBezTo>
                <a:cubicBezTo>
                  <a:pt x="8370991" y="19167"/>
                  <a:pt x="8454659" y="24200"/>
                  <a:pt x="8789670" y="0"/>
                </a:cubicBezTo>
                <a:cubicBezTo>
                  <a:pt x="8789729" y="3399"/>
                  <a:pt x="8789848" y="9725"/>
                  <a:pt x="8789670" y="14647"/>
                </a:cubicBezTo>
                <a:cubicBezTo>
                  <a:pt x="8651207" y="5199"/>
                  <a:pt x="8386697" y="-18977"/>
                  <a:pt x="8113542" y="14647"/>
                </a:cubicBezTo>
                <a:cubicBezTo>
                  <a:pt x="7840387" y="48271"/>
                  <a:pt x="7789150" y="32743"/>
                  <a:pt x="7613206" y="14647"/>
                </a:cubicBezTo>
                <a:cubicBezTo>
                  <a:pt x="7437262" y="-3449"/>
                  <a:pt x="7311068" y="29379"/>
                  <a:pt x="7200768" y="14647"/>
                </a:cubicBezTo>
                <a:cubicBezTo>
                  <a:pt x="7090468" y="-85"/>
                  <a:pt x="6864205" y="5833"/>
                  <a:pt x="6612536" y="14647"/>
                </a:cubicBezTo>
                <a:cubicBezTo>
                  <a:pt x="6360867" y="23461"/>
                  <a:pt x="6244565" y="-4131"/>
                  <a:pt x="5936408" y="14647"/>
                </a:cubicBezTo>
                <a:cubicBezTo>
                  <a:pt x="5628251" y="33425"/>
                  <a:pt x="5613244" y="11527"/>
                  <a:pt x="5348176" y="14647"/>
                </a:cubicBezTo>
                <a:cubicBezTo>
                  <a:pt x="5083108" y="17767"/>
                  <a:pt x="4959899" y="10360"/>
                  <a:pt x="4847841" y="14647"/>
                </a:cubicBezTo>
                <a:cubicBezTo>
                  <a:pt x="4735783" y="18934"/>
                  <a:pt x="4374048" y="-18183"/>
                  <a:pt x="3995919" y="14647"/>
                </a:cubicBezTo>
                <a:cubicBezTo>
                  <a:pt x="3617790" y="47477"/>
                  <a:pt x="3490199" y="32443"/>
                  <a:pt x="3319791" y="14647"/>
                </a:cubicBezTo>
                <a:cubicBezTo>
                  <a:pt x="3149383" y="-3149"/>
                  <a:pt x="2906715" y="1697"/>
                  <a:pt x="2555766" y="14647"/>
                </a:cubicBezTo>
                <a:cubicBezTo>
                  <a:pt x="2204818" y="27597"/>
                  <a:pt x="2346199" y="26380"/>
                  <a:pt x="2143327" y="14647"/>
                </a:cubicBezTo>
                <a:cubicBezTo>
                  <a:pt x="1940455" y="2914"/>
                  <a:pt x="1854579" y="5004"/>
                  <a:pt x="1642992" y="14647"/>
                </a:cubicBezTo>
                <a:cubicBezTo>
                  <a:pt x="1431406" y="24290"/>
                  <a:pt x="1260719" y="22698"/>
                  <a:pt x="966864" y="14647"/>
                </a:cubicBezTo>
                <a:cubicBezTo>
                  <a:pt x="673009" y="6596"/>
                  <a:pt x="375730" y="62132"/>
                  <a:pt x="0" y="14647"/>
                </a:cubicBezTo>
                <a:cubicBezTo>
                  <a:pt x="-358" y="7760"/>
                  <a:pt x="572" y="4131"/>
                  <a:pt x="0" y="0"/>
                </a:cubicBezTo>
                <a:close/>
              </a:path>
              <a:path w="8789670" h="14647" extrusionOk="0">
                <a:moveTo>
                  <a:pt x="0" y="0"/>
                </a:moveTo>
                <a:cubicBezTo>
                  <a:pt x="133851" y="19843"/>
                  <a:pt x="320757" y="-11520"/>
                  <a:pt x="500335" y="0"/>
                </a:cubicBezTo>
                <a:cubicBezTo>
                  <a:pt x="679914" y="11520"/>
                  <a:pt x="803259" y="7957"/>
                  <a:pt x="912773" y="0"/>
                </a:cubicBezTo>
                <a:cubicBezTo>
                  <a:pt x="1022287" y="-7957"/>
                  <a:pt x="1237756" y="-17143"/>
                  <a:pt x="1413108" y="0"/>
                </a:cubicBezTo>
                <a:cubicBezTo>
                  <a:pt x="1588461" y="17143"/>
                  <a:pt x="1763098" y="-21370"/>
                  <a:pt x="2089237" y="0"/>
                </a:cubicBezTo>
                <a:cubicBezTo>
                  <a:pt x="2415376" y="21370"/>
                  <a:pt x="2581198" y="-11283"/>
                  <a:pt x="2853262" y="0"/>
                </a:cubicBezTo>
                <a:cubicBezTo>
                  <a:pt x="3125327" y="11283"/>
                  <a:pt x="3369675" y="-8320"/>
                  <a:pt x="3705184" y="0"/>
                </a:cubicBezTo>
                <a:cubicBezTo>
                  <a:pt x="4040693" y="8320"/>
                  <a:pt x="4135129" y="41926"/>
                  <a:pt x="4557106" y="0"/>
                </a:cubicBezTo>
                <a:cubicBezTo>
                  <a:pt x="4979083" y="-41926"/>
                  <a:pt x="4898655" y="-12210"/>
                  <a:pt x="5145338" y="0"/>
                </a:cubicBezTo>
                <a:cubicBezTo>
                  <a:pt x="5392021" y="12210"/>
                  <a:pt x="5693571" y="-10299"/>
                  <a:pt x="5909363" y="0"/>
                </a:cubicBezTo>
                <a:cubicBezTo>
                  <a:pt x="6125155" y="10299"/>
                  <a:pt x="6338031" y="4463"/>
                  <a:pt x="6585491" y="0"/>
                </a:cubicBezTo>
                <a:cubicBezTo>
                  <a:pt x="6832951" y="-4463"/>
                  <a:pt x="6924528" y="-17388"/>
                  <a:pt x="7173723" y="0"/>
                </a:cubicBezTo>
                <a:cubicBezTo>
                  <a:pt x="7422918" y="17388"/>
                  <a:pt x="7724496" y="6455"/>
                  <a:pt x="7937748" y="0"/>
                </a:cubicBezTo>
                <a:cubicBezTo>
                  <a:pt x="8151000" y="-6455"/>
                  <a:pt x="8388519" y="22324"/>
                  <a:pt x="8789670" y="0"/>
                </a:cubicBezTo>
                <a:cubicBezTo>
                  <a:pt x="8790338" y="5915"/>
                  <a:pt x="8790085" y="11687"/>
                  <a:pt x="8789670" y="14647"/>
                </a:cubicBezTo>
                <a:cubicBezTo>
                  <a:pt x="8552961" y="-7361"/>
                  <a:pt x="8436400" y="-7620"/>
                  <a:pt x="8289335" y="14647"/>
                </a:cubicBezTo>
                <a:cubicBezTo>
                  <a:pt x="8142270" y="36914"/>
                  <a:pt x="7623001" y="29078"/>
                  <a:pt x="7437413" y="14647"/>
                </a:cubicBezTo>
                <a:cubicBezTo>
                  <a:pt x="7251825" y="216"/>
                  <a:pt x="7076701" y="685"/>
                  <a:pt x="6937078" y="14647"/>
                </a:cubicBezTo>
                <a:cubicBezTo>
                  <a:pt x="6797455" y="28609"/>
                  <a:pt x="6355614" y="41460"/>
                  <a:pt x="6173053" y="14647"/>
                </a:cubicBezTo>
                <a:cubicBezTo>
                  <a:pt x="5990493" y="-12166"/>
                  <a:pt x="5866524" y="29555"/>
                  <a:pt x="5760614" y="14647"/>
                </a:cubicBezTo>
                <a:cubicBezTo>
                  <a:pt x="5654704" y="-261"/>
                  <a:pt x="5247842" y="41331"/>
                  <a:pt x="5084486" y="14647"/>
                </a:cubicBezTo>
                <a:cubicBezTo>
                  <a:pt x="4921130" y="-12037"/>
                  <a:pt x="4713267" y="14479"/>
                  <a:pt x="4584151" y="14647"/>
                </a:cubicBezTo>
                <a:cubicBezTo>
                  <a:pt x="4455036" y="14815"/>
                  <a:pt x="4018075" y="-24699"/>
                  <a:pt x="3732229" y="14647"/>
                </a:cubicBezTo>
                <a:cubicBezTo>
                  <a:pt x="3446383" y="53993"/>
                  <a:pt x="3448441" y="4169"/>
                  <a:pt x="3319791" y="14647"/>
                </a:cubicBezTo>
                <a:cubicBezTo>
                  <a:pt x="3191141" y="25125"/>
                  <a:pt x="2908560" y="-2236"/>
                  <a:pt x="2643662" y="14647"/>
                </a:cubicBezTo>
                <a:cubicBezTo>
                  <a:pt x="2378764" y="31530"/>
                  <a:pt x="2392235" y="10994"/>
                  <a:pt x="2231224" y="14647"/>
                </a:cubicBezTo>
                <a:cubicBezTo>
                  <a:pt x="2070213" y="18300"/>
                  <a:pt x="1949675" y="29009"/>
                  <a:pt x="1730889" y="14647"/>
                </a:cubicBezTo>
                <a:cubicBezTo>
                  <a:pt x="1512103" y="285"/>
                  <a:pt x="1346878" y="27136"/>
                  <a:pt x="966864" y="14647"/>
                </a:cubicBezTo>
                <a:cubicBezTo>
                  <a:pt x="586850" y="2158"/>
                  <a:pt x="462346" y="56596"/>
                  <a:pt x="0" y="14647"/>
                </a:cubicBezTo>
                <a:cubicBezTo>
                  <a:pt x="-6" y="10053"/>
                  <a:pt x="75" y="3650"/>
                  <a:pt x="0" y="0"/>
                </a:cubicBezTo>
                <a:close/>
              </a:path>
            </a:pathLst>
          </a:custGeom>
          <a:solidFill>
            <a:schemeClr val="accent2">
              <a:alpha val="74901"/>
            </a:schemeClr>
          </a:solidFill>
          <a:ln w="44450" cap="rnd" cmpd="sng">
            <a:solidFill>
              <a:schemeClr val="accent2">
                <a:alpha val="74901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13" name="Google Shape;413;p23"/>
          <p:cNvSpPr txBox="1"/>
          <p:nvPr/>
        </p:nvSpPr>
        <p:spPr>
          <a:xfrm>
            <a:off x="458590" y="1658970"/>
            <a:ext cx="5377835" cy="3299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93257" lvl="0" indent="-19325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StreamingContext: entry point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3257" marR="1323303" lvl="0" indent="-193257" algn="l" rtl="0">
              <a:lnSpc>
                <a:spcPct val="90000"/>
              </a:lnSpc>
              <a:spcBef>
                <a:spcPts val="83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Start() to trigger evaluation of incoming data after establishing a StramingContext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3257" lvl="0" indent="-193257" algn="l" rtl="0">
              <a:lnSpc>
                <a:spcPct val="90000"/>
              </a:lnSpc>
              <a:spcBef>
                <a:spcPts val="52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Stop() or awaitTermination() to stop the StreamingContext programmatically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23"/>
          <p:cNvPicPr preferRelativeResize="0"/>
          <p:nvPr/>
        </p:nvPicPr>
        <p:blipFill rotWithShape="1">
          <a:blip r:embed="rId3">
            <a:alphaModFix/>
          </a:blip>
          <a:srcRect l="20479" r="33278"/>
          <a:stretch/>
        </p:blipFill>
        <p:spPr>
          <a:xfrm>
            <a:off x="6148521" y="1677119"/>
            <a:ext cx="3156957" cy="3281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4" descr="$PPTXTitle"/>
          <p:cNvSpPr txBox="1">
            <a:spLocks noGrp="1"/>
          </p:cNvSpPr>
          <p:nvPr>
            <p:ph type="title"/>
          </p:nvPr>
        </p:nvSpPr>
        <p:spPr>
          <a:xfrm>
            <a:off x="539750" y="384175"/>
            <a:ext cx="5669230" cy="4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675" rIns="0" bIns="0" anchor="t" anchorCtr="0">
            <a:spAutoFit/>
          </a:bodyPr>
          <a:lstStyle/>
          <a:p>
            <a:pPr marL="1033417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</a:rPr>
              <a:t>Introduction </a:t>
            </a:r>
            <a:r>
              <a:rPr lang="en-US" b="1">
                <a:solidFill>
                  <a:srgbClr val="0070C0"/>
                </a:solidFill>
              </a:rPr>
              <a:t>to</a:t>
            </a:r>
            <a:r>
              <a:rPr lang="en-US">
                <a:solidFill>
                  <a:srgbClr val="0070C0"/>
                </a:solidFill>
              </a:rPr>
              <a:t> DStreams</a:t>
            </a:r>
            <a:endParaRPr>
              <a:solidFill>
                <a:srgbClr val="0070C0"/>
              </a:solidFill>
            </a:endParaRPr>
          </a:p>
        </p:txBody>
      </p:sp>
      <p:grpSp>
        <p:nvGrpSpPr>
          <p:cNvPr id="420" name="Google Shape;420;p24"/>
          <p:cNvGrpSpPr/>
          <p:nvPr/>
        </p:nvGrpSpPr>
        <p:grpSpPr>
          <a:xfrm>
            <a:off x="735620" y="1525842"/>
            <a:ext cx="8295059" cy="2768419"/>
            <a:chOff x="0" y="670482"/>
            <a:chExt cx="8295059" cy="2768419"/>
          </a:xfrm>
        </p:grpSpPr>
        <p:sp>
          <p:nvSpPr>
            <p:cNvPr id="421" name="Google Shape;421;p24"/>
            <p:cNvSpPr/>
            <p:nvPr/>
          </p:nvSpPr>
          <p:spPr>
            <a:xfrm>
              <a:off x="0" y="670482"/>
              <a:ext cx="8295059" cy="1230408"/>
            </a:xfrm>
            <a:prstGeom prst="roundRect">
              <a:avLst>
                <a:gd name="adj" fmla="val 10000"/>
              </a:avLst>
            </a:prstGeom>
            <a:solidFill>
              <a:srgbClr val="CFD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372198" y="947324"/>
              <a:ext cx="676724" cy="676724"/>
            </a:xfrm>
            <a:prstGeom prst="rect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1421122" y="670482"/>
              <a:ext cx="3732776" cy="12304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4"/>
            <p:cNvSpPr txBox="1"/>
            <p:nvPr/>
          </p:nvSpPr>
          <p:spPr>
            <a:xfrm>
              <a:off x="1421122" y="670482"/>
              <a:ext cx="3732776" cy="12304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0200" tIns="130200" rIns="130200" bIns="13020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/>
                <a:buNone/>
              </a:pPr>
              <a:r>
                <a:rPr lang="en-US" sz="1400" dirty="0">
                  <a:latin typeface="Calibri"/>
                  <a:ea typeface="Calibri"/>
                  <a:cs typeface="Calibri"/>
                  <a:sym typeface="Calibri"/>
                </a:rPr>
                <a:t>A </a:t>
              </a:r>
              <a:r>
                <a:rPr lang="en-US" sz="1400" dirty="0" err="1">
                  <a:latin typeface="Calibri"/>
                  <a:ea typeface="Calibri"/>
                  <a:cs typeface="Calibri"/>
                  <a:sym typeface="Calibri"/>
                </a:rPr>
                <a:t>Dstream</a:t>
              </a:r>
              <a:r>
                <a:rPr lang="en-US" sz="1400" dirty="0">
                  <a:latin typeface="Calibri"/>
                  <a:ea typeface="Calibri"/>
                  <a:cs typeface="Calibri"/>
                  <a:sym typeface="Calibri"/>
                </a:rPr>
                <a:t> represents a continuous sequence of RDDs created from a continuous stream of data, with each underlying RDD representing a time window within the stream</a:t>
              </a:r>
              <a:endParaRPr dirty="0"/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5153898" y="670482"/>
              <a:ext cx="3139771" cy="12304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4"/>
            <p:cNvSpPr txBox="1"/>
            <p:nvPr/>
          </p:nvSpPr>
          <p:spPr>
            <a:xfrm>
              <a:off x="5153898" y="670482"/>
              <a:ext cx="3139771" cy="12304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0200" tIns="130200" rIns="130200" bIns="13020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r>
                <a:rPr lang="en-US" sz="1100">
                  <a:latin typeface="Calibri"/>
                  <a:ea typeface="Calibri"/>
                  <a:cs typeface="Calibri"/>
                  <a:sym typeface="Calibri"/>
                </a:rPr>
                <a:t>Created from streaming data sources such as TCP sockets, messaging systems, 	streaming APIs (such as the Twitter streaming API), and more</a:t>
              </a:r>
              <a:endParaRPr/>
            </a:p>
            <a:p>
              <a:pPr marL="0" lvl="0" indent="0" algn="l" rtl="0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SzPts val="1100"/>
                <a:buFont typeface="Arial"/>
                <a:buNone/>
              </a:pPr>
              <a:r>
                <a:rPr lang="en-US" sz="1100">
                  <a:latin typeface="Calibri"/>
                  <a:ea typeface="Calibri"/>
                  <a:cs typeface="Calibri"/>
                  <a:sym typeface="Calibri"/>
                </a:rPr>
                <a:t>Also created from transformations performed on existing DStreams, such as 	map(), flatMap(), and other operations</a:t>
              </a:r>
              <a:endParaRPr/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0" y="2208493"/>
              <a:ext cx="8295059" cy="1230408"/>
            </a:xfrm>
            <a:prstGeom prst="roundRect">
              <a:avLst>
                <a:gd name="adj" fmla="val 10000"/>
              </a:avLst>
            </a:prstGeom>
            <a:solidFill>
              <a:srgbClr val="CFD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372198" y="2485335"/>
              <a:ext cx="676724" cy="676724"/>
            </a:xfrm>
            <a:prstGeom prst="rect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4"/>
            <p:cNvSpPr/>
            <p:nvPr/>
          </p:nvSpPr>
          <p:spPr>
            <a:xfrm>
              <a:off x="1421122" y="2208493"/>
              <a:ext cx="3732776" cy="12304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4"/>
            <p:cNvSpPr txBox="1"/>
            <p:nvPr/>
          </p:nvSpPr>
          <p:spPr>
            <a:xfrm>
              <a:off x="1421122" y="2208493"/>
              <a:ext cx="3732776" cy="12304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0200" tIns="130200" rIns="130200" bIns="13020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/>
                <a:buNone/>
              </a:pPr>
              <a:r>
                <a:rPr lang="en-US" sz="1400">
                  <a:latin typeface="Calibri"/>
                  <a:ea typeface="Calibri"/>
                  <a:cs typeface="Calibri"/>
                  <a:sym typeface="Calibri"/>
                </a:rPr>
                <a:t>DStreams support two types of operations:</a:t>
              </a:r>
              <a:endParaRPr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5153898" y="2208493"/>
              <a:ext cx="3139771" cy="12304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4"/>
            <p:cNvSpPr txBox="1"/>
            <p:nvPr/>
          </p:nvSpPr>
          <p:spPr>
            <a:xfrm>
              <a:off x="5153898" y="2208493"/>
              <a:ext cx="3139771" cy="12304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0200" tIns="130200" rIns="130200" bIns="13020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r>
                <a:rPr lang="en-US" sz="1100">
                  <a:latin typeface="Calibri"/>
                  <a:ea typeface="Calibri"/>
                  <a:cs typeface="Calibri"/>
                  <a:sym typeface="Calibri"/>
                </a:rPr>
                <a:t>Transformations</a:t>
              </a:r>
              <a:endParaRPr/>
            </a:p>
            <a:p>
              <a:pPr marL="0" lvl="0" indent="0" algn="l" rtl="0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SzPts val="1100"/>
                <a:buFont typeface="Arial"/>
                <a:buNone/>
              </a:pPr>
              <a:r>
                <a:rPr lang="en-US" sz="1100">
                  <a:latin typeface="Calibri"/>
                  <a:ea typeface="Calibri"/>
                  <a:cs typeface="Calibri"/>
                  <a:sym typeface="Calibri"/>
                </a:rPr>
                <a:t>Output operations: analogous to RDD actions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5"/>
          <p:cNvSpPr/>
          <p:nvPr/>
        </p:nvSpPr>
        <p:spPr>
          <a:xfrm>
            <a:off x="0" y="0"/>
            <a:ext cx="9766299" cy="54922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38" name="Google Shape;438;p25" descr="$PPTXTitle"/>
          <p:cNvSpPr txBox="1">
            <a:spLocks noGrp="1"/>
          </p:cNvSpPr>
          <p:nvPr>
            <p:ph type="title"/>
          </p:nvPr>
        </p:nvSpPr>
        <p:spPr>
          <a:xfrm>
            <a:off x="892208" y="2371314"/>
            <a:ext cx="3233271" cy="191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991206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Discretized Streams</a:t>
            </a:r>
            <a:endParaRPr/>
          </a:p>
        </p:txBody>
      </p:sp>
      <p:grpSp>
        <p:nvGrpSpPr>
          <p:cNvPr id="439" name="Google Shape;439;p25"/>
          <p:cNvGrpSpPr/>
          <p:nvPr/>
        </p:nvGrpSpPr>
        <p:grpSpPr>
          <a:xfrm>
            <a:off x="1" y="2390757"/>
            <a:ext cx="585978" cy="539392"/>
            <a:chOff x="3940602" y="308034"/>
            <a:chExt cx="2116791" cy="3428999"/>
          </a:xfrm>
        </p:grpSpPr>
        <p:sp>
          <p:nvSpPr>
            <p:cNvPr id="440" name="Google Shape;440;p25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441" name="Google Shape;441;p25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442" name="Google Shape;442;p25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443" name="Google Shape;443;p25"/>
          <p:cNvSpPr/>
          <p:nvPr/>
        </p:nvSpPr>
        <p:spPr>
          <a:xfrm flipH="1">
            <a:off x="8569279" y="0"/>
            <a:ext cx="1197021" cy="5492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4554570" y="313871"/>
            <a:ext cx="4813753" cy="481923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445" name="Google Shape;44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4162" y="1535969"/>
            <a:ext cx="4434568" cy="2373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6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51" name="Google Shape;451;p26"/>
          <p:cNvSpPr/>
          <p:nvPr/>
        </p:nvSpPr>
        <p:spPr>
          <a:xfrm flipH="1">
            <a:off x="1" y="0"/>
            <a:ext cx="9766299" cy="1262223"/>
          </a:xfrm>
          <a:prstGeom prst="rect">
            <a:avLst/>
          </a:prstGeom>
          <a:gradFill>
            <a:gsLst>
              <a:gs pos="0">
                <a:srgbClr val="000000">
                  <a:alpha val="96078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52" name="Google Shape;452;p26"/>
          <p:cNvSpPr/>
          <p:nvPr/>
        </p:nvSpPr>
        <p:spPr>
          <a:xfrm rot="10800000" flipH="1">
            <a:off x="6511553" y="0"/>
            <a:ext cx="3254747" cy="1262589"/>
          </a:xfrm>
          <a:prstGeom prst="rect">
            <a:avLst/>
          </a:prstGeom>
          <a:gradFill>
            <a:gsLst>
              <a:gs pos="0">
                <a:srgbClr val="244061">
                  <a:alpha val="67843"/>
                </a:srgbClr>
              </a:gs>
              <a:gs pos="19000">
                <a:srgbClr val="244061">
                  <a:alpha val="67843"/>
                </a:srgbClr>
              </a:gs>
              <a:gs pos="100000">
                <a:srgbClr val="4F81BD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53" name="Google Shape;453;p26"/>
          <p:cNvSpPr/>
          <p:nvPr/>
        </p:nvSpPr>
        <p:spPr>
          <a:xfrm rot="5400000">
            <a:off x="4251842" y="-4251843"/>
            <a:ext cx="1262616" cy="97663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4117"/>
                </a:srgbClr>
              </a:gs>
              <a:gs pos="100000">
                <a:srgbClr val="000000">
                  <a:alpha val="74117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54" name="Google Shape;454;p26" descr="$PPTXTitle"/>
          <p:cNvSpPr txBox="1">
            <a:spLocks noGrp="1"/>
          </p:cNvSpPr>
          <p:nvPr>
            <p:ph type="title"/>
          </p:nvPr>
        </p:nvSpPr>
        <p:spPr>
          <a:xfrm>
            <a:off x="1098706" y="279415"/>
            <a:ext cx="8045681" cy="702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77288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DStream Sources</a:t>
            </a:r>
            <a:endParaRPr/>
          </a:p>
        </p:txBody>
      </p:sp>
      <p:grpSp>
        <p:nvGrpSpPr>
          <p:cNvPr id="455" name="Google Shape;455;p26"/>
          <p:cNvGrpSpPr/>
          <p:nvPr/>
        </p:nvGrpSpPr>
        <p:grpSpPr>
          <a:xfrm>
            <a:off x="516391" y="2540240"/>
            <a:ext cx="8752693" cy="1661682"/>
            <a:chOff x="476" y="848221"/>
            <a:chExt cx="8752693" cy="1661682"/>
          </a:xfrm>
        </p:grpSpPr>
        <p:sp>
          <p:nvSpPr>
            <p:cNvPr id="456" name="Google Shape;456;p26"/>
            <p:cNvSpPr/>
            <p:nvPr/>
          </p:nvSpPr>
          <p:spPr>
            <a:xfrm>
              <a:off x="629123" y="848221"/>
              <a:ext cx="677003" cy="677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476" y="1596678"/>
              <a:ext cx="1934296" cy="290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6"/>
            <p:cNvSpPr txBox="1"/>
            <p:nvPr/>
          </p:nvSpPr>
          <p:spPr>
            <a:xfrm>
              <a:off x="476" y="1596678"/>
              <a:ext cx="1934296" cy="290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900"/>
                <a:buFont typeface="Arial"/>
                <a:buNone/>
              </a:pPr>
              <a:r>
                <a:rPr lang="en-US" sz="1900" b="1">
                  <a:latin typeface="Calibri"/>
                  <a:ea typeface="Calibri"/>
                  <a:cs typeface="Calibri"/>
                  <a:sym typeface="Calibri"/>
                </a:rPr>
                <a:t>socketTextStream()</a:t>
              </a:r>
              <a:endParaRPr/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476" y="1920056"/>
              <a:ext cx="1934296" cy="58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6"/>
            <p:cNvSpPr txBox="1"/>
            <p:nvPr/>
          </p:nvSpPr>
          <p:spPr>
            <a:xfrm>
              <a:off x="476" y="1920056"/>
              <a:ext cx="1934296" cy="58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/>
                <a:buNone/>
              </a:pPr>
              <a:r>
                <a:rPr lang="en-US" sz="1400">
                  <a:latin typeface="Calibri"/>
                  <a:ea typeface="Calibri"/>
                  <a:cs typeface="Calibri"/>
                  <a:sym typeface="Calibri"/>
                </a:rPr>
                <a:t>From an input TCP source defined by the hostname and port arguments</a:t>
              </a: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2901922" y="848221"/>
              <a:ext cx="677003" cy="677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2273275" y="1596678"/>
              <a:ext cx="1934296" cy="290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6"/>
            <p:cNvSpPr txBox="1"/>
            <p:nvPr/>
          </p:nvSpPr>
          <p:spPr>
            <a:xfrm>
              <a:off x="2273275" y="1596678"/>
              <a:ext cx="1934296" cy="290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900"/>
                <a:buFont typeface="Arial"/>
                <a:buNone/>
              </a:pPr>
              <a:r>
                <a:rPr lang="en-US" sz="1900" b="1">
                  <a:latin typeface="Calibri"/>
                  <a:ea typeface="Calibri"/>
                  <a:cs typeface="Calibri"/>
                  <a:sym typeface="Calibri"/>
                </a:rPr>
                <a:t>textFileStream()</a:t>
              </a:r>
              <a:endParaRPr/>
            </a:p>
          </p:txBody>
        </p:sp>
        <p:sp>
          <p:nvSpPr>
            <p:cNvPr id="464" name="Google Shape;464;p26"/>
            <p:cNvSpPr/>
            <p:nvPr/>
          </p:nvSpPr>
          <p:spPr>
            <a:xfrm>
              <a:off x="2273275" y="1920056"/>
              <a:ext cx="1934296" cy="58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6"/>
            <p:cNvSpPr txBox="1"/>
            <p:nvPr/>
          </p:nvSpPr>
          <p:spPr>
            <a:xfrm>
              <a:off x="2273275" y="1920056"/>
              <a:ext cx="1934296" cy="58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/>
                <a:buNone/>
              </a:pPr>
              <a:r>
                <a:rPr lang="en-US" sz="1400">
                  <a:latin typeface="Calibri"/>
                  <a:ea typeface="Calibri"/>
                  <a:cs typeface="Calibri"/>
                  <a:sym typeface="Calibri"/>
                </a:rPr>
                <a:t>By monitoring a directory from an instance of HDFS</a:t>
              </a:r>
              <a:endParaRPr/>
            </a:p>
          </p:txBody>
        </p:sp>
        <p:sp>
          <p:nvSpPr>
            <p:cNvPr id="466" name="Google Shape;466;p26"/>
            <p:cNvSpPr/>
            <p:nvPr/>
          </p:nvSpPr>
          <p:spPr>
            <a:xfrm>
              <a:off x="5174720" y="848221"/>
              <a:ext cx="677003" cy="677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6"/>
            <p:cNvSpPr/>
            <p:nvPr/>
          </p:nvSpPr>
          <p:spPr>
            <a:xfrm>
              <a:off x="4546074" y="1596678"/>
              <a:ext cx="1934296" cy="290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6"/>
            <p:cNvSpPr txBox="1"/>
            <p:nvPr/>
          </p:nvSpPr>
          <p:spPr>
            <a:xfrm>
              <a:off x="4546074" y="1596678"/>
              <a:ext cx="1934296" cy="290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900"/>
                <a:buFont typeface="Arial"/>
                <a:buNone/>
              </a:pPr>
              <a:r>
                <a:rPr lang="en-US" sz="1900" b="1">
                  <a:latin typeface="Calibri"/>
                  <a:ea typeface="Calibri"/>
                  <a:cs typeface="Calibri"/>
                  <a:sym typeface="Calibri"/>
                </a:rPr>
                <a:t>Demo 25</a:t>
              </a:r>
              <a:endParaRPr/>
            </a:p>
          </p:txBody>
        </p:sp>
        <p:sp>
          <p:nvSpPr>
            <p:cNvPr id="469" name="Google Shape;469;p26"/>
            <p:cNvSpPr/>
            <p:nvPr/>
          </p:nvSpPr>
          <p:spPr>
            <a:xfrm>
              <a:off x="4546074" y="1920056"/>
              <a:ext cx="1934296" cy="58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7447519" y="848221"/>
              <a:ext cx="677003" cy="6770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6818873" y="1596678"/>
              <a:ext cx="1934296" cy="290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6"/>
            <p:cNvSpPr txBox="1"/>
            <p:nvPr/>
          </p:nvSpPr>
          <p:spPr>
            <a:xfrm>
              <a:off x="6818873" y="1596678"/>
              <a:ext cx="1934296" cy="290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900"/>
                <a:buFont typeface="Arial"/>
                <a:buNone/>
              </a:pPr>
              <a:r>
                <a:rPr lang="en-US" sz="1900" b="1">
                  <a:latin typeface="Calibri"/>
                  <a:ea typeface="Calibri"/>
                  <a:cs typeface="Calibri"/>
                  <a:sym typeface="Calibri"/>
                </a:rPr>
                <a:t>Demo 26</a:t>
              </a:r>
              <a:endParaRPr/>
            </a:p>
          </p:txBody>
        </p:sp>
        <p:sp>
          <p:nvSpPr>
            <p:cNvPr id="473" name="Google Shape;473;p26"/>
            <p:cNvSpPr/>
            <p:nvPr/>
          </p:nvSpPr>
          <p:spPr>
            <a:xfrm>
              <a:off x="6818873" y="1920056"/>
              <a:ext cx="1934296" cy="5898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7"/>
          <p:cNvSpPr/>
          <p:nvPr/>
        </p:nvSpPr>
        <p:spPr>
          <a:xfrm>
            <a:off x="0" y="0"/>
            <a:ext cx="9766299" cy="54922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79" name="Google Shape;479;p27" descr="$PPTXTitle"/>
          <p:cNvSpPr txBox="1">
            <a:spLocks noGrp="1"/>
          </p:cNvSpPr>
          <p:nvPr>
            <p:ph type="title"/>
          </p:nvPr>
        </p:nvSpPr>
        <p:spPr>
          <a:xfrm>
            <a:off x="892208" y="2371314"/>
            <a:ext cx="3233271" cy="191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42572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Dstream Transformations</a:t>
            </a:r>
            <a:endParaRPr/>
          </a:p>
        </p:txBody>
      </p:sp>
      <p:grpSp>
        <p:nvGrpSpPr>
          <p:cNvPr id="480" name="Google Shape;480;p27"/>
          <p:cNvGrpSpPr/>
          <p:nvPr/>
        </p:nvGrpSpPr>
        <p:grpSpPr>
          <a:xfrm>
            <a:off x="1" y="2390757"/>
            <a:ext cx="585978" cy="539392"/>
            <a:chOff x="3940602" y="308034"/>
            <a:chExt cx="2116791" cy="3428999"/>
          </a:xfrm>
        </p:grpSpPr>
        <p:sp>
          <p:nvSpPr>
            <p:cNvPr id="481" name="Google Shape;481;p27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482" name="Google Shape;482;p27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483" name="Google Shape;483;p27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484" name="Google Shape;484;p27"/>
          <p:cNvSpPr/>
          <p:nvPr/>
        </p:nvSpPr>
        <p:spPr>
          <a:xfrm flipH="1">
            <a:off x="8569279" y="0"/>
            <a:ext cx="1197021" cy="5492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4554570" y="313871"/>
            <a:ext cx="4813753" cy="481923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486" name="Google Shape;48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4162" y="1014844"/>
            <a:ext cx="4434568" cy="3416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92" name="Google Shape;492;p28" descr="$PPTXTitle"/>
          <p:cNvSpPr txBox="1">
            <a:spLocks noGrp="1"/>
          </p:cNvSpPr>
          <p:nvPr>
            <p:ph type="title"/>
          </p:nvPr>
        </p:nvSpPr>
        <p:spPr>
          <a:xfrm>
            <a:off x="673874" y="268025"/>
            <a:ext cx="8418551" cy="862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28536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DStream Lineage and Checkpoint</a:t>
            </a:r>
            <a:endParaRPr/>
          </a:p>
        </p:txBody>
      </p:sp>
      <p:sp>
        <p:nvSpPr>
          <p:cNvPr id="493" name="Google Shape;493;p28"/>
          <p:cNvSpPr/>
          <p:nvPr/>
        </p:nvSpPr>
        <p:spPr>
          <a:xfrm>
            <a:off x="675095" y="0"/>
            <a:ext cx="8416109" cy="1532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8"/>
          <p:cNvSpPr/>
          <p:nvPr/>
        </p:nvSpPr>
        <p:spPr>
          <a:xfrm>
            <a:off x="673874" y="1211796"/>
            <a:ext cx="8416109" cy="14647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5" name="Google Shape;495;p28"/>
          <p:cNvGrpSpPr/>
          <p:nvPr/>
        </p:nvGrpSpPr>
        <p:grpSpPr>
          <a:xfrm>
            <a:off x="685499" y="1860338"/>
            <a:ext cx="8387975" cy="2694854"/>
            <a:chOff x="14066" y="468842"/>
            <a:chExt cx="8387975" cy="2694854"/>
          </a:xfrm>
        </p:grpSpPr>
        <p:sp>
          <p:nvSpPr>
            <p:cNvPr id="496" name="Google Shape;496;p28"/>
            <p:cNvSpPr/>
            <p:nvPr/>
          </p:nvSpPr>
          <p:spPr>
            <a:xfrm>
              <a:off x="492328" y="468842"/>
              <a:ext cx="515051" cy="515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14066" y="1099772"/>
              <a:ext cx="1471574" cy="1380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8"/>
            <p:cNvSpPr txBox="1"/>
            <p:nvPr/>
          </p:nvSpPr>
          <p:spPr>
            <a:xfrm>
              <a:off x="14066" y="1099772"/>
              <a:ext cx="1471574" cy="1380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/>
                <a:buNone/>
              </a:pPr>
              <a:r>
                <a:rPr lang="en-US" sz="1400" b="1">
                  <a:latin typeface="Calibri"/>
                  <a:ea typeface="Calibri"/>
                  <a:cs typeface="Calibri"/>
                  <a:sym typeface="Calibri"/>
                </a:rPr>
                <a:t>Maintained for fault tolerance much the same way that RDDs and 	DataFrames maintain their lineage</a:t>
              </a:r>
              <a:endParaRPr/>
            </a:p>
          </p:txBody>
        </p:sp>
        <p:sp>
          <p:nvSpPr>
            <p:cNvPr id="499" name="Google Shape;499;p28"/>
            <p:cNvSpPr/>
            <p:nvPr/>
          </p:nvSpPr>
          <p:spPr>
            <a:xfrm>
              <a:off x="14066" y="2534619"/>
              <a:ext cx="1471574" cy="629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2221428" y="468842"/>
              <a:ext cx="515051" cy="515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1743166" y="1099772"/>
              <a:ext cx="1471574" cy="1380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8"/>
            <p:cNvSpPr txBox="1"/>
            <p:nvPr/>
          </p:nvSpPr>
          <p:spPr>
            <a:xfrm>
              <a:off x="1743166" y="1099772"/>
              <a:ext cx="1471574" cy="1380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/>
                <a:buNone/>
              </a:pPr>
              <a:r>
                <a:rPr lang="en-US" sz="1400" b="1">
                  <a:latin typeface="Calibri"/>
                  <a:ea typeface="Calibri"/>
                  <a:cs typeface="Calibri"/>
                  <a:sym typeface="Calibri"/>
                </a:rPr>
                <a:t>Checkpointing is often necessary because streaming applications are 	by definition long-lived applications</a:t>
              </a:r>
              <a:endParaRPr/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1743166" y="2534619"/>
              <a:ext cx="1471574" cy="629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3950528" y="468842"/>
              <a:ext cx="515051" cy="515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8"/>
            <p:cNvSpPr/>
            <p:nvPr/>
          </p:nvSpPr>
          <p:spPr>
            <a:xfrm>
              <a:off x="3472267" y="1099772"/>
              <a:ext cx="1471574" cy="1380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8"/>
            <p:cNvSpPr txBox="1"/>
            <p:nvPr/>
          </p:nvSpPr>
          <p:spPr>
            <a:xfrm>
              <a:off x="3472267" y="1099772"/>
              <a:ext cx="1471574" cy="1380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/>
                <a:buNone/>
              </a:pPr>
              <a:r>
                <a:rPr lang="en-US" sz="1400" b="1">
                  <a:latin typeface="Calibri"/>
                  <a:ea typeface="Calibri"/>
                  <a:cs typeface="Calibri"/>
                  <a:sym typeface="Calibri"/>
                </a:rPr>
                <a:t>StreamingContext.checkpoint(directory)</a:t>
              </a:r>
              <a:endParaRPr sz="1400"/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3472267" y="2534619"/>
              <a:ext cx="1471574" cy="629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8"/>
            <p:cNvSpPr txBox="1"/>
            <p:nvPr/>
          </p:nvSpPr>
          <p:spPr>
            <a:xfrm>
              <a:off x="3472267" y="2534619"/>
              <a:ext cx="1471574" cy="629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r>
                <a:rPr lang="en-US" sz="1100">
                  <a:latin typeface="Calibri"/>
                  <a:ea typeface="Calibri"/>
                  <a:cs typeface="Calibri"/>
                  <a:sym typeface="Calibri"/>
                </a:rPr>
                <a:t>Enables periodic checkpointing of DStream operations for durability and fault tolerance</a:t>
              </a:r>
              <a:endParaRPr/>
            </a:p>
          </p:txBody>
        </p:sp>
        <p:sp>
          <p:nvSpPr>
            <p:cNvPr id="509" name="Google Shape;509;p28"/>
            <p:cNvSpPr/>
            <p:nvPr/>
          </p:nvSpPr>
          <p:spPr>
            <a:xfrm>
              <a:off x="5679629" y="468842"/>
              <a:ext cx="515051" cy="515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8"/>
            <p:cNvSpPr/>
            <p:nvPr/>
          </p:nvSpPr>
          <p:spPr>
            <a:xfrm>
              <a:off x="5201367" y="1099772"/>
              <a:ext cx="1471574" cy="1380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8"/>
            <p:cNvSpPr txBox="1"/>
            <p:nvPr/>
          </p:nvSpPr>
          <p:spPr>
            <a:xfrm>
              <a:off x="5201367" y="1099772"/>
              <a:ext cx="1471574" cy="1380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/>
                <a:buNone/>
              </a:pPr>
              <a:r>
                <a:rPr lang="en-US" sz="1400" b="1">
                  <a:latin typeface="Calibri"/>
                  <a:ea typeface="Calibri"/>
                  <a:cs typeface="Calibri"/>
                  <a:sym typeface="Calibri"/>
                </a:rPr>
                <a:t>DStream.checkpoint(interval)</a:t>
              </a:r>
              <a:endParaRPr sz="1400"/>
            </a:p>
          </p:txBody>
        </p:sp>
        <p:sp>
          <p:nvSpPr>
            <p:cNvPr id="512" name="Google Shape;512;p28"/>
            <p:cNvSpPr/>
            <p:nvPr/>
          </p:nvSpPr>
          <p:spPr>
            <a:xfrm>
              <a:off x="5201367" y="2534619"/>
              <a:ext cx="1471574" cy="629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8"/>
            <p:cNvSpPr txBox="1"/>
            <p:nvPr/>
          </p:nvSpPr>
          <p:spPr>
            <a:xfrm>
              <a:off x="5201367" y="2534619"/>
              <a:ext cx="1471574" cy="629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r>
                <a:rPr lang="en-US" sz="1100">
                  <a:latin typeface="Calibri"/>
                  <a:ea typeface="Calibri"/>
                  <a:cs typeface="Calibri"/>
                  <a:sym typeface="Calibri"/>
                </a:rPr>
                <a:t>Enable periodic checkpointing of RDDs of a particular Dstream</a:t>
              </a:r>
              <a:endParaRPr/>
            </a:p>
          </p:txBody>
        </p:sp>
        <p:sp>
          <p:nvSpPr>
            <p:cNvPr id="514" name="Google Shape;514;p28"/>
            <p:cNvSpPr/>
            <p:nvPr/>
          </p:nvSpPr>
          <p:spPr>
            <a:xfrm>
              <a:off x="7408729" y="468842"/>
              <a:ext cx="515051" cy="5150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8"/>
            <p:cNvSpPr/>
            <p:nvPr/>
          </p:nvSpPr>
          <p:spPr>
            <a:xfrm>
              <a:off x="6930467" y="1099772"/>
              <a:ext cx="1471574" cy="1380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8"/>
            <p:cNvSpPr txBox="1"/>
            <p:nvPr/>
          </p:nvSpPr>
          <p:spPr>
            <a:xfrm>
              <a:off x="6930467" y="1099772"/>
              <a:ext cx="1471574" cy="13809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Font typeface="Arial"/>
                <a:buNone/>
              </a:pPr>
              <a:r>
                <a:rPr lang="en-US" sz="1400" b="1">
                  <a:latin typeface="Calibri"/>
                  <a:ea typeface="Calibri"/>
                  <a:cs typeface="Calibri"/>
                  <a:sym typeface="Calibri"/>
                </a:rPr>
                <a:t>Demo 27</a:t>
              </a:r>
              <a:endParaRPr/>
            </a:p>
          </p:txBody>
        </p:sp>
        <p:sp>
          <p:nvSpPr>
            <p:cNvPr id="517" name="Google Shape;517;p28"/>
            <p:cNvSpPr/>
            <p:nvPr/>
          </p:nvSpPr>
          <p:spPr>
            <a:xfrm>
              <a:off x="6930467" y="2534619"/>
              <a:ext cx="1471574" cy="629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23" name="Google Shape;523;p29" descr="$PPTXTitle"/>
          <p:cNvSpPr txBox="1">
            <a:spLocks noGrp="1"/>
          </p:cNvSpPr>
          <p:nvPr>
            <p:ph type="title"/>
          </p:nvPr>
        </p:nvSpPr>
        <p:spPr>
          <a:xfrm>
            <a:off x="508661" y="513251"/>
            <a:ext cx="2738488" cy="44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83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DStream Output Operations</a:t>
            </a:r>
            <a:endParaRPr/>
          </a:p>
        </p:txBody>
      </p:sp>
      <p:sp>
        <p:nvSpPr>
          <p:cNvPr id="524" name="Google Shape;524;p29"/>
          <p:cNvSpPr/>
          <p:nvPr/>
        </p:nvSpPr>
        <p:spPr>
          <a:xfrm rot="5400000">
            <a:off x="1303968" y="2773380"/>
            <a:ext cx="4333169" cy="14649"/>
          </a:xfrm>
          <a:custGeom>
            <a:avLst/>
            <a:gdLst/>
            <a:ahLst/>
            <a:cxnLst/>
            <a:rect l="l" t="t" r="r" b="b"/>
            <a:pathLst>
              <a:path w="4333169" h="14649" fill="none" extrusionOk="0">
                <a:moveTo>
                  <a:pt x="0" y="0"/>
                </a:moveTo>
                <a:cubicBezTo>
                  <a:pt x="128856" y="25070"/>
                  <a:pt x="312355" y="10957"/>
                  <a:pt x="575692" y="0"/>
                </a:cubicBezTo>
                <a:cubicBezTo>
                  <a:pt x="839029" y="-10957"/>
                  <a:pt x="949620" y="5271"/>
                  <a:pt x="1064722" y="0"/>
                </a:cubicBezTo>
                <a:cubicBezTo>
                  <a:pt x="1179824" y="-5271"/>
                  <a:pt x="1419897" y="20275"/>
                  <a:pt x="1597082" y="0"/>
                </a:cubicBezTo>
                <a:cubicBezTo>
                  <a:pt x="1774267" y="-20275"/>
                  <a:pt x="1944129" y="-4123"/>
                  <a:pt x="2259438" y="0"/>
                </a:cubicBezTo>
                <a:cubicBezTo>
                  <a:pt x="2574747" y="4123"/>
                  <a:pt x="2624192" y="-8245"/>
                  <a:pt x="2835131" y="0"/>
                </a:cubicBezTo>
                <a:cubicBezTo>
                  <a:pt x="3046070" y="8245"/>
                  <a:pt x="3160630" y="-13045"/>
                  <a:pt x="3367491" y="0"/>
                </a:cubicBezTo>
                <a:cubicBezTo>
                  <a:pt x="3574352" y="13045"/>
                  <a:pt x="3897652" y="-47148"/>
                  <a:pt x="4333169" y="0"/>
                </a:cubicBezTo>
                <a:cubicBezTo>
                  <a:pt x="4332686" y="6699"/>
                  <a:pt x="4333526" y="10253"/>
                  <a:pt x="4333169" y="14649"/>
                </a:cubicBezTo>
                <a:cubicBezTo>
                  <a:pt x="4043558" y="-587"/>
                  <a:pt x="4016013" y="1129"/>
                  <a:pt x="3714145" y="14649"/>
                </a:cubicBezTo>
                <a:cubicBezTo>
                  <a:pt x="3412277" y="28169"/>
                  <a:pt x="3309093" y="37708"/>
                  <a:pt x="3181784" y="14649"/>
                </a:cubicBezTo>
                <a:cubicBezTo>
                  <a:pt x="3054475" y="-8410"/>
                  <a:pt x="2656796" y="18063"/>
                  <a:pt x="2476097" y="14649"/>
                </a:cubicBezTo>
                <a:cubicBezTo>
                  <a:pt x="2295398" y="11235"/>
                  <a:pt x="2146215" y="16821"/>
                  <a:pt x="1900404" y="14649"/>
                </a:cubicBezTo>
                <a:cubicBezTo>
                  <a:pt x="1654593" y="12477"/>
                  <a:pt x="1518560" y="17650"/>
                  <a:pt x="1411375" y="14649"/>
                </a:cubicBezTo>
                <a:cubicBezTo>
                  <a:pt x="1304190" y="11648"/>
                  <a:pt x="966788" y="-133"/>
                  <a:pt x="749019" y="14649"/>
                </a:cubicBezTo>
                <a:cubicBezTo>
                  <a:pt x="531250" y="29431"/>
                  <a:pt x="190094" y="26725"/>
                  <a:pt x="0" y="14649"/>
                </a:cubicBezTo>
                <a:cubicBezTo>
                  <a:pt x="-720" y="8053"/>
                  <a:pt x="-449" y="6550"/>
                  <a:pt x="0" y="0"/>
                </a:cubicBezTo>
                <a:close/>
              </a:path>
              <a:path w="4333169" h="14649" extrusionOk="0">
                <a:moveTo>
                  <a:pt x="0" y="0"/>
                </a:moveTo>
                <a:cubicBezTo>
                  <a:pt x="216857" y="2793"/>
                  <a:pt x="354276" y="9102"/>
                  <a:pt x="575692" y="0"/>
                </a:cubicBezTo>
                <a:cubicBezTo>
                  <a:pt x="797108" y="-9102"/>
                  <a:pt x="911680" y="-20178"/>
                  <a:pt x="1064722" y="0"/>
                </a:cubicBezTo>
                <a:cubicBezTo>
                  <a:pt x="1217764" y="20178"/>
                  <a:pt x="1490632" y="6117"/>
                  <a:pt x="1770409" y="0"/>
                </a:cubicBezTo>
                <a:cubicBezTo>
                  <a:pt x="2050186" y="-6117"/>
                  <a:pt x="2184880" y="10708"/>
                  <a:pt x="2346102" y="0"/>
                </a:cubicBezTo>
                <a:cubicBezTo>
                  <a:pt x="2507324" y="-10708"/>
                  <a:pt x="2785516" y="-9914"/>
                  <a:pt x="2921794" y="0"/>
                </a:cubicBezTo>
                <a:cubicBezTo>
                  <a:pt x="3058072" y="9914"/>
                  <a:pt x="3439096" y="-22613"/>
                  <a:pt x="3627481" y="0"/>
                </a:cubicBezTo>
                <a:cubicBezTo>
                  <a:pt x="3815866" y="22613"/>
                  <a:pt x="4146942" y="-20150"/>
                  <a:pt x="4333169" y="0"/>
                </a:cubicBezTo>
                <a:cubicBezTo>
                  <a:pt x="4332981" y="4765"/>
                  <a:pt x="4333012" y="10228"/>
                  <a:pt x="4333169" y="14649"/>
                </a:cubicBezTo>
                <a:cubicBezTo>
                  <a:pt x="4105784" y="-5264"/>
                  <a:pt x="3992784" y="2480"/>
                  <a:pt x="3800808" y="14649"/>
                </a:cubicBezTo>
                <a:cubicBezTo>
                  <a:pt x="3608832" y="26818"/>
                  <a:pt x="3465267" y="-13713"/>
                  <a:pt x="3181784" y="14649"/>
                </a:cubicBezTo>
                <a:cubicBezTo>
                  <a:pt x="2898301" y="43011"/>
                  <a:pt x="2815705" y="-6224"/>
                  <a:pt x="2562760" y="14649"/>
                </a:cubicBezTo>
                <a:cubicBezTo>
                  <a:pt x="2309815" y="35522"/>
                  <a:pt x="2140147" y="-12705"/>
                  <a:pt x="1987067" y="14649"/>
                </a:cubicBezTo>
                <a:cubicBezTo>
                  <a:pt x="1833987" y="42003"/>
                  <a:pt x="1494374" y="41344"/>
                  <a:pt x="1281380" y="14649"/>
                </a:cubicBezTo>
                <a:cubicBezTo>
                  <a:pt x="1068386" y="-12046"/>
                  <a:pt x="927980" y="-11496"/>
                  <a:pt x="575692" y="14649"/>
                </a:cubicBezTo>
                <a:cubicBezTo>
                  <a:pt x="223404" y="40794"/>
                  <a:pt x="133524" y="37957"/>
                  <a:pt x="0" y="14649"/>
                </a:cubicBezTo>
                <a:cubicBezTo>
                  <a:pt x="698" y="10822"/>
                  <a:pt x="-168" y="58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grpSp>
        <p:nvGrpSpPr>
          <p:cNvPr id="525" name="Google Shape;525;p29"/>
          <p:cNvGrpSpPr/>
          <p:nvPr/>
        </p:nvGrpSpPr>
        <p:grpSpPr>
          <a:xfrm>
            <a:off x="3723256" y="513250"/>
            <a:ext cx="5527597" cy="4434038"/>
            <a:chOff x="0" y="0"/>
            <a:chExt cx="5527597" cy="4434038"/>
          </a:xfrm>
        </p:grpSpPr>
        <p:cxnSp>
          <p:nvCxnSpPr>
            <p:cNvPr id="526" name="Google Shape;526;p29"/>
            <p:cNvCxnSpPr/>
            <p:nvPr/>
          </p:nvCxnSpPr>
          <p:spPr>
            <a:xfrm>
              <a:off x="0" y="0"/>
              <a:ext cx="5527597" cy="0"/>
            </a:xfrm>
            <a:prstGeom prst="straightConnector1">
              <a:avLst/>
            </a:prstGeom>
            <a:solidFill>
              <a:srgbClr val="BF504D"/>
            </a:solidFill>
            <a:ln w="25400" cap="flat" cmpd="sng">
              <a:solidFill>
                <a:srgbClr val="BF504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27" name="Google Shape;527;p29"/>
            <p:cNvSpPr/>
            <p:nvPr/>
          </p:nvSpPr>
          <p:spPr>
            <a:xfrm>
              <a:off x="0" y="0"/>
              <a:ext cx="5527597" cy="1108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 txBox="1"/>
            <p:nvPr/>
          </p:nvSpPr>
          <p:spPr>
            <a:xfrm>
              <a:off x="0" y="0"/>
              <a:ext cx="5527597" cy="1108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700"/>
                <a:buFont typeface="Arial"/>
                <a:buNone/>
              </a:pPr>
              <a:r>
                <a:rPr lang="en-US" sz="1700">
                  <a:latin typeface="Calibri"/>
                  <a:ea typeface="Calibri"/>
                  <a:cs typeface="Calibri"/>
                  <a:sym typeface="Calibri"/>
                </a:rPr>
                <a:t>DStream output operations write data, results, events, or other data to 	a console, a filesystem, a database, or another destination, such as a 	messaging platform like Kafka</a:t>
              </a:r>
              <a:endParaRPr/>
            </a:p>
          </p:txBody>
        </p:sp>
        <p:cxnSp>
          <p:nvCxnSpPr>
            <p:cNvPr id="529" name="Google Shape;529;p29"/>
            <p:cNvCxnSpPr/>
            <p:nvPr/>
          </p:nvCxnSpPr>
          <p:spPr>
            <a:xfrm>
              <a:off x="0" y="1108509"/>
              <a:ext cx="5527597" cy="0"/>
            </a:xfrm>
            <a:prstGeom prst="straightConnector1">
              <a:avLst/>
            </a:prstGeom>
            <a:solidFill>
              <a:srgbClr val="BC8250"/>
            </a:solidFill>
            <a:ln w="25400" cap="flat" cmpd="sng">
              <a:solidFill>
                <a:srgbClr val="BC82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30" name="Google Shape;530;p29"/>
            <p:cNvSpPr/>
            <p:nvPr/>
          </p:nvSpPr>
          <p:spPr>
            <a:xfrm>
              <a:off x="0" y="1108509"/>
              <a:ext cx="5527597" cy="1108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 txBox="1"/>
            <p:nvPr/>
          </p:nvSpPr>
          <p:spPr>
            <a:xfrm>
              <a:off x="0" y="1108509"/>
              <a:ext cx="5527597" cy="1108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700"/>
                <a:buFont typeface="Arial"/>
                <a:buNone/>
              </a:pPr>
              <a:r>
                <a:rPr lang="en-US" sz="1700">
                  <a:latin typeface="Calibri"/>
                  <a:ea typeface="Calibri"/>
                  <a:cs typeface="Calibri"/>
                  <a:sym typeface="Calibri"/>
                </a:rPr>
                <a:t>DStream.pprint(num=10)</a:t>
              </a:r>
              <a:endParaRPr/>
            </a:p>
          </p:txBody>
        </p:sp>
        <p:cxnSp>
          <p:nvCxnSpPr>
            <p:cNvPr id="532" name="Google Shape;532;p29"/>
            <p:cNvCxnSpPr/>
            <p:nvPr/>
          </p:nvCxnSpPr>
          <p:spPr>
            <a:xfrm>
              <a:off x="0" y="2217019"/>
              <a:ext cx="5527597" cy="0"/>
            </a:xfrm>
            <a:prstGeom prst="straightConnector1">
              <a:avLst/>
            </a:prstGeom>
            <a:solidFill>
              <a:srgbClr val="BBB054"/>
            </a:solidFill>
            <a:ln w="25400" cap="flat" cmpd="sng">
              <a:solidFill>
                <a:srgbClr val="BBB05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33" name="Google Shape;533;p29"/>
            <p:cNvSpPr/>
            <p:nvPr/>
          </p:nvSpPr>
          <p:spPr>
            <a:xfrm>
              <a:off x="0" y="2217019"/>
              <a:ext cx="5527597" cy="1108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/>
            <p:cNvSpPr txBox="1"/>
            <p:nvPr/>
          </p:nvSpPr>
          <p:spPr>
            <a:xfrm>
              <a:off x="0" y="2217019"/>
              <a:ext cx="5527597" cy="1108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700"/>
                <a:buFont typeface="Arial"/>
                <a:buNone/>
              </a:pPr>
              <a:r>
                <a:rPr lang="en-US" sz="1700">
                  <a:latin typeface="Calibri"/>
                  <a:ea typeface="Calibri"/>
                  <a:cs typeface="Calibri"/>
                  <a:sym typeface="Calibri"/>
                </a:rPr>
                <a:t>DStream.saveAsTextFiles(prefix, suffix-=None)</a:t>
              </a:r>
              <a:endParaRPr/>
            </a:p>
          </p:txBody>
        </p:sp>
        <p:cxnSp>
          <p:nvCxnSpPr>
            <p:cNvPr id="535" name="Google Shape;535;p29"/>
            <p:cNvCxnSpPr/>
            <p:nvPr/>
          </p:nvCxnSpPr>
          <p:spPr>
            <a:xfrm>
              <a:off x="0" y="3325529"/>
              <a:ext cx="5527597" cy="0"/>
            </a:xfrm>
            <a:prstGeom prst="straightConnector1">
              <a:avLst/>
            </a:prstGeom>
            <a:solidFill>
              <a:srgbClr val="99B958"/>
            </a:solidFill>
            <a:ln w="25400" cap="flat" cmpd="sng">
              <a:solidFill>
                <a:srgbClr val="99B95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36" name="Google Shape;536;p29"/>
            <p:cNvSpPr/>
            <p:nvPr/>
          </p:nvSpPr>
          <p:spPr>
            <a:xfrm>
              <a:off x="0" y="3325529"/>
              <a:ext cx="5527597" cy="1108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 txBox="1"/>
            <p:nvPr/>
          </p:nvSpPr>
          <p:spPr>
            <a:xfrm>
              <a:off x="0" y="3325529"/>
              <a:ext cx="5527597" cy="11085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t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700"/>
                <a:buFont typeface="Arial"/>
                <a:buNone/>
              </a:pPr>
              <a:r>
                <a:rPr lang="en-US" sz="1700">
                  <a:latin typeface="Calibri"/>
                  <a:ea typeface="Calibri"/>
                  <a:cs typeface="Calibri"/>
                  <a:sym typeface="Calibri"/>
                </a:rPr>
                <a:t>DStream.foreachRDD(func)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0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43" name="Google Shape;543;p30" descr="$PPTXTitle"/>
          <p:cNvSpPr txBox="1">
            <a:spLocks noGrp="1"/>
          </p:cNvSpPr>
          <p:nvPr>
            <p:ph type="title"/>
          </p:nvPr>
        </p:nvSpPr>
        <p:spPr>
          <a:xfrm>
            <a:off x="673874" y="268025"/>
            <a:ext cx="8418551" cy="862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79678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Operations</a:t>
            </a: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675095" y="0"/>
            <a:ext cx="8416109" cy="1532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0"/>
          <p:cNvSpPr/>
          <p:nvPr/>
        </p:nvSpPr>
        <p:spPr>
          <a:xfrm>
            <a:off x="673874" y="1211796"/>
            <a:ext cx="8416109" cy="14647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6" name="Google Shape;546;p30"/>
          <p:cNvGrpSpPr/>
          <p:nvPr/>
        </p:nvGrpSpPr>
        <p:grpSpPr>
          <a:xfrm>
            <a:off x="806987" y="2094015"/>
            <a:ext cx="8145000" cy="2227500"/>
            <a:chOff x="135554" y="702519"/>
            <a:chExt cx="8145000" cy="2227500"/>
          </a:xfrm>
        </p:grpSpPr>
        <p:sp>
          <p:nvSpPr>
            <p:cNvPr id="547" name="Google Shape;547;p30"/>
            <p:cNvSpPr/>
            <p:nvPr/>
          </p:nvSpPr>
          <p:spPr>
            <a:xfrm>
              <a:off x="486554" y="702519"/>
              <a:ext cx="1098000" cy="1098000"/>
            </a:xfrm>
            <a:prstGeom prst="round2DiagRect">
              <a:avLst>
                <a:gd name="adj1" fmla="val 29727"/>
                <a:gd name="adj2" fmla="val 0"/>
              </a:avLst>
            </a:prstGeom>
            <a:solidFill>
              <a:srgbClr val="BF50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720554" y="936519"/>
              <a:ext cx="630000" cy="63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35554" y="2142519"/>
              <a:ext cx="1800000" cy="78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 txBox="1"/>
            <p:nvPr/>
          </p:nvSpPr>
          <p:spPr>
            <a:xfrm>
              <a:off x="135554" y="2142519"/>
              <a:ext cx="1800000" cy="78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r>
                <a:rPr lang="en-US" sz="1100" cap="none">
                  <a:latin typeface="Calibri"/>
                  <a:ea typeface="Calibri"/>
                  <a:cs typeface="Calibri"/>
                  <a:sym typeface="Calibri"/>
                </a:rPr>
                <a:t>MAINTAIN STATE ACROSS BATCHES OF DATA, WITH THE STATE UPDATED AS EACH NEW BATCH IS PROCESSED</a:t>
              </a: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601554" y="702519"/>
              <a:ext cx="1098000" cy="1098000"/>
            </a:xfrm>
            <a:prstGeom prst="round2DiagRect">
              <a:avLst>
                <a:gd name="adj1" fmla="val 29727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0"/>
            <p:cNvSpPr/>
            <p:nvPr/>
          </p:nvSpPr>
          <p:spPr>
            <a:xfrm>
              <a:off x="2835554" y="936519"/>
              <a:ext cx="630000" cy="63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0"/>
            <p:cNvSpPr/>
            <p:nvPr/>
          </p:nvSpPr>
          <p:spPr>
            <a:xfrm>
              <a:off x="2250554" y="2142519"/>
              <a:ext cx="1800000" cy="78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 txBox="1"/>
            <p:nvPr/>
          </p:nvSpPr>
          <p:spPr>
            <a:xfrm>
              <a:off x="2250554" y="2142519"/>
              <a:ext cx="1800000" cy="78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r>
                <a:rPr lang="en-US" sz="1100" cap="none">
                  <a:latin typeface="Calibri"/>
                  <a:ea typeface="Calibri"/>
                  <a:cs typeface="Calibri"/>
                  <a:sym typeface="Calibri"/>
                </a:rPr>
                <a:t>STATE DSTREAMS ARE CREATED AND UPDATED USING THE SPECIAL 	UPDATESTATEBYKEY() TRANSFORMATION</a:t>
              </a: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4716554" y="702519"/>
              <a:ext cx="1098000" cy="1098000"/>
            </a:xfrm>
            <a:prstGeom prst="round2DiagRect">
              <a:avLst>
                <a:gd name="adj1" fmla="val 29727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4950554" y="936519"/>
              <a:ext cx="630000" cy="63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4365554" y="2142519"/>
              <a:ext cx="1800000" cy="78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 txBox="1"/>
            <p:nvPr/>
          </p:nvSpPr>
          <p:spPr>
            <a:xfrm>
              <a:off x="4365554" y="2142519"/>
              <a:ext cx="1800000" cy="78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r>
                <a:rPr lang="en-US" sz="1100" cap="none">
                  <a:latin typeface="Calibri"/>
                  <a:ea typeface="Calibri"/>
                  <a:cs typeface="Calibri"/>
                  <a:sym typeface="Calibri"/>
                </a:rPr>
                <a:t>DSTREAM.UPDATESTATEBYKEY(UPDATEFUNC, NUMPARTITIONS=NONE)</a:t>
              </a: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6831554" y="702519"/>
              <a:ext cx="1098000" cy="1098000"/>
            </a:xfrm>
            <a:prstGeom prst="round2DiagRect">
              <a:avLst>
                <a:gd name="adj1" fmla="val 29727"/>
                <a:gd name="adj2" fmla="val 0"/>
              </a:avLst>
            </a:prstGeom>
            <a:solidFill>
              <a:srgbClr val="49AC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7065554" y="936519"/>
              <a:ext cx="630000" cy="63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6480554" y="2142519"/>
              <a:ext cx="1800000" cy="78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0"/>
            <p:cNvSpPr txBox="1"/>
            <p:nvPr/>
          </p:nvSpPr>
          <p:spPr>
            <a:xfrm>
              <a:off x="6480554" y="2142519"/>
              <a:ext cx="1800000" cy="78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r>
                <a:rPr lang="en-US" sz="1100" cap="none">
                  <a:latin typeface="Calibri"/>
                  <a:ea typeface="Calibri"/>
                  <a:cs typeface="Calibri"/>
                  <a:sym typeface="Calibri"/>
                </a:rPr>
                <a:t>DEMO 28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1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68" name="Google Shape;568;p31" descr="$PPTXTitle"/>
          <p:cNvSpPr txBox="1">
            <a:spLocks noGrp="1"/>
          </p:cNvSpPr>
          <p:nvPr>
            <p:ph type="title"/>
          </p:nvPr>
        </p:nvSpPr>
        <p:spPr>
          <a:xfrm>
            <a:off x="671433" y="292438"/>
            <a:ext cx="8423433" cy="1061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951537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Sliding Window Operation</a:t>
            </a:r>
            <a:endParaRPr dirty="0"/>
          </a:p>
        </p:txBody>
      </p:sp>
      <p:sp>
        <p:nvSpPr>
          <p:cNvPr id="569" name="Google Shape;569;p31"/>
          <p:cNvSpPr/>
          <p:nvPr/>
        </p:nvSpPr>
        <p:spPr>
          <a:xfrm>
            <a:off x="535925" y="1343451"/>
            <a:ext cx="8694449" cy="14647"/>
          </a:xfrm>
          <a:custGeom>
            <a:avLst/>
            <a:gdLst/>
            <a:ahLst/>
            <a:cxnLst/>
            <a:rect l="l" t="t" r="r" b="b"/>
            <a:pathLst>
              <a:path w="8694449" h="14647" fill="none" extrusionOk="0">
                <a:moveTo>
                  <a:pt x="0" y="0"/>
                </a:moveTo>
                <a:cubicBezTo>
                  <a:pt x="162145" y="-28804"/>
                  <a:pt x="311019" y="-12461"/>
                  <a:pt x="581859" y="0"/>
                </a:cubicBezTo>
                <a:cubicBezTo>
                  <a:pt x="852699" y="12461"/>
                  <a:pt x="1112522" y="31991"/>
                  <a:pt x="1250663" y="0"/>
                </a:cubicBezTo>
                <a:cubicBezTo>
                  <a:pt x="1388804" y="-31991"/>
                  <a:pt x="1705603" y="15214"/>
                  <a:pt x="2006411" y="0"/>
                </a:cubicBezTo>
                <a:cubicBezTo>
                  <a:pt x="2307219" y="-15214"/>
                  <a:pt x="2442886" y="13203"/>
                  <a:pt x="2588271" y="0"/>
                </a:cubicBezTo>
                <a:cubicBezTo>
                  <a:pt x="2733656" y="-13203"/>
                  <a:pt x="2946018" y="1392"/>
                  <a:pt x="3257074" y="0"/>
                </a:cubicBezTo>
                <a:cubicBezTo>
                  <a:pt x="3568130" y="-1392"/>
                  <a:pt x="3765049" y="-17408"/>
                  <a:pt x="4099767" y="0"/>
                </a:cubicBezTo>
                <a:cubicBezTo>
                  <a:pt x="4434485" y="17408"/>
                  <a:pt x="4433621" y="15782"/>
                  <a:pt x="4594682" y="0"/>
                </a:cubicBezTo>
                <a:cubicBezTo>
                  <a:pt x="4755743" y="-15782"/>
                  <a:pt x="5027507" y="12175"/>
                  <a:pt x="5350430" y="0"/>
                </a:cubicBezTo>
                <a:cubicBezTo>
                  <a:pt x="5673353" y="-12175"/>
                  <a:pt x="5680975" y="-17519"/>
                  <a:pt x="5845345" y="0"/>
                </a:cubicBezTo>
                <a:cubicBezTo>
                  <a:pt x="6009715" y="17519"/>
                  <a:pt x="6206327" y="-4943"/>
                  <a:pt x="6514149" y="0"/>
                </a:cubicBezTo>
                <a:cubicBezTo>
                  <a:pt x="6821971" y="4943"/>
                  <a:pt x="6944369" y="-37680"/>
                  <a:pt x="7269897" y="0"/>
                </a:cubicBezTo>
                <a:cubicBezTo>
                  <a:pt x="7595425" y="37680"/>
                  <a:pt x="7516962" y="2241"/>
                  <a:pt x="7677867" y="0"/>
                </a:cubicBezTo>
                <a:cubicBezTo>
                  <a:pt x="7838772" y="-2241"/>
                  <a:pt x="7990688" y="7404"/>
                  <a:pt x="8085838" y="0"/>
                </a:cubicBezTo>
                <a:cubicBezTo>
                  <a:pt x="8180988" y="-7404"/>
                  <a:pt x="8558939" y="15726"/>
                  <a:pt x="8694449" y="0"/>
                </a:cubicBezTo>
                <a:cubicBezTo>
                  <a:pt x="8694081" y="5822"/>
                  <a:pt x="8693908" y="7361"/>
                  <a:pt x="8694449" y="14647"/>
                </a:cubicBezTo>
                <a:cubicBezTo>
                  <a:pt x="8387371" y="-2845"/>
                  <a:pt x="8235841" y="-12859"/>
                  <a:pt x="7938701" y="14647"/>
                </a:cubicBezTo>
                <a:cubicBezTo>
                  <a:pt x="7641561" y="42153"/>
                  <a:pt x="7459896" y="39159"/>
                  <a:pt x="7269897" y="14647"/>
                </a:cubicBezTo>
                <a:cubicBezTo>
                  <a:pt x="7079898" y="-9865"/>
                  <a:pt x="6837550" y="1311"/>
                  <a:pt x="6688038" y="14647"/>
                </a:cubicBezTo>
                <a:cubicBezTo>
                  <a:pt x="6538526" y="27983"/>
                  <a:pt x="6202723" y="3336"/>
                  <a:pt x="5932289" y="14647"/>
                </a:cubicBezTo>
                <a:cubicBezTo>
                  <a:pt x="5661855" y="25958"/>
                  <a:pt x="5477655" y="39573"/>
                  <a:pt x="5263486" y="14647"/>
                </a:cubicBezTo>
                <a:cubicBezTo>
                  <a:pt x="5049317" y="-10279"/>
                  <a:pt x="4737808" y="6923"/>
                  <a:pt x="4420793" y="14647"/>
                </a:cubicBezTo>
                <a:cubicBezTo>
                  <a:pt x="4103778" y="22371"/>
                  <a:pt x="3912027" y="4670"/>
                  <a:pt x="3578100" y="14647"/>
                </a:cubicBezTo>
                <a:cubicBezTo>
                  <a:pt x="3244173" y="24624"/>
                  <a:pt x="3041875" y="-22867"/>
                  <a:pt x="2822352" y="14647"/>
                </a:cubicBezTo>
                <a:cubicBezTo>
                  <a:pt x="2602829" y="52161"/>
                  <a:pt x="2331703" y="-11229"/>
                  <a:pt x="2066604" y="14647"/>
                </a:cubicBezTo>
                <a:cubicBezTo>
                  <a:pt x="1801505" y="40523"/>
                  <a:pt x="1521287" y="24462"/>
                  <a:pt x="1310855" y="14647"/>
                </a:cubicBezTo>
                <a:cubicBezTo>
                  <a:pt x="1100423" y="4832"/>
                  <a:pt x="986843" y="28055"/>
                  <a:pt x="815941" y="14647"/>
                </a:cubicBezTo>
                <a:cubicBezTo>
                  <a:pt x="645039" y="1239"/>
                  <a:pt x="289657" y="-7475"/>
                  <a:pt x="0" y="14647"/>
                </a:cubicBezTo>
                <a:cubicBezTo>
                  <a:pt x="226" y="11367"/>
                  <a:pt x="-224" y="4027"/>
                  <a:pt x="0" y="0"/>
                </a:cubicBezTo>
                <a:close/>
              </a:path>
              <a:path w="8694449" h="14647" extrusionOk="0">
                <a:moveTo>
                  <a:pt x="0" y="0"/>
                </a:moveTo>
                <a:cubicBezTo>
                  <a:pt x="119429" y="-12740"/>
                  <a:pt x="303234" y="10059"/>
                  <a:pt x="581859" y="0"/>
                </a:cubicBezTo>
                <a:cubicBezTo>
                  <a:pt x="860484" y="-10059"/>
                  <a:pt x="845958" y="-14377"/>
                  <a:pt x="989830" y="0"/>
                </a:cubicBezTo>
                <a:cubicBezTo>
                  <a:pt x="1133702" y="14377"/>
                  <a:pt x="1623312" y="-34974"/>
                  <a:pt x="1832522" y="0"/>
                </a:cubicBezTo>
                <a:cubicBezTo>
                  <a:pt x="2041732" y="34974"/>
                  <a:pt x="2233237" y="12682"/>
                  <a:pt x="2414382" y="0"/>
                </a:cubicBezTo>
                <a:cubicBezTo>
                  <a:pt x="2595527" y="-12682"/>
                  <a:pt x="2739878" y="-5287"/>
                  <a:pt x="2996241" y="0"/>
                </a:cubicBezTo>
                <a:cubicBezTo>
                  <a:pt x="3252604" y="5287"/>
                  <a:pt x="3472321" y="-2426"/>
                  <a:pt x="3838934" y="0"/>
                </a:cubicBezTo>
                <a:cubicBezTo>
                  <a:pt x="4205547" y="2426"/>
                  <a:pt x="4198686" y="21774"/>
                  <a:pt x="4333848" y="0"/>
                </a:cubicBezTo>
                <a:cubicBezTo>
                  <a:pt x="4469010" y="-21774"/>
                  <a:pt x="4890186" y="-10934"/>
                  <a:pt x="5176541" y="0"/>
                </a:cubicBezTo>
                <a:cubicBezTo>
                  <a:pt x="5462896" y="10934"/>
                  <a:pt x="5778726" y="-34983"/>
                  <a:pt x="6019234" y="0"/>
                </a:cubicBezTo>
                <a:cubicBezTo>
                  <a:pt x="6259742" y="34983"/>
                  <a:pt x="6398931" y="-5529"/>
                  <a:pt x="6688038" y="0"/>
                </a:cubicBezTo>
                <a:cubicBezTo>
                  <a:pt x="6977145" y="5529"/>
                  <a:pt x="7194620" y="-7281"/>
                  <a:pt x="7530730" y="0"/>
                </a:cubicBezTo>
                <a:cubicBezTo>
                  <a:pt x="7866840" y="7281"/>
                  <a:pt x="7893287" y="4079"/>
                  <a:pt x="8112590" y="0"/>
                </a:cubicBezTo>
                <a:cubicBezTo>
                  <a:pt x="8331893" y="-4079"/>
                  <a:pt x="8478633" y="-27372"/>
                  <a:pt x="8694449" y="0"/>
                </a:cubicBezTo>
                <a:cubicBezTo>
                  <a:pt x="8694837" y="6839"/>
                  <a:pt x="8693919" y="10305"/>
                  <a:pt x="8694449" y="14647"/>
                </a:cubicBezTo>
                <a:cubicBezTo>
                  <a:pt x="8431883" y="2023"/>
                  <a:pt x="8278035" y="35547"/>
                  <a:pt x="8025645" y="14647"/>
                </a:cubicBezTo>
                <a:cubicBezTo>
                  <a:pt x="7773255" y="-6253"/>
                  <a:pt x="7549306" y="40900"/>
                  <a:pt x="7356841" y="14647"/>
                </a:cubicBezTo>
                <a:cubicBezTo>
                  <a:pt x="7164376" y="-11606"/>
                  <a:pt x="6750974" y="-18406"/>
                  <a:pt x="6514149" y="14647"/>
                </a:cubicBezTo>
                <a:cubicBezTo>
                  <a:pt x="6277324" y="47700"/>
                  <a:pt x="6027179" y="21286"/>
                  <a:pt x="5845345" y="14647"/>
                </a:cubicBezTo>
                <a:cubicBezTo>
                  <a:pt x="5663511" y="8008"/>
                  <a:pt x="5563200" y="602"/>
                  <a:pt x="5437375" y="14647"/>
                </a:cubicBezTo>
                <a:cubicBezTo>
                  <a:pt x="5311550" y="28693"/>
                  <a:pt x="5178501" y="33222"/>
                  <a:pt x="4942460" y="14647"/>
                </a:cubicBezTo>
                <a:cubicBezTo>
                  <a:pt x="4706420" y="-3928"/>
                  <a:pt x="4292113" y="20781"/>
                  <a:pt x="4099767" y="14647"/>
                </a:cubicBezTo>
                <a:cubicBezTo>
                  <a:pt x="3907421" y="8513"/>
                  <a:pt x="3740436" y="-5461"/>
                  <a:pt x="3430963" y="14647"/>
                </a:cubicBezTo>
                <a:cubicBezTo>
                  <a:pt x="3121490" y="34755"/>
                  <a:pt x="3056979" y="12478"/>
                  <a:pt x="2936049" y="14647"/>
                </a:cubicBezTo>
                <a:cubicBezTo>
                  <a:pt x="2815119" y="16816"/>
                  <a:pt x="2410059" y="29030"/>
                  <a:pt x="2267245" y="14647"/>
                </a:cubicBezTo>
                <a:cubicBezTo>
                  <a:pt x="2124431" y="264"/>
                  <a:pt x="1956755" y="13963"/>
                  <a:pt x="1859274" y="14647"/>
                </a:cubicBezTo>
                <a:cubicBezTo>
                  <a:pt x="1761793" y="15331"/>
                  <a:pt x="1584592" y="26814"/>
                  <a:pt x="1451304" y="14647"/>
                </a:cubicBezTo>
                <a:cubicBezTo>
                  <a:pt x="1318016" y="2481"/>
                  <a:pt x="968868" y="3648"/>
                  <a:pt x="782500" y="14647"/>
                </a:cubicBezTo>
                <a:cubicBezTo>
                  <a:pt x="596132" y="25646"/>
                  <a:pt x="248680" y="-18497"/>
                  <a:pt x="0" y="14647"/>
                </a:cubicBezTo>
                <a:cubicBezTo>
                  <a:pt x="-646" y="10028"/>
                  <a:pt x="-554" y="367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70" name="Google Shape;570;p31"/>
          <p:cNvSpPr txBox="1"/>
          <p:nvPr/>
        </p:nvSpPr>
        <p:spPr>
          <a:xfrm>
            <a:off x="671433" y="1545293"/>
            <a:ext cx="8423433" cy="3405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92239" lvl="0" indent="-19223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aggregations over a specific window (the last hour or day)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window()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reduceByKeyAndWindow()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11EEE-91B3-56AB-D809-0941B9F610DA}"/>
              </a:ext>
            </a:extLst>
          </p:cNvPr>
          <p:cNvSpPr txBox="1"/>
          <p:nvPr/>
        </p:nvSpPr>
        <p:spPr>
          <a:xfrm>
            <a:off x="2442882" y="2598276"/>
            <a:ext cx="48857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spc="-10" dirty="0"/>
              <a:t>partition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6C7B-285B-774C-987F-1DFDCF3C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C6C6459-F1FE-94BE-2FFA-74C39058E2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8364" y="309902"/>
            <a:ext cx="7397913" cy="952261"/>
          </a:xfrm>
          <a:prstGeom prst="rect">
            <a:avLst/>
          </a:prstGeom>
        </p:spPr>
        <p:txBody>
          <a:bodyPr spcFirstLastPara="1" vert="horz" wrap="square" lIns="73237" tIns="36618" rIns="73237" bIns="36618" rtlCol="0" anchor="b" anchorCtr="0">
            <a:normAutofit/>
          </a:bodyPr>
          <a:lstStyle/>
          <a:p>
            <a:pPr marL="10171"/>
            <a:r>
              <a:rPr lang="en-US" sz="4325" kern="1200" spc="-36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 Function </a:t>
            </a:r>
          </a:p>
        </p:txBody>
      </p:sp>
      <p:sp>
        <p:nvSpPr>
          <p:cNvPr id="10" name="object 2"/>
          <p:cNvSpPr txBox="1"/>
          <p:nvPr/>
        </p:nvSpPr>
        <p:spPr>
          <a:xfrm>
            <a:off x="636368" y="2082014"/>
            <a:ext cx="8124327" cy="2751606"/>
          </a:xfrm>
          <a:prstGeom prst="rect">
            <a:avLst/>
          </a:prstGeom>
        </p:spPr>
        <p:txBody>
          <a:bodyPr vert="horz" lIns="73237" tIns="36618" rIns="73237" bIns="36618" rtlCol="0" anchor="ctr">
            <a:normAutofit/>
          </a:bodyPr>
          <a:lstStyle/>
          <a:p>
            <a:pPr marL="10171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1922" b="1" spc="-28" dirty="0"/>
              <a:t>What</a:t>
            </a:r>
            <a:r>
              <a:rPr lang="en-US" sz="1922" b="1" spc="-91" dirty="0"/>
              <a:t> </a:t>
            </a:r>
            <a:r>
              <a:rPr lang="en-US" sz="1922" b="1" dirty="0"/>
              <a:t>Is</a:t>
            </a:r>
            <a:r>
              <a:rPr lang="en-US" sz="1922" b="1" spc="-104" dirty="0"/>
              <a:t> </a:t>
            </a:r>
            <a:r>
              <a:rPr lang="en-US" sz="1922" b="1" spc="-72" dirty="0"/>
              <a:t>a</a:t>
            </a:r>
            <a:r>
              <a:rPr lang="en-US" sz="1922" b="1" spc="-64" dirty="0"/>
              <a:t> </a:t>
            </a:r>
            <a:r>
              <a:rPr lang="en-US" sz="1922" b="1" spc="-8" dirty="0"/>
              <a:t>Window</a:t>
            </a:r>
            <a:r>
              <a:rPr lang="en-US" sz="1922" b="1" spc="-84" dirty="0"/>
              <a:t> </a:t>
            </a:r>
            <a:r>
              <a:rPr lang="en-US" sz="1922" b="1" spc="-8" dirty="0"/>
              <a:t>Function</a:t>
            </a:r>
            <a:endParaRPr lang="en-US" sz="1922" dirty="0"/>
          </a:p>
          <a:p>
            <a:pPr indent="-183086">
              <a:lnSpc>
                <a:spcPct val="90000"/>
              </a:lnSpc>
              <a:spcBef>
                <a:spcPts val="96"/>
              </a:spcBef>
              <a:buFont typeface="Arial" panose="020B0604020202020204" pitchFamily="34" charset="0"/>
              <a:buChar char="•"/>
            </a:pPr>
            <a:endParaRPr lang="en-US" sz="1922" dirty="0"/>
          </a:p>
          <a:p>
            <a:pPr marL="10171" marR="4069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22" dirty="0"/>
              <a:t>Definition:</a:t>
            </a:r>
            <a:r>
              <a:rPr lang="en-US" sz="1922" spc="-44" dirty="0"/>
              <a:t> </a:t>
            </a:r>
            <a:r>
              <a:rPr lang="en-US" sz="1922" dirty="0"/>
              <a:t>A</a:t>
            </a:r>
            <a:r>
              <a:rPr lang="en-US" sz="1922" spc="-44" dirty="0"/>
              <a:t> </a:t>
            </a:r>
            <a:r>
              <a:rPr lang="en-US" sz="1922" dirty="0"/>
              <a:t>window</a:t>
            </a:r>
            <a:r>
              <a:rPr lang="en-US" sz="1922" spc="-40" dirty="0"/>
              <a:t> </a:t>
            </a:r>
            <a:r>
              <a:rPr lang="en-US" sz="1922" dirty="0"/>
              <a:t>function</a:t>
            </a:r>
            <a:r>
              <a:rPr lang="en-US" sz="1922" spc="-44" dirty="0"/>
              <a:t> </a:t>
            </a:r>
            <a:r>
              <a:rPr lang="en-US" sz="1922" dirty="0"/>
              <a:t>performs</a:t>
            </a:r>
            <a:r>
              <a:rPr lang="en-US" sz="1922" spc="-44" dirty="0"/>
              <a:t> </a:t>
            </a:r>
            <a:r>
              <a:rPr lang="en-US" sz="1922" dirty="0"/>
              <a:t>a</a:t>
            </a:r>
            <a:r>
              <a:rPr lang="en-US" sz="1922" spc="-40" dirty="0"/>
              <a:t> </a:t>
            </a:r>
            <a:r>
              <a:rPr lang="en-US" sz="1922" dirty="0"/>
              <a:t>calculation</a:t>
            </a:r>
            <a:r>
              <a:rPr lang="en-US" sz="1922" spc="-44" dirty="0"/>
              <a:t> </a:t>
            </a:r>
            <a:r>
              <a:rPr lang="en-US" sz="1922" dirty="0"/>
              <a:t>across</a:t>
            </a:r>
            <a:r>
              <a:rPr lang="en-US" sz="1922" spc="-44" dirty="0"/>
              <a:t> </a:t>
            </a:r>
            <a:r>
              <a:rPr lang="en-US" sz="1922" dirty="0"/>
              <a:t>a</a:t>
            </a:r>
            <a:r>
              <a:rPr lang="en-US" sz="1922" spc="-40" dirty="0"/>
              <a:t> </a:t>
            </a:r>
            <a:r>
              <a:rPr lang="en-US" sz="1922" dirty="0"/>
              <a:t>set</a:t>
            </a:r>
            <a:r>
              <a:rPr lang="en-US" sz="1922" spc="-44" dirty="0"/>
              <a:t> </a:t>
            </a:r>
            <a:r>
              <a:rPr lang="en-US" sz="1922" dirty="0"/>
              <a:t>of</a:t>
            </a:r>
            <a:r>
              <a:rPr lang="en-US" sz="1922" spc="-44" dirty="0"/>
              <a:t> </a:t>
            </a:r>
            <a:r>
              <a:rPr lang="en-US" sz="1922" dirty="0"/>
              <a:t>rows</a:t>
            </a:r>
            <a:r>
              <a:rPr lang="en-US" sz="1922" spc="-40" dirty="0"/>
              <a:t> </a:t>
            </a:r>
            <a:r>
              <a:rPr lang="en-US" sz="1922" dirty="0"/>
              <a:t>that</a:t>
            </a:r>
            <a:r>
              <a:rPr lang="en-US" sz="1922" spc="-44" dirty="0"/>
              <a:t> </a:t>
            </a:r>
            <a:r>
              <a:rPr lang="en-US" sz="1922" spc="-20" dirty="0"/>
              <a:t>are </a:t>
            </a:r>
            <a:r>
              <a:rPr lang="en-US" sz="1922" dirty="0"/>
              <a:t>related</a:t>
            </a:r>
            <a:r>
              <a:rPr lang="en-US" sz="1922" spc="68" dirty="0"/>
              <a:t> </a:t>
            </a:r>
            <a:r>
              <a:rPr lang="en-US" sz="1922" dirty="0"/>
              <a:t>to</a:t>
            </a:r>
            <a:r>
              <a:rPr lang="en-US" sz="1922" spc="68" dirty="0"/>
              <a:t> </a:t>
            </a:r>
            <a:r>
              <a:rPr lang="en-US" sz="1922" dirty="0"/>
              <a:t>the</a:t>
            </a:r>
            <a:r>
              <a:rPr lang="en-US" sz="1922" spc="68" dirty="0"/>
              <a:t> </a:t>
            </a:r>
            <a:r>
              <a:rPr lang="en-US" sz="1922" dirty="0"/>
              <a:t>current</a:t>
            </a:r>
            <a:r>
              <a:rPr lang="en-US" sz="1922" spc="72" dirty="0"/>
              <a:t> </a:t>
            </a:r>
            <a:r>
              <a:rPr lang="en-US" sz="1922" spc="-16" dirty="0"/>
              <a:t>row.</a:t>
            </a:r>
            <a:endParaRPr lang="en-US" sz="1922" dirty="0"/>
          </a:p>
          <a:p>
            <a:pPr marL="10171" marR="366171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22" dirty="0"/>
              <a:t>Unlike</a:t>
            </a:r>
            <a:r>
              <a:rPr lang="en-US" sz="1922" spc="-80" dirty="0"/>
              <a:t> </a:t>
            </a:r>
            <a:r>
              <a:rPr lang="en-US" sz="1922" dirty="0"/>
              <a:t>GROUP</a:t>
            </a:r>
            <a:r>
              <a:rPr lang="en-US" sz="1922" spc="-56" dirty="0"/>
              <a:t> </a:t>
            </a:r>
            <a:r>
              <a:rPr lang="en-US" sz="1922" spc="-132" dirty="0"/>
              <a:t>BY,</a:t>
            </a:r>
            <a:r>
              <a:rPr lang="en-US" sz="1922" spc="-48" dirty="0"/>
              <a:t> </a:t>
            </a:r>
            <a:r>
              <a:rPr lang="en-US" sz="1922" dirty="0"/>
              <a:t>it</a:t>
            </a:r>
            <a:r>
              <a:rPr lang="en-US" sz="1922" spc="-60" dirty="0"/>
              <a:t> </a:t>
            </a:r>
            <a:r>
              <a:rPr lang="en-US" sz="1922" spc="-8" dirty="0"/>
              <a:t>doesn’t</a:t>
            </a:r>
            <a:r>
              <a:rPr lang="en-US" sz="1922" spc="-56" dirty="0"/>
              <a:t> </a:t>
            </a:r>
            <a:r>
              <a:rPr lang="en-US" sz="1922" spc="-20" dirty="0"/>
              <a:t>collapse</a:t>
            </a:r>
            <a:r>
              <a:rPr lang="en-US" sz="1922" spc="-56" dirty="0"/>
              <a:t> </a:t>
            </a:r>
            <a:r>
              <a:rPr lang="en-US" sz="1922" dirty="0"/>
              <a:t>rows</a:t>
            </a:r>
            <a:r>
              <a:rPr lang="en-US" sz="1922" spc="-60" dirty="0"/>
              <a:t> </a:t>
            </a:r>
            <a:r>
              <a:rPr lang="en-US" sz="1922" spc="-160" dirty="0"/>
              <a:t>—</a:t>
            </a:r>
            <a:r>
              <a:rPr lang="en-US" sz="1922" spc="-48" dirty="0"/>
              <a:t> </a:t>
            </a:r>
            <a:r>
              <a:rPr lang="en-US" sz="1922" dirty="0"/>
              <a:t>you</a:t>
            </a:r>
            <a:r>
              <a:rPr lang="en-US" sz="1922" spc="-56" dirty="0"/>
              <a:t> </a:t>
            </a:r>
            <a:r>
              <a:rPr lang="en-US" sz="1922" spc="-16" dirty="0"/>
              <a:t>still</a:t>
            </a:r>
            <a:r>
              <a:rPr lang="en-US" sz="1922" spc="-60" dirty="0"/>
              <a:t> </a:t>
            </a:r>
            <a:r>
              <a:rPr lang="en-US" sz="1922" spc="-32" dirty="0"/>
              <a:t>see</a:t>
            </a:r>
            <a:r>
              <a:rPr lang="en-US" sz="1922" spc="-56" dirty="0"/>
              <a:t> </a:t>
            </a:r>
            <a:r>
              <a:rPr lang="en-US" sz="1922" dirty="0"/>
              <a:t>individual</a:t>
            </a:r>
            <a:r>
              <a:rPr lang="en-US" sz="1922" spc="-56" dirty="0"/>
              <a:t> </a:t>
            </a:r>
            <a:r>
              <a:rPr lang="en-US" sz="1922" spc="-8" dirty="0"/>
              <a:t>records. </a:t>
            </a:r>
            <a:r>
              <a:rPr lang="en-US" sz="1922" spc="-80" dirty="0"/>
              <a:t>Key</a:t>
            </a:r>
            <a:r>
              <a:rPr lang="en-US" sz="1922" spc="-36" dirty="0"/>
              <a:t> </a:t>
            </a:r>
            <a:r>
              <a:rPr lang="en-US" sz="1922" spc="-20" dirty="0"/>
              <a:t>Clause:</a:t>
            </a:r>
            <a:r>
              <a:rPr lang="en-US" sz="1922" spc="-36" dirty="0"/>
              <a:t> </a:t>
            </a:r>
            <a:r>
              <a:rPr lang="en-US" sz="1922" dirty="0"/>
              <a:t>PARTITION</a:t>
            </a:r>
            <a:r>
              <a:rPr lang="en-US" sz="1922" spc="-36" dirty="0"/>
              <a:t> </a:t>
            </a:r>
            <a:r>
              <a:rPr lang="en-US" sz="1922" spc="-180" dirty="0"/>
              <a:t>BY</a:t>
            </a:r>
            <a:r>
              <a:rPr lang="en-US" sz="1922" spc="-32" dirty="0"/>
              <a:t> </a:t>
            </a:r>
            <a:r>
              <a:rPr lang="en-US" sz="1922" spc="-8" dirty="0"/>
              <a:t>divides</a:t>
            </a:r>
            <a:r>
              <a:rPr lang="en-US" sz="1922" spc="-36" dirty="0"/>
              <a:t> </a:t>
            </a:r>
            <a:r>
              <a:rPr lang="en-US" sz="1922" dirty="0"/>
              <a:t>rows</a:t>
            </a:r>
            <a:r>
              <a:rPr lang="en-US" sz="1922" spc="-36" dirty="0"/>
              <a:t> </a:t>
            </a:r>
            <a:r>
              <a:rPr lang="en-US" sz="1922" dirty="0"/>
              <a:t>into</a:t>
            </a:r>
            <a:r>
              <a:rPr lang="en-US" sz="1922" spc="-32" dirty="0"/>
              <a:t> </a:t>
            </a:r>
            <a:r>
              <a:rPr lang="en-US" sz="1922" dirty="0"/>
              <a:t>groups</a:t>
            </a:r>
            <a:r>
              <a:rPr lang="en-US" sz="1922" spc="-36" dirty="0"/>
              <a:t> </a:t>
            </a:r>
            <a:r>
              <a:rPr lang="en-US" sz="1922" spc="-8" dirty="0"/>
              <a:t>(partitions).</a:t>
            </a:r>
            <a:endParaRPr lang="en-US" sz="1922" dirty="0"/>
          </a:p>
          <a:p>
            <a:pPr indent="-183086">
              <a:lnSpc>
                <a:spcPct val="90000"/>
              </a:lnSpc>
              <a:spcBef>
                <a:spcPts val="96"/>
              </a:spcBef>
              <a:buFont typeface="Arial" panose="020B0604020202020204" pitchFamily="34" charset="0"/>
              <a:buChar char="•"/>
            </a:pPr>
            <a:endParaRPr lang="en-US" sz="1922" dirty="0"/>
          </a:p>
          <a:p>
            <a:pPr marL="10171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22" dirty="0"/>
              <a:t>The</a:t>
            </a:r>
            <a:r>
              <a:rPr lang="en-US" sz="1922" spc="4" dirty="0"/>
              <a:t> </a:t>
            </a:r>
            <a:r>
              <a:rPr lang="en-US" sz="1922" dirty="0"/>
              <a:t>window</a:t>
            </a:r>
            <a:r>
              <a:rPr lang="en-US" sz="1922" spc="8" dirty="0"/>
              <a:t> </a:t>
            </a:r>
            <a:r>
              <a:rPr lang="en-US" sz="1922" dirty="0"/>
              <a:t>function</a:t>
            </a:r>
            <a:r>
              <a:rPr lang="en-US" sz="1922" spc="4" dirty="0"/>
              <a:t> </a:t>
            </a:r>
            <a:r>
              <a:rPr lang="en-US" sz="1922" spc="40" dirty="0"/>
              <a:t>runs</a:t>
            </a:r>
            <a:r>
              <a:rPr lang="en-US" sz="1922" spc="8" dirty="0"/>
              <a:t> </a:t>
            </a:r>
            <a:r>
              <a:rPr lang="en-US" sz="1922" dirty="0"/>
              <a:t>independently</a:t>
            </a:r>
            <a:r>
              <a:rPr lang="en-US" sz="1922" spc="8" dirty="0"/>
              <a:t> </a:t>
            </a:r>
            <a:r>
              <a:rPr lang="en-US" sz="1922" dirty="0"/>
              <a:t>within</a:t>
            </a:r>
            <a:r>
              <a:rPr lang="en-US" sz="1922" spc="4" dirty="0"/>
              <a:t> </a:t>
            </a:r>
            <a:r>
              <a:rPr lang="en-US" sz="1922"/>
              <a:t>each</a:t>
            </a:r>
            <a:r>
              <a:rPr lang="en-US" sz="1922" spc="8"/>
              <a:t> </a:t>
            </a:r>
            <a:r>
              <a:rPr lang="en-US" sz="1922" spc="-8"/>
              <a:t>partition partition.</a:t>
            </a:r>
            <a:endParaRPr lang="en-US" sz="1922" dirty="0"/>
          </a:p>
        </p:txBody>
      </p:sp>
    </p:spTree>
    <p:extLst>
      <p:ext uri="{BB962C8B-B14F-4D97-AF65-F5344CB8AC3E}">
        <p14:creationId xmlns:p14="http://schemas.microsoft.com/office/powerpoint/2010/main" val="524138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B957B-A43A-A2D5-9F8A-F77EC142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914D2C9-1496-A994-5035-37BAF685E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6370" y="309902"/>
            <a:ext cx="8062218" cy="1039961"/>
          </a:xfrm>
          <a:prstGeom prst="rect">
            <a:avLst/>
          </a:prstGeom>
        </p:spPr>
        <p:txBody>
          <a:bodyPr spcFirstLastPara="1" vert="horz" wrap="square" lIns="73237" tIns="36618" rIns="73237" bIns="36618" rtlCol="0" anchor="b" anchorCtr="0">
            <a:normAutofit/>
          </a:bodyPr>
          <a:lstStyle/>
          <a:p>
            <a:pPr marL="10171"/>
            <a:r>
              <a:rPr lang="en-US" sz="3844" kern="1200" spc="-36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 Function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7F1C6D-1912-2ABE-7974-1B8E0A1EBFA0}"/>
              </a:ext>
            </a:extLst>
          </p:cNvPr>
          <p:cNvSpPr txBox="1"/>
          <p:nvPr/>
        </p:nvSpPr>
        <p:spPr>
          <a:xfrm>
            <a:off x="636369" y="2082014"/>
            <a:ext cx="3628914" cy="2914930"/>
          </a:xfrm>
          <a:prstGeom prst="rect">
            <a:avLst/>
          </a:prstGeom>
        </p:spPr>
        <p:txBody>
          <a:bodyPr vert="horz" lIns="73237" tIns="36618" rIns="73237" bIns="36618" rtlCol="0" anchor="ctr">
            <a:normAutofit/>
          </a:bodyPr>
          <a:lstStyle/>
          <a:p>
            <a:pPr marR="2066835" indent="-183086">
              <a:lnSpc>
                <a:spcPct val="90000"/>
              </a:lnSpc>
              <a:spcAft>
                <a:spcPts val="481"/>
              </a:spcAft>
              <a:buFont typeface="Arial" panose="020B0604020202020204" pitchFamily="34" charset="0"/>
              <a:buChar char="•"/>
            </a:pPr>
            <a:r>
              <a:rPr lang="en-US" sz="1602" spc="-144" dirty="0"/>
              <a:t>SELECT DISTINCT</a:t>
            </a:r>
            <a:endParaRPr lang="en-US" sz="1602" dirty="0"/>
          </a:p>
          <a:p>
            <a:pPr marR="1347714" lvl="1" indent="-183086">
              <a:lnSpc>
                <a:spcPct val="90000"/>
              </a:lnSpc>
              <a:spcAft>
                <a:spcPts val="481"/>
              </a:spcAft>
              <a:buFont typeface="Arial" panose="020B0604020202020204" pitchFamily="34" charset="0"/>
              <a:buChar char="•"/>
            </a:pPr>
            <a:r>
              <a:rPr lang="en-US" sz="1602" spc="-8" dirty="0"/>
              <a:t>	</a:t>
            </a:r>
            <a:r>
              <a:rPr lang="en-US" sz="1602" spc="-8" dirty="0" err="1"/>
              <a:t>employee_id</a:t>
            </a:r>
            <a:r>
              <a:rPr lang="en-US" sz="1602" spc="-8" dirty="0"/>
              <a:t>, </a:t>
            </a:r>
          </a:p>
          <a:p>
            <a:pPr marR="1347714" lvl="1" indent="-183086">
              <a:lnSpc>
                <a:spcPct val="90000"/>
              </a:lnSpc>
              <a:spcAft>
                <a:spcPts val="481"/>
              </a:spcAft>
              <a:buFont typeface="Arial" panose="020B0604020202020204" pitchFamily="34" charset="0"/>
              <a:buChar char="•"/>
            </a:pPr>
            <a:r>
              <a:rPr lang="en-US" sz="1602" spc="-8" dirty="0"/>
              <a:t>	department, </a:t>
            </a:r>
          </a:p>
          <a:p>
            <a:pPr marR="1347714" lvl="1" indent="-183086">
              <a:lnSpc>
                <a:spcPct val="90000"/>
              </a:lnSpc>
              <a:spcAft>
                <a:spcPts val="481"/>
              </a:spcAft>
              <a:buFont typeface="Arial" panose="020B0604020202020204" pitchFamily="34" charset="0"/>
              <a:buChar char="•"/>
            </a:pPr>
            <a:r>
              <a:rPr lang="en-US" sz="1602" spc="-8" dirty="0"/>
              <a:t>	</a:t>
            </a:r>
            <a:r>
              <a:rPr lang="en-US" sz="1602" spc="-8" dirty="0" err="1"/>
              <a:t>sale_amount</a:t>
            </a:r>
            <a:r>
              <a:rPr lang="en-US" sz="1602" spc="-8" dirty="0"/>
              <a:t>,</a:t>
            </a:r>
          </a:p>
          <a:p>
            <a:pPr marR="1347714" indent="-183086">
              <a:lnSpc>
                <a:spcPct val="90000"/>
              </a:lnSpc>
              <a:spcAft>
                <a:spcPts val="481"/>
              </a:spcAft>
              <a:buFont typeface="Arial" panose="020B0604020202020204" pitchFamily="34" charset="0"/>
              <a:buChar char="•"/>
            </a:pPr>
            <a:r>
              <a:rPr lang="en-US" sz="1602" dirty="0"/>
              <a:t>SUM</a:t>
            </a:r>
            <a:r>
              <a:rPr lang="en-US" sz="1602" spc="12" dirty="0"/>
              <a:t> (</a:t>
            </a:r>
            <a:r>
              <a:rPr lang="en-US" sz="1602" spc="-8" dirty="0" err="1"/>
              <a:t>sale_amount</a:t>
            </a:r>
            <a:r>
              <a:rPr lang="en-US" sz="1602" spc="-8" dirty="0"/>
              <a:t>)</a:t>
            </a:r>
            <a:r>
              <a:rPr lang="en-US" sz="1602" spc="-112" dirty="0"/>
              <a:t> </a:t>
            </a:r>
            <a:r>
              <a:rPr lang="en-US" sz="1602" spc="-40" dirty="0"/>
              <a:t>over 	(</a:t>
            </a:r>
            <a:r>
              <a:rPr lang="en-US" sz="1602" spc="-48" dirty="0"/>
              <a:t>PARTITION BY Department) AS</a:t>
            </a:r>
            <a:r>
              <a:rPr lang="en-US" sz="1602" spc="-163" dirty="0"/>
              <a:t> </a:t>
            </a:r>
            <a:r>
              <a:rPr lang="en-US" sz="1602" spc="-8" dirty="0" err="1"/>
              <a:t>total_sales_per_dept</a:t>
            </a:r>
            <a:endParaRPr lang="en-US" sz="1602" dirty="0"/>
          </a:p>
          <a:p>
            <a:pPr indent="-183086">
              <a:lnSpc>
                <a:spcPct val="90000"/>
              </a:lnSpc>
              <a:spcAft>
                <a:spcPts val="481"/>
              </a:spcAft>
              <a:buFont typeface="Arial" panose="020B0604020202020204" pitchFamily="34" charset="0"/>
              <a:buChar char="•"/>
            </a:pPr>
            <a:r>
              <a:rPr lang="en-US" sz="1602" spc="-16" dirty="0"/>
              <a:t>FROM</a:t>
            </a:r>
            <a:endParaRPr lang="en-US" sz="1602" dirty="0"/>
          </a:p>
          <a:p>
            <a:pPr indent="-183086">
              <a:lnSpc>
                <a:spcPct val="90000"/>
              </a:lnSpc>
              <a:spcAft>
                <a:spcPts val="481"/>
              </a:spcAft>
              <a:buFont typeface="Arial" panose="020B0604020202020204" pitchFamily="34" charset="0"/>
              <a:buChar char="•"/>
            </a:pPr>
            <a:r>
              <a:rPr lang="en-US" sz="1602" spc="-8" dirty="0"/>
              <a:t>sales;</a:t>
            </a:r>
            <a:endParaRPr lang="en-US" sz="1602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0CC9D1D-55A6-C21E-ACFA-8AF20E285F4C}"/>
              </a:ext>
            </a:extLst>
          </p:cNvPr>
          <p:cNvGraphicFramePr>
            <a:graphicFrameLocks noGrp="1"/>
          </p:cNvGraphicFramePr>
          <p:nvPr/>
        </p:nvGraphicFramePr>
        <p:xfrm>
          <a:off x="5093309" y="1989705"/>
          <a:ext cx="3409185" cy="2974838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166988">
                  <a:extLst>
                    <a:ext uri="{9D8B030D-6E8A-4147-A177-3AD203B41FA5}">
                      <a16:colId xmlns:a16="http://schemas.microsoft.com/office/drawing/2014/main" val="2235402114"/>
                    </a:ext>
                  </a:extLst>
                </a:gridCol>
                <a:gridCol w="1064414">
                  <a:extLst>
                    <a:ext uri="{9D8B030D-6E8A-4147-A177-3AD203B41FA5}">
                      <a16:colId xmlns:a16="http://schemas.microsoft.com/office/drawing/2014/main" val="1256995903"/>
                    </a:ext>
                  </a:extLst>
                </a:gridCol>
                <a:gridCol w="1177784">
                  <a:extLst>
                    <a:ext uri="{9D8B030D-6E8A-4147-A177-3AD203B41FA5}">
                      <a16:colId xmlns:a16="http://schemas.microsoft.com/office/drawing/2014/main" val="2808918230"/>
                    </a:ext>
                  </a:extLst>
                </a:gridCol>
              </a:tblGrid>
              <a:tr h="4249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Sales Table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283275"/>
                  </a:ext>
                </a:extLst>
              </a:tr>
              <a:tr h="4249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employee_id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department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sale_amount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724388"/>
                  </a:ext>
                </a:extLst>
              </a:tr>
              <a:tr h="42497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HR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580,000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360528"/>
                  </a:ext>
                </a:extLst>
              </a:tr>
              <a:tr h="42497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HR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525,000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641427"/>
                  </a:ext>
                </a:extLst>
              </a:tr>
              <a:tr h="42497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IT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810,000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058692"/>
                  </a:ext>
                </a:extLst>
              </a:tr>
              <a:tr h="42497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IT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190,000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491976"/>
                  </a:ext>
                </a:extLst>
              </a:tr>
              <a:tr h="42497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Finance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500,000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2557" marR="10754" marT="20730" marB="155479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006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9683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604A1-7797-5A64-EE31-9B3248055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1476961-628B-9BA7-DB5D-D74773B441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402" y="334447"/>
            <a:ext cx="8737814" cy="1000672"/>
          </a:xfrm>
          <a:prstGeom prst="rect">
            <a:avLst/>
          </a:prstGeom>
        </p:spPr>
        <p:txBody>
          <a:bodyPr spcFirstLastPara="1" vert="horz" wrap="square" lIns="73237" tIns="36618" rIns="73237" bIns="36618" rtlCol="0" anchor="ctr" anchorCtr="0">
            <a:normAutofit/>
          </a:bodyPr>
          <a:lstStyle/>
          <a:p>
            <a:pPr marL="10171" algn="ctr"/>
            <a:r>
              <a:rPr lang="en-US" sz="5286" kern="1200" spc="-36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Window Function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2C5A4B5-707F-FB4F-DBB8-88F11DE1BA3C}"/>
              </a:ext>
            </a:extLst>
          </p:cNvPr>
          <p:cNvGraphicFramePr>
            <a:graphicFrameLocks noGrp="1"/>
          </p:cNvGraphicFramePr>
          <p:nvPr/>
        </p:nvGraphicFramePr>
        <p:xfrm>
          <a:off x="257034" y="2182501"/>
          <a:ext cx="9249793" cy="27258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2380">
                  <a:extLst>
                    <a:ext uri="{9D8B030D-6E8A-4147-A177-3AD203B41FA5}">
                      <a16:colId xmlns:a16="http://schemas.microsoft.com/office/drawing/2014/main" val="2660700506"/>
                    </a:ext>
                  </a:extLst>
                </a:gridCol>
                <a:gridCol w="1862326">
                  <a:extLst>
                    <a:ext uri="{9D8B030D-6E8A-4147-A177-3AD203B41FA5}">
                      <a16:colId xmlns:a16="http://schemas.microsoft.com/office/drawing/2014/main" val="2696913218"/>
                    </a:ext>
                  </a:extLst>
                </a:gridCol>
                <a:gridCol w="2080567">
                  <a:extLst>
                    <a:ext uri="{9D8B030D-6E8A-4147-A177-3AD203B41FA5}">
                      <a16:colId xmlns:a16="http://schemas.microsoft.com/office/drawing/2014/main" val="2855147811"/>
                    </a:ext>
                  </a:extLst>
                </a:gridCol>
                <a:gridCol w="3244520">
                  <a:extLst>
                    <a:ext uri="{9D8B030D-6E8A-4147-A177-3AD203B41FA5}">
                      <a16:colId xmlns:a16="http://schemas.microsoft.com/office/drawing/2014/main" val="465324832"/>
                    </a:ext>
                  </a:extLst>
                </a:gridCol>
              </a:tblGrid>
              <a:tr h="4543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employee_id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department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sale_amount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total_sales_per_dept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extLst>
                  <a:ext uri="{0D108BD9-81ED-4DB2-BD59-A6C34878D82A}">
                    <a16:rowId xmlns:a16="http://schemas.microsoft.com/office/drawing/2014/main" val="1210384045"/>
                  </a:ext>
                </a:extLst>
              </a:tr>
              <a:tr h="4543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1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HR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580,000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1,105,000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extLst>
                  <a:ext uri="{0D108BD9-81ED-4DB2-BD59-A6C34878D82A}">
                    <a16:rowId xmlns:a16="http://schemas.microsoft.com/office/drawing/2014/main" val="1353024040"/>
                  </a:ext>
                </a:extLst>
              </a:tr>
              <a:tr h="4543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2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HR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525,000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1,105,000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extLst>
                  <a:ext uri="{0D108BD9-81ED-4DB2-BD59-A6C34878D82A}">
                    <a16:rowId xmlns:a16="http://schemas.microsoft.com/office/drawing/2014/main" val="4242874392"/>
                  </a:ext>
                </a:extLst>
              </a:tr>
              <a:tr h="4543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3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IT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810,000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1,000,000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extLst>
                  <a:ext uri="{0D108BD9-81ED-4DB2-BD59-A6C34878D82A}">
                    <a16:rowId xmlns:a16="http://schemas.microsoft.com/office/drawing/2014/main" val="3913123259"/>
                  </a:ext>
                </a:extLst>
              </a:tr>
              <a:tr h="4543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4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IT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190,000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1,000,000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extLst>
                  <a:ext uri="{0D108BD9-81ED-4DB2-BD59-A6C34878D82A}">
                    <a16:rowId xmlns:a16="http://schemas.microsoft.com/office/drawing/2014/main" val="2667844632"/>
                  </a:ext>
                </a:extLst>
              </a:tr>
              <a:tr h="4543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5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Finance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500,000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500,000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094" marR="9094" marT="9094" marB="0" anchor="ctr"/>
                </a:tc>
                <a:extLst>
                  <a:ext uri="{0D108BD9-81ED-4DB2-BD59-A6C34878D82A}">
                    <a16:rowId xmlns:a16="http://schemas.microsoft.com/office/drawing/2014/main" val="4024405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340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228600"/>
            <a:ext cx="8915400" cy="548640"/>
          </a:xfrm>
        </p:spPr>
        <p:txBody>
          <a:bodyPr wrap="none"/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Progressive ETL SQL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868680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5A5A5A"/>
                </a:solidFill>
                <a:latin typeface="Arial"/>
              </a:defRPr>
            </a:pPr>
            <a:r>
              <a:t>Using the airline delay table already introduced in the Spark SQL examples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41448" y="1499616"/>
            <a:ext cx="219456" cy="0"/>
          </a:xfrm>
          <a:prstGeom prst="line">
            <a:avLst/>
          </a:prstGeom>
          <a:ln w="1651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26280" y="1499616"/>
            <a:ext cx="219456" cy="0"/>
          </a:xfrm>
          <a:prstGeom prst="line">
            <a:avLst/>
          </a:prstGeom>
          <a:ln w="1651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11112" y="1499616"/>
            <a:ext cx="219456" cy="0"/>
          </a:xfrm>
          <a:prstGeom prst="line">
            <a:avLst/>
          </a:prstGeom>
          <a:ln w="1651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143000"/>
            <a:ext cx="1828800" cy="713232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1 Extract</a:t>
            </a:r>
            <a:br/>
            <a:r>
              <a:t>variables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9192" y="1143000"/>
            <a:ext cx="1828800" cy="71323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2 Join</a:t>
            </a:r>
            <a:br/>
            <a:r>
              <a:t>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64024" y="1143000"/>
            <a:ext cx="1828800" cy="71323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3 Window</a:t>
            </a:r>
            <a:br/>
            <a:r>
              <a:t>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8856" y="1143000"/>
            <a:ext cx="1828800" cy="71323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4 Cumulative</a:t>
            </a:r>
            <a:br/>
            <a:r>
              <a:t>percentages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40280"/>
            <a:ext cx="3840480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Source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3840480" cy="2212848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us_delay_flights_tbl: date, delay, distance, origin, destination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airport_dim: airport_code, city, state, region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Output: route-level delay analytics for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240280"/>
            <a:ext cx="4069080" cy="2926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What students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587752"/>
            <a:ext cx="4069080" cy="2212848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Pull raw columns into analytic variables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Enrich facts by joining lookup tables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Use PARTITION BY with LAG / LEAD window functions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Calculate cumulative delay percentage for Pareto-style insights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228600"/>
            <a:ext cx="8915400" cy="548640"/>
          </a:xfrm>
        </p:spPr>
        <p:txBody>
          <a:bodyPr wrap="none"/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Step 1 — Extract Raw Flight Variables</a:t>
            </a:r>
          </a:p>
        </p:txBody>
      </p:sp>
      <p:sp>
        <p:nvSpPr>
          <p:cNvPr id="3" name="Oval 2"/>
          <p:cNvSpPr/>
          <p:nvPr/>
        </p:nvSpPr>
        <p:spPr>
          <a:xfrm>
            <a:off x="566928" y="859536"/>
            <a:ext cx="438912" cy="438912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23317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4472C4"/>
                </a:solidFill>
                <a:latin typeface="Arial"/>
              </a:defRPr>
            </a:pPr>
            <a:r>
              <a:t>Create a clean analytical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17320"/>
            <a:ext cx="2971800" cy="29260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Transform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64792"/>
            <a:ext cx="2971800" cy="2898648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Keep only useful variables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Standardize data types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Create derived columns: delay flag and distance band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Filter records that cannot join correctly later</a:t>
            </a:r>
          </a:p>
        </p:txBody>
      </p:sp>
      <p:sp>
        <p:nvSpPr>
          <p:cNvPr id="7" name="Code block background"/>
          <p:cNvSpPr/>
          <p:nvPr/>
        </p:nvSpPr>
        <p:spPr>
          <a:xfrm>
            <a:off x="3840480" y="1024128"/>
            <a:ext cx="5257800" cy="388620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de block label"/>
          <p:cNvSpPr/>
          <p:nvPr/>
        </p:nvSpPr>
        <p:spPr>
          <a:xfrm>
            <a:off x="3950208" y="1097280"/>
            <a:ext cx="960120" cy="25603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Spark SQL</a:t>
            </a:r>
          </a:p>
        </p:txBody>
      </p:sp>
      <p:sp>
        <p:nvSpPr>
          <p:cNvPr id="9" name="Code text"/>
          <p:cNvSpPr txBox="1"/>
          <p:nvPr/>
        </p:nvSpPr>
        <p:spPr>
          <a:xfrm>
            <a:off x="3977640" y="1389888"/>
            <a:ext cx="5001768" cy="3429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CREATE OR REPLACE TEMP VIEW flight_variables AS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SELECT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to_timestamp(date, 'MMddHHmm') AS flight_ts,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hour(to_timestamp(date, 'MMddHHmm')) AS dep_hour,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CAST(delay AS INT) AS delay_min,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CAST(distance AS INT) AS distance_miles,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origin,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destination,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CASE WHEN delay &gt; 15 THEN 1 ELSE 0 END AS is_delayed,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CASE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  WHEN distance &lt; 500 THEN 'short'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  WHEN distance &lt; 1500 THEN 'medium'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  ELSE 'long'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END AS distance_band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FROM us_delay_flights_tbl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WHERE origin IS NOT NULL</a:t>
            </a:r>
          </a:p>
          <a:p>
            <a:pPr>
              <a:spcAft>
                <a:spcPts val="0"/>
              </a:spcAft>
              <a:defRPr sz="860">
                <a:solidFill>
                  <a:srgbClr val="1C2630"/>
                </a:solidFill>
                <a:latin typeface="Consolas"/>
              </a:defRPr>
            </a:pPr>
            <a:r>
              <a:t>  AND destination IS NOT NULL;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228600"/>
            <a:ext cx="8915400" cy="548640"/>
          </a:xfrm>
        </p:spPr>
        <p:txBody>
          <a:bodyPr wrap="none"/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Step 2 — Join Fact + Airport Tables</a:t>
            </a:r>
          </a:p>
        </p:txBody>
      </p:sp>
      <p:sp>
        <p:nvSpPr>
          <p:cNvPr id="3" name="Oval 2"/>
          <p:cNvSpPr/>
          <p:nvPr/>
        </p:nvSpPr>
        <p:spPr>
          <a:xfrm>
            <a:off x="566928" y="859536"/>
            <a:ext cx="438912" cy="43891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23317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70AD47"/>
                </a:solidFill>
                <a:latin typeface="Arial"/>
              </a:defRPr>
            </a:pPr>
            <a:r>
              <a:t>Add airport and route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71600"/>
            <a:ext cx="2971800" cy="2926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Join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19072"/>
            <a:ext cx="2971800" cy="2962656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Start with the cleaned fact table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Join the same dimension twice: origin and destination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Use LEFT JOIN to keep flight rows even when lookup data is missing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Create reporting-friendly location variables</a:t>
            </a:r>
          </a:p>
        </p:txBody>
      </p:sp>
      <p:sp>
        <p:nvSpPr>
          <p:cNvPr id="7" name="Code block background"/>
          <p:cNvSpPr/>
          <p:nvPr/>
        </p:nvSpPr>
        <p:spPr>
          <a:xfrm>
            <a:off x="3840480" y="1069848"/>
            <a:ext cx="5257800" cy="379476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de block label"/>
          <p:cNvSpPr/>
          <p:nvPr/>
        </p:nvSpPr>
        <p:spPr>
          <a:xfrm>
            <a:off x="3950208" y="1143000"/>
            <a:ext cx="960120" cy="25603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Spark SQL</a:t>
            </a:r>
          </a:p>
        </p:txBody>
      </p:sp>
      <p:sp>
        <p:nvSpPr>
          <p:cNvPr id="9" name="Code text"/>
          <p:cNvSpPr txBox="1"/>
          <p:nvPr/>
        </p:nvSpPr>
        <p:spPr>
          <a:xfrm>
            <a:off x="3977640" y="1435608"/>
            <a:ext cx="5001768" cy="3337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CREATE OR REPLACE TEMP VIEW flight_enriched AS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SELECT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  f.*,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  o.city   AS origin_city,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  o.state  AS origin_state,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  o.region AS origin_region,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  d.city   AS dest_city,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  d.state  AS dest_state,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  d.region AS dest_region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FROM flight_variables f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LEFT JOIN airport_dim o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  ON f.origin = o.airport_code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LEFT JOIN airport_dim d</a:t>
            </a:r>
          </a:p>
          <a:p>
            <a:pPr>
              <a:spcAft>
                <a:spcPts val="0"/>
              </a:spcAft>
              <a:defRPr sz="910">
                <a:solidFill>
                  <a:srgbClr val="1C2630"/>
                </a:solidFill>
                <a:latin typeface="Consolas"/>
              </a:defRPr>
            </a:pPr>
            <a:r>
              <a:t>  ON f.destination = d.airport_code;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228600"/>
            <a:ext cx="8915400" cy="548640"/>
          </a:xfrm>
        </p:spPr>
        <p:txBody>
          <a:bodyPr wrap="none"/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Step 3 — LAG/LEAD with PARTITION BY Route</a:t>
            </a:r>
          </a:p>
        </p:txBody>
      </p:sp>
      <p:sp>
        <p:nvSpPr>
          <p:cNvPr id="3" name="Oval 2"/>
          <p:cNvSpPr/>
          <p:nvPr/>
        </p:nvSpPr>
        <p:spPr>
          <a:xfrm>
            <a:off x="566928" y="859536"/>
            <a:ext cx="438912" cy="43891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23317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D7D31"/>
                </a:solidFill>
                <a:latin typeface="Arial"/>
              </a:defRPr>
            </a:pPr>
            <a:r>
              <a:t>Build route sequence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2971800" cy="2926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Window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91640"/>
            <a:ext cx="2971800" cy="2990088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PARTITION BY origin, destination keeps each route separate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ORDER BY flight_ts gives a time sequence inside each route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LAG compares the current flight with the prior route flight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LEAD previews the next route flight for trend analysis</a:t>
            </a:r>
          </a:p>
        </p:txBody>
      </p:sp>
      <p:sp>
        <p:nvSpPr>
          <p:cNvPr id="7" name="Code block background"/>
          <p:cNvSpPr/>
          <p:nvPr/>
        </p:nvSpPr>
        <p:spPr>
          <a:xfrm>
            <a:off x="3840480" y="1005840"/>
            <a:ext cx="5257800" cy="393192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de block label"/>
          <p:cNvSpPr/>
          <p:nvPr/>
        </p:nvSpPr>
        <p:spPr>
          <a:xfrm>
            <a:off x="3950208" y="1078992"/>
            <a:ext cx="960120" cy="25603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Spark SQL</a:t>
            </a:r>
          </a:p>
        </p:txBody>
      </p:sp>
      <p:sp>
        <p:nvSpPr>
          <p:cNvPr id="9" name="Code text"/>
          <p:cNvSpPr txBox="1"/>
          <p:nvPr/>
        </p:nvSpPr>
        <p:spPr>
          <a:xfrm>
            <a:off x="3977640" y="1371600"/>
            <a:ext cx="5001768" cy="34747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CREATE OR REPLACE TEMP VIEW flight_window_features AS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WITH sequenced AS (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SELECT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  *,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  LAG(delay_min) OVER (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    PARTITION BY origin, destination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    ORDER BY flight_ts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  ) AS previous_delay_min,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  LEAD(delay_min) OVER (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    PARTITION BY origin, destination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    ORDER BY flight_ts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  ) AS next_delay_min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FROM flight_enriched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SELECT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*,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  delay_min - previous_delay_min AS delay_change_from_previous</a:t>
            </a:r>
          </a:p>
          <a:p>
            <a:pPr>
              <a:spcAft>
                <a:spcPts val="0"/>
              </a:spcAft>
              <a:defRPr sz="855">
                <a:solidFill>
                  <a:srgbClr val="1C2630"/>
                </a:solidFill>
                <a:latin typeface="Consolas"/>
              </a:defRPr>
            </a:pPr>
            <a:r>
              <a:t>FROM sequenced;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228600"/>
            <a:ext cx="8915400" cy="548640"/>
          </a:xfrm>
        </p:spPr>
        <p:txBody>
          <a:bodyPr wrap="none"/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Step 4 — Cumulative Delay Percentage</a:t>
            </a:r>
          </a:p>
        </p:txBody>
      </p:sp>
      <p:sp>
        <p:nvSpPr>
          <p:cNvPr id="3" name="Oval 2"/>
          <p:cNvSpPr/>
          <p:nvPr/>
        </p:nvSpPr>
        <p:spPr>
          <a:xfrm>
            <a:off x="566928" y="859536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23317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7030A0"/>
                </a:solidFill>
                <a:latin typeface="Arial"/>
              </a:defRPr>
            </a:pPr>
            <a:r>
              <a:t>Rank routes by delay 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2971800" cy="2926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91640"/>
            <a:ext cx="2971800" cy="2990088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Which routes account for the largest share of total delay minutes?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Use SUM(...) OVER () for the network total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Use running SUM(...) OVER (ORDER BY total_delay DESC) for cumulative percentage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Useful for Pareto analysis and dashboard ranking</a:t>
            </a:r>
          </a:p>
        </p:txBody>
      </p:sp>
      <p:sp>
        <p:nvSpPr>
          <p:cNvPr id="7" name="Code block background"/>
          <p:cNvSpPr/>
          <p:nvPr/>
        </p:nvSpPr>
        <p:spPr>
          <a:xfrm>
            <a:off x="3703320" y="960120"/>
            <a:ext cx="5413248" cy="4041648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de block label"/>
          <p:cNvSpPr/>
          <p:nvPr/>
        </p:nvSpPr>
        <p:spPr>
          <a:xfrm>
            <a:off x="3813048" y="1033272"/>
            <a:ext cx="960120" cy="25603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Spark SQL</a:t>
            </a:r>
          </a:p>
        </p:txBody>
      </p:sp>
      <p:sp>
        <p:nvSpPr>
          <p:cNvPr id="9" name="Code text"/>
          <p:cNvSpPr txBox="1"/>
          <p:nvPr/>
        </p:nvSpPr>
        <p:spPr>
          <a:xfrm>
            <a:off x="3840480" y="1325880"/>
            <a:ext cx="5157216" cy="3584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CREATE OR REPLACE TEMP VIEW route_delay_share AS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WITH route_summary AS (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SELECT origin, destination,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       origin_region, dest_region,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       COUNT(*) AS flight_count,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       SUM(delay_min) AS total_delay_min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FROM flight_window_features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GROUP BY origin, destination, origin_region, dest_region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), ranked AS (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SELECT *,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       SUM(total_delay_min) OVER () AS network_delay_min,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       SUM(total_delay_min) OVER (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         ORDER BY total_delay_min DESC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         ROWS BETWEEN UNBOUNDED PRECEDING AND CURRENT ROW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       ) AS cumulative_delay_min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FROM route_summary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SELECT *,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     ROUND(total_delay_min / network_delay_min, 4) AS delay_pct,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       ROUND(cumulative_delay_min / network_delay_min, 4) AS cumulative_delay_pct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FROM ranked</a:t>
            </a:r>
          </a:p>
          <a:p>
            <a:pPr>
              <a:spcAft>
                <a:spcPts val="0"/>
              </a:spcAft>
              <a:defRPr sz="755">
                <a:solidFill>
                  <a:srgbClr val="1C2630"/>
                </a:solidFill>
                <a:latin typeface="Consolas"/>
              </a:defRPr>
            </a:pPr>
            <a:r>
              <a:t>ORDER BY total_delay_min DESC;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228600"/>
            <a:ext cx="8915400" cy="548640"/>
          </a:xfrm>
        </p:spPr>
        <p:txBody>
          <a:bodyPr wrap="none"/>
          <a:lstStyle/>
          <a:p>
            <a:pPr algn="l"/>
            <a:r>
              <a:rPr sz="2500" b="1">
                <a:solidFill>
                  <a:srgbClr val="1F4E79"/>
                </a:solidFill>
                <a:latin typeface="Arial"/>
              </a:rPr>
              <a:t>Final ETL Pattern: Raw Data → Analytics Table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984248" y="1266444"/>
            <a:ext cx="219456" cy="0"/>
          </a:xfrm>
          <a:prstGeom prst="line">
            <a:avLst/>
          </a:prstGeom>
          <a:ln w="1651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749040" y="1266444"/>
            <a:ext cx="219456" cy="0"/>
          </a:xfrm>
          <a:prstGeom prst="line">
            <a:avLst/>
          </a:prstGeom>
          <a:ln w="1651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513832" y="1266444"/>
            <a:ext cx="219456" cy="0"/>
          </a:xfrm>
          <a:prstGeom prst="line">
            <a:avLst/>
          </a:prstGeom>
          <a:ln w="1651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278624" y="1266444"/>
            <a:ext cx="219456" cy="0"/>
          </a:xfrm>
          <a:prstGeom prst="line">
            <a:avLst/>
          </a:prstGeom>
          <a:ln w="1651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960120"/>
            <a:ext cx="1508760" cy="612648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Raw</a:t>
            </a:r>
            <a:br/>
            <a:r>
              <a:t>Flights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1992" y="960120"/>
            <a:ext cx="1508760" cy="612648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Variables</a:t>
            </a:r>
            <a:br/>
            <a:r>
              <a:t>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86784" y="960120"/>
            <a:ext cx="1508760" cy="612648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Enriched</a:t>
            </a:r>
            <a:br/>
            <a:r>
              <a:t>Join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51576" y="960120"/>
            <a:ext cx="1508760" cy="612648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Window</a:t>
            </a:r>
            <a:br/>
            <a:r>
              <a:t>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16368" y="960120"/>
            <a:ext cx="1508760" cy="61264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Route</a:t>
            </a:r>
            <a:br/>
            <a:r>
              <a:t>Mart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1856231"/>
            <a:ext cx="2834640" cy="2926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Production handoff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203703"/>
            <a:ext cx="2834640" cy="2441448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Each step can be a Spark SQL temp view during development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The final SELECT can be written to PostgreSQL using JDBC</a:t>
            </a:r>
          </a:p>
          <a:p>
            <a:pPr>
              <a:spcAft>
                <a:spcPts val="500"/>
              </a:spcAft>
              <a:defRPr sz="1350">
                <a:solidFill>
                  <a:srgbClr val="282828"/>
                </a:solidFill>
                <a:latin typeface="Arial"/>
              </a:defRPr>
            </a:pPr>
            <a:r>
              <a:t>Airflow can schedule the job and verify the warehouse table</a:t>
            </a:r>
          </a:p>
        </p:txBody>
      </p:sp>
      <p:sp>
        <p:nvSpPr>
          <p:cNvPr id="14" name="Code block background"/>
          <p:cNvSpPr/>
          <p:nvPr/>
        </p:nvSpPr>
        <p:spPr>
          <a:xfrm>
            <a:off x="3703320" y="1847088"/>
            <a:ext cx="5321808" cy="292608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ode block label"/>
          <p:cNvSpPr/>
          <p:nvPr/>
        </p:nvSpPr>
        <p:spPr>
          <a:xfrm>
            <a:off x="3813048" y="1920240"/>
            <a:ext cx="960120" cy="256032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Spark SQL</a:t>
            </a:r>
          </a:p>
        </p:txBody>
      </p:sp>
      <p:sp>
        <p:nvSpPr>
          <p:cNvPr id="16" name="Code text"/>
          <p:cNvSpPr txBox="1"/>
          <p:nvPr/>
        </p:nvSpPr>
        <p:spPr>
          <a:xfrm>
            <a:off x="3840480" y="2212848"/>
            <a:ext cx="5065776" cy="2468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CREATE OR REPLACE TABLE mart_route_delay AS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SELECT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  origin, destination,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  origin_region, dest_region,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  flight_count,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  total_delay_min,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  delay_pct,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  cumulative_delay_pct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FROM route_delay_share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WHERE flight_count &gt;= 10;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-- In PySpark ETL code: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mart = spark.sql("SELECT * FROM mart_route_delay")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mart.write.mode("overwrite").jdbc(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  url=WAREHOUSE_JDBC_URL,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  table="mart_route_delay",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  properties=WAREHOUSE_PROPS</a:t>
            </a:r>
          </a:p>
          <a:p>
            <a:pPr>
              <a:spcAft>
                <a:spcPts val="0"/>
              </a:spcAft>
              <a:defRPr sz="890">
                <a:solidFill>
                  <a:srgbClr val="1C263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2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76" name="Google Shape;576;p32" descr="$PPTXTitle"/>
          <p:cNvSpPr txBox="1">
            <a:spLocks noGrp="1"/>
          </p:cNvSpPr>
          <p:nvPr>
            <p:ph type="title"/>
          </p:nvPr>
        </p:nvSpPr>
        <p:spPr>
          <a:xfrm>
            <a:off x="458590" y="191052"/>
            <a:ext cx="8826294" cy="1148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378737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latin typeface="Calibri"/>
                <a:ea typeface="Calibri"/>
                <a:cs typeface="Calibri"/>
                <a:sym typeface="Calibri"/>
              </a:rPr>
              <a:t>Structured Streaming</a:t>
            </a:r>
            <a:endParaRPr/>
          </a:p>
        </p:txBody>
      </p:sp>
      <p:sp>
        <p:nvSpPr>
          <p:cNvPr id="577" name="Google Shape;577;p32"/>
          <p:cNvSpPr/>
          <p:nvPr/>
        </p:nvSpPr>
        <p:spPr>
          <a:xfrm>
            <a:off x="458590" y="1346792"/>
            <a:ext cx="8789670" cy="14647"/>
          </a:xfrm>
          <a:custGeom>
            <a:avLst/>
            <a:gdLst/>
            <a:ahLst/>
            <a:cxnLst/>
            <a:rect l="l" t="t" r="r" b="b"/>
            <a:pathLst>
              <a:path w="8789670" h="14647" fill="none" extrusionOk="0">
                <a:moveTo>
                  <a:pt x="0" y="0"/>
                </a:moveTo>
                <a:cubicBezTo>
                  <a:pt x="328666" y="7155"/>
                  <a:pt x="562138" y="-11652"/>
                  <a:pt x="764025" y="0"/>
                </a:cubicBezTo>
                <a:cubicBezTo>
                  <a:pt x="965912" y="11652"/>
                  <a:pt x="1233648" y="-38761"/>
                  <a:pt x="1615947" y="0"/>
                </a:cubicBezTo>
                <a:cubicBezTo>
                  <a:pt x="1998246" y="38761"/>
                  <a:pt x="1905172" y="19458"/>
                  <a:pt x="2028385" y="0"/>
                </a:cubicBezTo>
                <a:cubicBezTo>
                  <a:pt x="2151598" y="-19458"/>
                  <a:pt x="2427862" y="-17990"/>
                  <a:pt x="2616617" y="0"/>
                </a:cubicBezTo>
                <a:cubicBezTo>
                  <a:pt x="2805372" y="17990"/>
                  <a:pt x="2839009" y="12197"/>
                  <a:pt x="3029056" y="0"/>
                </a:cubicBezTo>
                <a:cubicBezTo>
                  <a:pt x="3219103" y="-12197"/>
                  <a:pt x="3568147" y="-11656"/>
                  <a:pt x="3705184" y="0"/>
                </a:cubicBezTo>
                <a:cubicBezTo>
                  <a:pt x="3842221" y="11656"/>
                  <a:pt x="4057969" y="-13277"/>
                  <a:pt x="4293416" y="0"/>
                </a:cubicBezTo>
                <a:cubicBezTo>
                  <a:pt x="4528863" y="13277"/>
                  <a:pt x="4821818" y="12465"/>
                  <a:pt x="5057441" y="0"/>
                </a:cubicBezTo>
                <a:cubicBezTo>
                  <a:pt x="5293064" y="-12465"/>
                  <a:pt x="5586319" y="33422"/>
                  <a:pt x="5909363" y="0"/>
                </a:cubicBezTo>
                <a:cubicBezTo>
                  <a:pt x="6232407" y="-33422"/>
                  <a:pt x="6337540" y="-29198"/>
                  <a:pt x="6585491" y="0"/>
                </a:cubicBezTo>
                <a:cubicBezTo>
                  <a:pt x="6833442" y="29198"/>
                  <a:pt x="7121547" y="-25776"/>
                  <a:pt x="7437413" y="0"/>
                </a:cubicBezTo>
                <a:cubicBezTo>
                  <a:pt x="7753279" y="25776"/>
                  <a:pt x="7856093" y="-19167"/>
                  <a:pt x="8113542" y="0"/>
                </a:cubicBezTo>
                <a:cubicBezTo>
                  <a:pt x="8370991" y="19167"/>
                  <a:pt x="8454659" y="24200"/>
                  <a:pt x="8789670" y="0"/>
                </a:cubicBezTo>
                <a:cubicBezTo>
                  <a:pt x="8789729" y="3399"/>
                  <a:pt x="8789848" y="9725"/>
                  <a:pt x="8789670" y="14647"/>
                </a:cubicBezTo>
                <a:cubicBezTo>
                  <a:pt x="8651207" y="5199"/>
                  <a:pt x="8386697" y="-18977"/>
                  <a:pt x="8113542" y="14647"/>
                </a:cubicBezTo>
                <a:cubicBezTo>
                  <a:pt x="7840387" y="48271"/>
                  <a:pt x="7789150" y="32743"/>
                  <a:pt x="7613206" y="14647"/>
                </a:cubicBezTo>
                <a:cubicBezTo>
                  <a:pt x="7437262" y="-3449"/>
                  <a:pt x="7311068" y="29379"/>
                  <a:pt x="7200768" y="14647"/>
                </a:cubicBezTo>
                <a:cubicBezTo>
                  <a:pt x="7090468" y="-85"/>
                  <a:pt x="6864205" y="5833"/>
                  <a:pt x="6612536" y="14647"/>
                </a:cubicBezTo>
                <a:cubicBezTo>
                  <a:pt x="6360867" y="23461"/>
                  <a:pt x="6244565" y="-4131"/>
                  <a:pt x="5936408" y="14647"/>
                </a:cubicBezTo>
                <a:cubicBezTo>
                  <a:pt x="5628251" y="33425"/>
                  <a:pt x="5613244" y="11527"/>
                  <a:pt x="5348176" y="14647"/>
                </a:cubicBezTo>
                <a:cubicBezTo>
                  <a:pt x="5083108" y="17767"/>
                  <a:pt x="4959899" y="10360"/>
                  <a:pt x="4847841" y="14647"/>
                </a:cubicBezTo>
                <a:cubicBezTo>
                  <a:pt x="4735783" y="18934"/>
                  <a:pt x="4374048" y="-18183"/>
                  <a:pt x="3995919" y="14647"/>
                </a:cubicBezTo>
                <a:cubicBezTo>
                  <a:pt x="3617790" y="47477"/>
                  <a:pt x="3490199" y="32443"/>
                  <a:pt x="3319791" y="14647"/>
                </a:cubicBezTo>
                <a:cubicBezTo>
                  <a:pt x="3149383" y="-3149"/>
                  <a:pt x="2906715" y="1697"/>
                  <a:pt x="2555766" y="14647"/>
                </a:cubicBezTo>
                <a:cubicBezTo>
                  <a:pt x="2204818" y="27597"/>
                  <a:pt x="2346199" y="26380"/>
                  <a:pt x="2143327" y="14647"/>
                </a:cubicBezTo>
                <a:cubicBezTo>
                  <a:pt x="1940455" y="2914"/>
                  <a:pt x="1854579" y="5004"/>
                  <a:pt x="1642992" y="14647"/>
                </a:cubicBezTo>
                <a:cubicBezTo>
                  <a:pt x="1431406" y="24290"/>
                  <a:pt x="1260719" y="22698"/>
                  <a:pt x="966864" y="14647"/>
                </a:cubicBezTo>
                <a:cubicBezTo>
                  <a:pt x="673009" y="6596"/>
                  <a:pt x="375730" y="62132"/>
                  <a:pt x="0" y="14647"/>
                </a:cubicBezTo>
                <a:cubicBezTo>
                  <a:pt x="-358" y="7760"/>
                  <a:pt x="572" y="4131"/>
                  <a:pt x="0" y="0"/>
                </a:cubicBezTo>
                <a:close/>
              </a:path>
              <a:path w="8789670" h="14647" extrusionOk="0">
                <a:moveTo>
                  <a:pt x="0" y="0"/>
                </a:moveTo>
                <a:cubicBezTo>
                  <a:pt x="133851" y="19843"/>
                  <a:pt x="320757" y="-11520"/>
                  <a:pt x="500335" y="0"/>
                </a:cubicBezTo>
                <a:cubicBezTo>
                  <a:pt x="679914" y="11520"/>
                  <a:pt x="803259" y="7957"/>
                  <a:pt x="912773" y="0"/>
                </a:cubicBezTo>
                <a:cubicBezTo>
                  <a:pt x="1022287" y="-7957"/>
                  <a:pt x="1237756" y="-17143"/>
                  <a:pt x="1413108" y="0"/>
                </a:cubicBezTo>
                <a:cubicBezTo>
                  <a:pt x="1588461" y="17143"/>
                  <a:pt x="1763098" y="-21370"/>
                  <a:pt x="2089237" y="0"/>
                </a:cubicBezTo>
                <a:cubicBezTo>
                  <a:pt x="2415376" y="21370"/>
                  <a:pt x="2581198" y="-11283"/>
                  <a:pt x="2853262" y="0"/>
                </a:cubicBezTo>
                <a:cubicBezTo>
                  <a:pt x="3125327" y="11283"/>
                  <a:pt x="3369675" y="-8320"/>
                  <a:pt x="3705184" y="0"/>
                </a:cubicBezTo>
                <a:cubicBezTo>
                  <a:pt x="4040693" y="8320"/>
                  <a:pt x="4135129" y="41926"/>
                  <a:pt x="4557106" y="0"/>
                </a:cubicBezTo>
                <a:cubicBezTo>
                  <a:pt x="4979083" y="-41926"/>
                  <a:pt x="4898655" y="-12210"/>
                  <a:pt x="5145338" y="0"/>
                </a:cubicBezTo>
                <a:cubicBezTo>
                  <a:pt x="5392021" y="12210"/>
                  <a:pt x="5693571" y="-10299"/>
                  <a:pt x="5909363" y="0"/>
                </a:cubicBezTo>
                <a:cubicBezTo>
                  <a:pt x="6125155" y="10299"/>
                  <a:pt x="6338031" y="4463"/>
                  <a:pt x="6585491" y="0"/>
                </a:cubicBezTo>
                <a:cubicBezTo>
                  <a:pt x="6832951" y="-4463"/>
                  <a:pt x="6924528" y="-17388"/>
                  <a:pt x="7173723" y="0"/>
                </a:cubicBezTo>
                <a:cubicBezTo>
                  <a:pt x="7422918" y="17388"/>
                  <a:pt x="7724496" y="6455"/>
                  <a:pt x="7937748" y="0"/>
                </a:cubicBezTo>
                <a:cubicBezTo>
                  <a:pt x="8151000" y="-6455"/>
                  <a:pt x="8388519" y="22324"/>
                  <a:pt x="8789670" y="0"/>
                </a:cubicBezTo>
                <a:cubicBezTo>
                  <a:pt x="8790338" y="5915"/>
                  <a:pt x="8790085" y="11687"/>
                  <a:pt x="8789670" y="14647"/>
                </a:cubicBezTo>
                <a:cubicBezTo>
                  <a:pt x="8552961" y="-7361"/>
                  <a:pt x="8436400" y="-7620"/>
                  <a:pt x="8289335" y="14647"/>
                </a:cubicBezTo>
                <a:cubicBezTo>
                  <a:pt x="8142270" y="36914"/>
                  <a:pt x="7623001" y="29078"/>
                  <a:pt x="7437413" y="14647"/>
                </a:cubicBezTo>
                <a:cubicBezTo>
                  <a:pt x="7251825" y="216"/>
                  <a:pt x="7076701" y="685"/>
                  <a:pt x="6937078" y="14647"/>
                </a:cubicBezTo>
                <a:cubicBezTo>
                  <a:pt x="6797455" y="28609"/>
                  <a:pt x="6355614" y="41460"/>
                  <a:pt x="6173053" y="14647"/>
                </a:cubicBezTo>
                <a:cubicBezTo>
                  <a:pt x="5990493" y="-12166"/>
                  <a:pt x="5866524" y="29555"/>
                  <a:pt x="5760614" y="14647"/>
                </a:cubicBezTo>
                <a:cubicBezTo>
                  <a:pt x="5654704" y="-261"/>
                  <a:pt x="5247842" y="41331"/>
                  <a:pt x="5084486" y="14647"/>
                </a:cubicBezTo>
                <a:cubicBezTo>
                  <a:pt x="4921130" y="-12037"/>
                  <a:pt x="4713267" y="14479"/>
                  <a:pt x="4584151" y="14647"/>
                </a:cubicBezTo>
                <a:cubicBezTo>
                  <a:pt x="4455036" y="14815"/>
                  <a:pt x="4018075" y="-24699"/>
                  <a:pt x="3732229" y="14647"/>
                </a:cubicBezTo>
                <a:cubicBezTo>
                  <a:pt x="3446383" y="53993"/>
                  <a:pt x="3448441" y="4169"/>
                  <a:pt x="3319791" y="14647"/>
                </a:cubicBezTo>
                <a:cubicBezTo>
                  <a:pt x="3191141" y="25125"/>
                  <a:pt x="2908560" y="-2236"/>
                  <a:pt x="2643662" y="14647"/>
                </a:cubicBezTo>
                <a:cubicBezTo>
                  <a:pt x="2378764" y="31530"/>
                  <a:pt x="2392235" y="10994"/>
                  <a:pt x="2231224" y="14647"/>
                </a:cubicBezTo>
                <a:cubicBezTo>
                  <a:pt x="2070213" y="18300"/>
                  <a:pt x="1949675" y="29009"/>
                  <a:pt x="1730889" y="14647"/>
                </a:cubicBezTo>
                <a:cubicBezTo>
                  <a:pt x="1512103" y="285"/>
                  <a:pt x="1346878" y="27136"/>
                  <a:pt x="966864" y="14647"/>
                </a:cubicBezTo>
                <a:cubicBezTo>
                  <a:pt x="586850" y="2158"/>
                  <a:pt x="462346" y="56596"/>
                  <a:pt x="0" y="14647"/>
                </a:cubicBezTo>
                <a:cubicBezTo>
                  <a:pt x="-6" y="10053"/>
                  <a:pt x="75" y="3650"/>
                  <a:pt x="0" y="0"/>
                </a:cubicBezTo>
                <a:close/>
              </a:path>
            </a:pathLst>
          </a:custGeom>
          <a:solidFill>
            <a:schemeClr val="accent2">
              <a:alpha val="74901"/>
            </a:schemeClr>
          </a:solidFill>
          <a:ln w="44450" cap="rnd" cmpd="sng">
            <a:solidFill>
              <a:schemeClr val="accent2">
                <a:alpha val="74901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78" name="Google Shape;578;p32"/>
          <p:cNvSpPr txBox="1"/>
          <p:nvPr/>
        </p:nvSpPr>
        <p:spPr>
          <a:xfrm>
            <a:off x="458590" y="1658970"/>
            <a:ext cx="5377835" cy="3299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92239" lvl="0" indent="-19223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 integrated with DataFrame API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marR="4069" lvl="0" indent="-192239" algn="l" rtl="0">
              <a:lnSpc>
                <a:spcPct val="90000"/>
              </a:lnSpc>
              <a:spcBef>
                <a:spcPts val="83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Streaming data sources are treated as an unbounded table that is 	continually appended 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9" name="Google Shape;579;p32"/>
          <p:cNvPicPr preferRelativeResize="0"/>
          <p:nvPr/>
        </p:nvPicPr>
        <p:blipFill rotWithShape="1">
          <a:blip r:embed="rId3">
            <a:alphaModFix/>
          </a:blip>
          <a:srcRect l="38928" r="17844" b="1"/>
          <a:stretch/>
        </p:blipFill>
        <p:spPr>
          <a:xfrm>
            <a:off x="6148521" y="1677119"/>
            <a:ext cx="3156957" cy="3281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8364" y="309902"/>
            <a:ext cx="7397913" cy="952261"/>
          </a:xfrm>
          <a:prstGeom prst="rect">
            <a:avLst/>
          </a:prstGeom>
        </p:spPr>
        <p:txBody>
          <a:bodyPr spcFirstLastPara="1" vert="horz" wrap="square" lIns="73237" tIns="36618" rIns="73237" bIns="36618" rtlCol="0" anchor="b" anchorCtr="0">
            <a:normAutofit/>
          </a:bodyPr>
          <a:lstStyle/>
          <a:p>
            <a:pPr marL="10171"/>
            <a:r>
              <a:rPr lang="en-US" sz="4325" kern="1200" spc="-18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IV.</a:t>
            </a:r>
            <a:r>
              <a:rPr lang="en-US" sz="4325" kern="1200" spc="-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325" kern="1200" spc="-104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</a:t>
            </a:r>
            <a:r>
              <a:rPr lang="en-US" sz="4325" kern="1200" spc="-188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325" kern="1200" spc="-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Pattern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36368" y="2082014"/>
            <a:ext cx="8124327" cy="2751606"/>
          </a:xfrm>
          <a:prstGeom prst="rect">
            <a:avLst/>
          </a:prstGeom>
        </p:spPr>
        <p:txBody>
          <a:bodyPr vert="horz" lIns="73237" tIns="36618" rIns="73237" bIns="36618" rtlCol="0" anchor="ctr">
            <a:normAutofit lnSpcReduction="10000"/>
          </a:bodyPr>
          <a:lstStyle/>
          <a:p>
            <a:pPr marL="10171" indent="-183086">
              <a:lnSpc>
                <a:spcPct val="90000"/>
              </a:lnSpc>
              <a:spcBef>
                <a:spcPts val="364"/>
              </a:spcBef>
              <a:buFont typeface="Arial" panose="020B0604020202020204" pitchFamily="34" charset="0"/>
              <a:buChar char="•"/>
            </a:pPr>
            <a:r>
              <a:rPr lang="en-US" sz="1602"/>
              <a:t>∗</a:t>
            </a:r>
            <a:r>
              <a:rPr lang="en-US" sz="1602" spc="-48"/>
              <a:t>  </a:t>
            </a:r>
            <a:r>
              <a:rPr lang="en-US" sz="1602" spc="-91"/>
              <a:t>The</a:t>
            </a:r>
            <a:r>
              <a:rPr lang="en-US" sz="1602" spc="-76"/>
              <a:t> </a:t>
            </a:r>
            <a:r>
              <a:rPr lang="en-US" sz="1602" spc="-172"/>
              <a:t>SQL</a:t>
            </a:r>
            <a:r>
              <a:rPr lang="en-US" sz="1602" spc="-80"/>
              <a:t> </a:t>
            </a:r>
            <a:r>
              <a:rPr lang="en-US" sz="1602" b="1" spc="-148"/>
              <a:t>Joins</a:t>
            </a:r>
            <a:r>
              <a:rPr lang="en-US" sz="1602" b="1" spc="-88"/>
              <a:t> </a:t>
            </a:r>
            <a:r>
              <a:rPr lang="en-US" sz="1602" spc="-76"/>
              <a:t>clause</a:t>
            </a:r>
            <a:r>
              <a:rPr lang="en-US" sz="1602" spc="-64"/>
              <a:t> </a:t>
            </a:r>
            <a:r>
              <a:rPr lang="en-US" sz="1602" spc="-80"/>
              <a:t>is</a:t>
            </a:r>
            <a:r>
              <a:rPr lang="en-US" sz="1602" spc="-84"/>
              <a:t> </a:t>
            </a:r>
            <a:r>
              <a:rPr lang="en-US" sz="1602" spc="-68"/>
              <a:t>used</a:t>
            </a:r>
            <a:r>
              <a:rPr lang="en-US" sz="1602" spc="-76"/>
              <a:t> </a:t>
            </a:r>
            <a:r>
              <a:rPr lang="en-US" sz="1602" spc="64"/>
              <a:t>to</a:t>
            </a:r>
            <a:r>
              <a:rPr lang="en-US" sz="1602" spc="-84"/>
              <a:t> </a:t>
            </a:r>
            <a:r>
              <a:rPr lang="en-US" sz="1602" spc="-36"/>
              <a:t>combine</a:t>
            </a:r>
            <a:r>
              <a:rPr lang="en-US" sz="1602" spc="-80"/>
              <a:t> </a:t>
            </a:r>
            <a:r>
              <a:rPr lang="en-US" sz="1602" spc="-40"/>
              <a:t>records</a:t>
            </a:r>
            <a:r>
              <a:rPr lang="en-US" sz="1602" spc="-91"/>
              <a:t> </a:t>
            </a:r>
            <a:r>
              <a:rPr lang="en-US" sz="1602"/>
              <a:t>from</a:t>
            </a:r>
            <a:r>
              <a:rPr lang="en-US" sz="1602" spc="-76"/>
              <a:t> </a:t>
            </a:r>
            <a:r>
              <a:rPr lang="en-US" sz="1602" spc="64"/>
              <a:t>two</a:t>
            </a:r>
            <a:r>
              <a:rPr lang="en-US" sz="1602" spc="-91"/>
              <a:t> </a:t>
            </a:r>
            <a:r>
              <a:rPr lang="en-US" sz="1602"/>
              <a:t>or</a:t>
            </a:r>
            <a:r>
              <a:rPr lang="en-US" sz="1602" spc="-76"/>
              <a:t> </a:t>
            </a:r>
            <a:r>
              <a:rPr lang="en-US" sz="1602" spc="-28"/>
              <a:t>more</a:t>
            </a:r>
            <a:r>
              <a:rPr lang="en-US" sz="1602" spc="-91"/>
              <a:t> </a:t>
            </a:r>
            <a:r>
              <a:rPr lang="en-US" sz="1602" spc="-32"/>
              <a:t>tables</a:t>
            </a:r>
            <a:r>
              <a:rPr lang="en-US" sz="1602" spc="-80"/>
              <a:t> </a:t>
            </a:r>
            <a:r>
              <a:rPr lang="en-US" sz="1602" spc="-20"/>
              <a:t>in</a:t>
            </a:r>
            <a:r>
              <a:rPr lang="en-US" sz="1602" spc="-80"/>
              <a:t> </a:t>
            </a:r>
            <a:r>
              <a:rPr lang="en-US" sz="1602" spc="-112"/>
              <a:t>a</a:t>
            </a:r>
            <a:r>
              <a:rPr lang="en-US" sz="1602" spc="-68"/>
              <a:t> </a:t>
            </a:r>
            <a:r>
              <a:rPr lang="en-US" sz="1602" spc="-8"/>
              <a:t>database</a:t>
            </a:r>
            <a:endParaRPr lang="en-US" sz="1602"/>
          </a:p>
          <a:p>
            <a:pPr marL="10171" indent="-183086">
              <a:lnSpc>
                <a:spcPct val="90000"/>
              </a:lnSpc>
              <a:spcBef>
                <a:spcPts val="288"/>
              </a:spcBef>
              <a:buFont typeface="Arial" panose="020B0604020202020204" pitchFamily="34" charset="0"/>
              <a:buChar char="•"/>
            </a:pPr>
            <a:r>
              <a:rPr lang="en-US" sz="1602"/>
              <a:t>∗</a:t>
            </a:r>
            <a:r>
              <a:rPr lang="en-US" sz="1602" spc="-52"/>
              <a:t>  </a:t>
            </a:r>
            <a:r>
              <a:rPr lang="en-US" sz="1602" spc="-68"/>
              <a:t>Joins</a:t>
            </a:r>
            <a:r>
              <a:rPr lang="en-US" sz="1602" spc="-72"/>
              <a:t> </a:t>
            </a:r>
            <a:r>
              <a:rPr lang="en-US" sz="1602" spc="-52"/>
              <a:t>are</a:t>
            </a:r>
            <a:r>
              <a:rPr lang="en-US" sz="1602" spc="-88"/>
              <a:t> </a:t>
            </a:r>
            <a:r>
              <a:rPr lang="en-US" sz="1602" spc="-48"/>
              <a:t>possibly</a:t>
            </a:r>
            <a:r>
              <a:rPr lang="en-US" sz="1602" spc="-80"/>
              <a:t> </a:t>
            </a:r>
            <a:r>
              <a:rPr lang="en-US" sz="1602" spc="-36"/>
              <a:t>one</a:t>
            </a:r>
            <a:r>
              <a:rPr lang="en-US" sz="1602" spc="-84"/>
              <a:t> </a:t>
            </a:r>
            <a:r>
              <a:rPr lang="en-US" sz="1602" spc="44"/>
              <a:t>of</a:t>
            </a:r>
            <a:r>
              <a:rPr lang="en-US" sz="1602" spc="-91"/>
              <a:t> </a:t>
            </a:r>
            <a:r>
              <a:rPr lang="en-US" sz="1602"/>
              <a:t>the</a:t>
            </a:r>
            <a:r>
              <a:rPr lang="en-US" sz="1602" spc="-84"/>
              <a:t> </a:t>
            </a:r>
            <a:r>
              <a:rPr lang="en-US" sz="1602" spc="-8"/>
              <a:t>most</a:t>
            </a:r>
            <a:r>
              <a:rPr lang="en-US" sz="1602" spc="-96"/>
              <a:t> </a:t>
            </a:r>
            <a:r>
              <a:rPr lang="en-US" sz="1602" spc="-28"/>
              <a:t>complex</a:t>
            </a:r>
            <a:r>
              <a:rPr lang="en-US" sz="1602" spc="-80"/>
              <a:t> </a:t>
            </a:r>
            <a:r>
              <a:rPr lang="en-US" sz="1602" spc="-28"/>
              <a:t>operations</a:t>
            </a:r>
            <a:r>
              <a:rPr lang="en-US" sz="1602" spc="-96"/>
              <a:t> </a:t>
            </a:r>
            <a:r>
              <a:rPr lang="en-US" sz="1602" spc="-40"/>
              <a:t>one</a:t>
            </a:r>
            <a:r>
              <a:rPr lang="en-US" sz="1602" spc="-76"/>
              <a:t> </a:t>
            </a:r>
            <a:r>
              <a:rPr lang="en-US" sz="1602" spc="-72"/>
              <a:t>can</a:t>
            </a:r>
            <a:r>
              <a:rPr lang="en-US" sz="1602" spc="-84"/>
              <a:t> </a:t>
            </a:r>
            <a:r>
              <a:rPr lang="en-US" sz="1602" spc="-36"/>
              <a:t>execute</a:t>
            </a:r>
            <a:r>
              <a:rPr lang="en-US" sz="1602" spc="-91"/>
              <a:t> </a:t>
            </a:r>
            <a:r>
              <a:rPr lang="en-US" sz="1602" spc="-24"/>
              <a:t>in</a:t>
            </a:r>
            <a:r>
              <a:rPr lang="en-US" sz="1602" spc="-76"/>
              <a:t> </a:t>
            </a:r>
            <a:r>
              <a:rPr lang="en-US" sz="1602" spc="-8"/>
              <a:t>MapReduce</a:t>
            </a:r>
            <a:endParaRPr lang="en-US" sz="1602"/>
          </a:p>
          <a:p>
            <a:pPr marL="229366" marR="339217" indent="-183086">
              <a:lnSpc>
                <a:spcPct val="90000"/>
              </a:lnSpc>
              <a:spcBef>
                <a:spcPts val="509"/>
              </a:spcBef>
              <a:buFont typeface="Arial" panose="020B0604020202020204" pitchFamily="34" charset="0"/>
              <a:buChar char="•"/>
            </a:pPr>
            <a:r>
              <a:rPr lang="en-US" sz="1602"/>
              <a:t>∗</a:t>
            </a:r>
            <a:r>
              <a:rPr lang="en-US" sz="1602" spc="384"/>
              <a:t> </a:t>
            </a:r>
            <a:r>
              <a:rPr lang="en-US" sz="1602" spc="-80"/>
              <a:t>MapReduce</a:t>
            </a:r>
            <a:r>
              <a:rPr lang="en-US" sz="1602" spc="-32"/>
              <a:t> </a:t>
            </a:r>
            <a:r>
              <a:rPr lang="en-US" sz="1602" spc="-144"/>
              <a:t>is</a:t>
            </a:r>
            <a:r>
              <a:rPr lang="en-US" sz="1602" spc="36"/>
              <a:t> </a:t>
            </a:r>
            <a:r>
              <a:rPr lang="en-US" sz="1602" spc="-44"/>
              <a:t>very</a:t>
            </a:r>
            <a:r>
              <a:rPr lang="en-US" sz="1602" spc="-52"/>
              <a:t> </a:t>
            </a:r>
            <a:r>
              <a:rPr lang="en-US" sz="1602" spc="-24"/>
              <a:t>good</a:t>
            </a:r>
            <a:r>
              <a:rPr lang="en-US" sz="1602" spc="-64"/>
              <a:t> </a:t>
            </a:r>
            <a:r>
              <a:rPr lang="en-US" sz="1602"/>
              <a:t>at</a:t>
            </a:r>
            <a:r>
              <a:rPr lang="en-US" sz="1602" spc="-48"/>
              <a:t> </a:t>
            </a:r>
            <a:r>
              <a:rPr lang="en-US" sz="1602" spc="-60"/>
              <a:t>processing</a:t>
            </a:r>
            <a:r>
              <a:rPr lang="en-US" sz="1602" spc="-44"/>
              <a:t> </a:t>
            </a:r>
            <a:r>
              <a:rPr lang="en-US" sz="1602" spc="-48"/>
              <a:t>large</a:t>
            </a:r>
            <a:r>
              <a:rPr lang="en-US" sz="1602" spc="-52"/>
              <a:t> </a:t>
            </a:r>
            <a:r>
              <a:rPr lang="en-US" sz="1602" spc="-28"/>
              <a:t>data</a:t>
            </a:r>
            <a:r>
              <a:rPr lang="en-US" sz="1602" spc="-48"/>
              <a:t> </a:t>
            </a:r>
            <a:r>
              <a:rPr lang="en-US" sz="1602" spc="-68"/>
              <a:t>sets</a:t>
            </a:r>
            <a:r>
              <a:rPr lang="en-US" sz="1602" spc="-44"/>
              <a:t> </a:t>
            </a:r>
            <a:r>
              <a:rPr lang="en-US" sz="1602" spc="-64"/>
              <a:t>by</a:t>
            </a:r>
            <a:r>
              <a:rPr lang="en-US" sz="1602" spc="-44"/>
              <a:t> </a:t>
            </a:r>
            <a:r>
              <a:rPr lang="en-US" sz="1602" spc="-20"/>
              <a:t>looking</a:t>
            </a:r>
            <a:r>
              <a:rPr lang="en-US" sz="1602" spc="-48"/>
              <a:t> </a:t>
            </a:r>
            <a:r>
              <a:rPr lang="en-US" sz="1602"/>
              <a:t>at</a:t>
            </a:r>
            <a:r>
              <a:rPr lang="en-US" sz="1602" spc="-52"/>
              <a:t> every</a:t>
            </a:r>
            <a:r>
              <a:rPr lang="en-US" sz="1602" spc="-60"/>
              <a:t> </a:t>
            </a:r>
            <a:r>
              <a:rPr lang="en-US" sz="1602" spc="-24"/>
              <a:t>record</a:t>
            </a:r>
            <a:r>
              <a:rPr lang="en-US" sz="1602" spc="-48"/>
              <a:t> </a:t>
            </a:r>
            <a:r>
              <a:rPr lang="en-US" sz="1602" spc="-20"/>
              <a:t>or </a:t>
            </a:r>
            <a:r>
              <a:rPr lang="en-US" sz="1602" spc="-16"/>
              <a:t>group</a:t>
            </a:r>
            <a:r>
              <a:rPr lang="en-US" sz="1602" spc="-96"/>
              <a:t> </a:t>
            </a:r>
            <a:r>
              <a:rPr lang="en-US" sz="1602" spc="-24"/>
              <a:t>in</a:t>
            </a:r>
            <a:r>
              <a:rPr lang="en-US" sz="1602" spc="-84"/>
              <a:t> </a:t>
            </a:r>
            <a:r>
              <a:rPr lang="en-US" sz="1602" spc="-24"/>
              <a:t>isolation,</a:t>
            </a:r>
            <a:r>
              <a:rPr lang="en-US" sz="1602" spc="-56"/>
              <a:t> </a:t>
            </a:r>
            <a:r>
              <a:rPr lang="en-US" sz="1602" spc="-136"/>
              <a:t>so</a:t>
            </a:r>
            <a:r>
              <a:rPr lang="en-US" sz="1602" spc="24"/>
              <a:t> </a:t>
            </a:r>
            <a:r>
              <a:rPr lang="en-US" sz="1602" spc="-24"/>
              <a:t>joining</a:t>
            </a:r>
            <a:r>
              <a:rPr lang="en-US" sz="1602" spc="-28"/>
              <a:t> </a:t>
            </a:r>
            <a:r>
              <a:rPr lang="en-US" sz="1602" spc="64"/>
              <a:t>two</a:t>
            </a:r>
            <a:r>
              <a:rPr lang="en-US" sz="1602" spc="-40"/>
              <a:t> </a:t>
            </a:r>
            <a:r>
              <a:rPr lang="en-US" sz="1602" spc="-44"/>
              <a:t>very</a:t>
            </a:r>
            <a:r>
              <a:rPr lang="en-US" sz="1602" spc="-48"/>
              <a:t> large </a:t>
            </a:r>
            <a:r>
              <a:rPr lang="en-US" sz="1602" spc="-28"/>
              <a:t>data</a:t>
            </a:r>
            <a:r>
              <a:rPr lang="en-US" sz="1602" spc="-44"/>
              <a:t> </a:t>
            </a:r>
            <a:r>
              <a:rPr lang="en-US" sz="1602" spc="-68"/>
              <a:t>sets</a:t>
            </a:r>
            <a:r>
              <a:rPr lang="en-US" sz="1602" spc="-44"/>
              <a:t> </a:t>
            </a:r>
            <a:r>
              <a:rPr lang="en-US" sz="1602"/>
              <a:t>together</a:t>
            </a:r>
            <a:r>
              <a:rPr lang="en-US" sz="1602" spc="-56"/>
              <a:t> </a:t>
            </a:r>
            <a:r>
              <a:rPr lang="en-US" sz="1602" spc="-76"/>
              <a:t>does</a:t>
            </a:r>
            <a:r>
              <a:rPr lang="en-US" sz="1602" spc="-32"/>
              <a:t> </a:t>
            </a:r>
            <a:r>
              <a:rPr lang="en-US" sz="1602"/>
              <a:t>not</a:t>
            </a:r>
            <a:r>
              <a:rPr lang="en-US" sz="1602" spc="-52"/>
              <a:t> </a:t>
            </a:r>
            <a:r>
              <a:rPr lang="en-US" sz="1602" spc="72"/>
              <a:t>fit</a:t>
            </a:r>
            <a:r>
              <a:rPr lang="en-US" sz="1602" spc="-56"/>
              <a:t> </a:t>
            </a:r>
            <a:r>
              <a:rPr lang="en-US" sz="1602"/>
              <a:t>into</a:t>
            </a:r>
            <a:r>
              <a:rPr lang="en-US" sz="1602" spc="-44"/>
              <a:t> </a:t>
            </a:r>
            <a:r>
              <a:rPr lang="en-US" sz="1602" spc="-20"/>
              <a:t>the </a:t>
            </a:r>
            <a:r>
              <a:rPr lang="en-US" sz="1602" spc="-36"/>
              <a:t>paradigm</a:t>
            </a:r>
            <a:r>
              <a:rPr lang="en-US" sz="1602" spc="-64"/>
              <a:t> </a:t>
            </a:r>
            <a:r>
              <a:rPr lang="en-US" sz="1602" spc="-8"/>
              <a:t>gracefully</a:t>
            </a:r>
            <a:endParaRPr lang="en-US" sz="1602"/>
          </a:p>
          <a:p>
            <a:pPr marL="10171" indent="-183086">
              <a:lnSpc>
                <a:spcPct val="90000"/>
              </a:lnSpc>
              <a:spcBef>
                <a:spcPts val="541"/>
              </a:spcBef>
              <a:buFont typeface="Arial" panose="020B0604020202020204" pitchFamily="34" charset="0"/>
              <a:buChar char="•"/>
              <a:tabLst>
                <a:tab pos="229366" algn="l"/>
              </a:tabLst>
            </a:pPr>
            <a:r>
              <a:rPr lang="en-US" sz="1602" spc="-40"/>
              <a:t>∗</a:t>
            </a:r>
            <a:r>
              <a:rPr lang="en-US" sz="1602"/>
              <a:t>	</a:t>
            </a:r>
            <a:r>
              <a:rPr lang="en-US" sz="1602" spc="-108"/>
              <a:t>We</a:t>
            </a:r>
            <a:r>
              <a:rPr lang="en-US" sz="1602" spc="-80"/>
              <a:t> </a:t>
            </a:r>
            <a:r>
              <a:rPr lang="en-US" sz="1602" spc="-56"/>
              <a:t>need</a:t>
            </a:r>
            <a:r>
              <a:rPr lang="en-US" sz="1602" spc="-80"/>
              <a:t> </a:t>
            </a:r>
            <a:r>
              <a:rPr lang="en-US" sz="1602" spc="64"/>
              <a:t>to</a:t>
            </a:r>
            <a:r>
              <a:rPr lang="en-US" sz="1602" spc="-91"/>
              <a:t> </a:t>
            </a:r>
            <a:r>
              <a:rPr lang="en-US" sz="1602"/>
              <a:t>know</a:t>
            </a:r>
            <a:r>
              <a:rPr lang="en-US" sz="1602" spc="-80"/>
              <a:t> </a:t>
            </a:r>
            <a:r>
              <a:rPr lang="en-US" sz="1602"/>
              <a:t>what</a:t>
            </a:r>
            <a:r>
              <a:rPr lang="en-US" sz="1602" spc="-72"/>
              <a:t> </a:t>
            </a:r>
            <a:r>
              <a:rPr lang="en-US" sz="1602" spc="-24"/>
              <a:t>data</a:t>
            </a:r>
            <a:r>
              <a:rPr lang="en-US" sz="1602" spc="-76"/>
              <a:t> </a:t>
            </a:r>
            <a:r>
              <a:rPr lang="en-US" sz="1602" spc="-28"/>
              <a:t>set</a:t>
            </a:r>
            <a:r>
              <a:rPr lang="en-US" sz="1602" spc="-88"/>
              <a:t> </a:t>
            </a:r>
            <a:r>
              <a:rPr lang="en-US" sz="1602" spc="-112"/>
              <a:t>a</a:t>
            </a:r>
            <a:r>
              <a:rPr lang="en-US" sz="1602" spc="-72"/>
              <a:t> </a:t>
            </a:r>
            <a:r>
              <a:rPr lang="en-US" sz="1602" spc="-20"/>
              <a:t>record</a:t>
            </a:r>
            <a:r>
              <a:rPr lang="en-US" sz="1602" spc="-80"/>
              <a:t> </a:t>
            </a:r>
            <a:r>
              <a:rPr lang="en-US" sz="1602" spc="-76"/>
              <a:t>came</a:t>
            </a:r>
            <a:r>
              <a:rPr lang="en-US" sz="1602" spc="-80"/>
              <a:t> </a:t>
            </a:r>
            <a:r>
              <a:rPr lang="en-US" sz="1602"/>
              <a:t>from</a:t>
            </a:r>
            <a:r>
              <a:rPr lang="en-US" sz="1602" spc="-88"/>
              <a:t> </a:t>
            </a:r>
            <a:r>
              <a:rPr lang="en-US" sz="1602" spc="-20"/>
              <a:t>in</a:t>
            </a:r>
            <a:r>
              <a:rPr lang="en-US" sz="1602" spc="-84"/>
              <a:t> </a:t>
            </a:r>
            <a:r>
              <a:rPr lang="en-US" sz="1602"/>
              <a:t>order</a:t>
            </a:r>
            <a:r>
              <a:rPr lang="en-US" sz="1602" spc="-76"/>
              <a:t> </a:t>
            </a:r>
            <a:r>
              <a:rPr lang="en-US" sz="1602" spc="64"/>
              <a:t>to</a:t>
            </a:r>
            <a:r>
              <a:rPr lang="en-US" sz="1602" spc="-84"/>
              <a:t> </a:t>
            </a:r>
            <a:r>
              <a:rPr lang="en-US" sz="1602" spc="-64"/>
              <a:t>process</a:t>
            </a:r>
            <a:r>
              <a:rPr lang="en-US" sz="1602" spc="-88"/>
              <a:t> </a:t>
            </a:r>
            <a:r>
              <a:rPr lang="en-US" sz="1602" spc="60"/>
              <a:t>it</a:t>
            </a:r>
            <a:r>
              <a:rPr lang="en-US" sz="1602" spc="-76"/>
              <a:t> </a:t>
            </a:r>
            <a:r>
              <a:rPr lang="en-US" sz="1602" spc="-8"/>
              <a:t>correctly</a:t>
            </a:r>
            <a:endParaRPr lang="en-US" sz="1602"/>
          </a:p>
          <a:p>
            <a:pPr marL="10171" indent="-183086">
              <a:lnSpc>
                <a:spcPct val="90000"/>
              </a:lnSpc>
              <a:spcBef>
                <a:spcPts val="396"/>
              </a:spcBef>
              <a:buFont typeface="Arial" panose="020B0604020202020204" pitchFamily="34" charset="0"/>
              <a:buChar char="•"/>
              <a:tabLst>
                <a:tab pos="229366" algn="l"/>
              </a:tabLst>
            </a:pPr>
            <a:r>
              <a:rPr lang="en-US" sz="1602" spc="-40"/>
              <a:t>∗</a:t>
            </a:r>
            <a:r>
              <a:rPr lang="en-US" sz="1602"/>
              <a:t>	Network</a:t>
            </a:r>
            <a:r>
              <a:rPr lang="en-US" sz="1602" spc="-91"/>
              <a:t> </a:t>
            </a:r>
            <a:r>
              <a:rPr lang="en-US" sz="1602" spc="-8"/>
              <a:t>bandwidth</a:t>
            </a:r>
            <a:r>
              <a:rPr lang="en-US" sz="1602" spc="-72"/>
              <a:t> </a:t>
            </a:r>
            <a:r>
              <a:rPr lang="en-US" sz="1602" spc="-80"/>
              <a:t>is</a:t>
            </a:r>
            <a:r>
              <a:rPr lang="en-US" sz="1602" spc="-64"/>
              <a:t> </a:t>
            </a:r>
            <a:r>
              <a:rPr lang="en-US" sz="1602" spc="-112"/>
              <a:t>a</a:t>
            </a:r>
            <a:r>
              <a:rPr lang="en-US" sz="1602" spc="-64"/>
              <a:t> </a:t>
            </a:r>
            <a:r>
              <a:rPr lang="en-US" sz="1602" spc="-36"/>
              <a:t>very</a:t>
            </a:r>
            <a:r>
              <a:rPr lang="en-US" sz="1602" spc="-84"/>
              <a:t> </a:t>
            </a:r>
            <a:r>
              <a:rPr lang="en-US" sz="1602"/>
              <a:t>important</a:t>
            </a:r>
            <a:r>
              <a:rPr lang="en-US" sz="1602" spc="-76"/>
              <a:t> </a:t>
            </a:r>
            <a:r>
              <a:rPr lang="en-US" sz="1602" spc="-44"/>
              <a:t>resource</a:t>
            </a:r>
            <a:r>
              <a:rPr lang="en-US" sz="1602" spc="-72"/>
              <a:t> </a:t>
            </a:r>
            <a:r>
              <a:rPr lang="en-US" sz="1602" spc="-48"/>
              <a:t>and</a:t>
            </a:r>
            <a:r>
              <a:rPr lang="en-US" sz="1602" spc="-76"/>
              <a:t> </a:t>
            </a:r>
            <a:r>
              <a:rPr lang="en-US" sz="1602" spc="-44"/>
              <a:t>joins</a:t>
            </a:r>
            <a:r>
              <a:rPr lang="en-US" sz="1602" spc="-56"/>
              <a:t> </a:t>
            </a:r>
            <a:r>
              <a:rPr lang="en-US" sz="1602" spc="-64"/>
              <a:t>have </a:t>
            </a:r>
            <a:r>
              <a:rPr lang="en-US" sz="1602" spc="-112"/>
              <a:t>a</a:t>
            </a:r>
            <a:r>
              <a:rPr lang="en-US" sz="1602" spc="-76"/>
              <a:t> </a:t>
            </a:r>
            <a:r>
              <a:rPr lang="en-US" sz="1602" spc="-36"/>
              <a:t>tendency</a:t>
            </a:r>
            <a:r>
              <a:rPr lang="en-US" sz="1602" spc="-80"/>
              <a:t> </a:t>
            </a:r>
            <a:r>
              <a:rPr lang="en-US" sz="1602" spc="64"/>
              <a:t>to</a:t>
            </a:r>
            <a:r>
              <a:rPr lang="en-US" sz="1602" spc="-80"/>
              <a:t> </a:t>
            </a:r>
            <a:r>
              <a:rPr lang="en-US" sz="1602" spc="-88"/>
              <a:t>use</a:t>
            </a:r>
            <a:r>
              <a:rPr lang="en-US" sz="1602" spc="-72"/>
              <a:t> </a:t>
            </a:r>
            <a:r>
              <a:rPr lang="en-US" sz="1602" spc="-112"/>
              <a:t>a</a:t>
            </a:r>
            <a:r>
              <a:rPr lang="en-US" sz="1602" spc="-64"/>
              <a:t> </a:t>
            </a:r>
            <a:r>
              <a:rPr lang="en-US" sz="1602" spc="24"/>
              <a:t>lot</a:t>
            </a:r>
            <a:endParaRPr lang="en-US" sz="1602"/>
          </a:p>
          <a:p>
            <a:pPr marL="10171" indent="-183086">
              <a:lnSpc>
                <a:spcPct val="90000"/>
              </a:lnSpc>
              <a:spcBef>
                <a:spcPts val="288"/>
              </a:spcBef>
              <a:buFont typeface="Arial" panose="020B0604020202020204" pitchFamily="34" charset="0"/>
              <a:buChar char="•"/>
              <a:tabLst>
                <a:tab pos="229366" algn="l"/>
              </a:tabLst>
            </a:pPr>
            <a:r>
              <a:rPr lang="en-US" sz="1602" spc="-40"/>
              <a:t>∗</a:t>
            </a:r>
            <a:r>
              <a:rPr lang="en-US" sz="1602"/>
              <a:t>	</a:t>
            </a:r>
            <a:r>
              <a:rPr lang="en-US" sz="1602" spc="-8"/>
              <a:t>Patterns</a:t>
            </a:r>
            <a:endParaRPr lang="en-US" sz="1602"/>
          </a:p>
          <a:p>
            <a:pPr marL="251743" indent="-183086">
              <a:lnSpc>
                <a:spcPct val="90000"/>
              </a:lnSpc>
              <a:spcBef>
                <a:spcPts val="348"/>
              </a:spcBef>
              <a:buFont typeface="Arial" panose="020B0604020202020204" pitchFamily="34" charset="0"/>
              <a:buChar char="•"/>
              <a:tabLst>
                <a:tab pos="471446" algn="l"/>
              </a:tabLst>
            </a:pPr>
            <a:r>
              <a:rPr lang="en-US" sz="1602" spc="-40"/>
              <a:t>∗</a:t>
            </a:r>
            <a:r>
              <a:rPr lang="en-US" sz="1602"/>
              <a:t>	</a:t>
            </a:r>
            <a:r>
              <a:rPr lang="en-US" sz="1602" spc="-72"/>
              <a:t>Reduce</a:t>
            </a:r>
            <a:r>
              <a:rPr lang="en-US" sz="1602" spc="-28"/>
              <a:t> </a:t>
            </a:r>
            <a:r>
              <a:rPr lang="en-US" sz="1602" spc="-76"/>
              <a:t>Side</a:t>
            </a:r>
            <a:r>
              <a:rPr lang="en-US" sz="1602" spc="-48"/>
              <a:t> </a:t>
            </a:r>
            <a:r>
              <a:rPr lang="en-US" sz="1602" spc="-16"/>
              <a:t>Join</a:t>
            </a:r>
            <a:endParaRPr lang="en-US" sz="1602"/>
          </a:p>
          <a:p>
            <a:pPr marL="251743" indent="-183086">
              <a:lnSpc>
                <a:spcPct val="90000"/>
              </a:lnSpc>
              <a:spcBef>
                <a:spcPts val="328"/>
              </a:spcBef>
              <a:buFont typeface="Arial" panose="020B0604020202020204" pitchFamily="34" charset="0"/>
              <a:buChar char="•"/>
              <a:tabLst>
                <a:tab pos="471446" algn="l"/>
              </a:tabLst>
            </a:pPr>
            <a:r>
              <a:rPr lang="en-US" sz="1602" spc="-40"/>
              <a:t>∗</a:t>
            </a:r>
            <a:r>
              <a:rPr lang="en-US" sz="1602"/>
              <a:t>	</a:t>
            </a:r>
            <a:r>
              <a:rPr lang="en-US" sz="1602" spc="-36"/>
              <a:t>Replicated</a:t>
            </a:r>
            <a:r>
              <a:rPr lang="en-US" sz="1602" spc="-40"/>
              <a:t> </a:t>
            </a:r>
            <a:r>
              <a:rPr lang="en-US" sz="1602" spc="-16"/>
              <a:t>Join</a:t>
            </a:r>
            <a:endParaRPr lang="en-US" sz="1602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9514" y="1602052"/>
            <a:ext cx="1005987" cy="232192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>
              <a:spcBef>
                <a:spcPts val="80"/>
              </a:spcBef>
              <a:tabLst>
                <a:tab pos="229366" algn="l"/>
              </a:tabLst>
            </a:pPr>
            <a:r>
              <a:rPr sz="1442" spc="-4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442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442" spc="-20" dirty="0">
                <a:solidFill>
                  <a:srgbClr val="063D86"/>
                </a:solidFill>
              </a:rPr>
              <a:t>Inner</a:t>
            </a:r>
            <a:r>
              <a:rPr sz="1442" spc="-76" dirty="0">
                <a:solidFill>
                  <a:srgbClr val="063D86"/>
                </a:solidFill>
              </a:rPr>
              <a:t> </a:t>
            </a:r>
            <a:r>
              <a:rPr sz="1442" spc="-24" dirty="0">
                <a:solidFill>
                  <a:srgbClr val="063D86"/>
                </a:solidFill>
              </a:rPr>
              <a:t>Join</a:t>
            </a:r>
            <a:endParaRPr sz="1442"/>
          </a:p>
        </p:txBody>
      </p:sp>
      <p:sp>
        <p:nvSpPr>
          <p:cNvPr id="3" name="object 3"/>
          <p:cNvSpPr txBox="1"/>
          <p:nvPr/>
        </p:nvSpPr>
        <p:spPr>
          <a:xfrm>
            <a:off x="3779514" y="2651981"/>
            <a:ext cx="1400143" cy="232192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>
              <a:spcBef>
                <a:spcPts val="80"/>
              </a:spcBef>
              <a:tabLst>
                <a:tab pos="229366" algn="l"/>
              </a:tabLst>
            </a:pPr>
            <a:r>
              <a:rPr sz="1442" spc="-4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442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442" dirty="0">
                <a:solidFill>
                  <a:srgbClr val="063D86"/>
                </a:solidFill>
              </a:rPr>
              <a:t>Left</a:t>
            </a:r>
            <a:r>
              <a:rPr sz="1442" spc="-48" dirty="0">
                <a:solidFill>
                  <a:srgbClr val="063D86"/>
                </a:solidFill>
              </a:rPr>
              <a:t> </a:t>
            </a:r>
            <a:r>
              <a:rPr sz="1442" spc="-20" dirty="0">
                <a:solidFill>
                  <a:srgbClr val="063D86"/>
                </a:solidFill>
              </a:rPr>
              <a:t>Outer</a:t>
            </a:r>
            <a:r>
              <a:rPr sz="1442" spc="-60" dirty="0">
                <a:solidFill>
                  <a:srgbClr val="063D86"/>
                </a:solidFill>
              </a:rPr>
              <a:t> </a:t>
            </a:r>
            <a:r>
              <a:rPr sz="1442" spc="-24" dirty="0">
                <a:solidFill>
                  <a:srgbClr val="063D86"/>
                </a:solidFill>
              </a:rPr>
              <a:t>Join</a:t>
            </a:r>
            <a:endParaRPr sz="1442"/>
          </a:p>
        </p:txBody>
      </p:sp>
      <p:sp>
        <p:nvSpPr>
          <p:cNvPr id="4" name="object 4"/>
          <p:cNvSpPr txBox="1"/>
          <p:nvPr/>
        </p:nvSpPr>
        <p:spPr>
          <a:xfrm>
            <a:off x="3779514" y="4092810"/>
            <a:ext cx="1501352" cy="232192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>
              <a:spcBef>
                <a:spcPts val="80"/>
              </a:spcBef>
              <a:tabLst>
                <a:tab pos="229366" algn="l"/>
              </a:tabLst>
            </a:pPr>
            <a:r>
              <a:rPr sz="1442" spc="-4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442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442" spc="-28" dirty="0">
                <a:solidFill>
                  <a:srgbClr val="063D86"/>
                </a:solidFill>
              </a:rPr>
              <a:t>Right</a:t>
            </a:r>
            <a:r>
              <a:rPr sz="1442" spc="-72" dirty="0">
                <a:solidFill>
                  <a:srgbClr val="063D86"/>
                </a:solidFill>
              </a:rPr>
              <a:t> </a:t>
            </a:r>
            <a:r>
              <a:rPr sz="1442" spc="-20" dirty="0">
                <a:solidFill>
                  <a:srgbClr val="063D86"/>
                </a:solidFill>
              </a:rPr>
              <a:t>Outer</a:t>
            </a:r>
            <a:r>
              <a:rPr sz="1442" spc="-60" dirty="0">
                <a:solidFill>
                  <a:srgbClr val="063D86"/>
                </a:solidFill>
              </a:rPr>
              <a:t> </a:t>
            </a:r>
            <a:r>
              <a:rPr sz="1442" spc="-24" dirty="0">
                <a:solidFill>
                  <a:srgbClr val="063D86"/>
                </a:solidFill>
              </a:rPr>
              <a:t>Join</a:t>
            </a:r>
            <a:endParaRPr sz="1442"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58857" y="437995"/>
            <a:ext cx="3849502" cy="1206240"/>
          </a:xfrm>
          <a:prstGeom prst="rect">
            <a:avLst/>
          </a:prstGeom>
        </p:spPr>
        <p:txBody>
          <a:bodyPr spcFirstLastPara="1" vert="horz" wrap="square" lIns="0" tIns="10172" rIns="0" bIns="0" rtlCol="0" anchor="t" anchorCtr="0">
            <a:spAutoFit/>
          </a:bodyPr>
          <a:lstStyle/>
          <a:p>
            <a:pPr marL="10171">
              <a:spcBef>
                <a:spcPts val="80"/>
              </a:spcBef>
            </a:pPr>
            <a:r>
              <a:rPr sz="3844" spc="-116" dirty="0"/>
              <a:t>Refresher</a:t>
            </a:r>
            <a:r>
              <a:rPr sz="3844" spc="-216" dirty="0"/>
              <a:t> </a:t>
            </a:r>
            <a:r>
              <a:rPr sz="3844" spc="-44" dirty="0"/>
              <a:t>on</a:t>
            </a:r>
            <a:r>
              <a:rPr sz="3844" spc="-216" dirty="0"/>
              <a:t> </a:t>
            </a:r>
            <a:r>
              <a:rPr sz="3844" spc="-116" dirty="0"/>
              <a:t>Joins</a:t>
            </a:r>
            <a:endParaRPr sz="3844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950" y="2153157"/>
            <a:ext cx="1861432" cy="122061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230" y="3442414"/>
            <a:ext cx="2540112" cy="13195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0132" y="1879741"/>
            <a:ext cx="3374989" cy="7775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70132" y="2861111"/>
            <a:ext cx="3882764" cy="125967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04921" y="4408216"/>
            <a:ext cx="3791828" cy="100246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58857" y="437995"/>
            <a:ext cx="3849502" cy="1206240"/>
          </a:xfrm>
          <a:prstGeom prst="rect">
            <a:avLst/>
          </a:prstGeom>
        </p:spPr>
        <p:txBody>
          <a:bodyPr spcFirstLastPara="1" vert="horz" wrap="square" lIns="0" tIns="10172" rIns="0" bIns="0" rtlCol="0" anchor="t" anchorCtr="0">
            <a:spAutoFit/>
          </a:bodyPr>
          <a:lstStyle/>
          <a:p>
            <a:pPr marL="10171">
              <a:spcBef>
                <a:spcPts val="80"/>
              </a:spcBef>
            </a:pPr>
            <a:r>
              <a:rPr sz="3844" spc="-116" dirty="0"/>
              <a:t>Refresher</a:t>
            </a:r>
            <a:r>
              <a:rPr sz="3844" spc="-216" dirty="0"/>
              <a:t> </a:t>
            </a:r>
            <a:r>
              <a:rPr sz="3844" spc="-44" dirty="0"/>
              <a:t>on</a:t>
            </a:r>
            <a:r>
              <a:rPr sz="3844" spc="-216" dirty="0"/>
              <a:t> </a:t>
            </a:r>
            <a:r>
              <a:rPr sz="3844" spc="-116" dirty="0"/>
              <a:t>Joins</a:t>
            </a:r>
            <a:endParaRPr sz="3844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7456" y="1899271"/>
            <a:ext cx="3887646" cy="14220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95128" y="4356499"/>
            <a:ext cx="3852304" cy="6828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8950" y="2153157"/>
            <a:ext cx="1861432" cy="12206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5230" y="3442414"/>
            <a:ext cx="2540112" cy="13195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79514" y="1602052"/>
            <a:ext cx="1357420" cy="232192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>
              <a:spcBef>
                <a:spcPts val="80"/>
              </a:spcBef>
              <a:tabLst>
                <a:tab pos="229366" algn="l"/>
              </a:tabLst>
            </a:pPr>
            <a:r>
              <a:rPr sz="1442" spc="-4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442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442" spc="-56" dirty="0">
                <a:solidFill>
                  <a:srgbClr val="063D86"/>
                </a:solidFill>
              </a:rPr>
              <a:t>Full</a:t>
            </a:r>
            <a:r>
              <a:rPr sz="1442" spc="-72" dirty="0">
                <a:solidFill>
                  <a:srgbClr val="063D86"/>
                </a:solidFill>
              </a:rPr>
              <a:t> </a:t>
            </a:r>
            <a:r>
              <a:rPr sz="1442" spc="-20" dirty="0">
                <a:solidFill>
                  <a:srgbClr val="063D86"/>
                </a:solidFill>
              </a:rPr>
              <a:t>Outer</a:t>
            </a:r>
            <a:r>
              <a:rPr sz="1442" spc="-68" dirty="0">
                <a:solidFill>
                  <a:srgbClr val="063D86"/>
                </a:solidFill>
              </a:rPr>
              <a:t> </a:t>
            </a:r>
            <a:r>
              <a:rPr sz="1442" spc="-24" dirty="0">
                <a:solidFill>
                  <a:srgbClr val="063D86"/>
                </a:solidFill>
              </a:rPr>
              <a:t>Join</a:t>
            </a:r>
            <a:endParaRPr sz="1442"/>
          </a:p>
        </p:txBody>
      </p:sp>
      <p:sp>
        <p:nvSpPr>
          <p:cNvPr id="8" name="object 8"/>
          <p:cNvSpPr txBox="1"/>
          <p:nvPr/>
        </p:nvSpPr>
        <p:spPr>
          <a:xfrm>
            <a:off x="3779514" y="3445582"/>
            <a:ext cx="4414035" cy="823507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>
              <a:spcBef>
                <a:spcPts val="80"/>
              </a:spcBef>
              <a:tabLst>
                <a:tab pos="229366" algn="l"/>
              </a:tabLst>
            </a:pPr>
            <a:r>
              <a:rPr sz="1442" spc="-4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442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442" dirty="0">
                <a:solidFill>
                  <a:srgbClr val="063D86"/>
                </a:solidFill>
              </a:rPr>
              <a:t>Anti</a:t>
            </a:r>
            <a:r>
              <a:rPr sz="1442" spc="-91" dirty="0">
                <a:solidFill>
                  <a:srgbClr val="063D86"/>
                </a:solidFill>
              </a:rPr>
              <a:t> </a:t>
            </a:r>
            <a:r>
              <a:rPr sz="1442" spc="-16" dirty="0">
                <a:solidFill>
                  <a:srgbClr val="063D86"/>
                </a:solidFill>
              </a:rPr>
              <a:t>Join</a:t>
            </a:r>
            <a:endParaRPr sz="1442"/>
          </a:p>
          <a:p>
            <a:pPr marL="471446" marR="4069" indent="-219703">
              <a:spcBef>
                <a:spcPts val="16"/>
              </a:spcBef>
              <a:tabLst>
                <a:tab pos="471446" algn="l"/>
              </a:tabLst>
            </a:pPr>
            <a:r>
              <a:rPr sz="1281" spc="-40" dirty="0">
                <a:solidFill>
                  <a:srgbClr val="30B6FC"/>
                </a:solidFill>
                <a:latin typeface="Geneva"/>
                <a:cs typeface="Geneva"/>
              </a:rPr>
              <a:t>∗</a:t>
            </a:r>
            <a:r>
              <a:rPr sz="1281" dirty="0">
                <a:solidFill>
                  <a:srgbClr val="30B6FC"/>
                </a:solidFill>
                <a:latin typeface="Geneva"/>
                <a:cs typeface="Geneva"/>
              </a:rPr>
              <a:t>	</a:t>
            </a:r>
            <a:r>
              <a:rPr sz="1281" spc="-48" dirty="0">
                <a:solidFill>
                  <a:srgbClr val="063D86"/>
                </a:solidFill>
              </a:rPr>
              <a:t>An</a:t>
            </a:r>
            <a:r>
              <a:rPr sz="1281" spc="-64" dirty="0">
                <a:solidFill>
                  <a:srgbClr val="063D86"/>
                </a:solidFill>
              </a:rPr>
              <a:t> </a:t>
            </a:r>
            <a:r>
              <a:rPr sz="1281" spc="-8" dirty="0">
                <a:solidFill>
                  <a:srgbClr val="063D86"/>
                </a:solidFill>
              </a:rPr>
              <a:t>anti</a:t>
            </a:r>
            <a:r>
              <a:rPr sz="1281" spc="-56" dirty="0">
                <a:solidFill>
                  <a:srgbClr val="063D86"/>
                </a:solidFill>
              </a:rPr>
              <a:t> </a:t>
            </a:r>
            <a:r>
              <a:rPr sz="1281" spc="-8" dirty="0">
                <a:solidFill>
                  <a:srgbClr val="063D86"/>
                </a:solidFill>
              </a:rPr>
              <a:t>join</a:t>
            </a:r>
            <a:r>
              <a:rPr sz="1281" spc="-56" dirty="0">
                <a:solidFill>
                  <a:srgbClr val="063D86"/>
                </a:solidFill>
              </a:rPr>
              <a:t> </a:t>
            </a:r>
            <a:r>
              <a:rPr sz="1281" spc="-60" dirty="0">
                <a:solidFill>
                  <a:srgbClr val="063D86"/>
                </a:solidFill>
              </a:rPr>
              <a:t>is</a:t>
            </a:r>
            <a:r>
              <a:rPr sz="1281" spc="-52" dirty="0">
                <a:solidFill>
                  <a:srgbClr val="063D86"/>
                </a:solidFill>
              </a:rPr>
              <a:t> </a:t>
            </a:r>
            <a:r>
              <a:rPr sz="1281" spc="-91" dirty="0">
                <a:solidFill>
                  <a:srgbClr val="063D86"/>
                </a:solidFill>
              </a:rPr>
              <a:t>a</a:t>
            </a:r>
            <a:r>
              <a:rPr sz="1281" spc="-56" dirty="0">
                <a:solidFill>
                  <a:srgbClr val="063D86"/>
                </a:solidFill>
              </a:rPr>
              <a:t> </a:t>
            </a:r>
            <a:r>
              <a:rPr sz="1281" dirty="0">
                <a:solidFill>
                  <a:srgbClr val="063D86"/>
                </a:solidFill>
              </a:rPr>
              <a:t>full</a:t>
            </a:r>
            <a:r>
              <a:rPr sz="1281" spc="-56" dirty="0">
                <a:solidFill>
                  <a:srgbClr val="063D86"/>
                </a:solidFill>
              </a:rPr>
              <a:t> </a:t>
            </a:r>
            <a:r>
              <a:rPr sz="1281" dirty="0">
                <a:solidFill>
                  <a:srgbClr val="063D86"/>
                </a:solidFill>
              </a:rPr>
              <a:t>outer</a:t>
            </a:r>
            <a:r>
              <a:rPr sz="1281" spc="-36" dirty="0">
                <a:solidFill>
                  <a:srgbClr val="063D86"/>
                </a:solidFill>
              </a:rPr>
              <a:t> </a:t>
            </a:r>
            <a:r>
              <a:rPr sz="1281" spc="-8" dirty="0">
                <a:solidFill>
                  <a:srgbClr val="063D86"/>
                </a:solidFill>
              </a:rPr>
              <a:t>join</a:t>
            </a:r>
            <a:r>
              <a:rPr sz="1281" spc="-56" dirty="0">
                <a:solidFill>
                  <a:srgbClr val="063D86"/>
                </a:solidFill>
              </a:rPr>
              <a:t> </a:t>
            </a:r>
            <a:r>
              <a:rPr sz="1281" spc="-48" dirty="0">
                <a:solidFill>
                  <a:srgbClr val="063D86"/>
                </a:solidFill>
              </a:rPr>
              <a:t>minus</a:t>
            </a:r>
            <a:r>
              <a:rPr sz="1281" spc="-40" dirty="0">
                <a:solidFill>
                  <a:srgbClr val="063D86"/>
                </a:solidFill>
              </a:rPr>
              <a:t> </a:t>
            </a:r>
            <a:r>
              <a:rPr sz="1281" dirty="0">
                <a:solidFill>
                  <a:srgbClr val="063D86"/>
                </a:solidFill>
              </a:rPr>
              <a:t>the</a:t>
            </a:r>
            <a:r>
              <a:rPr sz="1281" spc="-64" dirty="0">
                <a:solidFill>
                  <a:srgbClr val="063D86"/>
                </a:solidFill>
              </a:rPr>
              <a:t> </a:t>
            </a:r>
            <a:r>
              <a:rPr sz="1281" spc="-20" dirty="0">
                <a:solidFill>
                  <a:srgbClr val="063D86"/>
                </a:solidFill>
              </a:rPr>
              <a:t>inner</a:t>
            </a:r>
            <a:r>
              <a:rPr sz="1281" spc="-60" dirty="0">
                <a:solidFill>
                  <a:srgbClr val="063D86"/>
                </a:solidFill>
              </a:rPr>
              <a:t> </a:t>
            </a:r>
            <a:r>
              <a:rPr sz="1281" spc="-16" dirty="0">
                <a:solidFill>
                  <a:srgbClr val="063D86"/>
                </a:solidFill>
              </a:rPr>
              <a:t>join.</a:t>
            </a:r>
            <a:r>
              <a:rPr sz="1281" spc="-52" dirty="0">
                <a:solidFill>
                  <a:srgbClr val="063D86"/>
                </a:solidFill>
              </a:rPr>
              <a:t> </a:t>
            </a:r>
            <a:r>
              <a:rPr sz="1281" spc="-40" dirty="0">
                <a:solidFill>
                  <a:srgbClr val="063D86"/>
                </a:solidFill>
              </a:rPr>
              <a:t>That</a:t>
            </a:r>
            <a:r>
              <a:rPr sz="1281" spc="-64" dirty="0">
                <a:solidFill>
                  <a:srgbClr val="063D86"/>
                </a:solidFill>
              </a:rPr>
              <a:t> </a:t>
            </a:r>
            <a:r>
              <a:rPr sz="1281" spc="-28" dirty="0">
                <a:solidFill>
                  <a:srgbClr val="063D86"/>
                </a:solidFill>
              </a:rPr>
              <a:t>is, </a:t>
            </a:r>
            <a:r>
              <a:rPr sz="1281" dirty="0">
                <a:solidFill>
                  <a:srgbClr val="063D86"/>
                </a:solidFill>
              </a:rPr>
              <a:t>the</a:t>
            </a:r>
            <a:r>
              <a:rPr sz="1281" spc="-60" dirty="0">
                <a:solidFill>
                  <a:srgbClr val="063D86"/>
                </a:solidFill>
              </a:rPr>
              <a:t> </a:t>
            </a:r>
            <a:r>
              <a:rPr sz="1281" spc="-20" dirty="0">
                <a:solidFill>
                  <a:srgbClr val="063D86"/>
                </a:solidFill>
              </a:rPr>
              <a:t>resulting</a:t>
            </a:r>
            <a:r>
              <a:rPr sz="1281" spc="-44" dirty="0">
                <a:solidFill>
                  <a:srgbClr val="063D86"/>
                </a:solidFill>
              </a:rPr>
              <a:t> </a:t>
            </a:r>
            <a:r>
              <a:rPr sz="1281" spc="-8" dirty="0">
                <a:solidFill>
                  <a:srgbClr val="063D86"/>
                </a:solidFill>
              </a:rPr>
              <a:t>table</a:t>
            </a:r>
            <a:r>
              <a:rPr sz="1281" spc="-60" dirty="0">
                <a:solidFill>
                  <a:srgbClr val="063D86"/>
                </a:solidFill>
              </a:rPr>
              <a:t> </a:t>
            </a:r>
            <a:r>
              <a:rPr sz="1281" spc="-28" dirty="0">
                <a:solidFill>
                  <a:srgbClr val="063D86"/>
                </a:solidFill>
              </a:rPr>
              <a:t>contains</a:t>
            </a:r>
            <a:r>
              <a:rPr sz="1281" spc="-36" dirty="0">
                <a:solidFill>
                  <a:srgbClr val="063D86"/>
                </a:solidFill>
              </a:rPr>
              <a:t> </a:t>
            </a:r>
            <a:r>
              <a:rPr sz="1281" spc="-20" dirty="0">
                <a:solidFill>
                  <a:srgbClr val="063D86"/>
                </a:solidFill>
              </a:rPr>
              <a:t>only</a:t>
            </a:r>
            <a:r>
              <a:rPr sz="1281" spc="-56" dirty="0">
                <a:solidFill>
                  <a:srgbClr val="063D86"/>
                </a:solidFill>
              </a:rPr>
              <a:t> </a:t>
            </a:r>
            <a:r>
              <a:rPr sz="1281" spc="-32" dirty="0">
                <a:solidFill>
                  <a:srgbClr val="063D86"/>
                </a:solidFill>
              </a:rPr>
              <a:t>records </a:t>
            </a:r>
            <a:r>
              <a:rPr sz="1281" dirty="0">
                <a:solidFill>
                  <a:srgbClr val="063D86"/>
                </a:solidFill>
              </a:rPr>
              <a:t>that</a:t>
            </a:r>
            <a:r>
              <a:rPr sz="1281" spc="-68" dirty="0">
                <a:solidFill>
                  <a:srgbClr val="063D86"/>
                </a:solidFill>
              </a:rPr>
              <a:t> </a:t>
            </a:r>
            <a:r>
              <a:rPr sz="1281" spc="-8" dirty="0">
                <a:solidFill>
                  <a:srgbClr val="063D86"/>
                </a:solidFill>
              </a:rPr>
              <a:t>did</a:t>
            </a:r>
            <a:r>
              <a:rPr sz="1281" spc="-64" dirty="0">
                <a:solidFill>
                  <a:srgbClr val="063D86"/>
                </a:solidFill>
              </a:rPr>
              <a:t> </a:t>
            </a:r>
            <a:r>
              <a:rPr sz="1281" spc="-20" dirty="0">
                <a:solidFill>
                  <a:srgbClr val="063D86"/>
                </a:solidFill>
              </a:rPr>
              <a:t>not </a:t>
            </a:r>
            <a:r>
              <a:rPr sz="1281" spc="-16" dirty="0">
                <a:solidFill>
                  <a:srgbClr val="063D86"/>
                </a:solidFill>
              </a:rPr>
              <a:t>contain</a:t>
            </a:r>
            <a:r>
              <a:rPr sz="1281" spc="-56" dirty="0">
                <a:solidFill>
                  <a:srgbClr val="063D86"/>
                </a:solidFill>
              </a:rPr>
              <a:t> </a:t>
            </a:r>
            <a:r>
              <a:rPr sz="1281" spc="-91" dirty="0">
                <a:solidFill>
                  <a:srgbClr val="063D86"/>
                </a:solidFill>
              </a:rPr>
              <a:t>a</a:t>
            </a:r>
            <a:r>
              <a:rPr sz="1281" spc="-64" dirty="0">
                <a:solidFill>
                  <a:srgbClr val="063D86"/>
                </a:solidFill>
              </a:rPr>
              <a:t> </a:t>
            </a:r>
            <a:r>
              <a:rPr sz="1281" spc="-24" dirty="0">
                <a:solidFill>
                  <a:srgbClr val="063D86"/>
                </a:solidFill>
              </a:rPr>
              <a:t>match</a:t>
            </a:r>
            <a:r>
              <a:rPr sz="1281" spc="-60" dirty="0">
                <a:solidFill>
                  <a:srgbClr val="063D86"/>
                </a:solidFill>
              </a:rPr>
              <a:t> </a:t>
            </a:r>
            <a:r>
              <a:rPr sz="1281" spc="-16" dirty="0">
                <a:solidFill>
                  <a:srgbClr val="063D86"/>
                </a:solidFill>
              </a:rPr>
              <a:t>on</a:t>
            </a:r>
            <a:r>
              <a:rPr sz="1281" spc="-64" dirty="0">
                <a:solidFill>
                  <a:srgbClr val="063D86"/>
                </a:solidFill>
              </a:rPr>
              <a:t> </a:t>
            </a:r>
            <a:r>
              <a:rPr sz="1281" spc="-20" dirty="0">
                <a:solidFill>
                  <a:srgbClr val="063D86"/>
                </a:solidFill>
              </a:rPr>
              <a:t>f.</a:t>
            </a:r>
            <a:endParaRPr sz="128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 descr="$PPTXTitle">
            <a:extLst>
              <a:ext uri="{FF2B5EF4-FFF2-40B4-BE49-F238E27FC236}">
                <a16:creationId xmlns:a16="http://schemas.microsoft.com/office/drawing/2014/main" id="{E972E4F1-5732-92EE-7023-184EF763F8FD}"/>
              </a:ext>
            </a:extLst>
          </p:cNvPr>
          <p:cNvSpPr txBox="1">
            <a:spLocks/>
          </p:cNvSpPr>
          <p:nvPr/>
        </p:nvSpPr>
        <p:spPr>
          <a:xfrm>
            <a:off x="2103004" y="464849"/>
            <a:ext cx="5560290" cy="55792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0171">
              <a:spcBef>
                <a:spcPts val="80"/>
              </a:spcBef>
            </a:pPr>
            <a:r>
              <a:rPr lang="en-US" sz="3524" spc="-116"/>
              <a:t>Refresher</a:t>
            </a:r>
            <a:r>
              <a:rPr lang="en-US" sz="3524" spc="-216"/>
              <a:t> </a:t>
            </a:r>
            <a:r>
              <a:rPr lang="en-US" sz="3524" spc="-44"/>
              <a:t>on</a:t>
            </a:r>
            <a:r>
              <a:rPr lang="en-US" sz="3524" spc="-216"/>
              <a:t> </a:t>
            </a:r>
            <a:r>
              <a:rPr lang="en-US" sz="3524" spc="-116"/>
              <a:t>Joins</a:t>
            </a:r>
            <a:endParaRPr lang="en-US" sz="3524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6814D4-9837-3A8A-1995-CA0ED61EF8EB}"/>
              </a:ext>
            </a:extLst>
          </p:cNvPr>
          <p:cNvGraphicFramePr>
            <a:graphicFrameLocks noGrp="1"/>
          </p:cNvGraphicFramePr>
          <p:nvPr/>
        </p:nvGraphicFramePr>
        <p:xfrm>
          <a:off x="694927" y="1811082"/>
          <a:ext cx="3835773" cy="2529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694">
                  <a:extLst>
                    <a:ext uri="{9D8B030D-6E8A-4147-A177-3AD203B41FA5}">
                      <a16:colId xmlns:a16="http://schemas.microsoft.com/office/drawing/2014/main" val="3835157686"/>
                    </a:ext>
                  </a:extLst>
                </a:gridCol>
                <a:gridCol w="1118385">
                  <a:extLst>
                    <a:ext uri="{9D8B030D-6E8A-4147-A177-3AD203B41FA5}">
                      <a16:colId xmlns:a16="http://schemas.microsoft.com/office/drawing/2014/main" val="4166761405"/>
                    </a:ext>
                  </a:extLst>
                </a:gridCol>
                <a:gridCol w="1358694">
                  <a:extLst>
                    <a:ext uri="{9D8B030D-6E8A-4147-A177-3AD203B41FA5}">
                      <a16:colId xmlns:a16="http://schemas.microsoft.com/office/drawing/2014/main" val="1398055075"/>
                    </a:ext>
                  </a:extLst>
                </a:gridCol>
              </a:tblGrid>
              <a:tr h="5059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 dirty="0" err="1">
                          <a:effectLst/>
                        </a:rPr>
                        <a:t>emp_id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name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dept_id</a:t>
                      </a:r>
                      <a:endParaRPr lang="en-US" sz="2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extLst>
                  <a:ext uri="{0D108BD9-81ED-4DB2-BD59-A6C34878D82A}">
                    <a16:rowId xmlns:a16="http://schemas.microsoft.com/office/drawing/2014/main" val="2509204755"/>
                  </a:ext>
                </a:extLst>
              </a:tr>
              <a:tr h="505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1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Alice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600" u="none" strike="noStrike" dirty="0">
                          <a:effectLst/>
                        </a:rPr>
                        <a:t>1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extLst>
                  <a:ext uri="{0D108BD9-81ED-4DB2-BD59-A6C34878D82A}">
                    <a16:rowId xmlns:a16="http://schemas.microsoft.com/office/drawing/2014/main" val="605431733"/>
                  </a:ext>
                </a:extLst>
              </a:tr>
              <a:tr h="505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2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Bob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2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extLst>
                  <a:ext uri="{0D108BD9-81ED-4DB2-BD59-A6C34878D82A}">
                    <a16:rowId xmlns:a16="http://schemas.microsoft.com/office/drawing/2014/main" val="4199614040"/>
                  </a:ext>
                </a:extLst>
              </a:tr>
              <a:tr h="505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3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Carol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NULL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extLst>
                  <a:ext uri="{0D108BD9-81ED-4DB2-BD59-A6C34878D82A}">
                    <a16:rowId xmlns:a16="http://schemas.microsoft.com/office/drawing/2014/main" val="1767843492"/>
                  </a:ext>
                </a:extLst>
              </a:tr>
              <a:tr h="505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4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u="none" strike="noStrike">
                          <a:effectLst/>
                        </a:rPr>
                        <a:t>David</a:t>
                      </a:r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u="none" strike="noStrike" dirty="0">
                          <a:effectLst/>
                        </a:rPr>
                        <a:t>NULL</a:t>
                      </a:r>
                      <a:endParaRPr lang="en-US" sz="2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258" marR="15258" marT="15258" marB="0" anchor="ctr"/>
                </a:tc>
                <a:extLst>
                  <a:ext uri="{0D108BD9-81ED-4DB2-BD59-A6C34878D82A}">
                    <a16:rowId xmlns:a16="http://schemas.microsoft.com/office/drawing/2014/main" val="346172352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DB8B93-6092-8697-3F16-BD41951C5877}"/>
              </a:ext>
            </a:extLst>
          </p:cNvPr>
          <p:cNvGraphicFramePr>
            <a:graphicFrameLocks noGrp="1"/>
          </p:cNvGraphicFramePr>
          <p:nvPr/>
        </p:nvGraphicFramePr>
        <p:xfrm>
          <a:off x="4883150" y="1797520"/>
          <a:ext cx="3234620" cy="2023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917">
                  <a:extLst>
                    <a:ext uri="{9D8B030D-6E8A-4147-A177-3AD203B41FA5}">
                      <a16:colId xmlns:a16="http://schemas.microsoft.com/office/drawing/2014/main" val="4166761405"/>
                    </a:ext>
                  </a:extLst>
                </a:gridCol>
                <a:gridCol w="1403703">
                  <a:extLst>
                    <a:ext uri="{9D8B030D-6E8A-4147-A177-3AD203B41FA5}">
                      <a16:colId xmlns:a16="http://schemas.microsoft.com/office/drawing/2014/main" val="1398055075"/>
                    </a:ext>
                  </a:extLst>
                </a:gridCol>
              </a:tblGrid>
              <a:tr h="5059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b="1" u="none" strike="noStrik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dept_name</a:t>
                      </a:r>
                      <a:endParaRPr lang="en-US" sz="2600" b="1" u="none" strike="noStrik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6" marR="5086" marT="508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600" b="1" u="none" strike="noStrik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dept_id</a:t>
                      </a:r>
                      <a:endParaRPr lang="en-US" sz="2600" b="1" u="none" strike="noStrik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6" marR="5086" marT="5086" marB="0" anchor="ctr"/>
                </a:tc>
                <a:extLst>
                  <a:ext uri="{0D108BD9-81ED-4DB2-BD59-A6C34878D82A}">
                    <a16:rowId xmlns:a16="http://schemas.microsoft.com/office/drawing/2014/main" val="2509204755"/>
                  </a:ext>
                </a:extLst>
              </a:tr>
              <a:tr h="505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</a:p>
                  </a:txBody>
                  <a:tcPr marL="5086" marR="5086" marT="508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60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086" marR="5086" marT="5086" marB="0" anchor="ctr"/>
                </a:tc>
                <a:extLst>
                  <a:ext uri="{0D108BD9-81ED-4DB2-BD59-A6C34878D82A}">
                    <a16:rowId xmlns:a16="http://schemas.microsoft.com/office/drawing/2014/main" val="605431733"/>
                  </a:ext>
                </a:extLst>
              </a:tr>
              <a:tr h="505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</a:t>
                      </a:r>
                    </a:p>
                  </a:txBody>
                  <a:tcPr marL="5086" marR="5086" marT="508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60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086" marR="5086" marT="5086" marB="0" anchor="ctr"/>
                </a:tc>
                <a:extLst>
                  <a:ext uri="{0D108BD9-81ED-4DB2-BD59-A6C34878D82A}">
                    <a16:rowId xmlns:a16="http://schemas.microsoft.com/office/drawing/2014/main" val="4199614040"/>
                  </a:ext>
                </a:extLst>
              </a:tr>
              <a:tr h="5059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u="none" strike="noStrik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Finance</a:t>
                      </a:r>
                    </a:p>
                  </a:txBody>
                  <a:tcPr marL="5086" marR="5086" marT="508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60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086" marR="5086" marT="5086" marB="0" anchor="ctr"/>
                </a:tc>
                <a:extLst>
                  <a:ext uri="{0D108BD9-81ED-4DB2-BD59-A6C34878D82A}">
                    <a16:rowId xmlns:a16="http://schemas.microsoft.com/office/drawing/2014/main" val="17678434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773DB2-BADA-6B0C-6CC9-2949E957712D}"/>
              </a:ext>
            </a:extLst>
          </p:cNvPr>
          <p:cNvSpPr txBox="1"/>
          <p:nvPr/>
        </p:nvSpPr>
        <p:spPr>
          <a:xfrm>
            <a:off x="805545" y="1434838"/>
            <a:ext cx="3614535" cy="363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62" b="1" dirty="0">
                <a:latin typeface="Arial" panose="020B0604020202020204" pitchFamily="34" charset="0"/>
                <a:cs typeface="Arial" panose="020B0604020202020204" pitchFamily="34" charset="0"/>
              </a:rPr>
              <a:t>Employees Table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29A1A-BA81-7FE7-C68B-ACE6E4E92840}"/>
              </a:ext>
            </a:extLst>
          </p:cNvPr>
          <p:cNvSpPr txBox="1"/>
          <p:nvPr/>
        </p:nvSpPr>
        <p:spPr>
          <a:xfrm>
            <a:off x="4761089" y="1434838"/>
            <a:ext cx="3614535" cy="363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62" b="1">
                <a:latin typeface="Arial" panose="020B0604020202020204" pitchFamily="34" charset="0"/>
                <a:cs typeface="Arial" panose="020B0604020202020204" pitchFamily="34" charset="0"/>
              </a:rPr>
              <a:t>Departments </a:t>
            </a:r>
            <a:r>
              <a:rPr lang="en-US" sz="1762" b="1" dirty="0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2173876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31DD-8F27-17C8-E2B2-8688E56F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984D393-D281-52DC-1C56-E4414B6ECC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58856" y="437995"/>
            <a:ext cx="5880343" cy="614668"/>
          </a:xfrm>
          <a:prstGeom prst="rect">
            <a:avLst/>
          </a:prstGeom>
        </p:spPr>
        <p:txBody>
          <a:bodyPr spcFirstLastPara="1" vert="horz" wrap="square" lIns="0" tIns="10172" rIns="0" bIns="0" rtlCol="0" anchor="t" anchorCtr="0">
            <a:spAutoFit/>
          </a:bodyPr>
          <a:lstStyle/>
          <a:p>
            <a:pPr marL="10171">
              <a:spcBef>
                <a:spcPts val="80"/>
              </a:spcBef>
            </a:pPr>
            <a:r>
              <a:rPr lang="en-US" sz="3844" spc="-116" dirty="0"/>
              <a:t>Refresher</a:t>
            </a:r>
            <a:r>
              <a:rPr lang="en-US" sz="3844" spc="-216" dirty="0"/>
              <a:t> </a:t>
            </a:r>
            <a:r>
              <a:rPr lang="en-US" sz="3844" spc="-44" dirty="0"/>
              <a:t>on</a:t>
            </a:r>
            <a:r>
              <a:rPr lang="en-US" sz="3844" spc="-216" dirty="0"/>
              <a:t> </a:t>
            </a:r>
            <a:r>
              <a:rPr lang="en-US" sz="3844" spc="-116" dirty="0"/>
              <a:t>Joins</a:t>
            </a:r>
            <a:endParaRPr lang="en-US" sz="3844" dirty="0"/>
          </a:p>
        </p:txBody>
      </p:sp>
      <p:sp>
        <p:nvSpPr>
          <p:cNvPr id="9" name="object 2" descr="$PPTXTitle"/>
          <p:cNvSpPr txBox="1">
            <a:spLocks/>
          </p:cNvSpPr>
          <p:nvPr/>
        </p:nvSpPr>
        <p:spPr>
          <a:xfrm>
            <a:off x="794103" y="1183993"/>
            <a:ext cx="6103056" cy="2440680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0171">
              <a:spcBef>
                <a:spcPts val="80"/>
              </a:spcBef>
            </a:pPr>
            <a:r>
              <a:rPr lang="en-US" sz="1922" b="1" spc="-144" dirty="0">
                <a:solidFill>
                  <a:schemeClr val="tx1"/>
                </a:solidFill>
                <a:latin typeface="Times New Roman"/>
                <a:cs typeface="Times New Roman"/>
              </a:rPr>
              <a:t>LEFT</a:t>
            </a:r>
            <a:r>
              <a:rPr lang="en-US" sz="1922" b="1" spc="-4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60" dirty="0">
                <a:solidFill>
                  <a:schemeClr val="tx1"/>
                </a:solidFill>
                <a:latin typeface="Times New Roman"/>
                <a:cs typeface="Times New Roman"/>
              </a:rPr>
              <a:t>JOIN</a:t>
            </a:r>
          </a:p>
          <a:p>
            <a:pPr marL="10171">
              <a:spcBef>
                <a:spcPts val="80"/>
              </a:spcBef>
            </a:pPr>
            <a:endParaRPr lang="en-US" sz="1922" b="1" spc="-6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0171" marR="2321629">
              <a:spcBef>
                <a:spcPts val="80"/>
              </a:spcBef>
            </a:pPr>
            <a:r>
              <a:rPr lang="en-US" sz="1922" b="1" spc="-144" dirty="0">
                <a:solidFill>
                  <a:schemeClr val="tx1"/>
                </a:solidFill>
                <a:latin typeface="Times New Roman"/>
                <a:cs typeface="Times New Roman"/>
              </a:rPr>
              <a:t>SELECT</a:t>
            </a:r>
            <a:r>
              <a:rPr lang="en-US" sz="1922" b="1" spc="-56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8" dirty="0">
                <a:solidFill>
                  <a:schemeClr val="tx1"/>
                </a:solidFill>
                <a:latin typeface="Times New Roman"/>
                <a:cs typeface="Times New Roman"/>
              </a:rPr>
              <a:t>e.name,</a:t>
            </a:r>
            <a:r>
              <a:rPr lang="en-US" sz="1922" b="1" spc="-52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8" dirty="0" err="1">
                <a:solidFill>
                  <a:schemeClr val="tx1"/>
                </a:solidFill>
                <a:latin typeface="Times New Roman"/>
                <a:cs typeface="Times New Roman"/>
              </a:rPr>
              <a:t>d.dept_name</a:t>
            </a:r>
            <a:r>
              <a:rPr lang="en-US" sz="1922" b="1" spc="-8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108" dirty="0">
                <a:solidFill>
                  <a:schemeClr val="tx1"/>
                </a:solidFill>
                <a:latin typeface="Times New Roman"/>
                <a:cs typeface="Times New Roman"/>
              </a:rPr>
              <a:t>FROM</a:t>
            </a:r>
            <a:r>
              <a:rPr lang="en-US" sz="1922" b="1" spc="-6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8" dirty="0">
                <a:solidFill>
                  <a:schemeClr val="tx1"/>
                </a:solidFill>
                <a:latin typeface="Times New Roman"/>
                <a:cs typeface="Times New Roman"/>
              </a:rPr>
              <a:t>employees</a:t>
            </a:r>
            <a:r>
              <a:rPr lang="en-US" sz="1922" b="1" spc="-6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40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endParaRPr lang="en-US" sz="1922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0171"/>
            <a:r>
              <a:rPr lang="en-US" sz="1922" b="1" spc="-144" dirty="0">
                <a:solidFill>
                  <a:schemeClr val="tx1"/>
                </a:solidFill>
                <a:latin typeface="Times New Roman"/>
                <a:cs typeface="Times New Roman"/>
              </a:rPr>
              <a:t>LEFT</a:t>
            </a:r>
            <a:r>
              <a:rPr lang="en-US" sz="1922" b="1" spc="-6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72" dirty="0">
                <a:solidFill>
                  <a:schemeClr val="tx1"/>
                </a:solidFill>
                <a:latin typeface="Times New Roman"/>
                <a:cs typeface="Times New Roman"/>
              </a:rPr>
              <a:t>JOIN</a:t>
            </a:r>
            <a:r>
              <a:rPr lang="en-US" sz="1922" b="1" spc="-6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20" dirty="0">
                <a:solidFill>
                  <a:schemeClr val="tx1"/>
                </a:solidFill>
                <a:latin typeface="Times New Roman"/>
                <a:cs typeface="Times New Roman"/>
              </a:rPr>
              <a:t>departments</a:t>
            </a:r>
            <a:r>
              <a:rPr lang="en-US" sz="1922" b="1" spc="-6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dirty="0">
                <a:solidFill>
                  <a:schemeClr val="tx1"/>
                </a:solidFill>
                <a:latin typeface="Times New Roman"/>
                <a:cs typeface="Times New Roman"/>
              </a:rPr>
              <a:t>d</a:t>
            </a:r>
            <a:r>
              <a:rPr lang="en-US" sz="1922" b="1" spc="-56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dirty="0">
                <a:solidFill>
                  <a:schemeClr val="tx1"/>
                </a:solidFill>
                <a:latin typeface="Times New Roman"/>
                <a:cs typeface="Times New Roman"/>
              </a:rPr>
              <a:t>ON</a:t>
            </a:r>
            <a:r>
              <a:rPr lang="en-US" sz="1922" b="1" spc="-6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8" dirty="0" err="1">
                <a:solidFill>
                  <a:schemeClr val="tx1"/>
                </a:solidFill>
                <a:latin typeface="Times New Roman"/>
                <a:cs typeface="Times New Roman"/>
              </a:rPr>
              <a:t>e.dept_id</a:t>
            </a:r>
            <a:r>
              <a:rPr lang="en-US" sz="1922" b="1" spc="-6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dirty="0">
                <a:solidFill>
                  <a:schemeClr val="tx1"/>
                </a:solidFill>
                <a:latin typeface="Times New Roman"/>
                <a:cs typeface="Times New Roman"/>
              </a:rPr>
              <a:t>=</a:t>
            </a:r>
            <a:r>
              <a:rPr lang="en-US" sz="1922" b="1" spc="-56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8" dirty="0" err="1">
                <a:solidFill>
                  <a:schemeClr val="tx1"/>
                </a:solidFill>
                <a:latin typeface="Times New Roman"/>
                <a:cs typeface="Times New Roman"/>
              </a:rPr>
              <a:t>d.dept_id</a:t>
            </a:r>
            <a:r>
              <a:rPr lang="en-US" sz="1922" b="1" spc="-8" dirty="0">
                <a:solidFill>
                  <a:schemeClr val="tx1"/>
                </a:solidFill>
                <a:latin typeface="Times New Roman"/>
                <a:cs typeface="Times New Roman"/>
              </a:rPr>
              <a:t>;</a:t>
            </a:r>
            <a:endParaRPr lang="en-US" sz="1922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0171">
              <a:spcBef>
                <a:spcPts val="80"/>
              </a:spcBef>
            </a:pPr>
            <a:endParaRPr lang="en-US" sz="1922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0171">
              <a:spcBef>
                <a:spcPts val="80"/>
              </a:spcBef>
            </a:pPr>
            <a:endParaRPr lang="en-US" sz="1922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0171">
              <a:spcBef>
                <a:spcPts val="80"/>
              </a:spcBef>
            </a:pPr>
            <a:endParaRPr lang="en-US" sz="1922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781519" y="3173589"/>
            <a:ext cx="1896016" cy="1784988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 marR="4069">
              <a:spcBef>
                <a:spcPts val="80"/>
              </a:spcBef>
              <a:tabLst>
                <a:tab pos="742006" algn="l"/>
              </a:tabLst>
            </a:pPr>
            <a:r>
              <a:rPr lang="en-US" sz="1922" b="1" spc="-8" dirty="0">
                <a:latin typeface="Times New Roman"/>
                <a:cs typeface="Times New Roman"/>
              </a:rPr>
              <a:t>Output</a:t>
            </a:r>
            <a:r>
              <a:rPr lang="en-US" sz="1922" b="1" spc="-76" dirty="0">
                <a:latin typeface="Times New Roman"/>
                <a:cs typeface="Times New Roman"/>
              </a:rPr>
              <a:t> </a:t>
            </a:r>
            <a:r>
              <a:rPr lang="en-US" sz="1922" b="1" spc="-8" dirty="0">
                <a:latin typeface="Times New Roman"/>
                <a:cs typeface="Times New Roman"/>
              </a:rPr>
              <a:t>Table </a:t>
            </a:r>
            <a:r>
              <a:rPr lang="en-US" sz="1922" b="1" spc="-16" dirty="0">
                <a:latin typeface="Times New Roman"/>
                <a:cs typeface="Times New Roman"/>
              </a:rPr>
              <a:t>name</a:t>
            </a:r>
            <a:r>
              <a:rPr lang="en-US" sz="1922" b="1" dirty="0">
                <a:latin typeface="Times New Roman"/>
                <a:cs typeface="Times New Roman"/>
              </a:rPr>
              <a:t>	</a:t>
            </a:r>
            <a:r>
              <a:rPr lang="en-US" sz="1922" b="1" spc="-16" dirty="0" err="1">
                <a:latin typeface="Times New Roman"/>
                <a:cs typeface="Times New Roman"/>
              </a:rPr>
              <a:t>dept_name</a:t>
            </a:r>
            <a:r>
              <a:rPr lang="en-US" sz="1922" b="1" spc="-16" dirty="0">
                <a:latin typeface="Times New Roman"/>
                <a:cs typeface="Times New Roman"/>
              </a:rPr>
              <a:t> </a:t>
            </a:r>
            <a:r>
              <a:rPr lang="en-US" sz="1922" b="1" spc="-8" dirty="0">
                <a:latin typeface="Times New Roman"/>
                <a:cs typeface="Times New Roman"/>
              </a:rPr>
              <a:t>Alice</a:t>
            </a:r>
            <a:r>
              <a:rPr lang="en-US" sz="1922" b="1" dirty="0">
                <a:latin typeface="Times New Roman"/>
                <a:cs typeface="Times New Roman"/>
              </a:rPr>
              <a:t>	</a:t>
            </a:r>
            <a:r>
              <a:rPr lang="en-US" sz="1922" b="1" spc="-20" dirty="0">
                <a:latin typeface="Times New Roman"/>
                <a:cs typeface="Times New Roman"/>
              </a:rPr>
              <a:t>HR</a:t>
            </a:r>
            <a:endParaRPr lang="en-US" sz="1922" dirty="0">
              <a:latin typeface="Times New Roman"/>
              <a:cs typeface="Times New Roman"/>
            </a:endParaRPr>
          </a:p>
          <a:p>
            <a:pPr marL="10171" marR="519252">
              <a:tabLst>
                <a:tab pos="742006" algn="l"/>
              </a:tabLst>
            </a:pPr>
            <a:r>
              <a:rPr lang="en-US" sz="1922" b="1" spc="-20" dirty="0">
                <a:latin typeface="Times New Roman"/>
                <a:cs typeface="Times New Roman"/>
              </a:rPr>
              <a:t>Bob</a:t>
            </a:r>
            <a:r>
              <a:rPr lang="en-US" sz="1922" b="1" dirty="0">
                <a:latin typeface="Times New Roman"/>
                <a:cs typeface="Times New Roman"/>
              </a:rPr>
              <a:t>	</a:t>
            </a:r>
            <a:r>
              <a:rPr lang="en-US" sz="1922" b="1" spc="-20" dirty="0">
                <a:latin typeface="Times New Roman"/>
                <a:cs typeface="Times New Roman"/>
              </a:rPr>
              <a:t>IT </a:t>
            </a:r>
            <a:r>
              <a:rPr lang="en-US" sz="1922" b="1" spc="-8" dirty="0">
                <a:latin typeface="Times New Roman"/>
                <a:cs typeface="Times New Roman"/>
              </a:rPr>
              <a:t>Carol</a:t>
            </a:r>
            <a:r>
              <a:rPr lang="en-US" sz="1922" b="1" dirty="0">
                <a:latin typeface="Times New Roman"/>
                <a:cs typeface="Times New Roman"/>
              </a:rPr>
              <a:t>	</a:t>
            </a:r>
            <a:r>
              <a:rPr lang="en-US" sz="1922" b="1" spc="-112" dirty="0">
                <a:latin typeface="Times New Roman"/>
                <a:cs typeface="Times New Roman"/>
              </a:rPr>
              <a:t>NULL </a:t>
            </a:r>
            <a:r>
              <a:rPr lang="en-US" sz="1922" b="1" spc="-8" dirty="0">
                <a:latin typeface="Times New Roman"/>
                <a:cs typeface="Times New Roman"/>
              </a:rPr>
              <a:t>David</a:t>
            </a:r>
            <a:r>
              <a:rPr lang="en-US" sz="1922" b="1" dirty="0">
                <a:latin typeface="Times New Roman"/>
                <a:cs typeface="Times New Roman"/>
              </a:rPr>
              <a:t>	</a:t>
            </a:r>
            <a:r>
              <a:rPr lang="en-US" sz="1922" b="1" spc="-112" dirty="0">
                <a:latin typeface="Times New Roman"/>
                <a:cs typeface="Times New Roman"/>
              </a:rPr>
              <a:t>NULL</a:t>
            </a:r>
            <a:endParaRPr lang="en-US" sz="1922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94257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82FA9-044C-CF3B-0052-4B34488F6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33060DB-6BA3-4CB3-09AF-ACF8884C29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8364" y="309902"/>
            <a:ext cx="7397913" cy="952261"/>
          </a:xfrm>
          <a:prstGeom prst="rect">
            <a:avLst/>
          </a:prstGeom>
        </p:spPr>
        <p:txBody>
          <a:bodyPr spcFirstLastPara="1" vert="horz" wrap="square" lIns="73237" tIns="36618" rIns="73237" bIns="36618" rtlCol="0" anchor="b" anchorCtr="0">
            <a:normAutofit/>
          </a:bodyPr>
          <a:lstStyle/>
          <a:p>
            <a:pPr marL="10171"/>
            <a:r>
              <a:rPr lang="en-US" sz="4325" kern="1200" spc="-1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4325" kern="1200" spc="-2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325" kern="1200" spc="-44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4325" kern="1200" spc="-2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325" kern="1200" spc="-1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4325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636368" y="2082014"/>
            <a:ext cx="8124327" cy="2751606"/>
          </a:xfrm>
          <a:prstGeom prst="rect">
            <a:avLst/>
          </a:prstGeom>
        </p:spPr>
        <p:txBody>
          <a:bodyPr vert="horz" lIns="73237" tIns="36618" rIns="73237" bIns="36618" rtlCol="0" anchor="ctr">
            <a:normAutofit/>
          </a:bodyPr>
          <a:lstStyle/>
          <a:p>
            <a:pPr marL="10171" marR="1437223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1922" b="1" spc="-68"/>
              <a:t>RIGHT</a:t>
            </a:r>
            <a:r>
              <a:rPr lang="en-US" sz="1922" b="1" spc="-44"/>
              <a:t> </a:t>
            </a:r>
            <a:r>
              <a:rPr lang="en-US" sz="1922" b="1" spc="-52"/>
              <a:t>JOIN</a:t>
            </a:r>
            <a:endParaRPr lang="en-US" sz="1922" b="1" spc="-144"/>
          </a:p>
          <a:p>
            <a:pPr marL="10171" marR="1437223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endParaRPr lang="en-US" sz="1922" b="1" spc="-144"/>
          </a:p>
          <a:p>
            <a:pPr marL="10171" marR="1437223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1922" b="1" spc="-144"/>
              <a:t>SELECT</a:t>
            </a:r>
            <a:r>
              <a:rPr lang="en-US" sz="1922" b="1" spc="-56"/>
              <a:t> </a:t>
            </a:r>
            <a:r>
              <a:rPr lang="en-US" sz="1922" b="1" spc="-8"/>
              <a:t>e.name,</a:t>
            </a:r>
            <a:r>
              <a:rPr lang="en-US" sz="1922" b="1" spc="-52"/>
              <a:t> </a:t>
            </a:r>
            <a:r>
              <a:rPr lang="en-US" sz="1922" b="1" spc="-8"/>
              <a:t>d.dept_name </a:t>
            </a:r>
            <a:r>
              <a:rPr lang="en-US" sz="1922" b="1" spc="-108"/>
              <a:t>FROM</a:t>
            </a:r>
            <a:r>
              <a:rPr lang="en-US" sz="1922" b="1" spc="-60"/>
              <a:t> </a:t>
            </a:r>
            <a:r>
              <a:rPr lang="en-US" sz="1922" b="1" spc="-8"/>
              <a:t>employees</a:t>
            </a:r>
            <a:r>
              <a:rPr lang="en-US" sz="1922" b="1" spc="-60"/>
              <a:t> </a:t>
            </a:r>
            <a:r>
              <a:rPr lang="en-US" sz="1922" b="1" spc="-40"/>
              <a:t>e</a:t>
            </a:r>
            <a:endParaRPr lang="en-US" sz="1922"/>
          </a:p>
          <a:p>
            <a:pPr marL="10171" marR="4069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22" b="1" spc="-68"/>
              <a:t>RIGHT</a:t>
            </a:r>
            <a:r>
              <a:rPr lang="en-US" sz="1922" b="1" spc="-64"/>
              <a:t> </a:t>
            </a:r>
            <a:r>
              <a:rPr lang="en-US" sz="1922" b="1" spc="-72"/>
              <a:t>JOIN</a:t>
            </a:r>
            <a:r>
              <a:rPr lang="en-US" sz="1922" b="1" spc="-60"/>
              <a:t> </a:t>
            </a:r>
            <a:r>
              <a:rPr lang="en-US" sz="1922" b="1" spc="-20"/>
              <a:t>departments</a:t>
            </a:r>
            <a:r>
              <a:rPr lang="en-US" sz="1922" b="1" spc="-60"/>
              <a:t> </a:t>
            </a:r>
            <a:r>
              <a:rPr lang="en-US" sz="1922" b="1"/>
              <a:t>d</a:t>
            </a:r>
            <a:r>
              <a:rPr lang="en-US" sz="1922" b="1" spc="-60"/>
              <a:t> </a:t>
            </a:r>
            <a:r>
              <a:rPr lang="en-US" sz="1922" b="1"/>
              <a:t>ON</a:t>
            </a:r>
            <a:r>
              <a:rPr lang="en-US" sz="1922" b="1" spc="-60"/>
              <a:t> </a:t>
            </a:r>
            <a:r>
              <a:rPr lang="en-US" sz="1922" b="1" spc="-8"/>
              <a:t>e.dept_id</a:t>
            </a:r>
            <a:r>
              <a:rPr lang="en-US" sz="1922" b="1" spc="-60"/>
              <a:t> </a:t>
            </a:r>
            <a:r>
              <a:rPr lang="en-US" sz="1922" b="1" spc="-40"/>
              <a:t>= </a:t>
            </a:r>
            <a:r>
              <a:rPr lang="en-US" sz="1922" b="1" spc="-8"/>
              <a:t>d.dept_id;</a:t>
            </a:r>
            <a:endParaRPr lang="en-US" sz="1922"/>
          </a:p>
          <a:p>
            <a:pPr indent="-183086">
              <a:lnSpc>
                <a:spcPct val="90000"/>
              </a:lnSpc>
              <a:spcBef>
                <a:spcPts val="1105"/>
              </a:spcBef>
              <a:buFont typeface="Arial" panose="020B0604020202020204" pitchFamily="34" charset="0"/>
              <a:buChar char="•"/>
            </a:pPr>
            <a:endParaRPr lang="en-US" sz="1922"/>
          </a:p>
          <a:p>
            <a:pPr marL="189189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22" b="1" spc="-8"/>
              <a:t>Output</a:t>
            </a:r>
            <a:r>
              <a:rPr lang="en-US" sz="1922" b="1" spc="-76"/>
              <a:t> </a:t>
            </a:r>
            <a:r>
              <a:rPr lang="en-US" sz="1922" b="1" spc="-8"/>
              <a:t>Table</a:t>
            </a:r>
            <a:endParaRPr lang="en-US" sz="1922"/>
          </a:p>
          <a:p>
            <a:pPr indent="-183086">
              <a:lnSpc>
                <a:spcPct val="90000"/>
              </a:lnSpc>
              <a:spcBef>
                <a:spcPts val="96"/>
              </a:spcBef>
              <a:buFont typeface="Arial" panose="020B0604020202020204" pitchFamily="34" charset="0"/>
              <a:buChar char="•"/>
            </a:pPr>
            <a:endParaRPr lang="en-US" sz="1922"/>
          </a:p>
          <a:p>
            <a:pPr marL="189189" marR="2484880" indent="-183086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921532" algn="l"/>
              </a:tabLst>
            </a:pPr>
            <a:r>
              <a:rPr lang="en-US" sz="1922" b="1" spc="-16"/>
              <a:t>name</a:t>
            </a:r>
            <a:r>
              <a:rPr lang="en-US" sz="1922" b="1"/>
              <a:t>	</a:t>
            </a:r>
            <a:r>
              <a:rPr lang="en-US" sz="1922" b="1" spc="-16"/>
              <a:t>dept_name </a:t>
            </a:r>
            <a:r>
              <a:rPr lang="en-US" sz="1922" b="1" spc="-8"/>
              <a:t>Alice</a:t>
            </a:r>
            <a:r>
              <a:rPr lang="en-US" sz="1922" b="1"/>
              <a:t>	</a:t>
            </a:r>
            <a:r>
              <a:rPr lang="en-US" sz="1922" b="1" spc="-20"/>
              <a:t>HR</a:t>
            </a:r>
            <a:endParaRPr lang="en-US" sz="1922"/>
          </a:p>
          <a:p>
            <a:pPr marL="189189" marR="2821046" indent="-183086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921532" algn="l"/>
              </a:tabLst>
            </a:pPr>
            <a:r>
              <a:rPr lang="en-US" sz="1922" b="1" spc="-20"/>
              <a:t>Bob</a:t>
            </a:r>
            <a:r>
              <a:rPr lang="en-US" sz="1922" b="1"/>
              <a:t>	</a:t>
            </a:r>
            <a:r>
              <a:rPr lang="en-US" sz="1922" b="1" spc="-20"/>
              <a:t>IT </a:t>
            </a:r>
            <a:r>
              <a:rPr lang="en-US" sz="1922" b="1" spc="-16"/>
              <a:t>NULL</a:t>
            </a:r>
            <a:r>
              <a:rPr lang="en-US" sz="1922" b="1"/>
              <a:t>	</a:t>
            </a:r>
            <a:r>
              <a:rPr lang="en-US" sz="1922" b="1" spc="-32"/>
              <a:t>Finance</a:t>
            </a:r>
            <a:endParaRPr lang="en-US" sz="1922"/>
          </a:p>
        </p:txBody>
      </p:sp>
    </p:spTree>
    <p:extLst>
      <p:ext uri="{BB962C8B-B14F-4D97-AF65-F5344CB8AC3E}">
        <p14:creationId xmlns:p14="http://schemas.microsoft.com/office/powerpoint/2010/main" val="27775430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62D8-E191-E513-CE38-FF4FEAE2E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1B9EDC9-640D-6A8D-0972-CC1A07986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58857" y="437995"/>
            <a:ext cx="3849502" cy="1206240"/>
          </a:xfrm>
          <a:prstGeom prst="rect">
            <a:avLst/>
          </a:prstGeom>
        </p:spPr>
        <p:txBody>
          <a:bodyPr spcFirstLastPara="1" vert="horz" wrap="square" lIns="0" tIns="10172" rIns="0" bIns="0" rtlCol="0" anchor="t" anchorCtr="0">
            <a:spAutoFit/>
          </a:bodyPr>
          <a:lstStyle/>
          <a:p>
            <a:pPr marL="10171">
              <a:spcBef>
                <a:spcPts val="80"/>
              </a:spcBef>
            </a:pPr>
            <a:r>
              <a:rPr sz="3844" spc="-116" dirty="0"/>
              <a:t>Refresher</a:t>
            </a:r>
            <a:r>
              <a:rPr sz="3844" spc="-216" dirty="0"/>
              <a:t> </a:t>
            </a:r>
            <a:r>
              <a:rPr sz="3844" spc="-44" dirty="0"/>
              <a:t>on</a:t>
            </a:r>
            <a:r>
              <a:rPr sz="3844" spc="-216" dirty="0"/>
              <a:t> </a:t>
            </a:r>
            <a:r>
              <a:rPr sz="3844" spc="-116" dirty="0"/>
              <a:t>Joins</a:t>
            </a:r>
            <a:endParaRPr sz="3844"/>
          </a:p>
        </p:txBody>
      </p:sp>
      <p:sp>
        <p:nvSpPr>
          <p:cNvPr id="3" name="object 2" descr="$PPTXTitle"/>
          <p:cNvSpPr txBox="1">
            <a:spLocks/>
          </p:cNvSpPr>
          <p:nvPr/>
        </p:nvSpPr>
        <p:spPr>
          <a:xfrm>
            <a:off x="1038226" y="1428115"/>
            <a:ext cx="1196707" cy="306058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0171">
              <a:spcBef>
                <a:spcPts val="80"/>
              </a:spcBef>
            </a:pPr>
            <a:r>
              <a:rPr lang="en-US" sz="1922" b="1" spc="-16">
                <a:solidFill>
                  <a:srgbClr val="000000"/>
                </a:solidFill>
                <a:latin typeface="Times New Roman"/>
                <a:cs typeface="Times New Roman"/>
              </a:rPr>
              <a:t>Inner</a:t>
            </a:r>
            <a:r>
              <a:rPr lang="en-US" sz="1922" b="1" spc="-76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60">
                <a:solidFill>
                  <a:srgbClr val="000000"/>
                </a:solidFill>
                <a:latin typeface="Times New Roman"/>
                <a:cs typeface="Times New Roman"/>
              </a:rPr>
              <a:t>JOIN</a:t>
            </a:r>
            <a:endParaRPr lang="en-US" sz="1922" dirty="0">
              <a:latin typeface="Times New Roman"/>
              <a:cs typeface="Times New Roman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1038225" y="2014009"/>
            <a:ext cx="5629052" cy="897630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 marR="2509800">
              <a:spcBef>
                <a:spcPts val="80"/>
              </a:spcBef>
            </a:pPr>
            <a:r>
              <a:rPr sz="1922" b="1" spc="-144" dirty="0">
                <a:latin typeface="Times New Roman"/>
                <a:cs typeface="Times New Roman"/>
              </a:rPr>
              <a:t>SELECT</a:t>
            </a:r>
            <a:r>
              <a:rPr sz="1922" b="1" spc="-56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e.name,</a:t>
            </a:r>
            <a:r>
              <a:rPr sz="1922" b="1" spc="-52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d.dept_name </a:t>
            </a:r>
            <a:r>
              <a:rPr sz="1922" b="1" spc="-108" dirty="0">
                <a:latin typeface="Times New Roman"/>
                <a:cs typeface="Times New Roman"/>
              </a:rPr>
              <a:t>FROM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employees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spc="-40" dirty="0">
                <a:latin typeface="Times New Roman"/>
                <a:cs typeface="Times New Roman"/>
              </a:rPr>
              <a:t>e</a:t>
            </a:r>
            <a:endParaRPr sz="1922" dirty="0">
              <a:latin typeface="Times New Roman"/>
              <a:cs typeface="Times New Roman"/>
            </a:endParaRPr>
          </a:p>
          <a:p>
            <a:pPr marL="10171"/>
            <a:r>
              <a:rPr sz="1922" b="1" spc="-68" dirty="0">
                <a:latin typeface="Times New Roman"/>
                <a:cs typeface="Times New Roman"/>
              </a:rPr>
              <a:t>INNER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spc="-72" dirty="0">
                <a:latin typeface="Times New Roman"/>
                <a:cs typeface="Times New Roman"/>
              </a:rPr>
              <a:t>JOIN</a:t>
            </a:r>
            <a:r>
              <a:rPr sz="1922" b="1" spc="-56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departments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d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ON</a:t>
            </a:r>
            <a:r>
              <a:rPr sz="1922" b="1" spc="-56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e.dept_id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=</a:t>
            </a:r>
            <a:r>
              <a:rPr sz="1922" b="1" spc="-56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d.dept_id;</a:t>
            </a:r>
            <a:endParaRPr sz="1922" dirty="0">
              <a:latin typeface="Times New Roman"/>
              <a:cs typeface="Times New Roman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063976" y="3734653"/>
            <a:ext cx="1896016" cy="1489202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>
              <a:spcBef>
                <a:spcPts val="80"/>
              </a:spcBef>
            </a:pPr>
            <a:r>
              <a:rPr sz="1922" b="1" spc="-8" dirty="0">
                <a:latin typeface="Times New Roman"/>
                <a:cs typeface="Times New Roman"/>
              </a:rPr>
              <a:t>Output</a:t>
            </a:r>
            <a:r>
              <a:rPr sz="1922" b="1" spc="-76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Table</a:t>
            </a:r>
            <a:endParaRPr sz="1922" dirty="0">
              <a:latin typeface="Times New Roman"/>
              <a:cs typeface="Times New Roman"/>
            </a:endParaRPr>
          </a:p>
          <a:p>
            <a:pPr marL="10171" marR="4069">
              <a:tabLst>
                <a:tab pos="742006" algn="l"/>
              </a:tabLst>
            </a:pPr>
            <a:r>
              <a:rPr lang="en-US" sz="1922" b="1" spc="-16" dirty="0">
                <a:latin typeface="Times New Roman"/>
                <a:cs typeface="Times New Roman"/>
              </a:rPr>
              <a:t>name</a:t>
            </a:r>
            <a:r>
              <a:rPr lang="en-US" sz="1922" b="1" dirty="0">
                <a:latin typeface="Times New Roman"/>
                <a:cs typeface="Times New Roman"/>
              </a:rPr>
              <a:t>	</a:t>
            </a:r>
            <a:r>
              <a:rPr lang="en-US" sz="1922" b="1" spc="-16" dirty="0" err="1">
                <a:latin typeface="Times New Roman"/>
                <a:cs typeface="Times New Roman"/>
              </a:rPr>
              <a:t>dept_name</a:t>
            </a:r>
            <a:r>
              <a:rPr lang="en-US" sz="1922" b="1" spc="-16" dirty="0">
                <a:latin typeface="Times New Roman"/>
                <a:cs typeface="Times New Roman"/>
              </a:rPr>
              <a:t> </a:t>
            </a:r>
            <a:r>
              <a:rPr lang="en-US" sz="1922" b="1" spc="-8" dirty="0">
                <a:latin typeface="Times New Roman"/>
                <a:cs typeface="Times New Roman"/>
              </a:rPr>
              <a:t>Alice</a:t>
            </a:r>
            <a:r>
              <a:rPr lang="en-US" sz="1922" b="1" dirty="0">
                <a:latin typeface="Times New Roman"/>
                <a:cs typeface="Times New Roman"/>
              </a:rPr>
              <a:t>	</a:t>
            </a:r>
            <a:r>
              <a:rPr lang="en-US" sz="1922" b="1" spc="-20" dirty="0">
                <a:latin typeface="Times New Roman"/>
                <a:cs typeface="Times New Roman"/>
              </a:rPr>
              <a:t>HR</a:t>
            </a:r>
            <a:endParaRPr lang="en-US" sz="1922" dirty="0">
              <a:latin typeface="Times New Roman"/>
              <a:cs typeface="Times New Roman"/>
            </a:endParaRPr>
          </a:p>
          <a:p>
            <a:pPr marL="10171">
              <a:tabLst>
                <a:tab pos="742006" algn="l"/>
              </a:tabLst>
            </a:pPr>
            <a:r>
              <a:rPr lang="en-US" sz="1922" b="1" spc="-20" dirty="0">
                <a:latin typeface="Times New Roman"/>
                <a:cs typeface="Times New Roman"/>
              </a:rPr>
              <a:t>Bob</a:t>
            </a:r>
            <a:r>
              <a:rPr lang="en-US" sz="1922" b="1" dirty="0">
                <a:latin typeface="Times New Roman"/>
                <a:cs typeface="Times New Roman"/>
              </a:rPr>
              <a:t>	</a:t>
            </a:r>
            <a:r>
              <a:rPr lang="en-US" sz="1922" b="1" spc="-20" dirty="0">
                <a:latin typeface="Times New Roman"/>
                <a:cs typeface="Times New Roman"/>
              </a:rPr>
              <a:t>IT</a:t>
            </a:r>
            <a:endParaRPr lang="en-US" sz="1922" dirty="0">
              <a:latin typeface="Times New Roman"/>
              <a:cs typeface="Times New Roman"/>
            </a:endParaRPr>
          </a:p>
          <a:p>
            <a:pPr marL="10171" marR="4069">
              <a:tabLst>
                <a:tab pos="742006" algn="l"/>
              </a:tabLst>
            </a:pPr>
            <a:endParaRPr sz="1922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24290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06310-FEC9-0B3E-1867-C6A16C75E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47615D8-E262-EE5A-14F4-9A44492C5C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8364" y="309902"/>
            <a:ext cx="7397913" cy="952261"/>
          </a:xfrm>
          <a:prstGeom prst="rect">
            <a:avLst/>
          </a:prstGeom>
        </p:spPr>
        <p:txBody>
          <a:bodyPr spcFirstLastPara="1" vert="horz" wrap="square" lIns="73237" tIns="36618" rIns="73237" bIns="36618" rtlCol="0" anchor="b" anchorCtr="0">
            <a:normAutofit/>
          </a:bodyPr>
          <a:lstStyle/>
          <a:p>
            <a:pPr marL="10171"/>
            <a:r>
              <a:rPr lang="en-US" sz="4325" kern="1200" spc="-1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4325" kern="1200" spc="-2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325" kern="1200" spc="-44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4325" kern="1200" spc="-2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325" kern="1200" spc="-1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4325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636368" y="2082014"/>
            <a:ext cx="8124327" cy="2751606"/>
          </a:xfrm>
          <a:prstGeom prst="rect">
            <a:avLst/>
          </a:prstGeom>
        </p:spPr>
        <p:txBody>
          <a:bodyPr vert="horz" lIns="73237" tIns="36618" rIns="73237" bIns="36618" rtlCol="0" anchor="ctr">
            <a:normAutofit/>
          </a:bodyPr>
          <a:lstStyle/>
          <a:p>
            <a:pPr marL="68657" marR="3213154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1602" b="1" spc="-148"/>
              <a:t>FULL</a:t>
            </a:r>
            <a:r>
              <a:rPr lang="en-US" sz="1602" b="1" spc="-36"/>
              <a:t> </a:t>
            </a:r>
            <a:r>
              <a:rPr lang="en-US" sz="1602" b="1" spc="-88"/>
              <a:t>OUTER</a:t>
            </a:r>
            <a:r>
              <a:rPr lang="en-US" sz="1602" b="1" spc="-36"/>
              <a:t> </a:t>
            </a:r>
            <a:r>
              <a:rPr lang="en-US" sz="1602" b="1" spc="-40"/>
              <a:t>JOIN</a:t>
            </a:r>
            <a:endParaRPr lang="en-US" sz="1602"/>
          </a:p>
          <a:p>
            <a:pPr marL="68657" marR="3213154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endParaRPr lang="en-US" sz="1602" b="1" spc="-144"/>
          </a:p>
          <a:p>
            <a:pPr marL="68657" marR="3213154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1602" b="1" spc="-144"/>
              <a:t>SELECT</a:t>
            </a:r>
            <a:r>
              <a:rPr lang="en-US" sz="1602" b="1" spc="-56"/>
              <a:t> </a:t>
            </a:r>
            <a:r>
              <a:rPr lang="en-US" sz="1602" b="1" spc="-8"/>
              <a:t>e.name,</a:t>
            </a:r>
            <a:r>
              <a:rPr lang="en-US" sz="1602" b="1" spc="-52"/>
              <a:t> </a:t>
            </a:r>
            <a:r>
              <a:rPr lang="en-US" sz="1602" b="1" spc="-8"/>
              <a:t>d.dept_name </a:t>
            </a:r>
            <a:r>
              <a:rPr lang="en-US" sz="1602" b="1" spc="-108"/>
              <a:t>FROM</a:t>
            </a:r>
            <a:r>
              <a:rPr lang="en-US" sz="1602" b="1" spc="-60"/>
              <a:t> </a:t>
            </a:r>
            <a:r>
              <a:rPr lang="en-US" sz="1602" b="1" spc="-8"/>
              <a:t>employees</a:t>
            </a:r>
            <a:r>
              <a:rPr lang="en-US" sz="1602" b="1" spc="-60"/>
              <a:t> </a:t>
            </a:r>
            <a:r>
              <a:rPr lang="en-US" sz="1602" b="1" spc="-40"/>
              <a:t>e</a:t>
            </a:r>
            <a:endParaRPr lang="en-US" sz="1602"/>
          </a:p>
          <a:p>
            <a:pPr marL="68657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2" b="1" spc="-148"/>
              <a:t>FULL</a:t>
            </a:r>
            <a:r>
              <a:rPr lang="en-US" sz="1602" b="1" spc="-56"/>
              <a:t> </a:t>
            </a:r>
            <a:r>
              <a:rPr lang="en-US" sz="1602" b="1" spc="-88"/>
              <a:t>OUTER</a:t>
            </a:r>
            <a:r>
              <a:rPr lang="en-US" sz="1602" b="1" spc="-56"/>
              <a:t> </a:t>
            </a:r>
            <a:r>
              <a:rPr lang="en-US" sz="1602" b="1" spc="-72"/>
              <a:t>JOIN</a:t>
            </a:r>
            <a:r>
              <a:rPr lang="en-US" sz="1602" b="1" spc="-56"/>
              <a:t> </a:t>
            </a:r>
            <a:r>
              <a:rPr lang="en-US" sz="1602" b="1" spc="-20"/>
              <a:t>departments</a:t>
            </a:r>
            <a:r>
              <a:rPr lang="en-US" sz="1602" b="1" spc="-56"/>
              <a:t> </a:t>
            </a:r>
            <a:r>
              <a:rPr lang="en-US" sz="1602" b="1"/>
              <a:t>d</a:t>
            </a:r>
            <a:r>
              <a:rPr lang="en-US" sz="1602" b="1" spc="-52"/>
              <a:t> </a:t>
            </a:r>
            <a:r>
              <a:rPr lang="en-US" sz="1602" b="1"/>
              <a:t>ON</a:t>
            </a:r>
            <a:r>
              <a:rPr lang="en-US" sz="1602" b="1" spc="-56"/>
              <a:t> </a:t>
            </a:r>
            <a:r>
              <a:rPr lang="en-US" sz="1602" b="1" spc="-8"/>
              <a:t>e.dept_id</a:t>
            </a:r>
            <a:r>
              <a:rPr lang="en-US" sz="1602" b="1" spc="-56"/>
              <a:t> </a:t>
            </a:r>
            <a:r>
              <a:rPr lang="en-US" sz="1602" b="1"/>
              <a:t>=</a:t>
            </a:r>
            <a:r>
              <a:rPr lang="en-US" sz="1602" b="1" spc="-56"/>
              <a:t> </a:t>
            </a:r>
            <a:r>
              <a:rPr lang="en-US" sz="1602" b="1" spc="-8"/>
              <a:t>d.dept_id;</a:t>
            </a:r>
            <a:endParaRPr lang="en-US" sz="1602"/>
          </a:p>
          <a:p>
            <a:pPr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2"/>
          </a:p>
          <a:p>
            <a:pPr indent="-183086">
              <a:lnSpc>
                <a:spcPct val="90000"/>
              </a:lnSpc>
              <a:spcBef>
                <a:spcPts val="344"/>
              </a:spcBef>
              <a:buFont typeface="Arial" panose="020B0604020202020204" pitchFamily="34" charset="0"/>
              <a:buChar char="•"/>
            </a:pPr>
            <a:r>
              <a:rPr lang="en-US" sz="1602" b="1"/>
              <a:t>Output Table</a:t>
            </a:r>
          </a:p>
          <a:p>
            <a:pPr marL="10171" marR="4498823" indent="-183086">
              <a:lnSpc>
                <a:spcPct val="90000"/>
              </a:lnSpc>
              <a:spcBef>
                <a:spcPts val="4"/>
              </a:spcBef>
              <a:buFont typeface="Arial" panose="020B0604020202020204" pitchFamily="34" charset="0"/>
              <a:buChar char="•"/>
              <a:tabLst>
                <a:tab pos="742006" algn="l"/>
              </a:tabLst>
            </a:pPr>
            <a:r>
              <a:rPr lang="en-US" sz="1602" b="1" spc="-16"/>
              <a:t>name</a:t>
            </a:r>
            <a:r>
              <a:rPr lang="en-US" sz="1602" b="1"/>
              <a:t>	</a:t>
            </a:r>
            <a:r>
              <a:rPr lang="en-US" sz="1602" b="1" spc="-16"/>
              <a:t>dept_name </a:t>
            </a:r>
            <a:r>
              <a:rPr lang="en-US" sz="1602" b="1" spc="-8"/>
              <a:t>Alice</a:t>
            </a:r>
            <a:r>
              <a:rPr lang="en-US" sz="1602" b="1"/>
              <a:t>	</a:t>
            </a:r>
            <a:r>
              <a:rPr lang="en-US" sz="1602" b="1" spc="-20"/>
              <a:t>HR</a:t>
            </a:r>
            <a:endParaRPr lang="en-US" sz="1602"/>
          </a:p>
          <a:p>
            <a:pPr marL="10171" marR="4834481" indent="-183086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742006" algn="l"/>
              </a:tabLst>
            </a:pPr>
            <a:r>
              <a:rPr lang="en-US" sz="1602" b="1" spc="-20"/>
              <a:t>Bob</a:t>
            </a:r>
            <a:r>
              <a:rPr lang="en-US" sz="1602" b="1"/>
              <a:t>	</a:t>
            </a:r>
            <a:r>
              <a:rPr lang="en-US" sz="1602" b="1" spc="-20"/>
              <a:t>IT </a:t>
            </a:r>
            <a:r>
              <a:rPr lang="en-US" sz="1602" b="1" spc="-8"/>
              <a:t>Carol</a:t>
            </a:r>
            <a:r>
              <a:rPr lang="en-US" sz="1602" b="1"/>
              <a:t>	</a:t>
            </a:r>
            <a:r>
              <a:rPr lang="en-US" sz="1602" b="1" spc="-16"/>
              <a:t>NULL </a:t>
            </a:r>
            <a:r>
              <a:rPr lang="en-US" sz="1602" b="1" spc="-8"/>
              <a:t>David</a:t>
            </a:r>
            <a:r>
              <a:rPr lang="en-US" sz="1602" b="1"/>
              <a:t>	</a:t>
            </a:r>
            <a:r>
              <a:rPr lang="en-US" sz="1602" b="1" spc="-16"/>
              <a:t>NULL NULL</a:t>
            </a:r>
            <a:r>
              <a:rPr lang="en-US" sz="1602" b="1"/>
              <a:t>	</a:t>
            </a:r>
            <a:r>
              <a:rPr lang="en-US" sz="1602" b="1" spc="-32"/>
              <a:t>Finance</a:t>
            </a:r>
            <a:endParaRPr lang="en-US" sz="1602"/>
          </a:p>
        </p:txBody>
      </p:sp>
    </p:spTree>
    <p:extLst>
      <p:ext uri="{BB962C8B-B14F-4D97-AF65-F5344CB8AC3E}">
        <p14:creationId xmlns:p14="http://schemas.microsoft.com/office/powerpoint/2010/main" val="2926110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FF605-9869-F8D4-5CF6-AC5BA438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0EEB1BA-3E46-7EA9-27DA-1F8AFE48F8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8364" y="309902"/>
            <a:ext cx="7397913" cy="952261"/>
          </a:xfrm>
          <a:prstGeom prst="rect">
            <a:avLst/>
          </a:prstGeom>
        </p:spPr>
        <p:txBody>
          <a:bodyPr spcFirstLastPara="1" vert="horz" wrap="square" lIns="73237" tIns="36618" rIns="73237" bIns="36618" rtlCol="0" anchor="b" anchorCtr="0">
            <a:normAutofit/>
          </a:bodyPr>
          <a:lstStyle/>
          <a:p>
            <a:pPr marL="10171"/>
            <a:r>
              <a:rPr lang="en-US" sz="4325" kern="1200" spc="-1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4325" kern="1200" spc="-2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325" kern="1200" spc="-44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4325" kern="1200" spc="-2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325" kern="1200" spc="-1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4325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368" y="2082014"/>
            <a:ext cx="8124327" cy="2751606"/>
          </a:xfrm>
          <a:prstGeom prst="rect">
            <a:avLst/>
          </a:prstGeom>
        </p:spPr>
        <p:txBody>
          <a:bodyPr vert="horz" lIns="73237" tIns="36618" rIns="73237" bIns="36618" rtlCol="0" anchor="ctr">
            <a:normAutofit/>
          </a:bodyPr>
          <a:lstStyle/>
          <a:p>
            <a:pPr marL="68657" marR="1734737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1362" b="1"/>
              <a:t>5</a:t>
            </a:r>
            <a:r>
              <a:rPr lang="en-US" sz="1362" b="1" spc="-84"/>
              <a:t> </a:t>
            </a:r>
            <a:r>
              <a:rPr lang="en-US" sz="1362" b="1" spc="-16"/>
              <a:t>ANTI</a:t>
            </a:r>
            <a:r>
              <a:rPr lang="en-US" sz="1362" b="1" spc="-80"/>
              <a:t> </a:t>
            </a:r>
            <a:r>
              <a:rPr lang="en-US" sz="1362" b="1" spc="-56"/>
              <a:t>JOIN </a:t>
            </a:r>
          </a:p>
          <a:p>
            <a:pPr marL="68657" marR="1734737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endParaRPr lang="en-US" sz="1362" b="1"/>
          </a:p>
          <a:p>
            <a:pPr marL="68657" marR="1734737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1362" b="1"/>
              <a:t>a)</a:t>
            </a:r>
            <a:r>
              <a:rPr lang="en-US" sz="1362" b="1" spc="-88"/>
              <a:t> </a:t>
            </a:r>
            <a:r>
              <a:rPr lang="en-US" sz="1362" b="1" spc="-28"/>
              <a:t>Employees</a:t>
            </a:r>
            <a:r>
              <a:rPr lang="en-US" sz="1362" b="1" spc="-72"/>
              <a:t> </a:t>
            </a:r>
            <a:r>
              <a:rPr lang="en-US" sz="1362" b="1"/>
              <a:t>without</a:t>
            </a:r>
            <a:r>
              <a:rPr lang="en-US" sz="1362" b="1" spc="-76"/>
              <a:t> </a:t>
            </a:r>
            <a:r>
              <a:rPr lang="en-US" sz="1362" b="1" spc="-72"/>
              <a:t>a</a:t>
            </a:r>
            <a:r>
              <a:rPr lang="en-US" sz="1362" b="1" spc="-64"/>
              <a:t> </a:t>
            </a:r>
            <a:r>
              <a:rPr lang="en-US" sz="1362" b="1" spc="-16"/>
              <a:t>department</a:t>
            </a:r>
          </a:p>
          <a:p>
            <a:pPr marL="68657" marR="1734737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endParaRPr lang="en-US" sz="1362" b="1" spc="-16"/>
          </a:p>
          <a:p>
            <a:pPr marL="68657" marR="1734737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1362" b="1" spc="-16"/>
              <a:t> </a:t>
            </a:r>
            <a:r>
              <a:rPr lang="en-US" sz="1362" b="1" spc="-144"/>
              <a:t>SELECT</a:t>
            </a:r>
            <a:r>
              <a:rPr lang="en-US" sz="1362" b="1" spc="-36"/>
              <a:t> </a:t>
            </a:r>
            <a:r>
              <a:rPr lang="en-US" sz="1362" b="1" spc="-8"/>
              <a:t>e.name</a:t>
            </a:r>
            <a:endParaRPr lang="en-US" sz="1362"/>
          </a:p>
          <a:p>
            <a:pPr marL="68657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62" b="1" spc="-108"/>
              <a:t>FROM</a:t>
            </a:r>
            <a:r>
              <a:rPr lang="en-US" sz="1362" b="1" spc="-60"/>
              <a:t> </a:t>
            </a:r>
            <a:r>
              <a:rPr lang="en-US" sz="1362" b="1" spc="-8"/>
              <a:t>employees</a:t>
            </a:r>
            <a:r>
              <a:rPr lang="en-US" sz="1362" b="1" spc="-60"/>
              <a:t> </a:t>
            </a:r>
            <a:r>
              <a:rPr lang="en-US" sz="1362" b="1" spc="-40"/>
              <a:t>e</a:t>
            </a:r>
            <a:endParaRPr lang="en-US" sz="1362"/>
          </a:p>
          <a:p>
            <a:pPr marL="68657" marR="4069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62" b="1" spc="-144"/>
              <a:t>LEFT</a:t>
            </a:r>
            <a:r>
              <a:rPr lang="en-US" sz="1362" b="1" spc="-60"/>
              <a:t> </a:t>
            </a:r>
            <a:r>
              <a:rPr lang="en-US" sz="1362" b="1" spc="-72"/>
              <a:t>JOIN</a:t>
            </a:r>
            <a:r>
              <a:rPr lang="en-US" sz="1362" b="1" spc="-60"/>
              <a:t> </a:t>
            </a:r>
            <a:r>
              <a:rPr lang="en-US" sz="1362" b="1" spc="-20"/>
              <a:t>departments</a:t>
            </a:r>
            <a:r>
              <a:rPr lang="en-US" sz="1362" b="1" spc="-60"/>
              <a:t> </a:t>
            </a:r>
            <a:r>
              <a:rPr lang="en-US" sz="1362" b="1"/>
              <a:t>d</a:t>
            </a:r>
            <a:r>
              <a:rPr lang="en-US" sz="1362" b="1" spc="-56"/>
              <a:t> </a:t>
            </a:r>
            <a:r>
              <a:rPr lang="en-US" sz="1362" b="1"/>
              <a:t>ON</a:t>
            </a:r>
            <a:r>
              <a:rPr lang="en-US" sz="1362" b="1" spc="-60"/>
              <a:t> </a:t>
            </a:r>
            <a:r>
              <a:rPr lang="en-US" sz="1362" b="1" spc="-8"/>
              <a:t>e.dept_id</a:t>
            </a:r>
            <a:r>
              <a:rPr lang="en-US" sz="1362" b="1" spc="-60"/>
              <a:t> </a:t>
            </a:r>
            <a:r>
              <a:rPr lang="en-US" sz="1362" b="1"/>
              <a:t>=</a:t>
            </a:r>
            <a:r>
              <a:rPr lang="en-US" sz="1362" b="1" spc="-56"/>
              <a:t> </a:t>
            </a:r>
            <a:r>
              <a:rPr lang="en-US" sz="1362" b="1" spc="-8"/>
              <a:t>d.dept_id </a:t>
            </a:r>
            <a:r>
              <a:rPr lang="en-US" sz="1362" b="1" spc="-108"/>
              <a:t>WHERE</a:t>
            </a:r>
            <a:r>
              <a:rPr lang="en-US" sz="1362" b="1" spc="-68"/>
              <a:t> </a:t>
            </a:r>
            <a:r>
              <a:rPr lang="en-US" sz="1362" b="1" spc="-8"/>
              <a:t>d.dept_id</a:t>
            </a:r>
            <a:r>
              <a:rPr lang="en-US" sz="1362" b="1" spc="-56"/>
              <a:t> </a:t>
            </a:r>
            <a:r>
              <a:rPr lang="en-US" sz="1362" b="1" spc="-64"/>
              <a:t>IS</a:t>
            </a:r>
            <a:r>
              <a:rPr lang="en-US" sz="1362" b="1" spc="-56"/>
              <a:t> </a:t>
            </a:r>
            <a:r>
              <a:rPr lang="en-US" sz="1362" b="1" spc="-8"/>
              <a:t>NULL;</a:t>
            </a:r>
            <a:endParaRPr lang="en-US" sz="1362"/>
          </a:p>
          <a:p>
            <a:pPr indent="-183086">
              <a:lnSpc>
                <a:spcPct val="9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1362"/>
          </a:p>
          <a:p>
            <a:pPr marL="68657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62" b="1" spc="-8"/>
              <a:t>Output</a:t>
            </a:r>
            <a:r>
              <a:rPr lang="en-US" sz="1362" b="1" spc="-76"/>
              <a:t> </a:t>
            </a:r>
            <a:r>
              <a:rPr lang="en-US" sz="1362" b="1" spc="-8"/>
              <a:t>Table</a:t>
            </a:r>
            <a:endParaRPr lang="en-US" sz="1362"/>
          </a:p>
          <a:p>
            <a:pPr marL="10171" indent="-183086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798966" algn="l"/>
              </a:tabLst>
            </a:pPr>
            <a:r>
              <a:rPr lang="en-US" sz="1362" b="1" spc="96"/>
              <a:t>|</a:t>
            </a:r>
            <a:r>
              <a:rPr lang="en-US" sz="1362" b="1" spc="-64"/>
              <a:t> </a:t>
            </a:r>
            <a:r>
              <a:rPr lang="en-US" sz="1362" b="1" spc="-16"/>
              <a:t>name</a:t>
            </a:r>
            <a:r>
              <a:rPr lang="en-US" sz="1362" b="1"/>
              <a:t>	</a:t>
            </a:r>
            <a:r>
              <a:rPr lang="en-US" sz="1362" b="1" spc="56"/>
              <a:t>|</a:t>
            </a:r>
            <a:endParaRPr lang="en-US" sz="1362"/>
          </a:p>
          <a:p>
            <a:pPr marL="10171" indent="-183086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599097" algn="l"/>
              </a:tabLst>
            </a:pPr>
            <a:r>
              <a:rPr lang="en-US" sz="1362" b="1" spc="56"/>
              <a:t>|</a:t>
            </a:r>
            <a:r>
              <a:rPr lang="en-US" sz="1362" b="1"/>
              <a:t>	</a:t>
            </a:r>
            <a:r>
              <a:rPr lang="en-US" sz="1362" b="1" spc="48"/>
              <a:t>|</a:t>
            </a:r>
            <a:endParaRPr lang="en-US" sz="1362"/>
          </a:p>
          <a:p>
            <a:pPr marL="10171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62" b="1" spc="96"/>
              <a:t>|</a:t>
            </a:r>
            <a:r>
              <a:rPr lang="en-US" sz="1362" b="1" spc="-60"/>
              <a:t> </a:t>
            </a:r>
            <a:r>
              <a:rPr lang="en-US" sz="1362" b="1" spc="-40"/>
              <a:t>Carol</a:t>
            </a:r>
            <a:r>
              <a:rPr lang="en-US" sz="1362" b="1" spc="-56"/>
              <a:t> </a:t>
            </a:r>
            <a:r>
              <a:rPr lang="en-US" sz="1362" b="1" spc="56"/>
              <a:t>|</a:t>
            </a:r>
            <a:endParaRPr lang="en-US" sz="1362"/>
          </a:p>
          <a:p>
            <a:pPr marL="10171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62" b="1" spc="96"/>
              <a:t>|</a:t>
            </a:r>
            <a:r>
              <a:rPr lang="en-US" sz="1362" b="1" spc="-91"/>
              <a:t> </a:t>
            </a:r>
            <a:r>
              <a:rPr lang="en-US" sz="1362" b="1"/>
              <a:t>David</a:t>
            </a:r>
            <a:r>
              <a:rPr lang="en-US" sz="1362" b="1" spc="-88"/>
              <a:t> </a:t>
            </a:r>
            <a:r>
              <a:rPr lang="en-US" sz="1362" b="1" spc="56"/>
              <a:t>|</a:t>
            </a:r>
            <a:endParaRPr lang="en-US" sz="1362"/>
          </a:p>
        </p:txBody>
      </p:sp>
    </p:spTree>
    <p:extLst>
      <p:ext uri="{BB962C8B-B14F-4D97-AF65-F5344CB8AC3E}">
        <p14:creationId xmlns:p14="http://schemas.microsoft.com/office/powerpoint/2010/main" val="32476171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D762F-836F-DE1D-1AA3-789C087D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BCEFADF-0578-7CC8-8695-2F7F1B268D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8364" y="309902"/>
            <a:ext cx="7397913" cy="952261"/>
          </a:xfrm>
          <a:prstGeom prst="rect">
            <a:avLst/>
          </a:prstGeom>
        </p:spPr>
        <p:txBody>
          <a:bodyPr spcFirstLastPara="1" vert="horz" wrap="square" lIns="73237" tIns="36618" rIns="73237" bIns="36618" rtlCol="0" anchor="b" anchorCtr="0">
            <a:normAutofit/>
          </a:bodyPr>
          <a:lstStyle/>
          <a:p>
            <a:pPr marL="10171"/>
            <a:r>
              <a:rPr lang="en-US" sz="4325" kern="1200" spc="-1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4325" kern="1200" spc="-2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325" kern="1200" spc="-44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4325" kern="1200" spc="-2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325" kern="1200" spc="-1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4325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636368" y="2082014"/>
            <a:ext cx="8124327" cy="2751606"/>
          </a:xfrm>
          <a:prstGeom prst="rect">
            <a:avLst/>
          </a:prstGeom>
        </p:spPr>
        <p:txBody>
          <a:bodyPr vert="horz" lIns="73237" tIns="36618" rIns="73237" bIns="36618" rtlCol="0" anchor="ctr">
            <a:normAutofit/>
          </a:bodyPr>
          <a:lstStyle/>
          <a:p>
            <a:pPr marL="67640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1522" b="1"/>
              <a:t>5</a:t>
            </a:r>
            <a:r>
              <a:rPr lang="en-US" sz="1522" b="1" spc="-84"/>
              <a:t> </a:t>
            </a:r>
            <a:r>
              <a:rPr lang="en-US" sz="1522" b="1" spc="-16"/>
              <a:t>ANTI</a:t>
            </a:r>
            <a:r>
              <a:rPr lang="en-US" sz="1522" b="1" spc="-80"/>
              <a:t> </a:t>
            </a:r>
            <a:r>
              <a:rPr lang="en-US" sz="1522" b="1" spc="-16"/>
              <a:t>JOIN</a:t>
            </a:r>
            <a:endParaRPr lang="en-US" sz="1522"/>
          </a:p>
          <a:p>
            <a:pPr marL="67640" marR="1514017" indent="-183086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522" b="1"/>
              <a:t>b)</a:t>
            </a:r>
            <a:r>
              <a:rPr lang="en-US" sz="1522" b="1" spc="-76"/>
              <a:t> </a:t>
            </a:r>
            <a:r>
              <a:rPr lang="en-US" sz="1522" b="1" spc="-8"/>
              <a:t>Departments</a:t>
            </a:r>
            <a:r>
              <a:rPr lang="en-US" sz="1522" b="1" spc="-76"/>
              <a:t> </a:t>
            </a:r>
            <a:r>
              <a:rPr lang="en-US" sz="1522" b="1"/>
              <a:t>without</a:t>
            </a:r>
            <a:r>
              <a:rPr lang="en-US" sz="1522" b="1" spc="-76"/>
              <a:t> </a:t>
            </a:r>
            <a:r>
              <a:rPr lang="en-US" sz="1522" b="1" spc="-8"/>
              <a:t>employees</a:t>
            </a:r>
          </a:p>
          <a:p>
            <a:pPr marL="67640" marR="1514017" indent="-183086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22" b="1" spc="-8"/>
          </a:p>
          <a:p>
            <a:pPr marL="67640" marR="1514017" indent="-183086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522" b="1" spc="-8"/>
              <a:t> </a:t>
            </a:r>
            <a:r>
              <a:rPr lang="en-US" sz="1522" b="1" spc="-144"/>
              <a:t>SELECT</a:t>
            </a:r>
            <a:r>
              <a:rPr lang="en-US" sz="1522" b="1" spc="-36"/>
              <a:t> </a:t>
            </a:r>
            <a:r>
              <a:rPr lang="en-US" sz="1522" b="1" spc="-8"/>
              <a:t>d.dept_name</a:t>
            </a:r>
            <a:endParaRPr lang="en-US" sz="1522"/>
          </a:p>
          <a:p>
            <a:pPr marL="67640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22" b="1" spc="-108"/>
              <a:t>FROM</a:t>
            </a:r>
            <a:r>
              <a:rPr lang="en-US" sz="1522" b="1" spc="-48"/>
              <a:t> </a:t>
            </a:r>
            <a:r>
              <a:rPr lang="en-US" sz="1522" b="1" spc="-20"/>
              <a:t>departments</a:t>
            </a:r>
            <a:r>
              <a:rPr lang="en-US" sz="1522" b="1" spc="-48"/>
              <a:t> </a:t>
            </a:r>
            <a:r>
              <a:rPr lang="en-US" sz="1522" b="1" spc="-40"/>
              <a:t>d</a:t>
            </a:r>
            <a:endParaRPr lang="en-US" sz="1522"/>
          </a:p>
          <a:p>
            <a:pPr marL="67640" marR="4069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1522" b="1" spc="-144"/>
              <a:t>LEFT</a:t>
            </a:r>
            <a:r>
              <a:rPr lang="en-US" sz="1522" b="1" spc="-72"/>
              <a:t> JOIN</a:t>
            </a:r>
            <a:r>
              <a:rPr lang="en-US" sz="1522" b="1" spc="-60"/>
              <a:t> </a:t>
            </a:r>
            <a:r>
              <a:rPr lang="en-US" sz="1522" b="1" spc="-8"/>
              <a:t>employees</a:t>
            </a:r>
            <a:r>
              <a:rPr lang="en-US" sz="1522" b="1" spc="-64"/>
              <a:t> </a:t>
            </a:r>
            <a:r>
              <a:rPr lang="en-US" sz="1522" b="1"/>
              <a:t>e</a:t>
            </a:r>
            <a:r>
              <a:rPr lang="en-US" sz="1522" b="1" spc="-60"/>
              <a:t> </a:t>
            </a:r>
            <a:r>
              <a:rPr lang="en-US" sz="1522" b="1"/>
              <a:t>ON</a:t>
            </a:r>
            <a:r>
              <a:rPr lang="en-US" sz="1522" b="1" spc="-64"/>
              <a:t> </a:t>
            </a:r>
            <a:r>
              <a:rPr lang="en-US" sz="1522" b="1" spc="-8"/>
              <a:t>e.dept_id</a:t>
            </a:r>
            <a:r>
              <a:rPr lang="en-US" sz="1522" b="1" spc="-60"/>
              <a:t> </a:t>
            </a:r>
            <a:r>
              <a:rPr lang="en-US" sz="1522" b="1"/>
              <a:t>=</a:t>
            </a:r>
            <a:r>
              <a:rPr lang="en-US" sz="1522" b="1" spc="-60"/>
              <a:t> </a:t>
            </a:r>
            <a:r>
              <a:rPr lang="en-US" sz="1522" b="1" spc="-8"/>
              <a:t>d.dept_id </a:t>
            </a:r>
            <a:r>
              <a:rPr lang="en-US" sz="1522" b="1" spc="-108"/>
              <a:t>WHERE</a:t>
            </a:r>
            <a:r>
              <a:rPr lang="en-US" sz="1522" b="1" spc="-60"/>
              <a:t> </a:t>
            </a:r>
            <a:r>
              <a:rPr lang="en-US" sz="1522" b="1" spc="-8"/>
              <a:t>e.dept_id</a:t>
            </a:r>
            <a:r>
              <a:rPr lang="en-US" sz="1522" b="1" spc="-56"/>
              <a:t> </a:t>
            </a:r>
            <a:r>
              <a:rPr lang="en-US" sz="1522" b="1" spc="-64"/>
              <a:t>IS</a:t>
            </a:r>
            <a:r>
              <a:rPr lang="en-US" sz="1522" b="1" spc="-56"/>
              <a:t> </a:t>
            </a:r>
            <a:r>
              <a:rPr lang="en-US" sz="1522" b="1" spc="-16"/>
              <a:t>NULL;</a:t>
            </a:r>
            <a:endParaRPr lang="en-US" sz="1522"/>
          </a:p>
          <a:p>
            <a:pPr indent="-183086">
              <a:lnSpc>
                <a:spcPct val="90000"/>
              </a:lnSpc>
              <a:spcBef>
                <a:spcPts val="36"/>
              </a:spcBef>
              <a:buFont typeface="Arial" panose="020B0604020202020204" pitchFamily="34" charset="0"/>
              <a:buChar char="•"/>
            </a:pPr>
            <a:endParaRPr lang="en-US" sz="1522"/>
          </a:p>
          <a:p>
            <a:pPr marL="67640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22" b="1" spc="-8"/>
              <a:t>Output</a:t>
            </a:r>
            <a:r>
              <a:rPr lang="en-US" sz="1522" b="1" spc="-76"/>
              <a:t> </a:t>
            </a:r>
            <a:r>
              <a:rPr lang="en-US" sz="1522" b="1" spc="-8"/>
              <a:t>Table</a:t>
            </a:r>
            <a:endParaRPr lang="en-US" sz="1522"/>
          </a:p>
          <a:p>
            <a:pPr indent="-183086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22"/>
          </a:p>
          <a:p>
            <a:pPr marL="10171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22" b="1" spc="96"/>
              <a:t>|</a:t>
            </a:r>
            <a:r>
              <a:rPr lang="en-US" sz="1522" b="1" spc="-76"/>
              <a:t> </a:t>
            </a:r>
            <a:r>
              <a:rPr lang="en-US" sz="1522" b="1" spc="-8"/>
              <a:t>dept_name</a:t>
            </a:r>
            <a:r>
              <a:rPr lang="en-US" sz="1522" b="1" spc="-72"/>
              <a:t> </a:t>
            </a:r>
            <a:r>
              <a:rPr lang="en-US" sz="1522" b="1" spc="56"/>
              <a:t>|</a:t>
            </a:r>
            <a:endParaRPr lang="en-US" sz="1522"/>
          </a:p>
          <a:p>
            <a:pPr marL="10171" indent="-183086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933229" algn="l"/>
              </a:tabLst>
            </a:pPr>
            <a:r>
              <a:rPr lang="en-US" sz="1522" b="1" spc="56"/>
              <a:t>|</a:t>
            </a:r>
            <a:r>
              <a:rPr lang="en-US" sz="1522" b="1"/>
              <a:t>	</a:t>
            </a:r>
            <a:r>
              <a:rPr lang="en-US" sz="1522" b="1" spc="56"/>
              <a:t>|</a:t>
            </a:r>
            <a:endParaRPr lang="en-US" sz="1522"/>
          </a:p>
          <a:p>
            <a:pPr marL="10171" indent="-183086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094954" algn="l"/>
              </a:tabLst>
            </a:pPr>
            <a:r>
              <a:rPr lang="en-US" sz="1522" b="1" spc="96"/>
              <a:t>|</a:t>
            </a:r>
            <a:r>
              <a:rPr lang="en-US" sz="1522" b="1" spc="-64"/>
              <a:t> </a:t>
            </a:r>
            <a:r>
              <a:rPr lang="en-US" sz="1522" b="1" spc="-8"/>
              <a:t>Finance</a:t>
            </a:r>
            <a:r>
              <a:rPr lang="en-US" sz="1522" b="1"/>
              <a:t>	</a:t>
            </a:r>
            <a:r>
              <a:rPr lang="en-US" sz="1522" b="1" spc="56"/>
              <a:t>|</a:t>
            </a:r>
            <a:endParaRPr lang="en-US" sz="1522"/>
          </a:p>
        </p:txBody>
      </p:sp>
    </p:spTree>
    <p:extLst>
      <p:ext uri="{BB962C8B-B14F-4D97-AF65-F5344CB8AC3E}">
        <p14:creationId xmlns:p14="http://schemas.microsoft.com/office/powerpoint/2010/main" val="19896617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1392" y="292438"/>
            <a:ext cx="4240915" cy="1652957"/>
          </a:xfrm>
          <a:prstGeom prst="rect">
            <a:avLst/>
          </a:prstGeom>
        </p:spPr>
        <p:txBody>
          <a:bodyPr spcFirstLastPara="1" vert="horz" wrap="square" lIns="73237" tIns="36618" rIns="73237" bIns="36618" rtlCol="0" anchor="b" anchorCtr="0">
            <a:normAutofit/>
          </a:bodyPr>
          <a:lstStyle/>
          <a:p>
            <a:pPr marL="10171"/>
            <a:r>
              <a:rPr lang="en-US" sz="4325" spc="-116"/>
              <a:t>Refresher</a:t>
            </a:r>
            <a:r>
              <a:rPr lang="en-US" sz="4325" spc="-216"/>
              <a:t> </a:t>
            </a:r>
            <a:r>
              <a:rPr lang="en-US" sz="4325" spc="-44"/>
              <a:t>on</a:t>
            </a:r>
            <a:r>
              <a:rPr lang="en-US" sz="4325" spc="-216"/>
              <a:t> </a:t>
            </a:r>
            <a:r>
              <a:rPr lang="en-US" sz="4325" spc="-116"/>
              <a:t>Joins</a:t>
            </a:r>
            <a:endParaRPr lang="en-US" sz="4325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9998" y="292438"/>
            <a:ext cx="1920962" cy="17576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39220" y="504136"/>
            <a:ext cx="2034783" cy="13342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91392" y="2329097"/>
            <a:ext cx="4240915" cy="2618192"/>
          </a:xfrm>
          <a:prstGeom prst="rect">
            <a:avLst/>
          </a:prstGeom>
        </p:spPr>
        <p:txBody>
          <a:bodyPr vert="horz" lIns="73237" tIns="36618" rIns="73237" bIns="36618" rtlCol="0">
            <a:normAutofit/>
          </a:bodyPr>
          <a:lstStyle/>
          <a:p>
            <a:pPr marL="10171" indent="-183086">
              <a:lnSpc>
                <a:spcPct val="90000"/>
              </a:lnSpc>
              <a:spcBef>
                <a:spcPts val="444"/>
              </a:spcBef>
              <a:buFont typeface="Arial" panose="020B0604020202020204" pitchFamily="34" charset="0"/>
              <a:buChar char="•"/>
              <a:tabLst>
                <a:tab pos="229366" algn="l"/>
              </a:tabLst>
            </a:pPr>
            <a:r>
              <a:rPr lang="en-US" sz="1762" spc="-40"/>
              <a:t>∗</a:t>
            </a:r>
            <a:r>
              <a:rPr lang="en-US" sz="1762"/>
              <a:t>	</a:t>
            </a:r>
            <a:r>
              <a:rPr lang="en-US" sz="1762" spc="-60"/>
              <a:t>Cartesian </a:t>
            </a:r>
            <a:r>
              <a:rPr lang="en-US" sz="1762" spc="-8"/>
              <a:t>product</a:t>
            </a:r>
            <a:endParaRPr lang="en-US" sz="1762"/>
          </a:p>
          <a:p>
            <a:pPr marL="471446" marR="4069" indent="-183086">
              <a:lnSpc>
                <a:spcPct val="90000"/>
              </a:lnSpc>
              <a:spcBef>
                <a:spcPts val="292"/>
              </a:spcBef>
              <a:buFont typeface="Arial" panose="020B0604020202020204" pitchFamily="34" charset="0"/>
              <a:buChar char="•"/>
            </a:pPr>
            <a:r>
              <a:rPr lang="en-US" sz="1762" spc="-12"/>
              <a:t>∗</a:t>
            </a:r>
            <a:r>
              <a:rPr lang="en-US" sz="1762" spc="785"/>
              <a:t> </a:t>
            </a:r>
            <a:r>
              <a:rPr lang="en-US" sz="1762" spc="-60"/>
              <a:t>A</a:t>
            </a:r>
            <a:r>
              <a:rPr lang="en-US" sz="1762" spc="-76"/>
              <a:t> </a:t>
            </a:r>
            <a:r>
              <a:rPr lang="en-US" sz="1762" spc="-48"/>
              <a:t>Cartesian</a:t>
            </a:r>
            <a:r>
              <a:rPr lang="en-US" sz="1762" spc="-68"/>
              <a:t> </a:t>
            </a:r>
            <a:r>
              <a:rPr lang="en-US" sz="1762"/>
              <a:t>product</a:t>
            </a:r>
            <a:r>
              <a:rPr lang="en-US" sz="1762" spc="-64"/>
              <a:t> </a:t>
            </a:r>
            <a:r>
              <a:rPr lang="en-US" sz="1762" spc="12"/>
              <a:t>or</a:t>
            </a:r>
            <a:r>
              <a:rPr lang="en-US" sz="1762" spc="-68"/>
              <a:t> </a:t>
            </a:r>
            <a:r>
              <a:rPr lang="en-US" sz="1762" spc="-44"/>
              <a:t>cross</a:t>
            </a:r>
            <a:r>
              <a:rPr lang="en-US" sz="1762" spc="-56"/>
              <a:t> </a:t>
            </a:r>
            <a:r>
              <a:rPr lang="en-US" sz="1762"/>
              <a:t>product</a:t>
            </a:r>
            <a:r>
              <a:rPr lang="en-US" sz="1762" spc="-68"/>
              <a:t> </a:t>
            </a:r>
            <a:r>
              <a:rPr lang="en-US" sz="1762" spc="-32"/>
              <a:t>takes</a:t>
            </a:r>
            <a:r>
              <a:rPr lang="en-US" sz="1762" spc="-76"/>
              <a:t> </a:t>
            </a:r>
            <a:r>
              <a:rPr lang="en-US" sz="1762" spc="-48"/>
              <a:t>each</a:t>
            </a:r>
            <a:r>
              <a:rPr lang="en-US" sz="1762" spc="-76"/>
              <a:t> </a:t>
            </a:r>
            <a:r>
              <a:rPr lang="en-US" sz="1762" spc="-12"/>
              <a:t>record</a:t>
            </a:r>
            <a:r>
              <a:rPr lang="en-US" sz="1762" spc="-60"/>
              <a:t> </a:t>
            </a:r>
            <a:r>
              <a:rPr lang="en-US" sz="1762" spc="20"/>
              <a:t>from</a:t>
            </a:r>
            <a:r>
              <a:rPr lang="en-US" sz="1762" spc="-64"/>
              <a:t> </a:t>
            </a:r>
            <a:r>
              <a:rPr lang="en-US" sz="1762" spc="-72"/>
              <a:t>a</a:t>
            </a:r>
            <a:r>
              <a:rPr lang="en-US" sz="1762" spc="-80"/>
              <a:t> </a:t>
            </a:r>
            <a:r>
              <a:rPr lang="en-US" sz="1762" spc="-8"/>
              <a:t>table</a:t>
            </a:r>
            <a:r>
              <a:rPr lang="en-US" sz="1762" spc="-84"/>
              <a:t> </a:t>
            </a:r>
            <a:r>
              <a:rPr lang="en-US" sz="1762" spc="-36"/>
              <a:t>and</a:t>
            </a:r>
            <a:r>
              <a:rPr lang="en-US" sz="1762" spc="-60"/>
              <a:t> </a:t>
            </a:r>
            <a:r>
              <a:rPr lang="en-US" sz="1762" spc="-32"/>
              <a:t>matches</a:t>
            </a:r>
            <a:r>
              <a:rPr lang="en-US" sz="1762" spc="-40"/>
              <a:t> </a:t>
            </a:r>
            <a:r>
              <a:rPr lang="en-US" sz="1762" spc="36"/>
              <a:t>it</a:t>
            </a:r>
            <a:r>
              <a:rPr lang="en-US" sz="1762" spc="-72"/>
              <a:t> </a:t>
            </a:r>
            <a:r>
              <a:rPr lang="en-US" sz="1762" spc="-16"/>
              <a:t>up</a:t>
            </a:r>
            <a:r>
              <a:rPr lang="en-US" sz="1762" spc="-80"/>
              <a:t> </a:t>
            </a:r>
            <a:r>
              <a:rPr lang="en-US" sz="1762" spc="24"/>
              <a:t>with</a:t>
            </a:r>
            <a:r>
              <a:rPr lang="en-US" sz="1762" spc="-76"/>
              <a:t> </a:t>
            </a:r>
            <a:r>
              <a:rPr lang="en-US" sz="1762" spc="-28"/>
              <a:t>every</a:t>
            </a:r>
            <a:r>
              <a:rPr lang="en-US" sz="1762" spc="-88"/>
              <a:t> </a:t>
            </a:r>
            <a:r>
              <a:rPr lang="en-US" sz="1762" spc="-12"/>
              <a:t>record</a:t>
            </a:r>
            <a:r>
              <a:rPr lang="en-US" sz="1762" spc="-60"/>
              <a:t> </a:t>
            </a:r>
            <a:r>
              <a:rPr lang="en-US" sz="1762" spc="16"/>
              <a:t>from</a:t>
            </a:r>
            <a:r>
              <a:rPr lang="en-US" sz="1762" spc="-64"/>
              <a:t> </a:t>
            </a:r>
            <a:r>
              <a:rPr lang="en-US" sz="1762" spc="-8"/>
              <a:t>another</a:t>
            </a:r>
            <a:r>
              <a:rPr lang="en-US" sz="1762" spc="-60"/>
              <a:t> </a:t>
            </a:r>
            <a:r>
              <a:rPr lang="en-US" sz="1762" spc="-12"/>
              <a:t>table.</a:t>
            </a:r>
            <a:r>
              <a:rPr lang="en-US" sz="1762" spc="-88"/>
              <a:t> </a:t>
            </a:r>
            <a:r>
              <a:rPr lang="en-US" sz="1762" spc="32"/>
              <a:t>If</a:t>
            </a:r>
            <a:r>
              <a:rPr lang="en-US" sz="1762" spc="-68"/>
              <a:t> </a:t>
            </a:r>
            <a:r>
              <a:rPr lang="en-US" sz="1762" spc="-12"/>
              <a:t>table</a:t>
            </a:r>
            <a:r>
              <a:rPr lang="en-US" sz="1762" spc="-80"/>
              <a:t> </a:t>
            </a:r>
            <a:r>
              <a:rPr lang="en-US" sz="1762" spc="-128"/>
              <a:t>X</a:t>
            </a:r>
            <a:r>
              <a:rPr lang="en-US" sz="1762" spc="-68"/>
              <a:t> </a:t>
            </a:r>
            <a:r>
              <a:rPr lang="en-US" sz="1762" spc="-24"/>
              <a:t>contains</a:t>
            </a:r>
            <a:r>
              <a:rPr lang="en-US" sz="1762" spc="-64"/>
              <a:t> </a:t>
            </a:r>
            <a:r>
              <a:rPr lang="en-US" sz="1762" spc="-16"/>
              <a:t>n</a:t>
            </a:r>
            <a:r>
              <a:rPr lang="en-US" sz="1762" spc="-68"/>
              <a:t> </a:t>
            </a:r>
            <a:r>
              <a:rPr lang="en-US" sz="1762" spc="-24"/>
              <a:t>records</a:t>
            </a:r>
            <a:r>
              <a:rPr lang="en-US" sz="1762" spc="-60"/>
              <a:t> </a:t>
            </a:r>
            <a:r>
              <a:rPr lang="en-US" sz="1762" spc="-36"/>
              <a:t>and</a:t>
            </a:r>
            <a:r>
              <a:rPr lang="en-US" sz="1762" spc="-68"/>
              <a:t> </a:t>
            </a:r>
            <a:r>
              <a:rPr lang="en-US" sz="1762" spc="-12"/>
              <a:t>table</a:t>
            </a:r>
            <a:r>
              <a:rPr lang="en-US" sz="1762" spc="-8"/>
              <a:t> </a:t>
            </a:r>
            <a:r>
              <a:rPr lang="en-US" sz="1762" spc="-136"/>
              <a:t>Y</a:t>
            </a:r>
            <a:r>
              <a:rPr lang="en-US" sz="1762" spc="-68"/>
              <a:t> </a:t>
            </a:r>
            <a:r>
              <a:rPr lang="en-US" sz="1762" spc="-24"/>
              <a:t>contains</a:t>
            </a:r>
            <a:r>
              <a:rPr lang="en-US" sz="1762" spc="-64"/>
              <a:t> </a:t>
            </a:r>
            <a:r>
              <a:rPr lang="en-US" sz="1762" spc="-20"/>
              <a:t>m</a:t>
            </a:r>
            <a:r>
              <a:rPr lang="en-US" sz="1762" spc="-68"/>
              <a:t> </a:t>
            </a:r>
            <a:r>
              <a:rPr lang="en-US" sz="1762" spc="-24"/>
              <a:t>records,</a:t>
            </a:r>
            <a:r>
              <a:rPr lang="en-US" sz="1762" spc="-60"/>
              <a:t> </a:t>
            </a:r>
            <a:r>
              <a:rPr lang="en-US" sz="1762" spc="4"/>
              <a:t>the</a:t>
            </a:r>
            <a:r>
              <a:rPr lang="en-US" sz="1762" spc="-76"/>
              <a:t> </a:t>
            </a:r>
            <a:r>
              <a:rPr lang="en-US" sz="1762" spc="-44"/>
              <a:t>cross</a:t>
            </a:r>
            <a:r>
              <a:rPr lang="en-US" sz="1762" spc="-64"/>
              <a:t> </a:t>
            </a:r>
            <a:r>
              <a:rPr lang="en-US" sz="1762"/>
              <a:t>product</a:t>
            </a:r>
            <a:r>
              <a:rPr lang="en-US" sz="1762" spc="-64"/>
              <a:t> </a:t>
            </a:r>
            <a:r>
              <a:rPr lang="en-US" sz="1762" spc="32"/>
              <a:t>of</a:t>
            </a:r>
            <a:r>
              <a:rPr lang="en-US" sz="1762" spc="-68"/>
              <a:t> </a:t>
            </a:r>
            <a:r>
              <a:rPr lang="en-US" sz="1762" spc="-128"/>
              <a:t>X</a:t>
            </a:r>
            <a:r>
              <a:rPr lang="en-US" sz="1762" spc="-68"/>
              <a:t> </a:t>
            </a:r>
            <a:r>
              <a:rPr lang="en-US" sz="1762" spc="-36"/>
              <a:t>and</a:t>
            </a:r>
            <a:r>
              <a:rPr lang="en-US" sz="1762" spc="-68"/>
              <a:t> </a:t>
            </a:r>
            <a:r>
              <a:rPr lang="en-US" sz="1762" spc="-80"/>
              <a:t>Y,</a:t>
            </a:r>
            <a:r>
              <a:rPr lang="en-US" sz="1762" spc="-72"/>
              <a:t> </a:t>
            </a:r>
            <a:r>
              <a:rPr lang="en-US" sz="1762" spc="-8"/>
              <a:t>denoted</a:t>
            </a:r>
            <a:r>
              <a:rPr lang="en-US" sz="1762" spc="-68"/>
              <a:t> </a:t>
            </a:r>
            <a:r>
              <a:rPr lang="en-US" sz="1762" spc="-128"/>
              <a:t>X</a:t>
            </a:r>
            <a:r>
              <a:rPr lang="en-US" sz="1762" spc="-68"/>
              <a:t> </a:t>
            </a:r>
            <a:r>
              <a:rPr lang="en-US" sz="1762" spc="-91"/>
              <a:t>×</a:t>
            </a:r>
            <a:r>
              <a:rPr lang="en-US" sz="1762" spc="-68"/>
              <a:t> </a:t>
            </a:r>
            <a:r>
              <a:rPr lang="en-US" sz="1762" spc="-80"/>
              <a:t>Y, </a:t>
            </a:r>
            <a:r>
              <a:rPr lang="en-US" sz="1762" spc="-24"/>
              <a:t>contains</a:t>
            </a:r>
            <a:r>
              <a:rPr lang="en-US" sz="1762" spc="-56"/>
              <a:t> </a:t>
            </a:r>
            <a:r>
              <a:rPr lang="en-US" sz="1762" spc="-16"/>
              <a:t>n</a:t>
            </a:r>
            <a:r>
              <a:rPr lang="en-US" sz="1762" spc="-68"/>
              <a:t> </a:t>
            </a:r>
            <a:r>
              <a:rPr lang="en-US" sz="1762" spc="-91"/>
              <a:t>×</a:t>
            </a:r>
            <a:r>
              <a:rPr lang="en-US" sz="1762" spc="-76"/>
              <a:t> </a:t>
            </a:r>
            <a:r>
              <a:rPr lang="en-US" sz="1762" spc="-20"/>
              <a:t>m</a:t>
            </a:r>
            <a:r>
              <a:rPr lang="en-US" sz="1762" spc="-8"/>
              <a:t> </a:t>
            </a:r>
            <a:r>
              <a:rPr lang="en-US" sz="1762" spc="-24"/>
              <a:t>records.</a:t>
            </a:r>
            <a:endParaRPr lang="en-US" sz="1762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33087" y="2479807"/>
            <a:ext cx="4240916" cy="220323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B8DF-2D78-F87A-3FD0-4AF74E6C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1DC5FA7-8A97-4535-A312-8F31ED452B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58856" y="437995"/>
            <a:ext cx="6807443" cy="614668"/>
          </a:xfrm>
          <a:prstGeom prst="rect">
            <a:avLst/>
          </a:prstGeom>
        </p:spPr>
        <p:txBody>
          <a:bodyPr spcFirstLastPara="1" vert="horz" wrap="square" lIns="0" tIns="10172" rIns="0" bIns="0" rtlCol="0" anchor="t" anchorCtr="0">
            <a:spAutoFit/>
          </a:bodyPr>
          <a:lstStyle/>
          <a:p>
            <a:pPr marL="10171">
              <a:spcBef>
                <a:spcPts val="80"/>
              </a:spcBef>
            </a:pPr>
            <a:r>
              <a:rPr sz="3844" spc="-116" dirty="0"/>
              <a:t>Refresher</a:t>
            </a:r>
            <a:r>
              <a:rPr sz="3844" spc="-216" dirty="0"/>
              <a:t> </a:t>
            </a:r>
            <a:r>
              <a:rPr sz="3844" spc="-44" dirty="0"/>
              <a:t>on</a:t>
            </a:r>
            <a:r>
              <a:rPr sz="3844" spc="-216" dirty="0"/>
              <a:t> </a:t>
            </a:r>
            <a:r>
              <a:rPr sz="3844" spc="-116" dirty="0"/>
              <a:t>Joins</a:t>
            </a:r>
            <a:endParaRPr sz="3844" dirty="0"/>
          </a:p>
        </p:txBody>
      </p:sp>
      <p:sp>
        <p:nvSpPr>
          <p:cNvPr id="7" name="object 2" descr="$PPTXTitle">
            <a:extLst>
              <a:ext uri="{FF2B5EF4-FFF2-40B4-BE49-F238E27FC236}">
                <a16:creationId xmlns:a16="http://schemas.microsoft.com/office/drawing/2014/main" id="{91E734BD-7786-6624-E0BF-5B7A5A8D4357}"/>
              </a:ext>
            </a:extLst>
          </p:cNvPr>
          <p:cNvSpPr txBox="1">
            <a:spLocks/>
          </p:cNvSpPr>
          <p:nvPr/>
        </p:nvSpPr>
        <p:spPr>
          <a:xfrm>
            <a:off x="1335321" y="1256009"/>
            <a:ext cx="3071871" cy="306058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0171">
              <a:spcBef>
                <a:spcPts val="80"/>
              </a:spcBef>
            </a:pPr>
            <a:r>
              <a:rPr lang="en-US" sz="1922" b="1" spc="-96">
                <a:solidFill>
                  <a:srgbClr val="000000"/>
                </a:solidFill>
                <a:latin typeface="Times New Roman"/>
                <a:cs typeface="Times New Roman"/>
              </a:rPr>
              <a:t>CROSS</a:t>
            </a:r>
            <a:r>
              <a:rPr lang="en-US" sz="1922" b="1" spc="-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72">
                <a:solidFill>
                  <a:srgbClr val="000000"/>
                </a:solidFill>
                <a:latin typeface="Times New Roman"/>
                <a:cs typeface="Times New Roman"/>
              </a:rPr>
              <a:t>JOIN</a:t>
            </a:r>
            <a:r>
              <a:rPr lang="en-US" sz="1922" b="1" spc="-44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28">
                <a:solidFill>
                  <a:srgbClr val="000000"/>
                </a:solidFill>
                <a:latin typeface="Times New Roman"/>
                <a:cs typeface="Times New Roman"/>
              </a:rPr>
              <a:t>(Cartesian</a:t>
            </a:r>
            <a:r>
              <a:rPr lang="en-US" sz="1922" b="1" spc="-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922" b="1" spc="-8">
                <a:solidFill>
                  <a:srgbClr val="000000"/>
                </a:solidFill>
                <a:latin typeface="Times New Roman"/>
                <a:cs typeface="Times New Roman"/>
              </a:rPr>
              <a:t>Join)</a:t>
            </a:r>
            <a:endParaRPr lang="en-US" sz="1922" dirty="0">
              <a:latin typeface="Times New Roman"/>
              <a:cs typeface="Times New Roman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BA4529FE-2F1E-89F8-EA82-F6934061D954}"/>
              </a:ext>
            </a:extLst>
          </p:cNvPr>
          <p:cNvSpPr txBox="1"/>
          <p:nvPr/>
        </p:nvSpPr>
        <p:spPr>
          <a:xfrm>
            <a:off x="1038225" y="1830917"/>
            <a:ext cx="7147187" cy="1193416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 marR="4069">
              <a:spcBef>
                <a:spcPts val="80"/>
              </a:spcBef>
            </a:pPr>
            <a:r>
              <a:rPr sz="1922" b="1" dirty="0">
                <a:latin typeface="Times New Roman"/>
                <a:cs typeface="Times New Roman"/>
              </a:rPr>
              <a:t>A</a:t>
            </a:r>
            <a:r>
              <a:rPr sz="1922" b="1" spc="-76" dirty="0">
                <a:latin typeface="Times New Roman"/>
                <a:cs typeface="Times New Roman"/>
              </a:rPr>
              <a:t> </a:t>
            </a:r>
            <a:r>
              <a:rPr sz="1922" b="1" spc="-96" dirty="0">
                <a:latin typeface="Times New Roman"/>
                <a:cs typeface="Times New Roman"/>
              </a:rPr>
              <a:t>CROSS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72" dirty="0">
                <a:latin typeface="Times New Roman"/>
                <a:cs typeface="Times New Roman"/>
              </a:rPr>
              <a:t>JOIN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24" dirty="0">
                <a:latin typeface="Times New Roman"/>
                <a:cs typeface="Times New Roman"/>
              </a:rPr>
              <a:t>returns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56" dirty="0">
                <a:latin typeface="Times New Roman"/>
                <a:cs typeface="Times New Roman"/>
              </a:rPr>
              <a:t>every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possible</a:t>
            </a:r>
            <a:r>
              <a:rPr sz="1922" b="1" spc="-68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combination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of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40" dirty="0">
                <a:latin typeface="Times New Roman"/>
                <a:cs typeface="Times New Roman"/>
              </a:rPr>
              <a:t>rows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from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16" dirty="0">
                <a:latin typeface="Times New Roman"/>
                <a:cs typeface="Times New Roman"/>
              </a:rPr>
              <a:t>both </a:t>
            </a:r>
            <a:r>
              <a:rPr sz="1922" b="1" spc="-8" dirty="0">
                <a:latin typeface="Times New Roman"/>
                <a:cs typeface="Times New Roman"/>
              </a:rPr>
              <a:t>tables.</a:t>
            </a:r>
            <a:endParaRPr sz="1922">
              <a:latin typeface="Times New Roman"/>
              <a:cs typeface="Times New Roman"/>
            </a:endParaRPr>
          </a:p>
          <a:p>
            <a:pPr marL="10171" marR="1609629"/>
            <a:r>
              <a:rPr sz="1922" b="1" dirty="0">
                <a:latin typeface="Times New Roman"/>
                <a:cs typeface="Times New Roman"/>
              </a:rPr>
              <a:t>If</a:t>
            </a:r>
            <a:r>
              <a:rPr sz="1922" b="1" spc="-120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the</a:t>
            </a:r>
            <a:r>
              <a:rPr sz="1922" b="1" spc="-96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first</a:t>
            </a:r>
            <a:r>
              <a:rPr sz="1922" b="1" spc="-88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table</a:t>
            </a:r>
            <a:r>
              <a:rPr sz="1922" b="1" spc="-91" dirty="0">
                <a:latin typeface="Times New Roman"/>
                <a:cs typeface="Times New Roman"/>
              </a:rPr>
              <a:t> </a:t>
            </a:r>
            <a:r>
              <a:rPr sz="1922" b="1" spc="-32" dirty="0">
                <a:latin typeface="Times New Roman"/>
                <a:cs typeface="Times New Roman"/>
              </a:rPr>
              <a:t>has</a:t>
            </a:r>
            <a:r>
              <a:rPr sz="1922" b="1" spc="-88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A</a:t>
            </a:r>
            <a:r>
              <a:rPr sz="1922" b="1" spc="-88" dirty="0">
                <a:latin typeface="Times New Roman"/>
                <a:cs typeface="Times New Roman"/>
              </a:rPr>
              <a:t> </a:t>
            </a:r>
            <a:r>
              <a:rPr sz="1922" b="1" spc="-40" dirty="0">
                <a:latin typeface="Times New Roman"/>
                <a:cs typeface="Times New Roman"/>
              </a:rPr>
              <a:t>rows</a:t>
            </a:r>
            <a:r>
              <a:rPr sz="1922" b="1" spc="-80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and</a:t>
            </a:r>
            <a:r>
              <a:rPr sz="1922" b="1" spc="-88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the</a:t>
            </a:r>
            <a:r>
              <a:rPr sz="1922" b="1" spc="-91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second</a:t>
            </a:r>
            <a:r>
              <a:rPr sz="1922" b="1" spc="-88" dirty="0">
                <a:latin typeface="Times New Roman"/>
                <a:cs typeface="Times New Roman"/>
              </a:rPr>
              <a:t> </a:t>
            </a:r>
            <a:r>
              <a:rPr sz="1922" b="1" spc="-32" dirty="0">
                <a:latin typeface="Times New Roman"/>
                <a:cs typeface="Times New Roman"/>
              </a:rPr>
              <a:t>has</a:t>
            </a:r>
            <a:r>
              <a:rPr sz="1922" b="1" spc="-88" dirty="0">
                <a:latin typeface="Times New Roman"/>
                <a:cs typeface="Times New Roman"/>
              </a:rPr>
              <a:t> </a:t>
            </a:r>
            <a:r>
              <a:rPr sz="1922" b="1" spc="-64" dirty="0">
                <a:latin typeface="Times New Roman"/>
                <a:cs typeface="Times New Roman"/>
              </a:rPr>
              <a:t>B </a:t>
            </a:r>
            <a:r>
              <a:rPr sz="1922" b="1" spc="-8" dirty="0">
                <a:latin typeface="Times New Roman"/>
                <a:cs typeface="Times New Roman"/>
              </a:rPr>
              <a:t>rows, </a:t>
            </a:r>
            <a:r>
              <a:rPr sz="1922" b="1" dirty="0">
                <a:latin typeface="Times New Roman"/>
                <a:cs typeface="Times New Roman"/>
              </a:rPr>
              <a:t>the</a:t>
            </a:r>
            <a:r>
              <a:rPr sz="1922" b="1" spc="-112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result</a:t>
            </a:r>
            <a:r>
              <a:rPr sz="1922" b="1" spc="-84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will</a:t>
            </a:r>
            <a:r>
              <a:rPr sz="1922" b="1" spc="-84" dirty="0">
                <a:latin typeface="Times New Roman"/>
                <a:cs typeface="Times New Roman"/>
              </a:rPr>
              <a:t> </a:t>
            </a:r>
            <a:r>
              <a:rPr sz="1922" b="1" spc="-48" dirty="0">
                <a:latin typeface="Times New Roman"/>
                <a:cs typeface="Times New Roman"/>
              </a:rPr>
              <a:t>have</a:t>
            </a:r>
            <a:r>
              <a:rPr sz="1922" b="1" spc="-72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A</a:t>
            </a:r>
            <a:r>
              <a:rPr sz="1922" b="1" spc="-80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×</a:t>
            </a:r>
            <a:r>
              <a:rPr sz="1922" b="1" spc="-84" dirty="0">
                <a:latin typeface="Times New Roman"/>
                <a:cs typeface="Times New Roman"/>
              </a:rPr>
              <a:t> </a:t>
            </a:r>
            <a:r>
              <a:rPr sz="1922" b="1" spc="-64" dirty="0">
                <a:latin typeface="Times New Roman"/>
                <a:cs typeface="Times New Roman"/>
              </a:rPr>
              <a:t>B </a:t>
            </a:r>
            <a:r>
              <a:rPr sz="1922" b="1" spc="-8" dirty="0">
                <a:latin typeface="Times New Roman"/>
                <a:cs typeface="Times New Roman"/>
              </a:rPr>
              <a:t>rows.</a:t>
            </a:r>
            <a:endParaRPr sz="1922">
              <a:latin typeface="Times New Roman"/>
              <a:cs typeface="Times New Roman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5F15AAD5-8855-BCE0-A1E7-1CF890931A9E}"/>
              </a:ext>
            </a:extLst>
          </p:cNvPr>
          <p:cNvSpPr txBox="1"/>
          <p:nvPr/>
        </p:nvSpPr>
        <p:spPr>
          <a:xfrm>
            <a:off x="1082961" y="3275384"/>
            <a:ext cx="1972813" cy="306058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>
              <a:spcBef>
                <a:spcPts val="80"/>
              </a:spcBef>
            </a:pPr>
            <a:r>
              <a:rPr sz="1922" b="1" spc="-20" dirty="0">
                <a:latin typeface="Times New Roman"/>
                <a:cs typeface="Times New Roman"/>
              </a:rPr>
              <a:t>Employment</a:t>
            </a:r>
            <a:r>
              <a:rPr sz="1922" b="1" spc="-76" dirty="0">
                <a:latin typeface="Times New Roman"/>
                <a:cs typeface="Times New Roman"/>
              </a:rPr>
              <a:t> </a:t>
            </a:r>
            <a:r>
              <a:rPr sz="1922" b="1" spc="-16" dirty="0">
                <a:latin typeface="Times New Roman"/>
                <a:cs typeface="Times New Roman"/>
              </a:rPr>
              <a:t>Table</a:t>
            </a:r>
            <a:endParaRPr sz="1922" dirty="0">
              <a:latin typeface="Times New Roman"/>
              <a:cs typeface="Times New Roman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70771C26-F5A5-C1D1-821A-895F6A9BD87B}"/>
              </a:ext>
            </a:extLst>
          </p:cNvPr>
          <p:cNvSpPr txBox="1"/>
          <p:nvPr/>
        </p:nvSpPr>
        <p:spPr>
          <a:xfrm>
            <a:off x="1082961" y="3568331"/>
            <a:ext cx="2635503" cy="601844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>
              <a:spcBef>
                <a:spcPts val="80"/>
              </a:spcBef>
              <a:tabLst>
                <a:tab pos="1108177" algn="l"/>
                <a:tab pos="1840520" algn="l"/>
              </a:tabLst>
            </a:pPr>
            <a:r>
              <a:rPr sz="1922" b="1" spc="-8" dirty="0">
                <a:latin typeface="Times New Roman"/>
                <a:cs typeface="Times New Roman"/>
              </a:rPr>
              <a:t>emp_id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-16" dirty="0">
                <a:latin typeface="Times New Roman"/>
                <a:cs typeface="Times New Roman"/>
              </a:rPr>
              <a:t>name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-8" dirty="0">
                <a:latin typeface="Times New Roman"/>
                <a:cs typeface="Times New Roman"/>
              </a:rPr>
              <a:t>dept_id</a:t>
            </a:r>
            <a:endParaRPr sz="1922" dirty="0">
              <a:latin typeface="Times New Roman"/>
              <a:cs typeface="Times New Roman"/>
            </a:endParaRPr>
          </a:p>
          <a:p>
            <a:pPr marL="10171">
              <a:tabLst>
                <a:tab pos="375834" algn="l"/>
                <a:tab pos="1108177" algn="l"/>
              </a:tabLst>
            </a:pPr>
            <a:r>
              <a:rPr lang="en-US" sz="1922" b="1" spc="-40" dirty="0">
                <a:latin typeface="Times New Roman"/>
                <a:cs typeface="Times New Roman"/>
              </a:rPr>
              <a:t>	</a:t>
            </a:r>
            <a:r>
              <a:rPr sz="1922" b="1" spc="-40" dirty="0">
                <a:latin typeface="Times New Roman"/>
                <a:cs typeface="Times New Roman"/>
              </a:rPr>
              <a:t>1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-8" dirty="0">
                <a:latin typeface="Times New Roman"/>
                <a:cs typeface="Times New Roman"/>
              </a:rPr>
              <a:t>Alice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-20" dirty="0">
                <a:latin typeface="Times New Roman"/>
                <a:cs typeface="Times New Roman"/>
              </a:rPr>
              <a:t>10</a:t>
            </a:r>
            <a:endParaRPr sz="1922" dirty="0">
              <a:latin typeface="Times New Roman"/>
              <a:cs typeface="Times New Roman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E0670057-8715-958F-F186-9CABD4987CB9}"/>
              </a:ext>
            </a:extLst>
          </p:cNvPr>
          <p:cNvSpPr txBox="1"/>
          <p:nvPr/>
        </p:nvSpPr>
        <p:spPr>
          <a:xfrm>
            <a:off x="1431092" y="4154224"/>
            <a:ext cx="2109385" cy="306058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>
              <a:spcBef>
                <a:spcPts val="80"/>
              </a:spcBef>
              <a:tabLst>
                <a:tab pos="375834" algn="l"/>
                <a:tab pos="1108177" algn="l"/>
              </a:tabLst>
            </a:pPr>
            <a:r>
              <a:rPr sz="1922" b="1" spc="-40" dirty="0">
                <a:latin typeface="Times New Roman"/>
                <a:cs typeface="Times New Roman"/>
              </a:rPr>
              <a:t>2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lang="en-US" sz="1922" b="1" dirty="0">
                <a:latin typeface="Times New Roman"/>
                <a:cs typeface="Times New Roman"/>
              </a:rPr>
              <a:t>     </a:t>
            </a:r>
            <a:r>
              <a:rPr sz="1922" b="1" spc="-20" dirty="0">
                <a:latin typeface="Times New Roman"/>
                <a:cs typeface="Times New Roman"/>
              </a:rPr>
              <a:t>Bob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lang="en-US" sz="1922" b="1" dirty="0">
                <a:latin typeface="Times New Roman"/>
                <a:cs typeface="Times New Roman"/>
              </a:rPr>
              <a:t>            </a:t>
            </a:r>
            <a:r>
              <a:rPr sz="1922" b="1" spc="-20" dirty="0">
                <a:latin typeface="Times New Roman"/>
                <a:cs typeface="Times New Roman"/>
              </a:rPr>
              <a:t>20</a:t>
            </a:r>
            <a:endParaRPr sz="1922" dirty="0">
              <a:latin typeface="Times New Roman"/>
              <a:cs typeface="Times New Roman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1A6148D8-EC5C-985A-8331-7BC0DD93EB28}"/>
              </a:ext>
            </a:extLst>
          </p:cNvPr>
          <p:cNvSpPr txBox="1"/>
          <p:nvPr/>
        </p:nvSpPr>
        <p:spPr>
          <a:xfrm>
            <a:off x="1461366" y="4447171"/>
            <a:ext cx="2257098" cy="306058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>
              <a:spcBef>
                <a:spcPts val="80"/>
              </a:spcBef>
              <a:tabLst>
                <a:tab pos="375834" algn="l"/>
                <a:tab pos="1108177" algn="l"/>
              </a:tabLst>
            </a:pPr>
            <a:r>
              <a:rPr sz="1922" b="1" spc="-40" dirty="0">
                <a:latin typeface="Times New Roman"/>
                <a:cs typeface="Times New Roman"/>
              </a:rPr>
              <a:t>3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lang="en-US" sz="1922" b="1" dirty="0">
                <a:latin typeface="Times New Roman"/>
                <a:cs typeface="Times New Roman"/>
              </a:rPr>
              <a:t>  </a:t>
            </a:r>
            <a:r>
              <a:rPr sz="1922" b="1" spc="-8" dirty="0">
                <a:latin typeface="Times New Roman"/>
                <a:cs typeface="Times New Roman"/>
              </a:rPr>
              <a:t>Carol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lang="en-US" sz="1922" b="1" dirty="0">
                <a:latin typeface="Times New Roman"/>
                <a:cs typeface="Times New Roman"/>
              </a:rPr>
              <a:t>            </a:t>
            </a:r>
            <a:r>
              <a:rPr sz="1922" b="1" spc="-20" dirty="0">
                <a:latin typeface="Times New Roman"/>
                <a:cs typeface="Times New Roman"/>
              </a:rPr>
              <a:t>30</a:t>
            </a:r>
            <a:endParaRPr sz="1922" dirty="0">
              <a:latin typeface="Times New Roman"/>
              <a:cs typeface="Times New Roman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20F6C079-0A21-6402-3305-782464EE1470}"/>
              </a:ext>
            </a:extLst>
          </p:cNvPr>
          <p:cNvSpPr txBox="1"/>
          <p:nvPr/>
        </p:nvSpPr>
        <p:spPr>
          <a:xfrm>
            <a:off x="5629706" y="3260127"/>
            <a:ext cx="2357305" cy="897630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>
              <a:spcBef>
                <a:spcPts val="80"/>
              </a:spcBef>
            </a:pPr>
            <a:r>
              <a:rPr sz="1922" b="1" spc="-8" dirty="0">
                <a:latin typeface="Times New Roman"/>
                <a:cs typeface="Times New Roman"/>
              </a:rPr>
              <a:t>Department</a:t>
            </a:r>
            <a:r>
              <a:rPr sz="1922" b="1" spc="-84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Table</a:t>
            </a:r>
            <a:endParaRPr sz="1922">
              <a:latin typeface="Times New Roman"/>
              <a:cs typeface="Times New Roman"/>
            </a:endParaRPr>
          </a:p>
          <a:p>
            <a:pPr marL="10171"/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72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dept_id</a:t>
            </a:r>
            <a:r>
              <a:rPr sz="1922" b="1" spc="-68" dirty="0">
                <a:latin typeface="Times New Roman"/>
                <a:cs typeface="Times New Roman"/>
              </a:rPr>
              <a:t> </a:t>
            </a: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72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dept_name</a:t>
            </a:r>
            <a:r>
              <a:rPr sz="1922" b="1" spc="-68" dirty="0">
                <a:latin typeface="Times New Roman"/>
                <a:cs typeface="Times New Roman"/>
              </a:rPr>
              <a:t> </a:t>
            </a:r>
            <a:r>
              <a:rPr sz="1922" b="1" spc="56" dirty="0">
                <a:latin typeface="Times New Roman"/>
                <a:cs typeface="Times New Roman"/>
              </a:rPr>
              <a:t>|</a:t>
            </a:r>
            <a:endParaRPr sz="1922">
              <a:latin typeface="Times New Roman"/>
              <a:cs typeface="Times New Roman"/>
            </a:endParaRPr>
          </a:p>
          <a:p>
            <a:pPr marL="10171"/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16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-------</a:t>
            </a:r>
            <a:r>
              <a:rPr sz="1922" b="1" spc="-12" dirty="0">
                <a:latin typeface="Times New Roman"/>
                <a:cs typeface="Times New Roman"/>
              </a:rPr>
              <a:t> </a:t>
            </a: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12" dirty="0">
                <a:latin typeface="Times New Roman"/>
                <a:cs typeface="Times New Roman"/>
              </a:rPr>
              <a:t> </a:t>
            </a:r>
            <a:r>
              <a:rPr sz="1922" b="1" dirty="0">
                <a:latin typeface="Times New Roman"/>
                <a:cs typeface="Times New Roman"/>
              </a:rPr>
              <a:t>---------</a:t>
            </a:r>
            <a:r>
              <a:rPr sz="1922" b="1" spc="-12" dirty="0">
                <a:latin typeface="Times New Roman"/>
                <a:cs typeface="Times New Roman"/>
              </a:rPr>
              <a:t> </a:t>
            </a:r>
            <a:r>
              <a:rPr sz="1922" b="1" spc="56" dirty="0">
                <a:latin typeface="Times New Roman"/>
                <a:cs typeface="Times New Roman"/>
              </a:rPr>
              <a:t>|</a:t>
            </a:r>
            <a:endParaRPr sz="1922">
              <a:latin typeface="Times New Roman"/>
              <a:cs typeface="Times New Roman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57743B2C-107F-70DA-AA8B-656B3AE9FC11}"/>
              </a:ext>
            </a:extLst>
          </p:cNvPr>
          <p:cNvSpPr txBox="1"/>
          <p:nvPr/>
        </p:nvSpPr>
        <p:spPr>
          <a:xfrm>
            <a:off x="5629706" y="4138967"/>
            <a:ext cx="1662065" cy="601844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>
              <a:spcBef>
                <a:spcPts val="80"/>
              </a:spcBef>
              <a:tabLst>
                <a:tab pos="690640" algn="l"/>
                <a:tab pos="1585217" algn="l"/>
              </a:tabLst>
            </a:pP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28" dirty="0">
                <a:latin typeface="Times New Roman"/>
                <a:cs typeface="Times New Roman"/>
              </a:rPr>
              <a:t>10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HR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56" dirty="0">
                <a:latin typeface="Times New Roman"/>
                <a:cs typeface="Times New Roman"/>
              </a:rPr>
              <a:t>|</a:t>
            </a:r>
            <a:endParaRPr sz="1922">
              <a:latin typeface="Times New Roman"/>
              <a:cs typeface="Times New Roman"/>
            </a:endParaRPr>
          </a:p>
          <a:p>
            <a:pPr marL="10171">
              <a:tabLst>
                <a:tab pos="690640" algn="l"/>
                <a:tab pos="1481977" algn="l"/>
              </a:tabLst>
            </a:pP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28" dirty="0">
                <a:latin typeface="Times New Roman"/>
                <a:cs typeface="Times New Roman"/>
              </a:rPr>
              <a:t>20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IT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56" dirty="0">
                <a:latin typeface="Times New Roman"/>
                <a:cs typeface="Times New Roman"/>
              </a:rPr>
              <a:t>|</a:t>
            </a:r>
            <a:endParaRPr sz="1922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24810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DA56-6741-6D0D-1EA9-F427FDEB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BE795AB-5344-BAC7-EEB9-2885A67A1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58856" y="437995"/>
            <a:ext cx="6256861" cy="614668"/>
          </a:xfrm>
          <a:prstGeom prst="rect">
            <a:avLst/>
          </a:prstGeom>
        </p:spPr>
        <p:txBody>
          <a:bodyPr spcFirstLastPara="1" vert="horz" wrap="square" lIns="0" tIns="10172" rIns="0" bIns="0" rtlCol="0" anchor="t" anchorCtr="0">
            <a:spAutoFit/>
          </a:bodyPr>
          <a:lstStyle/>
          <a:p>
            <a:pPr marL="10171">
              <a:spcBef>
                <a:spcPts val="80"/>
              </a:spcBef>
            </a:pPr>
            <a:r>
              <a:rPr sz="3844" spc="-116" dirty="0"/>
              <a:t>Refresher</a:t>
            </a:r>
            <a:r>
              <a:rPr sz="3844" spc="-216" dirty="0"/>
              <a:t> </a:t>
            </a:r>
            <a:r>
              <a:rPr sz="3844" spc="-44" dirty="0"/>
              <a:t>on</a:t>
            </a:r>
            <a:r>
              <a:rPr sz="3844" spc="-216" dirty="0"/>
              <a:t> </a:t>
            </a:r>
            <a:r>
              <a:rPr sz="3844" spc="-116" dirty="0"/>
              <a:t>Joins</a:t>
            </a:r>
            <a:endParaRPr sz="3844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7604E7A-EB35-152E-98C8-C63C1B532684}"/>
              </a:ext>
            </a:extLst>
          </p:cNvPr>
          <p:cNvSpPr txBox="1"/>
          <p:nvPr/>
        </p:nvSpPr>
        <p:spPr>
          <a:xfrm>
            <a:off x="794103" y="1281642"/>
            <a:ext cx="3123239" cy="1797812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L="10171" marR="4069">
              <a:spcBef>
                <a:spcPts val="80"/>
              </a:spcBef>
            </a:pPr>
            <a:r>
              <a:rPr sz="1922" b="1" spc="-144" dirty="0">
                <a:latin typeface="Times New Roman"/>
                <a:cs typeface="Times New Roman"/>
              </a:rPr>
              <a:t>SELECT</a:t>
            </a:r>
            <a:r>
              <a:rPr sz="1922" b="1" spc="-56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e.name,</a:t>
            </a:r>
            <a:r>
              <a:rPr sz="1922" b="1" spc="-52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d.dept_name </a:t>
            </a:r>
            <a:r>
              <a:rPr sz="1922" b="1" spc="-108" dirty="0">
                <a:latin typeface="Times New Roman"/>
                <a:cs typeface="Times New Roman"/>
              </a:rPr>
              <a:t>FROM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employees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spc="-40" dirty="0">
                <a:latin typeface="Times New Roman"/>
                <a:cs typeface="Times New Roman"/>
              </a:rPr>
              <a:t>e</a:t>
            </a:r>
            <a:endParaRPr sz="1922" dirty="0">
              <a:latin typeface="Times New Roman"/>
              <a:cs typeface="Times New Roman"/>
            </a:endParaRPr>
          </a:p>
          <a:p>
            <a:pPr marL="10171"/>
            <a:r>
              <a:rPr sz="1922" b="1" spc="-96" dirty="0">
                <a:latin typeface="Times New Roman"/>
                <a:cs typeface="Times New Roman"/>
              </a:rPr>
              <a:t>CROSS</a:t>
            </a:r>
            <a:r>
              <a:rPr sz="1922" b="1" spc="-48" dirty="0">
                <a:latin typeface="Times New Roman"/>
                <a:cs typeface="Times New Roman"/>
              </a:rPr>
              <a:t> </a:t>
            </a:r>
            <a:r>
              <a:rPr sz="1922" b="1" spc="-72" dirty="0">
                <a:latin typeface="Times New Roman"/>
                <a:cs typeface="Times New Roman"/>
              </a:rPr>
              <a:t>JOIN</a:t>
            </a:r>
            <a:r>
              <a:rPr sz="1922" b="1" spc="-44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departments</a:t>
            </a:r>
            <a:r>
              <a:rPr sz="1922" b="1" spc="-44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d;</a:t>
            </a:r>
            <a:endParaRPr sz="1922" dirty="0">
              <a:latin typeface="Times New Roman"/>
              <a:cs typeface="Times New Roman"/>
            </a:endParaRPr>
          </a:p>
          <a:p>
            <a:pPr>
              <a:spcBef>
                <a:spcPts val="96"/>
              </a:spcBef>
            </a:pPr>
            <a:endParaRPr sz="1922" dirty="0">
              <a:latin typeface="Times New Roman"/>
              <a:cs typeface="Times New Roman"/>
            </a:endParaRPr>
          </a:p>
          <a:p>
            <a:pPr marL="10171"/>
            <a:r>
              <a:rPr sz="1922" b="1" spc="-8" dirty="0">
                <a:latin typeface="Times New Roman"/>
                <a:cs typeface="Times New Roman"/>
              </a:rPr>
              <a:t>Output</a:t>
            </a:r>
            <a:r>
              <a:rPr sz="1922" b="1" spc="-76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Table</a:t>
            </a:r>
            <a:endParaRPr sz="1922" dirty="0">
              <a:latin typeface="Times New Roman"/>
              <a:cs typeface="Times New Roman"/>
            </a:endParaRPr>
          </a:p>
          <a:p>
            <a:pPr marL="10171">
              <a:tabLst>
                <a:tab pos="798966" algn="l"/>
              </a:tabLst>
            </a:pP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16" dirty="0">
                <a:latin typeface="Times New Roman"/>
                <a:cs typeface="Times New Roman"/>
              </a:rPr>
              <a:t>name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76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dept_name</a:t>
            </a:r>
            <a:r>
              <a:rPr sz="1922" b="1" spc="-72" dirty="0">
                <a:latin typeface="Times New Roman"/>
                <a:cs typeface="Times New Roman"/>
              </a:rPr>
              <a:t> </a:t>
            </a:r>
            <a:r>
              <a:rPr sz="1922" b="1" spc="56" dirty="0">
                <a:latin typeface="Times New Roman"/>
                <a:cs typeface="Times New Roman"/>
              </a:rPr>
              <a:t>|</a:t>
            </a:r>
            <a:endParaRPr sz="1922" dirty="0">
              <a:latin typeface="Times New Roman"/>
              <a:cs typeface="Times New Roman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C3074703-A4AC-13B9-74BE-4CFF6AE5F2CD}"/>
              </a:ext>
            </a:extLst>
          </p:cNvPr>
          <p:cNvSpPr txBox="1"/>
          <p:nvPr/>
        </p:nvSpPr>
        <p:spPr>
          <a:xfrm>
            <a:off x="794103" y="3039322"/>
            <a:ext cx="1726656" cy="2080775"/>
          </a:xfrm>
          <a:prstGeom prst="rect">
            <a:avLst/>
          </a:prstGeom>
        </p:spPr>
        <p:txBody>
          <a:bodyPr vert="horz" wrap="square" lIns="0" tIns="10172" rIns="0" bIns="0" rtlCol="0">
            <a:spAutoFit/>
          </a:bodyPr>
          <a:lstStyle/>
          <a:p>
            <a:pPr marR="131211" algn="r">
              <a:spcBef>
                <a:spcPts val="80"/>
              </a:spcBef>
            </a:pPr>
            <a:r>
              <a:rPr sz="1922" b="1" spc="56" dirty="0">
                <a:latin typeface="Times New Roman"/>
                <a:cs typeface="Times New Roman"/>
              </a:rPr>
              <a:t>|</a:t>
            </a:r>
            <a:endParaRPr sz="1922">
              <a:latin typeface="Times New Roman"/>
              <a:cs typeface="Times New Roman"/>
            </a:endParaRPr>
          </a:p>
          <a:p>
            <a:pPr marR="55434" algn="r">
              <a:tabLst>
                <a:tab pos="1588269" algn="l"/>
              </a:tabLst>
            </a:pP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80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Alice</a:t>
            </a:r>
            <a:r>
              <a:rPr sz="1922" b="1" spc="-76" dirty="0">
                <a:latin typeface="Times New Roman"/>
                <a:cs typeface="Times New Roman"/>
              </a:rPr>
              <a:t> </a:t>
            </a: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80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HR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56" dirty="0">
                <a:latin typeface="Times New Roman"/>
                <a:cs typeface="Times New Roman"/>
              </a:rPr>
              <a:t>|</a:t>
            </a:r>
            <a:endParaRPr sz="1922">
              <a:latin typeface="Times New Roman"/>
              <a:cs typeface="Times New Roman"/>
            </a:endParaRPr>
          </a:p>
          <a:p>
            <a:pPr marL="10171">
              <a:tabLst>
                <a:tab pos="1495200" algn="l"/>
              </a:tabLst>
            </a:pP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80" dirty="0">
                <a:latin typeface="Times New Roman"/>
                <a:cs typeface="Times New Roman"/>
              </a:rPr>
              <a:t> </a:t>
            </a:r>
            <a:r>
              <a:rPr sz="1922" b="1" spc="-8" dirty="0">
                <a:latin typeface="Times New Roman"/>
                <a:cs typeface="Times New Roman"/>
              </a:rPr>
              <a:t>Alice</a:t>
            </a:r>
            <a:r>
              <a:rPr sz="1922" b="1" spc="-76" dirty="0">
                <a:latin typeface="Times New Roman"/>
                <a:cs typeface="Times New Roman"/>
              </a:rPr>
              <a:t> </a:t>
            </a: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80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IT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56" dirty="0">
                <a:latin typeface="Times New Roman"/>
                <a:cs typeface="Times New Roman"/>
              </a:rPr>
              <a:t>|</a:t>
            </a:r>
            <a:endParaRPr sz="1922">
              <a:latin typeface="Times New Roman"/>
              <a:cs typeface="Times New Roman"/>
            </a:endParaRPr>
          </a:p>
          <a:p>
            <a:pPr marL="10171">
              <a:tabLst>
                <a:tab pos="701829" algn="l"/>
                <a:tab pos="1596405" algn="l"/>
              </a:tabLst>
            </a:pP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Bob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HR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56" dirty="0">
                <a:latin typeface="Times New Roman"/>
                <a:cs typeface="Times New Roman"/>
              </a:rPr>
              <a:t>|</a:t>
            </a:r>
            <a:endParaRPr sz="1922">
              <a:latin typeface="Times New Roman"/>
              <a:cs typeface="Times New Roman"/>
            </a:endParaRPr>
          </a:p>
          <a:p>
            <a:pPr marL="10171">
              <a:tabLst>
                <a:tab pos="701829" algn="l"/>
                <a:tab pos="1493166" algn="l"/>
              </a:tabLst>
            </a:pP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Bob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4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IT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56" dirty="0">
                <a:latin typeface="Times New Roman"/>
                <a:cs typeface="Times New Roman"/>
              </a:rPr>
              <a:t>|</a:t>
            </a:r>
            <a:endParaRPr sz="1922">
              <a:latin typeface="Times New Roman"/>
              <a:cs typeface="Times New Roman"/>
            </a:endParaRPr>
          </a:p>
          <a:p>
            <a:pPr marL="10171">
              <a:tabLst>
                <a:tab pos="1649805" algn="l"/>
              </a:tabLst>
            </a:pP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spc="-40" dirty="0">
                <a:latin typeface="Times New Roman"/>
                <a:cs typeface="Times New Roman"/>
              </a:rPr>
              <a:t>Carol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HR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56" dirty="0">
                <a:latin typeface="Times New Roman"/>
                <a:cs typeface="Times New Roman"/>
              </a:rPr>
              <a:t>|</a:t>
            </a:r>
            <a:endParaRPr sz="1922">
              <a:latin typeface="Times New Roman"/>
              <a:cs typeface="Times New Roman"/>
            </a:endParaRPr>
          </a:p>
          <a:p>
            <a:pPr marL="10171">
              <a:tabLst>
                <a:tab pos="1546566" algn="l"/>
              </a:tabLst>
            </a:pP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spc="-40" dirty="0">
                <a:latin typeface="Times New Roman"/>
                <a:cs typeface="Times New Roman"/>
              </a:rPr>
              <a:t>Carol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spc="96" dirty="0">
                <a:latin typeface="Times New Roman"/>
                <a:cs typeface="Times New Roman"/>
              </a:rPr>
              <a:t>|</a:t>
            </a:r>
            <a:r>
              <a:rPr sz="1922" b="1" spc="-60" dirty="0">
                <a:latin typeface="Times New Roman"/>
                <a:cs typeface="Times New Roman"/>
              </a:rPr>
              <a:t> </a:t>
            </a:r>
            <a:r>
              <a:rPr sz="1922" b="1" spc="-20" dirty="0">
                <a:latin typeface="Times New Roman"/>
                <a:cs typeface="Times New Roman"/>
              </a:rPr>
              <a:t>IT</a:t>
            </a:r>
            <a:r>
              <a:rPr sz="1922" b="1" dirty="0">
                <a:latin typeface="Times New Roman"/>
                <a:cs typeface="Times New Roman"/>
              </a:rPr>
              <a:t>	</a:t>
            </a:r>
            <a:r>
              <a:rPr sz="1922" b="1" spc="56" dirty="0">
                <a:latin typeface="Times New Roman"/>
                <a:cs typeface="Times New Roman"/>
              </a:rPr>
              <a:t>|</a:t>
            </a:r>
            <a:endParaRPr sz="1922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24365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57F0A-9C39-4647-64EB-BDBECD32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51D2AFE-CA17-0C56-D4DA-6D6F728A8D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6577" y="648668"/>
            <a:ext cx="7963379" cy="1245023"/>
          </a:xfrm>
          <a:prstGeom prst="rect">
            <a:avLst/>
          </a:prstGeom>
        </p:spPr>
        <p:txBody>
          <a:bodyPr spcFirstLastPara="1" vert="horz" wrap="square" lIns="73237" tIns="36618" rIns="73237" bIns="36618" rtlCol="0" anchor="ctr" anchorCtr="0">
            <a:normAutofit/>
          </a:bodyPr>
          <a:lstStyle/>
          <a:p>
            <a:pPr marL="10171"/>
            <a:r>
              <a:rPr lang="en-US" sz="3844" kern="1200" spc="-1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Refresher</a:t>
            </a:r>
            <a:r>
              <a:rPr lang="en-US" sz="3844" kern="1200" spc="-2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44" kern="1200" spc="-44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r>
              <a:rPr lang="en-US" sz="3844" kern="1200" spc="-2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44" kern="1200" spc="-116">
                <a:solidFill>
                  <a:schemeClr val="tx1"/>
                </a:solidFill>
                <a:latin typeface="+mj-lt"/>
                <a:ea typeface="+mj-ea"/>
                <a:cs typeface="+mj-cs"/>
              </a:rPr>
              <a:t>Joins</a:t>
            </a:r>
            <a:endParaRPr lang="en-US" sz="3844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0F4510DA-9F3A-9D82-33A9-13964F9342B5}"/>
              </a:ext>
            </a:extLst>
          </p:cNvPr>
          <p:cNvSpPr txBox="1"/>
          <p:nvPr/>
        </p:nvSpPr>
        <p:spPr>
          <a:xfrm>
            <a:off x="837696" y="2416811"/>
            <a:ext cx="7962260" cy="2502620"/>
          </a:xfrm>
          <a:prstGeom prst="rect">
            <a:avLst/>
          </a:prstGeom>
        </p:spPr>
        <p:txBody>
          <a:bodyPr vert="horz" lIns="73237" tIns="36618" rIns="73237" bIns="36618" rtlCol="0" anchor="ctr">
            <a:normAutofit/>
          </a:bodyPr>
          <a:lstStyle/>
          <a:p>
            <a:pPr marL="10171" indent="-183086">
              <a:lnSpc>
                <a:spcPct val="90000"/>
              </a:lnSpc>
              <a:spcBef>
                <a:spcPts val="80"/>
              </a:spcBef>
              <a:buFont typeface="Arial" panose="020B0604020202020204" pitchFamily="34" charset="0"/>
              <a:buChar char="•"/>
            </a:pPr>
            <a:r>
              <a:rPr lang="en-US" sz="1922" spc="-8"/>
              <a:t>Explanation</a:t>
            </a:r>
            <a:endParaRPr lang="en-US" sz="1922"/>
          </a:p>
          <a:p>
            <a:pPr marL="274629" indent="-183086">
              <a:lnSpc>
                <a:spcPct val="90000"/>
              </a:lnSpc>
              <a:spcBef>
                <a:spcPts val="96"/>
              </a:spcBef>
              <a:buFont typeface="Arial" panose="020B0604020202020204" pitchFamily="34" charset="0"/>
              <a:buChar char="•"/>
            </a:pPr>
            <a:endParaRPr lang="en-US" sz="1922"/>
          </a:p>
          <a:p>
            <a:pPr marL="284800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22" spc="-36"/>
              <a:t>There</a:t>
            </a:r>
            <a:r>
              <a:rPr lang="en-US" sz="1922" spc="-52"/>
              <a:t> </a:t>
            </a:r>
            <a:r>
              <a:rPr lang="en-US" sz="1922"/>
              <a:t>is</a:t>
            </a:r>
            <a:r>
              <a:rPr lang="en-US" sz="1922" spc="-48"/>
              <a:t> </a:t>
            </a:r>
            <a:r>
              <a:rPr lang="en-US" sz="1922"/>
              <a:t>no</a:t>
            </a:r>
            <a:r>
              <a:rPr lang="en-US" sz="1922" spc="-52"/>
              <a:t> </a:t>
            </a:r>
            <a:r>
              <a:rPr lang="en-US" sz="1922"/>
              <a:t>join</a:t>
            </a:r>
            <a:r>
              <a:rPr lang="en-US" sz="1922" spc="-48"/>
              <a:t> </a:t>
            </a:r>
            <a:r>
              <a:rPr lang="en-US" sz="1922" spc="-8"/>
              <a:t>condition.</a:t>
            </a:r>
            <a:endParaRPr lang="en-US" sz="1922"/>
          </a:p>
          <a:p>
            <a:pPr marL="284800" marR="4069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22" spc="-84"/>
              <a:t>Every</a:t>
            </a:r>
            <a:r>
              <a:rPr lang="en-US" sz="1922" spc="-64"/>
              <a:t> </a:t>
            </a:r>
            <a:r>
              <a:rPr lang="en-US" sz="1922" spc="-8"/>
              <a:t>employee</a:t>
            </a:r>
            <a:r>
              <a:rPr lang="en-US" sz="1922" spc="-76"/>
              <a:t> </a:t>
            </a:r>
            <a:r>
              <a:rPr lang="en-US" sz="1922"/>
              <a:t>is</a:t>
            </a:r>
            <a:r>
              <a:rPr lang="en-US" sz="1922" spc="-64"/>
              <a:t> </a:t>
            </a:r>
            <a:r>
              <a:rPr lang="en-US" sz="1922" spc="-24"/>
              <a:t>paired</a:t>
            </a:r>
            <a:r>
              <a:rPr lang="en-US" sz="1922" spc="-68"/>
              <a:t> </a:t>
            </a:r>
            <a:r>
              <a:rPr lang="en-US" sz="1922" spc="-8"/>
              <a:t>with</a:t>
            </a:r>
            <a:r>
              <a:rPr lang="en-US" sz="1922" spc="-68"/>
              <a:t> </a:t>
            </a:r>
            <a:r>
              <a:rPr lang="en-US" sz="1922" spc="-56"/>
              <a:t>every</a:t>
            </a:r>
            <a:r>
              <a:rPr lang="en-US" sz="1922" spc="-64"/>
              <a:t> </a:t>
            </a:r>
            <a:r>
              <a:rPr lang="en-US" sz="1922" spc="-8"/>
              <a:t>department. </a:t>
            </a:r>
            <a:r>
              <a:rPr lang="en-US" sz="1922"/>
              <a:t>Often</a:t>
            </a:r>
            <a:r>
              <a:rPr lang="en-US" sz="1922" spc="-112"/>
              <a:t> </a:t>
            </a:r>
            <a:r>
              <a:rPr lang="en-US" sz="1922" spc="-8"/>
              <a:t>used</a:t>
            </a:r>
            <a:r>
              <a:rPr lang="en-US" sz="1922" spc="-108"/>
              <a:t> </a:t>
            </a:r>
            <a:r>
              <a:rPr lang="en-US" sz="1922" spc="-20"/>
              <a:t>to:</a:t>
            </a:r>
            <a:endParaRPr lang="en-US" sz="1922"/>
          </a:p>
          <a:p>
            <a:pPr marL="274629" indent="-183086">
              <a:lnSpc>
                <a:spcPct val="90000"/>
              </a:lnSpc>
              <a:spcBef>
                <a:spcPts val="96"/>
              </a:spcBef>
              <a:buFont typeface="Arial" panose="020B0604020202020204" pitchFamily="34" charset="0"/>
              <a:buChar char="•"/>
            </a:pPr>
            <a:endParaRPr lang="en-US" sz="1922"/>
          </a:p>
          <a:p>
            <a:pPr marL="284800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22" spc="-36"/>
              <a:t>Generate</a:t>
            </a:r>
            <a:r>
              <a:rPr lang="en-US" sz="1922" spc="-84"/>
              <a:t> </a:t>
            </a:r>
            <a:r>
              <a:rPr lang="en-US" sz="1922"/>
              <a:t>test</a:t>
            </a:r>
            <a:r>
              <a:rPr lang="en-US" sz="1922" spc="-88"/>
              <a:t> </a:t>
            </a:r>
            <a:r>
              <a:rPr lang="en-US" sz="1922" spc="-16"/>
              <a:t>data</a:t>
            </a:r>
            <a:endParaRPr lang="en-US" sz="1922"/>
          </a:p>
          <a:p>
            <a:pPr marL="284800" marR="303109" indent="-183086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22" spc="-16"/>
              <a:t>Produce</a:t>
            </a:r>
            <a:r>
              <a:rPr lang="en-US" sz="1922" spc="-76"/>
              <a:t> </a:t>
            </a:r>
            <a:r>
              <a:rPr lang="en-US" sz="1922" spc="-8"/>
              <a:t>all</a:t>
            </a:r>
            <a:r>
              <a:rPr lang="en-US" sz="1922" spc="-72"/>
              <a:t> </a:t>
            </a:r>
            <a:r>
              <a:rPr lang="en-US" sz="1922"/>
              <a:t>combinations</a:t>
            </a:r>
            <a:r>
              <a:rPr lang="en-US" sz="1922" spc="-72"/>
              <a:t> </a:t>
            </a:r>
            <a:r>
              <a:rPr lang="en-US" sz="1922"/>
              <a:t>(e.g.,</a:t>
            </a:r>
            <a:r>
              <a:rPr lang="en-US" sz="1922" spc="-72"/>
              <a:t> </a:t>
            </a:r>
            <a:r>
              <a:rPr lang="en-US" sz="1922"/>
              <a:t>sizes</a:t>
            </a:r>
            <a:r>
              <a:rPr lang="en-US" sz="1922" spc="-72"/>
              <a:t> </a:t>
            </a:r>
            <a:r>
              <a:rPr lang="en-US" sz="1922"/>
              <a:t>×</a:t>
            </a:r>
            <a:r>
              <a:rPr lang="en-US" sz="1922" spc="-72"/>
              <a:t> </a:t>
            </a:r>
            <a:r>
              <a:rPr lang="en-US" sz="1922" spc="-8"/>
              <a:t>colors) </a:t>
            </a:r>
            <a:r>
              <a:rPr lang="en-US" sz="1922"/>
              <a:t>Build</a:t>
            </a:r>
            <a:r>
              <a:rPr lang="en-US" sz="1922" spc="-96"/>
              <a:t> </a:t>
            </a:r>
            <a:r>
              <a:rPr lang="en-US" sz="1922" spc="-16"/>
              <a:t>matrices</a:t>
            </a:r>
            <a:r>
              <a:rPr lang="en-US" sz="1922" spc="-96"/>
              <a:t> </a:t>
            </a:r>
            <a:r>
              <a:rPr lang="en-US" sz="1922"/>
              <a:t>or</a:t>
            </a:r>
            <a:r>
              <a:rPr lang="en-US" sz="1922" spc="-96"/>
              <a:t> </a:t>
            </a:r>
            <a:r>
              <a:rPr lang="en-US" sz="1922" spc="-8"/>
              <a:t>pivot-</a:t>
            </a:r>
            <a:r>
              <a:rPr lang="en-US" sz="1922"/>
              <a:t>like</a:t>
            </a:r>
            <a:r>
              <a:rPr lang="en-US" sz="1922" spc="-91"/>
              <a:t> </a:t>
            </a:r>
            <a:r>
              <a:rPr lang="en-US" sz="1922" spc="-8"/>
              <a:t>structures</a:t>
            </a:r>
            <a:endParaRPr lang="en-US" sz="1922"/>
          </a:p>
        </p:txBody>
      </p:sp>
    </p:spTree>
    <p:extLst>
      <p:ext uri="{BB962C8B-B14F-4D97-AF65-F5344CB8AC3E}">
        <p14:creationId xmlns:p14="http://schemas.microsoft.com/office/powerpoint/2010/main" val="12567522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3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85" name="Google Shape;585;p33" descr="$PPTXTitle"/>
          <p:cNvSpPr txBox="1">
            <a:spLocks noGrp="1"/>
          </p:cNvSpPr>
          <p:nvPr>
            <p:ph type="title"/>
          </p:nvPr>
        </p:nvSpPr>
        <p:spPr>
          <a:xfrm>
            <a:off x="673874" y="439420"/>
            <a:ext cx="2884439" cy="435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9789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Structured Streaming Data Sink</a:t>
            </a:r>
            <a:endParaRPr/>
          </a:p>
        </p:txBody>
      </p:sp>
      <p:sp>
        <p:nvSpPr>
          <p:cNvPr id="586" name="Google Shape;586;p33"/>
          <p:cNvSpPr/>
          <p:nvPr/>
        </p:nvSpPr>
        <p:spPr>
          <a:xfrm rot="5400000">
            <a:off x="2038096" y="2609988"/>
            <a:ext cx="3588597" cy="14649"/>
          </a:xfrm>
          <a:custGeom>
            <a:avLst/>
            <a:gdLst/>
            <a:ahLst/>
            <a:cxnLst/>
            <a:rect l="l" t="t" r="r" b="b"/>
            <a:pathLst>
              <a:path w="3588597" h="14649" fill="none" extrusionOk="0">
                <a:moveTo>
                  <a:pt x="0" y="0"/>
                </a:moveTo>
                <a:cubicBezTo>
                  <a:pt x="328700" y="-22847"/>
                  <a:pt x="338440" y="24396"/>
                  <a:pt x="669871" y="0"/>
                </a:cubicBezTo>
                <a:cubicBezTo>
                  <a:pt x="1001302" y="-24396"/>
                  <a:pt x="1163728" y="4417"/>
                  <a:pt x="1303857" y="0"/>
                </a:cubicBezTo>
                <a:cubicBezTo>
                  <a:pt x="1443986" y="-4417"/>
                  <a:pt x="1798706" y="6703"/>
                  <a:pt x="1937842" y="0"/>
                </a:cubicBezTo>
                <a:cubicBezTo>
                  <a:pt x="2076978" y="-6703"/>
                  <a:pt x="2242437" y="-22230"/>
                  <a:pt x="2428284" y="0"/>
                </a:cubicBezTo>
                <a:cubicBezTo>
                  <a:pt x="2614131" y="22230"/>
                  <a:pt x="2745211" y="-6083"/>
                  <a:pt x="2954612" y="0"/>
                </a:cubicBezTo>
                <a:cubicBezTo>
                  <a:pt x="3164013" y="6083"/>
                  <a:pt x="3364364" y="-14666"/>
                  <a:pt x="3588597" y="0"/>
                </a:cubicBezTo>
                <a:cubicBezTo>
                  <a:pt x="3587988" y="5147"/>
                  <a:pt x="3588297" y="9928"/>
                  <a:pt x="3588597" y="14649"/>
                </a:cubicBezTo>
                <a:cubicBezTo>
                  <a:pt x="3312515" y="-3493"/>
                  <a:pt x="3251903" y="41358"/>
                  <a:pt x="2990498" y="14649"/>
                </a:cubicBezTo>
                <a:cubicBezTo>
                  <a:pt x="2729093" y="-12060"/>
                  <a:pt x="2679031" y="-7349"/>
                  <a:pt x="2500056" y="14649"/>
                </a:cubicBezTo>
                <a:cubicBezTo>
                  <a:pt x="2321081" y="36647"/>
                  <a:pt x="2185842" y="7015"/>
                  <a:pt x="2009614" y="14649"/>
                </a:cubicBezTo>
                <a:cubicBezTo>
                  <a:pt x="1833386" y="22283"/>
                  <a:pt x="1506945" y="-12638"/>
                  <a:pt x="1375629" y="14649"/>
                </a:cubicBezTo>
                <a:cubicBezTo>
                  <a:pt x="1244313" y="41936"/>
                  <a:pt x="989343" y="35958"/>
                  <a:pt x="849301" y="14649"/>
                </a:cubicBezTo>
                <a:cubicBezTo>
                  <a:pt x="709259" y="-6660"/>
                  <a:pt x="411375" y="37926"/>
                  <a:pt x="0" y="14649"/>
                </a:cubicBezTo>
                <a:cubicBezTo>
                  <a:pt x="497" y="9816"/>
                  <a:pt x="-574" y="7010"/>
                  <a:pt x="0" y="0"/>
                </a:cubicBezTo>
                <a:close/>
              </a:path>
              <a:path w="3588597" h="14649" extrusionOk="0">
                <a:moveTo>
                  <a:pt x="0" y="0"/>
                </a:moveTo>
                <a:cubicBezTo>
                  <a:pt x="244603" y="-6629"/>
                  <a:pt x="284525" y="-16713"/>
                  <a:pt x="562214" y="0"/>
                </a:cubicBezTo>
                <a:cubicBezTo>
                  <a:pt x="839903" y="16713"/>
                  <a:pt x="933169" y="-18574"/>
                  <a:pt x="1052655" y="0"/>
                </a:cubicBezTo>
                <a:cubicBezTo>
                  <a:pt x="1172141" y="18574"/>
                  <a:pt x="1571829" y="15631"/>
                  <a:pt x="1722527" y="0"/>
                </a:cubicBezTo>
                <a:cubicBezTo>
                  <a:pt x="1873225" y="-15631"/>
                  <a:pt x="2011006" y="-20345"/>
                  <a:pt x="2284740" y="0"/>
                </a:cubicBezTo>
                <a:cubicBezTo>
                  <a:pt x="2558474" y="20345"/>
                  <a:pt x="2675581" y="24529"/>
                  <a:pt x="2846954" y="0"/>
                </a:cubicBezTo>
                <a:cubicBezTo>
                  <a:pt x="3018327" y="-24529"/>
                  <a:pt x="3348632" y="30695"/>
                  <a:pt x="3588597" y="0"/>
                </a:cubicBezTo>
                <a:cubicBezTo>
                  <a:pt x="3588741" y="6330"/>
                  <a:pt x="3588710" y="7518"/>
                  <a:pt x="3588597" y="14649"/>
                </a:cubicBezTo>
                <a:cubicBezTo>
                  <a:pt x="3308907" y="17759"/>
                  <a:pt x="3199386" y="-856"/>
                  <a:pt x="2990498" y="14649"/>
                </a:cubicBezTo>
                <a:cubicBezTo>
                  <a:pt x="2781610" y="30154"/>
                  <a:pt x="2628290" y="-8784"/>
                  <a:pt x="2500056" y="14649"/>
                </a:cubicBezTo>
                <a:cubicBezTo>
                  <a:pt x="2371822" y="38082"/>
                  <a:pt x="2140154" y="26466"/>
                  <a:pt x="1901956" y="14649"/>
                </a:cubicBezTo>
                <a:cubicBezTo>
                  <a:pt x="1663758" y="2832"/>
                  <a:pt x="1513781" y="43856"/>
                  <a:pt x="1303857" y="14649"/>
                </a:cubicBezTo>
                <a:cubicBezTo>
                  <a:pt x="1093933" y="-14558"/>
                  <a:pt x="911688" y="1413"/>
                  <a:pt x="741643" y="14649"/>
                </a:cubicBezTo>
                <a:cubicBezTo>
                  <a:pt x="571598" y="27885"/>
                  <a:pt x="272334" y="49252"/>
                  <a:pt x="0" y="14649"/>
                </a:cubicBezTo>
                <a:cubicBezTo>
                  <a:pt x="-593" y="7789"/>
                  <a:pt x="-557" y="315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87" name="Google Shape;587;p33"/>
          <p:cNvSpPr txBox="1"/>
          <p:nvPr/>
        </p:nvSpPr>
        <p:spPr>
          <a:xfrm>
            <a:off x="4106474" y="442183"/>
            <a:ext cx="4985952" cy="435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92239" marR="887457" lvl="0" indent="-19223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data item arriving on a stream is treated like a new record 	appended to a table, referred to as the </a:t>
            </a: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 from a Structured Streaming operation is referred to as the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3257" lvl="0" indent="-193257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marR="466360" lvl="0" indent="-19223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from Structured Streaming operations is written out by the 	DataFrameWriter object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marR="204446" lvl="0" indent="-19223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sinks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Spark’s Structured Streaming define where the Result 	Table is written 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412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Sink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412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Console Sink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412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Sink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4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93" name="Google Shape;593;p34" descr="$PPTXTitle"/>
          <p:cNvSpPr txBox="1">
            <a:spLocks noGrp="1"/>
          </p:cNvSpPr>
          <p:nvPr>
            <p:ph type="title"/>
          </p:nvPr>
        </p:nvSpPr>
        <p:spPr>
          <a:xfrm>
            <a:off x="508661" y="513251"/>
            <a:ext cx="2738488" cy="44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98292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Modes</a:t>
            </a:r>
            <a:endParaRPr/>
          </a:p>
        </p:txBody>
      </p:sp>
      <p:sp>
        <p:nvSpPr>
          <p:cNvPr id="594" name="Google Shape;594;p34"/>
          <p:cNvSpPr/>
          <p:nvPr/>
        </p:nvSpPr>
        <p:spPr>
          <a:xfrm rot="5400000">
            <a:off x="1303968" y="2773380"/>
            <a:ext cx="4333169" cy="14649"/>
          </a:xfrm>
          <a:custGeom>
            <a:avLst/>
            <a:gdLst/>
            <a:ahLst/>
            <a:cxnLst/>
            <a:rect l="l" t="t" r="r" b="b"/>
            <a:pathLst>
              <a:path w="4333169" h="14649" fill="none" extrusionOk="0">
                <a:moveTo>
                  <a:pt x="0" y="0"/>
                </a:moveTo>
                <a:cubicBezTo>
                  <a:pt x="128856" y="25070"/>
                  <a:pt x="312355" y="10957"/>
                  <a:pt x="575692" y="0"/>
                </a:cubicBezTo>
                <a:cubicBezTo>
                  <a:pt x="839029" y="-10957"/>
                  <a:pt x="949620" y="5271"/>
                  <a:pt x="1064722" y="0"/>
                </a:cubicBezTo>
                <a:cubicBezTo>
                  <a:pt x="1179824" y="-5271"/>
                  <a:pt x="1419897" y="20275"/>
                  <a:pt x="1597082" y="0"/>
                </a:cubicBezTo>
                <a:cubicBezTo>
                  <a:pt x="1774267" y="-20275"/>
                  <a:pt x="1944129" y="-4123"/>
                  <a:pt x="2259438" y="0"/>
                </a:cubicBezTo>
                <a:cubicBezTo>
                  <a:pt x="2574747" y="4123"/>
                  <a:pt x="2624192" y="-8245"/>
                  <a:pt x="2835131" y="0"/>
                </a:cubicBezTo>
                <a:cubicBezTo>
                  <a:pt x="3046070" y="8245"/>
                  <a:pt x="3160630" y="-13045"/>
                  <a:pt x="3367491" y="0"/>
                </a:cubicBezTo>
                <a:cubicBezTo>
                  <a:pt x="3574352" y="13045"/>
                  <a:pt x="3897652" y="-47148"/>
                  <a:pt x="4333169" y="0"/>
                </a:cubicBezTo>
                <a:cubicBezTo>
                  <a:pt x="4332686" y="6699"/>
                  <a:pt x="4333526" y="10253"/>
                  <a:pt x="4333169" y="14649"/>
                </a:cubicBezTo>
                <a:cubicBezTo>
                  <a:pt x="4043558" y="-587"/>
                  <a:pt x="4016013" y="1129"/>
                  <a:pt x="3714145" y="14649"/>
                </a:cubicBezTo>
                <a:cubicBezTo>
                  <a:pt x="3412277" y="28169"/>
                  <a:pt x="3309093" y="37708"/>
                  <a:pt x="3181784" y="14649"/>
                </a:cubicBezTo>
                <a:cubicBezTo>
                  <a:pt x="3054475" y="-8410"/>
                  <a:pt x="2656796" y="18063"/>
                  <a:pt x="2476097" y="14649"/>
                </a:cubicBezTo>
                <a:cubicBezTo>
                  <a:pt x="2295398" y="11235"/>
                  <a:pt x="2146215" y="16821"/>
                  <a:pt x="1900404" y="14649"/>
                </a:cubicBezTo>
                <a:cubicBezTo>
                  <a:pt x="1654593" y="12477"/>
                  <a:pt x="1518560" y="17650"/>
                  <a:pt x="1411375" y="14649"/>
                </a:cubicBezTo>
                <a:cubicBezTo>
                  <a:pt x="1304190" y="11648"/>
                  <a:pt x="966788" y="-133"/>
                  <a:pt x="749019" y="14649"/>
                </a:cubicBezTo>
                <a:cubicBezTo>
                  <a:pt x="531250" y="29431"/>
                  <a:pt x="190094" y="26725"/>
                  <a:pt x="0" y="14649"/>
                </a:cubicBezTo>
                <a:cubicBezTo>
                  <a:pt x="-720" y="8053"/>
                  <a:pt x="-449" y="6550"/>
                  <a:pt x="0" y="0"/>
                </a:cubicBezTo>
                <a:close/>
              </a:path>
              <a:path w="4333169" h="14649" extrusionOk="0">
                <a:moveTo>
                  <a:pt x="0" y="0"/>
                </a:moveTo>
                <a:cubicBezTo>
                  <a:pt x="216857" y="2793"/>
                  <a:pt x="354276" y="9102"/>
                  <a:pt x="575692" y="0"/>
                </a:cubicBezTo>
                <a:cubicBezTo>
                  <a:pt x="797108" y="-9102"/>
                  <a:pt x="911680" y="-20178"/>
                  <a:pt x="1064722" y="0"/>
                </a:cubicBezTo>
                <a:cubicBezTo>
                  <a:pt x="1217764" y="20178"/>
                  <a:pt x="1490632" y="6117"/>
                  <a:pt x="1770409" y="0"/>
                </a:cubicBezTo>
                <a:cubicBezTo>
                  <a:pt x="2050186" y="-6117"/>
                  <a:pt x="2184880" y="10708"/>
                  <a:pt x="2346102" y="0"/>
                </a:cubicBezTo>
                <a:cubicBezTo>
                  <a:pt x="2507324" y="-10708"/>
                  <a:pt x="2785516" y="-9914"/>
                  <a:pt x="2921794" y="0"/>
                </a:cubicBezTo>
                <a:cubicBezTo>
                  <a:pt x="3058072" y="9914"/>
                  <a:pt x="3439096" y="-22613"/>
                  <a:pt x="3627481" y="0"/>
                </a:cubicBezTo>
                <a:cubicBezTo>
                  <a:pt x="3815866" y="22613"/>
                  <a:pt x="4146942" y="-20150"/>
                  <a:pt x="4333169" y="0"/>
                </a:cubicBezTo>
                <a:cubicBezTo>
                  <a:pt x="4332981" y="4765"/>
                  <a:pt x="4333012" y="10228"/>
                  <a:pt x="4333169" y="14649"/>
                </a:cubicBezTo>
                <a:cubicBezTo>
                  <a:pt x="4105784" y="-5264"/>
                  <a:pt x="3992784" y="2480"/>
                  <a:pt x="3800808" y="14649"/>
                </a:cubicBezTo>
                <a:cubicBezTo>
                  <a:pt x="3608832" y="26818"/>
                  <a:pt x="3465267" y="-13713"/>
                  <a:pt x="3181784" y="14649"/>
                </a:cubicBezTo>
                <a:cubicBezTo>
                  <a:pt x="2898301" y="43011"/>
                  <a:pt x="2815705" y="-6224"/>
                  <a:pt x="2562760" y="14649"/>
                </a:cubicBezTo>
                <a:cubicBezTo>
                  <a:pt x="2309815" y="35522"/>
                  <a:pt x="2140147" y="-12705"/>
                  <a:pt x="1987067" y="14649"/>
                </a:cubicBezTo>
                <a:cubicBezTo>
                  <a:pt x="1833987" y="42003"/>
                  <a:pt x="1494374" y="41344"/>
                  <a:pt x="1281380" y="14649"/>
                </a:cubicBezTo>
                <a:cubicBezTo>
                  <a:pt x="1068386" y="-12046"/>
                  <a:pt x="927980" y="-11496"/>
                  <a:pt x="575692" y="14649"/>
                </a:cubicBezTo>
                <a:cubicBezTo>
                  <a:pt x="223404" y="40794"/>
                  <a:pt x="133524" y="37957"/>
                  <a:pt x="0" y="14649"/>
                </a:cubicBezTo>
                <a:cubicBezTo>
                  <a:pt x="698" y="10822"/>
                  <a:pt x="-168" y="58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grpSp>
        <p:nvGrpSpPr>
          <p:cNvPr id="595" name="Google Shape;595;p34"/>
          <p:cNvGrpSpPr/>
          <p:nvPr/>
        </p:nvGrpSpPr>
        <p:grpSpPr>
          <a:xfrm>
            <a:off x="3723256" y="577559"/>
            <a:ext cx="5527597" cy="4305419"/>
            <a:chOff x="0" y="64309"/>
            <a:chExt cx="5527597" cy="4305419"/>
          </a:xfrm>
        </p:grpSpPr>
        <p:sp>
          <p:nvSpPr>
            <p:cNvPr id="596" name="Google Shape;596;p34"/>
            <p:cNvSpPr/>
            <p:nvPr/>
          </p:nvSpPr>
          <p:spPr>
            <a:xfrm>
              <a:off x="0" y="374269"/>
              <a:ext cx="5527597" cy="529200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rgbClr val="BF50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4"/>
            <p:cNvSpPr/>
            <p:nvPr/>
          </p:nvSpPr>
          <p:spPr>
            <a:xfrm>
              <a:off x="276379" y="64309"/>
              <a:ext cx="3869317" cy="619920"/>
            </a:xfrm>
            <a:prstGeom prst="roundRect">
              <a:avLst>
                <a:gd name="adj" fmla="val 16667"/>
              </a:avLst>
            </a:prstGeom>
            <a:solidFill>
              <a:srgbClr val="BF504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4"/>
            <p:cNvSpPr txBox="1"/>
            <p:nvPr/>
          </p:nvSpPr>
          <p:spPr>
            <a:xfrm>
              <a:off x="306641" y="94571"/>
              <a:ext cx="3808793" cy="5593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50" tIns="0" rIns="146250" bIns="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lang="en-US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Where: output sinks</a:t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0" y="1326829"/>
              <a:ext cx="5527597" cy="3042899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4"/>
            <p:cNvSpPr txBox="1"/>
            <p:nvPr/>
          </p:nvSpPr>
          <p:spPr>
            <a:xfrm>
              <a:off x="0" y="1326829"/>
              <a:ext cx="5527597" cy="30428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9000" tIns="437375" rIns="429000" bIns="149350" anchor="t" anchorCtr="0">
              <a:noAutofit/>
            </a:bodyPr>
            <a:lstStyle/>
            <a:p>
              <a:pPr marL="22860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2100"/>
                <a:buFont typeface="Arial"/>
                <a:buChar char="•"/>
              </a:pPr>
              <a:r>
                <a:rPr lang="en-US" sz="2100" b="1">
                  <a:latin typeface="Calibri"/>
                  <a:ea typeface="Calibri"/>
                  <a:cs typeface="Calibri"/>
                  <a:sym typeface="Calibri"/>
                </a:rPr>
                <a:t>Append: </a:t>
              </a:r>
              <a:r>
                <a:rPr lang="en-US" sz="2100">
                  <a:latin typeface="Calibri"/>
                  <a:ea typeface="Calibri"/>
                  <a:cs typeface="Calibri"/>
                  <a:sym typeface="Calibri"/>
                </a:rPr>
                <a:t>Outputs only new rows added to the Result Table since the last trigger</a:t>
              </a:r>
              <a:endParaRPr/>
            </a:p>
            <a:p>
              <a:pPr marL="228600" lvl="1" indent="-228600" algn="l" rtl="0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SzPts val="2100"/>
                <a:buFont typeface="Arial"/>
                <a:buChar char="•"/>
              </a:pPr>
              <a:r>
                <a:rPr lang="en-US" sz="2100" b="1">
                  <a:latin typeface="Calibri"/>
                  <a:ea typeface="Calibri"/>
                  <a:cs typeface="Calibri"/>
                  <a:sym typeface="Calibri"/>
                </a:rPr>
                <a:t>Complete: </a:t>
              </a:r>
              <a:r>
                <a:rPr lang="en-US" sz="2100">
                  <a:latin typeface="Calibri"/>
                  <a:ea typeface="Calibri"/>
                  <a:cs typeface="Calibri"/>
                  <a:sym typeface="Calibri"/>
                </a:rPr>
                <a:t>Outputs the entire Result Table, including all updates and transformations, after each trigger</a:t>
              </a:r>
              <a:endParaRPr/>
            </a:p>
            <a:p>
              <a:pPr marL="228600" lvl="1" indent="-228600" algn="l" rtl="0">
                <a:lnSpc>
                  <a:spcPct val="90000"/>
                </a:lnSpc>
                <a:spcBef>
                  <a:spcPts val="315"/>
                </a:spcBef>
                <a:spcAft>
                  <a:spcPts val="0"/>
                </a:spcAft>
                <a:buSzPts val="2100"/>
                <a:buFont typeface="Arial"/>
                <a:buChar char="•"/>
              </a:pPr>
              <a:r>
                <a:rPr lang="en-US" sz="2100" b="1">
                  <a:latin typeface="Calibri"/>
                  <a:ea typeface="Calibri"/>
                  <a:cs typeface="Calibri"/>
                  <a:sym typeface="Calibri"/>
                </a:rPr>
                <a:t>Update: </a:t>
              </a:r>
              <a:r>
                <a:rPr lang="en-US" sz="2100">
                  <a:latin typeface="Calibri"/>
                  <a:ea typeface="Calibri"/>
                  <a:cs typeface="Calibri"/>
                  <a:sym typeface="Calibri"/>
                </a:rPr>
                <a:t>Outputs only rows in the Result Table that have updated since the last trigger are output</a:t>
              </a:r>
              <a:endParaRPr/>
            </a:p>
          </p:txBody>
        </p:sp>
        <p:sp>
          <p:nvSpPr>
            <p:cNvPr id="601" name="Google Shape;601;p34"/>
            <p:cNvSpPr/>
            <p:nvPr/>
          </p:nvSpPr>
          <p:spPr>
            <a:xfrm>
              <a:off x="276379" y="1016869"/>
              <a:ext cx="3869317" cy="6199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4"/>
            <p:cNvSpPr txBox="1"/>
            <p:nvPr/>
          </p:nvSpPr>
          <p:spPr>
            <a:xfrm>
              <a:off x="306641" y="1047131"/>
              <a:ext cx="3808793" cy="5593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50" tIns="0" rIns="146250" bIns="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lang="en-US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How: output modes</a:t>
              </a:r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5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08" name="Google Shape;608;p35" descr="$PPTXTitle"/>
          <p:cNvSpPr txBox="1">
            <a:spLocks noGrp="1"/>
          </p:cNvSpPr>
          <p:nvPr>
            <p:ph type="title"/>
          </p:nvPr>
        </p:nvSpPr>
        <p:spPr>
          <a:xfrm>
            <a:off x="673874" y="268025"/>
            <a:ext cx="8418551" cy="862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96054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Use Cases</a:t>
            </a:r>
            <a:endParaRPr/>
          </a:p>
        </p:txBody>
      </p:sp>
      <p:sp>
        <p:nvSpPr>
          <p:cNvPr id="609" name="Google Shape;609;p35"/>
          <p:cNvSpPr/>
          <p:nvPr/>
        </p:nvSpPr>
        <p:spPr>
          <a:xfrm>
            <a:off x="675095" y="0"/>
            <a:ext cx="8416109" cy="1532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5"/>
          <p:cNvSpPr/>
          <p:nvPr/>
        </p:nvSpPr>
        <p:spPr>
          <a:xfrm>
            <a:off x="673874" y="1211796"/>
            <a:ext cx="8416109" cy="14647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" name="Google Shape;611;p35"/>
          <p:cNvGrpSpPr/>
          <p:nvPr/>
        </p:nvGrpSpPr>
        <p:grpSpPr>
          <a:xfrm>
            <a:off x="1975052" y="1436699"/>
            <a:ext cx="5808869" cy="3542131"/>
            <a:chOff x="1303619" y="45203"/>
            <a:chExt cx="5808869" cy="3542131"/>
          </a:xfrm>
        </p:grpSpPr>
        <p:sp>
          <p:nvSpPr>
            <p:cNvPr id="612" name="Google Shape;612;p35"/>
            <p:cNvSpPr/>
            <p:nvPr/>
          </p:nvSpPr>
          <p:spPr>
            <a:xfrm>
              <a:off x="1303619" y="45203"/>
              <a:ext cx="769022" cy="769022"/>
            </a:xfrm>
            <a:prstGeom prst="ellipse">
              <a:avLst/>
            </a:prstGeom>
            <a:solidFill>
              <a:srgbClr val="BF50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5"/>
            <p:cNvSpPr/>
            <p:nvPr/>
          </p:nvSpPr>
          <p:spPr>
            <a:xfrm>
              <a:off x="1465114" y="206698"/>
              <a:ext cx="446033" cy="446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5"/>
            <p:cNvSpPr/>
            <p:nvPr/>
          </p:nvSpPr>
          <p:spPr>
            <a:xfrm>
              <a:off x="2237433" y="45203"/>
              <a:ext cx="1812696" cy="769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5"/>
            <p:cNvSpPr txBox="1"/>
            <p:nvPr/>
          </p:nvSpPr>
          <p:spPr>
            <a:xfrm>
              <a:off x="2237433" y="45203"/>
              <a:ext cx="1812696" cy="769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300"/>
                <a:buFont typeface="Arial"/>
                <a:buNone/>
              </a:pPr>
              <a:r>
                <a:rPr lang="en-US" sz="1300">
                  <a:latin typeface="Calibri"/>
                  <a:ea typeface="Calibri"/>
                  <a:cs typeface="Calibri"/>
                  <a:sym typeface="Calibri"/>
                </a:rPr>
                <a:t>Processing in parallel large data sets distributed across a cluster</a:t>
              </a:r>
              <a:endParaRPr/>
            </a:p>
          </p:txBody>
        </p:sp>
        <p:sp>
          <p:nvSpPr>
            <p:cNvPr id="616" name="Google Shape;616;p35"/>
            <p:cNvSpPr/>
            <p:nvPr/>
          </p:nvSpPr>
          <p:spPr>
            <a:xfrm>
              <a:off x="4365978" y="45203"/>
              <a:ext cx="769022" cy="76902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5"/>
            <p:cNvSpPr/>
            <p:nvPr/>
          </p:nvSpPr>
          <p:spPr>
            <a:xfrm>
              <a:off x="4527473" y="206698"/>
              <a:ext cx="446033" cy="446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5"/>
            <p:cNvSpPr/>
            <p:nvPr/>
          </p:nvSpPr>
          <p:spPr>
            <a:xfrm>
              <a:off x="5299792" y="45203"/>
              <a:ext cx="1812696" cy="769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5"/>
            <p:cNvSpPr txBox="1"/>
            <p:nvPr/>
          </p:nvSpPr>
          <p:spPr>
            <a:xfrm>
              <a:off x="5299792" y="45203"/>
              <a:ext cx="1812696" cy="769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300"/>
                <a:buFont typeface="Arial"/>
                <a:buNone/>
              </a:pPr>
              <a:r>
                <a:rPr lang="en-US" sz="1300">
                  <a:latin typeface="Calibri"/>
                  <a:ea typeface="Calibri"/>
                  <a:cs typeface="Calibri"/>
                  <a:sym typeface="Calibri"/>
                </a:rPr>
                <a:t>Performing adhoc or interactive queries to explore and visualize data 	sets</a:t>
              </a:r>
              <a:endParaRPr/>
            </a:p>
          </p:txBody>
        </p:sp>
        <p:sp>
          <p:nvSpPr>
            <p:cNvPr id="620" name="Google Shape;620;p35"/>
            <p:cNvSpPr/>
            <p:nvPr/>
          </p:nvSpPr>
          <p:spPr>
            <a:xfrm>
              <a:off x="1303619" y="1431758"/>
              <a:ext cx="769022" cy="76902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5"/>
            <p:cNvSpPr/>
            <p:nvPr/>
          </p:nvSpPr>
          <p:spPr>
            <a:xfrm>
              <a:off x="1465114" y="1593252"/>
              <a:ext cx="446033" cy="446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5"/>
            <p:cNvSpPr/>
            <p:nvPr/>
          </p:nvSpPr>
          <p:spPr>
            <a:xfrm>
              <a:off x="2237433" y="1431758"/>
              <a:ext cx="1812696" cy="769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5"/>
            <p:cNvSpPr txBox="1"/>
            <p:nvPr/>
          </p:nvSpPr>
          <p:spPr>
            <a:xfrm>
              <a:off x="2237433" y="1431758"/>
              <a:ext cx="1812696" cy="769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300"/>
                <a:buFont typeface="Arial"/>
                <a:buNone/>
              </a:pPr>
              <a:r>
                <a:rPr lang="en-US" sz="1300">
                  <a:latin typeface="Calibri"/>
                  <a:ea typeface="Calibri"/>
                  <a:cs typeface="Calibri"/>
                  <a:sym typeface="Calibri"/>
                </a:rPr>
                <a:t>Building, training, and evaluating machine learning models using MLlib</a:t>
              </a:r>
              <a:endParaRPr/>
            </a:p>
          </p:txBody>
        </p:sp>
        <p:sp>
          <p:nvSpPr>
            <p:cNvPr id="624" name="Google Shape;624;p35"/>
            <p:cNvSpPr/>
            <p:nvPr/>
          </p:nvSpPr>
          <p:spPr>
            <a:xfrm>
              <a:off x="4365978" y="1431758"/>
              <a:ext cx="769022" cy="769022"/>
            </a:xfrm>
            <a:prstGeom prst="ellipse">
              <a:avLst/>
            </a:prstGeom>
            <a:solidFill>
              <a:srgbClr val="49AC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5"/>
            <p:cNvSpPr/>
            <p:nvPr/>
          </p:nvSpPr>
          <p:spPr>
            <a:xfrm>
              <a:off x="4527473" y="1593252"/>
              <a:ext cx="446033" cy="446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5"/>
            <p:cNvSpPr/>
            <p:nvPr/>
          </p:nvSpPr>
          <p:spPr>
            <a:xfrm>
              <a:off x="5299792" y="1431758"/>
              <a:ext cx="1812696" cy="769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5"/>
            <p:cNvSpPr txBox="1"/>
            <p:nvPr/>
          </p:nvSpPr>
          <p:spPr>
            <a:xfrm>
              <a:off x="5299792" y="1431758"/>
              <a:ext cx="1812696" cy="769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300"/>
                <a:buFont typeface="Arial"/>
                <a:buNone/>
              </a:pPr>
              <a:r>
                <a:rPr lang="en-US" sz="1300">
                  <a:latin typeface="Calibri"/>
                  <a:ea typeface="Calibri"/>
                  <a:cs typeface="Calibri"/>
                  <a:sym typeface="Calibri"/>
                </a:rPr>
                <a:t>Implementing end-2-end data pipelines from myriad streams of data</a:t>
              </a:r>
              <a:endParaRPr/>
            </a:p>
          </p:txBody>
        </p:sp>
        <p:sp>
          <p:nvSpPr>
            <p:cNvPr id="628" name="Google Shape;628;p35"/>
            <p:cNvSpPr/>
            <p:nvPr/>
          </p:nvSpPr>
          <p:spPr>
            <a:xfrm>
              <a:off x="1303619" y="2818312"/>
              <a:ext cx="769022" cy="769022"/>
            </a:xfrm>
            <a:prstGeom prst="ellipse">
              <a:avLst/>
            </a:prstGeom>
            <a:solidFill>
              <a:srgbClr val="F79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5"/>
            <p:cNvSpPr/>
            <p:nvPr/>
          </p:nvSpPr>
          <p:spPr>
            <a:xfrm>
              <a:off x="1465114" y="2979807"/>
              <a:ext cx="446033" cy="446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5"/>
            <p:cNvSpPr/>
            <p:nvPr/>
          </p:nvSpPr>
          <p:spPr>
            <a:xfrm>
              <a:off x="2237433" y="2818312"/>
              <a:ext cx="1812696" cy="769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5"/>
            <p:cNvSpPr txBox="1"/>
            <p:nvPr/>
          </p:nvSpPr>
          <p:spPr>
            <a:xfrm>
              <a:off x="2237433" y="2818312"/>
              <a:ext cx="1812696" cy="7690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300"/>
                <a:buFont typeface="Arial"/>
                <a:buNone/>
              </a:pPr>
              <a:r>
                <a:rPr lang="en-US" sz="1300">
                  <a:latin typeface="Calibri"/>
                  <a:ea typeface="Calibri"/>
                  <a:cs typeface="Calibri"/>
                  <a:sym typeface="Calibri"/>
                </a:rPr>
                <a:t>Analyzing graph data sets and social networks</a:t>
              </a:r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6"/>
          <p:cNvSpPr/>
          <p:nvPr/>
        </p:nvSpPr>
        <p:spPr>
          <a:xfrm>
            <a:off x="0" y="0"/>
            <a:ext cx="9766299" cy="54922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37" name="Google Shape;637;p36" descr="$PPTXTitle"/>
          <p:cNvSpPr txBox="1">
            <a:spLocks noGrp="1"/>
          </p:cNvSpPr>
          <p:nvPr>
            <p:ph type="title"/>
          </p:nvPr>
        </p:nvSpPr>
        <p:spPr>
          <a:xfrm>
            <a:off x="892208" y="2371314"/>
            <a:ext cx="3233271" cy="191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158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Revisit Components and Architecture</a:t>
            </a:r>
            <a:endParaRPr/>
          </a:p>
        </p:txBody>
      </p:sp>
      <p:grpSp>
        <p:nvGrpSpPr>
          <p:cNvPr id="638" name="Google Shape;638;p36"/>
          <p:cNvGrpSpPr/>
          <p:nvPr/>
        </p:nvGrpSpPr>
        <p:grpSpPr>
          <a:xfrm>
            <a:off x="1" y="2390757"/>
            <a:ext cx="585978" cy="539392"/>
            <a:chOff x="3940602" y="308034"/>
            <a:chExt cx="2116791" cy="3428999"/>
          </a:xfrm>
        </p:grpSpPr>
        <p:sp>
          <p:nvSpPr>
            <p:cNvPr id="639" name="Google Shape;639;p36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642" name="Google Shape;642;p36"/>
          <p:cNvSpPr/>
          <p:nvPr/>
        </p:nvSpPr>
        <p:spPr>
          <a:xfrm flipH="1">
            <a:off x="8569279" y="0"/>
            <a:ext cx="1197021" cy="5492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43" name="Google Shape;643;p36"/>
          <p:cNvSpPr/>
          <p:nvPr/>
        </p:nvSpPr>
        <p:spPr>
          <a:xfrm>
            <a:off x="4554570" y="313871"/>
            <a:ext cx="4813753" cy="481923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644" name="Google Shape;64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4162" y="1467925"/>
            <a:ext cx="4434568" cy="250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7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650" name="Google Shape;65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8307"/>
            <a:ext cx="2491444" cy="2922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988" y="3540762"/>
            <a:ext cx="4761965" cy="1694303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7"/>
          <p:cNvSpPr/>
          <p:nvPr/>
        </p:nvSpPr>
        <p:spPr>
          <a:xfrm flipH="1">
            <a:off x="6870310" y="2671782"/>
            <a:ext cx="2636901" cy="2563283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53" name="Google Shape;653;p37"/>
          <p:cNvSpPr/>
          <p:nvPr/>
        </p:nvSpPr>
        <p:spPr>
          <a:xfrm>
            <a:off x="5130832" y="499197"/>
            <a:ext cx="4118657" cy="4491498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54" name="Google Shape;654;p37" descr="$PPTXTitle"/>
          <p:cNvSpPr txBox="1">
            <a:spLocks noGrp="1"/>
          </p:cNvSpPr>
          <p:nvPr>
            <p:ph type="title"/>
          </p:nvPr>
        </p:nvSpPr>
        <p:spPr>
          <a:xfrm>
            <a:off x="5519043" y="952010"/>
            <a:ext cx="3378904" cy="127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1017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Revisit Transformations and Actions</a:t>
            </a:r>
            <a:endParaRPr/>
          </a:p>
        </p:txBody>
      </p:sp>
      <p:pic>
        <p:nvPicPr>
          <p:cNvPr id="655" name="Google Shape;655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49166" y="1348527"/>
            <a:ext cx="2510787" cy="1052871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37"/>
          <p:cNvSpPr txBox="1"/>
          <p:nvPr/>
        </p:nvSpPr>
        <p:spPr>
          <a:xfrm>
            <a:off x="5519042" y="2401398"/>
            <a:ext cx="2951479" cy="151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92239" lvl="0" indent="-19223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Projections: select()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Filters: filter(), where()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8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62" name="Google Shape;662;p38"/>
          <p:cNvSpPr/>
          <p:nvPr/>
        </p:nvSpPr>
        <p:spPr>
          <a:xfrm>
            <a:off x="444110" y="292438"/>
            <a:ext cx="8945590" cy="167338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DEDED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D4CFB4">
                <a:alpha val="5019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8" descr="$PPTXTitle"/>
          <p:cNvSpPr txBox="1">
            <a:spLocks noGrp="1"/>
          </p:cNvSpPr>
          <p:nvPr>
            <p:ph type="title"/>
          </p:nvPr>
        </p:nvSpPr>
        <p:spPr>
          <a:xfrm>
            <a:off x="838487" y="470000"/>
            <a:ext cx="2851910" cy="1318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017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 and Actions</a:t>
            </a:r>
            <a:endParaRPr/>
          </a:p>
        </p:txBody>
      </p:sp>
      <p:sp>
        <p:nvSpPr>
          <p:cNvPr id="664" name="Google Shape;664;p38"/>
          <p:cNvSpPr/>
          <p:nvPr/>
        </p:nvSpPr>
        <p:spPr>
          <a:xfrm>
            <a:off x="392837" y="847170"/>
            <a:ext cx="102546" cy="5639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8"/>
          <p:cNvSpPr/>
          <p:nvPr/>
        </p:nvSpPr>
        <p:spPr>
          <a:xfrm rot="5400000">
            <a:off x="3399338" y="1121806"/>
            <a:ext cx="1171787" cy="14649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8"/>
          <p:cNvSpPr txBox="1"/>
          <p:nvPr/>
        </p:nvSpPr>
        <p:spPr>
          <a:xfrm>
            <a:off x="4286505" y="470000"/>
            <a:ext cx="4808361" cy="1318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192239" lvl="0" indent="-19223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Renaming: withColumnRenamed()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412" lvl="1" indent="-228600" algn="l" rtl="0">
              <a:lnSpc>
                <a:spcPct val="9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immutable?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412" lvl="1" indent="-228600" algn="l" rtl="0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we rename, we get a new DataFrame while retaining the original name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lnSpc>
                <a:spcPct val="90000"/>
              </a:lnSpc>
              <a:spcBef>
                <a:spcPts val="51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column data type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lnSpc>
                <a:spcPct val="90000"/>
              </a:lnSpc>
              <a:spcBef>
                <a:spcPts val="52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Dropping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7" name="Google Shape;66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808" y="2290482"/>
            <a:ext cx="8943489" cy="2588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9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73" name="Google Shape;673;p39" descr="$PPTXTitle"/>
          <p:cNvSpPr txBox="1">
            <a:spLocks noGrp="1"/>
          </p:cNvSpPr>
          <p:nvPr>
            <p:ph type="title"/>
          </p:nvPr>
        </p:nvSpPr>
        <p:spPr>
          <a:xfrm>
            <a:off x="511770" y="366183"/>
            <a:ext cx="8739076" cy="1096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0171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latin typeface="Calibri"/>
                <a:ea typeface="Calibri"/>
                <a:cs typeface="Calibri"/>
                <a:sym typeface="Calibri"/>
              </a:rPr>
              <a:t>Transformations and Actions</a:t>
            </a:r>
            <a:endParaRPr/>
          </a:p>
        </p:txBody>
      </p:sp>
      <p:sp>
        <p:nvSpPr>
          <p:cNvPr id="674" name="Google Shape;674;p39"/>
          <p:cNvSpPr txBox="1"/>
          <p:nvPr/>
        </p:nvSpPr>
        <p:spPr>
          <a:xfrm>
            <a:off x="511770" y="1539828"/>
            <a:ext cx="8739078" cy="442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Aggregation: groupBy(), orderBy(), count()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9"/>
          <p:cNvSpPr/>
          <p:nvPr/>
        </p:nvSpPr>
        <p:spPr>
          <a:xfrm>
            <a:off x="3564699" y="1482259"/>
            <a:ext cx="2636901" cy="14648"/>
          </a:xfrm>
          <a:custGeom>
            <a:avLst/>
            <a:gdLst/>
            <a:ahLst/>
            <a:cxnLst/>
            <a:rect l="l" t="t" r="r" b="b"/>
            <a:pathLst>
              <a:path w="2636901" h="14648" fill="none" extrusionOk="0">
                <a:moveTo>
                  <a:pt x="0" y="0"/>
                </a:moveTo>
                <a:cubicBezTo>
                  <a:pt x="216251" y="4735"/>
                  <a:pt x="430746" y="-10615"/>
                  <a:pt x="632856" y="0"/>
                </a:cubicBezTo>
                <a:cubicBezTo>
                  <a:pt x="834966" y="10615"/>
                  <a:pt x="992087" y="110"/>
                  <a:pt x="1239343" y="0"/>
                </a:cubicBezTo>
                <a:cubicBezTo>
                  <a:pt x="1486599" y="-110"/>
                  <a:pt x="1598053" y="-7760"/>
                  <a:pt x="1845831" y="0"/>
                </a:cubicBezTo>
                <a:cubicBezTo>
                  <a:pt x="2093609" y="7760"/>
                  <a:pt x="2246393" y="36523"/>
                  <a:pt x="2636901" y="0"/>
                </a:cubicBezTo>
                <a:cubicBezTo>
                  <a:pt x="2636407" y="4041"/>
                  <a:pt x="2637200" y="7430"/>
                  <a:pt x="2636901" y="14648"/>
                </a:cubicBezTo>
                <a:cubicBezTo>
                  <a:pt x="2381140" y="31886"/>
                  <a:pt x="2171803" y="49695"/>
                  <a:pt x="1924938" y="14648"/>
                </a:cubicBezTo>
                <a:cubicBezTo>
                  <a:pt x="1678073" y="-20399"/>
                  <a:pt x="1453921" y="10005"/>
                  <a:pt x="1292081" y="14648"/>
                </a:cubicBezTo>
                <a:cubicBezTo>
                  <a:pt x="1130241" y="19291"/>
                  <a:pt x="822607" y="75"/>
                  <a:pt x="685594" y="14648"/>
                </a:cubicBezTo>
                <a:cubicBezTo>
                  <a:pt x="548581" y="29221"/>
                  <a:pt x="283230" y="23852"/>
                  <a:pt x="0" y="14648"/>
                </a:cubicBezTo>
                <a:cubicBezTo>
                  <a:pt x="369" y="11715"/>
                  <a:pt x="638" y="4279"/>
                  <a:pt x="0" y="0"/>
                </a:cubicBezTo>
                <a:close/>
              </a:path>
              <a:path w="2636901" h="14648" extrusionOk="0">
                <a:moveTo>
                  <a:pt x="0" y="0"/>
                </a:moveTo>
                <a:cubicBezTo>
                  <a:pt x="178320" y="9122"/>
                  <a:pt x="439852" y="23678"/>
                  <a:pt x="606487" y="0"/>
                </a:cubicBezTo>
                <a:cubicBezTo>
                  <a:pt x="773122" y="-23678"/>
                  <a:pt x="1037880" y="34939"/>
                  <a:pt x="1318451" y="0"/>
                </a:cubicBezTo>
                <a:cubicBezTo>
                  <a:pt x="1599022" y="-34939"/>
                  <a:pt x="1664756" y="-8697"/>
                  <a:pt x="1898569" y="0"/>
                </a:cubicBezTo>
                <a:cubicBezTo>
                  <a:pt x="2132382" y="8697"/>
                  <a:pt x="2440715" y="11737"/>
                  <a:pt x="2636901" y="0"/>
                </a:cubicBezTo>
                <a:cubicBezTo>
                  <a:pt x="2637263" y="7139"/>
                  <a:pt x="2636347" y="9552"/>
                  <a:pt x="2636901" y="14648"/>
                </a:cubicBezTo>
                <a:cubicBezTo>
                  <a:pt x="2419839" y="28876"/>
                  <a:pt x="2196850" y="22323"/>
                  <a:pt x="2004045" y="14648"/>
                </a:cubicBezTo>
                <a:cubicBezTo>
                  <a:pt x="1811240" y="6973"/>
                  <a:pt x="1595040" y="31910"/>
                  <a:pt x="1292081" y="14648"/>
                </a:cubicBezTo>
                <a:cubicBezTo>
                  <a:pt x="989122" y="-2614"/>
                  <a:pt x="897350" y="-12192"/>
                  <a:pt x="659225" y="14648"/>
                </a:cubicBezTo>
                <a:cubicBezTo>
                  <a:pt x="421100" y="41488"/>
                  <a:pt x="293708" y="-14238"/>
                  <a:pt x="0" y="14648"/>
                </a:cubicBezTo>
                <a:cubicBezTo>
                  <a:pt x="689" y="8603"/>
                  <a:pt x="-648" y="618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676" name="Google Shape;67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312" y="2116539"/>
            <a:ext cx="3567487" cy="2887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0111" y="2377000"/>
            <a:ext cx="4497382" cy="2367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0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83" name="Google Shape;683;p40" descr="$PPTXTitle"/>
          <p:cNvSpPr txBox="1">
            <a:spLocks noGrp="1"/>
          </p:cNvSpPr>
          <p:nvPr>
            <p:ph type="title"/>
          </p:nvPr>
        </p:nvSpPr>
        <p:spPr>
          <a:xfrm>
            <a:off x="512730" y="260596"/>
            <a:ext cx="3499432" cy="1567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0171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Transformations and Actions</a:t>
            </a:r>
            <a:endParaRPr/>
          </a:p>
        </p:txBody>
      </p:sp>
      <p:sp>
        <p:nvSpPr>
          <p:cNvPr id="684" name="Google Shape;684;p40"/>
          <p:cNvSpPr/>
          <p:nvPr/>
        </p:nvSpPr>
        <p:spPr>
          <a:xfrm>
            <a:off x="512730" y="2071990"/>
            <a:ext cx="2783396" cy="14647"/>
          </a:xfrm>
          <a:custGeom>
            <a:avLst/>
            <a:gdLst/>
            <a:ahLst/>
            <a:cxnLst/>
            <a:rect l="l" t="t" r="r" b="b"/>
            <a:pathLst>
              <a:path w="2783396" h="14647" fill="none" extrusionOk="0">
                <a:moveTo>
                  <a:pt x="0" y="0"/>
                </a:moveTo>
                <a:cubicBezTo>
                  <a:pt x="286500" y="-18494"/>
                  <a:pt x="511237" y="-20438"/>
                  <a:pt x="668015" y="0"/>
                </a:cubicBezTo>
                <a:cubicBezTo>
                  <a:pt x="824794" y="20438"/>
                  <a:pt x="1104462" y="-15330"/>
                  <a:pt x="1308196" y="0"/>
                </a:cubicBezTo>
                <a:cubicBezTo>
                  <a:pt x="1511930" y="15330"/>
                  <a:pt x="1750593" y="21346"/>
                  <a:pt x="1948377" y="0"/>
                </a:cubicBezTo>
                <a:cubicBezTo>
                  <a:pt x="2146161" y="-21346"/>
                  <a:pt x="2423288" y="1692"/>
                  <a:pt x="2783396" y="0"/>
                </a:cubicBezTo>
                <a:cubicBezTo>
                  <a:pt x="2783793" y="4361"/>
                  <a:pt x="2783980" y="8719"/>
                  <a:pt x="2783396" y="14647"/>
                </a:cubicBezTo>
                <a:cubicBezTo>
                  <a:pt x="2485791" y="-21044"/>
                  <a:pt x="2192186" y="44905"/>
                  <a:pt x="2031879" y="14647"/>
                </a:cubicBezTo>
                <a:cubicBezTo>
                  <a:pt x="1871572" y="-15611"/>
                  <a:pt x="1613832" y="-2241"/>
                  <a:pt x="1363864" y="14647"/>
                </a:cubicBezTo>
                <a:cubicBezTo>
                  <a:pt x="1113896" y="31535"/>
                  <a:pt x="958574" y="-3224"/>
                  <a:pt x="723683" y="14647"/>
                </a:cubicBezTo>
                <a:cubicBezTo>
                  <a:pt x="488792" y="32518"/>
                  <a:pt x="302501" y="23479"/>
                  <a:pt x="0" y="14647"/>
                </a:cubicBezTo>
                <a:cubicBezTo>
                  <a:pt x="115" y="7416"/>
                  <a:pt x="-60" y="5659"/>
                  <a:pt x="0" y="0"/>
                </a:cubicBezTo>
                <a:close/>
              </a:path>
              <a:path w="2783396" h="14647" extrusionOk="0">
                <a:moveTo>
                  <a:pt x="0" y="0"/>
                </a:moveTo>
                <a:cubicBezTo>
                  <a:pt x="195145" y="-23591"/>
                  <a:pt x="375808" y="-5365"/>
                  <a:pt x="640181" y="0"/>
                </a:cubicBezTo>
                <a:cubicBezTo>
                  <a:pt x="904554" y="5365"/>
                  <a:pt x="1068378" y="-23504"/>
                  <a:pt x="1391698" y="0"/>
                </a:cubicBezTo>
                <a:cubicBezTo>
                  <a:pt x="1715018" y="23504"/>
                  <a:pt x="1850618" y="-11007"/>
                  <a:pt x="2004045" y="0"/>
                </a:cubicBezTo>
                <a:cubicBezTo>
                  <a:pt x="2157472" y="11007"/>
                  <a:pt x="2614554" y="-35897"/>
                  <a:pt x="2783396" y="0"/>
                </a:cubicBezTo>
                <a:cubicBezTo>
                  <a:pt x="2783699" y="5576"/>
                  <a:pt x="2782732" y="9370"/>
                  <a:pt x="2783396" y="14647"/>
                </a:cubicBezTo>
                <a:cubicBezTo>
                  <a:pt x="2644007" y="-4420"/>
                  <a:pt x="2315317" y="11430"/>
                  <a:pt x="2115381" y="14647"/>
                </a:cubicBezTo>
                <a:cubicBezTo>
                  <a:pt x="1915445" y="17864"/>
                  <a:pt x="1516893" y="3337"/>
                  <a:pt x="1363864" y="14647"/>
                </a:cubicBezTo>
                <a:cubicBezTo>
                  <a:pt x="1210835" y="25957"/>
                  <a:pt x="952464" y="18026"/>
                  <a:pt x="695849" y="14647"/>
                </a:cubicBezTo>
                <a:cubicBezTo>
                  <a:pt x="439235" y="11268"/>
                  <a:pt x="235510" y="36898"/>
                  <a:pt x="0" y="14647"/>
                </a:cubicBezTo>
                <a:cubicBezTo>
                  <a:pt x="-677" y="7748"/>
                  <a:pt x="-571" y="724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85" name="Google Shape;685;p40"/>
          <p:cNvSpPr txBox="1"/>
          <p:nvPr/>
        </p:nvSpPr>
        <p:spPr>
          <a:xfrm>
            <a:off x="512730" y="2300979"/>
            <a:ext cx="3399292" cy="26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92239" lvl="0" indent="-19223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collect()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412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a collection of all the Row objects in entire DataFrame or DataSet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7903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resource-heavy and dangerous for extremely large DataFrames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7903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take(n): peek at some row records and return pnly first n Row objects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6" name="Google Shape;686;p40" descr="Colorful math learning objects"/>
          <p:cNvPicPr preferRelativeResize="0"/>
          <p:nvPr/>
        </p:nvPicPr>
        <p:blipFill rotWithShape="1">
          <a:blip r:embed="rId3">
            <a:alphaModFix/>
          </a:blip>
          <a:srcRect l="10146" r="22892"/>
          <a:stretch/>
        </p:blipFill>
        <p:spPr>
          <a:xfrm>
            <a:off x="4254894" y="10"/>
            <a:ext cx="5510186" cy="5492740"/>
          </a:xfrm>
          <a:custGeom>
            <a:avLst/>
            <a:gdLst/>
            <a:ahLst/>
            <a:cxnLst/>
            <a:rect l="l" t="t" r="r" b="b"/>
            <a:pathLst>
              <a:path w="6878775" h="6858000" extrusionOk="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1"/>
          <p:cNvSpPr/>
          <p:nvPr/>
        </p:nvSpPr>
        <p:spPr>
          <a:xfrm>
            <a:off x="0" y="0"/>
            <a:ext cx="9766300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92" name="Google Shape;692;p41"/>
          <p:cNvSpPr/>
          <p:nvPr/>
        </p:nvSpPr>
        <p:spPr>
          <a:xfrm flipH="1">
            <a:off x="6870310" y="2671782"/>
            <a:ext cx="2636901" cy="2563283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93" name="Google Shape;693;p41"/>
          <p:cNvSpPr/>
          <p:nvPr/>
        </p:nvSpPr>
        <p:spPr>
          <a:xfrm>
            <a:off x="514087" y="499197"/>
            <a:ext cx="8735402" cy="4491498"/>
          </a:xfrm>
          <a:prstGeom prst="rect">
            <a:avLst/>
          </a:prstGeom>
          <a:noFill/>
          <a:ln w="1905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694" name="Google Shape;694;p41" descr="$PPTXTitle"/>
          <p:cNvSpPr txBox="1">
            <a:spLocks noGrp="1"/>
          </p:cNvSpPr>
          <p:nvPr>
            <p:ph type="title"/>
          </p:nvPr>
        </p:nvSpPr>
        <p:spPr>
          <a:xfrm>
            <a:off x="861734" y="952010"/>
            <a:ext cx="2393700" cy="3588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0171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Transformations and Actions</a:t>
            </a:r>
            <a:endParaRPr/>
          </a:p>
        </p:txBody>
      </p:sp>
      <p:cxnSp>
        <p:nvCxnSpPr>
          <p:cNvPr id="695" name="Google Shape;695;p41"/>
          <p:cNvCxnSpPr/>
          <p:nvPr/>
        </p:nvCxnSpPr>
        <p:spPr>
          <a:xfrm>
            <a:off x="3728285" y="1484006"/>
            <a:ext cx="0" cy="2592192"/>
          </a:xfrm>
          <a:prstGeom prst="straightConnector1">
            <a:avLst/>
          </a:prstGeom>
          <a:noFill/>
          <a:ln w="19050" cap="sq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6" name="Google Shape;696;p41"/>
          <p:cNvSpPr txBox="1"/>
          <p:nvPr/>
        </p:nvSpPr>
        <p:spPr>
          <a:xfrm>
            <a:off x="4209682" y="1320622"/>
            <a:ext cx="3767177" cy="285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92239" lvl="0" indent="-19223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Aggregation: min(), max(), sum()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stat()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describe()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correlation()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covariance()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2239" lvl="0" indent="-192239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sampleBy()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2" descr="$PPTXTitle"/>
          <p:cNvSpPr txBox="1">
            <a:spLocks noGrp="1"/>
          </p:cNvSpPr>
          <p:nvPr>
            <p:ph type="title"/>
          </p:nvPr>
        </p:nvSpPr>
        <p:spPr>
          <a:xfrm>
            <a:off x="692150" y="93556"/>
            <a:ext cx="5669230" cy="4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675" rIns="0" bIns="0" anchor="t" anchorCtr="0">
            <a:spAutoFit/>
          </a:bodyPr>
          <a:lstStyle/>
          <a:p>
            <a:pPr marL="2162955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70C0"/>
                </a:solidFill>
              </a:rPr>
              <a:t>Dataset API</a:t>
            </a:r>
            <a:endParaRPr/>
          </a:p>
        </p:txBody>
      </p:sp>
      <p:sp>
        <p:nvSpPr>
          <p:cNvPr id="702" name="Google Shape;702;p42"/>
          <p:cNvSpPr txBox="1"/>
          <p:nvPr/>
        </p:nvSpPr>
        <p:spPr>
          <a:xfrm>
            <a:off x="959803" y="587325"/>
            <a:ext cx="2905562" cy="3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650" rIns="0" bIns="0" anchor="t" anchorCtr="0">
            <a:spAutoFit/>
          </a:bodyPr>
          <a:lstStyle/>
          <a:p>
            <a:pPr marL="192239" lvl="0" indent="-182068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Typed and Untyped API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3" name="Google Shape;70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9322" y="1127957"/>
            <a:ext cx="4934428" cy="19994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4" name="Google Shape;704;p42"/>
          <p:cNvGrpSpPr/>
          <p:nvPr/>
        </p:nvGrpSpPr>
        <p:grpSpPr>
          <a:xfrm>
            <a:off x="1946931" y="3391271"/>
            <a:ext cx="5775785" cy="1443946"/>
            <a:chOff x="1185388" y="47"/>
            <a:chExt cx="5775785" cy="1443946"/>
          </a:xfrm>
        </p:grpSpPr>
        <p:sp>
          <p:nvSpPr>
            <p:cNvPr id="705" name="Google Shape;705;p42"/>
            <p:cNvSpPr/>
            <p:nvPr/>
          </p:nvSpPr>
          <p:spPr>
            <a:xfrm>
              <a:off x="1185388" y="47"/>
              <a:ext cx="2406577" cy="144394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2"/>
            <p:cNvSpPr txBox="1"/>
            <p:nvPr/>
          </p:nvSpPr>
          <p:spPr>
            <a:xfrm>
              <a:off x="1227680" y="42339"/>
              <a:ext cx="2321993" cy="13593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Datasets make sense only in Java and Scala, whereas in Python and R  only DataFrames make sense</a:t>
              </a:r>
              <a:endParaRPr/>
            </a:p>
          </p:txBody>
        </p:sp>
        <p:sp>
          <p:nvSpPr>
            <p:cNvPr id="707" name="Google Shape;707;p42"/>
            <p:cNvSpPr/>
            <p:nvPr/>
          </p:nvSpPr>
          <p:spPr>
            <a:xfrm>
              <a:off x="3803744" y="423605"/>
              <a:ext cx="510194" cy="596831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B1C0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2"/>
            <p:cNvSpPr txBox="1"/>
            <p:nvPr/>
          </p:nvSpPr>
          <p:spPr>
            <a:xfrm>
              <a:off x="3803744" y="542971"/>
              <a:ext cx="357136" cy="358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709" name="Google Shape;709;p42"/>
            <p:cNvSpPr/>
            <p:nvPr/>
          </p:nvSpPr>
          <p:spPr>
            <a:xfrm>
              <a:off x="4554596" y="47"/>
              <a:ext cx="2406577" cy="1443946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2"/>
            <p:cNvSpPr txBox="1"/>
            <p:nvPr/>
          </p:nvSpPr>
          <p:spPr>
            <a:xfrm>
              <a:off x="4596888" y="42339"/>
              <a:ext cx="2321993" cy="13593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3325" tIns="53325" rIns="53325" bIns="53325" anchor="ctr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Python and R are not compile-time type-safe; types are dynamically 	inferred or assigned during execution, not during compile time</a:t>
              </a:r>
              <a:endParaRPr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3"/>
          <p:cNvSpPr/>
          <p:nvPr/>
        </p:nvSpPr>
        <p:spPr>
          <a:xfrm>
            <a:off x="0" y="0"/>
            <a:ext cx="9763858" cy="549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716" name="Google Shape;716;p43" descr="$PPTXTitle"/>
          <p:cNvSpPr txBox="1">
            <a:spLocks noGrp="1"/>
          </p:cNvSpPr>
          <p:nvPr>
            <p:ph type="title"/>
          </p:nvPr>
        </p:nvSpPr>
        <p:spPr>
          <a:xfrm>
            <a:off x="508661" y="513251"/>
            <a:ext cx="2738488" cy="447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90322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to Use DataFrames</a:t>
            </a:r>
            <a:endParaRPr/>
          </a:p>
        </p:txBody>
      </p:sp>
      <p:sp>
        <p:nvSpPr>
          <p:cNvPr id="717" name="Google Shape;717;p43"/>
          <p:cNvSpPr/>
          <p:nvPr/>
        </p:nvSpPr>
        <p:spPr>
          <a:xfrm rot="5400000">
            <a:off x="1303968" y="2773380"/>
            <a:ext cx="4333169" cy="14649"/>
          </a:xfrm>
          <a:custGeom>
            <a:avLst/>
            <a:gdLst/>
            <a:ahLst/>
            <a:cxnLst/>
            <a:rect l="l" t="t" r="r" b="b"/>
            <a:pathLst>
              <a:path w="4333169" h="14649" fill="none" extrusionOk="0">
                <a:moveTo>
                  <a:pt x="0" y="0"/>
                </a:moveTo>
                <a:cubicBezTo>
                  <a:pt x="128856" y="25070"/>
                  <a:pt x="312355" y="10957"/>
                  <a:pt x="575692" y="0"/>
                </a:cubicBezTo>
                <a:cubicBezTo>
                  <a:pt x="839029" y="-10957"/>
                  <a:pt x="949620" y="5271"/>
                  <a:pt x="1064722" y="0"/>
                </a:cubicBezTo>
                <a:cubicBezTo>
                  <a:pt x="1179824" y="-5271"/>
                  <a:pt x="1419897" y="20275"/>
                  <a:pt x="1597082" y="0"/>
                </a:cubicBezTo>
                <a:cubicBezTo>
                  <a:pt x="1774267" y="-20275"/>
                  <a:pt x="1944129" y="-4123"/>
                  <a:pt x="2259438" y="0"/>
                </a:cubicBezTo>
                <a:cubicBezTo>
                  <a:pt x="2574747" y="4123"/>
                  <a:pt x="2624192" y="-8245"/>
                  <a:pt x="2835131" y="0"/>
                </a:cubicBezTo>
                <a:cubicBezTo>
                  <a:pt x="3046070" y="8245"/>
                  <a:pt x="3160630" y="-13045"/>
                  <a:pt x="3367491" y="0"/>
                </a:cubicBezTo>
                <a:cubicBezTo>
                  <a:pt x="3574352" y="13045"/>
                  <a:pt x="3897652" y="-47148"/>
                  <a:pt x="4333169" y="0"/>
                </a:cubicBezTo>
                <a:cubicBezTo>
                  <a:pt x="4332686" y="6699"/>
                  <a:pt x="4333526" y="10253"/>
                  <a:pt x="4333169" y="14649"/>
                </a:cubicBezTo>
                <a:cubicBezTo>
                  <a:pt x="4043558" y="-587"/>
                  <a:pt x="4016013" y="1129"/>
                  <a:pt x="3714145" y="14649"/>
                </a:cubicBezTo>
                <a:cubicBezTo>
                  <a:pt x="3412277" y="28169"/>
                  <a:pt x="3309093" y="37708"/>
                  <a:pt x="3181784" y="14649"/>
                </a:cubicBezTo>
                <a:cubicBezTo>
                  <a:pt x="3054475" y="-8410"/>
                  <a:pt x="2656796" y="18063"/>
                  <a:pt x="2476097" y="14649"/>
                </a:cubicBezTo>
                <a:cubicBezTo>
                  <a:pt x="2295398" y="11235"/>
                  <a:pt x="2146215" y="16821"/>
                  <a:pt x="1900404" y="14649"/>
                </a:cubicBezTo>
                <a:cubicBezTo>
                  <a:pt x="1654593" y="12477"/>
                  <a:pt x="1518560" y="17650"/>
                  <a:pt x="1411375" y="14649"/>
                </a:cubicBezTo>
                <a:cubicBezTo>
                  <a:pt x="1304190" y="11648"/>
                  <a:pt x="966788" y="-133"/>
                  <a:pt x="749019" y="14649"/>
                </a:cubicBezTo>
                <a:cubicBezTo>
                  <a:pt x="531250" y="29431"/>
                  <a:pt x="190094" y="26725"/>
                  <a:pt x="0" y="14649"/>
                </a:cubicBezTo>
                <a:cubicBezTo>
                  <a:pt x="-720" y="8053"/>
                  <a:pt x="-449" y="6550"/>
                  <a:pt x="0" y="0"/>
                </a:cubicBezTo>
                <a:close/>
              </a:path>
              <a:path w="4333169" h="14649" extrusionOk="0">
                <a:moveTo>
                  <a:pt x="0" y="0"/>
                </a:moveTo>
                <a:cubicBezTo>
                  <a:pt x="216857" y="2793"/>
                  <a:pt x="354276" y="9102"/>
                  <a:pt x="575692" y="0"/>
                </a:cubicBezTo>
                <a:cubicBezTo>
                  <a:pt x="797108" y="-9102"/>
                  <a:pt x="911680" y="-20178"/>
                  <a:pt x="1064722" y="0"/>
                </a:cubicBezTo>
                <a:cubicBezTo>
                  <a:pt x="1217764" y="20178"/>
                  <a:pt x="1490632" y="6117"/>
                  <a:pt x="1770409" y="0"/>
                </a:cubicBezTo>
                <a:cubicBezTo>
                  <a:pt x="2050186" y="-6117"/>
                  <a:pt x="2184880" y="10708"/>
                  <a:pt x="2346102" y="0"/>
                </a:cubicBezTo>
                <a:cubicBezTo>
                  <a:pt x="2507324" y="-10708"/>
                  <a:pt x="2785516" y="-9914"/>
                  <a:pt x="2921794" y="0"/>
                </a:cubicBezTo>
                <a:cubicBezTo>
                  <a:pt x="3058072" y="9914"/>
                  <a:pt x="3439096" y="-22613"/>
                  <a:pt x="3627481" y="0"/>
                </a:cubicBezTo>
                <a:cubicBezTo>
                  <a:pt x="3815866" y="22613"/>
                  <a:pt x="4146942" y="-20150"/>
                  <a:pt x="4333169" y="0"/>
                </a:cubicBezTo>
                <a:cubicBezTo>
                  <a:pt x="4332981" y="4765"/>
                  <a:pt x="4333012" y="10228"/>
                  <a:pt x="4333169" y="14649"/>
                </a:cubicBezTo>
                <a:cubicBezTo>
                  <a:pt x="4105784" y="-5264"/>
                  <a:pt x="3992784" y="2480"/>
                  <a:pt x="3800808" y="14649"/>
                </a:cubicBezTo>
                <a:cubicBezTo>
                  <a:pt x="3608832" y="26818"/>
                  <a:pt x="3465267" y="-13713"/>
                  <a:pt x="3181784" y="14649"/>
                </a:cubicBezTo>
                <a:cubicBezTo>
                  <a:pt x="2898301" y="43011"/>
                  <a:pt x="2815705" y="-6224"/>
                  <a:pt x="2562760" y="14649"/>
                </a:cubicBezTo>
                <a:cubicBezTo>
                  <a:pt x="2309815" y="35522"/>
                  <a:pt x="2140147" y="-12705"/>
                  <a:pt x="1987067" y="14649"/>
                </a:cubicBezTo>
                <a:cubicBezTo>
                  <a:pt x="1833987" y="42003"/>
                  <a:pt x="1494374" y="41344"/>
                  <a:pt x="1281380" y="14649"/>
                </a:cubicBezTo>
                <a:cubicBezTo>
                  <a:pt x="1068386" y="-12046"/>
                  <a:pt x="927980" y="-11496"/>
                  <a:pt x="575692" y="14649"/>
                </a:cubicBezTo>
                <a:cubicBezTo>
                  <a:pt x="223404" y="40794"/>
                  <a:pt x="133524" y="37957"/>
                  <a:pt x="0" y="14649"/>
                </a:cubicBezTo>
                <a:cubicBezTo>
                  <a:pt x="698" y="10822"/>
                  <a:pt x="-168" y="58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grpSp>
        <p:nvGrpSpPr>
          <p:cNvPr id="718" name="Google Shape;718;p43"/>
          <p:cNvGrpSpPr/>
          <p:nvPr/>
        </p:nvGrpSpPr>
        <p:grpSpPr>
          <a:xfrm>
            <a:off x="4160362" y="514372"/>
            <a:ext cx="4653384" cy="4431794"/>
            <a:chOff x="437106" y="1122"/>
            <a:chExt cx="4653384" cy="4431794"/>
          </a:xfrm>
        </p:grpSpPr>
        <p:sp>
          <p:nvSpPr>
            <p:cNvPr id="719" name="Google Shape;719;p43"/>
            <p:cNvSpPr/>
            <p:nvPr/>
          </p:nvSpPr>
          <p:spPr>
            <a:xfrm>
              <a:off x="437106" y="1122"/>
              <a:ext cx="2215897" cy="1329538"/>
            </a:xfrm>
            <a:prstGeom prst="rect">
              <a:avLst/>
            </a:prstGeom>
            <a:solidFill>
              <a:srgbClr val="BF504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3"/>
            <p:cNvSpPr txBox="1"/>
            <p:nvPr/>
          </p:nvSpPr>
          <p:spPr>
            <a:xfrm>
              <a:off x="437106" y="1122"/>
              <a:ext cx="2215897" cy="13295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Rich semantics, high-level abstractions, and domain specific APIs</a:t>
              </a:r>
              <a:endParaRPr/>
            </a:p>
          </p:txBody>
        </p:sp>
        <p:sp>
          <p:nvSpPr>
            <p:cNvPr id="721" name="Google Shape;721;p43"/>
            <p:cNvSpPr/>
            <p:nvPr/>
          </p:nvSpPr>
          <p:spPr>
            <a:xfrm>
              <a:off x="2874593" y="1122"/>
              <a:ext cx="2215897" cy="1329538"/>
            </a:xfrm>
            <a:prstGeom prst="rect">
              <a:avLst/>
            </a:prstGeom>
            <a:solidFill>
              <a:srgbClr val="BD754F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3"/>
            <p:cNvSpPr txBox="1"/>
            <p:nvPr/>
          </p:nvSpPr>
          <p:spPr>
            <a:xfrm>
              <a:off x="2874593" y="1122"/>
              <a:ext cx="2215897" cy="13295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High-level expressions, filters, maps, aggregation, averages, sum, SQL 	queries, columnar access and use of lambda functions on semi-	structured data</a:t>
              </a:r>
              <a:endParaRPr/>
            </a:p>
          </p:txBody>
        </p:sp>
        <p:sp>
          <p:nvSpPr>
            <p:cNvPr id="723" name="Google Shape;723;p43"/>
            <p:cNvSpPr/>
            <p:nvPr/>
          </p:nvSpPr>
          <p:spPr>
            <a:xfrm>
              <a:off x="437106" y="1552250"/>
              <a:ext cx="2215897" cy="1329538"/>
            </a:xfrm>
            <a:prstGeom prst="rect">
              <a:avLst/>
            </a:prstGeom>
            <a:solidFill>
              <a:srgbClr val="BB995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3"/>
            <p:cNvSpPr txBox="1"/>
            <p:nvPr/>
          </p:nvSpPr>
          <p:spPr>
            <a:xfrm>
              <a:off x="437106" y="1552250"/>
              <a:ext cx="2215897" cy="13295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Unification and simplification of APIs across Spark Libraries</a:t>
              </a:r>
              <a:endParaRPr/>
            </a:p>
          </p:txBody>
        </p:sp>
        <p:sp>
          <p:nvSpPr>
            <p:cNvPr id="725" name="Google Shape;725;p43"/>
            <p:cNvSpPr/>
            <p:nvPr/>
          </p:nvSpPr>
          <p:spPr>
            <a:xfrm>
              <a:off x="2874593" y="1552250"/>
              <a:ext cx="2215897" cy="1329538"/>
            </a:xfrm>
            <a:prstGeom prst="rect">
              <a:avLst/>
            </a:prstGeom>
            <a:solidFill>
              <a:srgbClr val="BABA5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3"/>
            <p:cNvSpPr txBox="1"/>
            <p:nvPr/>
          </p:nvSpPr>
          <p:spPr>
            <a:xfrm>
              <a:off x="2874593" y="1552250"/>
              <a:ext cx="2215897" cy="13295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If you are a R user, use DataFrames</a:t>
              </a:r>
              <a:endParaRPr/>
            </a:p>
          </p:txBody>
        </p:sp>
        <p:sp>
          <p:nvSpPr>
            <p:cNvPr id="727" name="Google Shape;727;p43"/>
            <p:cNvSpPr/>
            <p:nvPr/>
          </p:nvSpPr>
          <p:spPr>
            <a:xfrm>
              <a:off x="1655849" y="3103378"/>
              <a:ext cx="2215897" cy="1329538"/>
            </a:xfrm>
            <a:prstGeom prst="rect">
              <a:avLst/>
            </a:prstGeom>
            <a:solidFill>
              <a:srgbClr val="99B958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3"/>
            <p:cNvSpPr txBox="1"/>
            <p:nvPr/>
          </p:nvSpPr>
          <p:spPr>
            <a:xfrm>
              <a:off x="1655849" y="3103378"/>
              <a:ext cx="2215897" cy="13295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If you are a Python user, use DataFrames and resort back to RDDs if 	you need more control</a:t>
              </a:r>
              <a:endParaRPr/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4"/>
          <p:cNvSpPr txBox="1">
            <a:spLocks noGrp="1"/>
          </p:cNvSpPr>
          <p:nvPr>
            <p:ph type="title"/>
          </p:nvPr>
        </p:nvSpPr>
        <p:spPr>
          <a:xfrm>
            <a:off x="920750" y="612775"/>
            <a:ext cx="707834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DAY 5 — Docker + Spark + Airflow Integration</a:t>
            </a:r>
            <a:endParaRPr/>
          </a:p>
        </p:txBody>
      </p:sp>
      <p:sp>
        <p:nvSpPr>
          <p:cNvPr id="734" name="Google Shape;734;p44"/>
          <p:cNvSpPr txBox="1">
            <a:spLocks noGrp="1"/>
          </p:cNvSpPr>
          <p:nvPr>
            <p:ph type="body" idx="1"/>
          </p:nvPr>
        </p:nvSpPr>
        <p:spPr>
          <a:xfrm>
            <a:off x="615950" y="1679575"/>
            <a:ext cx="8826628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Goal: Build realistic production workflows</a:t>
            </a:r>
            <a:endParaRPr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Container orchestration with Docker Compose</a:t>
            </a:r>
            <a:endParaRPr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Airflow orchestration of Spark ETL jobs</a:t>
            </a:r>
            <a:endParaRPr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PostgreSQL warehouse integration</a:t>
            </a:r>
            <a:endParaRPr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800"/>
              <a:buFont typeface="Arial"/>
              <a:buChar char="•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Hands-on production-style pipeline deployment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5"/>
          <p:cNvSpPr txBox="1">
            <a:spLocks noGrp="1"/>
          </p:cNvSpPr>
          <p:nvPr>
            <p:ph type="title"/>
          </p:nvPr>
        </p:nvSpPr>
        <p:spPr>
          <a:xfrm>
            <a:off x="508537" y="610727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Docker Compose Architecture</a:t>
            </a:r>
            <a:endParaRPr/>
          </a:p>
        </p:txBody>
      </p:sp>
      <p:sp>
        <p:nvSpPr>
          <p:cNvPr id="740" name="Google Shape;740;p45"/>
          <p:cNvSpPr txBox="1">
            <a:spLocks noGrp="1"/>
          </p:cNvSpPr>
          <p:nvPr>
            <p:ph type="body" idx="1"/>
          </p:nvPr>
        </p:nvSpPr>
        <p:spPr>
          <a:xfrm>
            <a:off x="539750" y="1069975"/>
            <a:ext cx="775982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Services in the stack: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• Airflow Webserver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• Airflow Scheduler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• PostgreSQL Warehouse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• Mock API Service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• Spark / PySpark Runtime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Volumes persist warehouse and Airflow metadata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Networks allow service communication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6"/>
          <p:cNvSpPr txBox="1">
            <a:spLocks noGrp="1"/>
          </p:cNvSpPr>
          <p:nvPr>
            <p:ph type="title"/>
          </p:nvPr>
        </p:nvSpPr>
        <p:spPr>
          <a:xfrm>
            <a:off x="539750" y="553872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Docker Networking and Volumes</a:t>
            </a:r>
            <a:endParaRPr/>
          </a:p>
        </p:txBody>
      </p:sp>
      <p:sp>
        <p:nvSpPr>
          <p:cNvPr id="746" name="Google Shape;746;p46"/>
          <p:cNvSpPr txBox="1">
            <a:spLocks noGrp="1"/>
          </p:cNvSpPr>
          <p:nvPr>
            <p:ph type="body" idx="1"/>
          </p:nvPr>
        </p:nvSpPr>
        <p:spPr>
          <a:xfrm>
            <a:off x="399922" y="975512"/>
            <a:ext cx="9055228" cy="473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Docker Networks: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• Containers communicate by service name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• Example: warehouse-postgres:5432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Docker Volumes: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• Persist PostgreSQL 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• Persist Airflow metadata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• Share DAGs and Spark jobs across containers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7"/>
          <p:cNvSpPr txBox="1">
            <a:spLocks noGrp="1"/>
          </p:cNvSpPr>
          <p:nvPr>
            <p:ph type="title"/>
          </p:nvPr>
        </p:nvSpPr>
        <p:spPr>
          <a:xfrm>
            <a:off x="406272" y="403308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Airflow Triggering Spark Jobs</a:t>
            </a:r>
            <a:endParaRPr/>
          </a:p>
        </p:txBody>
      </p:sp>
      <p:sp>
        <p:nvSpPr>
          <p:cNvPr id="752" name="Google Shape;752;p47"/>
          <p:cNvSpPr txBox="1">
            <a:spLocks noGrp="1"/>
          </p:cNvSpPr>
          <p:nvPr>
            <p:ph type="body" idx="1"/>
          </p:nvPr>
        </p:nvSpPr>
        <p:spPr>
          <a:xfrm>
            <a:off x="399922" y="975512"/>
            <a:ext cx="8064628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Airflow orchestrates Spark jobs using BashOperator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BashOperator(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 task_id="run_spark_etl",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 bash_command="python /opt/airflow/spark_jobs/api_to_postgres_spark.py"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Production orchestration pattern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8"/>
          <p:cNvSpPr txBox="1">
            <a:spLocks noGrp="1"/>
          </p:cNvSpPr>
          <p:nvPr>
            <p:ph type="title"/>
          </p:nvPr>
        </p:nvSpPr>
        <p:spPr>
          <a:xfrm>
            <a:off x="539750" y="454587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DAY 6 — Real ETL Pipeline Project</a:t>
            </a:r>
            <a:endParaRPr/>
          </a:p>
        </p:txBody>
      </p:sp>
      <p:sp>
        <p:nvSpPr>
          <p:cNvPr id="758" name="Google Shape;758;p48"/>
          <p:cNvSpPr txBox="1">
            <a:spLocks noGrp="1"/>
          </p:cNvSpPr>
          <p:nvPr>
            <p:ph type="body" idx="1"/>
          </p:nvPr>
        </p:nvSpPr>
        <p:spPr>
          <a:xfrm>
            <a:off x="399922" y="975512"/>
            <a:ext cx="8217028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Goal: Industry portfolio ETL pipeline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Pipeline: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API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Spark Cleaning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PostgreSQL Warehouse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Airflow DAG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9"/>
          <p:cNvSpPr txBox="1">
            <a:spLocks noGrp="1"/>
          </p:cNvSpPr>
          <p:nvPr>
            <p:ph type="title"/>
          </p:nvPr>
        </p:nvSpPr>
        <p:spPr>
          <a:xfrm>
            <a:off x="692150" y="384175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API Ingestion with Python</a:t>
            </a:r>
            <a:endParaRPr/>
          </a:p>
        </p:txBody>
      </p:sp>
      <p:sp>
        <p:nvSpPr>
          <p:cNvPr id="764" name="Google Shape;764;p49"/>
          <p:cNvSpPr txBox="1">
            <a:spLocks noGrp="1"/>
          </p:cNvSpPr>
          <p:nvPr>
            <p:ph type="body" idx="1"/>
          </p:nvPr>
        </p:nvSpPr>
        <p:spPr>
          <a:xfrm>
            <a:off x="399922" y="975512"/>
            <a:ext cx="8979028" cy="480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Use requests.get() to ingest external 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response = requests.get(API_URL)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payload = response.json()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Common API pipeline concepts: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JSON payloads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Authentication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Pagination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Error handling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0"/>
          <p:cNvSpPr txBox="1">
            <a:spLocks noGrp="1"/>
          </p:cNvSpPr>
          <p:nvPr>
            <p:ph type="title"/>
          </p:nvPr>
        </p:nvSpPr>
        <p:spPr>
          <a:xfrm>
            <a:off x="512063" y="402279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Spark Data Cleaning Workflow</a:t>
            </a:r>
            <a:endParaRPr/>
          </a:p>
        </p:txBody>
      </p:sp>
      <p:sp>
        <p:nvSpPr>
          <p:cNvPr id="770" name="Google Shape;770;p50"/>
          <p:cNvSpPr txBox="1">
            <a:spLocks noGrp="1"/>
          </p:cNvSpPr>
          <p:nvPr>
            <p:ph type="body" idx="1"/>
          </p:nvPr>
        </p:nvSpPr>
        <p:spPr>
          <a:xfrm>
            <a:off x="399922" y="975512"/>
            <a:ext cx="7302628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Spark transformations: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df_clean = df.dropna()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df_clean = df_clean.filter(col("amount") &gt; 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Data quality improvements: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Remove null records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Filter invalid rows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Standardize schemas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Add ingestion timestamps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1"/>
          <p:cNvSpPr txBox="1">
            <a:spLocks noGrp="1"/>
          </p:cNvSpPr>
          <p:nvPr>
            <p:ph type="title"/>
          </p:nvPr>
        </p:nvSpPr>
        <p:spPr>
          <a:xfrm>
            <a:off x="626363" y="384175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Load Data into PostgreSQL</a:t>
            </a:r>
            <a:endParaRPr/>
          </a:p>
        </p:txBody>
      </p:sp>
      <p:sp>
        <p:nvSpPr>
          <p:cNvPr id="776" name="Google Shape;776;p51"/>
          <p:cNvSpPr txBox="1">
            <a:spLocks noGrp="1"/>
          </p:cNvSpPr>
          <p:nvPr>
            <p:ph type="body" idx="1"/>
          </p:nvPr>
        </p:nvSpPr>
        <p:spPr>
          <a:xfrm>
            <a:off x="399922" y="975512"/>
            <a:ext cx="7531228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Warehouse loading using JDBC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df.write.jdbc(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url=WAREHOUSE_JDBC_URL,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   table="cleaned_sales_events"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Supports scalable warehouse loading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2"/>
          <p:cNvSpPr txBox="1">
            <a:spLocks noGrp="1"/>
          </p:cNvSpPr>
          <p:nvPr>
            <p:ph type="title"/>
          </p:nvPr>
        </p:nvSpPr>
        <p:spPr>
          <a:xfrm>
            <a:off x="615950" y="243767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Airflow DAG ETL Flow</a:t>
            </a:r>
            <a:endParaRPr/>
          </a:p>
        </p:txBody>
      </p:sp>
      <p:sp>
        <p:nvSpPr>
          <p:cNvPr id="782" name="Google Shape;782;p52"/>
          <p:cNvSpPr txBox="1">
            <a:spLocks noGrp="1"/>
          </p:cNvSpPr>
          <p:nvPr>
            <p:ph type="body" idx="1"/>
          </p:nvPr>
        </p:nvSpPr>
        <p:spPr>
          <a:xfrm>
            <a:off x="399922" y="975512"/>
            <a:ext cx="8140828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DAG Tasks: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1. check_services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2. run_spark_etl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3. verify_warehouse_tables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Benefits: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scheduling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monitoring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retries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logging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• dependency management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3"/>
          <p:cNvSpPr txBox="1">
            <a:spLocks noGrp="1"/>
          </p:cNvSpPr>
          <p:nvPr>
            <p:ph type="title"/>
          </p:nvPr>
        </p:nvSpPr>
        <p:spPr>
          <a:xfrm>
            <a:off x="223011" y="167538"/>
            <a:ext cx="7078345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Production ETL Best Practices</a:t>
            </a:r>
            <a:endParaRPr/>
          </a:p>
        </p:txBody>
      </p:sp>
      <p:sp>
        <p:nvSpPr>
          <p:cNvPr id="788" name="Google Shape;788;p53"/>
          <p:cNvSpPr txBox="1">
            <a:spLocks noGrp="1"/>
          </p:cNvSpPr>
          <p:nvPr>
            <p:ph type="body" idx="1"/>
          </p:nvPr>
        </p:nvSpPr>
        <p:spPr>
          <a:xfrm>
            <a:off x="399927" y="975500"/>
            <a:ext cx="79167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Use Docker for reproducible environments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Use Airflow for orchestration and monitoring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Use Spark for scalable data transformation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Store clean data in warehouse tables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Version control with GitHub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Add logging and data quality validation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Monitor failures through Airflow logs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4207</Words>
  <Application>Microsoft Macintosh PowerPoint</Application>
  <PresentationFormat>Custom</PresentationFormat>
  <Paragraphs>715</Paragraphs>
  <Slides>76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5" baseType="lpstr">
      <vt:lpstr>Helvetica Neue</vt:lpstr>
      <vt:lpstr>Calibri</vt:lpstr>
      <vt:lpstr>Aptos Narrow</vt:lpstr>
      <vt:lpstr>Times New Roman</vt:lpstr>
      <vt:lpstr>Trebuchet MS</vt:lpstr>
      <vt:lpstr>Merriweather Sans</vt:lpstr>
      <vt:lpstr>Arial</vt:lpstr>
      <vt:lpstr>Geneva</vt:lpstr>
      <vt:lpstr>Office Theme</vt:lpstr>
      <vt:lpstr>PowerPoint Presentation</vt:lpstr>
      <vt:lpstr>What is Spark SQL</vt:lpstr>
      <vt:lpstr>Spark SQL Engine</vt:lpstr>
      <vt:lpstr>Spark SQL Stacks</vt:lpstr>
      <vt:lpstr>Catalyst Optimizer</vt:lpstr>
      <vt:lpstr>Phase 1: Analysis</vt:lpstr>
      <vt:lpstr>Phase 2: Logical Optimization</vt:lpstr>
      <vt:lpstr>Phase 3: Physical Planning</vt:lpstr>
      <vt:lpstr>Phase 4: Code Generation</vt:lpstr>
      <vt:lpstr>Query Example</vt:lpstr>
      <vt:lpstr>Query Example</vt:lpstr>
      <vt:lpstr>SQL Tables and Views</vt:lpstr>
      <vt:lpstr>Creating Tables</vt:lpstr>
      <vt:lpstr>Creating Views</vt:lpstr>
      <vt:lpstr>Creating Views</vt:lpstr>
      <vt:lpstr>e</vt:lpstr>
      <vt:lpstr>PowerPoint Presentation</vt:lpstr>
      <vt:lpstr>PowerPoint Presentation</vt:lpstr>
      <vt:lpstr>Spark Streaming</vt:lpstr>
      <vt:lpstr>Introducing Spark Streaming</vt:lpstr>
      <vt:lpstr>Evolution of Spark Stream Engine</vt:lpstr>
      <vt:lpstr>Spark Streaming Architecture</vt:lpstr>
      <vt:lpstr>Creating a StreamingContext</vt:lpstr>
      <vt:lpstr>Introduction to DStreams</vt:lpstr>
      <vt:lpstr>Spark Discretized Streams</vt:lpstr>
      <vt:lpstr>DStream Sources</vt:lpstr>
      <vt:lpstr>Dstream Transformations</vt:lpstr>
      <vt:lpstr>DStream Lineage and Checkpoint</vt:lpstr>
      <vt:lpstr>DStream Output Operations</vt:lpstr>
      <vt:lpstr>State Operations</vt:lpstr>
      <vt:lpstr>Sliding Window Operation</vt:lpstr>
      <vt:lpstr>Window Function </vt:lpstr>
      <vt:lpstr>Window Function </vt:lpstr>
      <vt:lpstr>Window Function </vt:lpstr>
      <vt:lpstr>Progressive ETL SQL Workflow</vt:lpstr>
      <vt:lpstr>Step 1 — Extract Raw Flight Variables</vt:lpstr>
      <vt:lpstr>Step 2 — Join Fact + Airport Tables</vt:lpstr>
      <vt:lpstr>Step 3 — LAG/LEAD with PARTITION BY Route</vt:lpstr>
      <vt:lpstr>Step 4 — Cumulative Delay Percentage</vt:lpstr>
      <vt:lpstr>Final ETL Pattern: Raw Data → Analytics Table</vt:lpstr>
      <vt:lpstr>Structured Streaming</vt:lpstr>
      <vt:lpstr>IV. Join Pattern</vt:lpstr>
      <vt:lpstr>Refresher on Joins</vt:lpstr>
      <vt:lpstr>Refresher on Joins</vt:lpstr>
      <vt:lpstr>PowerPoint Presentation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Refresher on Joins</vt:lpstr>
      <vt:lpstr>Structured Streaming Data Sink</vt:lpstr>
      <vt:lpstr>Output Modes</vt:lpstr>
      <vt:lpstr>Spark Use Cases</vt:lpstr>
      <vt:lpstr>Revisit Components and Architecture</vt:lpstr>
      <vt:lpstr>Revisit Transformations and Actions</vt:lpstr>
      <vt:lpstr>Transformations and Actions</vt:lpstr>
      <vt:lpstr>Transformations and Actions</vt:lpstr>
      <vt:lpstr>Transformations and Actions</vt:lpstr>
      <vt:lpstr>Transformations and Actions</vt:lpstr>
      <vt:lpstr>Dataset API</vt:lpstr>
      <vt:lpstr>When to Use DataFrames</vt:lpstr>
      <vt:lpstr>DAY 5 — Docker + Spark + Airflow Integration</vt:lpstr>
      <vt:lpstr>Docker Compose Architecture</vt:lpstr>
      <vt:lpstr>Docker Networking and Volumes</vt:lpstr>
      <vt:lpstr>Airflow Triggering Spark Jobs</vt:lpstr>
      <vt:lpstr>DAY 6 — Real ETL Pipeline Project</vt:lpstr>
      <vt:lpstr>API Ingestion with Python</vt:lpstr>
      <vt:lpstr>Spark Data Cleaning Workflow</vt:lpstr>
      <vt:lpstr>Load Data into PostgreSQL</vt:lpstr>
      <vt:lpstr>Airflow DAG ETL Flow</vt:lpstr>
      <vt:lpstr>Production ETL 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 Zhang</cp:lastModifiedBy>
  <cp:revision>1</cp:revision>
  <dcterms:created xsi:type="dcterms:W3CDTF">2025-11-14T20:38:10Z</dcterms:created>
  <dcterms:modified xsi:type="dcterms:W3CDTF">2026-05-29T19:46:43Z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2022-11-19T00:00:00Z</vt:filetime>
  </property>
  <property fmtid="{D5CDD505-2E9C-101B-9397-08002B2CF9AE}" pid="3" name="LastSaved">
    <vt:filetime>2025-11-14T00:00:00Z</vt:filetime>
  </property>
  <property fmtid="{D5CDD505-2E9C-101B-9397-08002B2CF9AE}" pid="4" name="Producer">
    <vt:lpwstr>FPDF 1.81</vt:lpwstr>
  </property>
</Properties>
</file>